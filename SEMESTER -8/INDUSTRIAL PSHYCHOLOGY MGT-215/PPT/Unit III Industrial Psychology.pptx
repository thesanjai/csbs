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04" roundtripDataSignature="AMtx7mg/qoiAwBJPAhVvWSVRJloun2QI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04" Type="http://customschemas.google.com/relationships/presentationmetadata" Target="metadata"/><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95" Type="http://schemas.openxmlformats.org/officeDocument/2006/relationships/slide" Target="slides/slide91.xml"/><Relationship Id="rId94" Type="http://schemas.openxmlformats.org/officeDocument/2006/relationships/slide" Target="slides/slide90.xml"/><Relationship Id="rId97" Type="http://schemas.openxmlformats.org/officeDocument/2006/relationships/slide" Target="slides/slide93.xml"/><Relationship Id="rId96" Type="http://schemas.openxmlformats.org/officeDocument/2006/relationships/slide" Target="slides/slide92.xml"/><Relationship Id="rId11" Type="http://schemas.openxmlformats.org/officeDocument/2006/relationships/slide" Target="slides/slide7.xml"/><Relationship Id="rId99" Type="http://schemas.openxmlformats.org/officeDocument/2006/relationships/slide" Target="slides/slide95.xml"/><Relationship Id="rId10" Type="http://schemas.openxmlformats.org/officeDocument/2006/relationships/slide" Target="slides/slide6.xml"/><Relationship Id="rId98" Type="http://schemas.openxmlformats.org/officeDocument/2006/relationships/slide" Target="slides/slide94.xml"/><Relationship Id="rId13" Type="http://schemas.openxmlformats.org/officeDocument/2006/relationships/slide" Target="slides/slide9.xml"/><Relationship Id="rId12" Type="http://schemas.openxmlformats.org/officeDocument/2006/relationships/slide" Target="slides/slide8.xml"/><Relationship Id="rId91" Type="http://schemas.openxmlformats.org/officeDocument/2006/relationships/slide" Target="slides/slide87.xml"/><Relationship Id="rId90" Type="http://schemas.openxmlformats.org/officeDocument/2006/relationships/slide" Target="slides/slide86.xml"/><Relationship Id="rId93" Type="http://schemas.openxmlformats.org/officeDocument/2006/relationships/slide" Target="slides/slide89.xml"/><Relationship Id="rId92" Type="http://schemas.openxmlformats.org/officeDocument/2006/relationships/slide" Target="slides/slide8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 Id="rId84" Type="http://schemas.openxmlformats.org/officeDocument/2006/relationships/slide" Target="slides/slide80.xml"/><Relationship Id="rId83" Type="http://schemas.openxmlformats.org/officeDocument/2006/relationships/slide" Target="slides/slide79.xml"/><Relationship Id="rId86" Type="http://schemas.openxmlformats.org/officeDocument/2006/relationships/slide" Target="slides/slide82.xml"/><Relationship Id="rId85" Type="http://schemas.openxmlformats.org/officeDocument/2006/relationships/slide" Target="slides/slide81.xml"/><Relationship Id="rId88" Type="http://schemas.openxmlformats.org/officeDocument/2006/relationships/slide" Target="slides/slide84.xml"/><Relationship Id="rId87" Type="http://schemas.openxmlformats.org/officeDocument/2006/relationships/slide" Target="slides/slide83.xml"/><Relationship Id="rId89" Type="http://schemas.openxmlformats.org/officeDocument/2006/relationships/slide" Target="slides/slide85.xml"/><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75" Type="http://schemas.openxmlformats.org/officeDocument/2006/relationships/slide" Target="slides/slide71.xml"/><Relationship Id="rId74" Type="http://schemas.openxmlformats.org/officeDocument/2006/relationships/slide" Target="slides/slide70.xml"/><Relationship Id="rId77" Type="http://schemas.openxmlformats.org/officeDocument/2006/relationships/slide" Target="slides/slide73.xml"/><Relationship Id="rId76" Type="http://schemas.openxmlformats.org/officeDocument/2006/relationships/slide" Target="slides/slide72.xml"/><Relationship Id="rId79" Type="http://schemas.openxmlformats.org/officeDocument/2006/relationships/slide" Target="slides/slide75.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62" Type="http://schemas.openxmlformats.org/officeDocument/2006/relationships/slide" Target="slides/slide58.xml"/><Relationship Id="rId61" Type="http://schemas.openxmlformats.org/officeDocument/2006/relationships/slide" Target="slides/slide57.xml"/><Relationship Id="rId64" Type="http://schemas.openxmlformats.org/officeDocument/2006/relationships/slide" Target="slides/slide60.xml"/><Relationship Id="rId63" Type="http://schemas.openxmlformats.org/officeDocument/2006/relationships/slide" Target="slides/slide59.xml"/><Relationship Id="rId66" Type="http://schemas.openxmlformats.org/officeDocument/2006/relationships/slide" Target="slides/slide62.xml"/><Relationship Id="rId65" Type="http://schemas.openxmlformats.org/officeDocument/2006/relationships/slide" Target="slides/slide61.xml"/><Relationship Id="rId68" Type="http://schemas.openxmlformats.org/officeDocument/2006/relationships/slide" Target="slides/slide64.xml"/><Relationship Id="rId67" Type="http://schemas.openxmlformats.org/officeDocument/2006/relationships/slide" Target="slides/slide63.xml"/><Relationship Id="rId60" Type="http://schemas.openxmlformats.org/officeDocument/2006/relationships/slide" Target="slides/slide56.xml"/><Relationship Id="rId69" Type="http://schemas.openxmlformats.org/officeDocument/2006/relationships/slide" Target="slides/slide6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55" Type="http://schemas.openxmlformats.org/officeDocument/2006/relationships/slide" Target="slides/slide51.xml"/><Relationship Id="rId54" Type="http://schemas.openxmlformats.org/officeDocument/2006/relationships/slide" Target="slides/slide50.xml"/><Relationship Id="rId57" Type="http://schemas.openxmlformats.org/officeDocument/2006/relationships/slide" Target="slides/slide53.xml"/><Relationship Id="rId56" Type="http://schemas.openxmlformats.org/officeDocument/2006/relationships/slide" Target="slides/slide52.xml"/><Relationship Id="rId59" Type="http://schemas.openxmlformats.org/officeDocument/2006/relationships/slide" Target="slides/slide55.xml"/><Relationship Id="rId58"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2" name="Google Shape;332;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7" name="Google Shape;357;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 name="Google Shape;362;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4" name="Google Shape;394;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4" name="Google Shape;404;p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4" name="Google Shape;414;p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9" name="Google Shape;419;p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4" name="Google Shape;424;p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9" name="Google Shape;429;p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4" name="Google Shape;434;p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9" name="Google Shape;439;p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4" name="Google Shape;444;p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9" name="Google Shape;449;p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4" name="Google Shape;454;p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9" name="Google Shape;459;p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5" name="Google Shape;465;p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0" name="Google Shape;470;p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5" name="Google Shape;475;p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0" name="Google Shape;480;p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5" name="Google Shape;485;p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0" name="Google Shape;490;p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5" name="Google Shape;495;p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0" name="Google Shape;500;p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5" name="Google Shape;505;p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0" name="Google Shape;510;p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5" name="Google Shape;515;p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1" name="Google Shape;521;p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6" name="Google Shape;526;p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1" name="Google Shape;531;p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6" name="Google Shape;536;p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1" name="Google Shape;541;p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6" name="Google Shape;546;p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1" name="Google Shape;551;p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6" name="Google Shape;556;p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0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0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0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0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0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0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0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0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0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0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0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0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0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0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0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0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0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0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0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0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0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0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0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0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0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0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0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1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1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1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1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1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1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1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18.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8.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t>Organizational Psychology</a:t>
            </a:r>
            <a:endParaRPr/>
          </a:p>
        </p:txBody>
      </p:sp>
      <p:sp>
        <p:nvSpPr>
          <p:cNvPr id="55" name="Google Shape;55;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n"/>
              <a:t>Unit III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 this unit…</a:t>
            </a:r>
            <a:endParaRPr/>
          </a:p>
        </p:txBody>
      </p:sp>
      <p:sp>
        <p:nvSpPr>
          <p:cNvPr id="61" name="Google Shape;61;p2"/>
          <p:cNvSpPr txBox="1"/>
          <p:nvPr>
            <p:ph idx="1" type="body"/>
          </p:nvPr>
        </p:nvSpPr>
        <p:spPr>
          <a:xfrm>
            <a:off x="382525" y="101772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200"/>
              </a:spcBef>
              <a:spcAft>
                <a:spcPts val="0"/>
              </a:spcAft>
              <a:buSzPts val="1800"/>
              <a:buNone/>
            </a:pPr>
            <a:r>
              <a:rPr lang="en"/>
              <a:t>Motivation and performance: overview of motivation theories. </a:t>
            </a:r>
            <a:endParaRPr/>
          </a:p>
          <a:p>
            <a:pPr indent="0" lvl="0" marL="0" rtl="0" algn="just">
              <a:lnSpc>
                <a:spcPct val="115000"/>
              </a:lnSpc>
              <a:spcBef>
                <a:spcPts val="1200"/>
              </a:spcBef>
              <a:spcAft>
                <a:spcPts val="0"/>
              </a:spcAft>
              <a:buSzPts val="1800"/>
              <a:buNone/>
            </a:pPr>
            <a:r>
              <a:rPr lang="en"/>
              <a:t>Attitudes, Emotion and Work - Moods - Emotions - Attitudes and Behavior  </a:t>
            </a:r>
            <a:endParaRPr/>
          </a:p>
          <a:p>
            <a:pPr indent="0" lvl="0" marL="0" rtl="0" algn="just">
              <a:lnSpc>
                <a:spcPct val="115000"/>
              </a:lnSpc>
              <a:spcBef>
                <a:spcPts val="1200"/>
              </a:spcBef>
              <a:spcAft>
                <a:spcPts val="0"/>
              </a:spcAft>
              <a:buSzPts val="1800"/>
              <a:buNone/>
            </a:pPr>
            <a:r>
              <a:rPr lang="en"/>
              <a:t>Stress and Worker Well Being: Problem of stress - Theories of Stress - Reducing and managing stress - Violence at work - Fairness and diversity at workplace </a:t>
            </a:r>
            <a:endParaRPr/>
          </a:p>
          <a:p>
            <a:pPr indent="0" lvl="0" marL="0" rtl="0" algn="just">
              <a:lnSpc>
                <a:spcPct val="115000"/>
              </a:lnSpc>
              <a:spcBef>
                <a:spcPts val="1200"/>
              </a:spcBef>
              <a:spcAft>
                <a:spcPts val="0"/>
              </a:spcAft>
              <a:buClr>
                <a:schemeClr val="dk1"/>
              </a:buClr>
              <a:buSzPts val="1100"/>
              <a:buFont typeface="Arial"/>
              <a:buNone/>
            </a:pPr>
            <a:r>
              <a:rPr lang="en"/>
              <a:t>Leadership – Concept - Traditional theories of leadership - New approaches to Leadership - Current trends in Positive Psychology at workplace.</a:t>
            </a:r>
            <a:endParaRPr/>
          </a:p>
          <a:p>
            <a:pPr indent="0" lvl="0" marL="0" rtl="0" algn="l">
              <a:lnSpc>
                <a:spcPct val="115000"/>
              </a:lnSpc>
              <a:spcBef>
                <a:spcPts val="0"/>
              </a:spcBef>
              <a:spcAft>
                <a:spcPts val="1200"/>
              </a:spcAft>
              <a:buSzPts val="1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3"/>
          <p:cNvSpPr txBox="1"/>
          <p:nvPr>
            <p:ph type="title"/>
          </p:nvPr>
        </p:nvSpPr>
        <p:spPr>
          <a:xfrm>
            <a:off x="311700" y="2183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Motivation </a:t>
            </a:r>
            <a:endParaRPr/>
          </a:p>
        </p:txBody>
      </p:sp>
      <p:sp>
        <p:nvSpPr>
          <p:cNvPr id="67" name="Google Shape;67;p3"/>
          <p:cNvSpPr txBox="1"/>
          <p:nvPr>
            <p:ph idx="1" type="body"/>
          </p:nvPr>
        </p:nvSpPr>
        <p:spPr>
          <a:xfrm>
            <a:off x="311700" y="732075"/>
            <a:ext cx="8520600" cy="40524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lang="en"/>
              <a:t>Motivation and performance</a:t>
            </a:r>
            <a:endParaRPr/>
          </a:p>
          <a:p>
            <a:pPr indent="-342900" lvl="0" marL="457200" rtl="0" algn="l">
              <a:lnSpc>
                <a:spcPct val="115000"/>
              </a:lnSpc>
              <a:spcBef>
                <a:spcPts val="1200"/>
              </a:spcBef>
              <a:spcAft>
                <a:spcPts val="0"/>
              </a:spcAft>
              <a:buSzPts val="1800"/>
              <a:buChar char="●"/>
            </a:pPr>
            <a:r>
              <a:rPr lang="en"/>
              <a:t>Motivation concerns the conditions responsible for variations in intensity, persistence, quality, and direction of ongoing behavior (Vinacke, 1962).</a:t>
            </a:r>
            <a:endParaRPr/>
          </a:p>
          <a:p>
            <a:pPr indent="-342900" lvl="0" marL="457200" rtl="0" algn="l">
              <a:lnSpc>
                <a:spcPct val="115000"/>
              </a:lnSpc>
              <a:spcBef>
                <a:spcPts val="0"/>
              </a:spcBef>
              <a:spcAft>
                <a:spcPts val="0"/>
              </a:spcAft>
              <a:buSzPts val="1800"/>
              <a:buChar char="●"/>
            </a:pPr>
            <a:r>
              <a:rPr lang="en"/>
              <a:t>The earliest I-O theories of motivation were anchored in the notions of instincts, and inborn tendency that is thought to direct behavior., principally driven by psychodynamic theories of personality, most notably Freud’s approach.</a:t>
            </a:r>
            <a:endParaRPr/>
          </a:p>
          <a:p>
            <a:pPr indent="-342900" lvl="0" marL="457200" rtl="0" algn="l">
              <a:lnSpc>
                <a:spcPct val="115000"/>
              </a:lnSpc>
              <a:spcBef>
                <a:spcPts val="0"/>
              </a:spcBef>
              <a:spcAft>
                <a:spcPts val="0"/>
              </a:spcAft>
              <a:buSzPts val="1800"/>
              <a:buChar char="●"/>
            </a:pPr>
            <a:r>
              <a:rPr lang="en"/>
              <a:t>The term “instinct” was gradually replaced with terms such as “need,” “motive,” and “drive” (Viteles, 1953). In 1943, Maslow proposed a need theory that replaced an infinite number of “instincts” with a specific set of needs. Like instincts, needs were thought to be inborn and universally present in humans. Because a great deal of motivational research was being conducted on animals (studying hunger and thirst), drives were the nonhuman equivalent of motives and needs.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4"/>
          <p:cNvSpPr txBox="1"/>
          <p:nvPr>
            <p:ph idx="1" type="body"/>
          </p:nvPr>
        </p:nvSpPr>
        <p:spPr>
          <a:xfrm>
            <a:off x="311700" y="477025"/>
            <a:ext cx="8520600" cy="42507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
              <a:t>At about the time that Maslow’s need theory was becoming widely known, the behaviorism of B. F. Skinner (1938) was also becoming a powerful force. The behaviorist approach placed the emphasis for behavior directly on the environment rather than on any internal needs or instincts. The disagreements between the behaviorists and non-behaviorists became known as the nature-versus-nurture controversy. Other, broader approaches also allowed for the influence of the environment, but in a much less mechanical way than suggested by the behaviorists. </a:t>
            </a:r>
            <a:endParaRPr/>
          </a:p>
          <a:p>
            <a:pPr indent="-342900" lvl="0" marL="457200" rtl="0" algn="l">
              <a:lnSpc>
                <a:spcPct val="115000"/>
              </a:lnSpc>
              <a:spcBef>
                <a:spcPts val="0"/>
              </a:spcBef>
              <a:spcAft>
                <a:spcPts val="0"/>
              </a:spcAft>
              <a:buSzPts val="1800"/>
              <a:buChar char="●"/>
            </a:pPr>
            <a:r>
              <a:rPr lang="en"/>
              <a:t>An example of this broader approach was Lewin’s field theory, which proposed that various forces in the psychological environment interacted and combined to yield a final course of action (Lewin, 1935, 1938). Each force was thought to have a “valence” (much like the valences of chemical elements) that attracted or repelled the individual. The application of Lewin’s approach in industry became known as group dynamics.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5"/>
          <p:cNvSpPr txBox="1"/>
          <p:nvPr>
            <p:ph idx="1" type="body"/>
          </p:nvPr>
        </p:nvSpPr>
        <p:spPr>
          <a:xfrm>
            <a:off x="311700" y="420350"/>
            <a:ext cx="8520600" cy="4435200"/>
          </a:xfrm>
          <a:prstGeom prst="rect">
            <a:avLst/>
          </a:prstGeom>
          <a:noFill/>
          <a:ln>
            <a:noFill/>
          </a:ln>
        </p:spPr>
        <p:txBody>
          <a:bodyPr anchorCtr="0" anchor="t" bIns="91425" lIns="91425" spcFirstLastPara="1" rIns="91425" wrap="square" tIns="91425">
            <a:normAutofit lnSpcReduction="20000"/>
          </a:bodyPr>
          <a:lstStyle/>
          <a:p>
            <a:pPr indent="-342900" lvl="0" marL="457200" rtl="0" algn="l">
              <a:lnSpc>
                <a:spcPct val="115000"/>
              </a:lnSpc>
              <a:spcBef>
                <a:spcPts val="0"/>
              </a:spcBef>
              <a:spcAft>
                <a:spcPts val="0"/>
              </a:spcAft>
              <a:buSzPts val="1800"/>
              <a:buChar char="●"/>
            </a:pPr>
            <a:r>
              <a:rPr lang="en"/>
              <a:t>A very basic model for considering the role of motivation in performance is the following: Performance = (Motivation X Ability) - Situational Constraints.</a:t>
            </a:r>
            <a:endParaRPr/>
          </a:p>
          <a:p>
            <a:pPr indent="-342900" lvl="0" marL="457200" rtl="0" algn="l">
              <a:lnSpc>
                <a:spcPct val="115000"/>
              </a:lnSpc>
              <a:spcBef>
                <a:spcPts val="0"/>
              </a:spcBef>
              <a:spcAft>
                <a:spcPts val="0"/>
              </a:spcAft>
              <a:buSzPts val="1800"/>
              <a:buChar char="●"/>
            </a:pPr>
            <a:r>
              <a:rPr lang="en"/>
              <a:t>It is important to note the multiplication sign in this formula. This sign means that if motivation is equal to zero, then ability will not matter since anything times zero equals zero. Similarly, it means that even modest increases in ability can be magnified by motivation.</a:t>
            </a:r>
            <a:endParaRPr/>
          </a:p>
          <a:p>
            <a:pPr indent="-342900" lvl="0" marL="457200" rtl="0" algn="l">
              <a:lnSpc>
                <a:spcPct val="115000"/>
              </a:lnSpc>
              <a:spcBef>
                <a:spcPts val="0"/>
              </a:spcBef>
              <a:spcAft>
                <a:spcPts val="0"/>
              </a:spcAft>
              <a:buSzPts val="1800"/>
              <a:buChar char="●"/>
            </a:pPr>
            <a:r>
              <a:rPr lang="en"/>
              <a:t>Work–life balance is an area of research that investigates whether the satisfaction that one experiences at work is in part affected by the satisfaction that one experiences in non-work and vice versa, particularly to the extent that one environment has demands that conflict with the other.</a:t>
            </a:r>
            <a:endParaRPr/>
          </a:p>
          <a:p>
            <a:pPr indent="-342900" lvl="0" marL="457200" rtl="0" algn="l">
              <a:lnSpc>
                <a:spcPct val="115000"/>
              </a:lnSpc>
              <a:spcBef>
                <a:spcPts val="0"/>
              </a:spcBef>
              <a:spcAft>
                <a:spcPts val="0"/>
              </a:spcAft>
              <a:buSzPts val="1800"/>
              <a:buChar char="●"/>
            </a:pPr>
            <a:r>
              <a:rPr lang="en"/>
              <a:t>Personality and motivation are interconnected. Locus of control (LOC) refers to the extent to which an individual views events as resulting from his or her own actions (an internal LOC) or from outside causes (an external LOC). People with an internal LOC believe that they can control their environments; people with an external LOC believe that they are at the mercy of external environments with little ability to influence outcomes.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6"/>
          <p:cNvSpPr txBox="1"/>
          <p:nvPr>
            <p:ph type="title"/>
          </p:nvPr>
        </p:nvSpPr>
        <p:spPr>
          <a:xfrm>
            <a:off x="311700" y="1049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Motivation theories</a:t>
            </a:r>
            <a:endParaRPr/>
          </a:p>
        </p:txBody>
      </p:sp>
      <p:sp>
        <p:nvSpPr>
          <p:cNvPr id="83" name="Google Shape;83;p6"/>
          <p:cNvSpPr txBox="1"/>
          <p:nvPr>
            <p:ph idx="1" type="body"/>
          </p:nvPr>
        </p:nvSpPr>
        <p:spPr>
          <a:xfrm>
            <a:off x="311700" y="562050"/>
            <a:ext cx="8520600" cy="4250700"/>
          </a:xfrm>
          <a:prstGeom prst="rect">
            <a:avLst/>
          </a:prstGeom>
          <a:noFill/>
          <a:ln>
            <a:noFill/>
          </a:ln>
        </p:spPr>
        <p:txBody>
          <a:bodyPr anchorCtr="0" anchor="t" bIns="91425" lIns="91425" spcFirstLastPara="1" rIns="91425" wrap="square" tIns="91425">
            <a:normAutofit fontScale="92500" lnSpcReduction="10000"/>
          </a:bodyPr>
          <a:lstStyle/>
          <a:p>
            <a:pPr indent="-334327" lvl="0" marL="457200" rtl="0" algn="l">
              <a:lnSpc>
                <a:spcPct val="115000"/>
              </a:lnSpc>
              <a:spcBef>
                <a:spcPts val="0"/>
              </a:spcBef>
              <a:spcAft>
                <a:spcPts val="0"/>
              </a:spcAft>
              <a:buSzPct val="100000"/>
              <a:buChar char="●"/>
            </a:pPr>
            <a:r>
              <a:rPr lang="en"/>
              <a:t>Weiner (1991, 1992) suggested that the best way to gain an understanding of the wide variation in motivational theories, as well as of the evolution of motivational thinking, is through the use of metaphors. A metaphor is intended to illuminate an obscure or difficult concept by example.Weiner suggests that all motivational theories can be described by one of two metaphors: the person as machine and the person as scientist.</a:t>
            </a:r>
            <a:endParaRPr/>
          </a:p>
          <a:p>
            <a:pPr indent="-334327" lvl="0" marL="457200" rtl="0" algn="l">
              <a:lnSpc>
                <a:spcPct val="115000"/>
              </a:lnSpc>
              <a:spcBef>
                <a:spcPts val="0"/>
              </a:spcBef>
              <a:spcAft>
                <a:spcPts val="0"/>
              </a:spcAft>
              <a:buSzPct val="100000"/>
              <a:buChar char="●"/>
            </a:pPr>
            <a:r>
              <a:rPr lang="en"/>
              <a:t>Person as machine is a metaphor that suggests that people’s behaviors/actions are reflexive and involuntary and are performed without conscious awareness.</a:t>
            </a:r>
            <a:endParaRPr/>
          </a:p>
          <a:p>
            <a:pPr indent="-334327" lvl="0" marL="457200" rtl="0" algn="l">
              <a:lnSpc>
                <a:spcPct val="115000"/>
              </a:lnSpc>
              <a:spcBef>
                <a:spcPts val="0"/>
              </a:spcBef>
              <a:spcAft>
                <a:spcPts val="0"/>
              </a:spcAft>
              <a:buSzPct val="100000"/>
              <a:buChar char="●"/>
            </a:pPr>
            <a:r>
              <a:rPr lang="en"/>
              <a:t>Person as scientist is a metaphor that suggests that people are active information gatherers and analysts who seek knowledge and understanding as a way of mastering their environment.</a:t>
            </a:r>
            <a:endParaRPr/>
          </a:p>
          <a:p>
            <a:pPr indent="-334327" lvl="0" marL="457200" rtl="0" algn="l">
              <a:lnSpc>
                <a:spcPct val="115000"/>
              </a:lnSpc>
              <a:spcBef>
                <a:spcPts val="0"/>
              </a:spcBef>
              <a:spcAft>
                <a:spcPts val="0"/>
              </a:spcAft>
              <a:buSzPct val="100000"/>
              <a:buChar char="●"/>
            </a:pPr>
            <a:r>
              <a:rPr lang="en"/>
              <a:t>Person as judge is a metaphor in which an individual seeks information about the extent to which the person and others are perceived as responsible for positive and negative events. The person looks for evidence of intention in the actions of others and considers those intentions in choosing a personal course of action.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7"/>
          <p:cNvSpPr txBox="1"/>
          <p:nvPr>
            <p:ph idx="1" type="body"/>
          </p:nvPr>
        </p:nvSpPr>
        <p:spPr>
          <a:xfrm>
            <a:off x="311700" y="420350"/>
            <a:ext cx="8520600" cy="44493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a:t>An Internal Mechanical Theory: Maslow’s Need Theory</a:t>
            </a:r>
            <a:endParaRPr/>
          </a:p>
          <a:p>
            <a:pPr indent="-342900" lvl="0" marL="457200" rtl="0" algn="l">
              <a:lnSpc>
                <a:spcPct val="115000"/>
              </a:lnSpc>
              <a:spcBef>
                <a:spcPts val="1200"/>
              </a:spcBef>
              <a:spcAft>
                <a:spcPts val="0"/>
              </a:spcAft>
              <a:buSzPts val="1800"/>
              <a:buChar char="●"/>
            </a:pPr>
            <a:r>
              <a:rPr lang="en"/>
              <a:t>Abraham Maslow (1943) proposed that all humans have a basic set of needs and that these needs express themselves over the life-span of the individual as internal “pushes” or drives. </a:t>
            </a:r>
            <a:endParaRPr/>
          </a:p>
          <a:p>
            <a:pPr indent="-342900" lvl="0" marL="457200" rtl="0" algn="l">
              <a:lnSpc>
                <a:spcPct val="115000"/>
              </a:lnSpc>
              <a:spcBef>
                <a:spcPts val="0"/>
              </a:spcBef>
              <a:spcAft>
                <a:spcPts val="0"/>
              </a:spcAft>
              <a:buSzPts val="1800"/>
              <a:buChar char="●"/>
            </a:pPr>
            <a:r>
              <a:rPr lang="en"/>
              <a:t>Maslow’s need theory was more a theory of human development than one of work motivation. </a:t>
            </a:r>
            <a:endParaRPr/>
          </a:p>
          <a:p>
            <a:pPr indent="-342900" lvl="0" marL="457200" rtl="0" algn="l">
              <a:lnSpc>
                <a:spcPct val="115000"/>
              </a:lnSpc>
              <a:spcBef>
                <a:spcPts val="0"/>
              </a:spcBef>
              <a:spcAft>
                <a:spcPts val="0"/>
              </a:spcAft>
              <a:buSzPts val="1800"/>
              <a:buChar char="●"/>
            </a:pPr>
            <a:r>
              <a:rPr lang="en"/>
              <a:t>Generally, the theory proposed that when we are young, we are more concerned with our physical well-being. As we become more secure in our physical world, we then begin to emphasize social needs. Finally, when our social foundation seems secure, we then concentrate on developing our abilities and capacities to their fullest. Thus, Maslow proposed five different sets of needs and arranged them hierarchically. In his model, the lower needs take precedence over the higher needs. Physiological needs were the lowest and self-actualization needs the highest among the five categories.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8"/>
          <p:cNvSpPr txBox="1"/>
          <p:nvPr>
            <p:ph idx="1" type="body"/>
          </p:nvPr>
        </p:nvSpPr>
        <p:spPr>
          <a:xfrm>
            <a:off x="311700" y="363675"/>
            <a:ext cx="8520600" cy="45201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Clr>
                <a:schemeClr val="dk1"/>
              </a:buClr>
              <a:buSzPts val="1100"/>
              <a:buFont typeface="Arial"/>
              <a:buNone/>
            </a:pPr>
            <a:r>
              <a:rPr lang="en"/>
              <a:t>1. Physiological needs. These are what learning theories generally refer to as basic needs or drives and are satisfied by such things as food, water, and sleep.</a:t>
            </a:r>
            <a:endParaRPr/>
          </a:p>
          <a:p>
            <a:pPr indent="0" lvl="0" marL="0" rtl="0" algn="l">
              <a:lnSpc>
                <a:spcPct val="115000"/>
              </a:lnSpc>
              <a:spcBef>
                <a:spcPts val="1200"/>
              </a:spcBef>
              <a:spcAft>
                <a:spcPts val="0"/>
              </a:spcAft>
              <a:buClr>
                <a:schemeClr val="dk1"/>
              </a:buClr>
              <a:buSzPts val="1100"/>
              <a:buFont typeface="Arial"/>
              <a:buNone/>
            </a:pPr>
            <a:r>
              <a:rPr lang="en"/>
              <a:t>2. Security needs. This category refers to the need an individual has to produce a secure environment—one free of threats to continued existence.</a:t>
            </a:r>
            <a:endParaRPr/>
          </a:p>
          <a:p>
            <a:pPr indent="0" lvl="0" marL="0" rtl="0" algn="l">
              <a:lnSpc>
                <a:spcPct val="115000"/>
              </a:lnSpc>
              <a:spcBef>
                <a:spcPts val="1200"/>
              </a:spcBef>
              <a:spcAft>
                <a:spcPts val="0"/>
              </a:spcAft>
              <a:buClr>
                <a:schemeClr val="dk1"/>
              </a:buClr>
              <a:buSzPts val="1100"/>
              <a:buFont typeface="Arial"/>
              <a:buNone/>
            </a:pPr>
            <a:r>
              <a:rPr lang="en"/>
              <a:t>3. Love or social needs. These needs are associated with interpersonal factors. They refer to an individual’s desire to be accepted by others.</a:t>
            </a:r>
            <a:endParaRPr/>
          </a:p>
          <a:p>
            <a:pPr indent="0" lvl="0" marL="0" rtl="0" algn="l">
              <a:lnSpc>
                <a:spcPct val="115000"/>
              </a:lnSpc>
              <a:spcBef>
                <a:spcPts val="1200"/>
              </a:spcBef>
              <a:spcAft>
                <a:spcPts val="0"/>
              </a:spcAft>
              <a:buSzPts val="1800"/>
              <a:buNone/>
            </a:pPr>
            <a:r>
              <a:rPr lang="en"/>
              <a:t>4. Esteem needs. These needs are associated with being respected for accomplishments or capabilities.</a:t>
            </a:r>
            <a:endParaRPr/>
          </a:p>
          <a:p>
            <a:pPr indent="0" lvl="0" marL="0" rtl="0" algn="l">
              <a:lnSpc>
                <a:spcPct val="115000"/>
              </a:lnSpc>
              <a:spcBef>
                <a:spcPts val="1200"/>
              </a:spcBef>
              <a:spcAft>
                <a:spcPts val="1200"/>
              </a:spcAft>
              <a:buSzPts val="1800"/>
              <a:buNone/>
            </a:pPr>
            <a:r>
              <a:rPr lang="en"/>
              <a:t>5. Self-actualization needs. These needs refer to the desire on the part of an individual to develop his or her capacities to the fullest. In Maslow’s theory, few people ever completely satisfy this need. Instead, the individual would always be seeking to grow and develop. Some examples of fully self-actualized individuals might be Martin Luther King, Jr., Gandhi, or Mother Theresa (although even they might have claimed that they were not finished “growing”).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9"/>
          <p:cNvSpPr txBox="1"/>
          <p:nvPr>
            <p:ph idx="1" type="body"/>
          </p:nvPr>
        </p:nvSpPr>
        <p:spPr>
          <a:xfrm>
            <a:off x="311700" y="264500"/>
            <a:ext cx="8520600" cy="4520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An External Mechanical Theory: Reinforcement Theory</a:t>
            </a:r>
            <a:endParaRPr/>
          </a:p>
          <a:p>
            <a:pPr indent="-342900" lvl="0" marL="457200" rtl="0" algn="l">
              <a:lnSpc>
                <a:spcPct val="115000"/>
              </a:lnSpc>
              <a:spcBef>
                <a:spcPts val="1200"/>
              </a:spcBef>
              <a:spcAft>
                <a:spcPts val="0"/>
              </a:spcAft>
              <a:buSzPts val="1800"/>
              <a:buChar char="●"/>
            </a:pPr>
            <a:r>
              <a:rPr lang="en"/>
              <a:t>Reinforcement theory proposes that behavior depends on three simple elements: stimulus, response, and reward. Proposed that if a response in the presence of a particular stimulus is rewarded (i.e., reinforced), that response is likely to occur again in the presence of that stimulus.</a:t>
            </a:r>
            <a:endParaRPr/>
          </a:p>
          <a:p>
            <a:pPr indent="-342900" lvl="0" marL="457200" rtl="0" algn="l">
              <a:lnSpc>
                <a:spcPct val="115000"/>
              </a:lnSpc>
              <a:spcBef>
                <a:spcPts val="0"/>
              </a:spcBef>
              <a:spcAft>
                <a:spcPts val="0"/>
              </a:spcAft>
              <a:buSzPts val="1800"/>
              <a:buChar char="●"/>
            </a:pPr>
            <a:r>
              <a:rPr lang="en"/>
              <a:t>When a reward depends on a response, it is called a contingent reward (i.e., the reward is contingent on the response). Contingent reward or reinforcement is a central proposition of the behaviorist approach. A second important proposition has to do with the schedule of reward or reinforcement. Rewards can be given continuously (every time a correct response occurs, a reward is presented) or intermittently (only a portion of correct responses are rewarded). Ferster and Skinner (1957) discovered that intermittent rewards actually produced higher levels of performance than continuous rewards.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0"/>
          <p:cNvSpPr txBox="1"/>
          <p:nvPr>
            <p:ph idx="1" type="body"/>
          </p:nvPr>
        </p:nvSpPr>
        <p:spPr>
          <a:xfrm>
            <a:off x="311700" y="307000"/>
            <a:ext cx="8520600" cy="45201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lang="en"/>
              <a:t>Person-as-Scientist Theories</a:t>
            </a:r>
            <a:endParaRPr/>
          </a:p>
          <a:p>
            <a:pPr indent="-342900" lvl="0" marL="457200" rtl="0" algn="l">
              <a:lnSpc>
                <a:spcPct val="115000"/>
              </a:lnSpc>
              <a:spcBef>
                <a:spcPts val="1200"/>
              </a:spcBef>
              <a:spcAft>
                <a:spcPts val="0"/>
              </a:spcAft>
              <a:buSzPts val="1800"/>
              <a:buChar char="●"/>
            </a:pPr>
            <a:r>
              <a:rPr lang="en"/>
              <a:t>The first formal work motivation theory to suggest that people weighed options before choosing among them was the path–goal theory of Georgopoulos, Mahoney, and Jones (1957). They reasoned that if a worker saw high productivity as a path to the goal of desired rewards or personal goals (e.g., a pay increase or promotion, or increased power, prestige, or responsibility), that worker would likely be a high producer. Conversely, if low productivity was seen as a path to desired rewards (e.g., less stress, more time with family, approval of co-workers), that worker would likely be a low producer.</a:t>
            </a:r>
            <a:endParaRPr/>
          </a:p>
          <a:p>
            <a:pPr indent="-342900" lvl="0" marL="457200" rtl="0" algn="l">
              <a:lnSpc>
                <a:spcPct val="115000"/>
              </a:lnSpc>
              <a:spcBef>
                <a:spcPts val="0"/>
              </a:spcBef>
              <a:spcAft>
                <a:spcPts val="0"/>
              </a:spcAft>
              <a:buSzPts val="1800"/>
              <a:buChar char="●"/>
            </a:pPr>
            <a:r>
              <a:rPr lang="en"/>
              <a:t>This theory was a simple one in conception, but it marked a dramatic shift in thinking about motivation: a shift from the person as machine to the person as scientist. The new approach was presented in a more elegant way by Vroom (1964) in a theory that has come to be known as VIE (valence, </a:t>
            </a:r>
            <a:r>
              <a:rPr lang="en"/>
              <a:t>instrumentality, and</a:t>
            </a:r>
            <a:r>
              <a:rPr lang="en"/>
              <a:t> expectancy) theory.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1"/>
          <p:cNvSpPr txBox="1"/>
          <p:nvPr>
            <p:ph idx="1" type="body"/>
          </p:nvPr>
        </p:nvSpPr>
        <p:spPr>
          <a:xfrm>
            <a:off x="311700" y="179475"/>
            <a:ext cx="8520600" cy="4803300"/>
          </a:xfrm>
          <a:prstGeom prst="rect">
            <a:avLst/>
          </a:prstGeom>
          <a:noFill/>
          <a:ln>
            <a:noFill/>
          </a:ln>
        </p:spPr>
        <p:txBody>
          <a:bodyPr anchorCtr="0" anchor="t" bIns="91425" lIns="91425" spcFirstLastPara="1" rIns="91425" wrap="square" tIns="91425">
            <a:normAutofit lnSpcReduction="20000"/>
          </a:bodyPr>
          <a:lstStyle/>
          <a:p>
            <a:pPr indent="-342900" lvl="0" marL="457200" rtl="0" algn="l">
              <a:lnSpc>
                <a:spcPct val="115000"/>
              </a:lnSpc>
              <a:spcBef>
                <a:spcPts val="0"/>
              </a:spcBef>
              <a:spcAft>
                <a:spcPts val="0"/>
              </a:spcAft>
              <a:buSzPts val="1800"/>
              <a:buChar char="●"/>
            </a:pPr>
            <a:r>
              <a:rPr lang="en"/>
              <a:t>Valence is the strength of a person’s preference for a particular outcome.</a:t>
            </a:r>
            <a:endParaRPr/>
          </a:p>
          <a:p>
            <a:pPr indent="-342900" lvl="0" marL="457200" rtl="0" algn="l">
              <a:lnSpc>
                <a:spcPct val="115000"/>
              </a:lnSpc>
              <a:spcBef>
                <a:spcPts val="0"/>
              </a:spcBef>
              <a:spcAft>
                <a:spcPts val="0"/>
              </a:spcAft>
              <a:buSzPts val="1800"/>
              <a:buChar char="●"/>
            </a:pPr>
            <a:r>
              <a:rPr lang="en"/>
              <a:t>Instrumentality is the perceived relationship between performance and the attainment of a certain outcome.</a:t>
            </a:r>
            <a:endParaRPr/>
          </a:p>
          <a:p>
            <a:pPr indent="-342900" lvl="0" marL="457200" rtl="0" algn="l">
              <a:lnSpc>
                <a:spcPct val="115000"/>
              </a:lnSpc>
              <a:spcBef>
                <a:spcPts val="0"/>
              </a:spcBef>
              <a:spcAft>
                <a:spcPts val="0"/>
              </a:spcAft>
              <a:buSzPts val="1800"/>
              <a:buChar char="●"/>
            </a:pPr>
            <a:r>
              <a:rPr lang="en"/>
              <a:t>Expectancy is an individual’s belief that a particular behavior (e.g., effort, hard work) will lead to higher performance.</a:t>
            </a:r>
            <a:endParaRPr/>
          </a:p>
          <a:p>
            <a:pPr indent="-342900" lvl="0" marL="457200" rtl="0" algn="l">
              <a:lnSpc>
                <a:spcPct val="115000"/>
              </a:lnSpc>
              <a:spcBef>
                <a:spcPts val="0"/>
              </a:spcBef>
              <a:spcAft>
                <a:spcPts val="0"/>
              </a:spcAft>
              <a:buSzPts val="1800"/>
              <a:buChar char="●"/>
            </a:pPr>
            <a:r>
              <a:rPr lang="en"/>
              <a:t>Vroom reasoned that psychological objects in an environment also have attracting and repelling forces. For most people, money would be attracting, and uninteresting work would be repelling. For the most part, this element of Vroom’s theory was not much different from the earlier person-as-machine approaches. It was a simple recognition that people have needs or desires.</a:t>
            </a:r>
            <a:endParaRPr/>
          </a:p>
          <a:p>
            <a:pPr indent="0" lvl="0" marL="0" rtl="0" algn="l">
              <a:lnSpc>
                <a:spcPct val="115000"/>
              </a:lnSpc>
              <a:spcBef>
                <a:spcPts val="1200"/>
              </a:spcBef>
              <a:spcAft>
                <a:spcPts val="0"/>
              </a:spcAft>
              <a:buSzPts val="1800"/>
              <a:buNone/>
            </a:pPr>
            <a:r>
              <a:rPr lang="en"/>
              <a:t>If a manager wanted to apply Vroom’s theory, he or she would concentrate on three things:</a:t>
            </a:r>
            <a:endParaRPr/>
          </a:p>
          <a:p>
            <a:pPr indent="0" lvl="0" marL="457200" rtl="0" algn="l">
              <a:lnSpc>
                <a:spcPct val="115000"/>
              </a:lnSpc>
              <a:spcBef>
                <a:spcPts val="0"/>
              </a:spcBef>
              <a:spcAft>
                <a:spcPts val="0"/>
              </a:spcAft>
              <a:buSzPts val="1800"/>
              <a:buNone/>
            </a:pPr>
            <a:r>
              <a:rPr lang="en"/>
              <a:t>1. Motivate employees by offering outcomes that have high valence. </a:t>
            </a:r>
            <a:endParaRPr/>
          </a:p>
          <a:p>
            <a:pPr indent="0" lvl="0" marL="457200" rtl="0" algn="l">
              <a:lnSpc>
                <a:spcPct val="115000"/>
              </a:lnSpc>
              <a:spcBef>
                <a:spcPts val="0"/>
              </a:spcBef>
              <a:spcAft>
                <a:spcPts val="0"/>
              </a:spcAft>
              <a:buSzPts val="1800"/>
              <a:buNone/>
            </a:pPr>
            <a:r>
              <a:rPr lang="en"/>
              <a:t>2. Clarify instrumentalities by letting employees know that high performance is associated with positive outcomes.</a:t>
            </a:r>
            <a:endParaRPr/>
          </a:p>
          <a:p>
            <a:pPr indent="0" lvl="0" marL="457200" rtl="0" algn="l">
              <a:lnSpc>
                <a:spcPct val="115000"/>
              </a:lnSpc>
              <a:spcBef>
                <a:spcPts val="0"/>
              </a:spcBef>
              <a:spcAft>
                <a:spcPts val="0"/>
              </a:spcAft>
              <a:buSzPts val="1800"/>
              <a:buNone/>
            </a:pPr>
            <a:r>
              <a:rPr lang="en"/>
              <a:t>3. Clarify expectancies by making it clear to employees that hard work will lead to higher performance.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2"/>
          <p:cNvSpPr txBox="1"/>
          <p:nvPr>
            <p:ph idx="1" type="body"/>
          </p:nvPr>
        </p:nvSpPr>
        <p:spPr>
          <a:xfrm>
            <a:off x="311700" y="80300"/>
            <a:ext cx="8520600" cy="4944900"/>
          </a:xfrm>
          <a:prstGeom prst="rect">
            <a:avLst/>
          </a:prstGeom>
          <a:noFill/>
          <a:ln>
            <a:noFill/>
          </a:ln>
        </p:spPr>
        <p:txBody>
          <a:bodyPr anchorCtr="0" anchor="t" bIns="91425" lIns="91425" spcFirstLastPara="1" rIns="91425" wrap="square" tIns="91425">
            <a:normAutofit lnSpcReduction="20000"/>
          </a:bodyPr>
          <a:lstStyle/>
          <a:p>
            <a:pPr indent="-342900" lvl="0" marL="457200" rtl="0" algn="l">
              <a:lnSpc>
                <a:spcPct val="115000"/>
              </a:lnSpc>
              <a:spcBef>
                <a:spcPts val="0"/>
              </a:spcBef>
              <a:spcAft>
                <a:spcPts val="0"/>
              </a:spcAft>
              <a:buSzPts val="1800"/>
              <a:buChar char="●"/>
            </a:pPr>
            <a:r>
              <a:rPr lang="en"/>
              <a:t>Another popular person-as-scientist theory was proposed by Adams (1965). As in Vroom’s VIE theory, Adams proposed that people are calculators, but in a somewhat different way than proposed by Vroom. In 1957, Festinger proposed dissonance theory. </a:t>
            </a:r>
            <a:endParaRPr/>
          </a:p>
          <a:p>
            <a:pPr indent="-342900" lvl="0" marL="457200" rtl="0" algn="l">
              <a:lnSpc>
                <a:spcPct val="115000"/>
              </a:lnSpc>
              <a:spcBef>
                <a:spcPts val="0"/>
              </a:spcBef>
              <a:spcAft>
                <a:spcPts val="0"/>
              </a:spcAft>
              <a:buSzPts val="1800"/>
              <a:buChar char="●"/>
            </a:pPr>
            <a:r>
              <a:rPr lang="en"/>
              <a:t>Dissonance theory suggested by Festinger, observed that tension exists when individuals hold “dissonant cognitions” (incompatible thoughts). This approach assumes that individuals always seek some sense of “balance” (i.e., absence of tension) and that they will direct their behavior toward reducing the tension resulting from dissonant cognitions.</a:t>
            </a:r>
            <a:endParaRPr/>
          </a:p>
          <a:p>
            <a:pPr indent="-342900" lvl="0" marL="457200" rtl="0" algn="l">
              <a:lnSpc>
                <a:spcPct val="115000"/>
              </a:lnSpc>
              <a:spcBef>
                <a:spcPts val="0"/>
              </a:spcBef>
              <a:spcAft>
                <a:spcPts val="0"/>
              </a:spcAft>
              <a:buSzPts val="1800"/>
              <a:buChar char="●"/>
            </a:pPr>
            <a:r>
              <a:rPr lang="en"/>
              <a:t>Equity theory is a motivational theory developed by Adams (1965) that suggested that individuals look at their world in terms of comparative inputs and outcomes. Individuals compare their inputs and outcomes with others (e.g., peers, co-workers) by developing an input/outcome ratio.</a:t>
            </a:r>
            <a:endParaRPr/>
          </a:p>
          <a:p>
            <a:pPr indent="-342900" lvl="0" marL="457200" rtl="0" algn="l">
              <a:lnSpc>
                <a:spcPct val="115000"/>
              </a:lnSpc>
              <a:spcBef>
                <a:spcPts val="0"/>
              </a:spcBef>
              <a:spcAft>
                <a:spcPts val="0"/>
              </a:spcAft>
              <a:buSzPts val="1800"/>
              <a:buChar char="●"/>
            </a:pPr>
            <a:r>
              <a:rPr lang="en"/>
              <a:t>Comparison </a:t>
            </a:r>
            <a:r>
              <a:rPr lang="en"/>
              <a:t>to others—A</a:t>
            </a:r>
            <a:r>
              <a:rPr lang="en"/>
              <a:t> co-worker or idealized other person to </a:t>
            </a:r>
            <a:r>
              <a:rPr lang="en"/>
              <a:t>whom</a:t>
            </a:r>
            <a:r>
              <a:rPr lang="en"/>
              <a:t> the individual compares himself or herself in determining perceived equity. </a:t>
            </a:r>
            <a:endParaRPr/>
          </a:p>
          <a:p>
            <a:pPr indent="-342900" lvl="0" marL="457200" rtl="0" algn="l">
              <a:lnSpc>
                <a:spcPct val="115000"/>
              </a:lnSpc>
              <a:spcBef>
                <a:spcPts val="0"/>
              </a:spcBef>
              <a:spcAft>
                <a:spcPts val="0"/>
              </a:spcAft>
              <a:buSzPts val="1800"/>
              <a:buChar char="●"/>
            </a:pPr>
            <a:r>
              <a:rPr lang="en"/>
              <a:t>The outcome/input</a:t>
            </a:r>
            <a:r>
              <a:rPr lang="en"/>
              <a:t> ratio is the ratio that results when employees compare their inputs and outcomes to those of others (e.g., peers, co-workers) to determine if they are being treated equitably.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3"/>
          <p:cNvSpPr txBox="1"/>
          <p:nvPr>
            <p:ph type="title"/>
          </p:nvPr>
        </p:nvSpPr>
        <p:spPr>
          <a:xfrm>
            <a:off x="311700" y="62450"/>
            <a:ext cx="8520600" cy="499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Attitudes, emotions and work</a:t>
            </a:r>
            <a:endParaRPr/>
          </a:p>
        </p:txBody>
      </p:sp>
      <p:sp>
        <p:nvSpPr>
          <p:cNvPr id="119" name="Google Shape;119;p13"/>
          <p:cNvSpPr txBox="1"/>
          <p:nvPr>
            <p:ph idx="1" type="body"/>
          </p:nvPr>
        </p:nvSpPr>
        <p:spPr>
          <a:xfrm>
            <a:off x="311700" y="561950"/>
            <a:ext cx="8520600" cy="43926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17647"/>
              <a:buNone/>
            </a:pPr>
            <a:r>
              <a:rPr lang="en"/>
              <a:t>Emotions experienced at work affect both work and non-work behavior. Similarly, non-work related emotions affect both work and non-work behavior.  Understanding emotions at work is no simple task. Not only do we experience both work and non-work stimuli but we also have a range of different reactions, ranging from attitudes to emotions to moods.</a:t>
            </a:r>
            <a:endParaRPr/>
          </a:p>
          <a:p>
            <a:pPr indent="0" lvl="0" marL="0" rtl="0" algn="l">
              <a:lnSpc>
                <a:spcPct val="115000"/>
              </a:lnSpc>
              <a:spcBef>
                <a:spcPts val="1200"/>
              </a:spcBef>
              <a:spcAft>
                <a:spcPts val="0"/>
              </a:spcAft>
              <a:buSzPct val="117647"/>
              <a:buNone/>
            </a:pPr>
            <a:r>
              <a:rPr lang="en"/>
              <a:t>Attitudes are relatively stable feelings or beliefs that are directed toward specific persons, groups, ideas, jobs, or other objects.</a:t>
            </a:r>
            <a:endParaRPr/>
          </a:p>
          <a:p>
            <a:pPr indent="0" lvl="0" marL="0" rtl="0" algn="l">
              <a:lnSpc>
                <a:spcPct val="115000"/>
              </a:lnSpc>
              <a:spcBef>
                <a:spcPts val="1200"/>
              </a:spcBef>
              <a:spcAft>
                <a:spcPts val="0"/>
              </a:spcAft>
              <a:buSzPct val="117647"/>
              <a:buNone/>
            </a:pPr>
            <a:r>
              <a:rPr lang="en"/>
              <a:t>Job satisfaction is the positive attitude or emotional state resulting from the appraisal of one’s job or job experience.</a:t>
            </a:r>
            <a:endParaRPr/>
          </a:p>
          <a:p>
            <a:pPr indent="0" lvl="0" marL="0" rtl="0" algn="l">
              <a:lnSpc>
                <a:spcPct val="115000"/>
              </a:lnSpc>
              <a:spcBef>
                <a:spcPts val="1200"/>
              </a:spcBef>
              <a:spcAft>
                <a:spcPts val="0"/>
              </a:spcAft>
              <a:buSzPct val="117647"/>
              <a:buNone/>
            </a:pPr>
            <a:r>
              <a:rPr lang="en"/>
              <a:t>In the Hawthorne study, the improved attitudes of workers toward supervisors as a result of the increased attention appeared, in turn, to be responsible for the increase in productivity. This led to the introduction of a new term into the literature of social psychology: the Hawthorne effect, meaning a change in behavior or attitudes that was the simple result of increased attention.</a:t>
            </a:r>
            <a:endParaRPr/>
          </a:p>
          <a:p>
            <a:pPr indent="0" lvl="0" marL="0" rtl="0" algn="l">
              <a:lnSpc>
                <a:spcPct val="115000"/>
              </a:lnSpc>
              <a:spcBef>
                <a:spcPts val="1200"/>
              </a:spcBef>
              <a:spcAft>
                <a:spcPts val="1200"/>
              </a:spcAft>
              <a:buSzPct val="117647"/>
              <a:buNone/>
            </a:pPr>
            <a:r>
              <a:rPr lang="en"/>
              <a:t>Herzberg and colleagues found a connection between satisfaction and other work behaviors, which led them to introduce one of the first modern theories of job satisfaction, the two-factor theory. They proposed that extrinsic factors satisfy hygiene needs and intrinsic factors satisfy motivator needs.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4"/>
          <p:cNvSpPr txBox="1"/>
          <p:nvPr>
            <p:ph idx="1" type="body"/>
          </p:nvPr>
        </p:nvSpPr>
        <p:spPr>
          <a:xfrm>
            <a:off x="311700" y="335350"/>
            <a:ext cx="8520600" cy="45768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15000"/>
              </a:lnSpc>
              <a:spcBef>
                <a:spcPts val="0"/>
              </a:spcBef>
              <a:spcAft>
                <a:spcPts val="0"/>
              </a:spcAft>
              <a:buSzPct val="108108"/>
              <a:buNone/>
            </a:pPr>
            <a:r>
              <a:rPr lang="en"/>
              <a:t>Measurement of job satisfaction</a:t>
            </a:r>
            <a:endParaRPr/>
          </a:p>
          <a:p>
            <a:pPr indent="0" lvl="0" marL="0" rtl="0" algn="l">
              <a:lnSpc>
                <a:spcPct val="115000"/>
              </a:lnSpc>
              <a:spcBef>
                <a:spcPts val="1200"/>
              </a:spcBef>
              <a:spcAft>
                <a:spcPts val="0"/>
              </a:spcAft>
              <a:buSzPct val="108108"/>
              <a:buNone/>
            </a:pPr>
            <a:r>
              <a:rPr lang="en"/>
              <a:t>There are two different measurement issues concerning job satisfaction. The first is the distinction between satisfaction with specific aspects of work (often called facet satisfaction) versus a measure of overall satisfaction. The second is the use of questionnaires to measure satisfaction. </a:t>
            </a:r>
            <a:endParaRPr/>
          </a:p>
          <a:p>
            <a:pPr indent="0" lvl="0" marL="0" rtl="0" algn="l">
              <a:lnSpc>
                <a:spcPct val="115000"/>
              </a:lnSpc>
              <a:spcBef>
                <a:spcPts val="1200"/>
              </a:spcBef>
              <a:spcAft>
                <a:spcPts val="0"/>
              </a:spcAft>
              <a:buSzPct val="108108"/>
              <a:buNone/>
            </a:pPr>
            <a:r>
              <a:rPr lang="en"/>
              <a:t>Overall satisfaction is the overall assessment of job satisfaction that results either from mathematically combining scores based on satisfaction with specific important aspects of work or a single overall evaluative rating of the job.</a:t>
            </a:r>
            <a:endParaRPr/>
          </a:p>
          <a:p>
            <a:pPr indent="0" lvl="0" marL="0" rtl="0" algn="l">
              <a:lnSpc>
                <a:spcPct val="115000"/>
              </a:lnSpc>
              <a:spcBef>
                <a:spcPts val="1200"/>
              </a:spcBef>
              <a:spcAft>
                <a:spcPts val="0"/>
              </a:spcAft>
              <a:buSzPct val="108108"/>
              <a:buNone/>
            </a:pPr>
            <a:r>
              <a:rPr lang="en"/>
              <a:t>Facet satisfaction Information related to specific facets or elements of job satisfaction. </a:t>
            </a:r>
            <a:endParaRPr/>
          </a:p>
          <a:p>
            <a:pPr indent="0" lvl="0" marL="0" rtl="0" algn="l">
              <a:lnSpc>
                <a:spcPct val="115000"/>
              </a:lnSpc>
              <a:spcBef>
                <a:spcPts val="1200"/>
              </a:spcBef>
              <a:spcAft>
                <a:spcPts val="1200"/>
              </a:spcAft>
              <a:buSzPct val="108108"/>
              <a:buNone/>
            </a:pPr>
            <a:r>
              <a:rPr lang="en"/>
              <a:t>There are some instances in which an overall score will work just fine (e.g., comparing one plant or division of an organization to another) and other instances in which facet information might be more useful (e.g., trying to identify which aspects of the work environment might play a central role in recruiting new employees).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5"/>
          <p:cNvSpPr txBox="1"/>
          <p:nvPr>
            <p:ph idx="1" type="body"/>
          </p:nvPr>
        </p:nvSpPr>
        <p:spPr>
          <a:xfrm>
            <a:off x="311700" y="136975"/>
            <a:ext cx="8520600" cy="58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Relationship between High-Performance Work Practices and Job Satisfaction</a:t>
            </a:r>
            <a:endParaRPr/>
          </a:p>
        </p:txBody>
      </p:sp>
      <p:pic>
        <p:nvPicPr>
          <p:cNvPr id="130" name="Google Shape;130;p15"/>
          <p:cNvPicPr preferRelativeResize="0"/>
          <p:nvPr/>
        </p:nvPicPr>
        <p:blipFill rotWithShape="1">
          <a:blip r:embed="rId3">
            <a:alphaModFix/>
          </a:blip>
          <a:srcRect b="0" l="0" r="0" t="0"/>
          <a:stretch/>
        </p:blipFill>
        <p:spPr>
          <a:xfrm>
            <a:off x="1307025" y="788775"/>
            <a:ext cx="6306676" cy="41280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6"/>
          <p:cNvSpPr txBox="1"/>
          <p:nvPr>
            <p:ph type="title"/>
          </p:nvPr>
        </p:nvSpPr>
        <p:spPr>
          <a:xfrm>
            <a:off x="311700" y="1899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1620"/>
              <a:t>Classification of Presumed Antecedents, Correlates, and Consequences of Job Satisfaction</a:t>
            </a:r>
            <a:endParaRPr sz="1620"/>
          </a:p>
        </p:txBody>
      </p:sp>
      <p:pic>
        <p:nvPicPr>
          <p:cNvPr id="136" name="Google Shape;136;p16"/>
          <p:cNvPicPr preferRelativeResize="0"/>
          <p:nvPr/>
        </p:nvPicPr>
        <p:blipFill rotWithShape="1">
          <a:blip r:embed="rId3">
            <a:alphaModFix/>
          </a:blip>
          <a:srcRect b="0" l="0" r="0" t="0"/>
          <a:stretch/>
        </p:blipFill>
        <p:spPr>
          <a:xfrm>
            <a:off x="1130100" y="762675"/>
            <a:ext cx="7058650" cy="40760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7"/>
          <p:cNvSpPr txBox="1"/>
          <p:nvPr>
            <p:ph idx="1" type="body"/>
          </p:nvPr>
        </p:nvSpPr>
        <p:spPr>
          <a:xfrm>
            <a:off x="311700" y="179475"/>
            <a:ext cx="8520600" cy="47610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lang="en"/>
              <a:t>Satisfaction questionnaire</a:t>
            </a:r>
            <a:endParaRPr/>
          </a:p>
          <a:p>
            <a:pPr indent="0" lvl="0" marL="0" rtl="0" algn="l">
              <a:lnSpc>
                <a:spcPct val="115000"/>
              </a:lnSpc>
              <a:spcBef>
                <a:spcPts val="1200"/>
              </a:spcBef>
              <a:spcAft>
                <a:spcPts val="0"/>
              </a:spcAft>
              <a:buSzPts val="1800"/>
              <a:buNone/>
            </a:pPr>
            <a:r>
              <a:rPr b="1" lang="en"/>
              <a:t>Job Descriptive Index </a:t>
            </a:r>
            <a:r>
              <a:rPr lang="en"/>
              <a:t>(JDI) is one of the most extensively researched and documented job satisfaction instruments; assesses satisfaction with five distinct areas: the </a:t>
            </a:r>
            <a:r>
              <a:rPr b="1" lang="en"/>
              <a:t>work itself, supervision, people, pay, and promotion.</a:t>
            </a:r>
            <a:r>
              <a:rPr lang="en"/>
              <a:t> The disadvantages of the JDI are that the questionnaire is lengthy (it has 72 items) and that the broad category of “work” does not provide much information about issues such as creativity, independence, variety, or other aspects of the work itself.</a:t>
            </a:r>
            <a:endParaRPr/>
          </a:p>
          <a:p>
            <a:pPr indent="0" lvl="0" marL="0" rtl="0" algn="l">
              <a:lnSpc>
                <a:spcPct val="115000"/>
              </a:lnSpc>
              <a:spcBef>
                <a:spcPts val="1200"/>
              </a:spcBef>
              <a:spcAft>
                <a:spcPts val="0"/>
              </a:spcAft>
              <a:buSzPts val="1800"/>
              <a:buNone/>
            </a:pPr>
            <a:r>
              <a:rPr lang="en"/>
              <a:t>An alternative to the JDI is the </a:t>
            </a:r>
            <a:r>
              <a:rPr b="1" lang="en"/>
              <a:t>Minnesota Satisfaction Questionnaire</a:t>
            </a:r>
            <a:r>
              <a:rPr lang="en"/>
              <a:t> (MSQ), a commonly used job satisfaction instrument that assesses particular aspects of work (e.g., achievement, ability utilization) as well as scores for extrinsic satisfaction and intrinsic satisfaction.</a:t>
            </a:r>
            <a:endParaRPr/>
          </a:p>
          <a:p>
            <a:pPr indent="0" lvl="0" marL="0" rtl="0" algn="l">
              <a:lnSpc>
                <a:spcPct val="115000"/>
              </a:lnSpc>
              <a:spcBef>
                <a:spcPts val="1200"/>
              </a:spcBef>
              <a:spcAft>
                <a:spcPts val="0"/>
              </a:spcAft>
              <a:buSzPts val="1800"/>
              <a:buNone/>
            </a:pPr>
            <a:r>
              <a:rPr lang="en"/>
              <a:t>Intrinsic satisfaction is the satisfaction that derives from aspects central, or intrinsic, to the job itself, such as responsibility.</a:t>
            </a:r>
            <a:endParaRPr/>
          </a:p>
          <a:p>
            <a:pPr indent="0" lvl="0" marL="0" rtl="0" algn="l">
              <a:lnSpc>
                <a:spcPct val="115000"/>
              </a:lnSpc>
              <a:spcBef>
                <a:spcPts val="1200"/>
              </a:spcBef>
              <a:spcAft>
                <a:spcPts val="1200"/>
              </a:spcAft>
              <a:buSzPts val="1800"/>
              <a:buNone/>
            </a:pPr>
            <a:r>
              <a:rPr lang="en"/>
              <a:t>Extrinsic satisfaction is the satisfaction that derives from aspects extrinsic, or external, to job tasks, such as pay or benefits.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8"/>
          <p:cNvSpPr txBox="1"/>
          <p:nvPr>
            <p:ph idx="1" type="body"/>
          </p:nvPr>
        </p:nvSpPr>
        <p:spPr>
          <a:xfrm>
            <a:off x="311700" y="321175"/>
            <a:ext cx="8520600" cy="46335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108108"/>
              <a:buNone/>
            </a:pPr>
            <a:r>
              <a:rPr lang="en"/>
              <a:t>The concept of </a:t>
            </a:r>
            <a:r>
              <a:rPr b="1" lang="en"/>
              <a:t>commitment</a:t>
            </a:r>
            <a:r>
              <a:rPr lang="en"/>
              <a:t> is often associated with both attitudes and emotions. Commitment to a relationship, an organization, a goal, or even an occupation involves emotional attachment, as well as evaluations of whether current circumstances are what one expected or might expect in the future. </a:t>
            </a:r>
            <a:endParaRPr/>
          </a:p>
          <a:p>
            <a:pPr indent="0" lvl="0" marL="0" rtl="0" algn="l">
              <a:lnSpc>
                <a:spcPct val="115000"/>
              </a:lnSpc>
              <a:spcBef>
                <a:spcPts val="1200"/>
              </a:spcBef>
              <a:spcAft>
                <a:spcPts val="0"/>
              </a:spcAft>
              <a:buSzPct val="108108"/>
              <a:buNone/>
            </a:pPr>
            <a:r>
              <a:rPr lang="en"/>
              <a:t>Commitment is a psychological and emotional attachment an individual feels to a relationship, an organization, a goal, or an occupation.</a:t>
            </a:r>
            <a:endParaRPr/>
          </a:p>
          <a:p>
            <a:pPr indent="0" lvl="0" marL="0" rtl="0" algn="l">
              <a:lnSpc>
                <a:spcPct val="115000"/>
              </a:lnSpc>
              <a:spcBef>
                <a:spcPts val="1200"/>
              </a:spcBef>
              <a:spcAft>
                <a:spcPts val="0"/>
              </a:spcAft>
              <a:buSzPct val="108108"/>
              <a:buNone/>
            </a:pPr>
            <a:r>
              <a:rPr b="1" lang="en"/>
              <a:t>Porter, Steers, Mowday, and Boulian (1974)</a:t>
            </a:r>
            <a:r>
              <a:rPr lang="en"/>
              <a:t> proposed that </a:t>
            </a:r>
            <a:r>
              <a:rPr b="1" lang="en"/>
              <a:t>organizational commitment includes three elements:</a:t>
            </a:r>
            <a:r>
              <a:rPr lang="en"/>
              <a:t> (1) acceptance and belief in an organization’s values, (2) a willingness to exert effort on behalf of the organization to help meet its goals, and (3) a strong desire to remain in the organization.</a:t>
            </a:r>
            <a:endParaRPr/>
          </a:p>
          <a:p>
            <a:pPr indent="0" lvl="0" marL="0" rtl="0" algn="l">
              <a:lnSpc>
                <a:spcPct val="115000"/>
              </a:lnSpc>
              <a:spcBef>
                <a:spcPts val="1200"/>
              </a:spcBef>
              <a:spcAft>
                <a:spcPts val="1200"/>
              </a:spcAft>
              <a:buSzPct val="108108"/>
              <a:buNone/>
            </a:pPr>
            <a:r>
              <a:rPr b="1" lang="en"/>
              <a:t>Meyer and Allen (1997)</a:t>
            </a:r>
            <a:r>
              <a:rPr lang="en"/>
              <a:t> suggested that o</a:t>
            </a:r>
            <a:r>
              <a:rPr b="1" lang="en"/>
              <a:t>rganizational commitment could be based on any one of three elements:</a:t>
            </a:r>
            <a:r>
              <a:rPr lang="en"/>
              <a:t> (1) an emotional attachment to an organization, or affective commitment; (2) an element representing the perceived cost of leaving the organization, or continuance commitment; and (3) an element representing an obligation to remain in the organization, or normative commitment.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9"/>
          <p:cNvSpPr txBox="1"/>
          <p:nvPr>
            <p:ph idx="1" type="body"/>
          </p:nvPr>
        </p:nvSpPr>
        <p:spPr>
          <a:xfrm>
            <a:off x="311700" y="94475"/>
            <a:ext cx="8520600" cy="4888500"/>
          </a:xfrm>
          <a:prstGeom prst="rect">
            <a:avLst/>
          </a:prstGeom>
          <a:noFill/>
          <a:ln>
            <a:noFill/>
          </a:ln>
        </p:spPr>
        <p:txBody>
          <a:bodyPr anchorCtr="0" anchor="t" bIns="91425" lIns="91425" spcFirstLastPara="1" rIns="91425" wrap="square" tIns="91425">
            <a:normAutofit fontScale="85000"/>
          </a:bodyPr>
          <a:lstStyle/>
          <a:p>
            <a:pPr indent="0" lvl="0" marL="0" rtl="0" algn="l">
              <a:lnSpc>
                <a:spcPct val="115000"/>
              </a:lnSpc>
              <a:spcBef>
                <a:spcPts val="0"/>
              </a:spcBef>
              <a:spcAft>
                <a:spcPts val="0"/>
              </a:spcAft>
              <a:buSzPct val="117647"/>
              <a:buNone/>
            </a:pPr>
            <a:r>
              <a:rPr lang="en"/>
              <a:t>Several different scales have been used to assess organizational commitment. The most commonly used scale is </a:t>
            </a:r>
            <a:r>
              <a:rPr b="1" lang="en"/>
              <a:t>Meyer, Allen, and Smith’s (1993) Organizational Commitment Questionnaire (OCQ),</a:t>
            </a:r>
            <a:r>
              <a:rPr lang="en"/>
              <a:t> which contains six items for each of the three commitment dimensions.</a:t>
            </a:r>
            <a:endParaRPr/>
          </a:p>
          <a:p>
            <a:pPr indent="0" lvl="0" marL="0" rtl="0" algn="l">
              <a:lnSpc>
                <a:spcPct val="115000"/>
              </a:lnSpc>
              <a:spcBef>
                <a:spcPts val="1200"/>
              </a:spcBef>
              <a:spcAft>
                <a:spcPts val="0"/>
              </a:spcAft>
              <a:buSzPct val="117647"/>
              <a:buNone/>
            </a:pPr>
            <a:r>
              <a:rPr lang="en"/>
              <a:t>They found that the three foundations for organizational commitment could also be applied to the notion of occupational commitment, a commitment to a particular occupational field; includes affective, continuance, and normative commitment.</a:t>
            </a:r>
            <a:endParaRPr/>
          </a:p>
          <a:p>
            <a:pPr indent="0" lvl="0" marL="0" rtl="0" algn="l">
              <a:lnSpc>
                <a:spcPct val="115000"/>
              </a:lnSpc>
              <a:spcBef>
                <a:spcPts val="1200"/>
              </a:spcBef>
              <a:spcAft>
                <a:spcPts val="0"/>
              </a:spcAft>
              <a:buSzPct val="117647"/>
              <a:buNone/>
            </a:pPr>
            <a:r>
              <a:rPr lang="en"/>
              <a:t>Job embeddedness is the many and varied types of commitment that individuals feel toward co-workers, teams, organizations, and careers.</a:t>
            </a:r>
            <a:endParaRPr/>
          </a:p>
          <a:p>
            <a:pPr indent="0" lvl="0" marL="0" rtl="0" algn="l">
              <a:lnSpc>
                <a:spcPct val="115000"/>
              </a:lnSpc>
              <a:spcBef>
                <a:spcPts val="1200"/>
              </a:spcBef>
              <a:spcAft>
                <a:spcPts val="0"/>
              </a:spcAft>
              <a:buSzPct val="117647"/>
              <a:buNone/>
            </a:pPr>
            <a:r>
              <a:rPr lang="en"/>
              <a:t>Even though the concept of commitment has an affective component, its general thrust is more cognitive than emotional. The commitment concept profits from a cognitive orientation because it is commonly used to explain why people remain with or leave an organization or occupation. To be sure, these decisions can be emotional (or worse, irrational), but because they are usually life-altering, there is often a cognitive basis to those decisions.</a:t>
            </a:r>
            <a:endParaRPr/>
          </a:p>
          <a:p>
            <a:pPr indent="0" lvl="0" marL="0" rtl="0" algn="l">
              <a:lnSpc>
                <a:spcPct val="115000"/>
              </a:lnSpc>
              <a:spcBef>
                <a:spcPts val="1200"/>
              </a:spcBef>
              <a:spcAft>
                <a:spcPts val="1200"/>
              </a:spcAft>
              <a:buSzPct val="117647"/>
              <a:buNone/>
            </a:pPr>
            <a:r>
              <a:rPr lang="en"/>
              <a:t>The concept of </a:t>
            </a:r>
            <a:r>
              <a:rPr b="1" lang="en"/>
              <a:t>organizational identification</a:t>
            </a:r>
            <a:r>
              <a:rPr lang="en"/>
              <a:t> (OID) has been proposed as a way of dealing with the much more basic and emotional aspects of organizational membership.</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0"/>
          <p:cNvSpPr txBox="1"/>
          <p:nvPr>
            <p:ph idx="1" type="body"/>
          </p:nvPr>
        </p:nvSpPr>
        <p:spPr>
          <a:xfrm>
            <a:off x="311700" y="321175"/>
            <a:ext cx="8520600" cy="4247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Organizational identification (OID) is the process whereby individuals derive a feeling of pride and esteem from their association with an organization. Individuals may also take pains to distance themselves from the organization for which they work—this would be called organizational disidentification.</a:t>
            </a:r>
            <a:endParaRPr/>
          </a:p>
          <a:p>
            <a:pPr indent="0" lvl="0" marL="0" rtl="0" algn="l">
              <a:lnSpc>
                <a:spcPct val="115000"/>
              </a:lnSpc>
              <a:spcBef>
                <a:spcPts val="1200"/>
              </a:spcBef>
              <a:spcAft>
                <a:spcPts val="0"/>
              </a:spcAft>
              <a:buSzPts val="1800"/>
              <a:buNone/>
            </a:pPr>
            <a:r>
              <a:rPr lang="en"/>
              <a:t>A relatively new construct that is receiving a lot of attention from I-O psychologists is </a:t>
            </a:r>
            <a:r>
              <a:rPr b="1" lang="en"/>
              <a:t>employee engagement</a:t>
            </a:r>
            <a:r>
              <a:rPr lang="en"/>
              <a:t>, which is defined as a positive work-related state of mind that includes high levels of energy, enthusiasm, and identification with one’s work (Bakker &amp; Leiter, 2010; Schaufeli &amp; Salanova, 2007). Discussions and debates are still ongoing about how to measure employee engagement and how it relates to other important work attitudes (e.g., Macey &amp; Schneider, 2008; Newman &amp; Harrison, 2008). </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1"/>
          <p:cNvSpPr txBox="1"/>
          <p:nvPr>
            <p:ph type="title"/>
          </p:nvPr>
        </p:nvSpPr>
        <p:spPr>
          <a:xfrm>
            <a:off x="311700" y="318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Mood, emotions, attitude and behaviour</a:t>
            </a:r>
            <a:endParaRPr/>
          </a:p>
        </p:txBody>
      </p:sp>
      <p:sp>
        <p:nvSpPr>
          <p:cNvPr id="162" name="Google Shape;162;p21"/>
          <p:cNvSpPr txBox="1"/>
          <p:nvPr>
            <p:ph idx="1" type="body"/>
          </p:nvPr>
        </p:nvSpPr>
        <p:spPr>
          <a:xfrm>
            <a:off x="311700" y="604550"/>
            <a:ext cx="8520600" cy="4279200"/>
          </a:xfrm>
          <a:prstGeom prst="rect">
            <a:avLst/>
          </a:prstGeom>
          <a:noFill/>
          <a:ln>
            <a:noFill/>
          </a:ln>
        </p:spPr>
        <p:txBody>
          <a:bodyPr anchorCtr="0" anchor="t" bIns="91425" lIns="91425" spcFirstLastPara="1" rIns="91425" wrap="square" tIns="91425">
            <a:normAutofit lnSpcReduction="20000"/>
          </a:bodyPr>
          <a:lstStyle/>
          <a:p>
            <a:pPr indent="0" lvl="0" marL="0" rtl="0" algn="just">
              <a:lnSpc>
                <a:spcPct val="115000"/>
              </a:lnSpc>
              <a:spcBef>
                <a:spcPts val="0"/>
              </a:spcBef>
              <a:spcAft>
                <a:spcPts val="0"/>
              </a:spcAft>
              <a:buSzPts val="1800"/>
              <a:buNone/>
            </a:pPr>
            <a:r>
              <a:rPr lang="en"/>
              <a:t>Büssing and his colleagues (Büssing, 2002; Büssing &amp; Bissels, 1998) have proposed </a:t>
            </a:r>
            <a:r>
              <a:rPr b="1" lang="en"/>
              <a:t>four different forms of work satisfaction and two forms of  work dissatisfaction </a:t>
            </a:r>
            <a:r>
              <a:rPr lang="en"/>
              <a:t>namely, </a:t>
            </a:r>
            <a:r>
              <a:rPr b="1" lang="en"/>
              <a:t>progressive work satisfaction, stabilized work satisfaction, resigned work satisfaction, pseudo work satisfaction, constructive work dissatisfaction and fixated work dissatisfaction</a:t>
            </a:r>
            <a:r>
              <a:rPr lang="en"/>
              <a:t>. These six forms are the result of the interaction of three basic variables: </a:t>
            </a:r>
            <a:r>
              <a:rPr b="1" lang="en"/>
              <a:t>(1) the discrepancy between what a person desires from work and what he or she actually gets, (2) changes in goal or aspiration levels as a result of work experience, and (3) the extent to which a person engages in coping or problem-solving behavior.</a:t>
            </a:r>
            <a:endParaRPr b="1"/>
          </a:p>
          <a:p>
            <a:pPr indent="0" lvl="0" marL="0" rtl="0" algn="just">
              <a:lnSpc>
                <a:spcPct val="115000"/>
              </a:lnSpc>
              <a:spcBef>
                <a:spcPts val="1200"/>
              </a:spcBef>
              <a:spcAft>
                <a:spcPts val="1200"/>
              </a:spcAft>
              <a:buSzPts val="1800"/>
              <a:buNone/>
            </a:pPr>
            <a:r>
              <a:rPr lang="en"/>
              <a:t>It is evident from different research that moods and emotions are associated with work behaviors, including organizational citizenship behavior, performance judgments,  creative problem solving, and withdrawal behaviors such as absenteeism and turnover (Barsade &amp; Gibson, 2007).</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2"/>
          <p:cNvSpPr txBox="1"/>
          <p:nvPr>
            <p:ph idx="1" type="body"/>
          </p:nvPr>
        </p:nvSpPr>
        <p:spPr>
          <a:xfrm>
            <a:off x="311700" y="222000"/>
            <a:ext cx="8520600" cy="44916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Clr>
                <a:schemeClr val="dk1"/>
              </a:buClr>
              <a:buSzPts val="1100"/>
              <a:buFont typeface="Arial"/>
              <a:buNone/>
            </a:pPr>
            <a:r>
              <a:rPr lang="en"/>
              <a:t>Mood is a generalized state of feeling not identified with a particular stimulus and not sufficiently intense to interrupt ongoing thought processes.</a:t>
            </a:r>
            <a:endParaRPr/>
          </a:p>
          <a:p>
            <a:pPr indent="0" lvl="0" marL="0" rtl="0" algn="l">
              <a:lnSpc>
                <a:spcPct val="115000"/>
              </a:lnSpc>
              <a:spcBef>
                <a:spcPts val="1200"/>
              </a:spcBef>
              <a:spcAft>
                <a:spcPts val="0"/>
              </a:spcAft>
              <a:buClr>
                <a:schemeClr val="dk1"/>
              </a:buClr>
              <a:buSzPts val="1100"/>
              <a:buFont typeface="Arial"/>
              <a:buNone/>
            </a:pPr>
            <a:r>
              <a:rPr lang="en"/>
              <a:t>Emotion is an effect or feeling, often experienced and displayed in reaction to an event or thought and accompanied by physiological changes in various systems of the body.</a:t>
            </a:r>
            <a:endParaRPr/>
          </a:p>
          <a:p>
            <a:pPr indent="0" lvl="0" marL="0" rtl="0" algn="l">
              <a:lnSpc>
                <a:spcPct val="115000"/>
              </a:lnSpc>
              <a:spcBef>
                <a:spcPts val="1200"/>
              </a:spcBef>
              <a:spcAft>
                <a:spcPts val="0"/>
              </a:spcAft>
              <a:buSzPts val="1800"/>
              <a:buNone/>
            </a:pPr>
            <a:r>
              <a:rPr lang="en"/>
              <a:t>Affect circumplex is a figure in which opposite emotions appear directly across from each other in the circle.</a:t>
            </a:r>
            <a:endParaRPr/>
          </a:p>
          <a:p>
            <a:pPr indent="0" lvl="0" marL="0" rtl="0" algn="l">
              <a:lnSpc>
                <a:spcPct val="115000"/>
              </a:lnSpc>
              <a:spcBef>
                <a:spcPts val="1200"/>
              </a:spcBef>
              <a:spcAft>
                <a:spcPts val="0"/>
              </a:spcAft>
              <a:buSzPts val="1800"/>
              <a:buNone/>
            </a:pPr>
            <a:r>
              <a:rPr b="1" lang="en"/>
              <a:t>Process emotion</a:t>
            </a:r>
            <a:r>
              <a:rPr lang="en"/>
              <a:t> is the reaction that results from consideration of the tasks one is currently doing.</a:t>
            </a:r>
            <a:endParaRPr/>
          </a:p>
          <a:p>
            <a:pPr indent="0" lvl="0" marL="0" rtl="0" algn="l">
              <a:lnSpc>
                <a:spcPct val="115000"/>
              </a:lnSpc>
              <a:spcBef>
                <a:spcPts val="1200"/>
              </a:spcBef>
              <a:spcAft>
                <a:spcPts val="0"/>
              </a:spcAft>
              <a:buSzPts val="1800"/>
              <a:buNone/>
            </a:pPr>
            <a:r>
              <a:rPr b="1" lang="en"/>
              <a:t>Prospective emotion</a:t>
            </a:r>
            <a:r>
              <a:rPr lang="en"/>
              <a:t> is the reaction that results from a consideration of the tasks one anticipates doing.</a:t>
            </a:r>
            <a:endParaRPr/>
          </a:p>
          <a:p>
            <a:pPr indent="0" lvl="0" marL="0" rtl="0" algn="l">
              <a:lnSpc>
                <a:spcPct val="115000"/>
              </a:lnSpc>
              <a:spcBef>
                <a:spcPts val="1200"/>
              </a:spcBef>
              <a:spcAft>
                <a:spcPts val="1200"/>
              </a:spcAft>
              <a:buSzPts val="1800"/>
              <a:buNone/>
            </a:pPr>
            <a:r>
              <a:rPr b="1" lang="en"/>
              <a:t>Retrospective emotion</a:t>
            </a:r>
            <a:r>
              <a:rPr lang="en"/>
              <a:t> it the reaction that results from a consideration of the tasks one has already completed.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23"/>
          <p:cNvPicPr preferRelativeResize="0"/>
          <p:nvPr/>
        </p:nvPicPr>
        <p:blipFill rotWithShape="1">
          <a:blip r:embed="rId3">
            <a:alphaModFix/>
          </a:blip>
          <a:srcRect b="0" l="0" r="0" t="0"/>
          <a:stretch/>
        </p:blipFill>
        <p:spPr>
          <a:xfrm>
            <a:off x="2952750" y="180725"/>
            <a:ext cx="3238500" cy="409575"/>
          </a:xfrm>
          <a:prstGeom prst="rect">
            <a:avLst/>
          </a:prstGeom>
          <a:noFill/>
          <a:ln>
            <a:noFill/>
          </a:ln>
        </p:spPr>
      </p:pic>
      <p:pic>
        <p:nvPicPr>
          <p:cNvPr id="173" name="Google Shape;173;p23"/>
          <p:cNvPicPr preferRelativeResize="0"/>
          <p:nvPr/>
        </p:nvPicPr>
        <p:blipFill rotWithShape="1">
          <a:blip r:embed="rId4">
            <a:alphaModFix/>
          </a:blip>
          <a:srcRect b="0" l="0" r="0" t="0"/>
          <a:stretch/>
        </p:blipFill>
        <p:spPr>
          <a:xfrm>
            <a:off x="648350" y="671850"/>
            <a:ext cx="8141481" cy="42484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4"/>
          <p:cNvSpPr txBox="1"/>
          <p:nvPr>
            <p:ph idx="1" type="body"/>
          </p:nvPr>
        </p:nvSpPr>
        <p:spPr>
          <a:xfrm>
            <a:off x="311700" y="122800"/>
            <a:ext cx="8520600" cy="48033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15000"/>
              </a:lnSpc>
              <a:spcBef>
                <a:spcPts val="0"/>
              </a:spcBef>
              <a:spcAft>
                <a:spcPts val="0"/>
              </a:spcAft>
              <a:buSzPct val="108108"/>
              <a:buNone/>
            </a:pPr>
            <a:r>
              <a:rPr lang="en"/>
              <a:t>Brief and Weiss (2002) were enthusiastic about research on the role of dispositions on job satisfaction. Two dispositions that have received a great deal of attention are negative affectivity (NA) and positive affectivity (PA). </a:t>
            </a:r>
            <a:endParaRPr/>
          </a:p>
          <a:p>
            <a:pPr indent="0" lvl="0" marL="0" rtl="0" algn="l">
              <a:lnSpc>
                <a:spcPct val="115000"/>
              </a:lnSpc>
              <a:spcBef>
                <a:spcPts val="1200"/>
              </a:spcBef>
              <a:spcAft>
                <a:spcPts val="0"/>
              </a:spcAft>
              <a:buSzPct val="108108"/>
              <a:buNone/>
            </a:pPr>
            <a:r>
              <a:rPr b="1" lang="en"/>
              <a:t>Negative affectivity</a:t>
            </a:r>
            <a:r>
              <a:rPr lang="en"/>
              <a:t> (NA) - Disposition wherein individuals are prone to experience a diverse array of negative mood states (e.g., anxiety, depression, hostility, and guilt).</a:t>
            </a:r>
            <a:endParaRPr/>
          </a:p>
          <a:p>
            <a:pPr indent="0" lvl="0" marL="0" rtl="0" algn="l">
              <a:lnSpc>
                <a:spcPct val="115000"/>
              </a:lnSpc>
              <a:spcBef>
                <a:spcPts val="1200"/>
              </a:spcBef>
              <a:spcAft>
                <a:spcPts val="0"/>
              </a:spcAft>
              <a:buSzPct val="108108"/>
              <a:buNone/>
            </a:pPr>
            <a:r>
              <a:rPr b="1" lang="en"/>
              <a:t>Positive affectivity</a:t>
            </a:r>
            <a:r>
              <a:rPr lang="en"/>
              <a:t> (PA) - Disposition in which individuals are prone to describe themselves as cheerful, enthusiastic, confident, active, and energetic.</a:t>
            </a:r>
            <a:endParaRPr/>
          </a:p>
          <a:p>
            <a:pPr indent="0" lvl="0" marL="0" rtl="0" algn="l">
              <a:lnSpc>
                <a:spcPct val="115000"/>
              </a:lnSpc>
              <a:spcBef>
                <a:spcPts val="1200"/>
              </a:spcBef>
              <a:spcAft>
                <a:spcPts val="1200"/>
              </a:spcAft>
              <a:buSzPct val="108108"/>
              <a:buNone/>
            </a:pPr>
            <a:r>
              <a:rPr lang="en"/>
              <a:t>Job satisfaction and affectivity have reciprocal influences on each other to the extent that positive people tend to be more satisfied with their jobs, and this satisfaction in turn helps individuals maintain a positive level of general life satisfaction, further enhancing their positive affectivity. It is also likely that disposition makes negative information about work more salient to the high-NA person and positive information  more salient to the high-PA person—the proverbial difference between the person who sees the glass as half full and the person who sees it as half empty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5"/>
          <p:cNvSpPr txBox="1"/>
          <p:nvPr>
            <p:ph idx="1" type="body"/>
          </p:nvPr>
        </p:nvSpPr>
        <p:spPr>
          <a:xfrm>
            <a:off x="311700" y="66125"/>
            <a:ext cx="8520600" cy="4831800"/>
          </a:xfrm>
          <a:prstGeom prst="rect">
            <a:avLst/>
          </a:prstGeom>
          <a:noFill/>
          <a:ln>
            <a:noFill/>
          </a:ln>
        </p:spPr>
        <p:txBody>
          <a:bodyPr anchorCtr="0" anchor="t" bIns="91425" lIns="91425" spcFirstLastPara="1" rIns="91425" wrap="square" tIns="91425">
            <a:normAutofit fontScale="85000"/>
          </a:bodyPr>
          <a:lstStyle/>
          <a:p>
            <a:pPr indent="0" lvl="0" marL="0" rtl="0" algn="l">
              <a:lnSpc>
                <a:spcPct val="115000"/>
              </a:lnSpc>
              <a:spcBef>
                <a:spcPts val="0"/>
              </a:spcBef>
              <a:spcAft>
                <a:spcPts val="0"/>
              </a:spcAft>
              <a:buClr>
                <a:schemeClr val="dk1"/>
              </a:buClr>
              <a:buSzPct val="61110"/>
              <a:buFont typeface="Arial"/>
              <a:buNone/>
            </a:pPr>
            <a:r>
              <a:rPr lang="en"/>
              <a:t>The Time Course of Emotional Experience</a:t>
            </a:r>
            <a:endParaRPr/>
          </a:p>
          <a:p>
            <a:pPr indent="0" lvl="0" marL="0" rtl="0" algn="l">
              <a:lnSpc>
                <a:spcPct val="115000"/>
              </a:lnSpc>
              <a:spcBef>
                <a:spcPts val="1200"/>
              </a:spcBef>
              <a:spcAft>
                <a:spcPts val="0"/>
              </a:spcAft>
              <a:buSzPct val="117647"/>
              <a:buNone/>
            </a:pPr>
            <a:r>
              <a:rPr lang="en"/>
              <a:t>In contrast with cognitive ability or personality, which are relatively stable, </a:t>
            </a:r>
            <a:r>
              <a:rPr b="1" lang="en"/>
              <a:t>emotional experience can be a roller coaster.</a:t>
            </a:r>
            <a:r>
              <a:rPr lang="en"/>
              <a:t> We can be excited when we arrive at work, angry by 10:00 a.m., disengaged by lunch, pleased by 2:00 a.m., and annoyed when we leave at the end of the day. Not only does one emotion replace another, but the strength of a single emotion can grow and diminish regardless of any competing emotions. Weak positive emotion (e.g., the pleasure from getting an unexpected small gift) may disappear in less than 20 minutes (Isen, Clark, &amp; Schwartz, 1976). The variability of emotional experience has recently emerged as an important issue in understanding the effects of moods and emotions on both work and non-work behavior.</a:t>
            </a:r>
            <a:endParaRPr/>
          </a:p>
          <a:p>
            <a:pPr indent="0" lvl="0" marL="0" rtl="0" algn="l">
              <a:lnSpc>
                <a:spcPct val="115000"/>
              </a:lnSpc>
              <a:spcBef>
                <a:spcPts val="1200"/>
              </a:spcBef>
              <a:spcAft>
                <a:spcPts val="0"/>
              </a:spcAft>
              <a:buSzPct val="117647"/>
              <a:buNone/>
            </a:pPr>
            <a:r>
              <a:rPr lang="en"/>
              <a:t>Some of the research findings suggest that</a:t>
            </a:r>
            <a:endParaRPr/>
          </a:p>
          <a:p>
            <a:pPr indent="0" lvl="0" marL="0" rtl="0" algn="l">
              <a:lnSpc>
                <a:spcPct val="115000"/>
              </a:lnSpc>
              <a:spcBef>
                <a:spcPts val="1200"/>
              </a:spcBef>
              <a:spcAft>
                <a:spcPts val="0"/>
              </a:spcAft>
              <a:buSzPct val="117647"/>
              <a:buNone/>
            </a:pPr>
            <a:r>
              <a:rPr lang="en"/>
              <a:t>● The effect of</a:t>
            </a:r>
            <a:r>
              <a:rPr b="1" lang="en"/>
              <a:t> negative environmental events on mood is five times stronger than the effect of positive events, even though positive events are reported more frequently than negative events</a:t>
            </a:r>
            <a:r>
              <a:rPr lang="en"/>
              <a:t> (Miner, Glomb, &amp; Hulin, 2005).</a:t>
            </a:r>
            <a:endParaRPr/>
          </a:p>
          <a:p>
            <a:pPr indent="0" lvl="0" marL="0" rtl="0" algn="l">
              <a:lnSpc>
                <a:spcPct val="115000"/>
              </a:lnSpc>
              <a:spcBef>
                <a:spcPts val="1200"/>
              </a:spcBef>
              <a:spcAft>
                <a:spcPts val="1200"/>
              </a:spcAft>
              <a:buSzPct val="117647"/>
              <a:buNone/>
            </a:pPr>
            <a:r>
              <a:rPr lang="en"/>
              <a:t>● </a:t>
            </a:r>
            <a:r>
              <a:rPr b="1" lang="en"/>
              <a:t>Positive experiences at work reduce end-of-day feelings of fatigue</a:t>
            </a:r>
            <a:r>
              <a:rPr lang="en"/>
              <a:t> (Zohar, Tzischinski, &amp; Epstein, 2003) and </a:t>
            </a:r>
            <a:r>
              <a:rPr b="1" lang="en"/>
              <a:t>increase general feelings of well-being</a:t>
            </a:r>
            <a:r>
              <a:rPr lang="en"/>
              <a:t> (Harris, Daniels, &amp; Briner, 2003).</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6"/>
          <p:cNvSpPr txBox="1"/>
          <p:nvPr>
            <p:ph idx="1" type="body"/>
          </p:nvPr>
        </p:nvSpPr>
        <p:spPr>
          <a:xfrm>
            <a:off x="311700" y="250325"/>
            <a:ext cx="8520600" cy="47325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Clr>
                <a:schemeClr val="dk1"/>
              </a:buClr>
              <a:buSzPct val="61110"/>
              <a:buFont typeface="Arial"/>
              <a:buNone/>
            </a:pPr>
            <a:r>
              <a:rPr lang="en"/>
              <a:t>● </a:t>
            </a:r>
            <a:r>
              <a:rPr b="1" lang="en"/>
              <a:t>Counterproductive work behavior is much more likely to result from momentary (state) hostility</a:t>
            </a:r>
            <a:r>
              <a:rPr lang="en"/>
              <a:t> or experiences of injustice than from stable personality characteristics; the effects of these momentary experiences are then exaggerated if the individual is also chronically (trait) hostile (Judge, Scott, &amp; Ilies, 2006).</a:t>
            </a:r>
            <a:endParaRPr/>
          </a:p>
          <a:p>
            <a:pPr indent="0" lvl="0" marL="0" rtl="0" algn="l">
              <a:lnSpc>
                <a:spcPct val="115000"/>
              </a:lnSpc>
              <a:spcBef>
                <a:spcPts val="1200"/>
              </a:spcBef>
              <a:spcAft>
                <a:spcPts val="0"/>
              </a:spcAft>
              <a:buSzPct val="108108"/>
              <a:buNone/>
            </a:pPr>
            <a:r>
              <a:rPr lang="en"/>
              <a:t>● In samples of German and Swiss public service employees who had high stress levels after work, opportunities to recuperate and unwind were particularly important. Specifically, researchers found that</a:t>
            </a:r>
            <a:r>
              <a:rPr b="1" lang="en"/>
              <a:t> activities involving relaxation, mastery experiences</a:t>
            </a:r>
            <a:r>
              <a:rPr lang="en"/>
              <a:t> (e.g., engaging in sports and exercise), </a:t>
            </a:r>
            <a:r>
              <a:rPr b="1" lang="en"/>
              <a:t>and high sleep quality were related to positive affect in the morning before the employees returned to work</a:t>
            </a:r>
            <a:r>
              <a:rPr lang="en"/>
              <a:t> (Sonnentag, Binnewies, &amp; Mojza, 2008).</a:t>
            </a:r>
            <a:endParaRPr/>
          </a:p>
          <a:p>
            <a:pPr indent="0" lvl="0" marL="0" rtl="0" algn="l">
              <a:lnSpc>
                <a:spcPct val="115000"/>
              </a:lnSpc>
              <a:spcBef>
                <a:spcPts val="1200"/>
              </a:spcBef>
              <a:spcAft>
                <a:spcPts val="0"/>
              </a:spcAft>
              <a:buSzPct val="108108"/>
              <a:buNone/>
            </a:pPr>
            <a:r>
              <a:rPr lang="en"/>
              <a:t>●</a:t>
            </a:r>
            <a:r>
              <a:rPr b="1" lang="en"/>
              <a:t> Insomnia at night contributes to negative emotions</a:t>
            </a:r>
            <a:r>
              <a:rPr lang="en"/>
              <a:t> (hostility and fatigue) at work on subsequent days. These negative emotions subsequently relate to reports of lower job satisfaction (Scott &amp; Judge, 2006).</a:t>
            </a:r>
            <a:endParaRPr/>
          </a:p>
          <a:p>
            <a:pPr indent="0" lvl="0" marL="0" rtl="0" algn="l">
              <a:lnSpc>
                <a:spcPct val="115000"/>
              </a:lnSpc>
              <a:spcBef>
                <a:spcPts val="1200"/>
              </a:spcBef>
              <a:spcAft>
                <a:spcPts val="1200"/>
              </a:spcAft>
              <a:buSzPct val="108108"/>
              <a:buNone/>
            </a:pPr>
            <a:r>
              <a:rPr lang="en"/>
              <a:t>●</a:t>
            </a:r>
            <a:r>
              <a:rPr b="1" lang="en"/>
              <a:t> Employees experience more positive emotions when interacting with co-workers and customers than when interacting with their supervisors</a:t>
            </a:r>
            <a:r>
              <a:rPr lang="en"/>
              <a:t> (Bono, Foldes, Vinson, &amp; Muros, 2007).</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7"/>
          <p:cNvSpPr txBox="1"/>
          <p:nvPr>
            <p:ph idx="1" type="body"/>
          </p:nvPr>
        </p:nvSpPr>
        <p:spPr>
          <a:xfrm>
            <a:off x="311700" y="136975"/>
            <a:ext cx="8520600" cy="47892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l">
              <a:lnSpc>
                <a:spcPct val="115000"/>
              </a:lnSpc>
              <a:spcBef>
                <a:spcPts val="0"/>
              </a:spcBef>
              <a:spcAft>
                <a:spcPts val="0"/>
              </a:spcAft>
              <a:buClr>
                <a:schemeClr val="dk1"/>
              </a:buClr>
              <a:buSzPct val="61110"/>
              <a:buFont typeface="Arial"/>
              <a:buNone/>
            </a:pPr>
            <a:r>
              <a:rPr lang="en"/>
              <a:t>Genetics and Job Satisfaction</a:t>
            </a:r>
            <a:endParaRPr/>
          </a:p>
          <a:p>
            <a:pPr indent="0" lvl="0" marL="0" rtl="0" algn="l">
              <a:lnSpc>
                <a:spcPct val="115000"/>
              </a:lnSpc>
              <a:spcBef>
                <a:spcPts val="1200"/>
              </a:spcBef>
              <a:spcAft>
                <a:spcPts val="0"/>
              </a:spcAft>
              <a:buSzPct val="117647"/>
              <a:buNone/>
            </a:pPr>
            <a:r>
              <a:rPr lang="en"/>
              <a:t>Another intriguing research hypothesis regarding job satisfaction and work-related emotional experiences is that emotional experience may be influenced by genetics. Staw, Bell, and Clausen (1986) reported that positive affectivity (e.g., individuals described as cheerful) or negative affectivity (e.g., individuals described as irritable or depressed) as measured in adolescence predicted job satisfaction as much as 50 years later. Thus, dispositions might be considerably more stable than implied by the term “mood.” Irritable adolescents were dissatisfied workers in adulthood, and happy adolescents were happy workers in adulthood. For our present purposes, we will simply conclude that there is good reason to suspect that at least dispositions (if not more specific job attitudes) have a genetic element to them, but considerably more research will be required before anyone can speak with confidence on the possible connection.</a:t>
            </a:r>
            <a:endParaRPr/>
          </a:p>
          <a:p>
            <a:pPr indent="0" lvl="0" marL="0" rtl="0" algn="l">
              <a:lnSpc>
                <a:spcPct val="115000"/>
              </a:lnSpc>
              <a:spcBef>
                <a:spcPts val="1200"/>
              </a:spcBef>
              <a:spcAft>
                <a:spcPts val="1200"/>
              </a:spcAft>
              <a:buClr>
                <a:schemeClr val="dk1"/>
              </a:buClr>
              <a:buSzPct val="61110"/>
              <a:buFont typeface="Arial"/>
              <a:buNone/>
            </a:pPr>
            <a:r>
              <a:rPr lang="en"/>
              <a:t>A number of I-O researchers have proposed that individuals make core self-evaluations of their circumstances and that these </a:t>
            </a:r>
            <a:r>
              <a:rPr b="1" lang="en"/>
              <a:t>core self-evaluations</a:t>
            </a:r>
            <a:r>
              <a:rPr lang="en"/>
              <a:t> affect both job and life satisfaction (Judge &amp; Bono, 2001; Judge, Bono, &amp; Locke, 2000; Wu &amp; Griffin, 2011). The elements of core self-evaluations include self-esteem, self-efficacy, locus of control, and the absence of neuroticism (see Figure 9.8). This combination of attributes can also be thought of as positive self-regard (Judge, Bono, Erez, &amp; Locke, 2005).</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8"/>
          <p:cNvSpPr txBox="1"/>
          <p:nvPr>
            <p:ph idx="1" type="body"/>
          </p:nvPr>
        </p:nvSpPr>
        <p:spPr>
          <a:xfrm>
            <a:off x="311700" y="165300"/>
            <a:ext cx="8520600" cy="47607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lang="en"/>
              <a:t>Grandey (2000) emphasized another concept in emotions: For many jobs, the regulation of emotional expression may be critical. This has been labeled </a:t>
            </a:r>
            <a:r>
              <a:rPr b="1" lang="en"/>
              <a:t>emotional labor,</a:t>
            </a:r>
            <a:r>
              <a:rPr lang="en"/>
              <a:t> regulation of one’s emotions to meet job or organizational demands; can be achieved through surface acting and deep acting.</a:t>
            </a:r>
            <a:endParaRPr/>
          </a:p>
          <a:p>
            <a:pPr indent="0" lvl="0" marL="0" rtl="0" algn="l">
              <a:lnSpc>
                <a:spcPct val="115000"/>
              </a:lnSpc>
              <a:spcBef>
                <a:spcPts val="1200"/>
              </a:spcBef>
              <a:spcAft>
                <a:spcPts val="0"/>
              </a:spcAft>
              <a:buSzPts val="1800"/>
              <a:buNone/>
            </a:pPr>
            <a:r>
              <a:rPr b="1" lang="en"/>
              <a:t>Surface acting</a:t>
            </a:r>
            <a:r>
              <a:rPr lang="en"/>
              <a:t> consists of managing or faking one’s expressions or emotions. For example, waiters in fine restaurants report that they commonly display pleasant emotions while simultaneously hiding feelings of anger and frustration toward rude customers.</a:t>
            </a:r>
            <a:endParaRPr/>
          </a:p>
          <a:p>
            <a:pPr indent="0" lvl="0" marL="0" rtl="0" algn="l">
              <a:lnSpc>
                <a:spcPct val="115000"/>
              </a:lnSpc>
              <a:spcBef>
                <a:spcPts val="1200"/>
              </a:spcBef>
              <a:spcAft>
                <a:spcPts val="1200"/>
              </a:spcAft>
              <a:buSzPts val="1800"/>
              <a:buNone/>
            </a:pPr>
            <a:r>
              <a:rPr b="1" lang="en"/>
              <a:t>Deep acting</a:t>
            </a:r>
            <a:r>
              <a:rPr lang="en"/>
              <a:t> consists of managing one’s feelings, including trying to actually change one’s emotional state to match the emotions required by the job. For example, a waitress might try to imagine herself in a difficult customer’s situation to try to feel empathy for the customer and better understand the customer’s point of view.of managing one’s feelings, including trying to actually change one’s emotional state to match the emotions required by the job. For example, a waitress might try to imagine herself in a difficult customer’s situation to try to feel empathy for the customer and better understand the customer’s point of view.</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29"/>
          <p:cNvPicPr preferRelativeResize="0"/>
          <p:nvPr/>
        </p:nvPicPr>
        <p:blipFill rotWithShape="1">
          <a:blip r:embed="rId3">
            <a:alphaModFix/>
          </a:blip>
          <a:srcRect b="0" l="0" r="0" t="0"/>
          <a:stretch/>
        </p:blipFill>
        <p:spPr>
          <a:xfrm>
            <a:off x="798225" y="176662"/>
            <a:ext cx="7399926" cy="47901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0"/>
          <p:cNvSpPr txBox="1"/>
          <p:nvPr>
            <p:ph idx="1" type="body"/>
          </p:nvPr>
        </p:nvSpPr>
        <p:spPr>
          <a:xfrm>
            <a:off x="311700" y="222000"/>
            <a:ext cx="8520600" cy="45909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a:t>One of the earliest and most enduring research questions related to job satisfaction is the hypothesis that dissatisfaction leads to withdrawal from the workplace. Hanisch and Hulin (1990) further suggest that there are really two different types of withdrawal behaviors: </a:t>
            </a:r>
            <a:r>
              <a:rPr b="1" lang="en"/>
              <a:t>work withdrawal and job withdrawal</a:t>
            </a:r>
            <a:r>
              <a:rPr lang="en"/>
              <a:t>. Work withdrawal includes lateness and absenteeism and represents an attempt by the individual to withdraw from work but still maintain ties to the organization and the work role. Job withdrawal, on the other hand, includes intentions to quit or retire and represents an individual’s willingness to sever ties to the organization and the work role.</a:t>
            </a:r>
            <a:endParaRPr/>
          </a:p>
          <a:p>
            <a:pPr indent="0" lvl="0" marL="0" rtl="0" algn="l">
              <a:lnSpc>
                <a:spcPct val="115000"/>
              </a:lnSpc>
              <a:spcBef>
                <a:spcPts val="1200"/>
              </a:spcBef>
              <a:spcAft>
                <a:spcPts val="0"/>
              </a:spcAft>
              <a:buSzPts val="1800"/>
              <a:buNone/>
            </a:pPr>
            <a:r>
              <a:rPr b="1" lang="en"/>
              <a:t>Withdrawal behaviors</a:t>
            </a:r>
            <a:r>
              <a:rPr lang="en"/>
              <a:t> include absenteeism, turnover, tardiness, and retirement may be different manifestations of a larger construct called withdrawal.</a:t>
            </a:r>
            <a:endParaRPr/>
          </a:p>
          <a:p>
            <a:pPr indent="0" lvl="0" marL="0" rtl="0" algn="l">
              <a:lnSpc>
                <a:spcPct val="115000"/>
              </a:lnSpc>
              <a:spcBef>
                <a:spcPts val="1200"/>
              </a:spcBef>
              <a:spcAft>
                <a:spcPts val="1200"/>
              </a:spcAft>
              <a:buSzPts val="1800"/>
              <a:buNone/>
            </a:pPr>
            <a:r>
              <a:rPr b="1" lang="en"/>
              <a:t>Progression hypothesis</a:t>
            </a:r>
            <a:r>
              <a:rPr lang="en"/>
              <a:t> is a progression of withdrawal behaviors that start with tardiness, increase to absenteeism, and eventually result in a decision to quit or retire.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1"/>
          <p:cNvSpPr txBox="1"/>
          <p:nvPr>
            <p:ph idx="1" type="body"/>
          </p:nvPr>
        </p:nvSpPr>
        <p:spPr>
          <a:xfrm>
            <a:off x="311700" y="335350"/>
            <a:ext cx="8520600" cy="44493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b="1" lang="en"/>
              <a:t>Work–Family Balance</a:t>
            </a:r>
            <a:endParaRPr b="1"/>
          </a:p>
          <a:p>
            <a:pPr indent="0" lvl="0" marL="0" rtl="0" algn="l">
              <a:lnSpc>
                <a:spcPct val="115000"/>
              </a:lnSpc>
              <a:spcBef>
                <a:spcPts val="1200"/>
              </a:spcBef>
              <a:spcAft>
                <a:spcPts val="0"/>
              </a:spcAft>
              <a:buSzPts val="1800"/>
              <a:buNone/>
            </a:pPr>
            <a:r>
              <a:rPr lang="en"/>
              <a:t>Work–family balance is the area of research that investigates whether the satisfaction that one experiences at work is in part affected by the satisfaction that one experiences in non-work, and vice versa. </a:t>
            </a:r>
            <a:endParaRPr/>
          </a:p>
          <a:p>
            <a:pPr indent="0" lvl="0" marL="0" rtl="0" algn="l">
              <a:lnSpc>
                <a:spcPct val="115000"/>
              </a:lnSpc>
              <a:spcBef>
                <a:spcPts val="1200"/>
              </a:spcBef>
              <a:spcAft>
                <a:spcPts val="0"/>
              </a:spcAft>
              <a:buSzPts val="1800"/>
              <a:buNone/>
            </a:pPr>
            <a:r>
              <a:rPr lang="en"/>
              <a:t>Most research and theory related to work–family balance actually concentrates on the effects of a lack of balance. These effects are often discussed in terms of the stress created by conflicting demands between work and non-work activities.</a:t>
            </a:r>
            <a:endParaRPr/>
          </a:p>
          <a:p>
            <a:pPr indent="0" lvl="0" marL="0" rtl="0" algn="l">
              <a:lnSpc>
                <a:spcPct val="115000"/>
              </a:lnSpc>
              <a:spcBef>
                <a:spcPts val="1200"/>
              </a:spcBef>
              <a:spcAft>
                <a:spcPts val="0"/>
              </a:spcAft>
              <a:buSzPts val="1800"/>
              <a:buNone/>
            </a:pPr>
            <a:r>
              <a:rPr lang="en"/>
              <a:t>The challenges of work–family balance are being felt across many different nations and cultures. One of the most substantial influences on achieving a work–family balance is an organizational culture that specifically supports family values. </a:t>
            </a:r>
            <a:endParaRPr/>
          </a:p>
          <a:p>
            <a:pPr indent="0" lvl="0" marL="0" rtl="0" algn="l">
              <a:lnSpc>
                <a:spcPct val="115000"/>
              </a:lnSpc>
              <a:spcBef>
                <a:spcPts val="1200"/>
              </a:spcBef>
              <a:spcAft>
                <a:spcPts val="1200"/>
              </a:spcAft>
              <a:buSzPts val="1800"/>
              <a:buNone/>
            </a:pPr>
            <a:r>
              <a:rPr lang="en"/>
              <a:t>In assessing work–life imbalance, it has also been popular to point to multiple roles— particularly for employed women, who are traditionally caregivers in the home environment— as the culprit (Williams, Suls, Alliger, Learner, &amp; Wan, 1991).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2"/>
          <p:cNvSpPr txBox="1"/>
          <p:nvPr>
            <p:ph idx="1" type="body"/>
          </p:nvPr>
        </p:nvSpPr>
        <p:spPr>
          <a:xfrm>
            <a:off x="311700" y="264500"/>
            <a:ext cx="8520600" cy="444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Wentworth (2002) pointed to the electronically enhanced communications environment in which most people work, which includes e-mail, laptops, and smartphones. One is never out of touch, which may be a boon to sales representatives eager to strike while the client is hot, and to medical professionals whose timely advice may save a life, but a burden to many other workers who find no opportunity to “turn off” their thoughts about the job. As Wentworth noted, the idea that a job is 24/7 does not even raise an eyebrow today; on the contrary, it is seen as a positive value indicating commitment to a job, organization, and career. It suggests that a worker who needs to be constantly reachable must be important to the organization. But it also suggests that work is more important than non-work.</a:t>
            </a:r>
            <a:endParaRPr/>
          </a:p>
          <a:p>
            <a:pPr indent="0" lvl="0" marL="0" rtl="0" algn="l">
              <a:lnSpc>
                <a:spcPct val="115000"/>
              </a:lnSpc>
              <a:spcBef>
                <a:spcPts val="1200"/>
              </a:spcBef>
              <a:spcAft>
                <a:spcPts val="1200"/>
              </a:spcAft>
              <a:buSzPts val="1800"/>
              <a:buNone/>
            </a:pPr>
            <a:r>
              <a:rPr lang="en"/>
              <a:t>The challenges of work–family balance are being felt across many different nations and cultures.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3"/>
          <p:cNvSpPr txBox="1"/>
          <p:nvPr>
            <p:ph idx="1" type="body"/>
          </p:nvPr>
        </p:nvSpPr>
        <p:spPr>
          <a:xfrm>
            <a:off x="311700" y="434525"/>
            <a:ext cx="8520600" cy="4134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One can imagine a continuum with an exclusive non-work focus on one end, an exclusive work focus on the other end, and a balance between work and non-work in the middle. The challenge for any individual is to design both work and non-work environments in a way that will increase the likelihood of a balance. And this balance will be disturbed at various times on both sides of the equation (Judge &amp; Ilies, 2004).</a:t>
            </a:r>
            <a:endParaRPr/>
          </a:p>
          <a:p>
            <a:pPr indent="0" lvl="0" marL="0" rtl="0" algn="l">
              <a:lnSpc>
                <a:spcPct val="115000"/>
              </a:lnSpc>
              <a:spcBef>
                <a:spcPts val="1200"/>
              </a:spcBef>
              <a:spcAft>
                <a:spcPts val="1200"/>
              </a:spcAft>
              <a:buSzPts val="1800"/>
              <a:buNone/>
            </a:pPr>
            <a:r>
              <a:rPr lang="en"/>
              <a:t>The design of work is jointly shared by a worker and an organization. The design of  non-work is jointly shared by a worker and others with whom the worker interacts in the  non-work environment. Balance will be jointly determined by those two forces. Perhaps the most important element in achieving that balance, however, is for all parties—in both work and non-work environments—to acknowledge the legitimacy and importance of the other parties.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4"/>
          <p:cNvSpPr txBox="1"/>
          <p:nvPr>
            <p:ph type="title"/>
          </p:nvPr>
        </p:nvSpPr>
        <p:spPr>
          <a:xfrm>
            <a:off x="225750" y="195250"/>
            <a:ext cx="8691600" cy="567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Stress and worker wellbeing</a:t>
            </a:r>
            <a:endParaRPr/>
          </a:p>
        </p:txBody>
      </p:sp>
      <p:sp>
        <p:nvSpPr>
          <p:cNvPr id="229" name="Google Shape;229;p34"/>
          <p:cNvSpPr txBox="1"/>
          <p:nvPr>
            <p:ph idx="1" type="body"/>
          </p:nvPr>
        </p:nvSpPr>
        <p:spPr>
          <a:xfrm>
            <a:off x="311700" y="762675"/>
            <a:ext cx="8520600" cy="3806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a:t>Stress is a known contributor to colds and flu, digestive difficulties, headaches, insomnia, stroke, and other physiological problems, as well as to impaired psychological well-being (e.g., anxiety, depression, burnout) and counterproductive behaviors such as absenteeism and drug abuse (Cooper, Dewe, &amp; O’Driscoll, 2001; Krantz &amp; McCeney, 2002). I-O psychologists devote a great deal of effort to identifying the causes of work stress, to understanding how it relates to health, and to developing strategies for reducing or managing it.</a:t>
            </a:r>
            <a:endParaRPr/>
          </a:p>
          <a:p>
            <a:pPr indent="0" lvl="0" marL="0" rtl="0" algn="l">
              <a:lnSpc>
                <a:spcPct val="115000"/>
              </a:lnSpc>
              <a:spcBef>
                <a:spcPts val="1200"/>
              </a:spcBef>
              <a:spcAft>
                <a:spcPts val="1200"/>
              </a:spcAft>
              <a:buSzPts val="1800"/>
              <a:buNone/>
            </a:pPr>
            <a:r>
              <a:rPr lang="en"/>
              <a:t>A comprehensive framework for studying work stress was developed by Kahn and Byosiere (1992). Their model presents several important factors in the stress process, including (1) work stressors (task and role stressors), (2) moderators of the stress process (individual differences, social support), and (3) strains, or the consequences of stress (burnout, heart disease)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5"/>
          <p:cNvSpPr txBox="1"/>
          <p:nvPr>
            <p:ph idx="1" type="body"/>
          </p:nvPr>
        </p:nvSpPr>
        <p:spPr>
          <a:xfrm>
            <a:off x="311700" y="222000"/>
            <a:ext cx="8520600" cy="4576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a:t>Two of the first stress pioneers were Walter Cannon and Hans Selye. Cannon was a physiologist who studied animal and human reactions to dangerous situations. He noted that animals and humans have an adaptive response to stressful situations in which  they choose to either fight or attempt to escape. Cannon (1929) called this response the fight-or-flight reaction, and he is often credited with being the first to use the term “stress.”</a:t>
            </a:r>
            <a:endParaRPr/>
          </a:p>
          <a:p>
            <a:pPr indent="0" lvl="0" marL="0" rtl="0" algn="l">
              <a:lnSpc>
                <a:spcPct val="115000"/>
              </a:lnSpc>
              <a:spcBef>
                <a:spcPts val="1200"/>
              </a:spcBef>
              <a:spcAft>
                <a:spcPts val="1200"/>
              </a:spcAft>
              <a:buSzPts val="1800"/>
              <a:buNone/>
            </a:pPr>
            <a:r>
              <a:rPr lang="en"/>
              <a:t>Often referred to as the </a:t>
            </a:r>
            <a:r>
              <a:rPr b="1" lang="en"/>
              <a:t>“father of stress,” Hans Selye (1956, 1976) defined stress as the non-specific response of the human body to any demand made on it.</a:t>
            </a:r>
            <a:r>
              <a:rPr lang="en"/>
              <a:t> He was the first to distinguish between </a:t>
            </a:r>
            <a:r>
              <a:rPr b="1" lang="en"/>
              <a:t>good stress (eustress) and bad stress (distress). </a:t>
            </a:r>
            <a:r>
              <a:rPr lang="en"/>
              <a:t>Selye noted that eustress provides challenges that motivate individuals to work hard and meet their goals. Alternatively, distress results from stressful situations that persist over time and produces negative health outcomes.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6"/>
          <p:cNvSpPr txBox="1"/>
          <p:nvPr>
            <p:ph idx="1" type="body"/>
          </p:nvPr>
        </p:nvSpPr>
        <p:spPr>
          <a:xfrm>
            <a:off x="311700" y="151150"/>
            <a:ext cx="8520600" cy="4647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650"/>
              <a:t>Selye observed that the response sequences to almost any disease or trauma (e.g., poisoning, injury, psychological stress) are nearly identical. He named the progression the </a:t>
            </a:r>
            <a:r>
              <a:rPr b="1" lang="en" sz="1650"/>
              <a:t>general adaptation syndrome</a:t>
            </a:r>
            <a:r>
              <a:rPr lang="en" sz="1650"/>
              <a:t> (GAS) and divided it into three stages. First, in the </a:t>
            </a:r>
            <a:r>
              <a:rPr b="1" lang="en" sz="1650"/>
              <a:t>alarm reaction stage</a:t>
            </a:r>
            <a:r>
              <a:rPr lang="en" sz="1650"/>
              <a:t>, the body mobilizes resources to cope with added stress. In this stage, the heart rate increases and stress hormones, such as adrenaline, noradrenaline, epinephrine, and cortisol, are released. Second, in the </a:t>
            </a:r>
            <a:r>
              <a:rPr b="1" lang="en" sz="1650"/>
              <a:t>resistance stage</a:t>
            </a:r>
            <a:r>
              <a:rPr lang="en" sz="1650"/>
              <a:t>, the body copes with the original source of stress, but resistance to other stressors is lowered. Third, in the </a:t>
            </a:r>
            <a:r>
              <a:rPr b="1" lang="en" sz="1650"/>
              <a:t>exhaustion stage</a:t>
            </a:r>
            <a:r>
              <a:rPr lang="en" sz="1650"/>
              <a:t>, overall resistance drops and adverse consequences, including burnout, severe illness, and even death, can result unless stress is reduced.</a:t>
            </a:r>
            <a:endParaRPr sz="1650"/>
          </a:p>
          <a:p>
            <a:pPr indent="0" lvl="0" marL="0" rtl="0" algn="l">
              <a:lnSpc>
                <a:spcPct val="115000"/>
              </a:lnSpc>
              <a:spcBef>
                <a:spcPts val="1200"/>
              </a:spcBef>
              <a:spcAft>
                <a:spcPts val="1200"/>
              </a:spcAft>
              <a:buSzPts val="1800"/>
              <a:buNone/>
            </a:pPr>
            <a:r>
              <a:rPr lang="en" sz="1650"/>
              <a:t>Cannon’s (1929) </a:t>
            </a:r>
            <a:r>
              <a:rPr b="1" lang="en" sz="1650"/>
              <a:t>fight-or-flight reaction </a:t>
            </a:r>
            <a:r>
              <a:rPr lang="en" sz="1650"/>
              <a:t>comes in response to the type of stress that occurs suddenly and is likely to last only a short time—episodic, or acute, stress— whereas Selye’s (1956) general adaptation syndrome tracks the body’s response to stress over a longer period of time. Although workplace stress can be episodic, as in the case of an on-the-job accident or a confrontation with an irate customer, it is chronic stress that is more common in work settings and more damaging to the body and mind. </a:t>
            </a:r>
            <a:endParaRPr sz="165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p37"/>
          <p:cNvPicPr preferRelativeResize="0"/>
          <p:nvPr/>
        </p:nvPicPr>
        <p:blipFill rotWithShape="1">
          <a:blip r:embed="rId3">
            <a:alphaModFix/>
          </a:blip>
          <a:srcRect b="0" l="0" r="0" t="0"/>
          <a:stretch/>
        </p:blipFill>
        <p:spPr>
          <a:xfrm>
            <a:off x="577500" y="152400"/>
            <a:ext cx="7702175" cy="489277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8"/>
          <p:cNvSpPr txBox="1"/>
          <p:nvPr>
            <p:ph idx="1" type="body"/>
          </p:nvPr>
        </p:nvSpPr>
        <p:spPr>
          <a:xfrm>
            <a:off x="311700" y="264500"/>
            <a:ext cx="8520600" cy="4304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n"/>
              <a:t>Type A behavior pattern (TABP) also known as coronary prone personality was first identified in the late 1950s by two cardiologists, Meyer Friedman and Ray Rosenman (1959) fifteen years later which they described the </a:t>
            </a:r>
            <a:r>
              <a:rPr b="1" lang="en"/>
              <a:t>Type A behavior pattern</a:t>
            </a:r>
            <a:r>
              <a:rPr lang="en"/>
              <a:t> as a set of characteristics exhibited by</a:t>
            </a:r>
            <a:r>
              <a:rPr b="1" lang="en"/>
              <a:t> “individuals who are engaged in a relatively chronic struggle to obtain an unlimited number of poorly defined things from their environment in the shortest period of time and, if necessary, against the opposing effects of other things or persons in this same environment”</a:t>
            </a:r>
            <a:r>
              <a:rPr lang="en"/>
              <a:t>. Individuals who exhibit this behavior pattern (known as Type As) are characterized by </a:t>
            </a:r>
            <a:r>
              <a:rPr b="1" lang="en"/>
              <a:t>ambitiousness, impatience, easily aroused hostility, and time urgency.</a:t>
            </a:r>
            <a:r>
              <a:rPr lang="en"/>
              <a:t> A core characteristic of TABP is an incessant struggle to achieve more and more in less and less time.</a:t>
            </a:r>
            <a:endParaRPr/>
          </a:p>
          <a:p>
            <a:pPr indent="0" lvl="0" marL="0" rtl="0" algn="just">
              <a:lnSpc>
                <a:spcPct val="115000"/>
              </a:lnSpc>
              <a:spcBef>
                <a:spcPts val="1200"/>
              </a:spcBef>
              <a:spcAft>
                <a:spcPts val="1200"/>
              </a:spcAft>
              <a:buSzPts val="1800"/>
              <a:buNone/>
            </a:pPr>
            <a:r>
              <a:rPr lang="en"/>
              <a:t>In contrast, </a:t>
            </a:r>
            <a:r>
              <a:rPr b="1" lang="en"/>
              <a:t>Type Bs are often described as relaxed, patient, and easygoing. </a:t>
            </a:r>
            <a:endParaRPr b="1"/>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9"/>
          <p:cNvSpPr txBox="1"/>
          <p:nvPr>
            <p:ph idx="1" type="body"/>
          </p:nvPr>
        </p:nvSpPr>
        <p:spPr>
          <a:xfrm>
            <a:off x="311700" y="278675"/>
            <a:ext cx="8520600" cy="45342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Clr>
                <a:schemeClr val="dk1"/>
              </a:buClr>
              <a:buSzPts val="1100"/>
              <a:buFont typeface="Arial"/>
              <a:buNone/>
            </a:pPr>
            <a:r>
              <a:rPr lang="en"/>
              <a:t>Research on stress indicates that it involves, in addition to a physiological response consistent with Selye’s findings, a cognitive appraisal of the situation and of the resources available to handle the stressors. In their theory of stress, appraisal, and coping, Lazarus and Folkman (1984; Lazarus, 1991) viewed stress as an ongoing process in which individuals make an appraisal of the environment and attempt to cope with the stressors that arise. This appraisal often triggers a set of coping responses by the body. In some circumstances, such as during exercise, the process can be healthy. However, when exposure to stress is chronic or persistent, the body responds negatively. It is important to note that most of these reactions are automatic. They happen whether we want them to or not, almost as if we have an allergic reaction to a psychologically threatening or stressful environment. In fact, some of these physiological reactions to stress (e.g., high blood pressure) have no obvious physical symptoms.</a:t>
            </a:r>
            <a:endParaRPr/>
          </a:p>
          <a:p>
            <a:pPr indent="0" lvl="0" marL="0" rtl="0" algn="l">
              <a:lnSpc>
                <a:spcPct val="115000"/>
              </a:lnSpc>
              <a:spcBef>
                <a:spcPts val="1200"/>
              </a:spcBef>
              <a:spcAft>
                <a:spcPts val="1200"/>
              </a:spcAft>
              <a:buSzPts val="1800"/>
              <a:buNone/>
            </a:pPr>
            <a:r>
              <a:rPr lang="en"/>
              <a:t>Individuals appraise, experience, and cope with stressful situations in different ways and coping styles are typically divided into </a:t>
            </a:r>
            <a:r>
              <a:rPr b="1" lang="en"/>
              <a:t>problem-focused and emotion-focused coping.</a:t>
            </a:r>
            <a:endParaRPr b="1"/>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0"/>
          <p:cNvSpPr txBox="1"/>
          <p:nvPr>
            <p:ph idx="1" type="body"/>
          </p:nvPr>
        </p:nvSpPr>
        <p:spPr>
          <a:xfrm>
            <a:off x="311700" y="264500"/>
            <a:ext cx="8520600" cy="468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Stressors are physical or psychological demands to which an individual responds. Strains are reaction or response to stressors.</a:t>
            </a:r>
            <a:endParaRPr/>
          </a:p>
          <a:p>
            <a:pPr indent="0" lvl="0" marL="0" rtl="0" algn="l">
              <a:lnSpc>
                <a:spcPct val="115000"/>
              </a:lnSpc>
              <a:spcBef>
                <a:spcPts val="1200"/>
              </a:spcBef>
              <a:spcAft>
                <a:spcPts val="0"/>
              </a:spcAft>
              <a:buClr>
                <a:schemeClr val="dk1"/>
              </a:buClr>
              <a:buSzPts val="1100"/>
              <a:buFont typeface="Arial"/>
              <a:buNone/>
            </a:pPr>
            <a:r>
              <a:rPr b="1" lang="en"/>
              <a:t>Problem-focused coping</a:t>
            </a:r>
            <a:r>
              <a:rPr lang="en"/>
              <a:t> is directed at managing or altering the problem that is causing the stress. Such coping may include defining the problem, generating different solutions and weighing their costs and benefits, and acting to solve the problem (Lazarus, 2000). For example,</a:t>
            </a:r>
            <a:r>
              <a:rPr b="1" lang="en"/>
              <a:t> problem-focused coping might involve developing and utilizing time management skills and designing a specific plan of action for handling a job with many demands. </a:t>
            </a:r>
            <a:endParaRPr b="1"/>
          </a:p>
          <a:p>
            <a:pPr indent="0" lvl="0" marL="0" rtl="0" algn="l">
              <a:lnSpc>
                <a:spcPct val="115000"/>
              </a:lnSpc>
              <a:spcBef>
                <a:spcPts val="1200"/>
              </a:spcBef>
              <a:spcAft>
                <a:spcPts val="1200"/>
              </a:spcAft>
              <a:buClr>
                <a:schemeClr val="dk1"/>
              </a:buClr>
              <a:buSzPts val="1100"/>
              <a:buFont typeface="Arial"/>
              <a:buNone/>
            </a:pPr>
            <a:r>
              <a:rPr b="1" lang="en"/>
              <a:t>Emotion Focused coping</a:t>
            </a:r>
            <a:r>
              <a:rPr lang="en"/>
              <a:t> involves reducing the emotional response to the problem, which can mean avoiding, minimizing, and distancing oneself from the problem. For example,</a:t>
            </a:r>
            <a:r>
              <a:rPr b="1" lang="en"/>
              <a:t> emotion-focused coping might involve obtaining social support from one’s family and friends to help minimize the effects of a stressful job.</a:t>
            </a:r>
            <a:endParaRPr b="1"/>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1"/>
          <p:cNvSpPr txBox="1"/>
          <p:nvPr>
            <p:ph idx="1" type="body"/>
          </p:nvPr>
        </p:nvSpPr>
        <p:spPr>
          <a:xfrm>
            <a:off x="311700" y="222000"/>
            <a:ext cx="8520600" cy="43470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lang="en"/>
              <a:t>Work stressors fall into two major categories: </a:t>
            </a:r>
            <a:r>
              <a:rPr b="1" lang="en"/>
              <a:t>physical/task stressors</a:t>
            </a:r>
            <a:r>
              <a:rPr lang="en"/>
              <a:t>, such as noise, light, heat, and cold, and </a:t>
            </a:r>
            <a:r>
              <a:rPr b="1" lang="en"/>
              <a:t>psychological stressors</a:t>
            </a:r>
            <a:r>
              <a:rPr lang="en"/>
              <a:t>, which involve a multitude of subtle and not so-subtle factors like lack of control or predictability and interpersonal conflicts, that an individual may find demanding.</a:t>
            </a:r>
            <a:r>
              <a:rPr b="1" lang="en"/>
              <a:t> Work–family conflict</a:t>
            </a:r>
            <a:r>
              <a:rPr lang="en"/>
              <a:t> is a situation that occurs when workers experience conflict between the roles they fulfill at work and in their personal lives.</a:t>
            </a:r>
            <a:endParaRPr/>
          </a:p>
          <a:p>
            <a:pPr indent="0" lvl="0" marL="0" rtl="0" algn="l">
              <a:lnSpc>
                <a:spcPct val="115000"/>
              </a:lnSpc>
              <a:spcBef>
                <a:spcPts val="1200"/>
              </a:spcBef>
              <a:spcAft>
                <a:spcPts val="1200"/>
              </a:spcAft>
              <a:buSzPts val="1800"/>
              <a:buNone/>
            </a:pPr>
            <a:r>
              <a:rPr lang="en"/>
              <a:t>Recent research has begun to differentiate between challenge-related and hindrance-related stressors. </a:t>
            </a:r>
            <a:r>
              <a:rPr b="1" lang="en"/>
              <a:t>Challenge-related stressors</a:t>
            </a:r>
            <a:r>
              <a:rPr lang="en"/>
              <a:t> are defined as work demands or circumstances that, although potentially stressful, offer potential gains (Boswell, Olson-Buchanan, &amp; LePine, 2004). Examples of challenge-related stressors are the number of projects assigned, time spent at work, volume of work in a given time, and the amount and scope of responsibilities. </a:t>
            </a:r>
            <a:r>
              <a:rPr b="1" lang="en"/>
              <a:t>Hindrance-related stressors</a:t>
            </a:r>
            <a:r>
              <a:rPr lang="en"/>
              <a:t> are defined as job demands or circumstances that tend to limit or interfere with work achievement.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2"/>
          <p:cNvSpPr txBox="1"/>
          <p:nvPr>
            <p:ph idx="1" type="body"/>
          </p:nvPr>
        </p:nvSpPr>
        <p:spPr>
          <a:xfrm>
            <a:off x="311700" y="122800"/>
            <a:ext cx="8520600" cy="49167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108108"/>
              <a:buNone/>
            </a:pPr>
            <a:r>
              <a:rPr b="1" lang="en"/>
              <a:t>Consequences of stress</a:t>
            </a:r>
            <a:endParaRPr b="1"/>
          </a:p>
          <a:p>
            <a:pPr indent="0" lvl="0" marL="0" rtl="0" algn="l">
              <a:lnSpc>
                <a:spcPct val="115000"/>
              </a:lnSpc>
              <a:spcBef>
                <a:spcPts val="1200"/>
              </a:spcBef>
              <a:spcAft>
                <a:spcPts val="0"/>
              </a:spcAft>
              <a:buSzPct val="108108"/>
              <a:buNone/>
            </a:pPr>
            <a:r>
              <a:rPr lang="en"/>
              <a:t>The negative consequences of chronic stress can be divided into three categories: behavioral, psychological, and physiological. </a:t>
            </a:r>
            <a:endParaRPr/>
          </a:p>
          <a:p>
            <a:pPr indent="0" lvl="0" marL="0" rtl="0" algn="l">
              <a:lnSpc>
                <a:spcPct val="115000"/>
              </a:lnSpc>
              <a:spcBef>
                <a:spcPts val="1200"/>
              </a:spcBef>
              <a:spcAft>
                <a:spcPts val="0"/>
              </a:spcAft>
              <a:buSzPct val="108108"/>
              <a:buNone/>
            </a:pPr>
            <a:r>
              <a:rPr b="1" lang="en"/>
              <a:t>Behavioral Consequences of Stress</a:t>
            </a:r>
            <a:endParaRPr b="1"/>
          </a:p>
          <a:p>
            <a:pPr indent="0" lvl="0" marL="0" rtl="0" algn="l">
              <a:lnSpc>
                <a:spcPct val="115000"/>
              </a:lnSpc>
              <a:spcBef>
                <a:spcPts val="1200"/>
              </a:spcBef>
              <a:spcAft>
                <a:spcPts val="0"/>
              </a:spcAft>
              <a:buSzPct val="108108"/>
              <a:buNone/>
            </a:pPr>
            <a:r>
              <a:rPr lang="en"/>
              <a:t>Among the behavioral consequences of stress are absenteeism, accidents, alcohol and drug abuse, poor job performance, and counterproductive behaviors including workplace violence. Stress has its effect on three particularly important behavioral outcomes: (1) information processing, which affects a variety of other critical work outcomes; (2) job performance, which can include information processing but often involves a global measure of effectiveness; and (3) counterproductive work behaviors.</a:t>
            </a:r>
            <a:endParaRPr/>
          </a:p>
          <a:p>
            <a:pPr indent="0" lvl="0" marL="0" rtl="0" algn="l">
              <a:lnSpc>
                <a:spcPct val="115000"/>
              </a:lnSpc>
              <a:spcBef>
                <a:spcPts val="1200"/>
              </a:spcBef>
              <a:spcAft>
                <a:spcPts val="1200"/>
              </a:spcAft>
              <a:buSzPct val="108108"/>
              <a:buNone/>
            </a:pPr>
            <a:r>
              <a:rPr b="1" lang="en"/>
              <a:t>Information Processing:</a:t>
            </a:r>
            <a:r>
              <a:rPr lang="en"/>
              <a:t> Chronic stress has detrimental effects on memory, reaction times, accuracy, and performance of a variety of tasks (Smith, 1990). In addition, individuals under stress often have difficulty focusing their attention. Stress leads to premature reactions to stimuli, restricted use of relevant cues, and increased errors on cognitive tasks.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3"/>
          <p:cNvSpPr txBox="1"/>
          <p:nvPr>
            <p:ph idx="1" type="body"/>
          </p:nvPr>
        </p:nvSpPr>
        <p:spPr>
          <a:xfrm>
            <a:off x="311700" y="165300"/>
            <a:ext cx="8520600" cy="4661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n"/>
              <a:t>Performance</a:t>
            </a:r>
            <a:r>
              <a:rPr lang="en"/>
              <a:t>: Arousal and performance have an inverted-U relationship. The inverted-U graph indicates that as arousal (or stress) increases, performance increases, but only up to a certain point; when arousal becomes too high, performance begins to decline. Thus, compared to situations with moderate arousal, both low levels of arousal (boredom) and high levels of arousal (extreme stress) result in lower performance. Alternatively, moderate arousal can lead to high motivation, energy, and attentiveness; this outcome is consistent with Selye’s concept of eustress, the “good stress”. It is important to note that stress represents only one of many factors that may affect job performance. </a:t>
            </a:r>
            <a:r>
              <a:rPr b="1" lang="en"/>
              <a:t>Counterproductive Work Behavior</a:t>
            </a:r>
            <a:r>
              <a:rPr lang="en"/>
              <a:t>: Spector and Fox (2005) developed a stressor–emotion model that linked stressors with counterproductive work behaviors. They proposed that stressors from the work environment increase perceptions of stress, which can then lead to negative emotions and, subsequently, counterproductive work behaviors.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4"/>
          <p:cNvSpPr txBox="1"/>
          <p:nvPr>
            <p:ph idx="1" type="body"/>
          </p:nvPr>
        </p:nvSpPr>
        <p:spPr>
          <a:xfrm>
            <a:off x="311700" y="165300"/>
            <a:ext cx="8520600" cy="478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650"/>
              <a:t>Psychological Consequences of Stress</a:t>
            </a:r>
            <a:endParaRPr b="1" sz="1650"/>
          </a:p>
          <a:p>
            <a:pPr indent="0" lvl="0" marL="0" rtl="0" algn="l">
              <a:lnSpc>
                <a:spcPct val="115000"/>
              </a:lnSpc>
              <a:spcBef>
                <a:spcPts val="1200"/>
              </a:spcBef>
              <a:spcAft>
                <a:spcPts val="0"/>
              </a:spcAft>
              <a:buSzPts val="1800"/>
              <a:buNone/>
            </a:pPr>
            <a:r>
              <a:rPr lang="en" sz="1650"/>
              <a:t>The psychological consequences of stress include anxiety, depression, burnout, fatigue, job tension, and dissatisfaction with one’s job and life (Kahn &amp; Byosiere, 1992). Burnout is a particularly important and well-researched consequence of stress. It is an extreme state of psychological strain that results from a prolonged response to chronic job stressors that exceed an individual’s coping resources (Maslach, Schaufeli, &amp; Leiter, 2001). Burnout was first observed in the caring professions: nursing, social work, and teaching.</a:t>
            </a:r>
            <a:endParaRPr sz="1650"/>
          </a:p>
          <a:p>
            <a:pPr indent="0" lvl="0" marL="0" rtl="0" algn="l">
              <a:lnSpc>
                <a:spcPct val="115000"/>
              </a:lnSpc>
              <a:spcBef>
                <a:spcPts val="1200"/>
              </a:spcBef>
              <a:spcAft>
                <a:spcPts val="0"/>
              </a:spcAft>
              <a:buSzPts val="1800"/>
              <a:buNone/>
            </a:pPr>
            <a:r>
              <a:rPr lang="en" sz="1650"/>
              <a:t>Researchers have identified three components of burnout in these health care and human services settings: emotional exhaustion, feelings of depersonalization, and feelings of low personal accomplishment. Work settings with chronic, overwhelming demands and time pressures put workers at high risk for burnout. As such, interventions intended to reduce burnout should be focused on both the individual and the job. A combination of stress management, skills training, and job design seems to be the most promising avenue to prevent or reduce the development of burnout (van Dierendonck, Schaufeli, &amp; Buunk, 2001).</a:t>
            </a:r>
            <a:endParaRPr sz="1650"/>
          </a:p>
          <a:p>
            <a:pPr indent="0" lvl="0" marL="0" rtl="0" algn="l">
              <a:lnSpc>
                <a:spcPct val="115000"/>
              </a:lnSpc>
              <a:spcBef>
                <a:spcPts val="1200"/>
              </a:spcBef>
              <a:spcAft>
                <a:spcPts val="1200"/>
              </a:spcAft>
              <a:buSzPts val="1800"/>
              <a:buNone/>
            </a:pPr>
            <a:r>
              <a:t/>
            </a:r>
            <a:endParaRPr sz="165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5"/>
          <p:cNvSpPr txBox="1"/>
          <p:nvPr>
            <p:ph idx="1" type="body"/>
          </p:nvPr>
        </p:nvSpPr>
        <p:spPr>
          <a:xfrm>
            <a:off x="311700" y="278675"/>
            <a:ext cx="8520600" cy="45627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Clr>
                <a:schemeClr val="dk1"/>
              </a:buClr>
              <a:buSzPts val="1100"/>
              <a:buFont typeface="Arial"/>
              <a:buNone/>
            </a:pPr>
            <a:r>
              <a:rPr b="1" lang="en"/>
              <a:t>Physiological Consequences of Stress</a:t>
            </a:r>
            <a:endParaRPr b="1"/>
          </a:p>
          <a:p>
            <a:pPr indent="0" lvl="0" marL="0" rtl="0" algn="l">
              <a:lnSpc>
                <a:spcPct val="115000"/>
              </a:lnSpc>
              <a:spcBef>
                <a:spcPts val="1200"/>
              </a:spcBef>
              <a:spcAft>
                <a:spcPts val="0"/>
              </a:spcAft>
              <a:buSzPts val="1800"/>
              <a:buNone/>
            </a:pPr>
            <a:r>
              <a:rPr lang="en"/>
              <a:t>Physiological changes in the body occur when stressful situations cause overactivation of the sympathetic nervous system, which produces several different kinds of stress hormones. These stress hormones cause an increase in heart rate and cardiac output in preparation for increased physical and cognitive activity. Initially, these effects of stress can be beneficial in terms of improved decision making, judgment, and physical performance. However, chronic activation of the sympathetic nervous system leads to excess amounts of stress hormones circulating in the blood supply and the brain.</a:t>
            </a:r>
            <a:endParaRPr/>
          </a:p>
          <a:p>
            <a:pPr indent="0" lvl="0" marL="0" rtl="0" algn="l">
              <a:lnSpc>
                <a:spcPct val="115000"/>
              </a:lnSpc>
              <a:spcBef>
                <a:spcPts val="1200"/>
              </a:spcBef>
              <a:spcAft>
                <a:spcPts val="1200"/>
              </a:spcAft>
              <a:buSzPts val="1800"/>
              <a:buNone/>
            </a:pPr>
            <a:r>
              <a:rPr lang="en"/>
              <a:t>Stress also causes the blood vessels to shrink in the peripheral areas of the body (Eliot &amp; Buell, 1983). The combination of shrinking blood vessels and more blood moving through them causes wear and tear on the coronary arteries and the heart. This leads to thickening of plaque in the arteries (atherosclerosis) and heart disease.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6"/>
          <p:cNvSpPr txBox="1"/>
          <p:nvPr>
            <p:ph idx="1" type="body"/>
          </p:nvPr>
        </p:nvSpPr>
        <p:spPr>
          <a:xfrm>
            <a:off x="311700" y="80300"/>
            <a:ext cx="8520600" cy="506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1700"/>
              <a:t>Theories of stress</a:t>
            </a:r>
            <a:endParaRPr b="1" sz="1700"/>
          </a:p>
          <a:p>
            <a:pPr indent="0" lvl="0" marL="0" rtl="0" algn="l">
              <a:lnSpc>
                <a:spcPct val="115000"/>
              </a:lnSpc>
              <a:spcBef>
                <a:spcPts val="1200"/>
              </a:spcBef>
              <a:spcAft>
                <a:spcPts val="0"/>
              </a:spcAft>
              <a:buSzPts val="1800"/>
              <a:buNone/>
            </a:pPr>
            <a:r>
              <a:rPr lang="en" sz="1700"/>
              <a:t>Several theories of stress have been developed to organize the relationships among stressors, strains, and potential moderators of those relationships. Two theories that have received a great deal of attention are </a:t>
            </a:r>
            <a:r>
              <a:rPr b="1" lang="en" sz="1700"/>
              <a:t>Karasek’s demand–control model </a:t>
            </a:r>
            <a:r>
              <a:rPr lang="en" sz="1700"/>
              <a:t>and </a:t>
            </a:r>
            <a:r>
              <a:rPr b="1" lang="en" sz="1700"/>
              <a:t>French’s person – environment fit model</a:t>
            </a:r>
            <a:r>
              <a:rPr lang="en" sz="1700"/>
              <a:t>.</a:t>
            </a:r>
            <a:endParaRPr sz="1700"/>
          </a:p>
          <a:p>
            <a:pPr indent="0" lvl="0" marL="0" rtl="0" algn="l">
              <a:lnSpc>
                <a:spcPct val="115000"/>
              </a:lnSpc>
              <a:spcBef>
                <a:spcPts val="1200"/>
              </a:spcBef>
              <a:spcAft>
                <a:spcPts val="0"/>
              </a:spcAft>
              <a:buSzPts val="1800"/>
              <a:buNone/>
            </a:pPr>
            <a:r>
              <a:rPr b="1" lang="en" sz="1700"/>
              <a:t>Demand - Control model</a:t>
            </a:r>
            <a:endParaRPr b="1" sz="1700"/>
          </a:p>
          <a:p>
            <a:pPr indent="0" lvl="0" marL="0" rtl="0" algn="l">
              <a:lnSpc>
                <a:spcPct val="115000"/>
              </a:lnSpc>
              <a:spcBef>
                <a:spcPts val="1200"/>
              </a:spcBef>
              <a:spcAft>
                <a:spcPts val="1200"/>
              </a:spcAft>
              <a:buSzPts val="1800"/>
              <a:buNone/>
            </a:pPr>
            <a:r>
              <a:rPr lang="en" sz="1700"/>
              <a:t>Karasek’s (1979) demand–control model suggests that two factors are prominent in producing job stress: </a:t>
            </a:r>
            <a:r>
              <a:rPr b="1" lang="en" sz="1700"/>
              <a:t>job demands and job control </a:t>
            </a:r>
            <a:r>
              <a:rPr lang="en" sz="1700"/>
              <a:t>(also known as decision latitude). In this model, job demands are defined according to two different criteria: workload and intellectual requirements of the job. Job control is defined as a combination of autonomy in the job and discretion for using different skills. Karasek proposed that the combination of high work demands and low control results in high-strain jobs that result in a variety of health problems. Food service worker, waitperson, nurse’s aide, assembly-line worker, and computer help-desk operator are considered high-strain jobs. </a:t>
            </a:r>
            <a:endParaRPr sz="17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7"/>
          <p:cNvSpPr txBox="1"/>
          <p:nvPr>
            <p:ph idx="1" type="body"/>
          </p:nvPr>
        </p:nvSpPr>
        <p:spPr>
          <a:xfrm>
            <a:off x="311700" y="222000"/>
            <a:ext cx="8520600" cy="4564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Food service worker, waitperson, nurse’s aide, assembly-line worker, and computer help-desk operator are considered high-strain jobs. Machine-paced jobs, in particular, are highlighted as having high demands and low control. </a:t>
            </a:r>
            <a:endParaRPr/>
          </a:p>
          <a:p>
            <a:pPr indent="0" lvl="0" marL="0" rtl="0" algn="l">
              <a:lnSpc>
                <a:spcPct val="115000"/>
              </a:lnSpc>
              <a:spcBef>
                <a:spcPts val="1200"/>
              </a:spcBef>
              <a:spcAft>
                <a:spcPts val="0"/>
              </a:spcAft>
              <a:buSzPts val="1800"/>
              <a:buNone/>
            </a:pPr>
            <a:r>
              <a:rPr lang="en"/>
              <a:t>In contrast, jobs characterized by high demands that also provide sufficient control create an “active” job situation that is stimulating and health promoting. Active jobs include lawyer, engineer, manager, and physician. Jobs with low control and low demands (e.g., janitor, night watchman) are labeled as “passive” jobs. </a:t>
            </a:r>
            <a:endParaRPr/>
          </a:p>
          <a:p>
            <a:pPr indent="0" lvl="0" marL="0" rtl="0" algn="l">
              <a:lnSpc>
                <a:spcPct val="115000"/>
              </a:lnSpc>
              <a:spcBef>
                <a:spcPts val="1200"/>
              </a:spcBef>
              <a:spcAft>
                <a:spcPts val="1200"/>
              </a:spcAft>
              <a:buSzPts val="1800"/>
              <a:buNone/>
            </a:pPr>
            <a:r>
              <a:rPr lang="en"/>
              <a:t>Finally, jobs with high control and low demands (e.g., architect, dentist) are considered to be low-strain jobs. In a series of surveys involving U.S. and Swedish male workers, Karasek (1979) found that the combination of low control and heavy job demands correlated positively with mental strain (i.e., depression and exhaustion) and job dissatisfaction.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id="299" name="Google Shape;299;p48"/>
          <p:cNvPicPr preferRelativeResize="0"/>
          <p:nvPr/>
        </p:nvPicPr>
        <p:blipFill rotWithShape="1">
          <a:blip r:embed="rId3">
            <a:alphaModFix/>
          </a:blip>
          <a:srcRect b="0" l="0" r="0" t="0"/>
          <a:stretch/>
        </p:blipFill>
        <p:spPr>
          <a:xfrm>
            <a:off x="411225" y="364900"/>
            <a:ext cx="8443025" cy="44781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9"/>
          <p:cNvSpPr txBox="1"/>
          <p:nvPr>
            <p:ph idx="1" type="body"/>
          </p:nvPr>
        </p:nvSpPr>
        <p:spPr>
          <a:xfrm>
            <a:off x="311700" y="279600"/>
            <a:ext cx="8520600" cy="45777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l">
              <a:lnSpc>
                <a:spcPct val="115000"/>
              </a:lnSpc>
              <a:spcBef>
                <a:spcPts val="0"/>
              </a:spcBef>
              <a:spcAft>
                <a:spcPts val="0"/>
              </a:spcAft>
              <a:buSzPct val="117647"/>
              <a:buNone/>
            </a:pPr>
            <a:r>
              <a:rPr b="1" lang="en"/>
              <a:t>Person - Environment fit model</a:t>
            </a:r>
            <a:endParaRPr b="1"/>
          </a:p>
          <a:p>
            <a:pPr indent="0" lvl="0" marL="0" rtl="0" algn="l">
              <a:lnSpc>
                <a:spcPct val="115000"/>
              </a:lnSpc>
              <a:spcBef>
                <a:spcPts val="1200"/>
              </a:spcBef>
              <a:spcAft>
                <a:spcPts val="0"/>
              </a:spcAft>
              <a:buSzPct val="117647"/>
              <a:buNone/>
            </a:pPr>
            <a:r>
              <a:rPr lang="en"/>
              <a:t>The person–environment (P–E) fit model (French, Caplan, &amp; Harrison, 1982) hypothesizes that the fit between a person and the environment determines the amount of stress that person perceives. The environment makes demands and the person responds. A good person–environment fit occurs when a person’s skills and abilities match the requirements of the job and work environment. For example, an introvert with a PhD in literature would be likely to have a good P–E fit with the job of university librarian, while an extraverted MBA might have a good P–E fit with the job of sales manager. The amount of stress a worker feels is influenced by perceptions of the demands made by the environment and by perceptions of his or her capability to deal with those demands. </a:t>
            </a:r>
            <a:endParaRPr/>
          </a:p>
          <a:p>
            <a:pPr indent="0" lvl="0" marL="0" rtl="0" algn="l">
              <a:lnSpc>
                <a:spcPct val="115000"/>
              </a:lnSpc>
              <a:spcBef>
                <a:spcPts val="1200"/>
              </a:spcBef>
              <a:spcAft>
                <a:spcPts val="1200"/>
              </a:spcAft>
              <a:buSzPct val="117647"/>
              <a:buNone/>
            </a:pPr>
            <a:r>
              <a:rPr lang="en"/>
              <a:t>Using this model, French and colleagues (1982) found that a poor fit between a person and the environment was frequently associated with increased strains. Alternatively, employees whose skills and abilities fit well with the work environment reported less stress and fewer strains (Edwards, 1996). Shaw and Gupta (2004) found that the harmful effects of misfit are particularly severe for poorly performing employees, who suffer greater depression and physical health problems than high-performing employees.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0"/>
          <p:cNvSpPr txBox="1"/>
          <p:nvPr>
            <p:ph idx="1" type="body"/>
          </p:nvPr>
        </p:nvSpPr>
        <p:spPr>
          <a:xfrm>
            <a:off x="311700" y="222000"/>
            <a:ext cx="8520600" cy="4562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a:t>Unlike the demand–control model, the P–E fit approach considers external influences such as social support from family and work sources. For example, Edwards and Rothbard (1999) found that the well-being of employees varied according to their perceptions of work and family experiences. </a:t>
            </a:r>
            <a:endParaRPr/>
          </a:p>
          <a:p>
            <a:pPr indent="0" lvl="0" marL="0" rtl="0" algn="l">
              <a:lnSpc>
                <a:spcPct val="115000"/>
              </a:lnSpc>
              <a:spcBef>
                <a:spcPts val="1200"/>
              </a:spcBef>
              <a:spcAft>
                <a:spcPts val="0"/>
              </a:spcAft>
              <a:buSzPts val="1800"/>
              <a:buNone/>
            </a:pPr>
            <a:r>
              <a:rPr lang="en"/>
              <a:t>Early research did not always specify what “environment” was referred to in the P–E fit model. More recently, research has more clearly differentiated between person–job fit and person–organization fit (Lauver &amp; Kristof-Brown, 2001). Person–job (P–J) fit refers to the extent to which the skills, abilities, and interests of an individual are compatible with the demands of the particular job. Alternatively, person–organization (P–O) fit refers to whether the values of an employee are consistent with the values held by most others in the organization.</a:t>
            </a:r>
            <a:endParaRPr/>
          </a:p>
          <a:p>
            <a:pPr indent="0" lvl="0" marL="0" rtl="0" algn="l">
              <a:lnSpc>
                <a:spcPct val="115000"/>
              </a:lnSpc>
              <a:spcBef>
                <a:spcPts val="1200"/>
              </a:spcBef>
              <a:spcAft>
                <a:spcPts val="1200"/>
              </a:spcAft>
              <a:buSzPts val="1800"/>
              <a:buNone/>
            </a:pPr>
            <a:r>
              <a:rPr lang="en"/>
              <a:t>The P–E fit model suggests mechanisms by which individuals can protect themselves from the stress that accompanies a mismatch between the person and the environment.</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1"/>
          <p:cNvSpPr txBox="1"/>
          <p:nvPr>
            <p:ph idx="1" type="body"/>
          </p:nvPr>
        </p:nvSpPr>
        <p:spPr>
          <a:xfrm>
            <a:off x="311700" y="108625"/>
            <a:ext cx="8520600" cy="49026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108108"/>
              <a:buNone/>
            </a:pPr>
            <a:r>
              <a:rPr b="1" lang="en"/>
              <a:t>Reducing and managing stress</a:t>
            </a:r>
            <a:endParaRPr b="1"/>
          </a:p>
          <a:p>
            <a:pPr indent="0" lvl="0" marL="0" rtl="0" algn="l">
              <a:lnSpc>
                <a:spcPct val="115000"/>
              </a:lnSpc>
              <a:spcBef>
                <a:spcPts val="1200"/>
              </a:spcBef>
              <a:spcAft>
                <a:spcPts val="0"/>
              </a:spcAft>
              <a:buSzPct val="108108"/>
              <a:buNone/>
            </a:pPr>
            <a:r>
              <a:rPr lang="en"/>
              <a:t>In 1990, stress was listed for the first time as one of the top 10 occupational health risks in the United States. As a result, concerns about stress at work became much more prominent in public and government discussions of health (Sauter, Murphy, &amp; Hurrell, 1990). These concerns led to the development of the field of occupational health psychology, which involves the application of psychology to improving the quality of work life and to protecting and promoting the safety, health, and well-being of workers. The Handbook of Occupational Health Psychology provides a comprehensive source for a variety of occupational health psychology issues, including work–family balance, work design, and stress management interventions (Quick &amp; Tetrick, 2010). </a:t>
            </a:r>
            <a:endParaRPr/>
          </a:p>
          <a:p>
            <a:pPr indent="0" lvl="0" marL="0" rtl="0" algn="l">
              <a:lnSpc>
                <a:spcPct val="115000"/>
              </a:lnSpc>
              <a:spcBef>
                <a:spcPts val="1200"/>
              </a:spcBef>
              <a:spcAft>
                <a:spcPts val="0"/>
              </a:spcAft>
              <a:buSzPct val="108108"/>
              <a:buNone/>
            </a:pPr>
            <a:r>
              <a:rPr b="1" lang="en"/>
              <a:t>Occupational health psychology</a:t>
            </a:r>
            <a:r>
              <a:rPr lang="en"/>
              <a:t> is the area of psychology that involves the application of psychology to improving the quality of work life and to protecting and promoting the safety, health, and well-being of workers.</a:t>
            </a:r>
            <a:endParaRPr/>
          </a:p>
          <a:p>
            <a:pPr indent="0" lvl="0" marL="0" rtl="0" algn="l">
              <a:lnSpc>
                <a:spcPct val="115000"/>
              </a:lnSpc>
              <a:spcBef>
                <a:spcPts val="1200"/>
              </a:spcBef>
              <a:spcAft>
                <a:spcPts val="1200"/>
              </a:spcAft>
              <a:buSzPct val="108108"/>
              <a:buNone/>
            </a:pPr>
            <a:r>
              <a:rPr lang="en"/>
              <a:t>Occupational health psychologists often divide their </a:t>
            </a:r>
            <a:r>
              <a:rPr b="1" lang="en"/>
              <a:t>approaches to stress reduction and management into three major categories: primary, secondary, and tertiary interventions</a:t>
            </a:r>
            <a:r>
              <a:rPr lang="en"/>
              <a:t> (Quick et al., 1997).</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pic>
        <p:nvPicPr>
          <p:cNvPr id="319" name="Google Shape;319;p52"/>
          <p:cNvPicPr preferRelativeResize="0"/>
          <p:nvPr/>
        </p:nvPicPr>
        <p:blipFill rotWithShape="1">
          <a:blip r:embed="rId3">
            <a:alphaModFix/>
          </a:blip>
          <a:srcRect b="0" l="0" r="0" t="0"/>
          <a:stretch/>
        </p:blipFill>
        <p:spPr>
          <a:xfrm>
            <a:off x="152400" y="152400"/>
            <a:ext cx="8736549" cy="48387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3"/>
          <p:cNvSpPr txBox="1"/>
          <p:nvPr>
            <p:ph idx="1" type="body"/>
          </p:nvPr>
        </p:nvSpPr>
        <p:spPr>
          <a:xfrm>
            <a:off x="311700" y="136975"/>
            <a:ext cx="8520600" cy="48177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b="1" lang="en"/>
              <a:t>Primary prevention strategy</a:t>
            </a:r>
            <a:r>
              <a:rPr lang="en"/>
              <a:t> is concerned with modifying or eliminating stressors in the work environment. Primary prevention approaches include redesigning the task or work environment, encouraging participative management, developing clearer role descriptions, and changing negative thoughts through cognitive restructuring. Another primary prevention strategy involves providing flexible work schedules, which can be seen in recent trends toward flextime, shorter workweeks, and job sharing.</a:t>
            </a:r>
            <a:endParaRPr/>
          </a:p>
          <a:p>
            <a:pPr indent="0" lvl="0" marL="0" rtl="0" algn="l">
              <a:lnSpc>
                <a:spcPct val="115000"/>
              </a:lnSpc>
              <a:spcBef>
                <a:spcPts val="1200"/>
              </a:spcBef>
              <a:spcAft>
                <a:spcPts val="0"/>
              </a:spcAft>
              <a:buSzPts val="1800"/>
              <a:buNone/>
            </a:pPr>
            <a:r>
              <a:rPr b="1" lang="en"/>
              <a:t>Work Schedules</a:t>
            </a:r>
            <a:endParaRPr b="1"/>
          </a:p>
          <a:p>
            <a:pPr indent="0" lvl="0" marL="0" rtl="0" algn="l">
              <a:lnSpc>
                <a:spcPct val="115000"/>
              </a:lnSpc>
              <a:spcBef>
                <a:spcPts val="1200"/>
              </a:spcBef>
              <a:spcAft>
                <a:spcPts val="1200"/>
              </a:spcAft>
              <a:buSzPts val="1800"/>
              <a:buNone/>
            </a:pPr>
            <a:r>
              <a:rPr lang="en"/>
              <a:t>Work schedules are playing an increasingly important role in managing work–life balance in two ways: Individuals desire the freedom to pursue leisure activities outside of work, and they often have obligations to fulfill multiple roles as spouse, caregiver, and parent. This suggests that the scheduling of work can have substantial effects on stress and worker well-being. There are three different scheduling formats that bear discussion: </a:t>
            </a:r>
            <a:r>
              <a:rPr b="1" lang="en"/>
              <a:t>shift work, flextime, and compressed workweeks.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4"/>
          <p:cNvSpPr txBox="1"/>
          <p:nvPr>
            <p:ph idx="1" type="body"/>
          </p:nvPr>
        </p:nvSpPr>
        <p:spPr>
          <a:xfrm>
            <a:off x="311700" y="207825"/>
            <a:ext cx="8520600" cy="4761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Shift work is scheduling of work into temporal shifts; common in particular occupational groups such as nurses, blue-collar workers, and public safety personnel.</a:t>
            </a:r>
            <a:endParaRPr/>
          </a:p>
          <a:p>
            <a:pPr indent="0" lvl="0" marL="0" rtl="0" algn="l">
              <a:lnSpc>
                <a:spcPct val="115000"/>
              </a:lnSpc>
              <a:spcBef>
                <a:spcPts val="1200"/>
              </a:spcBef>
              <a:spcAft>
                <a:spcPts val="0"/>
              </a:spcAft>
              <a:buSzPts val="1800"/>
              <a:buNone/>
            </a:pPr>
            <a:r>
              <a:rPr lang="en"/>
              <a:t>Circadian cycle is the 24-hour physiological cycle in which humans tend to be active during hours of light and inactive during hours of darkness.</a:t>
            </a:r>
            <a:endParaRPr/>
          </a:p>
          <a:p>
            <a:pPr indent="0" lvl="0" marL="0" rtl="0" algn="l">
              <a:lnSpc>
                <a:spcPct val="115000"/>
              </a:lnSpc>
              <a:spcBef>
                <a:spcPts val="1200"/>
              </a:spcBef>
              <a:spcAft>
                <a:spcPts val="0"/>
              </a:spcAft>
              <a:buClr>
                <a:schemeClr val="dk1"/>
              </a:buClr>
              <a:buSzPts val="1100"/>
              <a:buFont typeface="Arial"/>
              <a:buNone/>
            </a:pPr>
            <a:r>
              <a:rPr lang="en"/>
              <a:t>Fixed shift is a particular shift that is permanently assigned to a worker.</a:t>
            </a:r>
            <a:endParaRPr/>
          </a:p>
          <a:p>
            <a:pPr indent="0" lvl="0" marL="0" rtl="0" algn="l">
              <a:lnSpc>
                <a:spcPct val="115000"/>
              </a:lnSpc>
              <a:spcBef>
                <a:spcPts val="1200"/>
              </a:spcBef>
              <a:spcAft>
                <a:spcPts val="0"/>
              </a:spcAft>
              <a:buClr>
                <a:schemeClr val="dk1"/>
              </a:buClr>
              <a:buSzPts val="1100"/>
              <a:buFont typeface="Arial"/>
              <a:buNone/>
            </a:pPr>
            <a:r>
              <a:rPr lang="en"/>
              <a:t>Rotating shift is a shift that changes over a certain period of time.</a:t>
            </a:r>
            <a:endParaRPr/>
          </a:p>
          <a:p>
            <a:pPr indent="0" lvl="0" marL="0" rtl="0" algn="l">
              <a:lnSpc>
                <a:spcPct val="115000"/>
              </a:lnSpc>
              <a:spcBef>
                <a:spcPts val="1200"/>
              </a:spcBef>
              <a:spcAft>
                <a:spcPts val="0"/>
              </a:spcAft>
              <a:buClr>
                <a:schemeClr val="dk1"/>
              </a:buClr>
              <a:buSzPts val="1100"/>
              <a:buFont typeface="Arial"/>
              <a:buNone/>
            </a:pPr>
            <a:r>
              <a:rPr lang="en"/>
              <a:t>Flextime is a schedule in which individual workers are given discretion over the time they report to work and the time they leave work on a given day.</a:t>
            </a:r>
            <a:endParaRPr/>
          </a:p>
          <a:p>
            <a:pPr indent="0" lvl="0" marL="0" rtl="0" algn="l">
              <a:lnSpc>
                <a:spcPct val="115000"/>
              </a:lnSpc>
              <a:spcBef>
                <a:spcPts val="1200"/>
              </a:spcBef>
              <a:spcAft>
                <a:spcPts val="1200"/>
              </a:spcAft>
              <a:buClr>
                <a:schemeClr val="dk1"/>
              </a:buClr>
              <a:buSzPts val="1100"/>
              <a:buFont typeface="Arial"/>
              <a:buNone/>
            </a:pPr>
            <a:r>
              <a:rPr lang="en"/>
              <a:t>Another nontraditional work schedule is the compressed workweek, which permits an employee to work for longer than eight hours a day and fewer than five days a week.</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5"/>
          <p:cNvSpPr txBox="1"/>
          <p:nvPr>
            <p:ph idx="1" type="body"/>
          </p:nvPr>
        </p:nvSpPr>
        <p:spPr>
          <a:xfrm>
            <a:off x="188925" y="136975"/>
            <a:ext cx="8813400" cy="484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1600"/>
              <a:t>Secondary prevention strategies</a:t>
            </a:r>
            <a:r>
              <a:rPr lang="en" sz="1600"/>
              <a:t> involve modifying responses to inevitable demands or stressors; thus, they are said to be response-directed. Because secondary prevention addresses the experience of stress rather than the stress or stressors, its role is often one of damage control. Thus, this type of intervention is often described as the “Band-Aid” approach (Cooper &amp; Cartwright, 2001). Secondary prevention approaches are aligned with emotion-focused coping strategies, which seek to reduce the emotional response to the stressor and can involve avoiding, minimizing, and distancing oneself from the stressor (Lazarus, 2000). For example, emotion-focused coping might be used to reduce the stress experienced in a job that requires emotional labor. </a:t>
            </a:r>
            <a:endParaRPr sz="1600"/>
          </a:p>
          <a:p>
            <a:pPr indent="0" lvl="0" marL="0" rtl="0" algn="l">
              <a:lnSpc>
                <a:spcPct val="115000"/>
              </a:lnSpc>
              <a:spcBef>
                <a:spcPts val="1200"/>
              </a:spcBef>
              <a:spcAft>
                <a:spcPts val="1200"/>
              </a:spcAft>
              <a:buSzPts val="1800"/>
              <a:buNone/>
            </a:pPr>
            <a:r>
              <a:rPr lang="en" sz="1600"/>
              <a:t>Secondary prevention strategies that require no special training (but might be formally encouraged through an employer-sponsored program) include lifestyle choices such as physical fitness, healthy eating, and weight control, along with reductions in smoking and caffeine consumption. Skills training programs in such areas as negotiation and conflict resolution are another form of secondary intervention. In addition, secondary stress management methods include relaxation techniques, biofeedback, and providing or encouraging social support at work. Many approaches use combinations of the above methods</a:t>
            </a:r>
            <a:endParaRPr sz="16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6"/>
          <p:cNvSpPr txBox="1"/>
          <p:nvPr>
            <p:ph idx="1" type="body"/>
          </p:nvPr>
        </p:nvSpPr>
        <p:spPr>
          <a:xfrm>
            <a:off x="311700" y="207825"/>
            <a:ext cx="8520600" cy="46050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Clr>
                <a:schemeClr val="dk1"/>
              </a:buClr>
              <a:buSzPts val="1100"/>
              <a:buFont typeface="Arial"/>
              <a:buNone/>
            </a:pPr>
            <a:r>
              <a:rPr b="1" lang="en"/>
              <a:t>Tertiary prevention strategies </a:t>
            </a:r>
            <a:r>
              <a:rPr lang="en"/>
              <a:t>are symptom-directed, that is, focused on healing the negative effects of stressors. Tertiary interventions include employee assistance programs and the use of medical care, individual psychotherapy, and career counseling (Quick et al., 1997).</a:t>
            </a:r>
            <a:endParaRPr/>
          </a:p>
          <a:p>
            <a:pPr indent="0" lvl="0" marL="0" rtl="0" algn="l">
              <a:lnSpc>
                <a:spcPct val="115000"/>
              </a:lnSpc>
              <a:spcBef>
                <a:spcPts val="1200"/>
              </a:spcBef>
              <a:spcAft>
                <a:spcPts val="0"/>
              </a:spcAft>
              <a:buSzPts val="1800"/>
              <a:buNone/>
            </a:pPr>
            <a:r>
              <a:rPr lang="en"/>
              <a:t>Employee assistance programs (EAPs), originally developed by organizations to address alcohol and drug problems, were subsequently broadened to include stress management interventions. Organizations must ensure that confidentiality is maintained and that use of an EAP does not harm job security or advancement. These suggestions are particularly important because unhealthy work climates and distrust of EAPs often prevent employees from seeking help for alcohol or drug abuse problems. </a:t>
            </a:r>
            <a:endParaRPr/>
          </a:p>
          <a:p>
            <a:pPr indent="0" lvl="0" marL="0" rtl="0" algn="l">
              <a:lnSpc>
                <a:spcPct val="115000"/>
              </a:lnSpc>
              <a:spcBef>
                <a:spcPts val="1200"/>
              </a:spcBef>
              <a:spcAft>
                <a:spcPts val="1200"/>
              </a:spcAft>
              <a:buSzPts val="1800"/>
              <a:buNone/>
            </a:pPr>
            <a:r>
              <a:rPr lang="en"/>
              <a:t>even though focusing on the treatment of strains may be an effective  short-term strategy, the approach is essentially reactive and recuperative rather than proactive and preventative.</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7"/>
          <p:cNvSpPr txBox="1"/>
          <p:nvPr>
            <p:ph idx="1" type="body"/>
          </p:nvPr>
        </p:nvSpPr>
        <p:spPr>
          <a:xfrm>
            <a:off x="311700" y="363675"/>
            <a:ext cx="8520600" cy="42051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108108"/>
              <a:buNone/>
            </a:pPr>
            <a:r>
              <a:rPr b="1" lang="en"/>
              <a:t>Violence at work</a:t>
            </a:r>
            <a:endParaRPr b="1"/>
          </a:p>
          <a:p>
            <a:pPr indent="0" lvl="0" marL="0" rtl="0" algn="l">
              <a:lnSpc>
                <a:spcPct val="115000"/>
              </a:lnSpc>
              <a:spcBef>
                <a:spcPts val="1200"/>
              </a:spcBef>
              <a:spcAft>
                <a:spcPts val="0"/>
              </a:spcAft>
              <a:buSzPct val="108108"/>
              <a:buNone/>
            </a:pPr>
            <a:r>
              <a:rPr lang="en"/>
              <a:t>In the past, the workplace was seen as a protected environment, one in which workers could feel safe. That is no longer the case (Barling, 1996). Violence is becoming more common in the workplace and therefore more important than ever to I-O psychologists (Bulatao &amp; Vandenbos, 1996). </a:t>
            </a:r>
            <a:r>
              <a:rPr b="1" lang="en"/>
              <a:t>Work-related violence falls into two different categories.</a:t>
            </a:r>
            <a:r>
              <a:rPr lang="en"/>
              <a:t> The first deals with violent actions carried out by a nonemployee against an employee. Examples include armed robberies of convenience stores or gas stations in which a clerk is threatened, and often assaulted, by a robber. Similarly, workers in certain occupations, such as corrections and police officers, deal with violence as an essential function of their jobs. The second category of violence is perpetrated by employees and directed toward fellow employees. It is the second form of violence that we will consider. Several excellent reviews cover both types of violence (Kinney, 1995a,b; Vandenbos &amp; Bulatao, 1996).</a:t>
            </a:r>
            <a:endParaRPr/>
          </a:p>
          <a:p>
            <a:pPr indent="0" lvl="0" marL="0" rtl="0" algn="l">
              <a:lnSpc>
                <a:spcPct val="115000"/>
              </a:lnSpc>
              <a:spcBef>
                <a:spcPts val="1200"/>
              </a:spcBef>
              <a:spcAft>
                <a:spcPts val="1200"/>
              </a:spcAft>
              <a:buSzPct val="108108"/>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8"/>
          <p:cNvSpPr txBox="1"/>
          <p:nvPr>
            <p:ph idx="1" type="body"/>
          </p:nvPr>
        </p:nvSpPr>
        <p:spPr>
          <a:xfrm>
            <a:off x="311700" y="136975"/>
            <a:ext cx="8520600" cy="46335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Clr>
                <a:schemeClr val="dk1"/>
              </a:buClr>
              <a:buSzPts val="1100"/>
              <a:buFont typeface="Arial"/>
              <a:buNone/>
            </a:pPr>
            <a:r>
              <a:rPr lang="en"/>
              <a:t>There have been many hypotheses about why we have seen the workplace become more violent since the early 1990s (Elliott &amp; Jarrett, 1994; Mack, Shannon, Quick, &amp; Quick, 1998), including the following:</a:t>
            </a:r>
            <a:endParaRPr/>
          </a:p>
          <a:p>
            <a:pPr indent="0" lvl="0" marL="0" rtl="0" algn="l">
              <a:lnSpc>
                <a:spcPct val="115000"/>
              </a:lnSpc>
              <a:spcBef>
                <a:spcPts val="1200"/>
              </a:spcBef>
              <a:spcAft>
                <a:spcPts val="0"/>
              </a:spcAft>
              <a:buClr>
                <a:schemeClr val="dk1"/>
              </a:buClr>
              <a:buSzPts val="1100"/>
              <a:buFont typeface="Arial"/>
              <a:buNone/>
            </a:pPr>
            <a:r>
              <a:rPr lang="en"/>
              <a:t>● The surge of layoffs, mergers, and acquisitions has radically increased stress at the workplace.</a:t>
            </a:r>
            <a:endParaRPr/>
          </a:p>
          <a:p>
            <a:pPr indent="0" lvl="0" marL="0" rtl="0" algn="l">
              <a:lnSpc>
                <a:spcPct val="115000"/>
              </a:lnSpc>
              <a:spcBef>
                <a:spcPts val="1200"/>
              </a:spcBef>
              <a:spcAft>
                <a:spcPts val="0"/>
              </a:spcAft>
              <a:buClr>
                <a:schemeClr val="dk1"/>
              </a:buClr>
              <a:buSzPts val="1100"/>
              <a:buFont typeface="Arial"/>
              <a:buNone/>
            </a:pPr>
            <a:r>
              <a:rPr lang="en"/>
              <a:t>● As a result of the large number of Baby Boomers in the workforce, fewer jobs are available as people strive to move up in the organization.</a:t>
            </a:r>
            <a:endParaRPr/>
          </a:p>
          <a:p>
            <a:pPr indent="0" lvl="0" marL="0" rtl="0" algn="l">
              <a:lnSpc>
                <a:spcPct val="115000"/>
              </a:lnSpc>
              <a:spcBef>
                <a:spcPts val="1200"/>
              </a:spcBef>
              <a:spcAft>
                <a:spcPts val="0"/>
              </a:spcAft>
              <a:buClr>
                <a:schemeClr val="dk1"/>
              </a:buClr>
              <a:buSzPts val="1100"/>
              <a:buFont typeface="Arial"/>
              <a:buNone/>
            </a:pPr>
            <a:r>
              <a:rPr lang="en"/>
              <a:t>● Increasingly multicultural workplaces make it more likely that prejudices and biases will enter into worker interactions.</a:t>
            </a:r>
            <a:endParaRPr/>
          </a:p>
          <a:p>
            <a:pPr indent="0" lvl="0" marL="0" rtl="0" algn="l">
              <a:lnSpc>
                <a:spcPct val="115000"/>
              </a:lnSpc>
              <a:spcBef>
                <a:spcPts val="1200"/>
              </a:spcBef>
              <a:spcAft>
                <a:spcPts val="0"/>
              </a:spcAft>
              <a:buClr>
                <a:schemeClr val="dk1"/>
              </a:buClr>
              <a:buSzPts val="1100"/>
              <a:buFont typeface="Arial"/>
              <a:buNone/>
            </a:pPr>
            <a:r>
              <a:rPr lang="en"/>
              <a:t>● There is a greater tendency for workers to abuse drugs and alcohol, thus lowering inhibitions that prevent violent behavior.</a:t>
            </a:r>
            <a:endParaRPr/>
          </a:p>
          <a:p>
            <a:pPr indent="0" lvl="0" marL="0" rtl="0" algn="l">
              <a:lnSpc>
                <a:spcPct val="115000"/>
              </a:lnSpc>
              <a:spcBef>
                <a:spcPts val="1200"/>
              </a:spcBef>
              <a:spcAft>
                <a:spcPts val="1200"/>
              </a:spcAft>
              <a:buSzPts val="1800"/>
              <a:buNone/>
            </a:pPr>
            <a:r>
              <a:rPr lang="en"/>
              <a:t>● In attempts to become leaner, organizations have eliminated layers of management, resulting in reduced opportunities for communication with employees about frustrating situations.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9"/>
          <p:cNvSpPr txBox="1"/>
          <p:nvPr>
            <p:ph idx="1" type="body"/>
          </p:nvPr>
        </p:nvSpPr>
        <p:spPr>
          <a:xfrm>
            <a:off x="240850" y="250325"/>
            <a:ext cx="8520600" cy="4803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Understanding why certain individuals engage in workplace violence requires consideration of both their personal characteristics and stressful aspects of their work environment. Kinney (1995a, b) noted that stressful factors correlated with workplace violence include being passed over for an expected promotion, financial problems, estranged or strained relationships with co-workers, and a perception of being targeted by management. It is advisable that every organization have policies and plans in place to reduce work stress and workplace violence.</a:t>
            </a:r>
            <a:endParaRPr/>
          </a:p>
          <a:p>
            <a:pPr indent="0" lvl="0" marL="0" rtl="0" algn="l">
              <a:lnSpc>
                <a:spcPct val="115000"/>
              </a:lnSpc>
              <a:spcBef>
                <a:spcPts val="1200"/>
              </a:spcBef>
              <a:spcAft>
                <a:spcPts val="1200"/>
              </a:spcAft>
              <a:buSzPts val="1800"/>
              <a:buNone/>
            </a:pPr>
            <a:r>
              <a:rPr lang="en"/>
              <a:t>Most violent acts in the workplace are far less dramatic. They include such acts as </a:t>
            </a:r>
            <a:r>
              <a:rPr b="1" lang="en"/>
              <a:t>verbal threats, insults, and bullying.</a:t>
            </a:r>
            <a:r>
              <a:rPr lang="en"/>
              <a:t> There is a  three-level description of the most common forms of workplace violence. Kinney (1995a,b) suggested that managerial and supervisory responses such as counseling, discipline, and referral to EAPs are often the most appropriate reactions to level 1 behaviors. More formal responses, often including psychological assessment and law enforcement involvement, might be required for level 2, and certainly for level 3, behaviors.</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pic>
        <p:nvPicPr>
          <p:cNvPr id="359" name="Google Shape;359;p60"/>
          <p:cNvPicPr preferRelativeResize="0"/>
          <p:nvPr/>
        </p:nvPicPr>
        <p:blipFill rotWithShape="1">
          <a:blip r:embed="rId3">
            <a:alphaModFix/>
          </a:blip>
          <a:srcRect b="0" l="0" r="0" t="0"/>
          <a:stretch/>
        </p:blipFill>
        <p:spPr>
          <a:xfrm>
            <a:off x="152400" y="152400"/>
            <a:ext cx="8736550" cy="48387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1"/>
          <p:cNvSpPr txBox="1"/>
          <p:nvPr>
            <p:ph idx="1" type="body"/>
          </p:nvPr>
        </p:nvSpPr>
        <p:spPr>
          <a:xfrm>
            <a:off x="311700" y="222000"/>
            <a:ext cx="8520600" cy="4590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700"/>
              <a:t>Kinney (1995a,b) outlined a common thought process that precedes the commission of a violent act in the workplace. The key steps in the sequence include an “event” in the individual’s life (e.g., a poor performance appraisal), a belief that a “problem” cannot be resolved, and a perceived threat to the individual’s self-esteem or wellbeing.</a:t>
            </a:r>
            <a:endParaRPr sz="1700"/>
          </a:p>
          <a:p>
            <a:pPr indent="0" lvl="0" marL="0" rtl="0" algn="l">
              <a:lnSpc>
                <a:spcPct val="115000"/>
              </a:lnSpc>
              <a:spcBef>
                <a:spcPts val="1200"/>
              </a:spcBef>
              <a:spcAft>
                <a:spcPts val="1200"/>
              </a:spcAft>
              <a:buSzPts val="1800"/>
              <a:buNone/>
            </a:pPr>
            <a:r>
              <a:t/>
            </a:r>
            <a:endParaRPr sz="1700"/>
          </a:p>
        </p:txBody>
      </p:sp>
      <p:pic>
        <p:nvPicPr>
          <p:cNvPr id="365" name="Google Shape;365;p61"/>
          <p:cNvPicPr preferRelativeResize="0"/>
          <p:nvPr/>
        </p:nvPicPr>
        <p:blipFill rotWithShape="1">
          <a:blip r:embed="rId3">
            <a:alphaModFix/>
          </a:blip>
          <a:srcRect b="0" l="0" r="0" t="0"/>
          <a:stretch/>
        </p:blipFill>
        <p:spPr>
          <a:xfrm>
            <a:off x="443950" y="1648975"/>
            <a:ext cx="8062400" cy="3163926"/>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2"/>
          <p:cNvSpPr txBox="1"/>
          <p:nvPr>
            <p:ph idx="1" type="body"/>
          </p:nvPr>
        </p:nvSpPr>
        <p:spPr>
          <a:xfrm>
            <a:off x="311700" y="278675"/>
            <a:ext cx="8520600" cy="4520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b="1" lang="en"/>
              <a:t>Theories of Workplace Violence</a:t>
            </a:r>
            <a:endParaRPr b="1"/>
          </a:p>
          <a:p>
            <a:pPr indent="0" lvl="0" marL="0" rtl="0" algn="l">
              <a:lnSpc>
                <a:spcPct val="115000"/>
              </a:lnSpc>
              <a:spcBef>
                <a:spcPts val="1200"/>
              </a:spcBef>
              <a:spcAft>
                <a:spcPts val="0"/>
              </a:spcAft>
              <a:buSzPts val="1800"/>
              <a:buNone/>
            </a:pPr>
            <a:r>
              <a:rPr lang="en"/>
              <a:t>I-O psychologists commonly examine workplace violence using one of two theoretical approaches. The first is a variation on a traditional approach to all aggressive behavior, regardless of where it occurs. Its premise is that the individual worker has been frustrated—prevented from achieving some important goal or outcome—and this frustration results in aggression directed toward a co-worker or supervisor. The second approach is more specific to work situations and invokes the concept of justice. </a:t>
            </a:r>
            <a:endParaRPr/>
          </a:p>
          <a:p>
            <a:pPr indent="0" lvl="0" marL="0" rtl="0" algn="l">
              <a:lnSpc>
                <a:spcPct val="115000"/>
              </a:lnSpc>
              <a:spcBef>
                <a:spcPts val="1200"/>
              </a:spcBef>
              <a:spcAft>
                <a:spcPts val="0"/>
              </a:spcAft>
              <a:buSzPts val="1800"/>
              <a:buNone/>
            </a:pPr>
            <a:r>
              <a:rPr b="1" lang="en"/>
              <a:t>Frustration–aggression hypothesis</a:t>
            </a:r>
            <a:r>
              <a:rPr lang="en"/>
              <a:t> proposes that frustration leads to aggression; ultimately found to be too broad—aggression is only one possible response to frustration and not everyone responds to frustration with aggression.</a:t>
            </a:r>
            <a:endParaRPr/>
          </a:p>
          <a:p>
            <a:pPr indent="0" lvl="0" marL="0" rtl="0" algn="l">
              <a:lnSpc>
                <a:spcPct val="115000"/>
              </a:lnSpc>
              <a:spcBef>
                <a:spcPts val="1200"/>
              </a:spcBef>
              <a:spcAft>
                <a:spcPts val="1200"/>
              </a:spcAft>
              <a:buSzPts val="1800"/>
              <a:buNone/>
            </a:pPr>
            <a:r>
              <a:rPr b="1" lang="en"/>
              <a:t>Justice hypothesis of workplace violence</a:t>
            </a:r>
            <a:r>
              <a:rPr lang="en"/>
              <a:t> hypothesis that some violent acts can be understood as reactions by an employee to perceived injustice.</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pic>
        <p:nvPicPr>
          <p:cNvPr id="375" name="Google Shape;375;p63"/>
          <p:cNvPicPr preferRelativeResize="0"/>
          <p:nvPr/>
        </p:nvPicPr>
        <p:blipFill rotWithShape="1">
          <a:blip r:embed="rId3">
            <a:alphaModFix/>
          </a:blip>
          <a:srcRect b="0" l="0" r="0" t="0"/>
          <a:stretch/>
        </p:blipFill>
        <p:spPr>
          <a:xfrm>
            <a:off x="152400" y="152400"/>
            <a:ext cx="8609026" cy="48387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4"/>
          <p:cNvSpPr txBox="1"/>
          <p:nvPr>
            <p:ph idx="1" type="body"/>
          </p:nvPr>
        </p:nvSpPr>
        <p:spPr>
          <a:xfrm>
            <a:off x="311700" y="335350"/>
            <a:ext cx="8520600" cy="44493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108108"/>
              <a:buNone/>
            </a:pPr>
            <a:r>
              <a:rPr b="1" lang="en"/>
              <a:t>Fairness and diversity at workplace</a:t>
            </a:r>
            <a:endParaRPr b="1"/>
          </a:p>
          <a:p>
            <a:pPr indent="0" lvl="0" marL="0" rtl="0" algn="l">
              <a:lnSpc>
                <a:spcPct val="115000"/>
              </a:lnSpc>
              <a:spcBef>
                <a:spcPts val="1200"/>
              </a:spcBef>
              <a:spcAft>
                <a:spcPts val="0"/>
              </a:spcAft>
              <a:buSzPct val="108108"/>
              <a:buNone/>
            </a:pPr>
            <a:r>
              <a:rPr lang="en"/>
              <a:t>The terms “justice,” “fairness,” and “trust” are often used interchangeably, and although they are closely related, they are still worth differentiating from one another. Justice and fairness are used to characterize an event or an exchange relationship. A worker will describe a pay increase as unfair, a company policy as unjust, or a supervisor as a fair person. </a:t>
            </a:r>
            <a:r>
              <a:rPr b="1" lang="en"/>
              <a:t>Trust,</a:t>
            </a:r>
            <a:r>
              <a:rPr lang="en"/>
              <a:t> on the other hand, is more an expectation than a reality. It is a belief about how a person or an organization will act on some future occasion based upon previous interactions with that person or organization (Ferrin, Dirks, &amp; Shah, 2006). </a:t>
            </a:r>
            <a:endParaRPr/>
          </a:p>
          <a:p>
            <a:pPr indent="0" lvl="0" marL="0" rtl="0" algn="l">
              <a:lnSpc>
                <a:spcPct val="115000"/>
              </a:lnSpc>
              <a:spcBef>
                <a:spcPts val="1200"/>
              </a:spcBef>
              <a:spcAft>
                <a:spcPts val="0"/>
              </a:spcAft>
              <a:buSzPct val="108108"/>
              <a:buNone/>
            </a:pPr>
            <a:r>
              <a:rPr b="1" lang="en"/>
              <a:t>Organizational justice</a:t>
            </a:r>
            <a:r>
              <a:rPr lang="en"/>
              <a:t> is a type of justice that is composed of organizational procedures, outcomes, and interpersonal interactions.</a:t>
            </a:r>
            <a:endParaRPr/>
          </a:p>
          <a:p>
            <a:pPr indent="0" lvl="0" marL="0" rtl="0" algn="l">
              <a:lnSpc>
                <a:spcPct val="115000"/>
              </a:lnSpc>
              <a:spcBef>
                <a:spcPts val="1200"/>
              </a:spcBef>
              <a:spcAft>
                <a:spcPts val="1200"/>
              </a:spcAft>
              <a:buSzPct val="108108"/>
              <a:buNone/>
            </a:pPr>
            <a:r>
              <a:rPr lang="en"/>
              <a:t>A handbook devoted to the topic of organizational justice (Greenberg &amp; Colquitt, 2005) covers both theory and research related to various types of organizational justice. Four types of justice have been suggested: </a:t>
            </a:r>
            <a:r>
              <a:rPr b="1" lang="en"/>
              <a:t>distributive, procedural, interactional, and deontic</a:t>
            </a:r>
            <a:r>
              <a:rPr lang="en"/>
              <a:t>.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65"/>
          <p:cNvSpPr txBox="1"/>
          <p:nvPr>
            <p:ph idx="1" type="body"/>
          </p:nvPr>
        </p:nvSpPr>
        <p:spPr>
          <a:xfrm>
            <a:off x="311700" y="108625"/>
            <a:ext cx="8520600" cy="486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1650"/>
              <a:t>Distributive justice </a:t>
            </a:r>
            <a:r>
              <a:rPr lang="en" sz="1650"/>
              <a:t>concerns the perceived fairness of the allocation of outcomes or rewards to organizational members. There are many different definitions of what is “fair” in the distribution of rewards. One definition is based on </a:t>
            </a:r>
            <a:r>
              <a:rPr b="1" lang="en" sz="1650"/>
              <a:t>merit.</a:t>
            </a:r>
            <a:r>
              <a:rPr lang="en" sz="1650"/>
              <a:t> The people who work hardest or produce the most should get the greatest rewards. This is called the merit or </a:t>
            </a:r>
            <a:r>
              <a:rPr b="1" lang="en" sz="1650"/>
              <a:t>equity norm</a:t>
            </a:r>
            <a:r>
              <a:rPr lang="en" sz="1650"/>
              <a:t>. Another definition is based on the notion of equality: Every member gets the same share of rewards, regardless of effort. Finally, the definition of fairness can be based on the </a:t>
            </a:r>
            <a:r>
              <a:rPr b="1" lang="en" sz="1650"/>
              <a:t>need norm</a:t>
            </a:r>
            <a:r>
              <a:rPr lang="en" sz="1650"/>
              <a:t>: People receive rewards in proportion to their needs (Gilliland &amp; Chan, 2001).</a:t>
            </a:r>
            <a:endParaRPr sz="1650"/>
          </a:p>
          <a:p>
            <a:pPr indent="0" lvl="0" marL="0" rtl="0" algn="l">
              <a:lnSpc>
                <a:spcPct val="115000"/>
              </a:lnSpc>
              <a:spcBef>
                <a:spcPts val="1200"/>
              </a:spcBef>
              <a:spcAft>
                <a:spcPts val="1200"/>
              </a:spcAft>
              <a:buSzPts val="1800"/>
              <a:buNone/>
            </a:pPr>
            <a:r>
              <a:rPr lang="en" sz="1650"/>
              <a:t>Distributive justice is about outcomes—who gets what. </a:t>
            </a:r>
            <a:r>
              <a:rPr b="1" lang="en" sz="1650"/>
              <a:t>Procedural justice</a:t>
            </a:r>
            <a:r>
              <a:rPr lang="en" sz="1650"/>
              <a:t> is about the process (or procedure) by which rewards are distributed. An important aspect of fair treatment is the ability to register objections. In labor–management contracts, this is covered by the concept of the grievance, or the right of an individual worker or group of workers to challenge an unfavorable action taken by the organization. In I-O psychology, this ability to challenge a process or outcome has been labeled voice (Folger &amp; Cropanzano, 1998). The concept of voice means that the individual has the possibility of influencing a process or outcome.</a:t>
            </a:r>
            <a:endParaRPr sz="165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66"/>
          <p:cNvSpPr txBox="1"/>
          <p:nvPr>
            <p:ph idx="1" type="body"/>
          </p:nvPr>
        </p:nvSpPr>
        <p:spPr>
          <a:xfrm>
            <a:off x="311700" y="122800"/>
            <a:ext cx="8520600" cy="5020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600"/>
              <a:t>A third type of organizational justice is </a:t>
            </a:r>
            <a:r>
              <a:rPr b="1" lang="en" sz="1600"/>
              <a:t>interactional justice</a:t>
            </a:r>
            <a:r>
              <a:rPr lang="en" sz="1600"/>
              <a:t>, the sensitivity with which employees are treated (Bies &amp; Moag, 1986). This concept deals with the extent to which an employee feels respected by the employer.</a:t>
            </a:r>
            <a:endParaRPr sz="1600"/>
          </a:p>
          <a:p>
            <a:pPr indent="0" lvl="0" marL="0" rtl="0" algn="l">
              <a:lnSpc>
                <a:spcPct val="115000"/>
              </a:lnSpc>
              <a:spcBef>
                <a:spcPts val="1200"/>
              </a:spcBef>
              <a:spcAft>
                <a:spcPts val="0"/>
              </a:spcAft>
              <a:buSzPts val="1800"/>
              <a:buNone/>
            </a:pPr>
            <a:r>
              <a:rPr lang="en" sz="1600"/>
              <a:t>Cropanzano, Goldman, and Folger (2003; Folger, Cropanzano, &amp; Goldman, 2005) have proposed an additional form of justice: </a:t>
            </a:r>
            <a:r>
              <a:rPr b="1" lang="en" sz="1600"/>
              <a:t>deontic justice</a:t>
            </a:r>
            <a:r>
              <a:rPr lang="en" sz="1600"/>
              <a:t>. The term “deontic” comes from philosophy and refers to moral responsibility or following moral rules.</a:t>
            </a:r>
            <a:endParaRPr sz="1600"/>
          </a:p>
          <a:p>
            <a:pPr indent="0" lvl="0" marL="0" rtl="0" algn="l">
              <a:lnSpc>
                <a:spcPct val="115000"/>
              </a:lnSpc>
              <a:spcBef>
                <a:spcPts val="1200"/>
              </a:spcBef>
              <a:spcAft>
                <a:spcPts val="1200"/>
              </a:spcAft>
              <a:buSzPts val="1800"/>
              <a:buNone/>
            </a:pPr>
            <a:r>
              <a:rPr lang="en" sz="1600"/>
              <a:t>Gilliland, Benson, and Schepers (1998) proposed that injustice has a much greater impact than justice on subsequent attitudes, emotions, and behavior.</a:t>
            </a:r>
            <a:endParaRPr sz="1300"/>
          </a:p>
        </p:txBody>
      </p:sp>
      <p:pic>
        <p:nvPicPr>
          <p:cNvPr id="391" name="Google Shape;391;p66"/>
          <p:cNvPicPr preferRelativeResize="0"/>
          <p:nvPr/>
        </p:nvPicPr>
        <p:blipFill rotWithShape="1">
          <a:blip r:embed="rId3">
            <a:alphaModFix/>
          </a:blip>
          <a:srcRect b="0" l="0" r="0" t="0"/>
          <a:stretch/>
        </p:blipFill>
        <p:spPr>
          <a:xfrm>
            <a:off x="1501925" y="2791950"/>
            <a:ext cx="6338474" cy="220152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7"/>
          <p:cNvSpPr txBox="1"/>
          <p:nvPr>
            <p:ph idx="1" type="body"/>
          </p:nvPr>
        </p:nvSpPr>
        <p:spPr>
          <a:xfrm>
            <a:off x="311700" y="278675"/>
            <a:ext cx="8520600" cy="4675800"/>
          </a:xfrm>
          <a:prstGeom prst="rect">
            <a:avLst/>
          </a:prstGeom>
          <a:noFill/>
          <a:ln>
            <a:noFill/>
          </a:ln>
        </p:spPr>
        <p:txBody>
          <a:bodyPr anchorCtr="0" anchor="t" bIns="91425" lIns="91425" spcFirstLastPara="1" rIns="91425" wrap="square" tIns="91425">
            <a:normAutofit lnSpcReduction="20000"/>
          </a:bodyPr>
          <a:lstStyle/>
          <a:p>
            <a:pPr indent="0" lvl="0" marL="0" rtl="0" algn="just">
              <a:lnSpc>
                <a:spcPct val="115000"/>
              </a:lnSpc>
              <a:spcBef>
                <a:spcPts val="1200"/>
              </a:spcBef>
              <a:spcAft>
                <a:spcPts val="0"/>
              </a:spcAft>
              <a:buSzPts val="1800"/>
              <a:buNone/>
            </a:pPr>
            <a:r>
              <a:rPr b="1" lang="en"/>
              <a:t>Leadership</a:t>
            </a:r>
            <a:r>
              <a:rPr lang="en"/>
              <a:t> </a:t>
            </a:r>
            <a:endParaRPr/>
          </a:p>
          <a:p>
            <a:pPr indent="0" lvl="0" marL="0" rtl="0" algn="just">
              <a:lnSpc>
                <a:spcPct val="115000"/>
              </a:lnSpc>
              <a:spcBef>
                <a:spcPts val="1200"/>
              </a:spcBef>
              <a:spcAft>
                <a:spcPts val="0"/>
              </a:spcAft>
              <a:buSzPts val="1800"/>
              <a:buNone/>
            </a:pPr>
            <a:r>
              <a:rPr lang="en"/>
              <a:t>Virtually every employee in the 21st century will be called upon to display leadership behaviors at some point in time. We might think of this as </a:t>
            </a:r>
            <a:r>
              <a:rPr b="1" lang="en"/>
              <a:t>“episodic” leadership</a:t>
            </a:r>
            <a:r>
              <a:rPr lang="en"/>
              <a:t>—episodes of work life that require leadership behaviors. As an experienced department member, you might be called upon to fill in for a supervisor who is on vacation, or to lead a project team that has been formed for the purpose of dealing with a specific production problem, or even just to represent your peers in an informal discussion with your manager.</a:t>
            </a:r>
            <a:endParaRPr/>
          </a:p>
          <a:p>
            <a:pPr indent="0" lvl="0" marL="0" rtl="0" algn="just">
              <a:lnSpc>
                <a:spcPct val="115000"/>
              </a:lnSpc>
              <a:spcBef>
                <a:spcPts val="1200"/>
              </a:spcBef>
              <a:spcAft>
                <a:spcPts val="0"/>
              </a:spcAft>
              <a:buSzPts val="1800"/>
              <a:buNone/>
            </a:pPr>
            <a:r>
              <a:rPr lang="en"/>
              <a:t>It is important to distinguish between the concepts of leader emergence and leadership effectiveness. </a:t>
            </a:r>
            <a:r>
              <a:rPr b="1" lang="en"/>
              <a:t>Leader emergence</a:t>
            </a:r>
            <a:r>
              <a:rPr lang="en"/>
              <a:t> is the study of the characteristics of individuals who become leaders, examining the basis on which they were elected, appointed, or simply accepted.</a:t>
            </a:r>
            <a:endParaRPr/>
          </a:p>
          <a:p>
            <a:pPr indent="0" lvl="0" marL="0" rtl="0" algn="just">
              <a:lnSpc>
                <a:spcPct val="115000"/>
              </a:lnSpc>
              <a:spcBef>
                <a:spcPts val="1200"/>
              </a:spcBef>
              <a:spcAft>
                <a:spcPts val="0"/>
              </a:spcAft>
              <a:buClr>
                <a:schemeClr val="dk1"/>
              </a:buClr>
              <a:buSzPts val="1100"/>
              <a:buFont typeface="Arial"/>
              <a:buNone/>
            </a:pPr>
            <a:r>
              <a:rPr b="1" lang="en"/>
              <a:t>Leadership effectiveness</a:t>
            </a:r>
            <a:r>
              <a:rPr lang="en"/>
              <a:t> is the study of which behaviors on the part of a designated leader (regardless of how that position was achieved) led to an outcome valued by the work group or organization.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68"/>
          <p:cNvSpPr txBox="1"/>
          <p:nvPr>
            <p:ph idx="1" type="body"/>
          </p:nvPr>
        </p:nvSpPr>
        <p:spPr>
          <a:xfrm>
            <a:off x="311700" y="269250"/>
            <a:ext cx="8520600" cy="4605000"/>
          </a:xfrm>
          <a:prstGeom prst="rect">
            <a:avLst/>
          </a:prstGeom>
          <a:noFill/>
          <a:ln>
            <a:noFill/>
          </a:ln>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1800"/>
              <a:buNone/>
            </a:pPr>
            <a:r>
              <a:rPr lang="en"/>
              <a:t>we have taken a very positive view of leadership, assuming that a leader is trying to achieve positive outcomes using knowledge, skills, and abilities for the good of  the organization. We often assume the leader seeks to do “good work.” But it is clear that some leaders are not interested in doing good work—or at least not doing work in a good way. These leaders are called destructive leaders, and they are beginning to receive more attention from researchers. </a:t>
            </a:r>
            <a:endParaRPr/>
          </a:p>
          <a:p>
            <a:pPr indent="0" lvl="0" marL="0" rtl="0" algn="l">
              <a:lnSpc>
                <a:spcPct val="95000"/>
              </a:lnSpc>
              <a:spcBef>
                <a:spcPts val="1200"/>
              </a:spcBef>
              <a:spcAft>
                <a:spcPts val="1200"/>
              </a:spcAft>
              <a:buSzPts val="1800"/>
              <a:buNone/>
            </a:pPr>
            <a:r>
              <a:rPr lang="en"/>
              <a:t>Einarsen, Aasland, and Skogstad (2007) define </a:t>
            </a:r>
            <a:r>
              <a:rPr b="1" lang="en"/>
              <a:t>destructive leadership behavior</a:t>
            </a:r>
            <a:r>
              <a:rPr lang="en"/>
              <a:t> as “the systematic and repeated behavior by a leader, supervisor, or manager that violates legitimate interest of the organization by undermining and/or sabotaging the organization’s goals, tasks, resources, and effectiveness and/or the motivation, well-being, or job satisfaction of his/her subordinates” (p. 207). Every organization seems to have one: the manager who verbally abuses subordinates in private with threats and shouts, who has a personal agenda of self-promotion that is different from the stated goals of the group or organization, who drives people out of the department or unit, or who seems immune to any attempt to change his or her style.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id="406" name="Google Shape;406;p69"/>
          <p:cNvPicPr preferRelativeResize="0"/>
          <p:nvPr/>
        </p:nvPicPr>
        <p:blipFill rotWithShape="1">
          <a:blip r:embed="rId3">
            <a:alphaModFix/>
          </a:blip>
          <a:srcRect b="0" l="0" r="0" t="0"/>
          <a:stretch/>
        </p:blipFill>
        <p:spPr>
          <a:xfrm>
            <a:off x="152400" y="152400"/>
            <a:ext cx="8920750" cy="48387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70"/>
          <p:cNvSpPr txBox="1"/>
          <p:nvPr>
            <p:ph idx="1" type="body"/>
          </p:nvPr>
        </p:nvSpPr>
        <p:spPr>
          <a:xfrm>
            <a:off x="311700" y="136975"/>
            <a:ext cx="8520600" cy="47325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Clr>
                <a:schemeClr val="dk1"/>
              </a:buClr>
              <a:buSzPct val="61110"/>
              <a:buFont typeface="Arial"/>
              <a:buNone/>
            </a:pPr>
            <a:r>
              <a:rPr lang="en"/>
              <a:t>Einarsen and colleagues (2007) describe the following three types of destructive leaders.</a:t>
            </a:r>
            <a:endParaRPr/>
          </a:p>
          <a:p>
            <a:pPr indent="0" lvl="0" marL="0" rtl="0" algn="l">
              <a:lnSpc>
                <a:spcPct val="115000"/>
              </a:lnSpc>
              <a:spcBef>
                <a:spcPts val="1200"/>
              </a:spcBef>
              <a:spcAft>
                <a:spcPts val="0"/>
              </a:spcAft>
              <a:buSzPct val="108108"/>
              <a:buNone/>
            </a:pPr>
            <a:r>
              <a:rPr b="1" lang="en"/>
              <a:t>Tyrannical - </a:t>
            </a:r>
            <a:r>
              <a:rPr lang="en"/>
              <a:t>The tyrannical leader may accept the goals of the organization but seeks to achieve those goals through actively manipulating and humiliating subordinates. The fact that the tyrannical leader often does accomplish organization goals may result in very different evaluations of his or her effectiveness. Upper management views the leader favorably, while subordinates see only a bully.</a:t>
            </a:r>
            <a:endParaRPr/>
          </a:p>
          <a:p>
            <a:pPr indent="0" lvl="0" marL="0" rtl="0" algn="l">
              <a:lnSpc>
                <a:spcPct val="115000"/>
              </a:lnSpc>
              <a:spcBef>
                <a:spcPts val="1200"/>
              </a:spcBef>
              <a:spcAft>
                <a:spcPts val="0"/>
              </a:spcAft>
              <a:buSzPct val="108108"/>
              <a:buNone/>
            </a:pPr>
            <a:r>
              <a:rPr b="1" lang="en"/>
              <a:t>Derailed</a:t>
            </a:r>
            <a:r>
              <a:rPr lang="en"/>
              <a:t> - Like the tyrannical leader, the derailed leader behaves abusively—but he or she also engages in anti-organizational behaviors such as laziness, fraud, and theft. Derailed leaders are often characterized as leaders who have hit a substantial pothole on their road to success.</a:t>
            </a:r>
            <a:endParaRPr/>
          </a:p>
          <a:p>
            <a:pPr indent="0" lvl="0" marL="0" rtl="0" algn="l">
              <a:lnSpc>
                <a:spcPct val="115000"/>
              </a:lnSpc>
              <a:spcBef>
                <a:spcPts val="1200"/>
              </a:spcBef>
              <a:spcAft>
                <a:spcPts val="1200"/>
              </a:spcAft>
              <a:buSzPct val="108108"/>
              <a:buNone/>
            </a:pPr>
            <a:r>
              <a:rPr b="1" lang="en"/>
              <a:t>Supportive-Disloyal</a:t>
            </a:r>
            <a:r>
              <a:rPr lang="en"/>
              <a:t> - Unlike the first two types of destructive leaders, the supportive-disloyal leader actually shows consideration for subordinates but violates the goals of the organization by undermining goal accomplishment. This undermining may result from stealing resources from the organization, granting subordinates excessive benefits, or encouraging loafing or misconduct by subordinates.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71"/>
          <p:cNvSpPr txBox="1"/>
          <p:nvPr>
            <p:ph idx="1" type="body"/>
          </p:nvPr>
        </p:nvSpPr>
        <p:spPr>
          <a:xfrm>
            <a:off x="439225" y="134550"/>
            <a:ext cx="8520600" cy="48744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b="1" lang="en"/>
              <a:t>Leader</a:t>
            </a:r>
            <a:r>
              <a:rPr lang="en"/>
              <a:t> is the individual in a group given the task of directing task-relevant group activities or, in the absence of a designated leader, carrying the primary responsibility for performing these functions in the group. With such a neutral definition, “leader” could be replaced with the words “director,” “manager,” “supervisor,” or even “coordinator.” A leader is someone who influences, or attempts to influence, other people. The behaviors involved in exerting this influence can be called leadership, and those who exert such influence can be called leaders. But attempts at leadership are not always successful. Bass (1960) made the following distinctions: </a:t>
            </a:r>
            <a:endParaRPr/>
          </a:p>
          <a:p>
            <a:pPr indent="0" lvl="0" marL="0" rtl="0" algn="l">
              <a:lnSpc>
                <a:spcPct val="115000"/>
              </a:lnSpc>
              <a:spcBef>
                <a:spcPts val="1200"/>
              </a:spcBef>
              <a:spcAft>
                <a:spcPts val="0"/>
              </a:spcAft>
              <a:buSzPts val="1800"/>
              <a:buNone/>
            </a:pPr>
            <a:r>
              <a:rPr lang="en"/>
              <a:t>● Attempted leadership. Person A accepts the goal of changing person B and can be observed attempting to do so.  </a:t>
            </a:r>
            <a:endParaRPr/>
          </a:p>
          <a:p>
            <a:pPr indent="0" lvl="0" marL="0" rtl="0" algn="l">
              <a:lnSpc>
                <a:spcPct val="115000"/>
              </a:lnSpc>
              <a:spcBef>
                <a:spcPts val="1200"/>
              </a:spcBef>
              <a:spcAft>
                <a:spcPts val="0"/>
              </a:spcAft>
              <a:buClr>
                <a:schemeClr val="dk1"/>
              </a:buClr>
              <a:buSzPts val="1100"/>
              <a:buFont typeface="Arial"/>
              <a:buNone/>
            </a:pPr>
            <a:r>
              <a:rPr lang="en"/>
              <a:t>● Successful leadership. Person B changes his or her behavior as a function of person A’s effort. </a:t>
            </a:r>
            <a:endParaRPr/>
          </a:p>
          <a:p>
            <a:pPr indent="0" lvl="0" marL="0" rtl="0" algn="l">
              <a:lnSpc>
                <a:spcPct val="115000"/>
              </a:lnSpc>
              <a:spcBef>
                <a:spcPts val="1200"/>
              </a:spcBef>
              <a:spcAft>
                <a:spcPts val="1200"/>
              </a:spcAft>
              <a:buSzPts val="1800"/>
              <a:buNone/>
            </a:pPr>
            <a:r>
              <a:rPr lang="en"/>
              <a:t>● Effective leadership. As a function of person B’s behavioral change resulting from person A’s efforts, person B will be more satisfied, will be better rewarded, and will have attained a goal of mutual importance to person A and person B.</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pic>
        <p:nvPicPr>
          <p:cNvPr id="421" name="Google Shape;421;p72"/>
          <p:cNvPicPr preferRelativeResize="0"/>
          <p:nvPr/>
        </p:nvPicPr>
        <p:blipFill rotWithShape="1">
          <a:blip r:embed="rId3">
            <a:alphaModFix/>
          </a:blip>
          <a:srcRect b="0" l="0" r="0" t="0"/>
          <a:stretch/>
        </p:blipFill>
        <p:spPr>
          <a:xfrm>
            <a:off x="940250" y="184200"/>
            <a:ext cx="7835350" cy="4685351"/>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73"/>
          <p:cNvSpPr txBox="1"/>
          <p:nvPr>
            <p:ph idx="1" type="body"/>
          </p:nvPr>
        </p:nvSpPr>
        <p:spPr>
          <a:xfrm>
            <a:off x="311700" y="250325"/>
            <a:ext cx="8520600" cy="4619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a:t>Leader development</a:t>
            </a:r>
            <a:r>
              <a:rPr lang="en"/>
              <a:t> is a  process that concentrates on developing, maintaining, or enhancing individual leader attributes such as knowledge, skills, and abilities and </a:t>
            </a:r>
            <a:r>
              <a:rPr b="1" lang="en"/>
              <a:t>leadership development</a:t>
            </a:r>
            <a:r>
              <a:rPr lang="en"/>
              <a:t> is a process that concentrates on the leader–follower relationship and on developing an environment in which the leader can build relationships that enhance cooperation and resource exchange.</a:t>
            </a:r>
            <a:endParaRPr/>
          </a:p>
          <a:p>
            <a:pPr indent="0" lvl="0" marL="0" rtl="0" algn="l">
              <a:lnSpc>
                <a:spcPct val="115000"/>
              </a:lnSpc>
              <a:spcBef>
                <a:spcPts val="1200"/>
              </a:spcBef>
              <a:spcAft>
                <a:spcPts val="0"/>
              </a:spcAft>
              <a:buSzPts val="1800"/>
              <a:buNone/>
            </a:pPr>
            <a:r>
              <a:rPr lang="en"/>
              <a:t>The single most important “ability” for creating leadership opportunities is the </a:t>
            </a:r>
            <a:r>
              <a:rPr b="1" lang="en"/>
              <a:t>interpersonal competence </a:t>
            </a:r>
            <a:r>
              <a:rPr lang="en"/>
              <a:t>of the person designated as the leader which is a type of competence that includes social awareness and social skills, such as the ability to resolve conflict and foster a spirit of cooperation.</a:t>
            </a:r>
            <a:endParaRPr/>
          </a:p>
          <a:p>
            <a:pPr indent="0" lvl="0" marL="0" rtl="0" algn="l">
              <a:lnSpc>
                <a:spcPct val="115000"/>
              </a:lnSpc>
              <a:spcBef>
                <a:spcPts val="1200"/>
              </a:spcBef>
              <a:spcAft>
                <a:spcPts val="1200"/>
              </a:spcAft>
              <a:buSzPts val="1800"/>
              <a:buNone/>
            </a:pPr>
            <a:r>
              <a:rPr lang="en"/>
              <a:t>According to McClelland (1985), people learn that the exercise of power, or control, over others or the environment is pleasing: the power motive. </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pic>
        <p:nvPicPr>
          <p:cNvPr id="431" name="Google Shape;431;p74"/>
          <p:cNvPicPr preferRelativeResize="0"/>
          <p:nvPr/>
        </p:nvPicPr>
        <p:blipFill rotWithShape="1">
          <a:blip r:embed="rId3">
            <a:alphaModFix/>
          </a:blip>
          <a:srcRect b="0" l="0" r="0" t="0"/>
          <a:stretch/>
        </p:blipFill>
        <p:spPr>
          <a:xfrm>
            <a:off x="152400" y="152400"/>
            <a:ext cx="8529100" cy="48387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75"/>
          <p:cNvSpPr txBox="1"/>
          <p:nvPr>
            <p:ph idx="1" type="body"/>
          </p:nvPr>
        </p:nvSpPr>
        <p:spPr>
          <a:xfrm>
            <a:off x="311700" y="207825"/>
            <a:ext cx="8520600" cy="4633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High activity inhibition is the psychological term used to describe a person who is not impulsive. A low affiliation need means that a person does not have a great desire for approval or connections with others. According to House and Singh (1987), a low affiliation need permits an individual “to remain socially distant from subordinates and therefore to be more objective with respect to resource allocation, delegation, and discipline”.</a:t>
            </a:r>
            <a:endParaRPr/>
          </a:p>
          <a:p>
            <a:pPr indent="0" lvl="0" marL="0" rtl="0" algn="l">
              <a:lnSpc>
                <a:spcPct val="115000"/>
              </a:lnSpc>
              <a:spcBef>
                <a:spcPts val="1200"/>
              </a:spcBef>
              <a:spcAft>
                <a:spcPts val="1200"/>
              </a:spcAft>
              <a:buSzPts val="1800"/>
              <a:buNone/>
            </a:pPr>
            <a:r>
              <a:rPr lang="en"/>
              <a:t>People who aspire to positions of leadership have a high power motive coupled with high activity inhibition and low affiliation needs. Additional research suggests a combination of personality characteristics, beliefs about leadership capability, and past leadership experiences as motives for leadership.</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76"/>
          <p:cNvSpPr txBox="1"/>
          <p:nvPr>
            <p:ph idx="1" type="body"/>
          </p:nvPr>
        </p:nvSpPr>
        <p:spPr>
          <a:xfrm>
            <a:off x="226675" y="262200"/>
            <a:ext cx="8520600" cy="4619100"/>
          </a:xfrm>
          <a:prstGeom prst="rect">
            <a:avLst/>
          </a:prstGeom>
          <a:noFill/>
          <a:ln>
            <a:noFill/>
          </a:ln>
        </p:spPr>
        <p:txBody>
          <a:bodyPr anchorCtr="0" anchor="t" bIns="91425" lIns="91425" spcFirstLastPara="1" rIns="91425" wrap="square" tIns="91425">
            <a:normAutofit lnSpcReduction="20000"/>
          </a:bodyPr>
          <a:lstStyle/>
          <a:p>
            <a:pPr indent="0" lvl="0" marL="0" rtl="0" algn="just">
              <a:lnSpc>
                <a:spcPct val="115000"/>
              </a:lnSpc>
              <a:spcBef>
                <a:spcPts val="1200"/>
              </a:spcBef>
              <a:spcAft>
                <a:spcPts val="0"/>
              </a:spcAft>
              <a:buClr>
                <a:schemeClr val="dk1"/>
              </a:buClr>
              <a:buSzPts val="1100"/>
              <a:buFont typeface="Arial"/>
              <a:buNone/>
            </a:pPr>
            <a:r>
              <a:rPr b="1" lang="en"/>
              <a:t>Traditional theories of leadership</a:t>
            </a:r>
            <a:endParaRPr b="1"/>
          </a:p>
          <a:p>
            <a:pPr indent="0" lvl="0" marL="0" rtl="0" algn="just">
              <a:lnSpc>
                <a:spcPct val="115000"/>
              </a:lnSpc>
              <a:spcBef>
                <a:spcPts val="1200"/>
              </a:spcBef>
              <a:spcAft>
                <a:spcPts val="0"/>
              </a:spcAft>
              <a:buClr>
                <a:schemeClr val="dk1"/>
              </a:buClr>
              <a:buSzPts val="1100"/>
              <a:buFont typeface="Arial"/>
              <a:buNone/>
            </a:pPr>
            <a:r>
              <a:rPr lang="en"/>
              <a:t>Most of the leadership theories are </a:t>
            </a:r>
            <a:r>
              <a:rPr b="1" lang="en"/>
              <a:t>“Great man” theories</a:t>
            </a:r>
            <a:r>
              <a:rPr lang="en"/>
              <a:t>, leadership theories developed by historians who examined the life of a respected leader for clues leading to that person’s greatness; Two kinds of sources of leader greatness are popular: (1) a galvanizing experience, such as overcoming a near-fatal illness, or (2) an admirable trait, such as persistence, optimism, or intelligence, that the leader possesses to a singular degree.</a:t>
            </a:r>
            <a:endParaRPr/>
          </a:p>
          <a:p>
            <a:pPr indent="0" lvl="0" marL="0" rtl="0" algn="just">
              <a:lnSpc>
                <a:spcPct val="115000"/>
              </a:lnSpc>
              <a:spcBef>
                <a:spcPts val="1200"/>
              </a:spcBef>
              <a:spcAft>
                <a:spcPts val="0"/>
              </a:spcAft>
              <a:buClr>
                <a:schemeClr val="dk1"/>
              </a:buClr>
              <a:buSzPts val="1100"/>
              <a:buFont typeface="Arial"/>
              <a:buNone/>
            </a:pPr>
            <a:r>
              <a:rPr b="1" lang="en"/>
              <a:t>Trait approach </a:t>
            </a:r>
            <a:endParaRPr b="1"/>
          </a:p>
          <a:p>
            <a:pPr indent="0" lvl="0" marL="0" rtl="0" algn="just">
              <a:lnSpc>
                <a:spcPct val="115000"/>
              </a:lnSpc>
              <a:spcBef>
                <a:spcPts val="1200"/>
              </a:spcBef>
              <a:spcAft>
                <a:spcPts val="0"/>
              </a:spcAft>
              <a:buClr>
                <a:schemeClr val="dk1"/>
              </a:buClr>
              <a:buSzPts val="1100"/>
              <a:buFont typeface="Arial"/>
              <a:buNone/>
            </a:pPr>
            <a:r>
              <a:rPr lang="en"/>
              <a:t>Leadership theory that attempted to show that leaders possessed certain characteristics that nonleaders did not. It was, in simple terms, an attempt to show that leaders possess certain characteristics that nonleaders do not. The trait approach proved to be a dead end. No consistent relationships were found between traits and leadership effectiveness, in part because there was little agreement about what these traits even meant.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pic>
        <p:nvPicPr>
          <p:cNvPr id="446" name="Google Shape;446;p77"/>
          <p:cNvPicPr preferRelativeResize="0"/>
          <p:nvPr/>
        </p:nvPicPr>
        <p:blipFill rotWithShape="1">
          <a:blip r:embed="rId3">
            <a:alphaModFix/>
          </a:blip>
          <a:srcRect b="0" l="0" r="0" t="0"/>
          <a:stretch/>
        </p:blipFill>
        <p:spPr>
          <a:xfrm>
            <a:off x="747525" y="152400"/>
            <a:ext cx="7702175" cy="48387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78"/>
          <p:cNvSpPr txBox="1"/>
          <p:nvPr>
            <p:ph idx="1" type="body"/>
          </p:nvPr>
        </p:nvSpPr>
        <p:spPr>
          <a:xfrm>
            <a:off x="311700" y="165300"/>
            <a:ext cx="8520600" cy="47325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8"/>
              <a:buNone/>
            </a:pPr>
            <a:r>
              <a:rPr b="1" lang="en"/>
              <a:t>The Power Approach to Leadership</a:t>
            </a:r>
            <a:endParaRPr b="1"/>
          </a:p>
          <a:p>
            <a:pPr indent="0" lvl="0" marL="0" rtl="0" algn="l">
              <a:lnSpc>
                <a:spcPct val="115000"/>
              </a:lnSpc>
              <a:spcBef>
                <a:spcPts val="1200"/>
              </a:spcBef>
              <a:spcAft>
                <a:spcPts val="0"/>
              </a:spcAft>
              <a:buSzPct val="108108"/>
              <a:buNone/>
            </a:pPr>
            <a:r>
              <a:rPr lang="en"/>
              <a:t>One of the most obvious characteristics of managers is that they have power that subordinates do not have. An organization gives a manager the power to make decisions about people, expenses, methods of production, and so forth. The higher the manager is in the organization, the more power, or authority, he or she tends to have. This is the power approach to leadership that examines the types of power wielded by leaders. French and Raven (1959) suggested at least five different types of power, including the following:</a:t>
            </a:r>
            <a:endParaRPr/>
          </a:p>
          <a:p>
            <a:pPr indent="0" lvl="0" marL="0" rtl="0" algn="l">
              <a:lnSpc>
                <a:spcPct val="115000"/>
              </a:lnSpc>
              <a:spcBef>
                <a:spcPts val="1200"/>
              </a:spcBef>
              <a:spcAft>
                <a:spcPts val="0"/>
              </a:spcAft>
              <a:buSzPct val="108108"/>
              <a:buNone/>
            </a:pPr>
            <a:r>
              <a:rPr lang="en"/>
              <a:t>● Reward power. The potential of a supervisor to dispense valued rewards</a:t>
            </a:r>
            <a:endParaRPr/>
          </a:p>
          <a:p>
            <a:pPr indent="0" lvl="0" marL="0" rtl="0" algn="l">
              <a:lnSpc>
                <a:spcPct val="115000"/>
              </a:lnSpc>
              <a:spcBef>
                <a:spcPts val="1200"/>
              </a:spcBef>
              <a:spcAft>
                <a:spcPts val="0"/>
              </a:spcAft>
              <a:buSzPct val="108108"/>
              <a:buNone/>
            </a:pPr>
            <a:r>
              <a:rPr lang="en"/>
              <a:t>● Coercive power. The potential of a supervisor to dispense punishments</a:t>
            </a:r>
            <a:endParaRPr/>
          </a:p>
          <a:p>
            <a:pPr indent="0" lvl="0" marL="0" rtl="0" algn="l">
              <a:lnSpc>
                <a:spcPct val="115000"/>
              </a:lnSpc>
              <a:spcBef>
                <a:spcPts val="1200"/>
              </a:spcBef>
              <a:spcAft>
                <a:spcPts val="0"/>
              </a:spcAft>
              <a:buSzPct val="108108"/>
              <a:buNone/>
            </a:pPr>
            <a:r>
              <a:rPr lang="en"/>
              <a:t>● Legitimate power. The “right” of a supervisor to influence a subordinate and the obligation of the subordinate to accept that influence</a:t>
            </a:r>
            <a:endParaRPr/>
          </a:p>
          <a:p>
            <a:pPr indent="0" lvl="0" marL="0" rtl="0" algn="l">
              <a:lnSpc>
                <a:spcPct val="115000"/>
              </a:lnSpc>
              <a:spcBef>
                <a:spcPts val="1200"/>
              </a:spcBef>
              <a:spcAft>
                <a:spcPts val="0"/>
              </a:spcAft>
              <a:buSzPct val="108108"/>
              <a:buNone/>
            </a:pPr>
            <a:r>
              <a:rPr lang="en"/>
              <a:t>● Referent power. The identification of the subordinate with the supervisor; the desire of the subordinate to be like and act like the supervisor; the power of example</a:t>
            </a:r>
            <a:endParaRPr/>
          </a:p>
          <a:p>
            <a:pPr indent="0" lvl="0" marL="0" rtl="0" algn="l">
              <a:lnSpc>
                <a:spcPct val="115000"/>
              </a:lnSpc>
              <a:spcBef>
                <a:spcPts val="1200"/>
              </a:spcBef>
              <a:spcAft>
                <a:spcPts val="1200"/>
              </a:spcAft>
              <a:buSzPct val="108108"/>
              <a:buNone/>
            </a:pPr>
            <a:r>
              <a:rPr lang="en"/>
              <a:t>● Expert power. The knowledge or expertise that a supervisor has in a special area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79"/>
          <p:cNvSpPr txBox="1"/>
          <p:nvPr>
            <p:ph idx="1" type="body"/>
          </p:nvPr>
        </p:nvSpPr>
        <p:spPr>
          <a:xfrm>
            <a:off x="311700" y="307000"/>
            <a:ext cx="8520600" cy="456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a:t>Managers use their formal power or authority to increase other power bases (Yukl, 1998). They use methods such as the following:</a:t>
            </a:r>
            <a:endParaRPr/>
          </a:p>
          <a:p>
            <a:pPr indent="0" lvl="0" marL="0" rtl="0" algn="l">
              <a:lnSpc>
                <a:spcPct val="115000"/>
              </a:lnSpc>
              <a:spcBef>
                <a:spcPts val="1200"/>
              </a:spcBef>
              <a:spcAft>
                <a:spcPts val="0"/>
              </a:spcAft>
              <a:buClr>
                <a:schemeClr val="dk1"/>
              </a:buClr>
              <a:buSzPts val="1100"/>
              <a:buFont typeface="Arial"/>
              <a:buNone/>
            </a:pPr>
            <a:r>
              <a:rPr lang="en"/>
              <a:t>● Forming coalitions (e.g., managers from different departments joining forces; a marketing manager forming an alliance with a supplier)</a:t>
            </a:r>
            <a:endParaRPr/>
          </a:p>
          <a:p>
            <a:pPr indent="0" lvl="0" marL="0" rtl="0" algn="l">
              <a:lnSpc>
                <a:spcPct val="115000"/>
              </a:lnSpc>
              <a:spcBef>
                <a:spcPts val="1200"/>
              </a:spcBef>
              <a:spcAft>
                <a:spcPts val="0"/>
              </a:spcAft>
              <a:buClr>
                <a:schemeClr val="dk1"/>
              </a:buClr>
              <a:buSzPts val="1100"/>
              <a:buFont typeface="Arial"/>
              <a:buNone/>
            </a:pPr>
            <a:r>
              <a:rPr lang="en"/>
              <a:t>● Controlling important decisions (e.g., attempting to get sympathetic representatives appointed to decision-making groups)</a:t>
            </a:r>
            <a:endParaRPr/>
          </a:p>
          <a:p>
            <a:pPr indent="0" lvl="0" marL="0" rtl="0" algn="l">
              <a:lnSpc>
                <a:spcPct val="115000"/>
              </a:lnSpc>
              <a:spcBef>
                <a:spcPts val="1200"/>
              </a:spcBef>
              <a:spcAft>
                <a:spcPts val="0"/>
              </a:spcAft>
              <a:buClr>
                <a:schemeClr val="dk1"/>
              </a:buClr>
              <a:buSzPts val="1100"/>
              <a:buFont typeface="Arial"/>
              <a:buNone/>
            </a:pPr>
            <a:r>
              <a:rPr lang="en"/>
              <a:t>● Co-opting the opposition (e.g., inviting a strong opponent to join a committee or decision-making body)</a:t>
            </a:r>
            <a:endParaRPr/>
          </a:p>
          <a:p>
            <a:pPr indent="0" lvl="0" marL="0" rtl="0" algn="l">
              <a:lnSpc>
                <a:spcPct val="115000"/>
              </a:lnSpc>
              <a:spcBef>
                <a:spcPts val="1200"/>
              </a:spcBef>
              <a:spcAft>
                <a:spcPts val="1200"/>
              </a:spcAft>
              <a:buSzPts val="1800"/>
              <a:buNone/>
            </a:pPr>
            <a:r>
              <a:rPr lang="en"/>
              <a:t>● Controlling information flow (e.g., limiting the distribution of information about bad decisions that the manager made and maximizing the distribution of information about good decisions)</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80"/>
          <p:cNvSpPr txBox="1"/>
          <p:nvPr>
            <p:ph idx="1" type="body"/>
          </p:nvPr>
        </p:nvSpPr>
        <p:spPr>
          <a:xfrm>
            <a:off x="311700" y="136975"/>
            <a:ext cx="8520600" cy="493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a:t>The Behavioral Approach</a:t>
            </a:r>
            <a:endParaRPr b="1"/>
          </a:p>
          <a:p>
            <a:pPr indent="0" lvl="0" marL="0" rtl="0" algn="l">
              <a:lnSpc>
                <a:spcPct val="115000"/>
              </a:lnSpc>
              <a:spcBef>
                <a:spcPts val="1200"/>
              </a:spcBef>
              <a:spcAft>
                <a:spcPts val="0"/>
              </a:spcAft>
              <a:buSzPts val="1800"/>
              <a:buNone/>
            </a:pPr>
            <a:r>
              <a:rPr lang="en"/>
              <a:t>Behavioral approach was begun by researchers at Ohio State University,  leadership theory that focused on the kinds of behavior engaged in by people in leadership roles and identified two major types: consideration and initiating structure.</a:t>
            </a:r>
            <a:endParaRPr/>
          </a:p>
          <a:p>
            <a:pPr indent="0" lvl="0" marL="0" rtl="0" algn="l">
              <a:lnSpc>
                <a:spcPct val="115000"/>
              </a:lnSpc>
              <a:spcBef>
                <a:spcPts val="1200"/>
              </a:spcBef>
              <a:spcAft>
                <a:spcPts val="1200"/>
              </a:spcAft>
              <a:buSzPts val="1800"/>
              <a:buNone/>
            </a:pPr>
            <a:r>
              <a:t/>
            </a:r>
            <a:endParaRPr/>
          </a:p>
        </p:txBody>
      </p:sp>
      <p:pic>
        <p:nvPicPr>
          <p:cNvPr id="462" name="Google Shape;462;p80"/>
          <p:cNvPicPr preferRelativeResize="0"/>
          <p:nvPr/>
        </p:nvPicPr>
        <p:blipFill rotWithShape="1">
          <a:blip r:embed="rId3">
            <a:alphaModFix/>
          </a:blip>
          <a:srcRect b="0" l="0" r="0" t="0"/>
          <a:stretch/>
        </p:blipFill>
        <p:spPr>
          <a:xfrm>
            <a:off x="1380650" y="1738100"/>
            <a:ext cx="7593324" cy="3244799"/>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pic>
        <p:nvPicPr>
          <p:cNvPr id="467" name="Google Shape;467;p81"/>
          <p:cNvPicPr preferRelativeResize="0"/>
          <p:nvPr/>
        </p:nvPicPr>
        <p:blipFill rotWithShape="1">
          <a:blip r:embed="rId3">
            <a:alphaModFix/>
          </a:blip>
          <a:srcRect b="0" l="0" r="0" t="0"/>
          <a:stretch/>
        </p:blipFill>
        <p:spPr>
          <a:xfrm>
            <a:off x="152400" y="152400"/>
            <a:ext cx="8807401" cy="4838701"/>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82"/>
          <p:cNvSpPr txBox="1"/>
          <p:nvPr>
            <p:ph idx="1" type="body"/>
          </p:nvPr>
        </p:nvSpPr>
        <p:spPr>
          <a:xfrm>
            <a:off x="311700" y="179475"/>
            <a:ext cx="8520600" cy="46335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Clr>
                <a:schemeClr val="dk1"/>
              </a:buClr>
              <a:buSzPts val="1100"/>
              <a:buFont typeface="Arial"/>
              <a:buNone/>
            </a:pPr>
            <a:r>
              <a:rPr lang="en"/>
              <a:t>These two dimensions were defined as follows:</a:t>
            </a:r>
            <a:endParaRPr/>
          </a:p>
          <a:p>
            <a:pPr indent="0" lvl="0" marL="0" rtl="0" algn="l">
              <a:lnSpc>
                <a:spcPct val="115000"/>
              </a:lnSpc>
              <a:spcBef>
                <a:spcPts val="1200"/>
              </a:spcBef>
              <a:spcAft>
                <a:spcPts val="0"/>
              </a:spcAft>
              <a:buSzPts val="1800"/>
              <a:buNone/>
            </a:pPr>
            <a:r>
              <a:rPr b="1" lang="en"/>
              <a:t>Consideration:</a:t>
            </a:r>
            <a:r>
              <a:rPr lang="en"/>
              <a:t> Includes behavior indicating mutual trust, respect, and a certain warmth and rapport between the supervisor and his group. . . . This dimension seems to emphasize a . . . concern for group members’ needs and includes such behavior as allowing subordinates more participation in decision making and encouraging more two-way communication. </a:t>
            </a:r>
            <a:endParaRPr/>
          </a:p>
          <a:p>
            <a:pPr indent="0" lvl="0" marL="0" rtl="0" algn="l">
              <a:lnSpc>
                <a:spcPct val="115000"/>
              </a:lnSpc>
              <a:spcBef>
                <a:spcPts val="1200"/>
              </a:spcBef>
              <a:spcAft>
                <a:spcPts val="1200"/>
              </a:spcAft>
              <a:buSzPts val="1800"/>
              <a:buNone/>
            </a:pPr>
            <a:r>
              <a:rPr b="1" lang="en"/>
              <a:t>Initiating structure:</a:t>
            </a:r>
            <a:r>
              <a:rPr lang="en"/>
              <a:t> Includes behavior in which the supervisor organizes and defines group activities and his relation to the group. Thus, he defines the role he expects each member to assume, assigns tasks, plans ahead, establishes ways of getting things done, and pushes for production. This dimension seems to emphasize overt attempts to achieve organizational goals. (Fleishman, E. A., &amp; Harris, E. F. (1962). Patterns of leadership behavior related to employee grievances and turnover. Personnel Psychology, 15, 43–56. Reprinted by permission of John Wiley &amp; Sons, Inc.)</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83"/>
          <p:cNvSpPr txBox="1"/>
          <p:nvPr>
            <p:ph idx="1" type="body"/>
          </p:nvPr>
        </p:nvSpPr>
        <p:spPr>
          <a:xfrm>
            <a:off x="311700" y="289900"/>
            <a:ext cx="8520600" cy="45279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Clr>
                <a:schemeClr val="dk1"/>
              </a:buClr>
              <a:buSzPts val="1100"/>
              <a:buFont typeface="Arial"/>
              <a:buNone/>
            </a:pPr>
            <a:r>
              <a:rPr b="1" lang="en"/>
              <a:t>The University of Michigan Studies</a:t>
            </a:r>
            <a:endParaRPr b="1"/>
          </a:p>
          <a:p>
            <a:pPr indent="0" lvl="0" marL="0" rtl="0" algn="l">
              <a:lnSpc>
                <a:spcPct val="115000"/>
              </a:lnSpc>
              <a:spcBef>
                <a:spcPts val="1200"/>
              </a:spcBef>
              <a:spcAft>
                <a:spcPts val="0"/>
              </a:spcAft>
              <a:buSzPts val="1800"/>
              <a:buNone/>
            </a:pPr>
            <a:r>
              <a:rPr lang="en"/>
              <a:t>At around the same time as the Ohio State leadership studies, researchers at the University of Michigan also became interested in leadership behavior, but they concentrated more on the dynamics of how leaders and groups interacted (Yukl, 2006). Like the Ohio State studies, the Michigan group identified </a:t>
            </a:r>
            <a:r>
              <a:rPr b="1" lang="en"/>
              <a:t>task-oriented behavior </a:t>
            </a:r>
            <a:r>
              <a:rPr lang="en"/>
              <a:t>(initiating structure) as an important part of a leader’s activities. They also found that </a:t>
            </a:r>
            <a:r>
              <a:rPr b="1" lang="en"/>
              <a:t>relations-oriented behavior </a:t>
            </a:r>
            <a:r>
              <a:rPr lang="en"/>
              <a:t>(similar to consideration in the Ohio State model) was important. What was different about the Michigan results was that </a:t>
            </a:r>
            <a:r>
              <a:rPr b="1" lang="en"/>
              <a:t>participative behavior </a:t>
            </a:r>
            <a:r>
              <a:rPr lang="en"/>
              <a:t>on the part of a leader was a key to group effectiveness. </a:t>
            </a:r>
            <a:endParaRPr/>
          </a:p>
          <a:p>
            <a:pPr indent="0" lvl="0" marL="0" rtl="0" algn="l">
              <a:lnSpc>
                <a:spcPct val="115000"/>
              </a:lnSpc>
              <a:spcBef>
                <a:spcPts val="1200"/>
              </a:spcBef>
              <a:spcAft>
                <a:spcPts val="0"/>
              </a:spcAft>
              <a:buSzPts val="1800"/>
              <a:buNone/>
            </a:pPr>
            <a:r>
              <a:rPr b="1" lang="en"/>
              <a:t>The Contingency Approach</a:t>
            </a:r>
            <a:endParaRPr b="1"/>
          </a:p>
          <a:p>
            <a:pPr indent="0" lvl="0" marL="0" rtl="0" algn="l">
              <a:lnSpc>
                <a:spcPct val="115000"/>
              </a:lnSpc>
              <a:spcBef>
                <a:spcPts val="1200"/>
              </a:spcBef>
              <a:spcAft>
                <a:spcPts val="1200"/>
              </a:spcAft>
              <a:buSzPts val="1800"/>
              <a:buNone/>
            </a:pPr>
            <a:r>
              <a:rPr lang="en"/>
              <a:t>Leadership theory proposed to take into account the role of the situation in the exercise of leadership.</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84"/>
          <p:cNvSpPr txBox="1"/>
          <p:nvPr>
            <p:ph idx="1" type="body"/>
          </p:nvPr>
        </p:nvSpPr>
        <p:spPr>
          <a:xfrm>
            <a:off x="311700" y="289900"/>
            <a:ext cx="8520600" cy="44727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lang="en"/>
              <a:t>Hersey and Blanchard (1977) proposed that the success of various leadership approaches depended in part on the </a:t>
            </a:r>
            <a:r>
              <a:rPr b="1" lang="en"/>
              <a:t>maturity of the subordinate</a:t>
            </a:r>
            <a:r>
              <a:rPr lang="en"/>
              <a:t>. Maturity had two different facets to it. </a:t>
            </a:r>
            <a:r>
              <a:rPr b="1" lang="en"/>
              <a:t>Job maturity</a:t>
            </a:r>
            <a:r>
              <a:rPr lang="en"/>
              <a:t> was defined by the subordinate’s job-related ability, skills, and knowledge. </a:t>
            </a:r>
            <a:r>
              <a:rPr b="1" lang="en"/>
              <a:t>Psychological maturity</a:t>
            </a:r>
            <a:r>
              <a:rPr lang="en"/>
              <a:t> was defined as the self-confidence and self-respect of the subordinate (Yukl, 2006). A subordinate characterized as high in maturity would have both ability and confidence. </a:t>
            </a:r>
            <a:endParaRPr/>
          </a:p>
          <a:p>
            <a:pPr indent="0" lvl="0" marL="0" rtl="0" algn="l">
              <a:lnSpc>
                <a:spcPct val="115000"/>
              </a:lnSpc>
              <a:spcBef>
                <a:spcPts val="1200"/>
              </a:spcBef>
              <a:spcAft>
                <a:spcPts val="0"/>
              </a:spcAft>
              <a:buSzPts val="1800"/>
              <a:buNone/>
            </a:pPr>
            <a:r>
              <a:rPr lang="en"/>
              <a:t>House and his colleagues (House, 1971; House &amp; Mitchell, 1974) suggested a contingency theory approach that has been called the </a:t>
            </a:r>
            <a:r>
              <a:rPr b="1" lang="en"/>
              <a:t>path–goal theory</a:t>
            </a:r>
            <a:r>
              <a:rPr lang="en"/>
              <a:t> because it assumes that the leader’s responsibility is to show the subordinate the path to valued subordinate goals.</a:t>
            </a:r>
            <a:endParaRPr/>
          </a:p>
          <a:p>
            <a:pPr indent="0" lvl="0" marL="0" rtl="0" algn="l">
              <a:lnSpc>
                <a:spcPct val="115000"/>
              </a:lnSpc>
              <a:spcBef>
                <a:spcPts val="1200"/>
              </a:spcBef>
              <a:spcAft>
                <a:spcPts val="0"/>
              </a:spcAft>
              <a:buSzPts val="1800"/>
              <a:buNone/>
            </a:pPr>
            <a:r>
              <a:rPr b="1" lang="en"/>
              <a:t>The Consequences of Participation: The Vroom–Yetton Model</a:t>
            </a:r>
            <a:endParaRPr b="1"/>
          </a:p>
          <a:p>
            <a:pPr indent="0" lvl="0" marL="0" rtl="0" algn="l">
              <a:lnSpc>
                <a:spcPct val="115000"/>
              </a:lnSpc>
              <a:spcBef>
                <a:spcPts val="1200"/>
              </a:spcBef>
              <a:spcAft>
                <a:spcPts val="1200"/>
              </a:spcAft>
              <a:buSzPts val="1800"/>
              <a:buNone/>
            </a:pPr>
            <a:r>
              <a:rPr lang="en"/>
              <a:t>Both the Michigan and the path–goal models identified a participative leadership style. Participative behaviors on the part of the leader were also implied in the Ohio State and Hersey and Blanchard models.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85"/>
          <p:cNvSpPr txBox="1"/>
          <p:nvPr>
            <p:ph idx="1" type="body"/>
          </p:nvPr>
        </p:nvSpPr>
        <p:spPr>
          <a:xfrm>
            <a:off x="311700" y="236150"/>
            <a:ext cx="8520600" cy="4548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This model makes a practical contribution to leadership. The Vroom–Yetton model assumes that one of the most important duties of a leader is to make decisions, and it suggests a way to choose a decision-making strategy. Equally important, is the implication that group decision making or a completely participative style is not always appropriate. Although a participative style might contribute to the satisfaction of group members, it might lead to a poorer decision. </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86"/>
          <p:cNvSpPr txBox="1"/>
          <p:nvPr>
            <p:ph idx="1" type="body"/>
          </p:nvPr>
        </p:nvSpPr>
        <p:spPr>
          <a:xfrm>
            <a:off x="311700" y="0"/>
            <a:ext cx="8520600" cy="51435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b="1" lang="en" sz="1500"/>
              <a:t>New approaches to Leadership</a:t>
            </a:r>
            <a:endParaRPr b="1" sz="1500"/>
          </a:p>
          <a:p>
            <a:pPr indent="0" lvl="0" marL="0" rtl="0" algn="just">
              <a:lnSpc>
                <a:spcPct val="115000"/>
              </a:lnSpc>
              <a:spcBef>
                <a:spcPts val="1200"/>
              </a:spcBef>
              <a:spcAft>
                <a:spcPts val="0"/>
              </a:spcAft>
              <a:buClr>
                <a:schemeClr val="dk1"/>
              </a:buClr>
              <a:buSzPts val="1100"/>
              <a:buFont typeface="Arial"/>
              <a:buNone/>
            </a:pPr>
            <a:r>
              <a:rPr lang="en" sz="1500"/>
              <a:t>Most leadership theories, implicitly if not explicitly, assume that leaders treat all followers similarly. Dansereau, Graen, and Haga (1975) suggested that this approach was overly simplistic. In their </a:t>
            </a:r>
            <a:r>
              <a:rPr b="1" lang="en" sz="1500"/>
              <a:t>leader–member exchange (LMX) theory</a:t>
            </a:r>
            <a:r>
              <a:rPr lang="en" sz="1500"/>
              <a:t>, they hypothesized that leaders adopt different behaviors with individual subordinates and that the particular behavior pattern of the leader develops over time and depends, to a large extent, on the quality of the leader–subordinate relationship. Subordinates fall into two distinct groups. In-group members have high-quality relationships with their leader and high latitude for negotiating their work roles; the leader tends to deal with in-group members without resorting to the use of formal power or authority. In contrast, out-group members  have low-quality relationships with their leader and little latitude for negotiating their work roles; the leader is more likely to rely on formal power and authority to influence their behavior. </a:t>
            </a:r>
            <a:endParaRPr sz="1500"/>
          </a:p>
          <a:p>
            <a:pPr indent="0" lvl="0" marL="0" rtl="0" algn="just">
              <a:lnSpc>
                <a:spcPct val="115000"/>
              </a:lnSpc>
              <a:spcBef>
                <a:spcPts val="1200"/>
              </a:spcBef>
              <a:spcAft>
                <a:spcPts val="0"/>
              </a:spcAft>
              <a:buClr>
                <a:schemeClr val="dk1"/>
              </a:buClr>
              <a:buSzPts val="1100"/>
              <a:buFont typeface="Arial"/>
              <a:buNone/>
            </a:pPr>
            <a:r>
              <a:rPr lang="en" sz="1500"/>
              <a:t>Compared with out-group members, in-group members were more likely to remain with an organization, tended to see themselves as involved in a valuable exchange of knowledge, as receiving logistic and emotional support from their leader, and as expending extra effort on behalf of their leader. In high quality  relationship exchanges, leaders discussed performance with subordinates, initiated discussions about personal matters and problems, and appeared genuinely interested in work-related difficulties. </a:t>
            </a:r>
            <a:endParaRPr sz="1500"/>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87"/>
          <p:cNvSpPr txBox="1"/>
          <p:nvPr>
            <p:ph idx="1" type="body"/>
          </p:nvPr>
        </p:nvSpPr>
        <p:spPr>
          <a:xfrm>
            <a:off x="311700" y="222000"/>
            <a:ext cx="8520600" cy="45909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SzPts val="1800"/>
              <a:buNone/>
            </a:pPr>
            <a:r>
              <a:rPr lang="en"/>
              <a:t>Low-quality relationships of out-group members were characterized by higher turnover and the tendency to view the exchange with their leader as nothing more than a contractual agreement in which the worker contributes “eight hours’ work for eight hours’ pay.” In low-quality relationships, leaders seldom talked to subordinates about effectiveness or helped them with difficult assignments. </a:t>
            </a:r>
            <a:endParaRPr/>
          </a:p>
          <a:p>
            <a:pPr indent="0" lvl="0" marL="0" rtl="0" algn="just">
              <a:lnSpc>
                <a:spcPct val="115000"/>
              </a:lnSpc>
              <a:spcBef>
                <a:spcPts val="1200"/>
              </a:spcBef>
              <a:spcAft>
                <a:spcPts val="0"/>
              </a:spcAft>
              <a:buSzPts val="1800"/>
              <a:buNone/>
            </a:pPr>
            <a:r>
              <a:rPr lang="en"/>
              <a:t>More recent revisions of LMX theory are more dynamic and describe a </a:t>
            </a:r>
            <a:r>
              <a:rPr b="1" lang="en"/>
              <a:t>life cycle of a leader–follower relationship</a:t>
            </a:r>
            <a:r>
              <a:rPr lang="en"/>
              <a:t>, which begins tentatively and then either evolves into a more trusting and committed relationship or remains fixed at the initial stage.</a:t>
            </a:r>
            <a:endParaRPr/>
          </a:p>
          <a:p>
            <a:pPr indent="0" lvl="0" marL="0" rtl="0" algn="just">
              <a:lnSpc>
                <a:spcPct val="115000"/>
              </a:lnSpc>
              <a:spcBef>
                <a:spcPts val="1200"/>
              </a:spcBef>
              <a:spcAft>
                <a:spcPts val="0"/>
              </a:spcAft>
              <a:buSzPts val="1800"/>
              <a:buNone/>
            </a:pPr>
            <a:r>
              <a:rPr lang="en"/>
              <a:t>There is general agreement that LMX theory “works” (i.e., that high-quality LMX relationships lead to improved employee attitudes, motivation, and performance). As an example, Ilies, Nahrgang, and Morgeson (2007) found a strong and positive relationship between LMX and organizational citizenship behaviors.</a:t>
            </a:r>
            <a:endParaRPr/>
          </a:p>
          <a:p>
            <a:pPr indent="0" lvl="0" marL="0" rtl="0" algn="l">
              <a:lnSpc>
                <a:spcPct val="115000"/>
              </a:lnSpc>
              <a:spcBef>
                <a:spcPts val="0"/>
              </a:spcBef>
              <a:spcAft>
                <a:spcPts val="1200"/>
              </a:spcAft>
              <a:buSzPts val="1800"/>
              <a:buNone/>
            </a:pPr>
            <a:r>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88"/>
          <p:cNvSpPr txBox="1"/>
          <p:nvPr>
            <p:ph idx="1" type="body"/>
          </p:nvPr>
        </p:nvSpPr>
        <p:spPr>
          <a:xfrm>
            <a:off x="311700" y="99175"/>
            <a:ext cx="8520600" cy="477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600"/>
              <a:t>LMX theory is an appealing approach to leadership because it acknowledges that differential relationships exist between leaders and followers, and this fits with what most of us have experienced in work settings. Now that researchers are concentrating on why LMX theory works rather than simply demonstrating that it works, great progress is being made. It is also particularly encouraging to see the increasingly cross-cultural character of this research.</a:t>
            </a:r>
            <a:endParaRPr sz="1600"/>
          </a:p>
          <a:p>
            <a:pPr indent="0" lvl="0" marL="0" rtl="0" algn="l">
              <a:lnSpc>
                <a:spcPct val="115000"/>
              </a:lnSpc>
              <a:spcBef>
                <a:spcPts val="1200"/>
              </a:spcBef>
              <a:spcAft>
                <a:spcPts val="0"/>
              </a:spcAft>
              <a:buSzPts val="1800"/>
              <a:buNone/>
            </a:pPr>
            <a:r>
              <a:rPr b="1" lang="en" sz="1600"/>
              <a:t>Transformational Leadership</a:t>
            </a:r>
            <a:endParaRPr b="1" sz="1600"/>
          </a:p>
          <a:p>
            <a:pPr indent="0" lvl="0" marL="0" rtl="0" algn="l">
              <a:lnSpc>
                <a:spcPct val="115000"/>
              </a:lnSpc>
              <a:spcBef>
                <a:spcPts val="1200"/>
              </a:spcBef>
              <a:spcAft>
                <a:spcPts val="1200"/>
              </a:spcAft>
              <a:buSzPts val="1800"/>
              <a:buNone/>
            </a:pPr>
            <a:r>
              <a:rPr lang="en" sz="1600"/>
              <a:t>Transformational leadership is the interplay between leaders and followers in which each raises the other to higher levels of ethics, morality, and motivation. The leader transforms the followers by appealing to their nobler motives, such as justice and peace. We have seen this capacity to transform followers in great leaders such as Martin Luther King, Jr., Mahatma Gandhi, and Archbishop Desmond Tutu. By articulating a vision of a better world and demonstrating through their own actions how to achieve that better world, leaders of this caliber persuade followers to believe that they as individuals can make a difference, to forget about pursuing their own concrete rewards, and to join in the effort to achieve that better world—in short, the leader makes them want to be better than they are. </a:t>
            </a:r>
            <a:endParaRPr sz="1600"/>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89"/>
          <p:cNvSpPr txBox="1"/>
          <p:nvPr>
            <p:ph idx="1" type="body"/>
          </p:nvPr>
        </p:nvSpPr>
        <p:spPr>
          <a:xfrm>
            <a:off x="311700" y="165300"/>
            <a:ext cx="8520600" cy="48600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a:t>Burns (1978) contrasted transformational leadership with </a:t>
            </a:r>
            <a:r>
              <a:rPr b="1" lang="en"/>
              <a:t>transactional leadership,</a:t>
            </a:r>
            <a:r>
              <a:rPr lang="en"/>
              <a:t> the more traditional process by which leaders show followers how they can meet their personal goals by adopting a particular behavior pattern. The transactional leader makes it clear to the followers what behaviors on their part will be rewarded. Followers can then adopt that behavior pattern if they wish to achieve the promised rewards. A leader who develops an incentive program in which employees are rewarded for increased production is acting as a transactional leader. Bass and Avolio (1997) have used Burns’s notion of transformational leadership to describe the behavior of corporate leaders rather than political leaders.</a:t>
            </a:r>
            <a:endParaRPr/>
          </a:p>
          <a:p>
            <a:pPr indent="0" lvl="0" marL="0" rtl="0" algn="l">
              <a:lnSpc>
                <a:spcPct val="115000"/>
              </a:lnSpc>
              <a:spcBef>
                <a:spcPts val="1200"/>
              </a:spcBef>
              <a:spcAft>
                <a:spcPts val="0"/>
              </a:spcAft>
              <a:buSzPts val="1800"/>
              <a:buNone/>
            </a:pPr>
            <a:r>
              <a:rPr lang="en"/>
              <a:t>Bass and Avolio (1997) proposed that transformational leaders typically use one of four general strategies. </a:t>
            </a:r>
            <a:endParaRPr/>
          </a:p>
          <a:p>
            <a:pPr indent="0" lvl="0" marL="0" rtl="0" algn="l">
              <a:lnSpc>
                <a:spcPct val="115000"/>
              </a:lnSpc>
              <a:spcBef>
                <a:spcPts val="1200"/>
              </a:spcBef>
              <a:spcAft>
                <a:spcPts val="1200"/>
              </a:spcAft>
              <a:buSzPts val="1800"/>
              <a:buNone/>
            </a:pPr>
            <a:r>
              <a:rPr lang="en"/>
              <a:t>1. Idealized influence. Leaders display conviction, emphasize trust, take stands on difficult issues, emphasize the importance of commitment and purpose, and are aware of the ethical consequences of their decisions.</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90"/>
          <p:cNvSpPr txBox="1"/>
          <p:nvPr>
            <p:ph idx="1" type="body"/>
          </p:nvPr>
        </p:nvSpPr>
        <p:spPr>
          <a:xfrm>
            <a:off x="311700" y="136975"/>
            <a:ext cx="8520600" cy="46473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Clr>
                <a:schemeClr val="dk1"/>
              </a:buClr>
              <a:buSzPts val="1100"/>
              <a:buFont typeface="Arial"/>
              <a:buNone/>
            </a:pPr>
            <a:r>
              <a:rPr lang="en"/>
              <a:t>2. Inspirational motivation. Leaders articulate an appealing vision of the future, challenge followers with high standards, talk optimistically with enthusiasm, and provide encouragement and meaning for what needs to be done.</a:t>
            </a:r>
            <a:endParaRPr/>
          </a:p>
          <a:p>
            <a:pPr indent="0" lvl="0" marL="0" rtl="0" algn="l">
              <a:lnSpc>
                <a:spcPct val="115000"/>
              </a:lnSpc>
              <a:spcBef>
                <a:spcPts val="1200"/>
              </a:spcBef>
              <a:spcAft>
                <a:spcPts val="0"/>
              </a:spcAft>
              <a:buClr>
                <a:schemeClr val="dk1"/>
              </a:buClr>
              <a:buSzPts val="1100"/>
              <a:buFont typeface="Arial"/>
              <a:buNone/>
            </a:pPr>
            <a:r>
              <a:rPr lang="en"/>
              <a:t>3. Intellectual stimulation. Leaders question old assumptions, values, and beliefs; stimulate new ways of doing things; and encourage expression of ideas and reasons.</a:t>
            </a:r>
            <a:endParaRPr/>
          </a:p>
          <a:p>
            <a:pPr indent="0" lvl="0" marL="0" rtl="0" algn="l">
              <a:lnSpc>
                <a:spcPct val="115000"/>
              </a:lnSpc>
              <a:spcBef>
                <a:spcPts val="1200"/>
              </a:spcBef>
              <a:spcAft>
                <a:spcPts val="0"/>
              </a:spcAft>
              <a:buSzPts val="1800"/>
              <a:buNone/>
            </a:pPr>
            <a:r>
              <a:rPr lang="en"/>
              <a:t>4. Individualized consideration. Leaders deal with others as individuals; consider individual needs, abilities, and aspirations; listen attentively; and advise, coach, and teach.</a:t>
            </a:r>
            <a:endParaRPr/>
          </a:p>
          <a:p>
            <a:pPr indent="0" lvl="0" marL="0" rtl="0" algn="l">
              <a:lnSpc>
                <a:spcPct val="115000"/>
              </a:lnSpc>
              <a:spcBef>
                <a:spcPts val="1200"/>
              </a:spcBef>
              <a:spcAft>
                <a:spcPts val="1200"/>
              </a:spcAft>
              <a:buSzPts val="1800"/>
              <a:buNone/>
            </a:pPr>
            <a:r>
              <a:rPr lang="en"/>
              <a:t>Instead of seeing the styles as mutually exclusive, Bass (1997) perceived transformational leadership as building upon transactional leadership in a hierarchy with respect to their effectiveness. The lowest level is identified as </a:t>
            </a:r>
            <a:r>
              <a:rPr b="1" lang="en"/>
              <a:t>laissez-faire leadership</a:t>
            </a:r>
            <a:r>
              <a:rPr lang="en"/>
              <a:t>, in which leaders provide little guidance to their followers. Although some managers might mistakenly consider this a “leadership style,” Bass did not agree. </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91"/>
          <p:cNvSpPr txBox="1"/>
          <p:nvPr>
            <p:ph idx="1" type="body"/>
          </p:nvPr>
        </p:nvSpPr>
        <p:spPr>
          <a:xfrm>
            <a:off x="311700" y="193650"/>
            <a:ext cx="8520600" cy="4675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He included it in the hierarchy to contrast it with legitimate leadership styles—transactional and transformational. The three levels of transactional leadership are arranged in order of effectiveness; the transformational style (at the top) is the most effective, but it includes and builds upon transactional behaviors, particularly contingent rewards.</a:t>
            </a:r>
            <a:endParaRPr/>
          </a:p>
          <a:p>
            <a:pPr indent="0" lvl="0" marL="0" rtl="0" algn="l">
              <a:lnSpc>
                <a:spcPct val="115000"/>
              </a:lnSpc>
              <a:spcBef>
                <a:spcPts val="1200"/>
              </a:spcBef>
              <a:spcAft>
                <a:spcPts val="1200"/>
              </a:spcAft>
              <a:buSzPts val="1800"/>
              <a:buNone/>
            </a:pPr>
            <a:r>
              <a:t/>
            </a:r>
            <a:endParaRPr/>
          </a:p>
        </p:txBody>
      </p:sp>
      <p:pic>
        <p:nvPicPr>
          <p:cNvPr id="518" name="Google Shape;518;p91"/>
          <p:cNvPicPr preferRelativeResize="0"/>
          <p:nvPr/>
        </p:nvPicPr>
        <p:blipFill rotWithShape="1">
          <a:blip r:embed="rId3">
            <a:alphaModFix/>
          </a:blip>
          <a:srcRect b="0" l="0" r="0" t="0"/>
          <a:stretch/>
        </p:blipFill>
        <p:spPr>
          <a:xfrm>
            <a:off x="3156300" y="2011950"/>
            <a:ext cx="5410200" cy="285750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pic>
        <p:nvPicPr>
          <p:cNvPr id="523" name="Google Shape;523;p92"/>
          <p:cNvPicPr preferRelativeResize="0"/>
          <p:nvPr/>
        </p:nvPicPr>
        <p:blipFill rotWithShape="1">
          <a:blip r:embed="rId3">
            <a:alphaModFix/>
          </a:blip>
          <a:srcRect b="0" l="0" r="0" t="0"/>
          <a:stretch/>
        </p:blipFill>
        <p:spPr>
          <a:xfrm>
            <a:off x="656525" y="71450"/>
            <a:ext cx="7878200" cy="5000625"/>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93"/>
          <p:cNvSpPr txBox="1"/>
          <p:nvPr>
            <p:ph idx="1" type="body"/>
          </p:nvPr>
        </p:nvSpPr>
        <p:spPr>
          <a:xfrm>
            <a:off x="311700" y="222000"/>
            <a:ext cx="8520600" cy="47043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15000"/>
              </a:lnSpc>
              <a:spcBef>
                <a:spcPts val="0"/>
              </a:spcBef>
              <a:spcAft>
                <a:spcPts val="0"/>
              </a:spcAft>
              <a:buSzPct val="108108"/>
              <a:buNone/>
            </a:pPr>
            <a:r>
              <a:rPr b="1" lang="en"/>
              <a:t>Authentic leadership </a:t>
            </a:r>
            <a:endParaRPr b="1"/>
          </a:p>
          <a:p>
            <a:pPr indent="0" lvl="0" marL="0" rtl="0" algn="l">
              <a:lnSpc>
                <a:spcPct val="115000"/>
              </a:lnSpc>
              <a:spcBef>
                <a:spcPts val="1200"/>
              </a:spcBef>
              <a:spcAft>
                <a:spcPts val="0"/>
              </a:spcAft>
              <a:buSzPct val="108108"/>
              <a:buNone/>
            </a:pPr>
            <a:r>
              <a:rPr lang="en"/>
              <a:t>It is a style of leadership that emphasizes the genuineness and integrity of the leader, usually accompanied by a life story.</a:t>
            </a:r>
            <a:endParaRPr/>
          </a:p>
          <a:p>
            <a:pPr indent="0" lvl="0" marL="0" rtl="0" algn="l">
              <a:lnSpc>
                <a:spcPct val="115000"/>
              </a:lnSpc>
              <a:spcBef>
                <a:spcPts val="1200"/>
              </a:spcBef>
              <a:spcAft>
                <a:spcPts val="0"/>
              </a:spcAft>
              <a:buSzPct val="108108"/>
              <a:buNone/>
            </a:pPr>
            <a:r>
              <a:rPr lang="en"/>
              <a:t>Eagly (2005) worries that </a:t>
            </a:r>
            <a:r>
              <a:rPr b="1" lang="en"/>
              <a:t>women</a:t>
            </a:r>
            <a:r>
              <a:rPr lang="en"/>
              <a:t> will have a greater struggle projecting authenticity than men because of negative stereotypes of women as leaders. Further, she is concerned that women will actually suffer if they do reveal their real selves, since their real selves (e.g., nurturing, process oriented, egalitarian) may not be compatible with male stereotypes of leaders. There is also the obvious difficulty of relating “war stories” of past leadership challenges and successes to followers when you have been permitted few of those leadership opportunities as a woman. </a:t>
            </a:r>
            <a:endParaRPr/>
          </a:p>
          <a:p>
            <a:pPr indent="0" lvl="0" marL="0" rtl="0" algn="l">
              <a:lnSpc>
                <a:spcPct val="115000"/>
              </a:lnSpc>
              <a:spcBef>
                <a:spcPts val="1200"/>
              </a:spcBef>
              <a:spcAft>
                <a:spcPts val="1200"/>
              </a:spcAft>
              <a:buSzPct val="108108"/>
              <a:buNone/>
            </a:pPr>
            <a:r>
              <a:rPr lang="en"/>
              <a:t>Walumbwa, Avolio, Gardner, Wernsing, and Peterson (2008) have introduced a scale to measure authentic leadership style known as the </a:t>
            </a:r>
            <a:r>
              <a:rPr b="1" lang="en"/>
              <a:t>Authentic Leadership Questionnaire </a:t>
            </a:r>
            <a:r>
              <a:rPr lang="en"/>
              <a:t>(ALQ). Several studies indicate that authentic leadership was associated with higher performance and organizational citizenship behaviors in followers</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4"/>
          <p:cNvSpPr txBox="1"/>
          <p:nvPr>
            <p:ph idx="1" type="body"/>
          </p:nvPr>
        </p:nvSpPr>
        <p:spPr>
          <a:xfrm>
            <a:off x="311700" y="250325"/>
            <a:ext cx="8520600" cy="4548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a:t>The Charismatic Leader</a:t>
            </a:r>
            <a:endParaRPr b="1"/>
          </a:p>
          <a:p>
            <a:pPr indent="0" lvl="0" marL="0" rtl="0" algn="l">
              <a:lnSpc>
                <a:spcPct val="115000"/>
              </a:lnSpc>
              <a:spcBef>
                <a:spcPts val="1200"/>
              </a:spcBef>
              <a:spcAft>
                <a:spcPts val="0"/>
              </a:spcAft>
              <a:buSzPts val="1800"/>
              <a:buNone/>
            </a:pPr>
            <a:r>
              <a:rPr lang="en"/>
              <a:t>One of the transformational strategies identified by Bass was labeled idealized influence, which he also called charisma. </a:t>
            </a:r>
            <a:r>
              <a:rPr b="1" lang="en"/>
              <a:t>Charisma</a:t>
            </a:r>
            <a:r>
              <a:rPr lang="en"/>
              <a:t> is a personal magnetism, compelling charm, or attractiveness that inspires admiration and compliance from others. </a:t>
            </a:r>
            <a:r>
              <a:rPr b="1" lang="en"/>
              <a:t>Charismatic leader </a:t>
            </a:r>
            <a:r>
              <a:rPr lang="en"/>
              <a:t>is the one to whom the followers are emotionally attached to, never question the leader’s beliefs or actions, and see themselves as integral to the accomplishment of the leader’s goals. </a:t>
            </a:r>
            <a:endParaRPr/>
          </a:p>
          <a:p>
            <a:pPr indent="0" lvl="0" marL="0" rtl="0" algn="l">
              <a:lnSpc>
                <a:spcPct val="115000"/>
              </a:lnSpc>
              <a:spcBef>
                <a:spcPts val="1200"/>
              </a:spcBef>
              <a:spcAft>
                <a:spcPts val="1200"/>
              </a:spcAft>
              <a:buSzPts val="1800"/>
              <a:buNone/>
            </a:pPr>
            <a:r>
              <a:rPr b="1" lang="en"/>
              <a:t>Charismatic leadership theory </a:t>
            </a:r>
            <a:r>
              <a:rPr lang="en"/>
              <a:t>is the approach to leadership theory with many different versions of the notion that charisma is related to leadership; in one version, in a crisis situation, followers perceive charismatic characteristics in an individual and accept that person as a leader; in another version, certain leader behaviors (use of innovative strategies) contribute to a charismatic aura.</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5"/>
          <p:cNvSpPr txBox="1"/>
          <p:nvPr>
            <p:ph idx="1" type="body"/>
          </p:nvPr>
        </p:nvSpPr>
        <p:spPr>
          <a:xfrm>
            <a:off x="311700" y="250325"/>
            <a:ext cx="8520600" cy="46050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b="1" lang="en"/>
              <a:t>Leadership in a Changing Workplace</a:t>
            </a:r>
            <a:endParaRPr b="1"/>
          </a:p>
          <a:p>
            <a:pPr indent="0" lvl="0" marL="0" rtl="0" algn="l">
              <a:lnSpc>
                <a:spcPct val="115000"/>
              </a:lnSpc>
              <a:spcBef>
                <a:spcPts val="1200"/>
              </a:spcBef>
              <a:spcAft>
                <a:spcPts val="0"/>
              </a:spcAft>
              <a:buClr>
                <a:schemeClr val="dk1"/>
              </a:buClr>
              <a:buSzPts val="1100"/>
              <a:buFont typeface="Arial"/>
              <a:buNone/>
            </a:pPr>
            <a:r>
              <a:rPr b="1" lang="en"/>
              <a:t>Knowledge-Oriented Organizations</a:t>
            </a:r>
            <a:endParaRPr b="1"/>
          </a:p>
          <a:p>
            <a:pPr indent="0" lvl="0" marL="0" rtl="0" algn="l">
              <a:lnSpc>
                <a:spcPct val="115000"/>
              </a:lnSpc>
              <a:spcBef>
                <a:spcPts val="1200"/>
              </a:spcBef>
              <a:spcAft>
                <a:spcPts val="0"/>
              </a:spcAft>
              <a:buSzPts val="1800"/>
              <a:buNone/>
            </a:pPr>
            <a:r>
              <a:rPr lang="en"/>
              <a:t>Uhl-Bien, Marion, and McKelvey (2007) note that historical models of leadership, particularly those that are top-down and bureaucratic, are best suited for a 20th-century economy, where physical production was essential, but are ill suited for the 21st-century workplace, which is best characterized as knowledge-oriented. Furthermore, they propose that one of the key characteristics of the 21st-century organization is the need to adapt and learn. Thus, theories of leadership effectiveness must include outcomes such as organizational learning, innovation, and adaptability rather than focusing on bureaucratic and administrative functions of the leader.</a:t>
            </a:r>
            <a:endParaRPr/>
          </a:p>
          <a:p>
            <a:pPr indent="0" lvl="0" marL="0" rtl="0" algn="l">
              <a:lnSpc>
                <a:spcPct val="115000"/>
              </a:lnSpc>
              <a:spcBef>
                <a:spcPts val="1200"/>
              </a:spcBef>
              <a:spcAft>
                <a:spcPts val="0"/>
              </a:spcAft>
              <a:buSzPts val="1800"/>
              <a:buNone/>
            </a:pPr>
            <a:r>
              <a:rPr b="1" lang="en"/>
              <a:t>Teams/Groups</a:t>
            </a:r>
            <a:endParaRPr b="1"/>
          </a:p>
          <a:p>
            <a:pPr indent="0" lvl="0" marL="0" rtl="0" algn="l">
              <a:lnSpc>
                <a:spcPct val="115000"/>
              </a:lnSpc>
              <a:spcBef>
                <a:spcPts val="1200"/>
              </a:spcBef>
              <a:spcAft>
                <a:spcPts val="1200"/>
              </a:spcAft>
              <a:buSzPts val="1800"/>
              <a:buNone/>
            </a:pPr>
            <a:r>
              <a:rPr lang="en"/>
              <a:t>Groups and teams are increasingly populating today’s workplace. There are fewer and fewer single contributors.</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6"/>
          <p:cNvSpPr txBox="1"/>
          <p:nvPr>
            <p:ph idx="1" type="body"/>
          </p:nvPr>
        </p:nvSpPr>
        <p:spPr>
          <a:xfrm>
            <a:off x="311700" y="250325"/>
            <a:ext cx="8520600" cy="46758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Clr>
                <a:schemeClr val="dk1"/>
              </a:buClr>
              <a:buSzPts val="1100"/>
              <a:buFont typeface="Arial"/>
              <a:buNone/>
            </a:pPr>
            <a:r>
              <a:rPr lang="en"/>
              <a:t>Many of the traditional leadership models are focused on the relationship between a single leader and a single follower. Things are a bit more complicated now. Certainly, individual interactions between a worker and a manager still take place, but there are also interactions between managers and teams/groups. It is no longer sufficient for a leader to concentrate on influencing individual work group members one by one. The team or group is a separate entity and must be considered independent of its members.</a:t>
            </a:r>
            <a:endParaRPr/>
          </a:p>
          <a:p>
            <a:pPr indent="0" lvl="0" marL="0" rtl="0" algn="l">
              <a:lnSpc>
                <a:spcPct val="115000"/>
              </a:lnSpc>
              <a:spcBef>
                <a:spcPts val="1200"/>
              </a:spcBef>
              <a:spcAft>
                <a:spcPts val="1200"/>
              </a:spcAft>
              <a:buSzPts val="1800"/>
              <a:buNone/>
            </a:pPr>
            <a:r>
              <a:rPr lang="en"/>
              <a:t>As if teams were not challenging enough, there is also the issue of virtual teams. A </a:t>
            </a:r>
            <a:r>
              <a:rPr b="1" lang="en"/>
              <a:t>virtual team</a:t>
            </a:r>
            <a:r>
              <a:rPr lang="en"/>
              <a:t> consists of geographically or organizationally dispersed members brought together through “a combination of telecommunications and information technologies to accomplish an organizational task” (Townsend, DeMarie, &amp; Hendrickson, 1998, p. 17). As Bell and Kozlowski (2002b) pointed out, virtual teams present novel challenges for a leader, including the socialization of new team members and monitoring of the progress of the teams as they go about their work.</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7"/>
          <p:cNvSpPr txBox="1"/>
          <p:nvPr>
            <p:ph idx="1" type="body"/>
          </p:nvPr>
        </p:nvSpPr>
        <p:spPr>
          <a:xfrm>
            <a:off x="311700" y="108625"/>
            <a:ext cx="8520600" cy="48885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Clr>
                <a:schemeClr val="dk1"/>
              </a:buClr>
              <a:buSzPts val="1100"/>
              <a:buFont typeface="Arial"/>
              <a:buNone/>
            </a:pPr>
            <a:r>
              <a:rPr b="1" lang="en"/>
              <a:t>Telecommuting</a:t>
            </a:r>
            <a:endParaRPr b="1"/>
          </a:p>
          <a:p>
            <a:pPr indent="0" lvl="0" marL="0" rtl="0" algn="l">
              <a:lnSpc>
                <a:spcPct val="115000"/>
              </a:lnSpc>
              <a:spcBef>
                <a:spcPts val="1200"/>
              </a:spcBef>
              <a:spcAft>
                <a:spcPts val="0"/>
              </a:spcAft>
              <a:buSzPts val="1800"/>
              <a:buNone/>
            </a:pPr>
            <a:r>
              <a:rPr lang="en"/>
              <a:t>An increasing number of employees telecommute (i.e., work from home part or all of the workweek). As with virtual teams, telecommuting presents monitoring and communication challenges for a leader. Telecommuting comes in many different forms (Adams, 2001). Most common is the home office, a manager may be faced with a very basic issue: tracking an employee down on a given day. </a:t>
            </a:r>
            <a:endParaRPr/>
          </a:p>
          <a:p>
            <a:pPr indent="0" lvl="0" marL="0" rtl="0" algn="l">
              <a:lnSpc>
                <a:spcPct val="115000"/>
              </a:lnSpc>
              <a:spcBef>
                <a:spcPts val="1200"/>
              </a:spcBef>
              <a:spcAft>
                <a:spcPts val="0"/>
              </a:spcAft>
              <a:buSzPts val="1800"/>
              <a:buNone/>
            </a:pPr>
            <a:r>
              <a:rPr b="1" lang="en"/>
              <a:t>Temporary Workers</a:t>
            </a:r>
            <a:endParaRPr b="1"/>
          </a:p>
          <a:p>
            <a:pPr indent="0" lvl="0" marL="0" rtl="0" algn="l">
              <a:lnSpc>
                <a:spcPct val="115000"/>
              </a:lnSpc>
              <a:spcBef>
                <a:spcPts val="1200"/>
              </a:spcBef>
              <a:spcAft>
                <a:spcPts val="1200"/>
              </a:spcAft>
              <a:buSzPts val="1800"/>
              <a:buNone/>
            </a:pPr>
            <a:r>
              <a:rPr lang="en"/>
              <a:t>As organizations become “leaner,” they are more likely to make use of temporary workers. Often an organization uncertain of long-term business prospects will fill vacant positions with consultants or contract workers. The advantage of hiring temporary workers is that it allows an organization to respond to market changes by quickly increasing or decreasing the workforce. From a leader’s perspective, however, temporary workers represent a challenge. As temps are unlikely to have the same commitment or share the same values as full-time employees, they may be more difficult to motivate. In addition, these workers may be expected to support work groups and teams without being a member of any particular team.</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8"/>
          <p:cNvSpPr txBox="1"/>
          <p:nvPr>
            <p:ph idx="1" type="body"/>
          </p:nvPr>
        </p:nvSpPr>
        <p:spPr>
          <a:xfrm>
            <a:off x="311700" y="278675"/>
            <a:ext cx="8520600" cy="4290300"/>
          </a:xfrm>
          <a:prstGeom prst="rect">
            <a:avLst/>
          </a:prstGeom>
          <a:noFill/>
          <a:ln>
            <a:noFill/>
          </a:ln>
        </p:spPr>
        <p:txBody>
          <a:bodyPr anchorCtr="0" anchor="t" bIns="91425" lIns="91425" spcFirstLastPara="1" rIns="91425" wrap="square" tIns="91425">
            <a:normAutofit lnSpcReduction="10000"/>
          </a:bodyPr>
          <a:lstStyle/>
          <a:p>
            <a:pPr indent="0" lvl="0" marL="0" rtl="0" algn="just">
              <a:lnSpc>
                <a:spcPct val="115000"/>
              </a:lnSpc>
              <a:spcBef>
                <a:spcPts val="1200"/>
              </a:spcBef>
              <a:spcAft>
                <a:spcPts val="0"/>
              </a:spcAft>
              <a:buClr>
                <a:schemeClr val="dk1"/>
              </a:buClr>
              <a:buSzPts val="1100"/>
              <a:buFont typeface="Arial"/>
              <a:buNone/>
            </a:pPr>
            <a:r>
              <a:rPr b="1" lang="en"/>
              <a:t>Current trends in Positive Psychology at workplace</a:t>
            </a:r>
            <a:endParaRPr b="1"/>
          </a:p>
          <a:p>
            <a:pPr indent="0" lvl="0" marL="0" rtl="0" algn="just">
              <a:lnSpc>
                <a:spcPct val="115000"/>
              </a:lnSpc>
              <a:spcBef>
                <a:spcPts val="1200"/>
              </a:spcBef>
              <a:spcAft>
                <a:spcPts val="0"/>
              </a:spcAft>
              <a:buClr>
                <a:schemeClr val="dk1"/>
              </a:buClr>
              <a:buSzPts val="1100"/>
              <a:buFont typeface="Arial"/>
              <a:buNone/>
            </a:pPr>
            <a:r>
              <a:rPr lang="en"/>
              <a:t>Positive psychology in the workplace is an approach and method focused on building on what is working well and strengthening that, rather than focusing on “fixing” what is not working. In a workplace context, it’s an approach that can be applied to individuals, groups, and whole organisations. </a:t>
            </a:r>
            <a:endParaRPr/>
          </a:p>
          <a:p>
            <a:pPr indent="0" lvl="0" marL="0" rtl="0" algn="just">
              <a:lnSpc>
                <a:spcPct val="115000"/>
              </a:lnSpc>
              <a:spcBef>
                <a:spcPts val="1200"/>
              </a:spcBef>
              <a:spcAft>
                <a:spcPts val="0"/>
              </a:spcAft>
              <a:buClr>
                <a:schemeClr val="dk1"/>
              </a:buClr>
              <a:buSzPts val="1100"/>
              <a:buFont typeface="Arial"/>
              <a:buNone/>
            </a:pPr>
            <a:r>
              <a:rPr lang="en"/>
              <a:t>Positive psychology is an area of psychology focusing on helping people build happy, meaningful, purposeful lives. Implementing positive psychology in the workplace is about building a positive and healthy work environment that is enjoyable, productive, and engaging. When positive psychology is applied in a workplace, it can be a powerful tool to help people thrive and perform at their best. The studies of positive psychology at work have grown into a whole field of research, often talked about under the umbrella term Positive Work and Organizations (PWO). </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9"/>
          <p:cNvSpPr txBox="1"/>
          <p:nvPr>
            <p:ph idx="1" type="body"/>
          </p:nvPr>
        </p:nvSpPr>
        <p:spPr>
          <a:xfrm>
            <a:off x="311700" y="94475"/>
            <a:ext cx="8520600" cy="488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650">
                <a:solidFill>
                  <a:schemeClr val="dk1"/>
                </a:solidFill>
              </a:rPr>
              <a:t>This is an area that encourages the cross-pollination of three research streams in positive psychology in the workplace: </a:t>
            </a:r>
            <a:endParaRPr sz="1650">
              <a:solidFill>
                <a:schemeClr val="dk1"/>
              </a:solidFill>
            </a:endParaRPr>
          </a:p>
          <a:p>
            <a:pPr indent="-333375" lvl="0" marL="457200" rtl="0" algn="l">
              <a:lnSpc>
                <a:spcPct val="115000"/>
              </a:lnSpc>
              <a:spcBef>
                <a:spcPts val="1200"/>
              </a:spcBef>
              <a:spcAft>
                <a:spcPts val="0"/>
              </a:spcAft>
              <a:buClr>
                <a:schemeClr val="dk1"/>
              </a:buClr>
              <a:buSzPts val="1650"/>
              <a:buChar char="●"/>
            </a:pPr>
            <a:r>
              <a:rPr lang="en" sz="1650">
                <a:solidFill>
                  <a:schemeClr val="dk1"/>
                </a:solidFill>
              </a:rPr>
              <a:t>Positive Organisational Psychology (POP) is “the scientific study of positive subjective experiences and traits in the workplace and positive organisations, and its application to improve the effectiveness and quality of life in organisations”, according to Donaldson and Ko. This is an approach that differs from traditional organisational behavior modification methods, in that it aims to develop and emphasize positive behaviours in organizations rather than prevent harmful ones.</a:t>
            </a:r>
            <a:endParaRPr sz="1650">
              <a:solidFill>
                <a:schemeClr val="dk1"/>
              </a:solidFill>
            </a:endParaRPr>
          </a:p>
          <a:p>
            <a:pPr indent="-333375" lvl="0" marL="457200" rtl="0" algn="l">
              <a:lnSpc>
                <a:spcPct val="115000"/>
              </a:lnSpc>
              <a:spcBef>
                <a:spcPts val="0"/>
              </a:spcBef>
              <a:spcAft>
                <a:spcPts val="0"/>
              </a:spcAft>
              <a:buClr>
                <a:schemeClr val="dk1"/>
              </a:buClr>
              <a:buSzPts val="1650"/>
              <a:buChar char="●"/>
            </a:pPr>
            <a:r>
              <a:rPr lang="en" sz="1650">
                <a:solidFill>
                  <a:schemeClr val="dk1"/>
                </a:solidFill>
              </a:rPr>
              <a:t>Positive Organisational Behavior (POB) is an area of research that examines psychological capabilities that can be developed and measures, such as optimism, hope, self-efficacy, and resilience – both at the individual and team levels.</a:t>
            </a:r>
            <a:endParaRPr sz="1650">
              <a:solidFill>
                <a:schemeClr val="dk1"/>
              </a:solidFill>
            </a:endParaRPr>
          </a:p>
          <a:p>
            <a:pPr indent="-333375" lvl="0" marL="457200" rtl="0" algn="l">
              <a:lnSpc>
                <a:spcPct val="115000"/>
              </a:lnSpc>
              <a:spcBef>
                <a:spcPts val="0"/>
              </a:spcBef>
              <a:spcAft>
                <a:spcPts val="0"/>
              </a:spcAft>
              <a:buClr>
                <a:schemeClr val="dk1"/>
              </a:buClr>
              <a:buSzPts val="1650"/>
              <a:buChar char="●"/>
            </a:pPr>
            <a:r>
              <a:rPr lang="en" sz="1650">
                <a:solidFill>
                  <a:schemeClr val="dk1"/>
                </a:solidFill>
              </a:rPr>
              <a:t>Positive Organisational Scholarship (POS) is defined as the study of that which is positive, flourishing and life giving in organizations. This field of research is focusing on positive processes and outcomes for organisations and their employees in, for example, areas like organisational virtuousness, positive deviance, and appreciation cultures.</a:t>
            </a:r>
            <a:endParaRPr sz="165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