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b74415bc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b74415bc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b74415bc2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b74415bc2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f116df747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f116df74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f116df747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f116df747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f0eb952d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f0eb952d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f116df747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f116df747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f0eb952d3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f0eb952d3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b828e439b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b828e439b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b828e439b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b828e439b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1ac327a2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1ac327a2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8f2da936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8f2da936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8f2da936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68f2da936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68f2da936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68f2da936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90a99b76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90a99b76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b96ed8a7b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b96ed8a7b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bb078241a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bb078241a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bb4721da2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bb4721da2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bb88b9b4c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bb88b9b4c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bb88b9b4c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bb88b9b4c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bb8b0f9c3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bb8b0f9c3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bb8b0f9c3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bb8b0f9c3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bb8b0f9c3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bb8b0f9c3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bc3ebf23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bc3ebf23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bc3ebf234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bc3ebf234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bc3ebf234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bc3ebf234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bc9989440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bc9989440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bc9989440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bc9989440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bc9989440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bc9989440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bcad64b1a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bcad64b1a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bd7df4d2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bd7df4d2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bd0c5fa3b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bd0c5fa3b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bd7df4d2a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bd7df4d2a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a4263584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a4263584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6a4263584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6a4263584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6a4263584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6a4263584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6a4263584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6a4263584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6a4263584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6a4263584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a4263584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a4263584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6a4263584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6a4263584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6a4263584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6a4263584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a4263584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6a4263584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a4263584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6a4263584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a6c62c81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a6c62c81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be60a645d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be60a645d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a8e3b605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a8e3b605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6a9809c68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6a9809c68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6a9809c68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6a9809c68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6a9809c68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6a9809c68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6a9809c68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6a9809c68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6a9809c68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6a9809c68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6a9809c68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6a9809c68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6a9809c68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6a9809c68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6a9809c687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6a9809c68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6a9809c68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6a9809c68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6a9809c68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6a9809c68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6a9809c68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6a9809c68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6a9809c68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6a9809c68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bf1b57dac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bf1b57dac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bf1b57dac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bf1b57dac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bf1b57dac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bf1b57dac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c185e65b4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c185e65b4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c185e65b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c185e65b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c185e65b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c185e65b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c185e65b4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c185e65b4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c185e65b4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c185e65b4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c18b35a87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c18b35a87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c18b35a87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c18b35a87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c249ae224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c249ae224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c249ae22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c249ae22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c25b3bf4c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c25b3bf4c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c28afce30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c28afce30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6b9f535ab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6b9f535ab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c249ae224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c249ae224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c312c70d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c312c70d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c312c70d0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c312c70d0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c33e719b6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c33e719b6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c33e719b6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c33e719b6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c33e719b6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c33e719b6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 Id="rId3" Type="http://schemas.openxmlformats.org/officeDocument/2006/relationships/image" Target="../media/image4.pn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Industrial Psychology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Unit II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Industrial Psychology - In this unit…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Foundations of assessment - </a:t>
            </a:r>
            <a:r>
              <a:rPr lang="en"/>
              <a:t>methods</a:t>
            </a:r>
            <a:r>
              <a:rPr lang="en"/>
              <a:t> and procedures - types of test -  role of assessment centers - computer and internet based assessments</a:t>
            </a:r>
            <a:endParaRPr/>
          </a:p>
          <a:p>
            <a:pPr indent="0" lvl="0" marL="0" rtl="0" algn="l">
              <a:spcBef>
                <a:spcPts val="1200"/>
              </a:spcBef>
              <a:spcAft>
                <a:spcPts val="0"/>
              </a:spcAft>
              <a:buNone/>
            </a:pPr>
            <a:r>
              <a:rPr lang="en"/>
              <a:t>Performance measurement - uses of </a:t>
            </a:r>
            <a:r>
              <a:rPr lang="en"/>
              <a:t>performance</a:t>
            </a:r>
            <a:r>
              <a:rPr lang="en"/>
              <a:t> information - theories and different </a:t>
            </a:r>
            <a:r>
              <a:rPr lang="en"/>
              <a:t>types</a:t>
            </a:r>
            <a:r>
              <a:rPr lang="en"/>
              <a:t> of performance rating - performance rating process - performance evaluation and performance feedback</a:t>
            </a:r>
            <a:endParaRPr/>
          </a:p>
          <a:p>
            <a:pPr indent="0" lvl="0" marL="0" rtl="0" algn="l">
              <a:spcBef>
                <a:spcPts val="1200"/>
              </a:spcBef>
              <a:spcAft>
                <a:spcPts val="0"/>
              </a:spcAft>
              <a:buNone/>
            </a:pPr>
            <a:r>
              <a:rPr lang="en"/>
              <a:t>Staffing decisions - conceptual issues in staffing - evaluation of staffing outcomes and practical and legal issues in staffing decisions </a:t>
            </a:r>
            <a:endParaRPr/>
          </a:p>
          <a:p>
            <a:pPr indent="0" lvl="0" marL="0" rtl="0" algn="l">
              <a:spcBef>
                <a:spcPts val="1200"/>
              </a:spcBef>
              <a:spcAft>
                <a:spcPts val="1200"/>
              </a:spcAft>
              <a:buNone/>
            </a:pPr>
            <a:r>
              <a:rPr lang="en"/>
              <a:t>Foundations of training and learning - </a:t>
            </a:r>
            <a:r>
              <a:rPr lang="en"/>
              <a:t>mentors</a:t>
            </a:r>
            <a:r>
              <a:rPr lang="en"/>
              <a:t> and evaluation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30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Foundations of assessment</a:t>
            </a:r>
            <a:endParaRPr/>
          </a:p>
        </p:txBody>
      </p:sp>
      <p:sp>
        <p:nvSpPr>
          <p:cNvPr id="67" name="Google Shape;67;p15"/>
          <p:cNvSpPr txBox="1"/>
          <p:nvPr>
            <p:ph idx="1" type="body"/>
          </p:nvPr>
        </p:nvSpPr>
        <p:spPr>
          <a:xfrm>
            <a:off x="311700" y="702800"/>
            <a:ext cx="8520600" cy="41103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Robert Guion (1998) defined a</a:t>
            </a:r>
            <a:r>
              <a:rPr b="1" lang="en"/>
              <a:t> test </a:t>
            </a:r>
            <a:r>
              <a:rPr lang="en"/>
              <a:t>as “an objective and standardized procedure for measuring a psychological construct using a sample of behavior”</a:t>
            </a:r>
            <a:endParaRPr/>
          </a:p>
          <a:p>
            <a:pPr indent="-325755" lvl="0" marL="457200" rtl="0" algn="l">
              <a:spcBef>
                <a:spcPts val="0"/>
              </a:spcBef>
              <a:spcAft>
                <a:spcPts val="0"/>
              </a:spcAft>
              <a:buSzPct val="100000"/>
              <a:buChar char="●"/>
            </a:pPr>
            <a:r>
              <a:rPr lang="en"/>
              <a:t>It encompasses </a:t>
            </a:r>
            <a:r>
              <a:rPr b="1" lang="en"/>
              <a:t>paper-and-pencil tests, Internet testing, interviews, actual attempts to perform a piece of work (a work sample test), and even an application blank</a:t>
            </a:r>
            <a:r>
              <a:rPr lang="en"/>
              <a:t>.</a:t>
            </a:r>
            <a:endParaRPr/>
          </a:p>
          <a:p>
            <a:pPr indent="-325755" lvl="0" marL="457200" rtl="0" algn="l">
              <a:spcBef>
                <a:spcPts val="0"/>
              </a:spcBef>
              <a:spcAft>
                <a:spcPts val="0"/>
              </a:spcAft>
              <a:buSzPct val="100000"/>
              <a:buChar char="●"/>
            </a:pPr>
            <a:r>
              <a:rPr lang="en"/>
              <a:t>The definition is also broad enough to cover many different types of content, including </a:t>
            </a:r>
            <a:r>
              <a:rPr b="1" lang="en"/>
              <a:t>cognitive ability, personality, values, communication skills, interpersonal skills, and technical knowledge</a:t>
            </a:r>
            <a:r>
              <a:rPr lang="en"/>
              <a:t>.</a:t>
            </a:r>
            <a:endParaRPr/>
          </a:p>
          <a:p>
            <a:pPr indent="-325755" lvl="0" marL="457200" rtl="0" algn="l">
              <a:spcBef>
                <a:spcPts val="0"/>
              </a:spcBef>
              <a:spcAft>
                <a:spcPts val="0"/>
              </a:spcAft>
              <a:buSzPct val="100000"/>
              <a:buChar char="●"/>
            </a:pPr>
            <a:r>
              <a:rPr b="1" lang="en"/>
              <a:t>Norming</a:t>
            </a:r>
            <a:r>
              <a:rPr lang="en"/>
              <a:t> - Comparing a test score to other relevant test scores.</a:t>
            </a:r>
            <a:endParaRPr/>
          </a:p>
          <a:p>
            <a:pPr indent="-325755" lvl="0" marL="457200" rtl="0" algn="l">
              <a:spcBef>
                <a:spcPts val="0"/>
              </a:spcBef>
              <a:spcAft>
                <a:spcPts val="0"/>
              </a:spcAft>
              <a:buSzPct val="100000"/>
              <a:buChar char="●"/>
            </a:pPr>
            <a:r>
              <a:rPr b="1" lang="en"/>
              <a:t>Norm group</a:t>
            </a:r>
            <a:r>
              <a:rPr lang="en"/>
              <a:t> - Group whose test scores are used to compare and understand an individual’s test score.</a:t>
            </a:r>
            <a:endParaRPr/>
          </a:p>
          <a:p>
            <a:pPr indent="-325755" lvl="0" marL="457200" rtl="0" algn="l">
              <a:spcBef>
                <a:spcPts val="0"/>
              </a:spcBef>
              <a:spcAft>
                <a:spcPts val="0"/>
              </a:spcAft>
              <a:buSzPct val="100000"/>
              <a:buChar char="●"/>
            </a:pPr>
            <a:r>
              <a:rPr lang="en"/>
              <a:t>The development of test norms is very technical; there is a need to interpret or give meaning to that score.</a:t>
            </a:r>
            <a:endParaRPr/>
          </a:p>
          <a:p>
            <a:pPr indent="-325755" lvl="0" marL="457200" rtl="0" algn="l">
              <a:spcBef>
                <a:spcPts val="0"/>
              </a:spcBef>
              <a:spcAft>
                <a:spcPts val="0"/>
              </a:spcAft>
              <a:buSzPct val="100000"/>
              <a:buChar char="●"/>
            </a:pPr>
            <a:r>
              <a:rPr lang="en"/>
              <a:t>Guion (1998) suggested, the term “objective” in his definition of a test implies quantification—some kind of score on the test. It may be a simple pass–fail score (e.g., you may pass or fail a driver’s license examination) or a score on some graded continuum (such as an 88 percent or a B).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04150"/>
            <a:ext cx="8520600" cy="51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Test Battery?</a:t>
            </a:r>
            <a:endParaRPr/>
          </a:p>
        </p:txBody>
      </p:sp>
      <p:sp>
        <p:nvSpPr>
          <p:cNvPr id="73" name="Google Shape;73;p16"/>
          <p:cNvSpPr txBox="1"/>
          <p:nvPr>
            <p:ph idx="1" type="body"/>
          </p:nvPr>
        </p:nvSpPr>
        <p:spPr>
          <a:xfrm>
            <a:off x="311700" y="718050"/>
            <a:ext cx="8520600" cy="41232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a:t>
            </a:r>
            <a:r>
              <a:rPr b="1" lang="en"/>
              <a:t>test battery</a:t>
            </a:r>
            <a:r>
              <a:rPr lang="en"/>
              <a:t> is a collection of tests, usually of different attributes. These attributes may be within a single area, such as a cognitive battery including subtests of reasoning, memory, and comprehension; or the attributes may be from conceptually different areas, such as a battery that includes a measure of cognitive ability, a personality test, a physical ability test, and a test of vocational interests. </a:t>
            </a:r>
            <a:endParaRPr/>
          </a:p>
          <a:p>
            <a:pPr indent="-342900" lvl="0" marL="457200" rtl="0" algn="l">
              <a:spcBef>
                <a:spcPts val="0"/>
              </a:spcBef>
              <a:spcAft>
                <a:spcPts val="0"/>
              </a:spcAft>
              <a:buSzPts val="1800"/>
              <a:buChar char="●"/>
            </a:pPr>
            <a:r>
              <a:rPr lang="en"/>
              <a:t>The term “battery” usually implies that all of the tests will be taken either in a single testing period or over a very short period of time. </a:t>
            </a:r>
            <a:endParaRPr/>
          </a:p>
          <a:p>
            <a:pPr indent="-342900" lvl="0" marL="457200" rtl="0" algn="l">
              <a:spcBef>
                <a:spcPts val="0"/>
              </a:spcBef>
              <a:spcAft>
                <a:spcPts val="0"/>
              </a:spcAft>
              <a:buSzPts val="1800"/>
              <a:buChar char="●"/>
            </a:pPr>
            <a:r>
              <a:rPr lang="en"/>
              <a:t>But whether the information being considered is from several different assessment devices administered at one time or over a lengthy period of time, the critical issue is how to combine that information. </a:t>
            </a:r>
            <a:endParaRPr/>
          </a:p>
          <a:p>
            <a:pPr indent="-342900" lvl="0" marL="457200" rtl="0" algn="l">
              <a:spcBef>
                <a:spcPts val="0"/>
              </a:spcBef>
              <a:spcAft>
                <a:spcPts val="0"/>
              </a:spcAft>
              <a:buSzPts val="1800"/>
              <a:buChar char="●"/>
            </a:pPr>
            <a:r>
              <a:rPr lang="en"/>
              <a:t>At various points in the text, we mention some specific tests by name. There are literally thousands of psychological tests available on a broad range of topics.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292825"/>
            <a:ext cx="8520600" cy="45060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A complete listing of tests, can be found in two established sources. The first is the </a:t>
            </a:r>
            <a:r>
              <a:rPr b="1" lang="en"/>
              <a:t>Mental Measurements Yearbook.</a:t>
            </a:r>
            <a:r>
              <a:rPr lang="en"/>
              <a:t> This was first published in 1938 and has been updated 16 times. The 17th edition (Geisinger, Spies, Carlson, &amp; Plake) was published in 2007. </a:t>
            </a:r>
            <a:endParaRPr/>
          </a:p>
          <a:p>
            <a:pPr indent="-334327" lvl="0" marL="457200" rtl="0" algn="l">
              <a:spcBef>
                <a:spcPts val="0"/>
              </a:spcBef>
              <a:spcAft>
                <a:spcPts val="0"/>
              </a:spcAft>
              <a:buSzPct val="100000"/>
              <a:buChar char="●"/>
            </a:pPr>
            <a:r>
              <a:rPr lang="en"/>
              <a:t>The </a:t>
            </a:r>
            <a:r>
              <a:rPr b="1" lang="en"/>
              <a:t>Buros Institute</a:t>
            </a:r>
            <a:r>
              <a:rPr lang="en"/>
              <a:t> (named after the founder of the MMY, Oscar K. Buros) also publishes a companion volume without reviews called Tests in Print.</a:t>
            </a:r>
            <a:endParaRPr/>
          </a:p>
          <a:p>
            <a:pPr indent="-334327" lvl="0" marL="457200" rtl="0" algn="l">
              <a:spcBef>
                <a:spcPts val="0"/>
              </a:spcBef>
              <a:spcAft>
                <a:spcPts val="0"/>
              </a:spcAft>
              <a:buSzPct val="100000"/>
              <a:buChar char="●"/>
            </a:pPr>
            <a:r>
              <a:rPr b="1" lang="en"/>
              <a:t>Scott and Reynolds </a:t>
            </a:r>
            <a:r>
              <a:rPr lang="en"/>
              <a:t>(2010) published an excellent handbook on workplace assessment. It focuses on evidence-based practices for selecting and developing organizational talent, and it includes assessment for entry-level jobs as well as supervisory and leadership positions.</a:t>
            </a:r>
            <a:endParaRPr/>
          </a:p>
          <a:p>
            <a:pPr indent="-334327" lvl="0" marL="457200" rtl="0" algn="l">
              <a:spcBef>
                <a:spcPts val="0"/>
              </a:spcBef>
              <a:spcAft>
                <a:spcPts val="0"/>
              </a:spcAft>
              <a:buSzPct val="100000"/>
              <a:buChar char="●"/>
            </a:pPr>
            <a:r>
              <a:rPr lang="en"/>
              <a:t>Some tests have rigid and demanding time limits such that most test takers will be unable to finish the test in the allotted time. These are called </a:t>
            </a:r>
            <a:r>
              <a:rPr b="1" lang="en"/>
              <a:t>speed tests</a:t>
            </a:r>
            <a:r>
              <a:rPr lang="en"/>
              <a:t>.</a:t>
            </a:r>
            <a:endParaRPr/>
          </a:p>
          <a:p>
            <a:pPr indent="-334327" lvl="0" marL="457200" rtl="0" algn="l">
              <a:spcBef>
                <a:spcPts val="0"/>
              </a:spcBef>
              <a:spcAft>
                <a:spcPts val="0"/>
              </a:spcAft>
              <a:buSzPct val="100000"/>
              <a:buChar char="●"/>
            </a:pPr>
            <a:r>
              <a:rPr b="1" lang="en"/>
              <a:t>Power tests </a:t>
            </a:r>
            <a:r>
              <a:rPr lang="en"/>
              <a:t>have no rigid time limits. While some test takers may still not finish, enough time is given for a majority of the test takers to complete all of the test items. The items on power tests tend to be answered correctly by a smaller percentage of test takers than those on speed tests.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1" type="body"/>
          </p:nvPr>
        </p:nvSpPr>
        <p:spPr>
          <a:xfrm>
            <a:off x="311700" y="406200"/>
            <a:ext cx="8520600" cy="4293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Group test</a:t>
            </a:r>
            <a:r>
              <a:rPr lang="en"/>
              <a:t> - A test that can be administered to large groups of individuals; often valuable in reducing the costs (both in time and money) of testing many applicants.</a:t>
            </a:r>
            <a:endParaRPr/>
          </a:p>
          <a:p>
            <a:pPr indent="-342900" lvl="0" marL="457200" rtl="0" algn="l">
              <a:spcBef>
                <a:spcPts val="0"/>
              </a:spcBef>
              <a:spcAft>
                <a:spcPts val="0"/>
              </a:spcAft>
              <a:buSzPts val="1800"/>
              <a:buChar char="●"/>
            </a:pPr>
            <a:r>
              <a:rPr lang="en"/>
              <a:t>Group tests are efficient because they allow for the testing of many candidates simultaneously, resulting in rapid screening compared to individually administered tests. Group testing is also often valuable in reducing the costs (in both time and money) of testing many applicants.</a:t>
            </a:r>
            <a:endParaRPr/>
          </a:p>
          <a:p>
            <a:pPr indent="-342900" lvl="0" marL="457200" rtl="0" algn="l">
              <a:spcBef>
                <a:spcPts val="0"/>
              </a:spcBef>
              <a:spcAft>
                <a:spcPts val="0"/>
              </a:spcAft>
              <a:buSzPts val="1800"/>
              <a:buChar char="●"/>
            </a:pPr>
            <a:r>
              <a:rPr b="1" lang="en"/>
              <a:t>Individual test</a:t>
            </a:r>
            <a:r>
              <a:rPr lang="en"/>
              <a:t> - A test given only on an individual basis.</a:t>
            </a:r>
            <a:endParaRPr/>
          </a:p>
          <a:p>
            <a:pPr indent="-342900" lvl="0" marL="457200" rtl="0" algn="l">
              <a:spcBef>
                <a:spcPts val="0"/>
              </a:spcBef>
              <a:spcAft>
                <a:spcPts val="0"/>
              </a:spcAft>
              <a:buSzPts val="1800"/>
              <a:buChar char="●"/>
            </a:pPr>
            <a:r>
              <a:rPr lang="en"/>
              <a:t>Individual tests are also often more appropriate when the employer wishes to assess a candidate’s style of problem solving rather than the simple products of the problem-solving process. Individual testing formats are also appropriate when the examiner needs to establish an interpersonal rapport with the test taker.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idx="1" type="body"/>
          </p:nvPr>
        </p:nvSpPr>
        <p:spPr>
          <a:xfrm>
            <a:off x="311700" y="434525"/>
            <a:ext cx="8520600" cy="4307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Paper-and-pencil test </a:t>
            </a:r>
            <a:r>
              <a:rPr lang="en"/>
              <a:t>- One of the most common forms of industrial testing that requires no manipulation of any objects other than the instrument used to respond.</a:t>
            </a:r>
            <a:endParaRPr/>
          </a:p>
          <a:p>
            <a:pPr indent="-342900" lvl="0" marL="457200" rtl="0" algn="l">
              <a:spcBef>
                <a:spcPts val="0"/>
              </a:spcBef>
              <a:spcAft>
                <a:spcPts val="0"/>
              </a:spcAft>
              <a:buSzPts val="1800"/>
              <a:buChar char="●"/>
            </a:pPr>
            <a:r>
              <a:rPr lang="en"/>
              <a:t>Paper-and-pencil tests are one of the most common forms of industrial testing. By extension, the modern version of the paper-and-pencil test might be the computer keyboard  </a:t>
            </a:r>
            <a:r>
              <a:rPr lang="en"/>
              <a:t>t</a:t>
            </a:r>
            <a:r>
              <a:rPr lang="en"/>
              <a:t>est where the keys and mouse are used only to choose the correct response or produce a narrative response to a question.</a:t>
            </a:r>
            <a:endParaRPr/>
          </a:p>
          <a:p>
            <a:pPr indent="-342900" lvl="0" marL="457200" rtl="0" algn="l">
              <a:spcBef>
                <a:spcPts val="0"/>
              </a:spcBef>
              <a:spcAft>
                <a:spcPts val="0"/>
              </a:spcAft>
              <a:buSzPts val="1800"/>
              <a:buChar char="●"/>
            </a:pPr>
            <a:r>
              <a:rPr b="1" lang="en"/>
              <a:t>Performance test</a:t>
            </a:r>
            <a:r>
              <a:rPr lang="en"/>
              <a:t> - A test that requires the individual to make a response by manipulating a particular physical object or piece of equipment.</a:t>
            </a:r>
            <a:endParaRPr/>
          </a:p>
          <a:p>
            <a:pPr indent="-342900" lvl="0" marL="457200" rtl="0" algn="l">
              <a:spcBef>
                <a:spcPts val="0"/>
              </a:spcBef>
              <a:spcAft>
                <a:spcPts val="0"/>
              </a:spcAft>
              <a:buSzPts val="1800"/>
              <a:buChar char="●"/>
            </a:pPr>
            <a:r>
              <a:rPr lang="en"/>
              <a:t>Performance tests require the individual to make a response by manipulating a particular physical object or piece of equipment. The score that the individual receives on the test is directly related to the quality or quantity of that manipulation.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idx="1" type="body"/>
          </p:nvPr>
        </p:nvSpPr>
        <p:spPr>
          <a:xfrm>
            <a:off x="311700" y="307000"/>
            <a:ext cx="8520600" cy="4619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Murphy and Davidshofer (2005) distinguished among </a:t>
            </a:r>
            <a:r>
              <a:rPr b="1" lang="en"/>
              <a:t>three terms </a:t>
            </a:r>
            <a:r>
              <a:rPr lang="en"/>
              <a:t>in discussing tests and testing: </a:t>
            </a:r>
            <a:r>
              <a:rPr b="1" lang="en"/>
              <a:t>bias, fairness</a:t>
            </a:r>
            <a:r>
              <a:rPr lang="en"/>
              <a:t>, and </a:t>
            </a:r>
            <a:r>
              <a:rPr b="1" lang="en"/>
              <a:t>culture.</a:t>
            </a:r>
            <a:endParaRPr b="1"/>
          </a:p>
          <a:p>
            <a:pPr indent="-325755" lvl="0" marL="457200" rtl="0" algn="l">
              <a:spcBef>
                <a:spcPts val="1200"/>
              </a:spcBef>
              <a:spcAft>
                <a:spcPts val="0"/>
              </a:spcAft>
              <a:buSzPct val="100000"/>
              <a:buChar char="●"/>
            </a:pPr>
            <a:r>
              <a:rPr b="1" lang="en"/>
              <a:t>Bias</a:t>
            </a:r>
            <a:r>
              <a:rPr lang="en"/>
              <a:t> - Technical and statistical term that deals exclusively with a situation where a given test results in errors of prediction for a subgroup.</a:t>
            </a:r>
            <a:endParaRPr/>
          </a:p>
          <a:p>
            <a:pPr indent="-325755" lvl="0" marL="457200" rtl="0" algn="l">
              <a:spcBef>
                <a:spcPts val="0"/>
              </a:spcBef>
              <a:spcAft>
                <a:spcPts val="0"/>
              </a:spcAft>
              <a:buSzPct val="100000"/>
              <a:buChar char="●"/>
            </a:pPr>
            <a:r>
              <a:rPr b="1" lang="en"/>
              <a:t>Fairness</a:t>
            </a:r>
            <a:r>
              <a:rPr lang="en"/>
              <a:t> - Value judgment about actions or decisions based on test scores.</a:t>
            </a:r>
            <a:endParaRPr/>
          </a:p>
          <a:p>
            <a:pPr indent="-325755" lvl="0" marL="457200" rtl="0" algn="l">
              <a:spcBef>
                <a:spcPts val="0"/>
              </a:spcBef>
              <a:spcAft>
                <a:spcPts val="0"/>
              </a:spcAft>
              <a:buSzPct val="100000"/>
              <a:buChar char="●"/>
            </a:pPr>
            <a:r>
              <a:rPr b="1" lang="en"/>
              <a:t>Culture</a:t>
            </a:r>
            <a:r>
              <a:rPr lang="en"/>
              <a:t> - A system in which individuals share meanings and common ways of viewing events and objects.</a:t>
            </a:r>
            <a:endParaRPr/>
          </a:p>
          <a:p>
            <a:pPr indent="-325755" lvl="0" marL="457200" rtl="0" algn="l">
              <a:spcBef>
                <a:spcPts val="0"/>
              </a:spcBef>
              <a:spcAft>
                <a:spcPts val="0"/>
              </a:spcAft>
              <a:buSzPct val="100000"/>
              <a:buChar char="●"/>
            </a:pPr>
            <a:r>
              <a:rPr lang="en"/>
              <a:t>International Assessment Practices - Several reviews of assessment in other countries help to illustrate the differences between assessment in the United States and assessment elsewhere Highlights from these reviews include the following:</a:t>
            </a:r>
            <a:endParaRPr/>
          </a:p>
          <a:p>
            <a:pPr indent="-304165" lvl="1" marL="914400" rtl="0" algn="l">
              <a:spcBef>
                <a:spcPts val="0"/>
              </a:spcBef>
              <a:spcAft>
                <a:spcPts val="0"/>
              </a:spcAft>
              <a:buSzPct val="100000"/>
              <a:buChar char="○"/>
            </a:pPr>
            <a:r>
              <a:rPr lang="en"/>
              <a:t>European psychologists would like to have a more structured role for professional institutions in developing and monitoring good testing practices. In response to that expressed need, the International Test Commission developed the International Guidelines for Test Use (International Test Commission, 2000).</a:t>
            </a:r>
            <a:endParaRPr/>
          </a:p>
          <a:p>
            <a:pPr indent="-304165" lvl="1" marL="914400" rtl="0" algn="l">
              <a:spcBef>
                <a:spcPts val="0"/>
              </a:spcBef>
              <a:spcAft>
                <a:spcPts val="0"/>
              </a:spcAft>
              <a:buSzPct val="100000"/>
              <a:buChar char="○"/>
            </a:pPr>
            <a:r>
              <a:rPr lang="en"/>
              <a:t>In industrial settings, the countries in which tests were most frequently administered by psychologists were Croatia, Bulgaria, Finland, Slovakia, Denmark, Japan, and Slovenia. The countries in which tests were most frequently administered by nonpsychologists included Canada, Sweden, Cyprus, Norway, Switzerland, the United Kingdom, and Germany.</a:t>
            </a:r>
            <a:endParaRPr/>
          </a:p>
          <a:p>
            <a:pPr indent="-304165" lvl="1" marL="914400" rtl="0" algn="l">
              <a:spcBef>
                <a:spcPts val="0"/>
              </a:spcBef>
              <a:spcAft>
                <a:spcPts val="0"/>
              </a:spcAft>
              <a:buSzPct val="100000"/>
              <a:buChar char="○"/>
            </a:pPr>
            <a:r>
              <a:rPr lang="en"/>
              <a:t>The greatest amount of information about test quality could be found in the United States, the Netherlands, Japan, the United Kingdom, Canada, Spain, Finland, Belgium, and Slovakia; the least amount of information was available in China, Denmark, Ukraine, and South Africa. </a:t>
            </a:r>
            <a:endParaRPr/>
          </a:p>
          <a:p>
            <a:pPr indent="-304165" lvl="1" marL="914400" rtl="0" algn="l">
              <a:spcBef>
                <a:spcPts val="0"/>
              </a:spcBef>
              <a:spcAft>
                <a:spcPts val="0"/>
              </a:spcAft>
              <a:buSzPct val="100000"/>
              <a:buChar char="○"/>
            </a:pPr>
            <a:r>
              <a:rPr lang="en"/>
              <a:t>In India and China, testing is largely unregulated; many countries are moving toward the certification and training of nonpsychologists who use tests (Bartram, 2005).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Assessment methods and procedure</a:t>
            </a:r>
            <a:endParaRPr/>
          </a:p>
        </p:txBody>
      </p:sp>
      <p:sp>
        <p:nvSpPr>
          <p:cNvPr id="99" name="Google Shape;99;p21"/>
          <p:cNvSpPr txBox="1"/>
          <p:nvPr>
            <p:ph idx="1" type="body"/>
          </p:nvPr>
        </p:nvSpPr>
        <p:spPr>
          <a:xfrm>
            <a:off x="311700" y="1017725"/>
            <a:ext cx="8520600" cy="3766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a:t>
            </a:r>
            <a:r>
              <a:rPr lang="en"/>
              <a:t>here is a difference between what attribute is being assessed and how it is being assessed. For example, after applying for a job with a local company, an applicant might describe the </a:t>
            </a:r>
            <a:r>
              <a:rPr b="1" lang="en"/>
              <a:t>process</a:t>
            </a:r>
            <a:r>
              <a:rPr lang="en"/>
              <a:t> as including a personality test, a cognitive test, an interview, and a background check. The terms “personality” and “cognitive” describe the </a:t>
            </a:r>
            <a:r>
              <a:rPr b="1" lang="en"/>
              <a:t>content</a:t>
            </a:r>
            <a:r>
              <a:rPr lang="en"/>
              <a:t> of the assessment and the terms “interview” and “background check” describe the process of the assessment, where different attributes include </a:t>
            </a:r>
            <a:r>
              <a:rPr b="1" lang="en"/>
              <a:t>cognitive</a:t>
            </a:r>
            <a:r>
              <a:rPr b="1" lang="en"/>
              <a:t> ability, physical ability and personality. </a:t>
            </a:r>
            <a:endParaRPr b="1"/>
          </a:p>
          <a:p>
            <a:pPr indent="-342900" lvl="0" marL="457200" rtl="0" algn="l">
              <a:spcBef>
                <a:spcPts val="0"/>
              </a:spcBef>
              <a:spcAft>
                <a:spcPts val="0"/>
              </a:spcAft>
              <a:buSzPts val="1800"/>
              <a:buChar char="●"/>
            </a:pPr>
            <a:r>
              <a:rPr b="1" lang="en"/>
              <a:t>Cognitive ability test</a:t>
            </a:r>
            <a:r>
              <a:rPr lang="en"/>
              <a:t> - A test that allows individuals to demonstrate what they know, perceive, remember, understand, or can work with </a:t>
            </a:r>
            <a:r>
              <a:rPr lang="en"/>
              <a:t>m</a:t>
            </a:r>
            <a:r>
              <a:rPr lang="en"/>
              <a:t>entally; includes problem identification, problem-solving tasks, perceptual skills, the development or evaluation of ideas, and remembering what one has learned through general experience or specific training.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idx="1" type="body"/>
          </p:nvPr>
        </p:nvSpPr>
        <p:spPr>
          <a:xfrm>
            <a:off x="311700" y="462875"/>
            <a:ext cx="8520600" cy="41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Cognitive Ability Tests may include:</a:t>
            </a:r>
            <a:endParaRPr/>
          </a:p>
          <a:p>
            <a:pPr indent="-342900" lvl="0" marL="457200" rtl="0" algn="l">
              <a:spcBef>
                <a:spcPts val="1200"/>
              </a:spcBef>
              <a:spcAft>
                <a:spcPts val="0"/>
              </a:spcAft>
              <a:buSzPts val="1800"/>
              <a:buChar char="●"/>
            </a:pPr>
            <a:r>
              <a:rPr lang="en"/>
              <a:t>Tests that produce a single score, ex. Wonderlic Personnel Test.</a:t>
            </a:r>
            <a:endParaRPr/>
          </a:p>
          <a:p>
            <a:pPr indent="-342900" lvl="0" marL="457200" rtl="0" algn="l">
              <a:spcBef>
                <a:spcPts val="0"/>
              </a:spcBef>
              <a:spcAft>
                <a:spcPts val="0"/>
              </a:spcAft>
              <a:buSzPts val="1800"/>
              <a:buChar char="●"/>
            </a:pPr>
            <a:r>
              <a:rPr lang="en"/>
              <a:t>Tests of specific abilities, ex. Bennett Mechanical Comprehension Test.</a:t>
            </a:r>
            <a:endParaRPr/>
          </a:p>
          <a:p>
            <a:pPr indent="-342900" lvl="0" marL="457200" rtl="0" algn="l">
              <a:spcBef>
                <a:spcPts val="0"/>
              </a:spcBef>
              <a:spcAft>
                <a:spcPts val="0"/>
              </a:spcAft>
              <a:buSzPts val="1800"/>
              <a:buChar char="●"/>
            </a:pPr>
            <a:r>
              <a:rPr lang="en"/>
              <a:t>Cognitive test batteries - Collection of tests that assess a variety of cognitive aptitudes or abilities;  often called multiple-aptitude test batteries, ex. Scholastic Aptitude Test (SAT) or Graduate Record Examination (GRE). </a:t>
            </a:r>
            <a:r>
              <a:rPr lang="en"/>
              <a:t>Although cognitive test batteries take longer to administer than a “single score” test like the Wonderlic or any test of an individual facet of cognitive ability, they do have the advantage of providing more detailed information about particular manifestations of cognitive ability that may be more important in one job than another.</a:t>
            </a:r>
            <a:endParaRPr/>
          </a:p>
          <a:p>
            <a:pPr indent="-342900" lvl="0" marL="457200" rtl="0" algn="l">
              <a:spcBef>
                <a:spcPts val="0"/>
              </a:spcBef>
              <a:spcAft>
                <a:spcPts val="0"/>
              </a:spcAft>
              <a:buSzPts val="1800"/>
              <a:buChar char="●"/>
            </a:pPr>
            <a:r>
              <a:rPr lang="en"/>
              <a:t>Knowledge test A test that assesses the extent to which individuals understand course or training materials; also administered for licensing and certification purposes.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idx="1" type="body"/>
          </p:nvPr>
        </p:nvSpPr>
        <p:spPr>
          <a:xfrm>
            <a:off x="311700" y="533725"/>
            <a:ext cx="8520600" cy="403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a:t>
            </a:r>
            <a:r>
              <a:rPr b="1" lang="en"/>
              <a:t>ests of physical ability </a:t>
            </a:r>
            <a:r>
              <a:rPr lang="en"/>
              <a:t>- While it is possible to measure each of these physical abilities in isolation, most physically demanding jobs actually require combinations of these abilities. As a result, many physical ability testing procedures tend to use simulated pieces of work to assess the combined abilities. For example, a test frequently used to assess the physical abilities of firefighter candidates is composed of several events such as stairway climb, hose pull, ladder pull, dummy drag, blind crawl, pike pole and fan hang. </a:t>
            </a:r>
            <a:endParaRPr/>
          </a:p>
          <a:p>
            <a:pPr indent="-342900" lvl="0" marL="457200" rtl="0" algn="l">
              <a:spcBef>
                <a:spcPts val="0"/>
              </a:spcBef>
              <a:spcAft>
                <a:spcPts val="0"/>
              </a:spcAft>
              <a:buSzPts val="1800"/>
              <a:buChar char="●"/>
            </a:pPr>
            <a:r>
              <a:rPr b="1" lang="en"/>
              <a:t>Test to measure Psychomotor abilities</a:t>
            </a:r>
            <a:r>
              <a:rPr lang="en"/>
              <a:t> - Physical functions of movement, associated with coordination, dexterity, and reaction time; also called motor or sensorimotor abilities.</a:t>
            </a:r>
            <a:endParaRPr/>
          </a:p>
          <a:p>
            <a:pPr indent="-342900" lvl="0" marL="457200" rtl="0" algn="l">
              <a:spcBef>
                <a:spcPts val="0"/>
              </a:spcBef>
              <a:spcAft>
                <a:spcPts val="0"/>
              </a:spcAft>
              <a:buSzPts val="1800"/>
              <a:buChar char="●"/>
            </a:pPr>
            <a:r>
              <a:rPr b="1" lang="en"/>
              <a:t>Personality tests</a:t>
            </a:r>
            <a:r>
              <a:rPr lang="en"/>
              <a:t> - commercially available instruments for measuring personality characteristics, many are based on the Big Five model.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4"/>
          <p:cNvSpPr txBox="1"/>
          <p:nvPr>
            <p:ph idx="1" type="body"/>
          </p:nvPr>
        </p:nvSpPr>
        <p:spPr>
          <a:xfrm>
            <a:off x="311700" y="448700"/>
            <a:ext cx="8520600" cy="426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Personality</a:t>
            </a:r>
            <a:r>
              <a:rPr lang="en"/>
              <a:t> tests are of two types.</a:t>
            </a:r>
            <a:endParaRPr/>
          </a:p>
          <a:p>
            <a:pPr indent="-342900" lvl="0" marL="457200" rtl="0" algn="l">
              <a:spcBef>
                <a:spcPts val="1200"/>
              </a:spcBef>
              <a:spcAft>
                <a:spcPts val="0"/>
              </a:spcAft>
              <a:buSzPts val="1800"/>
              <a:buChar char="●"/>
            </a:pPr>
            <a:r>
              <a:rPr b="1" lang="en"/>
              <a:t>Screen-out test - </a:t>
            </a:r>
            <a:r>
              <a:rPr lang="en"/>
              <a:t>A test used to eliminate candidates who are clearly unsuitable for employment; tests of psychopathology are examples of screen-out tests in the employment setting. Ex. Minnesota Multiphasic Personality Inventory II (MMPI-II), California Psychological Inventory (CPI), Personality Research Form (PRF) and Edwards Personal Preference Schedule.</a:t>
            </a:r>
            <a:endParaRPr/>
          </a:p>
          <a:p>
            <a:pPr indent="-342900" lvl="0" marL="457200" rtl="0" algn="l">
              <a:spcBef>
                <a:spcPts val="0"/>
              </a:spcBef>
              <a:spcAft>
                <a:spcPts val="0"/>
              </a:spcAft>
              <a:buSzPts val="1800"/>
              <a:buChar char="●"/>
            </a:pPr>
            <a:r>
              <a:rPr b="1" lang="en"/>
              <a:t>Screen-in test</a:t>
            </a:r>
            <a:r>
              <a:rPr lang="en"/>
              <a:t> - A test used to add information about the positive attributes of a candidate that might predict outstanding performance; tests of normal personality are examples of screen-in tests in the employment setting. Ex. Jackson Personality Inventory–Revised (JPI-R), 16 PF Select, NEO-PI, Hogan Personality Inventory and Saville Consulting Wave.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5"/>
          <p:cNvPicPr preferRelativeResize="0"/>
          <p:nvPr/>
        </p:nvPicPr>
        <p:blipFill>
          <a:blip r:embed="rId3">
            <a:alphaModFix/>
          </a:blip>
          <a:stretch>
            <a:fillRect/>
          </a:stretch>
        </p:blipFill>
        <p:spPr>
          <a:xfrm>
            <a:off x="152400" y="152400"/>
            <a:ext cx="8665701" cy="4838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ph idx="1" type="body"/>
          </p:nvPr>
        </p:nvSpPr>
        <p:spPr>
          <a:xfrm>
            <a:off x="311700" y="307000"/>
            <a:ext cx="8520600" cy="4463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Faking</a:t>
            </a:r>
            <a:r>
              <a:rPr lang="en"/>
              <a:t> is a controversial point about the personality tests - a behaviour in which subjects present themselves in a favourable manner, endorsing desirable traits and rejecting undesirable ones. Three questions should be kept in mind before considering faking in personality tests. </a:t>
            </a:r>
            <a:endParaRPr/>
          </a:p>
          <a:p>
            <a:pPr indent="-317500" lvl="1" marL="914400" rtl="0" algn="l">
              <a:spcBef>
                <a:spcPts val="0"/>
              </a:spcBef>
              <a:spcAft>
                <a:spcPts val="0"/>
              </a:spcAft>
              <a:buSzPts val="1400"/>
              <a:buChar char="○"/>
            </a:pPr>
            <a:r>
              <a:rPr lang="en"/>
              <a:t>How difficult is it to fake personality tests? - not much difficult as personality is all about self-presentation; it is your public face, your “game face.” Forced choice tests could be a solution to some extent. </a:t>
            </a:r>
            <a:endParaRPr/>
          </a:p>
          <a:p>
            <a:pPr indent="-317500" lvl="1" marL="914400" rtl="0" algn="l">
              <a:spcBef>
                <a:spcPts val="0"/>
              </a:spcBef>
              <a:spcAft>
                <a:spcPts val="0"/>
              </a:spcAft>
              <a:buSzPts val="1400"/>
              <a:buChar char="○"/>
            </a:pPr>
            <a:r>
              <a:rPr lang="en"/>
              <a:t>How many people do it? - Researches show that about 30% of the applicants fake themselves to be considered for the job position. </a:t>
            </a:r>
            <a:endParaRPr/>
          </a:p>
          <a:p>
            <a:pPr indent="-317500" lvl="1" marL="914400" rtl="0" algn="l">
              <a:spcBef>
                <a:spcPts val="0"/>
              </a:spcBef>
              <a:spcAft>
                <a:spcPts val="0"/>
              </a:spcAft>
              <a:buSzPts val="1400"/>
              <a:buChar char="○"/>
            </a:pPr>
            <a:r>
              <a:rPr lang="en"/>
              <a:t>How much does it matter whether people do or do not fake? - Doesn’t influence much as the personality differ in different Frame of Reference (FOR) - at work, school or at home. </a:t>
            </a:r>
            <a:endParaRPr/>
          </a:p>
          <a:p>
            <a:pPr indent="-342900" lvl="0" marL="457200" rtl="0" algn="l">
              <a:spcBef>
                <a:spcPts val="0"/>
              </a:spcBef>
              <a:spcAft>
                <a:spcPts val="0"/>
              </a:spcAft>
              <a:buSzPts val="1800"/>
              <a:buChar char="●"/>
            </a:pPr>
            <a:r>
              <a:rPr b="1" lang="en"/>
              <a:t>Integrity tests</a:t>
            </a:r>
            <a:r>
              <a:rPr lang="en"/>
              <a:t> are administered to assess whether the honesty of the potential candidate is acceptable in respect to theft and counterproductive work behaviour. They are economic when compared to the high cost of dishonest employees and have a good </a:t>
            </a:r>
            <a:r>
              <a:rPr lang="en"/>
              <a:t>predictive</a:t>
            </a:r>
            <a:r>
              <a:rPr lang="en"/>
              <a:t> power.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idx="1" type="body"/>
          </p:nvPr>
        </p:nvSpPr>
        <p:spPr>
          <a:xfrm>
            <a:off x="311700" y="420350"/>
            <a:ext cx="8520600" cy="4148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There are two different types of integrity tests:</a:t>
            </a:r>
            <a:endParaRPr/>
          </a:p>
          <a:p>
            <a:pPr indent="-317182" lvl="0" marL="457200" rtl="0" algn="l">
              <a:spcBef>
                <a:spcPts val="1200"/>
              </a:spcBef>
              <a:spcAft>
                <a:spcPts val="0"/>
              </a:spcAft>
              <a:buSzPct val="100000"/>
              <a:buChar char="●"/>
            </a:pPr>
            <a:r>
              <a:rPr b="1" lang="en"/>
              <a:t>Overt integrity test</a:t>
            </a:r>
            <a:r>
              <a:rPr lang="en"/>
              <a:t> - A test asks questions directly about past honesty behavior (stealing, etc.) as well as attitudes toward various behaviors such as employee theft. Examples of questions are - there is nothing wrong with telling a lie if no one suffers any harm (True or False?), how often have you arrived at work under the influence of alcohol? and do your friends ever steal from their employers?</a:t>
            </a:r>
            <a:endParaRPr/>
          </a:p>
          <a:p>
            <a:pPr indent="-317182" lvl="0" marL="457200" rtl="0" algn="l">
              <a:spcBef>
                <a:spcPts val="0"/>
              </a:spcBef>
              <a:spcAft>
                <a:spcPts val="0"/>
              </a:spcAft>
              <a:buSzPct val="100000"/>
              <a:buChar char="●"/>
            </a:pPr>
            <a:r>
              <a:rPr b="1" lang="en"/>
              <a:t>Personality-based integrity test</a:t>
            </a:r>
            <a:r>
              <a:rPr lang="en"/>
              <a:t> - A test that infers honesty and integrity from questions dealing with broad constructs such as conscientiousness, reliability, and social responsibility and awareness. Questions for example are, Do you like taking risks?. Would your friends describe you as impulsive?, Would you consider challenging an authority figure?, etc. </a:t>
            </a:r>
            <a:endParaRPr/>
          </a:p>
          <a:p>
            <a:pPr indent="0" lvl="0" marL="0" rtl="0" algn="l">
              <a:spcBef>
                <a:spcPts val="1200"/>
              </a:spcBef>
              <a:spcAft>
                <a:spcPts val="0"/>
              </a:spcAft>
              <a:buNone/>
            </a:pPr>
            <a:r>
              <a:rPr b="1" lang="en"/>
              <a:t>Emotional Intelligence</a:t>
            </a:r>
            <a:endParaRPr b="1"/>
          </a:p>
          <a:p>
            <a:pPr indent="-317182" lvl="0" marL="457200" rtl="0" algn="l">
              <a:spcBef>
                <a:spcPts val="1200"/>
              </a:spcBef>
              <a:spcAft>
                <a:spcPts val="0"/>
              </a:spcAft>
              <a:buSzPct val="100000"/>
              <a:buChar char="●"/>
            </a:pPr>
            <a:r>
              <a:rPr b="1" lang="en"/>
              <a:t>Emotional intelligence (EI)</a:t>
            </a:r>
            <a:r>
              <a:rPr lang="en"/>
              <a:t> - A proposed kind of intelligence focused on people’s awareness of their own and others’ emotions.</a:t>
            </a:r>
            <a:endParaRPr/>
          </a:p>
          <a:p>
            <a:pPr indent="-317182" lvl="0" marL="457200" rtl="0" algn="l">
              <a:spcBef>
                <a:spcPts val="0"/>
              </a:spcBef>
              <a:spcAft>
                <a:spcPts val="0"/>
              </a:spcAft>
              <a:buSzPct val="100000"/>
              <a:buChar char="●"/>
            </a:pPr>
            <a:r>
              <a:rPr b="1" lang="en"/>
              <a:t>Emotional intelligence quotient (EQ)</a:t>
            </a:r>
            <a:r>
              <a:rPr lang="en"/>
              <a:t> - Parallels the notion of intelligence quotient (IQ); a score on a test of emotional intelligence.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8"/>
          <p:cNvSpPr txBox="1"/>
          <p:nvPr>
            <p:ph idx="1" type="body"/>
          </p:nvPr>
        </p:nvSpPr>
        <p:spPr>
          <a:xfrm>
            <a:off x="311700" y="448700"/>
            <a:ext cx="8520600" cy="412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Individual and group assessment </a:t>
            </a:r>
            <a:endParaRPr b="1"/>
          </a:p>
          <a:p>
            <a:pPr indent="-342900" lvl="0" marL="457200" rtl="0" algn="l">
              <a:spcBef>
                <a:spcPts val="1200"/>
              </a:spcBef>
              <a:spcAft>
                <a:spcPts val="0"/>
              </a:spcAft>
              <a:buSzPts val="1800"/>
              <a:buChar char="●"/>
            </a:pPr>
            <a:r>
              <a:rPr b="1" lang="en"/>
              <a:t>Individual assessment </a:t>
            </a:r>
            <a:r>
              <a:rPr lang="en"/>
              <a:t>- Situation in which only one candidate (or a very few) is assessed on many different attributes.</a:t>
            </a:r>
            <a:endParaRPr/>
          </a:p>
          <a:p>
            <a:pPr indent="-342900" lvl="0" marL="457200" rtl="0" algn="l">
              <a:spcBef>
                <a:spcPts val="0"/>
              </a:spcBef>
              <a:spcAft>
                <a:spcPts val="0"/>
              </a:spcAft>
              <a:buSzPts val="1800"/>
              <a:buChar char="●"/>
            </a:pPr>
            <a:r>
              <a:rPr lang="en"/>
              <a:t>The “typical” individual assessment is likely to include ability tests, personality tests, a personal history statement, and interviews.</a:t>
            </a:r>
            <a:endParaRPr/>
          </a:p>
          <a:p>
            <a:pPr indent="-342900" lvl="0" marL="457200" rtl="0" algn="l">
              <a:spcBef>
                <a:spcPts val="0"/>
              </a:spcBef>
              <a:spcAft>
                <a:spcPts val="0"/>
              </a:spcAft>
              <a:buSzPts val="1800"/>
              <a:buChar char="●"/>
            </a:pPr>
            <a:r>
              <a:rPr lang="en"/>
              <a:t>Although frequently used for selection, individual assessment can also be used to identify training needs or to provide career counseling or performance feedback to key organizational members. </a:t>
            </a:r>
            <a:endParaRPr/>
          </a:p>
          <a:p>
            <a:pPr indent="-342900" lvl="0" marL="457200" rtl="0" algn="l">
              <a:spcBef>
                <a:spcPts val="0"/>
              </a:spcBef>
              <a:spcAft>
                <a:spcPts val="0"/>
              </a:spcAft>
              <a:buSzPts val="1800"/>
              <a:buChar char="●"/>
            </a:pPr>
            <a:r>
              <a:rPr lang="en"/>
              <a:t>Because it is time-intensive and requires skilled assessors, it is expensive and unlikely to be used for any other than key positions in the company.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9"/>
          <p:cNvSpPr txBox="1"/>
          <p:nvPr>
            <p:ph idx="1" type="body"/>
          </p:nvPr>
        </p:nvSpPr>
        <p:spPr>
          <a:xfrm>
            <a:off x="311700" y="307000"/>
            <a:ext cx="8520600" cy="4548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Interviews - content</a:t>
            </a:r>
            <a:endParaRPr/>
          </a:p>
          <a:p>
            <a:pPr indent="-342900" lvl="0" marL="457200" rtl="0" algn="l">
              <a:spcBef>
                <a:spcPts val="1200"/>
              </a:spcBef>
              <a:spcAft>
                <a:spcPts val="0"/>
              </a:spcAft>
              <a:buSzPts val="1800"/>
              <a:buChar char="●"/>
            </a:pPr>
            <a:r>
              <a:rPr lang="en"/>
              <a:t>In one form or another, an interview plays a role in virtually every selection or promotion decision.</a:t>
            </a:r>
            <a:endParaRPr/>
          </a:p>
          <a:p>
            <a:pPr indent="-342900" lvl="0" marL="457200" rtl="0" algn="l">
              <a:spcBef>
                <a:spcPts val="0"/>
              </a:spcBef>
              <a:spcAft>
                <a:spcPts val="0"/>
              </a:spcAft>
              <a:buSzPts val="1800"/>
              <a:buChar char="●"/>
            </a:pPr>
            <a:r>
              <a:rPr lang="en"/>
              <a:t>Interview content is often dictated by the amount of structure in the interview.</a:t>
            </a:r>
            <a:endParaRPr/>
          </a:p>
          <a:p>
            <a:pPr indent="-342900" lvl="0" marL="457200" rtl="0" algn="l">
              <a:spcBef>
                <a:spcPts val="0"/>
              </a:spcBef>
              <a:spcAft>
                <a:spcPts val="0"/>
              </a:spcAft>
              <a:buSzPts val="1800"/>
              <a:buChar char="●"/>
            </a:pPr>
            <a:r>
              <a:rPr b="1" lang="en"/>
              <a:t>Structured interview</a:t>
            </a:r>
            <a:r>
              <a:rPr lang="en"/>
              <a:t> - Assessment procedure that consists of very specific questions asked of each candidate; includes tightly crafted scoring schemes with detailed outlines for the interviewer with respect to assigning ratings or scores based on interview performance.</a:t>
            </a:r>
            <a:endParaRPr/>
          </a:p>
          <a:p>
            <a:pPr indent="-342900" lvl="0" marL="457200" rtl="0" algn="l">
              <a:spcBef>
                <a:spcPts val="0"/>
              </a:spcBef>
              <a:spcAft>
                <a:spcPts val="0"/>
              </a:spcAft>
              <a:buSzPts val="1800"/>
              <a:buChar char="●"/>
            </a:pPr>
            <a:r>
              <a:rPr b="1" lang="en"/>
              <a:t>Situational interview</a:t>
            </a:r>
            <a:r>
              <a:rPr lang="en"/>
              <a:t> - An assessment procedure in which the interviewee is asked to describe in specific and behavioral detail how he or she would respond to a hypothetical situation.</a:t>
            </a:r>
            <a:endParaRPr/>
          </a:p>
          <a:p>
            <a:pPr indent="-342900" lvl="0" marL="457200" rtl="0" algn="l">
              <a:spcBef>
                <a:spcPts val="0"/>
              </a:spcBef>
              <a:spcAft>
                <a:spcPts val="0"/>
              </a:spcAft>
              <a:buSzPts val="1800"/>
              <a:buChar char="●"/>
            </a:pPr>
            <a:r>
              <a:rPr lang="en"/>
              <a:t>The situational interview can be contrasted with another form of structured interview known as the </a:t>
            </a:r>
            <a:r>
              <a:rPr b="1" lang="en"/>
              <a:t>behavior description interview</a:t>
            </a:r>
            <a:r>
              <a:rPr lang="en"/>
              <a:t>.</a:t>
            </a:r>
            <a:endParaRPr/>
          </a:p>
          <a:p>
            <a:pPr indent="-342900" lvl="0" marL="457200" rtl="0" algn="l">
              <a:spcBef>
                <a:spcPts val="0"/>
              </a:spcBef>
              <a:spcAft>
                <a:spcPts val="0"/>
              </a:spcAft>
              <a:buSzPts val="1800"/>
              <a:buChar char="●"/>
            </a:pPr>
            <a:r>
              <a:rPr lang="en"/>
              <a:t>The basic difference between them is a time orientation. The situational interview asks the applicant </a:t>
            </a:r>
            <a:r>
              <a:rPr b="1" lang="en"/>
              <a:t>what he or she would do</a:t>
            </a:r>
            <a:r>
              <a:rPr lang="en"/>
              <a:t>, whereas the behavior description interview asks the applicant </a:t>
            </a:r>
            <a:r>
              <a:rPr b="1" lang="en"/>
              <a:t>what he or she did do in the past</a:t>
            </a:r>
            <a:r>
              <a:rPr lang="en"/>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0"/>
          <p:cNvSpPr txBox="1"/>
          <p:nvPr>
            <p:ph idx="1" type="body"/>
          </p:nvPr>
        </p:nvSpPr>
        <p:spPr>
          <a:xfrm>
            <a:off x="311700" y="335350"/>
            <a:ext cx="8520600" cy="4520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Unstructured interview</a:t>
            </a:r>
            <a:r>
              <a:rPr lang="en"/>
              <a:t> -  </a:t>
            </a:r>
            <a:r>
              <a:rPr lang="en"/>
              <a:t>A</a:t>
            </a:r>
            <a:r>
              <a:rPr lang="en"/>
              <a:t>n interview format that includes questions that may vary by candidate and that allows the candidate to answer in any form he or she prefers.</a:t>
            </a:r>
            <a:endParaRPr/>
          </a:p>
          <a:p>
            <a:pPr indent="0" lvl="0" marL="0" rtl="0" algn="l">
              <a:spcBef>
                <a:spcPts val="1200"/>
              </a:spcBef>
              <a:spcAft>
                <a:spcPts val="0"/>
              </a:spcAft>
              <a:buNone/>
            </a:pPr>
            <a:r>
              <a:rPr lang="en"/>
              <a:t>Interview - process </a:t>
            </a:r>
            <a:endParaRPr/>
          </a:p>
          <a:p>
            <a:pPr indent="-342900" lvl="0" marL="457200" rtl="0" algn="l">
              <a:spcBef>
                <a:spcPts val="1200"/>
              </a:spcBef>
              <a:spcAft>
                <a:spcPts val="0"/>
              </a:spcAft>
              <a:buSzPts val="1800"/>
              <a:buChar char="●"/>
            </a:pPr>
            <a:r>
              <a:rPr lang="en"/>
              <a:t>Independent of the actual content of the interview, there are many relevant process issues which </a:t>
            </a:r>
            <a:r>
              <a:rPr lang="en"/>
              <a:t>should answer questions like</a:t>
            </a:r>
            <a:endParaRPr/>
          </a:p>
          <a:p>
            <a:pPr indent="-342900" lvl="0" marL="457200" rtl="0" algn="l">
              <a:spcBef>
                <a:spcPts val="0"/>
              </a:spcBef>
              <a:spcAft>
                <a:spcPts val="0"/>
              </a:spcAft>
              <a:buSzPts val="1800"/>
              <a:buChar char="●"/>
            </a:pPr>
            <a:r>
              <a:rPr lang="en"/>
              <a:t>How should interviews be conducted? </a:t>
            </a:r>
            <a:endParaRPr/>
          </a:p>
          <a:p>
            <a:pPr indent="-342900" lvl="0" marL="457200" rtl="0" algn="l">
              <a:spcBef>
                <a:spcPts val="0"/>
              </a:spcBef>
              <a:spcAft>
                <a:spcPts val="0"/>
              </a:spcAft>
              <a:buSzPts val="1800"/>
              <a:buChar char="●"/>
            </a:pPr>
            <a:r>
              <a:rPr lang="en"/>
              <a:t>How should interviewers be trained? </a:t>
            </a:r>
            <a:endParaRPr/>
          </a:p>
          <a:p>
            <a:pPr indent="-342900" lvl="0" marL="457200" rtl="0" algn="l">
              <a:spcBef>
                <a:spcPts val="0"/>
              </a:spcBef>
              <a:spcAft>
                <a:spcPts val="0"/>
              </a:spcAft>
              <a:buSzPts val="1800"/>
              <a:buChar char="●"/>
            </a:pPr>
            <a:r>
              <a:rPr lang="en"/>
              <a:t>What are some potential sources of bias in interviews?</a:t>
            </a:r>
            <a:endParaRPr/>
          </a:p>
          <a:p>
            <a:pPr indent="0" lvl="0" marL="0" rtl="0" algn="l">
              <a:spcBef>
                <a:spcPts val="1200"/>
              </a:spcBef>
              <a:spcAft>
                <a:spcPts val="1200"/>
              </a:spcAft>
              <a:buNone/>
            </a:pPr>
            <a:r>
              <a:rPr lang="en"/>
              <a:t>Interviewees may have a completely different set of anxieties and priorities when it comes to the interview These anxieties revolve around communication, appearance, social skills, interview performance, and behavioral control.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31"/>
          <p:cNvPicPr preferRelativeResize="0"/>
          <p:nvPr/>
        </p:nvPicPr>
        <p:blipFill>
          <a:blip r:embed="rId3">
            <a:alphaModFix/>
          </a:blip>
          <a:stretch>
            <a:fillRect/>
          </a:stretch>
        </p:blipFill>
        <p:spPr>
          <a:xfrm>
            <a:off x="628175" y="152400"/>
            <a:ext cx="7764850" cy="4838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2"/>
          <p:cNvSpPr txBox="1"/>
          <p:nvPr>
            <p:ph type="title"/>
          </p:nvPr>
        </p:nvSpPr>
        <p:spPr>
          <a:xfrm>
            <a:off x="311700" y="222000"/>
            <a:ext cx="8520600" cy="552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Assessment centers</a:t>
            </a:r>
            <a:endParaRPr/>
          </a:p>
        </p:txBody>
      </p:sp>
      <p:sp>
        <p:nvSpPr>
          <p:cNvPr id="155" name="Google Shape;155;p32"/>
          <p:cNvSpPr txBox="1"/>
          <p:nvPr>
            <p:ph idx="1" type="body"/>
          </p:nvPr>
        </p:nvSpPr>
        <p:spPr>
          <a:xfrm>
            <a:off x="311700" y="845450"/>
            <a:ext cx="8520600" cy="3723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Even though the word “center” evokes an image of a physical place, </a:t>
            </a:r>
            <a:r>
              <a:rPr b="1" lang="en"/>
              <a:t>assessment centers are collections of procedures for evaluation, no matter where these procedures are carried out. </a:t>
            </a:r>
            <a:endParaRPr b="1"/>
          </a:p>
          <a:p>
            <a:pPr indent="-342900" lvl="0" marL="457200" rtl="0" algn="l">
              <a:spcBef>
                <a:spcPts val="0"/>
              </a:spcBef>
              <a:spcAft>
                <a:spcPts val="0"/>
              </a:spcAft>
              <a:buSzPts val="1800"/>
              <a:buChar char="●"/>
            </a:pPr>
            <a:r>
              <a:rPr lang="en"/>
              <a:t>Assessment centers are very much like the individual assessment procedure except they are administered to groups of individuals rather than single individuals, and the assessments are typically done by multiple assessors rather than a single assessor.</a:t>
            </a:r>
            <a:endParaRPr/>
          </a:p>
          <a:p>
            <a:pPr indent="-342900" lvl="0" marL="457200" rtl="0" algn="l">
              <a:spcBef>
                <a:spcPts val="0"/>
              </a:spcBef>
              <a:spcAft>
                <a:spcPts val="0"/>
              </a:spcAft>
              <a:buSzPts val="1800"/>
              <a:buChar char="●"/>
            </a:pPr>
            <a:r>
              <a:rPr lang="en"/>
              <a:t>In earlier years, there were as many variations of assessment centers as there were users. For this reason, a task force published </a:t>
            </a:r>
            <a:r>
              <a:rPr b="1" lang="en"/>
              <a:t>Guidelines and Ethical Considerations for Assessment Center Operations (Task Force on Assessment Center Guidelines, 1989)</a:t>
            </a:r>
            <a:r>
              <a:rPr lang="en"/>
              <a:t>. These guidelines have done much to standardize the assessment center process and protect the rights of those being assessed.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3"/>
          <p:cNvSpPr txBox="1"/>
          <p:nvPr>
            <p:ph idx="1" type="body"/>
          </p:nvPr>
        </p:nvSpPr>
        <p:spPr>
          <a:xfrm>
            <a:off x="311700" y="222000"/>
            <a:ext cx="8520600" cy="47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50"/>
              <a:t>Most assessment centers share the following characteristics (Finkle, 1976):</a:t>
            </a:r>
            <a:endParaRPr sz="1550"/>
          </a:p>
          <a:p>
            <a:pPr indent="0" lvl="0" marL="0" rtl="0" algn="l">
              <a:spcBef>
                <a:spcPts val="1200"/>
              </a:spcBef>
              <a:spcAft>
                <a:spcPts val="0"/>
              </a:spcAft>
              <a:buClr>
                <a:schemeClr val="dk1"/>
              </a:buClr>
              <a:buSzPts val="1100"/>
              <a:buFont typeface="Arial"/>
              <a:buNone/>
            </a:pPr>
            <a:r>
              <a:rPr lang="en" sz="1550"/>
              <a:t>1. Assessment is done in groups. A typical group size is 12, although smaller subgroups may be formed for specific exercises. The group format provides opportunity for peer evaluation.</a:t>
            </a:r>
            <a:endParaRPr sz="1550"/>
          </a:p>
          <a:p>
            <a:pPr indent="0" lvl="0" marL="0" rtl="0" algn="l">
              <a:spcBef>
                <a:spcPts val="1200"/>
              </a:spcBef>
              <a:spcAft>
                <a:spcPts val="0"/>
              </a:spcAft>
              <a:buClr>
                <a:schemeClr val="dk1"/>
              </a:buClr>
              <a:buSzPts val="1100"/>
              <a:buFont typeface="Arial"/>
              <a:buNone/>
            </a:pPr>
            <a:r>
              <a:rPr lang="en" sz="1550"/>
              <a:t>2. Assessment is done by groups. Unlike the usual evaluators in individual assessment, assessment center evaluators are usually managers chosen from the organization but unfamiliar with the candidates. </a:t>
            </a:r>
            <a:endParaRPr sz="1550"/>
          </a:p>
          <a:p>
            <a:pPr indent="0" lvl="0" marL="0" rtl="0" algn="l">
              <a:spcBef>
                <a:spcPts val="1200"/>
              </a:spcBef>
              <a:spcAft>
                <a:spcPts val="0"/>
              </a:spcAft>
              <a:buClr>
                <a:schemeClr val="dk1"/>
              </a:buClr>
              <a:buSzPts val="1100"/>
              <a:buFont typeface="Arial"/>
              <a:buNone/>
            </a:pPr>
            <a:r>
              <a:rPr lang="en" sz="1550"/>
              <a:t>3. Multiple methods of assessment are employed. As with individual assessment, these might include paper-and-pencil tests, group exercises, interviews, and clinical testing. A typical group exercise might be a leaderless group discussion that is observed and rated by the assessors. An individual exercise might be an in-basket exercise in which a candidate is presented with the contents of a typical in-basket and asked  </a:t>
            </a:r>
            <a:r>
              <a:rPr lang="en" sz="1550"/>
              <a:t>t</a:t>
            </a:r>
            <a:r>
              <a:rPr lang="en" sz="1550"/>
              <a:t>o deal with each element in the basket by making a phone call, sending an email, writing a memo or starting a file for information.</a:t>
            </a:r>
            <a:endParaRPr sz="1550"/>
          </a:p>
          <a:p>
            <a:pPr indent="0" lvl="0" marL="0" rtl="0" algn="l">
              <a:spcBef>
                <a:spcPts val="1200"/>
              </a:spcBef>
              <a:spcAft>
                <a:spcPts val="1200"/>
              </a:spcAft>
              <a:buNone/>
            </a:pPr>
            <a:r>
              <a:rPr lang="en" sz="1550"/>
              <a:t>4. Assessment centers invariably have a “feel” of relevance to them, both for assessors and for those being assessed. They are seen as much more “real” than interviews, paper-and-pencil tests or even isolated work simulations.</a:t>
            </a:r>
            <a:endParaRPr sz="155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4"/>
          <p:cNvSpPr txBox="1"/>
          <p:nvPr>
            <p:ph type="title"/>
          </p:nvPr>
        </p:nvSpPr>
        <p:spPr>
          <a:xfrm>
            <a:off x="311700" y="21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Role of assessment centers</a:t>
            </a:r>
            <a:endParaRPr/>
          </a:p>
        </p:txBody>
      </p:sp>
      <p:sp>
        <p:nvSpPr>
          <p:cNvPr id="166" name="Google Shape;166;p34"/>
          <p:cNvSpPr txBox="1"/>
          <p:nvPr>
            <p:ph idx="1" type="body"/>
          </p:nvPr>
        </p:nvSpPr>
        <p:spPr>
          <a:xfrm>
            <a:off x="311700" y="791000"/>
            <a:ext cx="8520600" cy="388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lang="en"/>
              <a:t>As in the individual assessment procedure, the results of the assessment center may include a report, recommendation, and feedback to the participants. An excerpt from a typical report appears in Table 3.8. </a:t>
            </a:r>
            <a:r>
              <a:rPr b="1" lang="en"/>
              <a:t>On the basis of assessment center results, the organization may make one or more of the following decisions</a:t>
            </a:r>
            <a:r>
              <a:rPr lang="en"/>
              <a:t> (Finkle, 1976):</a:t>
            </a:r>
            <a:endParaRPr/>
          </a:p>
          <a:p>
            <a:pPr indent="0" lvl="0" marL="0" rtl="0" algn="l">
              <a:spcBef>
                <a:spcPts val="1200"/>
              </a:spcBef>
              <a:spcAft>
                <a:spcPts val="0"/>
              </a:spcAft>
              <a:buClr>
                <a:schemeClr val="dk1"/>
              </a:buClr>
              <a:buSzPct val="61111"/>
              <a:buFont typeface="Arial"/>
              <a:buNone/>
            </a:pPr>
            <a:r>
              <a:rPr lang="en"/>
              <a:t>1. An assessee may or may not qualify for a given job or job level.</a:t>
            </a:r>
            <a:endParaRPr/>
          </a:p>
          <a:p>
            <a:pPr indent="0" lvl="0" marL="0" rtl="0" algn="l">
              <a:spcBef>
                <a:spcPts val="1200"/>
              </a:spcBef>
              <a:spcAft>
                <a:spcPts val="0"/>
              </a:spcAft>
              <a:buClr>
                <a:schemeClr val="dk1"/>
              </a:buClr>
              <a:buSzPct val="61111"/>
              <a:buFont typeface="Arial"/>
              <a:buNone/>
            </a:pPr>
            <a:r>
              <a:rPr lang="en"/>
              <a:t>2. Assessees may be ranked on a series of attributes and placed into different categories representing anticipated speed of promotion (e.g., fast track versus normal progression groups).</a:t>
            </a:r>
            <a:endParaRPr/>
          </a:p>
          <a:p>
            <a:pPr indent="0" lvl="0" marL="0" rtl="0" algn="l">
              <a:spcBef>
                <a:spcPts val="1200"/>
              </a:spcBef>
              <a:spcAft>
                <a:spcPts val="0"/>
              </a:spcAft>
              <a:buClr>
                <a:schemeClr val="dk1"/>
              </a:buClr>
              <a:buSzPct val="61111"/>
              <a:buFont typeface="Arial"/>
              <a:buNone/>
            </a:pPr>
            <a:r>
              <a:rPr lang="en"/>
              <a:t>3. Predictions of long-range potential may be made for one or more of the assessees.</a:t>
            </a:r>
            <a:endParaRPr/>
          </a:p>
          <a:p>
            <a:pPr indent="0" lvl="0" marL="0" rtl="0" algn="l">
              <a:spcBef>
                <a:spcPts val="1200"/>
              </a:spcBef>
              <a:spcAft>
                <a:spcPts val="0"/>
              </a:spcAft>
              <a:buNone/>
            </a:pPr>
            <a:r>
              <a:rPr lang="en"/>
              <a:t>4. Development and learning experiences for aiding the assessee in personal or professional growth might be recommended.</a:t>
            </a:r>
            <a:endParaRPr/>
          </a:p>
          <a:p>
            <a:pPr indent="0" lvl="0" marL="0" rtl="0" algn="l">
              <a:spcBef>
                <a:spcPts val="1200"/>
              </a:spcBef>
              <a:spcAft>
                <a:spcPts val="1200"/>
              </a:spcAft>
              <a:buNone/>
            </a:pPr>
            <a:r>
              <a:rPr lang="en"/>
              <a:t>There is general agreement that assessment centers can be valuable procedures for selection, </a:t>
            </a:r>
            <a:r>
              <a:rPr lang="en"/>
              <a:t>p</a:t>
            </a:r>
            <a:r>
              <a:rPr lang="en"/>
              <a:t>romotion, and training needs analysis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 Samples and Situational Tests</a:t>
            </a:r>
            <a:endParaRPr/>
          </a:p>
        </p:txBody>
      </p:sp>
      <p:sp>
        <p:nvSpPr>
          <p:cNvPr id="172" name="Google Shape;17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Work sample test </a:t>
            </a:r>
            <a:r>
              <a:rPr lang="en"/>
              <a:t>- Assessment procedure that measures job skills by taking samples of behavior under realistic job-like conditions. </a:t>
            </a:r>
            <a:endParaRPr/>
          </a:p>
          <a:p>
            <a:pPr indent="-342900" lvl="0" marL="457200" rtl="0" algn="l">
              <a:spcBef>
                <a:spcPts val="0"/>
              </a:spcBef>
              <a:spcAft>
                <a:spcPts val="0"/>
              </a:spcAft>
              <a:buSzPts val="1800"/>
              <a:buChar char="●"/>
            </a:pPr>
            <a:r>
              <a:rPr lang="en"/>
              <a:t>In today’s work sample tests, the performance may or may not be assessed at an actual workstation, but the task assigned and the equipment used to complete the task are designed to be realistic simulations of the actual job.</a:t>
            </a:r>
            <a:endParaRPr/>
          </a:p>
          <a:p>
            <a:pPr indent="-342900" lvl="0" marL="457200" rtl="0" algn="l">
              <a:spcBef>
                <a:spcPts val="0"/>
              </a:spcBef>
              <a:spcAft>
                <a:spcPts val="0"/>
              </a:spcAft>
              <a:buSzPts val="1800"/>
              <a:buChar char="●"/>
            </a:pPr>
            <a:r>
              <a:rPr b="1" lang="en"/>
              <a:t>Situational judgment test</a:t>
            </a:r>
            <a:r>
              <a:rPr lang="en"/>
              <a:t> - Commonly a paper-and pencil test that presents the candidate with a written scenario and asks the candidate to choose the best response from a series of alternatives.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6"/>
          <p:cNvSpPr txBox="1"/>
          <p:nvPr>
            <p:ph type="title"/>
          </p:nvPr>
        </p:nvSpPr>
        <p:spPr>
          <a:xfrm>
            <a:off x="311700" y="76625"/>
            <a:ext cx="8520600" cy="51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measurement</a:t>
            </a:r>
            <a:endParaRPr/>
          </a:p>
        </p:txBody>
      </p:sp>
      <p:sp>
        <p:nvSpPr>
          <p:cNvPr id="178" name="Google Shape;178;p36"/>
          <p:cNvSpPr txBox="1"/>
          <p:nvPr>
            <p:ph idx="1" type="body"/>
          </p:nvPr>
        </p:nvSpPr>
        <p:spPr>
          <a:xfrm>
            <a:off x="311700" y="590525"/>
            <a:ext cx="8520600" cy="440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In work settings, performance measurement often goes beyond the annual review and can be used for many purposes. Some of the most common uses of performance information are the following:</a:t>
            </a:r>
            <a:endParaRPr/>
          </a:p>
          <a:p>
            <a:pPr indent="-334327" lvl="0" marL="457200" rtl="0" algn="l">
              <a:spcBef>
                <a:spcPts val="1200"/>
              </a:spcBef>
              <a:spcAft>
                <a:spcPts val="0"/>
              </a:spcAft>
              <a:buSzPct val="100000"/>
              <a:buChar char="●"/>
            </a:pPr>
            <a:r>
              <a:rPr b="1" lang="en"/>
              <a:t>Criterion data.</a:t>
            </a:r>
            <a:r>
              <a:rPr lang="en"/>
              <a:t> In a criterion-related validation study of a selection device, the work  psychologist can correlate an individual’s performance data with test data to determine if the test predicts successful performance.</a:t>
            </a:r>
            <a:endParaRPr/>
          </a:p>
          <a:p>
            <a:pPr indent="-334327" lvl="0" marL="457200" rtl="0" algn="l">
              <a:spcBef>
                <a:spcPts val="0"/>
              </a:spcBef>
              <a:spcAft>
                <a:spcPts val="0"/>
              </a:spcAft>
              <a:buSzPct val="100000"/>
              <a:buChar char="●"/>
            </a:pPr>
            <a:r>
              <a:rPr b="1" lang="en"/>
              <a:t>Employee development.</a:t>
            </a:r>
            <a:r>
              <a:rPr lang="en"/>
              <a:t> A worker is given information about strengths and weaknesses, and works with a supervisor to develop a plan to improve weaknesses and build upon strengths. Based on the profile of performance strengths and weaknesses, employers may design a series of training modules or experiences for an employee.</a:t>
            </a:r>
            <a:endParaRPr/>
          </a:p>
          <a:p>
            <a:pPr indent="-334327" lvl="0" marL="457200" rtl="0" algn="l">
              <a:spcBef>
                <a:spcPts val="0"/>
              </a:spcBef>
              <a:spcAft>
                <a:spcPts val="0"/>
              </a:spcAft>
              <a:buSzPct val="100000"/>
              <a:buChar char="●"/>
            </a:pPr>
            <a:r>
              <a:rPr b="1" lang="en"/>
              <a:t>Motivation/satisfaction.</a:t>
            </a:r>
            <a:r>
              <a:rPr lang="en"/>
              <a:t> By setting appropriate performance standards, evaluating employees’ success in meeting those standards, and giving employees feedback regarding the extent to which they are meeting or exceeding those standards, an organization can increase the motivation and satisfaction of those employees.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7"/>
          <p:cNvSpPr txBox="1"/>
          <p:nvPr>
            <p:ph idx="1" type="body"/>
          </p:nvPr>
        </p:nvSpPr>
        <p:spPr>
          <a:xfrm>
            <a:off x="311700" y="434525"/>
            <a:ext cx="8520600" cy="4250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Rewards</a:t>
            </a:r>
            <a:r>
              <a:rPr lang="en"/>
              <a:t>. Employers compare workers to one another to determine how to distribute rewards such as salary increases and bonuses. Rynes, Gerhart, and Parks (2005) provide a comprehensive review demonstrating the value of tying pay to performance measurement. </a:t>
            </a:r>
            <a:endParaRPr/>
          </a:p>
          <a:p>
            <a:pPr indent="-342900" lvl="0" marL="457200" rtl="0" algn="l">
              <a:spcBef>
                <a:spcPts val="0"/>
              </a:spcBef>
              <a:spcAft>
                <a:spcPts val="0"/>
              </a:spcAft>
              <a:buSzPts val="1800"/>
              <a:buChar char="●"/>
            </a:pPr>
            <a:r>
              <a:rPr b="1" lang="en"/>
              <a:t>Transfer.</a:t>
            </a:r>
            <a:r>
              <a:rPr lang="en"/>
              <a:t> Employers can use a profile of performance capabilities to determine which employees are best suited for a transfer from one job family or job title to another.</a:t>
            </a:r>
            <a:endParaRPr/>
          </a:p>
          <a:p>
            <a:pPr indent="-342900" lvl="0" marL="457200" rtl="0" algn="l">
              <a:spcBef>
                <a:spcPts val="0"/>
              </a:spcBef>
              <a:spcAft>
                <a:spcPts val="0"/>
              </a:spcAft>
              <a:buSzPts val="1800"/>
              <a:buChar char="●"/>
            </a:pPr>
            <a:r>
              <a:rPr b="1" lang="en"/>
              <a:t>Promotion.</a:t>
            </a:r>
            <a:r>
              <a:rPr lang="en"/>
              <a:t> To the extent that documented performance capabilities are part of a higher-level job, employers can use performance information as part of the assessment procedure that determines promotions.</a:t>
            </a:r>
            <a:endParaRPr/>
          </a:p>
          <a:p>
            <a:pPr indent="-342900" lvl="0" marL="457200" rtl="0" algn="l">
              <a:spcBef>
                <a:spcPts val="0"/>
              </a:spcBef>
              <a:spcAft>
                <a:spcPts val="0"/>
              </a:spcAft>
              <a:buSzPts val="1800"/>
              <a:buChar char="●"/>
            </a:pPr>
            <a:r>
              <a:rPr b="1" lang="en"/>
              <a:t>Layoff.</a:t>
            </a:r>
            <a:r>
              <a:rPr lang="en"/>
              <a:t> If an organization finds it necessary to downsize, an important factor that might be used to guide the selection of those to be laid off could be performance; employees with the lowest performance would be the most likely candidates for layoff.</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txBox="1"/>
          <p:nvPr>
            <p:ph idx="1" type="body"/>
          </p:nvPr>
        </p:nvSpPr>
        <p:spPr>
          <a:xfrm>
            <a:off x="311700" y="207825"/>
            <a:ext cx="8520600" cy="45768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SzPct val="100000"/>
              <a:buChar char="●"/>
            </a:pPr>
            <a:r>
              <a:rPr b="1" lang="en"/>
              <a:t>Objective performance measure</a:t>
            </a:r>
            <a:r>
              <a:rPr lang="en"/>
              <a:t> - Usually a quantitative count of the results of work such as sales volume, complaint letters, and output.</a:t>
            </a:r>
            <a:endParaRPr/>
          </a:p>
          <a:p>
            <a:pPr indent="-334327" lvl="0" marL="457200" rtl="0" algn="l">
              <a:spcBef>
                <a:spcPts val="0"/>
              </a:spcBef>
              <a:spcAft>
                <a:spcPts val="0"/>
              </a:spcAft>
              <a:buSzPct val="100000"/>
              <a:buChar char="●"/>
            </a:pPr>
            <a:r>
              <a:rPr b="1" lang="en"/>
              <a:t>Judgmental performance measure</a:t>
            </a:r>
            <a:r>
              <a:rPr lang="en"/>
              <a:t> - Evaluation made of the effectiveness of an individual’s work behavior, most often by supervisors in the context of a yearly performance evaluation.</a:t>
            </a:r>
            <a:endParaRPr/>
          </a:p>
          <a:p>
            <a:pPr indent="-334327" lvl="0" marL="457200" rtl="0" algn="l">
              <a:spcBef>
                <a:spcPts val="0"/>
              </a:spcBef>
              <a:spcAft>
                <a:spcPts val="0"/>
              </a:spcAft>
              <a:buSzPct val="100000"/>
              <a:buChar char="●"/>
            </a:pPr>
            <a:r>
              <a:rPr b="1" lang="en"/>
              <a:t>Hands-on performance measurement </a:t>
            </a:r>
            <a:r>
              <a:rPr lang="en"/>
              <a:t>- Type of measurement that requires an employee to engage in work-related tasks; usually includes carefully constructed simulations of central or critical pieces of work that involve single workers.</a:t>
            </a:r>
            <a:endParaRPr/>
          </a:p>
          <a:p>
            <a:pPr indent="-334327" lvl="0" marL="457200" rtl="0" algn="l">
              <a:spcBef>
                <a:spcPts val="0"/>
              </a:spcBef>
              <a:spcAft>
                <a:spcPts val="0"/>
              </a:spcAft>
              <a:buSzPct val="100000"/>
              <a:buChar char="●"/>
            </a:pPr>
            <a:r>
              <a:rPr b="1" lang="en"/>
              <a:t>Walk-through testing</a:t>
            </a:r>
            <a:r>
              <a:rPr lang="en"/>
              <a:t> - Type  of measurement that requires an employee to describe to an interviewer in detail how to complete a task or job-related behavior; employee may literally walk through the facility (e.g., a nuclear power plant), answering questions as he or she actually sees the displays or controls in question.</a:t>
            </a:r>
            <a:endParaRPr/>
          </a:p>
          <a:p>
            <a:pPr indent="-334327" lvl="0" marL="457200" rtl="0" algn="l">
              <a:spcBef>
                <a:spcPts val="0"/>
              </a:spcBef>
              <a:spcAft>
                <a:spcPts val="0"/>
              </a:spcAft>
              <a:buSzPct val="100000"/>
              <a:buChar char="●"/>
            </a:pPr>
            <a:r>
              <a:rPr b="1" lang="en"/>
              <a:t>Electronic performance monitoring</a:t>
            </a:r>
            <a:r>
              <a:rPr lang="en"/>
              <a:t> - Monitoring work processes with electronic devices; can be very cost effective and has the potential for providing detailed and  </a:t>
            </a:r>
            <a:r>
              <a:rPr lang="en"/>
              <a:t>a</a:t>
            </a:r>
            <a:r>
              <a:rPr lang="en"/>
              <a:t>ccurate work logs.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rating - theories</a:t>
            </a:r>
            <a:endParaRPr/>
          </a:p>
        </p:txBody>
      </p:sp>
      <p:sp>
        <p:nvSpPr>
          <p:cNvPr id="194" name="Google Shape;194;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Since performance rating is one of the most common techniques for performance measurement, it has received a great deal of attention. This attention has led to increasingly sophisticated </a:t>
            </a:r>
            <a:endParaRPr/>
          </a:p>
          <a:p>
            <a:pPr indent="-342900" lvl="0" marL="457200" rtl="0" algn="l">
              <a:spcBef>
                <a:spcPts val="0"/>
              </a:spcBef>
              <a:spcAft>
                <a:spcPts val="0"/>
              </a:spcAft>
              <a:buSzPts val="1800"/>
              <a:buChar char="●"/>
            </a:pPr>
            <a:r>
              <a:rPr lang="en"/>
              <a:t>models of the performance rating process. One of the early theories was presented by Landy and Farr (1980), who addressed the various factors in the process of rating. </a:t>
            </a:r>
            <a:endParaRPr/>
          </a:p>
          <a:p>
            <a:pPr indent="-342900" lvl="0" marL="457200" rtl="0" algn="l">
              <a:spcBef>
                <a:spcPts val="0"/>
              </a:spcBef>
              <a:spcAft>
                <a:spcPts val="0"/>
              </a:spcAft>
              <a:buSzPts val="1800"/>
              <a:buChar char="●"/>
            </a:pPr>
            <a:r>
              <a:rPr lang="en"/>
              <a:t>This dizzying array of possible influences points out the complexity of the performance rating process. </a:t>
            </a:r>
            <a:endParaRPr/>
          </a:p>
          <a:p>
            <a:pPr indent="-342900" lvl="0" marL="457200" rtl="0" algn="l">
              <a:spcBef>
                <a:spcPts val="0"/>
              </a:spcBef>
              <a:spcAft>
                <a:spcPts val="0"/>
              </a:spcAft>
              <a:buSzPts val="1800"/>
              <a:buChar char="●"/>
            </a:pPr>
            <a:r>
              <a:rPr lang="en"/>
              <a:t>In the years since that model was proposed, other researchers have presented additional models. These models have often emphasized cognitive factors (e.g.,  memory, reasoning, and information processing) rather than situational ones (Feldman, 1981; Woehr &amp; Feldman, 1993).</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0"/>
          <p:cNvSpPr txBox="1"/>
          <p:nvPr>
            <p:ph type="title"/>
          </p:nvPr>
        </p:nvSpPr>
        <p:spPr>
          <a:xfrm>
            <a:off x="311700" y="198625"/>
            <a:ext cx="8520600" cy="81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A Pr</a:t>
            </a:r>
            <a:r>
              <a:rPr lang="en" sz="2000"/>
              <a:t>ocess Model of Performance Rating - Source: Landy F.J., &amp; Farr. J. L. (1980)</a:t>
            </a:r>
            <a:endParaRPr sz="2000"/>
          </a:p>
        </p:txBody>
      </p:sp>
      <p:pic>
        <p:nvPicPr>
          <p:cNvPr id="200" name="Google Shape;200;p40"/>
          <p:cNvPicPr preferRelativeResize="0"/>
          <p:nvPr/>
        </p:nvPicPr>
        <p:blipFill>
          <a:blip r:embed="rId3">
            <a:alphaModFix/>
          </a:blip>
          <a:stretch>
            <a:fillRect/>
          </a:stretch>
        </p:blipFill>
        <p:spPr>
          <a:xfrm>
            <a:off x="480025" y="944625"/>
            <a:ext cx="8183951" cy="4018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1"/>
          <p:cNvSpPr txBox="1"/>
          <p:nvPr>
            <p:ph idx="1" type="body"/>
          </p:nvPr>
        </p:nvSpPr>
        <p:spPr>
          <a:xfrm>
            <a:off x="311700" y="392025"/>
            <a:ext cx="8520600" cy="4420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Types of performance rating</a:t>
            </a:r>
            <a:endParaRPr/>
          </a:p>
          <a:p>
            <a:pPr indent="-342900" lvl="0" marL="457200" rtl="0" algn="l">
              <a:spcBef>
                <a:spcPts val="1200"/>
              </a:spcBef>
              <a:spcAft>
                <a:spcPts val="0"/>
              </a:spcAft>
              <a:buSzPts val="1800"/>
              <a:buChar char="●"/>
            </a:pPr>
            <a:r>
              <a:rPr b="1" lang="en"/>
              <a:t>Overall performance rating </a:t>
            </a:r>
            <a:r>
              <a:rPr lang="en"/>
              <a:t>- Recent researches have found that overall ratings of performance were influenced by three factors: task performance, organizational citizenship behavior (OCB), and counterproductive work behavior (CWB). The relative importance of these factors did not vary by job, even though a wide variety of jobs were included: accountant, administrative assistant, cashier, machine operator, and nurse.</a:t>
            </a:r>
            <a:endParaRPr/>
          </a:p>
          <a:p>
            <a:pPr indent="-342900" lvl="0" marL="457200" rtl="0" algn="l">
              <a:spcBef>
                <a:spcPts val="0"/>
              </a:spcBef>
              <a:spcAft>
                <a:spcPts val="0"/>
              </a:spcAft>
              <a:buSzPts val="1800"/>
              <a:buChar char="●"/>
            </a:pPr>
            <a:r>
              <a:rPr b="1" lang="en"/>
              <a:t>Trait rating</a:t>
            </a:r>
            <a:r>
              <a:rPr lang="en"/>
              <a:t> - Performance ratings were introduced by Paterson in 1923 and, at that time, it was common to have supervisors evaluate subordinates on traits such as persistence, concentration, or alertness. Traits are habits or tendencies that can be used as predictors of performance but not as measures of performance.The modern view of performance evaluation is that the rater should be describing actions or behaviors (Campbell, 1990a) rather than broad and amorphous “traits” that may or may not be of value in a job.</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2"/>
          <p:cNvSpPr txBox="1"/>
          <p:nvPr>
            <p:ph idx="1" type="body"/>
          </p:nvPr>
        </p:nvSpPr>
        <p:spPr>
          <a:xfrm>
            <a:off x="623400" y="120700"/>
            <a:ext cx="8520600" cy="4805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Task-based rating</a:t>
            </a:r>
            <a:r>
              <a:rPr lang="en"/>
              <a:t> - Task-based performance rating systems are usually a direct extension of job analysis The rater is asked to indicate the effectiveness of an employee on individual critical tasks or on groups of similar tasks, often called duties, to distinguish task groups from individual tasks.These types of ratings tend to be the most easily defended in court, and most easily accepted by incumbents, because of the clear and direct relationship between the duties rated and the job in question.</a:t>
            </a:r>
            <a:endParaRPr/>
          </a:p>
          <a:p>
            <a:pPr indent="-342900" lvl="0" marL="457200" rtl="0" algn="l">
              <a:spcBef>
                <a:spcPts val="0"/>
              </a:spcBef>
              <a:spcAft>
                <a:spcPts val="0"/>
              </a:spcAft>
              <a:buSzPts val="1800"/>
              <a:buChar char="●"/>
            </a:pPr>
            <a:r>
              <a:rPr b="1" lang="en"/>
              <a:t>Critical Incidents Methods</a:t>
            </a:r>
            <a:r>
              <a:rPr lang="en"/>
              <a:t> - Critical incidents (Flanagan, 1954) are examples of behavior that appear to be “critical” in determining whether performance would be good, average, or poor in specific performance areas (Landy, 1989). </a:t>
            </a:r>
            <a:endParaRPr/>
          </a:p>
          <a:p>
            <a:pPr indent="-342900" lvl="0" marL="457200" rtl="0" algn="l">
              <a:spcBef>
                <a:spcPts val="0"/>
              </a:spcBef>
              <a:spcAft>
                <a:spcPts val="0"/>
              </a:spcAft>
              <a:buSzPts val="1800"/>
              <a:buChar char="●"/>
            </a:pPr>
            <a:r>
              <a:rPr b="1" lang="en"/>
              <a:t>OCB and Adaptive Performance</a:t>
            </a:r>
            <a:r>
              <a:rPr lang="en"/>
              <a:t> </a:t>
            </a:r>
            <a:r>
              <a:rPr b="1" lang="en"/>
              <a:t>Ratings</a:t>
            </a:r>
            <a:r>
              <a:rPr lang="en"/>
              <a:t> - Although the rating of OCB is still relatively new by psychological standards, it has accumulated an impressive research base. The research on the identification of OCB dimensions suggests that these are valuable additions to task-based performance rating.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3"/>
          <p:cNvSpPr txBox="1"/>
          <p:nvPr>
            <p:ph type="title"/>
          </p:nvPr>
        </p:nvSpPr>
        <p:spPr>
          <a:xfrm>
            <a:off x="311700" y="330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rating - process</a:t>
            </a:r>
            <a:endParaRPr/>
          </a:p>
        </p:txBody>
      </p:sp>
      <p:sp>
        <p:nvSpPr>
          <p:cNvPr id="216" name="Google Shape;216;p43"/>
          <p:cNvSpPr txBox="1"/>
          <p:nvPr>
            <p:ph idx="1" type="body"/>
          </p:nvPr>
        </p:nvSpPr>
        <p:spPr>
          <a:xfrm>
            <a:off x="311700" y="831275"/>
            <a:ext cx="8520600" cy="4066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Sources</a:t>
            </a:r>
            <a:endParaRPr/>
          </a:p>
          <a:p>
            <a:pPr indent="-342900" lvl="0" marL="457200" rtl="0" algn="l">
              <a:spcBef>
                <a:spcPts val="1200"/>
              </a:spcBef>
              <a:spcAft>
                <a:spcPts val="0"/>
              </a:spcAft>
              <a:buSzPts val="1800"/>
              <a:buChar char="●"/>
            </a:pPr>
            <a:r>
              <a:rPr lang="en"/>
              <a:t>A relatively new and increasingly popular development in performance measurement is called the 360-degree assessment, which includes many and sometimes all of these sources.</a:t>
            </a:r>
            <a:endParaRPr/>
          </a:p>
          <a:p>
            <a:pPr indent="-342900" lvl="0" marL="457200" rtl="0" algn="l">
              <a:spcBef>
                <a:spcPts val="0"/>
              </a:spcBef>
              <a:spcAft>
                <a:spcPts val="0"/>
              </a:spcAft>
              <a:buSzPts val="1800"/>
              <a:buChar char="●"/>
            </a:pPr>
            <a:r>
              <a:rPr b="1" lang="en"/>
              <a:t>Supervisors</a:t>
            </a:r>
            <a:r>
              <a:rPr lang="en"/>
              <a:t> - First- and second-level managers and supervisors are by far the most common source of performance information. Supervisors can closely observe the behavior of the incumbent, and they are in a good position to evaluate the extent to which that behavior contributes to department and organizational success.</a:t>
            </a:r>
            <a:endParaRPr/>
          </a:p>
          <a:p>
            <a:pPr indent="-342900" lvl="0" marL="457200" rtl="0" algn="l">
              <a:spcBef>
                <a:spcPts val="0"/>
              </a:spcBef>
              <a:spcAft>
                <a:spcPts val="0"/>
              </a:spcAft>
              <a:buSzPts val="1800"/>
              <a:buChar char="●"/>
            </a:pPr>
            <a:r>
              <a:rPr b="1" lang="en"/>
              <a:t>Peers</a:t>
            </a:r>
            <a:r>
              <a:rPr lang="en"/>
              <a:t> - Peers are more likely than supervisors to interact with a worker on a daily basis; thus, peers may be more likely to know more about typical performance. In contrast, supervisors are more likely to be familiar with maximum performance. Thus, in theory, peers should be a good source for performance information.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4"/>
          <p:cNvSpPr txBox="1"/>
          <p:nvPr>
            <p:ph idx="1" type="body"/>
          </p:nvPr>
        </p:nvSpPr>
        <p:spPr>
          <a:xfrm>
            <a:off x="311700" y="307000"/>
            <a:ext cx="8520600" cy="4463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Self-Ratings</a:t>
            </a:r>
            <a:r>
              <a:rPr lang="en"/>
              <a:t> - Self-ratings have often been part of the traditional performance appraisal system. An individual is told to complete a rating form on himself or herself and bring it to a meeting with the supervisor, who has filled out the identical form on the subordinate. The supervisor </a:t>
            </a:r>
            <a:r>
              <a:rPr lang="en"/>
              <a:t>an</a:t>
            </a:r>
            <a:r>
              <a:rPr lang="en"/>
              <a:t>d subordinate then discuss agreements and disagreements in the ratings they have assigned. As a result of the discussion, the “final” rating form that the supervisor places in the employee’s personnel file is a consensus form, one that evolves from the discussion.</a:t>
            </a:r>
            <a:endParaRPr/>
          </a:p>
          <a:p>
            <a:pPr indent="-342900" lvl="0" marL="457200" rtl="0" algn="l">
              <a:spcBef>
                <a:spcPts val="0"/>
              </a:spcBef>
              <a:spcAft>
                <a:spcPts val="0"/>
              </a:spcAft>
              <a:buSzPts val="1800"/>
              <a:buChar char="●"/>
            </a:pPr>
            <a:r>
              <a:rPr b="1" lang="en"/>
              <a:t>Subordinate Ratings </a:t>
            </a:r>
            <a:r>
              <a:rPr lang="en"/>
              <a:t>- Increasing numbers of organizations are looking at the value of a subordinate’s evaluation of a boss.</a:t>
            </a:r>
            <a:endParaRPr/>
          </a:p>
          <a:p>
            <a:pPr indent="-342900" lvl="0" marL="457200" rtl="0" algn="l">
              <a:spcBef>
                <a:spcPts val="0"/>
              </a:spcBef>
              <a:spcAft>
                <a:spcPts val="0"/>
              </a:spcAft>
              <a:buSzPts val="1800"/>
              <a:buChar char="●"/>
            </a:pPr>
            <a:r>
              <a:rPr b="1" lang="en"/>
              <a:t>Customer and Supplier Ratings</a:t>
            </a:r>
            <a:r>
              <a:rPr lang="en"/>
              <a:t> - Many job titles require interaction with individuals outside the organization. The most obvious of these is the customer, but employees may also have important interactions with suppliers and vendors who provide materials and services to the organization. The perspective of these outside parties is likely to be unique and provides the opportunity to fill out the employee’s performance profile.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5"/>
          <p:cNvSpPr txBox="1"/>
          <p:nvPr>
            <p:ph idx="1" type="body"/>
          </p:nvPr>
        </p:nvSpPr>
        <p:spPr>
          <a:xfrm>
            <a:off x="311700" y="122800"/>
            <a:ext cx="8520600" cy="470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360-Degree Systems</a:t>
            </a:r>
            <a:endParaRPr b="1"/>
          </a:p>
          <a:p>
            <a:pPr indent="-333375" lvl="0" marL="457200" rtl="0" algn="l">
              <a:spcBef>
                <a:spcPts val="1200"/>
              </a:spcBef>
              <a:spcAft>
                <a:spcPts val="0"/>
              </a:spcAft>
              <a:buSzPts val="1650"/>
              <a:buChar char="●"/>
            </a:pPr>
            <a:r>
              <a:rPr lang="en" sz="1650"/>
              <a:t>The collection of information sources we have reviewed represents a wide variety of perspectives. It seems clear that by using these sources, we can examine the behavior of an employee from many possible angles (Oh &amp; Berry, 2009). Thus, the use of the varied sources has become known as the 360-degree evaluation. Because of the sensitivity of information from some of these sources and because of the potential conflicts that arise when administrative issues are involved, 360-degree systems are often used for feedback and employee development.</a:t>
            </a:r>
            <a:endParaRPr sz="1650"/>
          </a:p>
          <a:p>
            <a:pPr indent="0" lvl="0" marL="457200" rtl="0" algn="l">
              <a:spcBef>
                <a:spcPts val="1200"/>
              </a:spcBef>
              <a:spcAft>
                <a:spcPts val="1200"/>
              </a:spcAft>
              <a:buNone/>
            </a:pPr>
            <a:r>
              <a:t/>
            </a:r>
            <a:endParaRPr sz="1650"/>
          </a:p>
        </p:txBody>
      </p:sp>
      <p:pic>
        <p:nvPicPr>
          <p:cNvPr id="227" name="Google Shape;227;p45"/>
          <p:cNvPicPr preferRelativeResize="0"/>
          <p:nvPr/>
        </p:nvPicPr>
        <p:blipFill>
          <a:blip r:embed="rId3">
            <a:alphaModFix/>
          </a:blip>
          <a:stretch>
            <a:fillRect/>
          </a:stretch>
        </p:blipFill>
        <p:spPr>
          <a:xfrm>
            <a:off x="2535538" y="2762400"/>
            <a:ext cx="4072925" cy="2381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6"/>
          <p:cNvSpPr txBox="1"/>
          <p:nvPr>
            <p:ph idx="1" type="body"/>
          </p:nvPr>
        </p:nvSpPr>
        <p:spPr>
          <a:xfrm>
            <a:off x="311700" y="335350"/>
            <a:ext cx="8520600" cy="423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Rating distortions</a:t>
            </a:r>
            <a:r>
              <a:rPr lang="en"/>
              <a:t> </a:t>
            </a:r>
            <a:endParaRPr/>
          </a:p>
          <a:p>
            <a:pPr indent="-342900" lvl="0" marL="457200" rtl="0" algn="l">
              <a:spcBef>
                <a:spcPts val="1200"/>
              </a:spcBef>
              <a:spcAft>
                <a:spcPts val="0"/>
              </a:spcAft>
              <a:buSzPts val="1800"/>
              <a:buChar char="●"/>
            </a:pPr>
            <a:r>
              <a:rPr lang="en"/>
              <a:t>Even though the intent of a rating system is to collect accurate estimations of an individual’s performance, and we build in structural characteristics to assist in the gathering of those accurate estimations, raters don’t always provide accurate estimates.</a:t>
            </a:r>
            <a:endParaRPr/>
          </a:p>
          <a:p>
            <a:pPr indent="-342900" lvl="0" marL="457200" rtl="0" algn="l">
              <a:spcBef>
                <a:spcPts val="0"/>
              </a:spcBef>
              <a:spcAft>
                <a:spcPts val="0"/>
              </a:spcAft>
              <a:buSzPts val="1800"/>
              <a:buChar char="●"/>
            </a:pPr>
            <a:r>
              <a:rPr lang="en"/>
              <a:t>These have traditionally been labeled rating errors, but they may not really be “errors” as much as intentional or systematic distortions.</a:t>
            </a:r>
            <a:endParaRPr/>
          </a:p>
          <a:p>
            <a:pPr indent="-342900" lvl="0" marL="457200" rtl="0" algn="l">
              <a:spcBef>
                <a:spcPts val="0"/>
              </a:spcBef>
              <a:spcAft>
                <a:spcPts val="0"/>
              </a:spcAft>
              <a:buSzPts val="1800"/>
              <a:buChar char="●"/>
            </a:pPr>
            <a:r>
              <a:rPr b="1" lang="en"/>
              <a:t>Rating errors</a:t>
            </a:r>
            <a:r>
              <a:rPr lang="en"/>
              <a:t> - Inaccuracies in ratings that may be actual errors or intentional or systematic distortions.</a:t>
            </a:r>
            <a:endParaRPr/>
          </a:p>
          <a:p>
            <a:pPr indent="-342900" lvl="0" marL="457200" rtl="0" algn="l">
              <a:spcBef>
                <a:spcPts val="0"/>
              </a:spcBef>
              <a:spcAft>
                <a:spcPts val="0"/>
              </a:spcAft>
              <a:buSzPts val="1800"/>
              <a:buChar char="●"/>
            </a:pPr>
            <a:r>
              <a:rPr b="1" lang="en"/>
              <a:t>Central tendency error</a:t>
            </a:r>
            <a:r>
              <a:rPr lang="en"/>
              <a:t> - Error in which raters choose a middle point on the scale to describe performance, even though a more extreme point might better describe the employee.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7"/>
          <p:cNvSpPr txBox="1"/>
          <p:nvPr>
            <p:ph idx="1" type="body"/>
          </p:nvPr>
        </p:nvSpPr>
        <p:spPr>
          <a:xfrm>
            <a:off x="311700" y="448700"/>
            <a:ext cx="8520600" cy="412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Leniency error</a:t>
            </a:r>
            <a:r>
              <a:rPr lang="en"/>
              <a:t> - Error that occurs with raters who are unusually easy in their ratings. The easy rater gives ratings higher than employees deserve. </a:t>
            </a:r>
            <a:endParaRPr/>
          </a:p>
          <a:p>
            <a:pPr indent="-342900" lvl="0" marL="457200" rtl="0" algn="l">
              <a:spcBef>
                <a:spcPts val="0"/>
              </a:spcBef>
              <a:spcAft>
                <a:spcPts val="0"/>
              </a:spcAft>
              <a:buSzPts val="1800"/>
              <a:buChar char="●"/>
            </a:pPr>
            <a:r>
              <a:rPr b="1" lang="en"/>
              <a:t>Severity error</a:t>
            </a:r>
            <a:r>
              <a:rPr lang="en"/>
              <a:t> - Error that occurs with raters who are unusually harsh in their ratings. T</a:t>
            </a:r>
            <a:r>
              <a:rPr lang="en"/>
              <a:t>he harsh rater gives ratings lower than employees deserve.</a:t>
            </a:r>
            <a:endParaRPr/>
          </a:p>
          <a:p>
            <a:pPr indent="-342900" lvl="0" marL="457200" rtl="0" algn="l">
              <a:spcBef>
                <a:spcPts val="0"/>
              </a:spcBef>
              <a:spcAft>
                <a:spcPts val="0"/>
              </a:spcAft>
              <a:buSzPts val="1800"/>
              <a:buChar char="●"/>
            </a:pPr>
            <a:r>
              <a:rPr b="1" lang="en"/>
              <a:t>Halo error</a:t>
            </a:r>
            <a:r>
              <a:rPr lang="en"/>
              <a:t> - Error that occurs when a rater assigns the same rating to an employee on a series of dimensions, creating a halo or aura that surrounds all of the ratings, causing them to be similar. This might be the result of simple laziness on the part of the rater or because the rater believes that one particular dimension is key and all the other dimensions or performance areas flow from that one important area.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8"/>
          <p:cNvSpPr txBox="1"/>
          <p:nvPr>
            <p:ph idx="1" type="body"/>
          </p:nvPr>
        </p:nvSpPr>
        <p:spPr>
          <a:xfrm>
            <a:off x="311700" y="207825"/>
            <a:ext cx="8520600" cy="4534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a:t>Rater Training</a:t>
            </a:r>
            <a:endParaRPr b="1"/>
          </a:p>
          <a:p>
            <a:pPr indent="0" lvl="0" marL="0" rtl="0" algn="l">
              <a:spcBef>
                <a:spcPts val="1200"/>
              </a:spcBef>
              <a:spcAft>
                <a:spcPts val="0"/>
              </a:spcAft>
              <a:buNone/>
            </a:pPr>
            <a:r>
              <a:rPr lang="en"/>
              <a:t>It has generally been assumed that rater distortions are unintentional, that raters are unaware of influences that distort their ratings. There is also another version of the assumption that the raters may know exactly what they are doing and why they are doing it. Whatever be the reason, some distortions may be corrected through training. We will consider three types of training: </a:t>
            </a:r>
            <a:endParaRPr/>
          </a:p>
          <a:p>
            <a:pPr indent="-342900" lvl="0" marL="457200" rtl="0" algn="l">
              <a:spcBef>
                <a:spcPts val="1200"/>
              </a:spcBef>
              <a:spcAft>
                <a:spcPts val="0"/>
              </a:spcAft>
              <a:buSzPts val="1800"/>
              <a:buChar char="●"/>
            </a:pPr>
            <a:r>
              <a:rPr b="1" lang="en"/>
              <a:t>Administrative</a:t>
            </a:r>
            <a:r>
              <a:rPr lang="en"/>
              <a:t> - Most evaluation systems are straightforward and easy to </a:t>
            </a:r>
            <a:r>
              <a:rPr lang="en"/>
              <a:t>u</a:t>
            </a:r>
            <a:r>
              <a:rPr lang="en"/>
              <a:t>nderstand, such as the traditional graphic rating systems. Experienced managers have been doing performance ratings for their entire managerial </a:t>
            </a:r>
            <a:r>
              <a:rPr lang="en"/>
              <a:t>c</a:t>
            </a:r>
            <a:r>
              <a:rPr lang="en"/>
              <a:t>areers. They themselves have also been evaluated in management and non-management positions. If one or more of the structural characteristics (e.g., dimension definition, anchors, method for assigning or interpreting a rating) is deficient, administrative training becomes more important. The training would be directed toward developing a consensus among raters about the meaning of dimension headings or anchor meanings.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9"/>
          <p:cNvSpPr txBox="1"/>
          <p:nvPr>
            <p:ph idx="1" type="body"/>
          </p:nvPr>
        </p:nvSpPr>
        <p:spPr>
          <a:xfrm>
            <a:off x="311700" y="151150"/>
            <a:ext cx="8520600" cy="4888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Traditional psychometric training</a:t>
            </a:r>
            <a:r>
              <a:rPr lang="en"/>
              <a:t>  - Training that makes raters aware of common rating errors (central tendency, leniency/severity, and halo) in the hope that this will reduce the likelihood of errors.</a:t>
            </a:r>
            <a:endParaRPr/>
          </a:p>
          <a:p>
            <a:pPr indent="-342900" lvl="0" marL="457200" rtl="0" algn="l">
              <a:spcBef>
                <a:spcPts val="0"/>
              </a:spcBef>
              <a:spcAft>
                <a:spcPts val="0"/>
              </a:spcAft>
              <a:buSzPts val="1800"/>
              <a:buChar char="●"/>
            </a:pPr>
            <a:r>
              <a:rPr b="1" lang="en"/>
              <a:t>Frame-of-Reference training</a:t>
            </a:r>
            <a:r>
              <a:rPr lang="en"/>
              <a:t> - Training based on the assumption that a rater needs a context or “frame” for providing a rating; includes </a:t>
            </a:r>
            <a:endParaRPr/>
          </a:p>
          <a:p>
            <a:pPr indent="0" lvl="0" marL="457200" rtl="0" algn="l">
              <a:spcBef>
                <a:spcPts val="1200"/>
              </a:spcBef>
              <a:spcAft>
                <a:spcPts val="0"/>
              </a:spcAft>
              <a:buNone/>
            </a:pPr>
            <a:r>
              <a:rPr lang="en"/>
              <a:t>(1) providing information on the multidimensional  nature of performance</a:t>
            </a:r>
            <a:endParaRPr/>
          </a:p>
          <a:p>
            <a:pPr indent="0" lvl="0" marL="457200" rtl="0" algn="l">
              <a:spcBef>
                <a:spcPts val="1200"/>
              </a:spcBef>
              <a:spcAft>
                <a:spcPts val="0"/>
              </a:spcAft>
              <a:buNone/>
            </a:pPr>
            <a:r>
              <a:rPr lang="en"/>
              <a:t>(2) ensuring that raters understand the meaning of anchors on the scale </a:t>
            </a:r>
            <a:endParaRPr/>
          </a:p>
          <a:p>
            <a:pPr indent="0" lvl="0" marL="457200" rtl="0" algn="l">
              <a:spcBef>
                <a:spcPts val="1200"/>
              </a:spcBef>
              <a:spcAft>
                <a:spcPts val="0"/>
              </a:spcAft>
              <a:buNone/>
            </a:pPr>
            <a:r>
              <a:rPr lang="en"/>
              <a:t>(3) engaging in practice rating exercises and </a:t>
            </a:r>
            <a:endParaRPr/>
          </a:p>
          <a:p>
            <a:pPr indent="0" lvl="0" marL="457200" rtl="0" algn="l">
              <a:spcBef>
                <a:spcPts val="1200"/>
              </a:spcBef>
              <a:spcAft>
                <a:spcPts val="0"/>
              </a:spcAft>
              <a:buNone/>
            </a:pPr>
            <a:r>
              <a:rPr lang="en"/>
              <a:t>(4) providing feedback on practice exercises.</a:t>
            </a:r>
            <a:endParaRPr/>
          </a:p>
          <a:p>
            <a:pPr indent="-342900" lvl="0" marL="457200" rtl="0" algn="l">
              <a:spcBef>
                <a:spcPts val="1200"/>
              </a:spcBef>
              <a:spcAft>
                <a:spcPts val="0"/>
              </a:spcAft>
              <a:buSzPts val="1800"/>
              <a:buChar char="●"/>
            </a:pPr>
            <a:r>
              <a:rPr lang="en"/>
              <a:t>I-O psychologists continue to be concerned about the reliability and validity of performance ratings. The relatively low inter-rater reliability of performance ratings likely results from the different behavior described by each information source. The challenge is to combine those sources to get the full performance picture. The more information gathered, the more comprehensive and accurate the complete performance estimate will be.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50"/>
          <p:cNvSpPr txBox="1"/>
          <p:nvPr>
            <p:ph idx="1" type="body"/>
          </p:nvPr>
        </p:nvSpPr>
        <p:spPr>
          <a:xfrm>
            <a:off x="311700" y="335350"/>
            <a:ext cx="8520600" cy="4233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chemeClr val="dk1"/>
                </a:solidFill>
              </a:rPr>
              <a:t>Performance evaluation</a:t>
            </a:r>
            <a:endParaRPr/>
          </a:p>
          <a:p>
            <a:pPr indent="-342900" lvl="0" marL="457200" rtl="0" algn="l">
              <a:spcBef>
                <a:spcPts val="0"/>
              </a:spcBef>
              <a:spcAft>
                <a:spcPts val="0"/>
              </a:spcAft>
              <a:buSzPts val="1800"/>
              <a:buChar char="●"/>
            </a:pPr>
            <a:r>
              <a:rPr lang="en"/>
              <a:t>An extension of the use of job analysis for criterion development is the development of performance evaluation systems. Once the job analyst identifies critical performance components of a job, it is possible to develop a system for evaluating the extent to which an individual worker has fallen short of, met, or exceeded the standards set by the organization for performance on those components.</a:t>
            </a:r>
            <a:endParaRPr/>
          </a:p>
          <a:p>
            <a:pPr indent="-342900" lvl="0" marL="457200" rtl="0" algn="l">
              <a:spcBef>
                <a:spcPts val="0"/>
              </a:spcBef>
              <a:spcAft>
                <a:spcPts val="0"/>
              </a:spcAft>
              <a:buSzPts val="1800"/>
              <a:buChar char="●"/>
            </a:pPr>
            <a:r>
              <a:rPr lang="en"/>
              <a:t>Since the 1980s, many organizations have replaced the terms “performance appraisal” and “performance evaluation” with the term “performance management.” Performance management systems emphasize the link between individual behavior and organizational strategies and goals by defining performance in the context of those goals.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51"/>
          <p:cNvSpPr txBox="1"/>
          <p:nvPr>
            <p:ph idx="1" type="body"/>
          </p:nvPr>
        </p:nvSpPr>
        <p:spPr>
          <a:xfrm>
            <a:off x="311700" y="250325"/>
            <a:ext cx="8520600" cy="4675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500"/>
              <a:t>Motivation for rating</a:t>
            </a:r>
            <a:endParaRPr b="1" sz="1500"/>
          </a:p>
          <a:p>
            <a:pPr indent="0" lvl="0" marL="0" rtl="0" algn="l">
              <a:lnSpc>
                <a:spcPct val="100000"/>
              </a:lnSpc>
              <a:spcBef>
                <a:spcPts val="1200"/>
              </a:spcBef>
              <a:spcAft>
                <a:spcPts val="0"/>
              </a:spcAft>
              <a:buNone/>
            </a:pPr>
            <a:r>
              <a:rPr lang="en" sz="1500"/>
              <a:t>Cleveland and Murphy (1992) delineated the goals of each stakeholder as follows.</a:t>
            </a:r>
            <a:endParaRPr sz="1500"/>
          </a:p>
          <a:p>
            <a:pPr indent="0" lvl="0" marL="0" rtl="0" algn="l">
              <a:lnSpc>
                <a:spcPct val="100000"/>
              </a:lnSpc>
              <a:spcBef>
                <a:spcPts val="1200"/>
              </a:spcBef>
              <a:spcAft>
                <a:spcPts val="0"/>
              </a:spcAft>
              <a:buClr>
                <a:schemeClr val="dk1"/>
              </a:buClr>
              <a:buSzPts val="1100"/>
              <a:buFont typeface="Arial"/>
              <a:buNone/>
            </a:pPr>
            <a:r>
              <a:rPr b="1" lang="en" sz="1500"/>
              <a:t>Rater Goals</a:t>
            </a:r>
            <a:endParaRPr b="1" sz="1500"/>
          </a:p>
          <a:p>
            <a:pPr indent="-323850" lvl="0" marL="457200" rtl="0" algn="l">
              <a:lnSpc>
                <a:spcPct val="100000"/>
              </a:lnSpc>
              <a:spcBef>
                <a:spcPts val="1200"/>
              </a:spcBef>
              <a:spcAft>
                <a:spcPts val="0"/>
              </a:spcAft>
              <a:buSzPts val="1500"/>
              <a:buChar char="●"/>
            </a:pPr>
            <a:r>
              <a:rPr lang="en" sz="1500"/>
              <a:t>Task performance: using appraisal to maintain or enhance the ratee’s performance goals or levels </a:t>
            </a:r>
            <a:endParaRPr sz="1500"/>
          </a:p>
          <a:p>
            <a:pPr indent="-323850" lvl="0" marL="457200" rtl="0" algn="l">
              <a:lnSpc>
                <a:spcPct val="100000"/>
              </a:lnSpc>
              <a:spcBef>
                <a:spcPts val="0"/>
              </a:spcBef>
              <a:spcAft>
                <a:spcPts val="0"/>
              </a:spcAft>
              <a:buSzPts val="1500"/>
              <a:buChar char="●"/>
            </a:pPr>
            <a:r>
              <a:rPr lang="en" sz="1500"/>
              <a:t>Interpersonal: using appraisal to maintain or improve interpersonal relations with the ratee</a:t>
            </a:r>
            <a:endParaRPr sz="1500"/>
          </a:p>
          <a:p>
            <a:pPr indent="-323850" lvl="0" marL="457200" rtl="0" algn="l">
              <a:lnSpc>
                <a:spcPct val="100000"/>
              </a:lnSpc>
              <a:spcBef>
                <a:spcPts val="0"/>
              </a:spcBef>
              <a:spcAft>
                <a:spcPts val="0"/>
              </a:spcAft>
              <a:buSzPts val="1500"/>
              <a:buChar char="●"/>
            </a:pPr>
            <a:r>
              <a:rPr lang="en" sz="1500"/>
              <a:t>Strategic: using appraisal to enhance the standing of the supervisor or work group in the organization</a:t>
            </a:r>
            <a:endParaRPr sz="1500"/>
          </a:p>
          <a:p>
            <a:pPr indent="-323850" lvl="0" marL="457200" rtl="0" algn="l">
              <a:lnSpc>
                <a:spcPct val="100000"/>
              </a:lnSpc>
              <a:spcBef>
                <a:spcPts val="0"/>
              </a:spcBef>
              <a:spcAft>
                <a:spcPts val="0"/>
              </a:spcAft>
              <a:buSzPts val="1500"/>
              <a:buChar char="●"/>
            </a:pPr>
            <a:r>
              <a:rPr lang="en" sz="1500"/>
              <a:t>Internalized: using appraisal to confirm the rater’s view of himself or herself as a person of high standards</a:t>
            </a:r>
            <a:endParaRPr sz="1500"/>
          </a:p>
          <a:p>
            <a:pPr indent="0" lvl="0" marL="0" rtl="0" algn="l">
              <a:lnSpc>
                <a:spcPct val="100000"/>
              </a:lnSpc>
              <a:spcBef>
                <a:spcPts val="1200"/>
              </a:spcBef>
              <a:spcAft>
                <a:spcPts val="0"/>
              </a:spcAft>
              <a:buClr>
                <a:schemeClr val="dk1"/>
              </a:buClr>
              <a:buSzPts val="1100"/>
              <a:buFont typeface="Arial"/>
              <a:buNone/>
            </a:pPr>
            <a:r>
              <a:rPr b="1" lang="en" sz="1500"/>
              <a:t>Ratee Goals</a:t>
            </a:r>
            <a:endParaRPr b="1" sz="1500"/>
          </a:p>
          <a:p>
            <a:pPr indent="-323850" lvl="0" marL="457200" rtl="0" algn="l">
              <a:lnSpc>
                <a:spcPct val="100000"/>
              </a:lnSpc>
              <a:spcBef>
                <a:spcPts val="1200"/>
              </a:spcBef>
              <a:spcAft>
                <a:spcPts val="0"/>
              </a:spcAft>
              <a:buSzPts val="1500"/>
              <a:buChar char="●"/>
            </a:pPr>
            <a:r>
              <a:rPr lang="en" sz="1500"/>
              <a:t>Information gathering: to determine the ratee’s relative standing in the work group; to determine future performance directions; to determine organizational performance standards or expectations</a:t>
            </a:r>
            <a:endParaRPr sz="1500"/>
          </a:p>
          <a:p>
            <a:pPr indent="-323850" lvl="0" marL="457200" rtl="0" algn="l">
              <a:lnSpc>
                <a:spcPct val="100000"/>
              </a:lnSpc>
              <a:spcBef>
                <a:spcPts val="0"/>
              </a:spcBef>
              <a:spcAft>
                <a:spcPts val="0"/>
              </a:spcAft>
              <a:buSzPts val="1500"/>
              <a:buChar char="●"/>
            </a:pPr>
            <a:r>
              <a:rPr lang="en" sz="1500"/>
              <a:t>Information dissemination: to convey information to the rater regarding constraints on performance; to convey to the rater a willingness to improve performance</a:t>
            </a:r>
            <a:endParaRPr sz="15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2"/>
          <p:cNvSpPr txBox="1"/>
          <p:nvPr>
            <p:ph idx="1" type="body"/>
          </p:nvPr>
        </p:nvSpPr>
        <p:spPr>
          <a:xfrm>
            <a:off x="311700" y="179475"/>
            <a:ext cx="8520600" cy="4633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t>Organizational Goals</a:t>
            </a:r>
            <a:endParaRPr b="1" sz="1600"/>
          </a:p>
          <a:p>
            <a:pPr indent="-330200" lvl="0" marL="457200" rtl="0" algn="l">
              <a:lnSpc>
                <a:spcPct val="100000"/>
              </a:lnSpc>
              <a:spcBef>
                <a:spcPts val="1200"/>
              </a:spcBef>
              <a:spcAft>
                <a:spcPts val="0"/>
              </a:spcAft>
              <a:buSzPts val="1600"/>
              <a:buChar char="●"/>
            </a:pPr>
            <a:r>
              <a:rPr lang="en" sz="1600"/>
              <a:t>Between-person uses: salary administration, promotion, retention/termination, layoffs, identification of poor performers</a:t>
            </a:r>
            <a:endParaRPr sz="1600"/>
          </a:p>
          <a:p>
            <a:pPr indent="-330200" lvl="0" marL="457200" rtl="0" algn="l">
              <a:lnSpc>
                <a:spcPct val="100000"/>
              </a:lnSpc>
              <a:spcBef>
                <a:spcPts val="0"/>
              </a:spcBef>
              <a:spcAft>
                <a:spcPts val="0"/>
              </a:spcAft>
              <a:buSzPts val="1600"/>
              <a:buChar char="●"/>
            </a:pPr>
            <a:r>
              <a:rPr lang="en" sz="1600"/>
              <a:t>Within-person uses: identification of training needs, performance feedback, transfers/ assignments, identification of individual strengths and weaknesses</a:t>
            </a:r>
            <a:endParaRPr sz="1600"/>
          </a:p>
          <a:p>
            <a:pPr indent="-330200" lvl="0" marL="457200" rtl="0" algn="l">
              <a:lnSpc>
                <a:spcPct val="100000"/>
              </a:lnSpc>
              <a:spcBef>
                <a:spcPts val="0"/>
              </a:spcBef>
              <a:spcAft>
                <a:spcPts val="0"/>
              </a:spcAft>
              <a:buSzPts val="1600"/>
              <a:buChar char="●"/>
            </a:pPr>
            <a:r>
              <a:rPr lang="en" sz="1600"/>
              <a:t>Systems-maintenance uses: manpower planning, organizational development, evaluation of the personnel system, identification of organizational training needs</a:t>
            </a:r>
            <a:endParaRPr sz="1600"/>
          </a:p>
          <a:p>
            <a:pPr indent="0" lvl="0" marL="0" rtl="0" algn="l">
              <a:lnSpc>
                <a:spcPct val="100000"/>
              </a:lnSpc>
              <a:spcBef>
                <a:spcPts val="1200"/>
              </a:spcBef>
              <a:spcAft>
                <a:spcPts val="0"/>
              </a:spcAft>
              <a:buClr>
                <a:schemeClr val="dk1"/>
              </a:buClr>
              <a:buSzPts val="1100"/>
              <a:buFont typeface="Arial"/>
              <a:buNone/>
            </a:pPr>
            <a:r>
              <a:rPr b="1" lang="en" sz="1600"/>
              <a:t>Goal Conflict</a:t>
            </a:r>
            <a:endParaRPr b="1" sz="1600"/>
          </a:p>
          <a:p>
            <a:pPr indent="0" lvl="0" marL="0" rtl="0" algn="l">
              <a:lnSpc>
                <a:spcPct val="100000"/>
              </a:lnSpc>
              <a:spcBef>
                <a:spcPts val="1200"/>
              </a:spcBef>
              <a:spcAft>
                <a:spcPts val="0"/>
              </a:spcAft>
              <a:buClr>
                <a:schemeClr val="dk1"/>
              </a:buClr>
              <a:buSzPts val="1100"/>
              <a:buFont typeface="Arial"/>
              <a:buNone/>
            </a:pPr>
            <a:r>
              <a:rPr lang="en" sz="1600"/>
              <a:t>The problem with having multiple stakeholders with differing goals is that they often conflict when a single system is used for performance evaluation. Consider some typical conflicts:</a:t>
            </a:r>
            <a:endParaRPr sz="1600"/>
          </a:p>
          <a:p>
            <a:pPr indent="-330200" lvl="0" marL="457200" rtl="0" algn="l">
              <a:lnSpc>
                <a:spcPct val="100000"/>
              </a:lnSpc>
              <a:spcBef>
                <a:spcPts val="1200"/>
              </a:spcBef>
              <a:spcAft>
                <a:spcPts val="0"/>
              </a:spcAft>
              <a:buSzPts val="1600"/>
              <a:buChar char="●"/>
            </a:pPr>
            <a:r>
              <a:rPr lang="en" sz="1600"/>
              <a:t>A rater wants to make his or her group look good, a ratee wants to learn what the organizational performance standards are, and an organization wants to make salary decisions.</a:t>
            </a:r>
            <a:endParaRPr sz="1600"/>
          </a:p>
          <a:p>
            <a:pPr indent="-330200" lvl="0" marL="457200" rtl="0" algn="l">
              <a:lnSpc>
                <a:spcPct val="100000"/>
              </a:lnSpc>
              <a:spcBef>
                <a:spcPts val="0"/>
              </a:spcBef>
              <a:spcAft>
                <a:spcPts val="0"/>
              </a:spcAft>
              <a:buSzPts val="1600"/>
              <a:buChar char="●"/>
            </a:pPr>
            <a:r>
              <a:rPr lang="en" sz="1600"/>
              <a:t>A rater wants to motivate a ratee to perform at a higher level, a ratee wants to explain why his or her performance was constrained by work conditions, and an organization wants to make layoff decisions.</a:t>
            </a:r>
            <a:endParaRPr sz="1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3"/>
          <p:cNvSpPr txBox="1"/>
          <p:nvPr>
            <p:ph idx="1" type="body"/>
          </p:nvPr>
        </p:nvSpPr>
        <p:spPr>
          <a:xfrm>
            <a:off x="311700" y="165300"/>
            <a:ext cx="8520600" cy="4605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35"/>
              <a:buNone/>
            </a:pPr>
            <a:r>
              <a:rPr b="1" lang="en" sz="1629"/>
              <a:t>Performance feedback</a:t>
            </a:r>
            <a:endParaRPr b="1" sz="1629"/>
          </a:p>
          <a:p>
            <a:pPr indent="0" lvl="0" marL="0" rtl="0" algn="l">
              <a:lnSpc>
                <a:spcPct val="100000"/>
              </a:lnSpc>
              <a:spcBef>
                <a:spcPts val="1200"/>
              </a:spcBef>
              <a:spcAft>
                <a:spcPts val="0"/>
              </a:spcAft>
              <a:buSzPts val="935"/>
              <a:buNone/>
            </a:pPr>
            <a:r>
              <a:rPr lang="en" sz="1629"/>
              <a:t>Individual workers seek feedback because it reduces uncertainty and provides external information about levels of performance to balance internal (self) perceptions (Murphy &amp; Cleveland, 1995). Most workers prefer to receive positive feedback, and most supervisors prefer to give positive feedback. But there is always room for improvement, so most workers get mixed feedback, some positive and some directed toward improving skills or eliminating weaknesses. This becomes particularly problematic when the same information is used for multiple purposes.</a:t>
            </a:r>
            <a:endParaRPr sz="1629"/>
          </a:p>
          <a:p>
            <a:pPr indent="0" lvl="0" marL="0" rtl="0" algn="l">
              <a:lnSpc>
                <a:spcPct val="100000"/>
              </a:lnSpc>
              <a:spcBef>
                <a:spcPts val="1200"/>
              </a:spcBef>
              <a:spcAft>
                <a:spcPts val="0"/>
              </a:spcAft>
              <a:buSzPts val="935"/>
              <a:buNone/>
            </a:pPr>
            <a:r>
              <a:rPr lang="en" sz="1629"/>
              <a:t>The employee is more likely to accept negative feedback if he or she believes the following:</a:t>
            </a:r>
            <a:endParaRPr sz="1629"/>
          </a:p>
          <a:p>
            <a:pPr indent="-332105" lvl="0" marL="457200" rtl="0" algn="l">
              <a:lnSpc>
                <a:spcPct val="100000"/>
              </a:lnSpc>
              <a:spcBef>
                <a:spcPts val="1200"/>
              </a:spcBef>
              <a:spcAft>
                <a:spcPts val="0"/>
              </a:spcAft>
              <a:buSzPts val="1630"/>
              <a:buChar char="●"/>
            </a:pPr>
            <a:r>
              <a:rPr lang="en" sz="1629"/>
              <a:t>The supervisor has a sufficient “sample” of the subordinate’s actual behavior.</a:t>
            </a:r>
            <a:endParaRPr sz="1629"/>
          </a:p>
          <a:p>
            <a:pPr indent="-332105" lvl="0" marL="457200" rtl="0" algn="l">
              <a:lnSpc>
                <a:spcPct val="100000"/>
              </a:lnSpc>
              <a:spcBef>
                <a:spcPts val="0"/>
              </a:spcBef>
              <a:spcAft>
                <a:spcPts val="0"/>
              </a:spcAft>
              <a:buSzPts val="1630"/>
              <a:buChar char="●"/>
            </a:pPr>
            <a:r>
              <a:rPr lang="en" sz="1629"/>
              <a:t>The supervisor and subordinate agree on the subordinate’s job duties.</a:t>
            </a:r>
            <a:endParaRPr sz="1629"/>
          </a:p>
          <a:p>
            <a:pPr indent="-332105" lvl="0" marL="457200" rtl="0" algn="l">
              <a:lnSpc>
                <a:spcPct val="100000"/>
              </a:lnSpc>
              <a:spcBef>
                <a:spcPts val="0"/>
              </a:spcBef>
              <a:spcAft>
                <a:spcPts val="0"/>
              </a:spcAft>
              <a:buSzPts val="1630"/>
              <a:buChar char="●"/>
            </a:pPr>
            <a:r>
              <a:rPr lang="en" sz="1629"/>
              <a:t>The supervisor and subordinate agree on the definition of good and poor performance.</a:t>
            </a:r>
            <a:endParaRPr sz="1629"/>
          </a:p>
          <a:p>
            <a:pPr indent="-332105" lvl="0" marL="457200" rtl="0" algn="l">
              <a:lnSpc>
                <a:spcPct val="100000"/>
              </a:lnSpc>
              <a:spcBef>
                <a:spcPts val="0"/>
              </a:spcBef>
              <a:spcAft>
                <a:spcPts val="0"/>
              </a:spcAft>
              <a:buSzPts val="1630"/>
              <a:buChar char="●"/>
            </a:pPr>
            <a:r>
              <a:rPr lang="en" sz="1629"/>
              <a:t>The supervisor focuses on ways to improve performance rather than simply documenting poor performance. </a:t>
            </a:r>
            <a:endParaRPr sz="1629"/>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4"/>
          <p:cNvSpPr txBox="1"/>
          <p:nvPr>
            <p:ph idx="1" type="body"/>
          </p:nvPr>
        </p:nvSpPr>
        <p:spPr>
          <a:xfrm>
            <a:off x="311700" y="335350"/>
            <a:ext cx="8520600" cy="4233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Destructive criticism</a:t>
            </a:r>
            <a:r>
              <a:rPr lang="en"/>
              <a:t> - Negative feedback that is cruel, sarcastic, and offensive; usually general rather than specific and often directed toward personal characteristics of the employee rather than job-relevant behaviors.</a:t>
            </a:r>
            <a:endParaRPr/>
          </a:p>
          <a:p>
            <a:pPr indent="-342900" lvl="0" marL="457200" rtl="0" algn="l">
              <a:spcBef>
                <a:spcPts val="0"/>
              </a:spcBef>
              <a:spcAft>
                <a:spcPts val="0"/>
              </a:spcAft>
              <a:buSzPts val="1800"/>
              <a:buChar char="●"/>
            </a:pPr>
            <a:r>
              <a:rPr b="1" lang="en"/>
              <a:t>360 degree feedback </a:t>
            </a:r>
            <a:r>
              <a:rPr lang="en"/>
              <a:t>- an organization has a wide array of possible information sources for performance evaluation. It is also true, as a general principle, that the greater the number of independent sources, the more complete the performance picture.</a:t>
            </a:r>
            <a:endParaRPr/>
          </a:p>
          <a:p>
            <a:pPr indent="0" lvl="0" marL="0" rtl="0" algn="l">
              <a:spcBef>
                <a:spcPts val="1200"/>
              </a:spcBef>
              <a:spcAft>
                <a:spcPts val="0"/>
              </a:spcAft>
              <a:buNone/>
            </a:pPr>
            <a:r>
              <a:rPr b="1" lang="en"/>
              <a:t>Performance evaluation and culture</a:t>
            </a:r>
            <a:endParaRPr b="1"/>
          </a:p>
          <a:p>
            <a:pPr indent="0" lvl="0" marL="0" rtl="0" algn="l">
              <a:spcBef>
                <a:spcPts val="1200"/>
              </a:spcBef>
              <a:spcAft>
                <a:spcPts val="1200"/>
              </a:spcAft>
              <a:buNone/>
            </a:pPr>
            <a:r>
              <a:rPr lang="en"/>
              <a:t>Organizations need to be sensitive to cultural issues when introducing performance evaluation systems into multinational environments. The effect of simply applying one-size-fits-all results across multinational samples (e.g., Colombian, Chinese, and North American managers) can be misleading at best and counterproductive at worst. Davis suggested that Hofstede’s five dimensions of culture might affect performance evaluations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5"/>
          <p:cNvSpPr txBox="1"/>
          <p:nvPr>
            <p:ph idx="1" type="body"/>
          </p:nvPr>
        </p:nvSpPr>
        <p:spPr>
          <a:xfrm>
            <a:off x="311700" y="278675"/>
            <a:ext cx="8520600" cy="4290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Davis suggested that Hofstede’s five dimensions of culture might affect performance evaluations as follows: </a:t>
            </a:r>
            <a:endParaRPr/>
          </a:p>
          <a:p>
            <a:pPr indent="0" lvl="0" marL="0" rtl="0" algn="l">
              <a:spcBef>
                <a:spcPts val="1200"/>
              </a:spcBef>
              <a:spcAft>
                <a:spcPts val="0"/>
              </a:spcAft>
              <a:buClr>
                <a:schemeClr val="dk1"/>
              </a:buClr>
              <a:buSzPct val="61111"/>
              <a:buFont typeface="Arial"/>
              <a:buNone/>
            </a:pPr>
            <a:r>
              <a:rPr lang="en"/>
              <a:t>● Individualist cultures will be more amenable to traditional performance evaluation; collectivist cultures will be more amenable to the evaluations of groups or teams.</a:t>
            </a:r>
            <a:endParaRPr/>
          </a:p>
          <a:p>
            <a:pPr indent="0" lvl="0" marL="0" rtl="0" algn="l">
              <a:spcBef>
                <a:spcPts val="1200"/>
              </a:spcBef>
              <a:spcAft>
                <a:spcPts val="0"/>
              </a:spcAft>
              <a:buClr>
                <a:schemeClr val="dk1"/>
              </a:buClr>
              <a:buSzPct val="61111"/>
              <a:buFont typeface="Arial"/>
              <a:buNone/>
            </a:pPr>
            <a:r>
              <a:rPr lang="en"/>
              <a:t>● Cultures characterized as high in power distance will be more resistant to 360-degree systems than those low in power distance.</a:t>
            </a:r>
            <a:endParaRPr/>
          </a:p>
          <a:p>
            <a:pPr indent="0" lvl="0" marL="0" rtl="0" algn="l">
              <a:spcBef>
                <a:spcPts val="1200"/>
              </a:spcBef>
              <a:spcAft>
                <a:spcPts val="0"/>
              </a:spcAft>
              <a:buClr>
                <a:schemeClr val="dk1"/>
              </a:buClr>
              <a:buSzPct val="61111"/>
              <a:buFont typeface="Arial"/>
              <a:buNone/>
            </a:pPr>
            <a:r>
              <a:rPr lang="en"/>
              <a:t>● Cultures with low tolerance for uncertainty will tend to be characterized by blunt and direct performance feedback.</a:t>
            </a:r>
            <a:endParaRPr/>
          </a:p>
          <a:p>
            <a:pPr indent="0" lvl="0" marL="0" rtl="0" algn="l">
              <a:spcBef>
                <a:spcPts val="1200"/>
              </a:spcBef>
              <a:spcAft>
                <a:spcPts val="0"/>
              </a:spcAft>
              <a:buClr>
                <a:schemeClr val="dk1"/>
              </a:buClr>
              <a:buSzPct val="61111"/>
              <a:buFont typeface="Arial"/>
              <a:buNone/>
            </a:pPr>
            <a:r>
              <a:rPr lang="en"/>
              <a:t>● Masculine cultures will emphasize achievement and accomplishments, whereas feminine cultures will emphasize relationships.</a:t>
            </a:r>
            <a:endParaRPr/>
          </a:p>
          <a:p>
            <a:pPr indent="0" lvl="0" marL="0" rtl="0" algn="l">
              <a:spcBef>
                <a:spcPts val="1200"/>
              </a:spcBef>
              <a:spcAft>
                <a:spcPts val="1200"/>
              </a:spcAft>
              <a:buNone/>
            </a:pPr>
            <a:r>
              <a:rPr lang="en"/>
              <a:t>● Short-term-orientation cultures will emphasize relationships rather than performance; long-term-orientation cultures will emphasize behavioral change based on performance feedback.</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6"/>
          <p:cNvSpPr txBox="1"/>
          <p:nvPr>
            <p:ph idx="1" type="body"/>
          </p:nvPr>
        </p:nvSpPr>
        <p:spPr>
          <a:xfrm>
            <a:off x="311700" y="307000"/>
            <a:ext cx="8520600" cy="4261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Performance evaluation and the law</a:t>
            </a:r>
            <a:endParaRPr b="1"/>
          </a:p>
          <a:p>
            <a:pPr indent="-342900" lvl="0" marL="457200" rtl="0" algn="l">
              <a:spcBef>
                <a:spcPts val="1200"/>
              </a:spcBef>
              <a:spcAft>
                <a:spcPts val="0"/>
              </a:spcAft>
              <a:buSzPts val="1800"/>
              <a:buChar char="●"/>
            </a:pPr>
            <a:r>
              <a:rPr lang="en"/>
              <a:t>Forced-distribution rating system - Rating system that requires evaluators to place employees into performance categories based on a predetermined percentage of employees in different categories (low, moderate, high).</a:t>
            </a:r>
            <a:endParaRPr/>
          </a:p>
          <a:p>
            <a:pPr indent="-342900" lvl="0" marL="457200" rtl="0" algn="l">
              <a:spcBef>
                <a:spcPts val="0"/>
              </a:spcBef>
              <a:spcAft>
                <a:spcPts val="0"/>
              </a:spcAft>
              <a:buSzPts val="1800"/>
              <a:buChar char="●"/>
            </a:pPr>
            <a:r>
              <a:rPr lang="en"/>
              <a:t>Policy capturing - Technique that allows researchers to code various characteristics and determine which weighed most heavily in raters’ decision making.</a:t>
            </a:r>
            <a:endParaRPr/>
          </a:p>
          <a:p>
            <a:pPr indent="-342900" lvl="0" marL="457200" rtl="0" algn="l">
              <a:spcBef>
                <a:spcPts val="0"/>
              </a:spcBef>
              <a:spcAft>
                <a:spcPts val="0"/>
              </a:spcAft>
              <a:buSzPts val="1800"/>
              <a:buChar char="●"/>
            </a:pPr>
            <a:r>
              <a:rPr lang="en"/>
              <a:t>The characteristics most commonly cited in the decisions were </a:t>
            </a:r>
            <a:endParaRPr/>
          </a:p>
          <a:p>
            <a:pPr indent="-342900" lvl="0" marL="914400" rtl="0" algn="l">
              <a:spcBef>
                <a:spcPts val="0"/>
              </a:spcBef>
              <a:spcAft>
                <a:spcPts val="0"/>
              </a:spcAft>
              <a:buSzPts val="1800"/>
              <a:buAutoNum type="arabicPeriod"/>
            </a:pPr>
            <a:r>
              <a:rPr lang="en"/>
              <a:t>whether or not a job analysis was used to develop the system, </a:t>
            </a:r>
            <a:endParaRPr/>
          </a:p>
          <a:p>
            <a:pPr indent="-342900" lvl="0" marL="914400" rtl="0" algn="l">
              <a:spcBef>
                <a:spcPts val="0"/>
              </a:spcBef>
              <a:spcAft>
                <a:spcPts val="0"/>
              </a:spcAft>
              <a:buSzPts val="1800"/>
              <a:buAutoNum type="arabicPeriod"/>
            </a:pPr>
            <a:r>
              <a:rPr lang="en"/>
              <a:t>whether the raters were given written instructions, </a:t>
            </a:r>
            <a:endParaRPr/>
          </a:p>
          <a:p>
            <a:pPr indent="-342900" lvl="0" marL="914400" rtl="0" algn="l">
              <a:spcBef>
                <a:spcPts val="0"/>
              </a:spcBef>
              <a:spcAft>
                <a:spcPts val="0"/>
              </a:spcAft>
              <a:buSzPts val="1800"/>
              <a:buAutoNum type="arabicPeriod"/>
            </a:pPr>
            <a:r>
              <a:rPr lang="en"/>
              <a:t>whether the organization provided a mechanism for employees to appeal their ratings, and </a:t>
            </a:r>
            <a:endParaRPr/>
          </a:p>
          <a:p>
            <a:pPr indent="-342900" lvl="0" marL="914400" rtl="0" algn="l">
              <a:spcBef>
                <a:spcPts val="0"/>
              </a:spcBef>
              <a:spcAft>
                <a:spcPts val="0"/>
              </a:spcAft>
              <a:buSzPts val="1800"/>
              <a:buAutoNum type="arabicPeriod"/>
            </a:pPr>
            <a:r>
              <a:rPr lang="en"/>
              <a:t>whether multiple raters agreed on the ratings.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7"/>
          <p:cNvSpPr txBox="1"/>
          <p:nvPr>
            <p:ph idx="1" type="body"/>
          </p:nvPr>
        </p:nvSpPr>
        <p:spPr>
          <a:xfrm>
            <a:off x="311700" y="448700"/>
            <a:ext cx="8520600" cy="412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Performance evaluation and the protected groups</a:t>
            </a:r>
            <a:endParaRPr b="1"/>
          </a:p>
          <a:p>
            <a:pPr indent="0" lvl="0" marL="0" rtl="0" algn="l">
              <a:spcBef>
                <a:spcPts val="1200"/>
              </a:spcBef>
              <a:spcAft>
                <a:spcPts val="1200"/>
              </a:spcAft>
              <a:buClr>
                <a:schemeClr val="dk1"/>
              </a:buClr>
              <a:buSzPts val="1100"/>
              <a:buFont typeface="Arial"/>
              <a:buNone/>
            </a:pPr>
            <a:r>
              <a:rPr lang="en"/>
              <a:t>As the cultural and ethnic diversity of the 21st-century workplace continues to expand, it will be worth an additional look at the relationship between performance evaluation and protected group membership. An ethnic minority is no longer simply African American or Hispanic. He or she may be from Trinidad, or Turkey, or Iraq, or Poland. We need to expand our knowledge regarding potential bias in ratings to these new groups of ethnic minorities. It is difficult for any HR system, including a performance evaluation system, to prevent an individual intending to discriminate unfairly from doing so. But there is nothing inherent in the performance evaluation system per se that leads to systematic discrimination against commonly studied protected groups.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8"/>
          <p:cNvSpPr txBox="1"/>
          <p:nvPr>
            <p:ph type="title"/>
          </p:nvPr>
        </p:nvSpPr>
        <p:spPr>
          <a:xfrm>
            <a:off x="311700" y="108625"/>
            <a:ext cx="8520600" cy="45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Staffing decision</a:t>
            </a:r>
            <a:endParaRPr/>
          </a:p>
        </p:txBody>
      </p:sp>
      <p:sp>
        <p:nvSpPr>
          <p:cNvPr id="293" name="Google Shape;293;p58"/>
          <p:cNvSpPr txBox="1"/>
          <p:nvPr>
            <p:ph idx="1" type="body"/>
          </p:nvPr>
        </p:nvSpPr>
        <p:spPr>
          <a:xfrm>
            <a:off x="311700" y="562050"/>
            <a:ext cx="8520600" cy="4420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For the organization, tools like value of a diverse workforce, individual attributes and their value in job success, and assessment devices such as tests are used to make decisions about whom to hire, whom to promote, or even whom to lay off. These decisions are called staffing decisions because they determine and define the staff or workforce of the organization.</a:t>
            </a:r>
            <a:endParaRPr/>
          </a:p>
          <a:p>
            <a:pPr indent="-342900" lvl="0" marL="457200" rtl="0" algn="l">
              <a:spcBef>
                <a:spcPts val="0"/>
              </a:spcBef>
              <a:spcAft>
                <a:spcPts val="0"/>
              </a:spcAft>
              <a:buSzPts val="1800"/>
              <a:buChar char="●"/>
            </a:pPr>
            <a:r>
              <a:rPr b="1" lang="en"/>
              <a:t>Staffing decisions </a:t>
            </a:r>
            <a:r>
              <a:rPr lang="en"/>
              <a:t>- Decisions associated with recruiting, selecting, promoting, and separating employees.</a:t>
            </a:r>
            <a:endParaRPr/>
          </a:p>
          <a:p>
            <a:pPr indent="-342900" lvl="0" marL="457200" rtl="0" algn="l">
              <a:spcBef>
                <a:spcPts val="0"/>
              </a:spcBef>
              <a:spcAft>
                <a:spcPts val="0"/>
              </a:spcAft>
              <a:buSzPts val="1800"/>
              <a:buChar char="●"/>
            </a:pPr>
            <a:r>
              <a:rPr lang="en"/>
              <a:t>It is important to note that from practical, scientific, and legal perspectives, the decision to separate an individual from an organization (layoff or termination, sometimes called “deselection”) involves many if not all of the same issues that are in play in hiring or promoting an individual.</a:t>
            </a:r>
            <a:endParaRPr/>
          </a:p>
          <a:p>
            <a:pPr indent="-342900" lvl="0" marL="457200" rtl="0" algn="l">
              <a:spcBef>
                <a:spcPts val="0"/>
              </a:spcBef>
              <a:spcAft>
                <a:spcPts val="0"/>
              </a:spcAft>
              <a:buSzPts val="1800"/>
              <a:buChar char="●"/>
            </a:pPr>
            <a:r>
              <a:rPr lang="en"/>
              <a:t>According to Guion’s model (1998), organizations use a job or need analysis to identify the characteristics</a:t>
            </a:r>
            <a:r>
              <a:rPr lang="en"/>
              <a:t> </a:t>
            </a:r>
            <a:r>
              <a:rPr lang="en"/>
              <a:t>of individuals they would like to hire (or, in the layoff situation, those they would like to retain).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59"/>
          <p:cNvPicPr preferRelativeResize="0"/>
          <p:nvPr/>
        </p:nvPicPr>
        <p:blipFill>
          <a:blip r:embed="rId3">
            <a:alphaModFix/>
          </a:blip>
          <a:stretch>
            <a:fillRect/>
          </a:stretch>
        </p:blipFill>
        <p:spPr>
          <a:xfrm>
            <a:off x="1059250" y="152400"/>
            <a:ext cx="6922850" cy="48387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60"/>
          <p:cNvSpPr txBox="1"/>
          <p:nvPr>
            <p:ph idx="1" type="body"/>
          </p:nvPr>
        </p:nvSpPr>
        <p:spPr>
          <a:xfrm>
            <a:off x="311700" y="179475"/>
            <a:ext cx="8520600" cy="4690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S</a:t>
            </a:r>
            <a:r>
              <a:rPr lang="en"/>
              <a:t>taffing practices (and HR practices more generally as well) do have a positive association with firm performance. Wright, Gardner, Moynihan, and Allen (2005) present evidence that could support any of three interpretations of positive association between HR practices and high firm performance:</a:t>
            </a:r>
            <a:endParaRPr/>
          </a:p>
          <a:p>
            <a:pPr indent="-317500" lvl="1" marL="914400" rtl="0" algn="l">
              <a:spcBef>
                <a:spcPts val="0"/>
              </a:spcBef>
              <a:spcAft>
                <a:spcPts val="0"/>
              </a:spcAft>
              <a:buSzPts val="1400"/>
              <a:buChar char="○"/>
            </a:pPr>
            <a:r>
              <a:rPr lang="en"/>
              <a:t>HR practices result in high firm performance.</a:t>
            </a:r>
            <a:endParaRPr/>
          </a:p>
          <a:p>
            <a:pPr indent="-317500" lvl="1" marL="914400" rtl="0" algn="l">
              <a:spcBef>
                <a:spcPts val="0"/>
              </a:spcBef>
              <a:spcAft>
                <a:spcPts val="0"/>
              </a:spcAft>
              <a:buSzPts val="1400"/>
              <a:buChar char="○"/>
            </a:pPr>
            <a:r>
              <a:rPr lang="en"/>
              <a:t>High firm performance results in improved HR practice.</a:t>
            </a:r>
            <a:endParaRPr/>
          </a:p>
          <a:p>
            <a:pPr indent="-317500" lvl="1" marL="914400" rtl="0" algn="l">
              <a:spcBef>
                <a:spcPts val="0"/>
              </a:spcBef>
              <a:spcAft>
                <a:spcPts val="0"/>
              </a:spcAft>
              <a:buSzPts val="1400"/>
              <a:buChar char="○"/>
            </a:pPr>
            <a:r>
              <a:rPr lang="en"/>
              <a:t>Both HR practice and firm performance are the result of leadership or CEO performance.</a:t>
            </a:r>
            <a:endParaRPr/>
          </a:p>
          <a:p>
            <a:pPr indent="-342900" lvl="0" marL="457200" rtl="0" algn="l">
              <a:spcBef>
                <a:spcPts val="0"/>
              </a:spcBef>
              <a:spcAft>
                <a:spcPts val="0"/>
              </a:spcAft>
              <a:buSzPts val="1800"/>
              <a:buChar char="●"/>
            </a:pPr>
            <a:r>
              <a:rPr b="1" lang="en"/>
              <a:t>High-performance work practices</a:t>
            </a:r>
            <a:r>
              <a:rPr lang="en"/>
              <a:t> - Practices that include the use of formal job analyses, selection from within for key positions, merit-based promotions, and the use of formal assessment devices for selection.</a:t>
            </a:r>
            <a:endParaRPr/>
          </a:p>
          <a:p>
            <a:pPr indent="-342900" lvl="0" marL="457200" rtl="0" algn="l">
              <a:spcBef>
                <a:spcPts val="0"/>
              </a:spcBef>
              <a:spcAft>
                <a:spcPts val="0"/>
              </a:spcAft>
              <a:buSzPts val="1800"/>
              <a:buChar char="●"/>
            </a:pPr>
            <a:r>
              <a:rPr lang="en"/>
              <a:t>In making staffing decisions, line managers, co-workers and the applicants or the candidates play a vital role. </a:t>
            </a:r>
            <a:endParaRPr/>
          </a:p>
          <a:p>
            <a:pPr indent="-342900" lvl="0" marL="457200" rtl="0" algn="l">
              <a:spcBef>
                <a:spcPts val="0"/>
              </a:spcBef>
              <a:spcAft>
                <a:spcPts val="0"/>
              </a:spcAft>
              <a:buSzPts val="1800"/>
              <a:buChar char="●"/>
            </a:pPr>
            <a:r>
              <a:rPr lang="en"/>
              <a:t>In many organizations, line managers are actively involved in the selection decision, in terms of both gathering information from applicants, usually in the form of one or more interviews, and sharing in the ultimate decision regarding whom to hire, promote, or lay off.</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61"/>
          <p:cNvSpPr txBox="1"/>
          <p:nvPr>
            <p:ph idx="1" type="body"/>
          </p:nvPr>
        </p:nvSpPr>
        <p:spPr>
          <a:xfrm>
            <a:off x="311700" y="278675"/>
            <a:ext cx="8520600" cy="4506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C</a:t>
            </a:r>
            <a:r>
              <a:rPr lang="en"/>
              <a:t>o-worker has a stake in the staffing decision. If the decision is a hiring or promotion decision, the co-worker will be either a peer or a subordinate. In a layoff, the decision may have both practical and emotional consequences including feeling guilty and having an impact on the OCB of the new recruit. </a:t>
            </a:r>
            <a:endParaRPr/>
          </a:p>
          <a:p>
            <a:pPr indent="-342900" lvl="0" marL="457200" rtl="0" algn="l">
              <a:spcBef>
                <a:spcPts val="0"/>
              </a:spcBef>
              <a:spcAft>
                <a:spcPts val="0"/>
              </a:spcAft>
              <a:buSzPts val="1800"/>
              <a:buChar char="●"/>
            </a:pPr>
            <a:r>
              <a:rPr lang="en"/>
              <a:t>When applicants are rejected by the staffing system, they are more likely to think poorly of the organization and view the staffing process as biased or impersonal. Even if they are selected, the manner by which the staffing decision is carried out will have an influence on how they perceive the culture and climate of the organization.</a:t>
            </a:r>
            <a:endParaRPr/>
          </a:p>
          <a:p>
            <a:pPr indent="-342900" lvl="0" marL="457200" rtl="0" algn="l">
              <a:spcBef>
                <a:spcPts val="0"/>
              </a:spcBef>
              <a:spcAft>
                <a:spcPts val="0"/>
              </a:spcAft>
              <a:buSzPts val="1800"/>
              <a:buChar char="●"/>
            </a:pPr>
            <a:r>
              <a:rPr lang="en"/>
              <a:t>There are additional potential stakeholders in the staffing process. This includes the society, the family members of both new recruits and laid off and the minority groups. </a:t>
            </a:r>
            <a:endParaRPr/>
          </a:p>
          <a:p>
            <a:pPr indent="-342900" lvl="0" marL="457200" rtl="0" algn="l">
              <a:spcBef>
                <a:spcPts val="0"/>
              </a:spcBef>
              <a:spcAft>
                <a:spcPts val="0"/>
              </a:spcAft>
              <a:buSzPts val="1800"/>
              <a:buChar char="●"/>
            </a:pPr>
            <a:r>
              <a:rPr lang="en"/>
              <a:t>Culture and government regulations are some of the </a:t>
            </a:r>
            <a:r>
              <a:rPr lang="en"/>
              <a:t>factors</a:t>
            </a:r>
            <a:r>
              <a:rPr lang="en"/>
              <a:t> influencing staffing decision. </a:t>
            </a:r>
            <a:endParaRPr/>
          </a:p>
          <a:p>
            <a:pPr indent="-342900" lvl="0" marL="457200" rtl="0" algn="l">
              <a:spcBef>
                <a:spcPts val="0"/>
              </a:spcBef>
              <a:spcAft>
                <a:spcPts val="0"/>
              </a:spcAft>
              <a:buSzPts val="1800"/>
              <a:buChar char="●"/>
            </a:pPr>
            <a:r>
              <a:rPr b="1" lang="en"/>
              <a:t>Multinational staffing</a:t>
            </a:r>
            <a:r>
              <a:rPr lang="en"/>
              <a:t> - Procedures that involve staffing for organizations in more than one country.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62"/>
          <p:cNvSpPr txBox="1"/>
          <p:nvPr>
            <p:ph idx="1" type="body"/>
          </p:nvPr>
        </p:nvSpPr>
        <p:spPr>
          <a:xfrm>
            <a:off x="311700" y="335350"/>
            <a:ext cx="8520600" cy="439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Staffing outcomes</a:t>
            </a:r>
            <a:endParaRPr b="1"/>
          </a:p>
          <a:p>
            <a:pPr indent="-342900" lvl="0" marL="457200" rtl="0" algn="l">
              <a:spcBef>
                <a:spcPts val="1200"/>
              </a:spcBef>
              <a:spcAft>
                <a:spcPts val="0"/>
              </a:spcAft>
              <a:buSzPts val="1800"/>
              <a:buChar char="●"/>
            </a:pPr>
            <a:r>
              <a:rPr lang="en"/>
              <a:t>Staffing outcomes might be evaluated in a number of different ways. The three major aspects of evaluation are </a:t>
            </a:r>
            <a:r>
              <a:rPr b="1" lang="en"/>
              <a:t>validity, utility, and fairness</a:t>
            </a:r>
            <a:r>
              <a:rPr lang="en"/>
              <a:t>.</a:t>
            </a:r>
            <a:endParaRPr/>
          </a:p>
          <a:p>
            <a:pPr indent="-342900" lvl="0" marL="457200" rtl="0" algn="l">
              <a:spcBef>
                <a:spcPts val="0"/>
              </a:spcBef>
              <a:spcAft>
                <a:spcPts val="0"/>
              </a:spcAft>
              <a:buSzPts val="1800"/>
              <a:buChar char="●"/>
            </a:pPr>
            <a:r>
              <a:rPr lang="en"/>
              <a:t>Staffing decisions involve inferences about the match between a person and a job; the decision maker would like to infer or predict something about the probable success of various candidates and to choose those candidates with the highest probability of success. Thus, staffing decisions are, or ought to be, valid decisions.</a:t>
            </a:r>
            <a:endParaRPr/>
          </a:p>
          <a:p>
            <a:pPr indent="-342900" lvl="0" marL="457200" rtl="0" algn="l">
              <a:spcBef>
                <a:spcPts val="0"/>
              </a:spcBef>
              <a:spcAft>
                <a:spcPts val="0"/>
              </a:spcAft>
              <a:buSzPts val="1800"/>
              <a:buChar char="●"/>
            </a:pPr>
            <a:r>
              <a:rPr b="1" lang="en"/>
              <a:t>Validity</a:t>
            </a:r>
            <a:r>
              <a:rPr lang="en"/>
              <a:t> - The accurateness of inferences made based on test or performance data; also addresses whether a measure accurately and completely represents what was intended to be measured.</a:t>
            </a:r>
            <a:endParaRPr/>
          </a:p>
          <a:p>
            <a:pPr indent="-342900" lvl="0" marL="457200" rtl="0" algn="l">
              <a:spcBef>
                <a:spcPts val="0"/>
              </a:spcBef>
              <a:spcAft>
                <a:spcPts val="0"/>
              </a:spcAft>
              <a:buSzPts val="1800"/>
              <a:buChar char="●"/>
            </a:pPr>
            <a:r>
              <a:rPr b="1" lang="en"/>
              <a:t>Criterion-related validity</a:t>
            </a:r>
            <a:r>
              <a:rPr lang="en"/>
              <a:t> - Validity approach that is demonstrated by correlating a test score with a performance measure; improves researcher’s confidence in the inference that people with higher test scores have higher performance.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3"/>
          <p:cNvSpPr txBox="1"/>
          <p:nvPr>
            <p:ph idx="1" type="body"/>
          </p:nvPr>
        </p:nvSpPr>
        <p:spPr>
          <a:xfrm>
            <a:off x="311700" y="0"/>
            <a:ext cx="8520600" cy="503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Selection ratio (SR) </a:t>
            </a:r>
            <a:r>
              <a:rPr lang="en"/>
              <a:t>- Index ranging from 0 to 1 that reflects the ratio of positions to applicants; calculated by dividing the number of positions available by the number of applicants.</a:t>
            </a:r>
            <a:endParaRPr/>
          </a:p>
          <a:p>
            <a:pPr indent="-342900" lvl="0" marL="457200" rtl="0" algn="l">
              <a:spcBef>
                <a:spcPts val="0"/>
              </a:spcBef>
              <a:spcAft>
                <a:spcPts val="0"/>
              </a:spcAft>
              <a:buSzPts val="1800"/>
              <a:buChar char="●"/>
            </a:pPr>
            <a:r>
              <a:rPr lang="en"/>
              <a:t>Low selection ratios are actually better than high selection ratios because the more people we assess, the greater the likelihood that we will find individuals who score high on the test.</a:t>
            </a:r>
            <a:endParaRPr/>
          </a:p>
          <a:p>
            <a:pPr indent="-342900" lvl="0" marL="457200" rtl="0" algn="l">
              <a:spcBef>
                <a:spcPts val="0"/>
              </a:spcBef>
              <a:spcAft>
                <a:spcPts val="0"/>
              </a:spcAft>
              <a:buSzPts val="1800"/>
              <a:buChar char="●"/>
            </a:pPr>
            <a:r>
              <a:rPr lang="en"/>
              <a:t>In making a staffing decision, we might commit </a:t>
            </a:r>
            <a:r>
              <a:rPr b="1" lang="en"/>
              <a:t>two types of errors</a:t>
            </a:r>
            <a:r>
              <a:rPr lang="en"/>
              <a:t>. We might predict that a person will be a successful performer, but the individual turns out to be unsuccessful. This is an error called a </a:t>
            </a:r>
            <a:r>
              <a:rPr b="1" lang="en"/>
              <a:t>false positive</a:t>
            </a:r>
            <a:r>
              <a:rPr lang="en"/>
              <a:t>: We falsely predicted that a positive outcome would occur and it did not—the person failed. </a:t>
            </a:r>
            <a:endParaRPr/>
          </a:p>
          <a:p>
            <a:pPr indent="-342900" lvl="0" marL="457200" rtl="0" algn="l">
              <a:spcBef>
                <a:spcPts val="0"/>
              </a:spcBef>
              <a:spcAft>
                <a:spcPts val="0"/>
              </a:spcAft>
              <a:buSzPts val="1800"/>
              <a:buChar char="●"/>
            </a:pPr>
            <a:r>
              <a:rPr lang="en"/>
              <a:t>The second type of error occurs when someone we predicted would be a poor performer actually turns out to be successful. This error is called a </a:t>
            </a:r>
            <a:r>
              <a:rPr b="1" lang="en"/>
              <a:t>false negative:</a:t>
            </a:r>
            <a:r>
              <a:rPr lang="en"/>
              <a:t> We falsely predicted a negative outcome would occur and it did not—the person succeeded.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64"/>
          <p:cNvSpPr txBox="1"/>
          <p:nvPr>
            <p:ph idx="1" type="body"/>
          </p:nvPr>
        </p:nvSpPr>
        <p:spPr>
          <a:xfrm>
            <a:off x="311700" y="354225"/>
            <a:ext cx="8520600" cy="44067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SzPts val="1600"/>
              <a:buChar char="●"/>
            </a:pPr>
            <a:r>
              <a:rPr b="1" lang="en" sz="1600"/>
              <a:t>True negative</a:t>
            </a:r>
            <a:r>
              <a:rPr lang="en" sz="1600"/>
              <a:t> - Decision in which an applicant was rejected and would have performed poorly if he or she were hired; decision is true because of the correct prediction that the applicant would not be a good performer and negative because the applicant was not hired.</a:t>
            </a:r>
            <a:endParaRPr sz="1600"/>
          </a:p>
          <a:p>
            <a:pPr indent="-342900" lvl="0" marL="457200" rtl="0" algn="l">
              <a:spcBef>
                <a:spcPts val="0"/>
              </a:spcBef>
              <a:spcAft>
                <a:spcPts val="0"/>
              </a:spcAft>
              <a:buSzPts val="1800"/>
              <a:buChar char="●"/>
            </a:pPr>
            <a:r>
              <a:rPr b="1" lang="en"/>
              <a:t>True positive</a:t>
            </a:r>
            <a:r>
              <a:rPr lang="en"/>
              <a:t> - Decision in which an applicant was accepted and performed successfully; decision is true because of the correct prediction that the applicant would be a good performer and positive because the applicant was hired.</a:t>
            </a:r>
            <a:endParaRPr/>
          </a:p>
          <a:p>
            <a:pPr indent="-342900" lvl="0" marL="457200" rtl="0" algn="l">
              <a:spcBef>
                <a:spcPts val="0"/>
              </a:spcBef>
              <a:spcAft>
                <a:spcPts val="0"/>
              </a:spcAft>
              <a:buSzPts val="1800"/>
              <a:buChar char="●"/>
            </a:pPr>
            <a:r>
              <a:rPr lang="en"/>
              <a:t>Using a criterion-related design, it is relatively easy to grasp the issue of false-positive and false negative prediction errors because we have a criterion score distribution on which we can designate the differentiating line between success and failure.</a:t>
            </a:r>
            <a:endParaRPr/>
          </a:p>
          <a:p>
            <a:pPr indent="-342900" lvl="0" marL="457200" rtl="0" algn="l">
              <a:spcBef>
                <a:spcPts val="0"/>
              </a:spcBef>
              <a:spcAft>
                <a:spcPts val="0"/>
              </a:spcAft>
              <a:buSzPts val="1800"/>
              <a:buChar char="●"/>
            </a:pPr>
            <a:r>
              <a:rPr b="1" lang="en"/>
              <a:t>Cut score</a:t>
            </a:r>
            <a:r>
              <a:rPr lang="en"/>
              <a:t> - Specified point in a distribution of scores below which candidates are rejected.</a:t>
            </a:r>
            <a:endParaRPr/>
          </a:p>
          <a:p>
            <a:pPr indent="-342900" lvl="0" marL="457200" rtl="0" algn="l">
              <a:spcBef>
                <a:spcPts val="0"/>
              </a:spcBef>
              <a:spcAft>
                <a:spcPts val="0"/>
              </a:spcAft>
              <a:buSzPts val="1800"/>
              <a:buChar char="●"/>
            </a:pPr>
            <a:r>
              <a:rPr lang="en"/>
              <a:t>There are two different ways of establishing cut scores: the </a:t>
            </a:r>
            <a:r>
              <a:rPr b="1" lang="en"/>
              <a:t>criterion-referenced method</a:t>
            </a:r>
            <a:r>
              <a:rPr lang="en"/>
              <a:t> and the </a:t>
            </a:r>
            <a:r>
              <a:rPr b="1" lang="en"/>
              <a:t>norm-referenced method.</a:t>
            </a:r>
            <a:r>
              <a:rPr lang="en"/>
              <a:t>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65"/>
          <p:cNvSpPr txBox="1"/>
          <p:nvPr>
            <p:ph idx="1" type="body"/>
          </p:nvPr>
        </p:nvSpPr>
        <p:spPr>
          <a:xfrm>
            <a:off x="311700" y="335350"/>
            <a:ext cx="8520600" cy="4534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Criterion-referenced cut scores</a:t>
            </a:r>
            <a:r>
              <a:rPr lang="en"/>
              <a:t> (sometimes called domain-referenced cut scores) are established by actually considering the desired level of performance for a new hire and finding the test score that corresponds to that desired level of performance.</a:t>
            </a:r>
            <a:endParaRPr/>
          </a:p>
          <a:p>
            <a:pPr indent="-342900" lvl="0" marL="457200" rtl="0" algn="l">
              <a:spcBef>
                <a:spcPts val="0"/>
              </a:spcBef>
              <a:spcAft>
                <a:spcPts val="0"/>
              </a:spcAft>
              <a:buSzPts val="1800"/>
              <a:buChar char="●"/>
            </a:pPr>
            <a:r>
              <a:rPr b="1" lang="en"/>
              <a:t>Norm-referenced cut scores</a:t>
            </a:r>
            <a:r>
              <a:rPr lang="en"/>
              <a:t> are not tied to any expected level of performance on the job. The term “norm” is a shortened version of the word “normal,” or average. Thus, norm referenced cut scores are based on the average of the test takers’ scores rather than any  notion of job performance. </a:t>
            </a:r>
            <a:endParaRPr/>
          </a:p>
          <a:p>
            <a:pPr indent="-342900" lvl="0" marL="457200" rtl="0" algn="l">
              <a:spcBef>
                <a:spcPts val="0"/>
              </a:spcBef>
              <a:spcAft>
                <a:spcPts val="0"/>
              </a:spcAft>
              <a:buSzPts val="1800"/>
              <a:buChar char="●"/>
            </a:pPr>
            <a:r>
              <a:rPr lang="en"/>
              <a:t>In educational settings, passing scores are typically pegged at 60. Any score below 60 is assigned a letter grade of F (for “failing”) and a student gets no accumulated credit for work in that course.</a:t>
            </a:r>
            <a:endParaRPr/>
          </a:p>
          <a:p>
            <a:pPr indent="-342900" lvl="0" marL="457200" rtl="0" algn="l">
              <a:spcBef>
                <a:spcPts val="0"/>
              </a:spcBef>
              <a:spcAft>
                <a:spcPts val="0"/>
              </a:spcAft>
              <a:buSzPts val="1800"/>
              <a:buChar char="●"/>
            </a:pPr>
            <a:r>
              <a:rPr b="1" lang="en"/>
              <a:t>Utility analysis</a:t>
            </a:r>
            <a:r>
              <a:rPr lang="en"/>
              <a:t> - Technique that assesses the economic return on investment of human resource interventions such as staffing and training. A utility analysis addresses the cost/benefit ratio of one staffing strategy versus another.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66"/>
          <p:cNvSpPr txBox="1"/>
          <p:nvPr>
            <p:ph idx="1" type="body"/>
          </p:nvPr>
        </p:nvSpPr>
        <p:spPr>
          <a:xfrm>
            <a:off x="311700" y="392025"/>
            <a:ext cx="8520600" cy="4293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Fairness</a:t>
            </a:r>
            <a:r>
              <a:rPr lang="en"/>
              <a:t> - </a:t>
            </a:r>
            <a:r>
              <a:rPr lang="en"/>
              <a:t>T</a:t>
            </a:r>
            <a:r>
              <a:rPr lang="en"/>
              <a:t>here are many different ways of defining a “fair” staffing strategy. Feelings of unfairness often lead to some negative action on the part of an employee or applicant. These actions include the initiation of lawsuits, filing of formal grievances with company representatives, and counterproductive behavior. </a:t>
            </a:r>
            <a:endParaRPr/>
          </a:p>
          <a:p>
            <a:pPr indent="-342900" lvl="0" marL="457200" rtl="0" algn="l">
              <a:spcBef>
                <a:spcPts val="0"/>
              </a:spcBef>
              <a:spcAft>
                <a:spcPts val="0"/>
              </a:spcAft>
              <a:buSzPts val="1800"/>
              <a:buChar char="●"/>
            </a:pPr>
            <a:r>
              <a:rPr lang="en"/>
              <a:t>Feelings of unfairness, when acted upon, almost always cost the organization time and money and detract from the overall value of the staffing strategy.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7"/>
          <p:cNvSpPr txBox="1"/>
          <p:nvPr>
            <p:ph type="title"/>
          </p:nvPr>
        </p:nvSpPr>
        <p:spPr>
          <a:xfrm>
            <a:off x="311700" y="289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issues in staffing decisions</a:t>
            </a:r>
            <a:endParaRPr/>
          </a:p>
        </p:txBody>
      </p:sp>
      <p:sp>
        <p:nvSpPr>
          <p:cNvPr id="339" name="Google Shape;339;p67"/>
          <p:cNvSpPr txBox="1"/>
          <p:nvPr>
            <p:ph idx="1" type="body"/>
          </p:nvPr>
        </p:nvSpPr>
        <p:spPr>
          <a:xfrm>
            <a:off x="311700" y="930450"/>
            <a:ext cx="8520600" cy="3638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Modern jobs are complex. They consist of personal, interpersonal, and technical demands.</a:t>
            </a:r>
            <a:endParaRPr/>
          </a:p>
          <a:p>
            <a:pPr indent="-342900" lvl="0" marL="457200" rtl="0" algn="l">
              <a:spcBef>
                <a:spcPts val="0"/>
              </a:spcBef>
              <a:spcAft>
                <a:spcPts val="0"/>
              </a:spcAft>
              <a:buSzPts val="1800"/>
              <a:buChar char="●"/>
            </a:pPr>
            <a:r>
              <a:rPr lang="en"/>
              <a:t>To succeed in 21st-century jobs, individuals must have attributes like conscientiousness, general mental ability, communication skills, and specialized knowledge.</a:t>
            </a:r>
            <a:endParaRPr/>
          </a:p>
          <a:p>
            <a:pPr indent="-342900" lvl="0" marL="457200" rtl="0" algn="l">
              <a:spcBef>
                <a:spcPts val="0"/>
              </a:spcBef>
              <a:spcAft>
                <a:spcPts val="0"/>
              </a:spcAft>
              <a:buSzPts val="1800"/>
              <a:buChar char="●"/>
            </a:pPr>
            <a:r>
              <a:rPr b="1" lang="en"/>
              <a:t>Comprehensive selection system</a:t>
            </a:r>
            <a:r>
              <a:rPr lang="en"/>
              <a:t> - Model that gathers enough high-quality information about candidates to predict the likelihood of their success on the varied demands of the job. Broadly, we should be able to predict both technical performance and OCB performance. Within each of those domains, we should be trying to predict more specific important behaviors as well. These behaviors are usually identified through a job analysis.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8"/>
          <p:cNvSpPr txBox="1"/>
          <p:nvPr>
            <p:ph idx="1" type="body"/>
          </p:nvPr>
        </p:nvSpPr>
        <p:spPr>
          <a:xfrm>
            <a:off x="311700" y="165300"/>
            <a:ext cx="8520600" cy="4477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a:t>Compensatory selection system </a:t>
            </a:r>
            <a:r>
              <a:rPr lang="en"/>
              <a:t>- Generally speaking, most knowledge, skills,abilities, and other characteristics (KSAOs) interact to yield successful performance. This means that we can average them together, much as we would average individual course grades to get an overall GPA. </a:t>
            </a:r>
            <a:endParaRPr/>
          </a:p>
          <a:p>
            <a:pPr indent="-342900" lvl="0" marL="457200" rtl="0" algn="l">
              <a:spcBef>
                <a:spcPts val="0"/>
              </a:spcBef>
              <a:spcAft>
                <a:spcPts val="0"/>
              </a:spcAft>
              <a:buSzPts val="1800"/>
              <a:buChar char="●"/>
            </a:pPr>
            <a:r>
              <a:rPr lang="en"/>
              <a:t>I</a:t>
            </a:r>
            <a:r>
              <a:rPr lang="en"/>
              <a:t>n most instances, humans are able to compensate for a relative weakness in one attribute through a strength in another one, assuming both attributes are required by the job.</a:t>
            </a:r>
            <a:endParaRPr/>
          </a:p>
          <a:p>
            <a:pPr indent="0" lvl="0" marL="0" rtl="0" algn="l">
              <a:spcBef>
                <a:spcPts val="1200"/>
              </a:spcBef>
              <a:spcAft>
                <a:spcPts val="0"/>
              </a:spcAft>
              <a:buNone/>
            </a:pPr>
            <a:r>
              <a:rPr lang="en"/>
              <a:t>Combining Information</a:t>
            </a:r>
            <a:endParaRPr/>
          </a:p>
          <a:p>
            <a:pPr indent="-342900" lvl="0" marL="457200" rtl="0" algn="l">
              <a:spcBef>
                <a:spcPts val="1200"/>
              </a:spcBef>
              <a:spcAft>
                <a:spcPts val="0"/>
              </a:spcAft>
              <a:buSzPts val="1800"/>
              <a:buChar char="●"/>
            </a:pPr>
            <a:r>
              <a:rPr lang="en"/>
              <a:t>There are two basic ways to combine information in making a staffing decision: clinical and statistical.</a:t>
            </a:r>
            <a:endParaRPr/>
          </a:p>
          <a:p>
            <a:pPr indent="-342900" lvl="0" marL="457200" rtl="0" algn="l">
              <a:spcBef>
                <a:spcPts val="0"/>
              </a:spcBef>
              <a:spcAft>
                <a:spcPts val="0"/>
              </a:spcAft>
              <a:buSzPts val="1800"/>
              <a:buChar char="●"/>
            </a:pPr>
            <a:r>
              <a:rPr b="1" lang="en"/>
              <a:t>Clinical decision making</a:t>
            </a:r>
            <a:r>
              <a:rPr lang="en"/>
              <a:t> - Method uses judgment to combine information and to make a decision about the relative value of different candidates or applicants.</a:t>
            </a:r>
            <a:endParaRPr/>
          </a:p>
          <a:p>
            <a:pPr indent="-342900" lvl="0" marL="457200" rtl="0" algn="l">
              <a:spcBef>
                <a:spcPts val="0"/>
              </a:spcBef>
              <a:spcAft>
                <a:spcPts val="0"/>
              </a:spcAft>
              <a:buSzPts val="1800"/>
              <a:buChar char="●"/>
            </a:pPr>
            <a:r>
              <a:rPr b="1" lang="en"/>
              <a:t>Statistical decision making</a:t>
            </a:r>
            <a:r>
              <a:rPr lang="en"/>
              <a:t> - Method combines information according to a mathematical formula.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9"/>
          <p:cNvSpPr txBox="1"/>
          <p:nvPr>
            <p:ph idx="1" type="body"/>
          </p:nvPr>
        </p:nvSpPr>
        <p:spPr>
          <a:xfrm>
            <a:off x="311700" y="335350"/>
            <a:ext cx="8520600" cy="4233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Compensatory system</a:t>
            </a:r>
            <a:r>
              <a:rPr lang="en"/>
              <a:t> - Model in which a good score on one test can compensate for a lower score on another test.</a:t>
            </a:r>
            <a:endParaRPr/>
          </a:p>
          <a:p>
            <a:pPr indent="-342900" lvl="0" marL="457200" rtl="0" algn="l">
              <a:spcBef>
                <a:spcPts val="0"/>
              </a:spcBef>
              <a:spcAft>
                <a:spcPts val="0"/>
              </a:spcAft>
              <a:buSzPts val="1800"/>
              <a:buChar char="●"/>
            </a:pPr>
            <a:r>
              <a:rPr b="1" lang="en"/>
              <a:t>Hurdle system</a:t>
            </a:r>
            <a:r>
              <a:rPr lang="en"/>
              <a:t> - Non-compensatory strategy in which an individual has no opportunity to compensate at a later assessment stage for a low score in an earlier stage of the assessment process.</a:t>
            </a:r>
            <a:endParaRPr/>
          </a:p>
          <a:p>
            <a:pPr indent="-342900" lvl="0" marL="457200" rtl="0" algn="l">
              <a:spcBef>
                <a:spcPts val="0"/>
              </a:spcBef>
              <a:spcAft>
                <a:spcPts val="0"/>
              </a:spcAft>
              <a:buSzPts val="1800"/>
              <a:buChar char="●"/>
            </a:pPr>
            <a:r>
              <a:rPr b="1" lang="en"/>
              <a:t>Multiple hurdle system</a:t>
            </a:r>
            <a:r>
              <a:rPr lang="en"/>
              <a:t> - Strategy constructed from multiple hurdles so that candidates who do not exceed each of the minimum dimension scores are excluded from further consideration.</a:t>
            </a:r>
            <a:endParaRPr/>
          </a:p>
          <a:p>
            <a:pPr indent="-342900" lvl="0" marL="457200" rtl="0" algn="l">
              <a:spcBef>
                <a:spcPts val="0"/>
              </a:spcBef>
              <a:spcAft>
                <a:spcPts val="0"/>
              </a:spcAft>
              <a:buSzPts val="1800"/>
              <a:buChar char="●"/>
            </a:pPr>
            <a:r>
              <a:rPr lang="en"/>
              <a:t>Hurdle systems are often employed when there are large numbers of candidates and few openings.</a:t>
            </a:r>
            <a:endParaRPr/>
          </a:p>
          <a:p>
            <a:pPr indent="-342900" lvl="0" marL="457200" rtl="0" algn="l">
              <a:spcBef>
                <a:spcPts val="0"/>
              </a:spcBef>
              <a:spcAft>
                <a:spcPts val="0"/>
              </a:spcAft>
              <a:buSzPts val="1800"/>
              <a:buChar char="●"/>
            </a:pPr>
            <a:r>
              <a:rPr b="1" lang="en"/>
              <a:t>Multiple regression analysis</a:t>
            </a:r>
            <a:r>
              <a:rPr lang="en"/>
              <a:t> - Method of analysis that results in an equation for combining test scores into a composite based on the correlations among the test scores and the correlations of each test score with the performance score.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70"/>
          <p:cNvSpPr txBox="1"/>
          <p:nvPr>
            <p:ph idx="1" type="body"/>
          </p:nvPr>
        </p:nvSpPr>
        <p:spPr>
          <a:xfrm>
            <a:off x="311700" y="392025"/>
            <a:ext cx="8520600" cy="4279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Cross-validation</a:t>
            </a:r>
            <a:r>
              <a:rPr lang="en"/>
              <a:t> - Process used with multiple regression techniques in which a regression equation developed on a first sample is tested on a second sample to determine if it still fits well; usually carried out with an incumbent sample, and the cross validated results are used to weight the predictor scores of an applicant sample.</a:t>
            </a:r>
            <a:endParaRPr/>
          </a:p>
          <a:p>
            <a:pPr indent="-342900" lvl="0" marL="457200" rtl="0" algn="l">
              <a:spcBef>
                <a:spcPts val="0"/>
              </a:spcBef>
              <a:spcAft>
                <a:spcPts val="0"/>
              </a:spcAft>
              <a:buSzPts val="1800"/>
              <a:buChar char="●"/>
            </a:pPr>
            <a:r>
              <a:rPr b="1" lang="en"/>
              <a:t>Score banding</a:t>
            </a:r>
            <a:r>
              <a:rPr lang="en"/>
              <a:t> - Approach in which individuals with similar test scores are grouped together in a category or score band, and selection within the band is then made based on other considerations.</a:t>
            </a:r>
            <a:endParaRPr/>
          </a:p>
          <a:p>
            <a:pPr indent="-342900" lvl="0" marL="457200" rtl="0" algn="l">
              <a:spcBef>
                <a:spcPts val="0"/>
              </a:spcBef>
              <a:spcAft>
                <a:spcPts val="0"/>
              </a:spcAft>
              <a:buSzPts val="1800"/>
              <a:buChar char="●"/>
            </a:pPr>
            <a:r>
              <a:rPr b="1" lang="en"/>
              <a:t>Standard error of measurement (SEM)</a:t>
            </a:r>
            <a:r>
              <a:rPr lang="en"/>
              <a:t> - Statistic that provides a measure of the amount of error in a test score distribution; function of the reliability of the test and the variability in test scores.</a:t>
            </a:r>
            <a:endParaRPr/>
          </a:p>
          <a:p>
            <a:pPr indent="-342900" lvl="0" marL="457200" rtl="0" algn="l">
              <a:spcBef>
                <a:spcPts val="0"/>
              </a:spcBef>
              <a:spcAft>
                <a:spcPts val="0"/>
              </a:spcAft>
              <a:buSzPts val="1800"/>
              <a:buChar char="●"/>
            </a:pPr>
            <a:r>
              <a:rPr b="1" lang="en"/>
              <a:t>Subgroup norming</a:t>
            </a:r>
            <a:r>
              <a:rPr lang="en"/>
              <a:t> - Approach that develops separate lists for individuals within different demographic groups, then ranks the candidates within their respective demographic group.</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71"/>
          <p:cNvSpPr txBox="1"/>
          <p:nvPr>
            <p:ph idx="1" type="body"/>
          </p:nvPr>
        </p:nvSpPr>
        <p:spPr>
          <a:xfrm>
            <a:off x="311700" y="491200"/>
            <a:ext cx="8520600" cy="4250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Deselection </a:t>
            </a:r>
            <a:r>
              <a:rPr lang="en"/>
              <a:t>- There are two typical situations in which an individual is selected to leave rather than join an organization. The first is termination for cause, and the second is a layoff or downsizing situation.</a:t>
            </a:r>
            <a:endParaRPr/>
          </a:p>
          <a:p>
            <a:pPr indent="-323850" lvl="1" marL="914400" rtl="0" algn="l">
              <a:spcBef>
                <a:spcPts val="0"/>
              </a:spcBef>
              <a:spcAft>
                <a:spcPts val="0"/>
              </a:spcAft>
              <a:buSzPts val="1500"/>
              <a:buChar char="○"/>
            </a:pPr>
            <a:r>
              <a:rPr b="1" lang="en" sz="1500"/>
              <a:t>Termination for cause</a:t>
            </a:r>
            <a:r>
              <a:rPr lang="en" sz="1500"/>
              <a:t> - Job loss that occurs when an individual is fired from an organization for a particular reason; the individual has usually been warned one or more times about a problem and either cannot or will not correct it.</a:t>
            </a:r>
            <a:endParaRPr sz="1500"/>
          </a:p>
          <a:p>
            <a:pPr indent="-323850" lvl="1" marL="914400" rtl="0" algn="l">
              <a:spcBef>
                <a:spcPts val="0"/>
              </a:spcBef>
              <a:spcAft>
                <a:spcPts val="0"/>
              </a:spcAft>
              <a:buSzPts val="1500"/>
              <a:buChar char="○"/>
            </a:pPr>
            <a:r>
              <a:rPr b="1" lang="en" sz="1500"/>
              <a:t>Layoff</a:t>
            </a:r>
            <a:r>
              <a:rPr lang="en" sz="1500"/>
              <a:t> - Job loss due to employer downsizing or reductions in force; often comes without warning or with a generic warning that the workforce will be reduced.</a:t>
            </a:r>
            <a:endParaRPr sz="1500"/>
          </a:p>
          <a:p>
            <a:pPr indent="-342900" lvl="0" marL="457200" rtl="0" algn="l">
              <a:spcBef>
                <a:spcPts val="0"/>
              </a:spcBef>
              <a:spcAft>
                <a:spcPts val="0"/>
              </a:spcAft>
              <a:buSzPts val="1800"/>
              <a:buChar char="●"/>
            </a:pPr>
            <a:r>
              <a:rPr b="1" lang="en"/>
              <a:t>Number of Decisions to Be Made</a:t>
            </a:r>
            <a:r>
              <a:rPr lang="en"/>
              <a:t> - </a:t>
            </a:r>
            <a:endParaRPr/>
          </a:p>
          <a:p>
            <a:pPr indent="-323850" lvl="1" marL="914400" rtl="0" algn="l">
              <a:spcBef>
                <a:spcPts val="0"/>
              </a:spcBef>
              <a:spcAft>
                <a:spcPts val="0"/>
              </a:spcAft>
              <a:buSzPts val="1500"/>
              <a:buChar char="○"/>
            </a:pPr>
            <a:r>
              <a:rPr lang="en" sz="1500"/>
              <a:t>Large staffing projects</a:t>
            </a:r>
            <a:endParaRPr sz="1500"/>
          </a:p>
          <a:p>
            <a:pPr indent="-323850" lvl="1" marL="914400" rtl="0" algn="l">
              <a:spcBef>
                <a:spcPts val="0"/>
              </a:spcBef>
              <a:spcAft>
                <a:spcPts val="0"/>
              </a:spcAft>
              <a:buSzPts val="1500"/>
              <a:buChar char="○"/>
            </a:pPr>
            <a:r>
              <a:rPr lang="en" sz="1500"/>
              <a:t>Small staffing projects</a:t>
            </a:r>
            <a:endParaRPr sz="15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2"/>
          <p:cNvSpPr txBox="1"/>
          <p:nvPr>
            <p:ph idx="1" type="body"/>
          </p:nvPr>
        </p:nvSpPr>
        <p:spPr>
          <a:xfrm>
            <a:off x="311700" y="307000"/>
            <a:ext cx="8520600" cy="4421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a:t>21st-Century Staffing</a:t>
            </a:r>
            <a:endParaRPr b="1"/>
          </a:p>
          <a:p>
            <a:pPr indent="0" lvl="0" marL="0" rtl="0" algn="l">
              <a:spcBef>
                <a:spcPts val="1200"/>
              </a:spcBef>
              <a:spcAft>
                <a:spcPts val="0"/>
              </a:spcAft>
              <a:buClr>
                <a:schemeClr val="dk1"/>
              </a:buClr>
              <a:buSzPct val="61111"/>
              <a:buFont typeface="Arial"/>
              <a:buNone/>
            </a:pPr>
            <a:r>
              <a:rPr lang="en"/>
              <a:t>Cascio and Aguinis are making the point: One can better understand the nature of job performance by considering it in the broader context rather than taking a narrow view of a worker at a desk or machine. They use the term “in situ performance” to describe this new view. They suggest that the 21st-century staffing model should include the following departures from earlier staffing approaches:</a:t>
            </a:r>
            <a:endParaRPr/>
          </a:p>
          <a:p>
            <a:pPr indent="0" lvl="0" marL="0" rtl="0" algn="l">
              <a:spcBef>
                <a:spcPts val="1200"/>
              </a:spcBef>
              <a:spcAft>
                <a:spcPts val="0"/>
              </a:spcAft>
              <a:buClr>
                <a:schemeClr val="dk1"/>
              </a:buClr>
              <a:buSzPct val="61111"/>
              <a:buFont typeface="Arial"/>
              <a:buNone/>
            </a:pPr>
            <a:r>
              <a:rPr lang="en"/>
              <a:t>1. Assessment of predictors over a longer period of time—weeks or months—rather than a single episode of testing such as a test of general mental ability or personality</a:t>
            </a:r>
            <a:endParaRPr/>
          </a:p>
          <a:p>
            <a:pPr indent="0" lvl="0" marL="0" rtl="0" algn="l">
              <a:spcBef>
                <a:spcPts val="1200"/>
              </a:spcBef>
              <a:spcAft>
                <a:spcPts val="0"/>
              </a:spcAft>
              <a:buClr>
                <a:schemeClr val="dk1"/>
              </a:buClr>
              <a:buSzPct val="61111"/>
              <a:buFont typeface="Arial"/>
              <a:buNone/>
            </a:pPr>
            <a:r>
              <a:rPr lang="en"/>
              <a:t>2. Assessment of predictors in a more realistic environment (such as an assessment center) rather than in a decontextualized testing situation</a:t>
            </a:r>
            <a:endParaRPr/>
          </a:p>
          <a:p>
            <a:pPr indent="0" lvl="0" marL="0" rtl="0" algn="l">
              <a:spcBef>
                <a:spcPts val="1200"/>
              </a:spcBef>
              <a:spcAft>
                <a:spcPts val="1200"/>
              </a:spcAft>
              <a:buNone/>
            </a:pPr>
            <a:r>
              <a:rPr lang="en"/>
              <a:t>3. Greater use of accumulated candidate performance information in predicting future success rather than tests and other traditional assessment procedures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73"/>
          <p:cNvSpPr txBox="1"/>
          <p:nvPr>
            <p:ph idx="1" type="body"/>
          </p:nvPr>
        </p:nvSpPr>
        <p:spPr>
          <a:xfrm>
            <a:off x="311700" y="321175"/>
            <a:ext cx="8520600" cy="4406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Legal issues in staffing decision</a:t>
            </a:r>
            <a:endParaRPr b="1"/>
          </a:p>
          <a:p>
            <a:pPr indent="-342900" lvl="0" marL="457200" rtl="0" algn="l">
              <a:spcBef>
                <a:spcPts val="1200"/>
              </a:spcBef>
              <a:spcAft>
                <a:spcPts val="0"/>
              </a:spcAft>
              <a:buSzPts val="1800"/>
              <a:buChar char="●"/>
            </a:pPr>
            <a:r>
              <a:rPr lang="en"/>
              <a:t>Although discussions of employment litigation often revolve around a practice (e.g., performance appraisal) or an assessment device (e.g., a test or an interview), employment discrimination charges result not from practices or devices but from decisions about whom to hire, whom to promote, or whom to lay off.</a:t>
            </a:r>
            <a:endParaRPr/>
          </a:p>
          <a:p>
            <a:pPr indent="0" lvl="0" marL="0" rtl="0" algn="l">
              <a:spcBef>
                <a:spcPts val="1200"/>
              </a:spcBef>
              <a:spcAft>
                <a:spcPts val="0"/>
              </a:spcAft>
              <a:buNone/>
            </a:pPr>
            <a:r>
              <a:rPr lang="en"/>
              <a:t>Some of the labour laws in India are</a:t>
            </a:r>
            <a:endParaRPr/>
          </a:p>
          <a:p>
            <a:pPr indent="-342900" lvl="0" marL="457200" rtl="0" algn="l">
              <a:spcBef>
                <a:spcPts val="1200"/>
              </a:spcBef>
              <a:spcAft>
                <a:spcPts val="0"/>
              </a:spcAft>
              <a:buSzPts val="1800"/>
              <a:buChar char="●"/>
            </a:pPr>
            <a:r>
              <a:rPr lang="en"/>
              <a:t>The Employees’ Compensation Act, 1923                	 </a:t>
            </a:r>
            <a:endParaRPr/>
          </a:p>
          <a:p>
            <a:pPr indent="-342900" lvl="0" marL="457200" rtl="0" algn="l">
              <a:spcBef>
                <a:spcPts val="0"/>
              </a:spcBef>
              <a:spcAft>
                <a:spcPts val="0"/>
              </a:spcAft>
              <a:buSzPts val="1800"/>
              <a:buChar char="●"/>
            </a:pPr>
            <a:r>
              <a:rPr lang="en"/>
              <a:t>The Employees’ Compensation (Amendment) Act 2017</a:t>
            </a:r>
            <a:endParaRPr/>
          </a:p>
          <a:p>
            <a:pPr indent="-342900" lvl="0" marL="457200" rtl="0" algn="l">
              <a:spcBef>
                <a:spcPts val="0"/>
              </a:spcBef>
              <a:spcAft>
                <a:spcPts val="0"/>
              </a:spcAft>
              <a:buSzPts val="1800"/>
              <a:buChar char="●"/>
            </a:pPr>
            <a:r>
              <a:rPr lang="en"/>
              <a:t>The Trade Unions Act, 1926</a:t>
            </a:r>
            <a:endParaRPr/>
          </a:p>
          <a:p>
            <a:pPr indent="-342900" lvl="0" marL="457200" rtl="0" algn="l">
              <a:spcBef>
                <a:spcPts val="0"/>
              </a:spcBef>
              <a:spcAft>
                <a:spcPts val="0"/>
              </a:spcAft>
              <a:buSzPts val="1800"/>
              <a:buChar char="●"/>
            </a:pPr>
            <a:r>
              <a:rPr lang="en"/>
              <a:t>The Payment of Wages Act, 1936</a:t>
            </a:r>
            <a:endParaRPr/>
          </a:p>
          <a:p>
            <a:pPr indent="-342900" lvl="0" marL="457200" rtl="0" algn="l">
              <a:spcBef>
                <a:spcPts val="0"/>
              </a:spcBef>
              <a:spcAft>
                <a:spcPts val="0"/>
              </a:spcAft>
              <a:buSzPts val="1800"/>
              <a:buChar char="●"/>
            </a:pPr>
            <a:r>
              <a:rPr lang="en"/>
              <a:t>The Payment of Wages (Amendment) Act 2017</a:t>
            </a:r>
            <a:endParaRPr/>
          </a:p>
          <a:p>
            <a:pPr indent="-342900" lvl="0" marL="457200" rtl="0" algn="l">
              <a:spcBef>
                <a:spcPts val="0"/>
              </a:spcBef>
              <a:spcAft>
                <a:spcPts val="0"/>
              </a:spcAft>
              <a:buSzPts val="1800"/>
              <a:buChar char="●"/>
            </a:pPr>
            <a:r>
              <a:rPr lang="en"/>
              <a:t>The Industrial Employment (Standing Orders) Act, 1946 -   Notification dated 07.10.2016 (Amendment to Schedule)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4"/>
          <p:cNvSpPr txBox="1"/>
          <p:nvPr>
            <p:ph idx="1" type="body"/>
          </p:nvPr>
        </p:nvSpPr>
        <p:spPr>
          <a:xfrm>
            <a:off x="311700" y="477025"/>
            <a:ext cx="8520600" cy="4092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Industrial Disputes Act, 1947</a:t>
            </a:r>
            <a:endParaRPr/>
          </a:p>
          <a:p>
            <a:pPr indent="-342900" lvl="0" marL="457200" rtl="0" algn="l">
              <a:spcBef>
                <a:spcPts val="0"/>
              </a:spcBef>
              <a:spcAft>
                <a:spcPts val="0"/>
              </a:spcAft>
              <a:buSzPts val="1800"/>
              <a:buChar char="●"/>
            </a:pPr>
            <a:r>
              <a:rPr lang="en"/>
              <a:t>The Minimum Wages Act, 1948</a:t>
            </a:r>
            <a:endParaRPr/>
          </a:p>
          <a:p>
            <a:pPr indent="-342900" lvl="0" marL="457200" rtl="0" algn="l">
              <a:spcBef>
                <a:spcPts val="0"/>
              </a:spcBef>
              <a:spcAft>
                <a:spcPts val="0"/>
              </a:spcAft>
              <a:buSzPts val="1800"/>
              <a:buChar char="●"/>
            </a:pPr>
            <a:r>
              <a:rPr lang="en"/>
              <a:t>The Employees’ State Insurance Act, 1948</a:t>
            </a:r>
            <a:endParaRPr/>
          </a:p>
          <a:p>
            <a:pPr indent="-342900" lvl="0" marL="457200" rtl="0" algn="l">
              <a:spcBef>
                <a:spcPts val="0"/>
              </a:spcBef>
              <a:spcAft>
                <a:spcPts val="0"/>
              </a:spcAft>
              <a:buSzPts val="1800"/>
              <a:buChar char="●"/>
            </a:pPr>
            <a:r>
              <a:rPr lang="en"/>
              <a:t>The Factories Act, 1948</a:t>
            </a:r>
            <a:endParaRPr/>
          </a:p>
          <a:p>
            <a:pPr indent="-342900" lvl="0" marL="457200" rtl="0" algn="l">
              <a:spcBef>
                <a:spcPts val="0"/>
              </a:spcBef>
              <a:spcAft>
                <a:spcPts val="0"/>
              </a:spcAft>
              <a:buSzPts val="1800"/>
              <a:buChar char="●"/>
            </a:pPr>
            <a:r>
              <a:rPr lang="en"/>
              <a:t>The Plantation Labour Act, 1951</a:t>
            </a:r>
            <a:endParaRPr/>
          </a:p>
          <a:p>
            <a:pPr indent="-342900" lvl="0" marL="457200" rtl="0" algn="l">
              <a:spcBef>
                <a:spcPts val="0"/>
              </a:spcBef>
              <a:spcAft>
                <a:spcPts val="0"/>
              </a:spcAft>
              <a:buSzPts val="1800"/>
              <a:buChar char="●"/>
            </a:pPr>
            <a:r>
              <a:rPr lang="en"/>
              <a:t>The </a:t>
            </a:r>
            <a:r>
              <a:rPr lang="en"/>
              <a:t>Min</a:t>
            </a:r>
            <a:r>
              <a:rPr lang="en"/>
              <a:t>es Act, 1952</a:t>
            </a:r>
            <a:endParaRPr/>
          </a:p>
          <a:p>
            <a:pPr indent="-342900" lvl="0" marL="457200" rtl="0" algn="l">
              <a:spcBef>
                <a:spcPts val="0"/>
              </a:spcBef>
              <a:spcAft>
                <a:spcPts val="0"/>
              </a:spcAft>
              <a:buSzPts val="1800"/>
              <a:buChar char="●"/>
            </a:pPr>
            <a:r>
              <a:rPr lang="en"/>
              <a:t>The Employees’ Provident Funds and Miscellaneous Provisions Act, 1952</a:t>
            </a:r>
            <a:endParaRPr/>
          </a:p>
          <a:p>
            <a:pPr indent="-342900" lvl="0" marL="457200" rtl="0" algn="l">
              <a:spcBef>
                <a:spcPts val="0"/>
              </a:spcBef>
              <a:spcAft>
                <a:spcPts val="0"/>
              </a:spcAft>
              <a:buSzPts val="1800"/>
              <a:buChar char="●"/>
            </a:pPr>
            <a:r>
              <a:rPr lang="en"/>
              <a:t>The Working Journalists and Other Newspapers Employees (Conditions of Service) and Miscellaneous Provisions Act, 1955</a:t>
            </a:r>
            <a:endParaRPr/>
          </a:p>
          <a:p>
            <a:pPr indent="-342900" lvl="0" marL="457200" rtl="0" algn="l">
              <a:spcBef>
                <a:spcPts val="0"/>
              </a:spcBef>
              <a:spcAft>
                <a:spcPts val="0"/>
              </a:spcAft>
              <a:buSzPts val="1800"/>
              <a:buChar char="●"/>
            </a:pPr>
            <a:r>
              <a:rPr lang="en"/>
              <a:t>The Working Journalists (Fixation of rates of Wages) Act, 1958</a:t>
            </a:r>
            <a:endParaRPr/>
          </a:p>
          <a:p>
            <a:pPr indent="-342900" lvl="0" marL="457200" rtl="0" algn="l">
              <a:spcBef>
                <a:spcPts val="0"/>
              </a:spcBef>
              <a:spcAft>
                <a:spcPts val="0"/>
              </a:spcAft>
              <a:buSzPts val="1800"/>
              <a:buChar char="●"/>
            </a:pPr>
            <a:r>
              <a:rPr lang="en"/>
              <a:t>The Employment Exchange (Compulsory Notification of Vacancies) Act, 1959</a:t>
            </a:r>
            <a:endParaRPr/>
          </a:p>
          <a:p>
            <a:pPr indent="-342900" lvl="0" marL="457200" rtl="0" algn="l">
              <a:spcBef>
                <a:spcPts val="0"/>
              </a:spcBef>
              <a:spcAft>
                <a:spcPts val="0"/>
              </a:spcAft>
              <a:buSzPts val="1800"/>
              <a:buChar char="●"/>
            </a:pPr>
            <a:r>
              <a:rPr lang="en"/>
              <a:t>The Motor Transport Workers Act, 1961</a:t>
            </a:r>
            <a:endParaRPr/>
          </a:p>
          <a:p>
            <a:pPr indent="-342900" lvl="0" marL="457200" rtl="0" algn="l">
              <a:spcBef>
                <a:spcPts val="0"/>
              </a:spcBef>
              <a:spcAft>
                <a:spcPts val="0"/>
              </a:spcAft>
              <a:buSzPts val="1800"/>
              <a:buChar char="●"/>
            </a:pPr>
            <a:r>
              <a:rPr lang="en"/>
              <a:t>The Maternity Benefit Act, 1961, Amendment Act 2017</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5"/>
          <p:cNvSpPr txBox="1"/>
          <p:nvPr>
            <p:ph idx="1" type="body"/>
          </p:nvPr>
        </p:nvSpPr>
        <p:spPr>
          <a:xfrm>
            <a:off x="311700" y="420350"/>
            <a:ext cx="8520600" cy="4148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Payment of Bonus Act, 1965, Amendment Act 2015</a:t>
            </a:r>
            <a:endParaRPr/>
          </a:p>
          <a:p>
            <a:pPr indent="-342900" lvl="0" marL="457200" rtl="0" algn="l">
              <a:spcBef>
                <a:spcPts val="0"/>
              </a:spcBef>
              <a:spcAft>
                <a:spcPts val="0"/>
              </a:spcAft>
              <a:buSzPts val="1800"/>
              <a:buChar char="●"/>
            </a:pPr>
            <a:r>
              <a:rPr lang="en"/>
              <a:t>The Beedi and Cigar Workers (Conditions of Employment) Act, 1966</a:t>
            </a:r>
            <a:endParaRPr/>
          </a:p>
          <a:p>
            <a:pPr indent="-342900" lvl="0" marL="457200" rtl="0" algn="l">
              <a:spcBef>
                <a:spcPts val="0"/>
              </a:spcBef>
              <a:spcAft>
                <a:spcPts val="0"/>
              </a:spcAft>
              <a:buSzPts val="1800"/>
              <a:buChar char="●"/>
            </a:pPr>
            <a:r>
              <a:rPr lang="en"/>
              <a:t>The Contract Labour (Regulation and Abolition) Act, 1970</a:t>
            </a:r>
            <a:endParaRPr/>
          </a:p>
          <a:p>
            <a:pPr indent="-342900" lvl="0" marL="457200" rtl="0" algn="l">
              <a:spcBef>
                <a:spcPts val="0"/>
              </a:spcBef>
              <a:spcAft>
                <a:spcPts val="0"/>
              </a:spcAft>
              <a:buSzPts val="1800"/>
              <a:buChar char="●"/>
            </a:pPr>
            <a:r>
              <a:rPr lang="en"/>
              <a:t>The Payment of Gratuity Act, 1972</a:t>
            </a:r>
            <a:endParaRPr/>
          </a:p>
          <a:p>
            <a:pPr indent="-342900" lvl="0" marL="457200" rtl="0" algn="l">
              <a:spcBef>
                <a:spcPts val="0"/>
              </a:spcBef>
              <a:spcAft>
                <a:spcPts val="0"/>
              </a:spcAft>
              <a:buSzPts val="1800"/>
              <a:buChar char="●"/>
            </a:pPr>
            <a:r>
              <a:rPr lang="en"/>
              <a:t>The Limestone and Dolomite Mines Labour Welfare Fund Act, 1972</a:t>
            </a:r>
            <a:endParaRPr/>
          </a:p>
          <a:p>
            <a:pPr indent="-342900" lvl="0" marL="457200" rtl="0" algn="l">
              <a:spcBef>
                <a:spcPts val="0"/>
              </a:spcBef>
              <a:spcAft>
                <a:spcPts val="0"/>
              </a:spcAft>
              <a:buSzPts val="1800"/>
              <a:buChar char="●"/>
            </a:pPr>
            <a:r>
              <a:rPr lang="en"/>
              <a:t>The Bonded Labour System (Abolition) Act, 1976</a:t>
            </a:r>
            <a:endParaRPr/>
          </a:p>
          <a:p>
            <a:pPr indent="-342900" lvl="0" marL="457200" rtl="0" algn="l">
              <a:spcBef>
                <a:spcPts val="0"/>
              </a:spcBef>
              <a:spcAft>
                <a:spcPts val="0"/>
              </a:spcAft>
              <a:buSzPts val="1800"/>
              <a:buChar char="●"/>
            </a:pPr>
            <a:r>
              <a:rPr lang="en"/>
              <a:t>The Iron Ore Mines, Manganese Ore Mines and Chrome Ore Mines Labour Welfare (Cess) Act, 1976</a:t>
            </a:r>
            <a:endParaRPr/>
          </a:p>
          <a:p>
            <a:pPr indent="-342900" lvl="0" marL="457200" rtl="0" algn="l">
              <a:spcBef>
                <a:spcPts val="0"/>
              </a:spcBef>
              <a:spcAft>
                <a:spcPts val="0"/>
              </a:spcAft>
              <a:buSzPts val="1800"/>
              <a:buChar char="●"/>
            </a:pPr>
            <a:r>
              <a:rPr lang="en"/>
              <a:t>The Beedi Workers Welfare Fund Act, 1976</a:t>
            </a:r>
            <a:endParaRPr/>
          </a:p>
          <a:p>
            <a:pPr indent="-342900" lvl="0" marL="457200" rtl="0" algn="l">
              <a:spcBef>
                <a:spcPts val="0"/>
              </a:spcBef>
              <a:spcAft>
                <a:spcPts val="0"/>
              </a:spcAft>
              <a:buSzPts val="1800"/>
              <a:buChar char="●"/>
            </a:pPr>
            <a:r>
              <a:rPr lang="en"/>
              <a:t>The Sales Promotion Employees (Conditions of Service) Act, 1976</a:t>
            </a:r>
            <a:endParaRPr/>
          </a:p>
          <a:p>
            <a:pPr indent="-342900" lvl="0" marL="457200" rtl="0" algn="l">
              <a:spcBef>
                <a:spcPts val="0"/>
              </a:spcBef>
              <a:spcAft>
                <a:spcPts val="0"/>
              </a:spcAft>
              <a:buSzPts val="1800"/>
              <a:buChar char="●"/>
            </a:pPr>
            <a:r>
              <a:rPr lang="en"/>
              <a:t>The Equal Remuneration Act, 1976</a:t>
            </a:r>
            <a:endParaRPr/>
          </a:p>
          <a:p>
            <a:pPr indent="-342900" lvl="0" marL="457200" rtl="0" algn="l">
              <a:spcBef>
                <a:spcPts val="0"/>
              </a:spcBef>
              <a:spcAft>
                <a:spcPts val="0"/>
              </a:spcAft>
              <a:buSzPts val="1800"/>
              <a:buChar char="●"/>
            </a:pPr>
            <a:r>
              <a:rPr lang="en"/>
              <a:t>The Inter-State Migrant Workmen (Regulation of Employment and Conditions of Service) Act, 1979.</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6"/>
          <p:cNvSpPr txBox="1"/>
          <p:nvPr>
            <p:ph idx="1" type="body"/>
          </p:nvPr>
        </p:nvSpPr>
        <p:spPr>
          <a:xfrm>
            <a:off x="311700" y="420350"/>
            <a:ext cx="8520600" cy="4148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Cine Workers and Cinema Theatre Workers (Regulation of Employment) Act, 1981</a:t>
            </a:r>
            <a:endParaRPr/>
          </a:p>
          <a:p>
            <a:pPr indent="-342900" lvl="0" marL="457200" rtl="0" algn="l">
              <a:spcBef>
                <a:spcPts val="0"/>
              </a:spcBef>
              <a:spcAft>
                <a:spcPts val="0"/>
              </a:spcAft>
              <a:buSzPts val="1800"/>
              <a:buChar char="●"/>
            </a:pPr>
            <a:r>
              <a:rPr lang="en"/>
              <a:t>The Cine Workers Welfare Fund Act, 1981</a:t>
            </a:r>
            <a:endParaRPr/>
          </a:p>
          <a:p>
            <a:pPr indent="-342900" lvl="0" marL="457200" rtl="0" algn="l">
              <a:spcBef>
                <a:spcPts val="0"/>
              </a:spcBef>
              <a:spcAft>
                <a:spcPts val="0"/>
              </a:spcAft>
              <a:buSzPts val="1800"/>
              <a:buChar char="●"/>
            </a:pPr>
            <a:r>
              <a:rPr lang="en"/>
              <a:t>The Dock Workers (Safety, Health and Welfare) Act, 1986</a:t>
            </a:r>
            <a:endParaRPr/>
          </a:p>
          <a:p>
            <a:pPr indent="-342900" lvl="0" marL="457200" rtl="0" algn="l">
              <a:spcBef>
                <a:spcPts val="0"/>
              </a:spcBef>
              <a:spcAft>
                <a:spcPts val="0"/>
              </a:spcAft>
              <a:buSzPts val="1800"/>
              <a:buChar char="●"/>
            </a:pPr>
            <a:r>
              <a:rPr lang="en"/>
              <a:t>The Child and Adolescent Labour (Prohibition and Regulation) Act, 1986</a:t>
            </a:r>
            <a:endParaRPr/>
          </a:p>
          <a:p>
            <a:pPr indent="-342900" lvl="0" marL="457200" rtl="0" algn="l">
              <a:spcBef>
                <a:spcPts val="0"/>
              </a:spcBef>
              <a:spcAft>
                <a:spcPts val="0"/>
              </a:spcAft>
              <a:buSzPts val="1800"/>
              <a:buChar char="●"/>
            </a:pPr>
            <a:r>
              <a:rPr lang="en"/>
              <a:t>The Labour Laws (Exemption from Furnishing Returns and Maintaining Registers by Certain Establishments) Act, 1988, Amendment Act 2014</a:t>
            </a:r>
            <a:endParaRPr/>
          </a:p>
          <a:p>
            <a:pPr indent="-342900" lvl="0" marL="457200" rtl="0" algn="l">
              <a:spcBef>
                <a:spcPts val="0"/>
              </a:spcBef>
              <a:spcAft>
                <a:spcPts val="0"/>
              </a:spcAft>
              <a:buSzPts val="1800"/>
              <a:buChar char="●"/>
            </a:pPr>
            <a:r>
              <a:rPr lang="en"/>
              <a:t>The Building and Other Constructions Workers’ (Regulation of Employment and Conditions of Service) Act, 1996</a:t>
            </a:r>
            <a:endParaRPr/>
          </a:p>
          <a:p>
            <a:pPr indent="-342900" lvl="0" marL="457200" rtl="0" algn="l">
              <a:spcBef>
                <a:spcPts val="0"/>
              </a:spcBef>
              <a:spcAft>
                <a:spcPts val="0"/>
              </a:spcAft>
              <a:buSzPts val="1800"/>
              <a:buChar char="●"/>
            </a:pPr>
            <a:r>
              <a:rPr lang="en"/>
              <a:t>The Building and Other Construction Workers Welfare Cess Act, 1996</a:t>
            </a:r>
            <a:endParaRPr/>
          </a:p>
          <a:p>
            <a:pPr indent="-342900" lvl="0" marL="457200" rtl="0" algn="l">
              <a:spcBef>
                <a:spcPts val="0"/>
              </a:spcBef>
              <a:spcAft>
                <a:spcPts val="0"/>
              </a:spcAft>
              <a:buSzPts val="1800"/>
              <a:buChar char="●"/>
            </a:pPr>
            <a:r>
              <a:rPr lang="en"/>
              <a:t>The Unorganized Workers’ Social Security Act, 2008 rates of Wages) Act, 1958</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7"/>
          <p:cNvSpPr txBox="1"/>
          <p:nvPr>
            <p:ph idx="1" type="body"/>
          </p:nvPr>
        </p:nvSpPr>
        <p:spPr>
          <a:xfrm>
            <a:off x="311700" y="264500"/>
            <a:ext cx="8520600" cy="4463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Discrimination outside the US</a:t>
            </a:r>
            <a:endParaRPr b="1"/>
          </a:p>
          <a:p>
            <a:pPr indent="-342900" lvl="0" marL="457200" rtl="0" algn="l">
              <a:spcBef>
                <a:spcPts val="1200"/>
              </a:spcBef>
              <a:spcAft>
                <a:spcPts val="0"/>
              </a:spcAft>
              <a:buSzPts val="1800"/>
              <a:buChar char="●"/>
            </a:pPr>
            <a:r>
              <a:rPr lang="en"/>
              <a:t>There are groups of </a:t>
            </a:r>
            <a:r>
              <a:rPr lang="en"/>
              <a:t>people</a:t>
            </a:r>
            <a:r>
              <a:rPr lang="en"/>
              <a:t> including worker subgroups defined by nationality, language, family background, gender, race, skin color, socioeconomic and property status, age, place of residence, religion, political opinion, and political party affiliation as well as pregnant women, breast-feeding  women, women with children younger than age 3, single parents, and caregivers of children with disabilities.</a:t>
            </a:r>
            <a:endParaRPr/>
          </a:p>
          <a:p>
            <a:pPr indent="0" lvl="0" marL="0" rtl="0" algn="l">
              <a:spcBef>
                <a:spcPts val="1200"/>
              </a:spcBef>
              <a:spcAft>
                <a:spcPts val="0"/>
              </a:spcAft>
              <a:buNone/>
            </a:pPr>
            <a:r>
              <a:rPr lang="en"/>
              <a:t>T</a:t>
            </a:r>
            <a:r>
              <a:rPr b="1" lang="en"/>
              <a:t>heories of </a:t>
            </a:r>
            <a:r>
              <a:rPr b="1" lang="en"/>
              <a:t>discrimination</a:t>
            </a:r>
            <a:endParaRPr b="1"/>
          </a:p>
          <a:p>
            <a:pPr indent="0" lvl="0" marL="0" rtl="0" algn="l">
              <a:spcBef>
                <a:spcPts val="1200"/>
              </a:spcBef>
              <a:spcAft>
                <a:spcPts val="1200"/>
              </a:spcAft>
              <a:buNone/>
            </a:pPr>
            <a:r>
              <a:rPr lang="en"/>
              <a:t>The law and the courts recognize two different theories of discrimination. The first  charges an employer with</a:t>
            </a:r>
            <a:r>
              <a:rPr b="1" lang="en"/>
              <a:t> intentional discrimination</a:t>
            </a:r>
            <a:r>
              <a:rPr lang="en"/>
              <a:t> and is also referred to as </a:t>
            </a:r>
            <a:r>
              <a:rPr b="1" lang="en"/>
              <a:t>adverse (or disparate) treatment</a:t>
            </a:r>
            <a:r>
              <a:rPr lang="en"/>
              <a:t>. Under this theory, the plaintiff attempts to show that the employer actually treated the group to which the plaintiff belongs (e.g., women, African Americans) differently from majority applicants or employees.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78"/>
          <p:cNvSpPr txBox="1"/>
          <p:nvPr>
            <p:ph idx="1" type="body"/>
          </p:nvPr>
        </p:nvSpPr>
        <p:spPr>
          <a:xfrm>
            <a:off x="510075" y="359000"/>
            <a:ext cx="8520600" cy="4298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second theory that can be used to file discrimination charges acknowledges that the employer may not have intended to discriminate </a:t>
            </a:r>
            <a:r>
              <a:rPr b="1" lang="en"/>
              <a:t>(unintentional)</a:t>
            </a:r>
            <a:r>
              <a:rPr lang="en"/>
              <a:t> against a plaintiff, but a practice implemented by the employer had the effect of disadvantaging (i.e., had an adverse or disparate impact on) the group to which the plaintiff belongs (e.g., African Americans, women, individuals 40 years of age or older). An </a:t>
            </a:r>
            <a:r>
              <a:rPr b="1" lang="en"/>
              <a:t>adverse impact</a:t>
            </a:r>
            <a:r>
              <a:rPr lang="en"/>
              <a:t> case is made by showing statistical disparities between a majority and a minority group in terms of outcomes.</a:t>
            </a:r>
            <a:endParaRPr/>
          </a:p>
          <a:p>
            <a:pPr indent="-342900" lvl="0" marL="457200" rtl="0" algn="l">
              <a:spcBef>
                <a:spcPts val="0"/>
              </a:spcBef>
              <a:spcAft>
                <a:spcPts val="0"/>
              </a:spcAft>
              <a:buSzPts val="1800"/>
              <a:buChar char="●"/>
            </a:pPr>
            <a:r>
              <a:rPr lang="en"/>
              <a:t>In an adverse impact case, the burden is on the plaintiff to show that </a:t>
            </a:r>
            <a:endParaRPr/>
          </a:p>
          <a:p>
            <a:pPr indent="0" lvl="0" marL="457200" rtl="0" algn="l">
              <a:spcBef>
                <a:spcPts val="1200"/>
              </a:spcBef>
              <a:spcAft>
                <a:spcPts val="0"/>
              </a:spcAft>
              <a:buNone/>
            </a:pPr>
            <a:r>
              <a:rPr lang="en"/>
              <a:t>(1) he or she belongs to a protected group and </a:t>
            </a:r>
            <a:endParaRPr/>
          </a:p>
          <a:p>
            <a:pPr indent="0" lvl="0" marL="457200" rtl="0" algn="l">
              <a:spcBef>
                <a:spcPts val="1200"/>
              </a:spcBef>
              <a:spcAft>
                <a:spcPts val="0"/>
              </a:spcAft>
              <a:buNone/>
            </a:pPr>
            <a:r>
              <a:rPr lang="en"/>
              <a:t>(2) members of the protected group were statistically disadvantaged compared to majority employees or applicants. </a:t>
            </a:r>
            <a:endParaRPr/>
          </a:p>
          <a:p>
            <a:pPr indent="-342900" lvl="0" marL="457200" rtl="0" algn="l">
              <a:spcBef>
                <a:spcPts val="1200"/>
              </a:spcBef>
              <a:spcAft>
                <a:spcPts val="0"/>
              </a:spcAft>
              <a:buSzPts val="1800"/>
              <a:buChar char="●"/>
            </a:pPr>
            <a:r>
              <a:rPr lang="en"/>
              <a:t>There are several ways of demonstrating this disadvantage. The Uniform Guidelines (1978) suggest using an </a:t>
            </a:r>
            <a:r>
              <a:rPr b="1" lang="en"/>
              <a:t>80 percent or 4/5ths rule</a:t>
            </a:r>
            <a:r>
              <a:rPr lang="en"/>
              <a: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9"/>
          <p:cNvSpPr txBox="1"/>
          <p:nvPr>
            <p:ph idx="1" type="body"/>
          </p:nvPr>
        </p:nvSpPr>
        <p:spPr>
          <a:xfrm>
            <a:off x="311700" y="278675"/>
            <a:ext cx="8520600" cy="429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80 percent or 4/5ths rule </a:t>
            </a:r>
            <a:r>
              <a:rPr lang="en"/>
              <a:t>- Guideline for assessing whether there is evidence of adverse impact; if it can be shown that a protected group received less than 80 percent of the desirable outcomes (e.g., job offers, promotions) received by a majority group, the plaintiffs can claim to have met the burden of demonstrating adverse impact.</a:t>
            </a:r>
            <a:endParaRPr/>
          </a:p>
          <a:p>
            <a:pPr indent="-342900" lvl="0" marL="457200" rtl="0" algn="l">
              <a:spcBef>
                <a:spcPts val="0"/>
              </a:spcBef>
              <a:spcAft>
                <a:spcPts val="0"/>
              </a:spcAft>
              <a:buSzPts val="1800"/>
              <a:buChar char="●"/>
            </a:pPr>
            <a:r>
              <a:rPr b="1" lang="en"/>
              <a:t>Adverse impact ratio</a:t>
            </a:r>
            <a:r>
              <a:rPr lang="en"/>
              <a:t> - Ratio obtained by dividing the selection ratio of the protected group by the selection ratio of the majority group; if this ratio is lower than 80 percent, there is evidence of adverse impact.</a:t>
            </a:r>
            <a:endParaRPr/>
          </a:p>
          <a:p>
            <a:pPr indent="-342900" lvl="0" marL="457200" rtl="0" algn="l">
              <a:spcBef>
                <a:spcPts val="0"/>
              </a:spcBef>
              <a:spcAft>
                <a:spcPts val="0"/>
              </a:spcAft>
              <a:buSzPts val="1800"/>
              <a:buChar char="●"/>
            </a:pPr>
            <a:r>
              <a:rPr lang="en"/>
              <a:t>There are many steps to an employment discrimination suit, which can get complicated fairly quickly.</a:t>
            </a:r>
            <a:endParaRPr/>
          </a:p>
          <a:p>
            <a:pPr indent="-342900" lvl="0" marL="457200" rtl="0" algn="l">
              <a:spcBef>
                <a:spcPts val="0"/>
              </a:spcBef>
              <a:spcAft>
                <a:spcPts val="0"/>
              </a:spcAft>
              <a:buSzPts val="1800"/>
              <a:buChar char="●"/>
            </a:pPr>
            <a:r>
              <a:rPr lang="en"/>
              <a:t>In a large number of cases, I-O psychologists are most commonly involved as </a:t>
            </a:r>
            <a:r>
              <a:rPr b="1" lang="en"/>
              <a:t>expert witnesses</a:t>
            </a:r>
            <a:r>
              <a:rPr lang="en"/>
              <a:t>, witness in a lawsuit who is permitted to voice opinions  about organizational practices.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80"/>
          <p:cNvSpPr txBox="1"/>
          <p:nvPr>
            <p:ph type="title"/>
          </p:nvPr>
        </p:nvSpPr>
        <p:spPr>
          <a:xfrm>
            <a:off x="311700" y="189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&amp; Development</a:t>
            </a:r>
            <a:endParaRPr/>
          </a:p>
        </p:txBody>
      </p:sp>
      <p:sp>
        <p:nvSpPr>
          <p:cNvPr id="405" name="Google Shape;405;p80"/>
          <p:cNvSpPr txBox="1"/>
          <p:nvPr>
            <p:ph idx="1" type="body"/>
          </p:nvPr>
        </p:nvSpPr>
        <p:spPr>
          <a:xfrm>
            <a:off x="311700" y="831300"/>
            <a:ext cx="8662200" cy="40950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Training is big business, particularly in the United States, Japan, and western Europe.A survey by researchers at the American Society for Training and Development (2010) indicated that training  expenditures as a percentage of payroll averaged about 3 percent in European companies, 2 percent in U.S. organizations, and 1 percent in Japanese companies. </a:t>
            </a:r>
            <a:endParaRPr/>
          </a:p>
          <a:p>
            <a:pPr indent="-334327" lvl="0" marL="457200" rtl="0" algn="l">
              <a:spcBef>
                <a:spcPts val="0"/>
              </a:spcBef>
              <a:spcAft>
                <a:spcPts val="0"/>
              </a:spcAft>
              <a:buSzPct val="100000"/>
              <a:buChar char="●"/>
            </a:pPr>
            <a:r>
              <a:rPr lang="en"/>
              <a:t>Organizations in the United States spend approximately $126 billion annually on training and development (ASTD, 2010). Evidence indicates that training is effective and that these training expenditures are paying off in terms of higher net sales and gross profitability per employee (Arthur, Bennett, Edens, &amp; Bell, 2003). </a:t>
            </a:r>
            <a:endParaRPr/>
          </a:p>
          <a:p>
            <a:pPr indent="-334327" lvl="0" marL="457200" rtl="0" algn="l">
              <a:spcBef>
                <a:spcPts val="0"/>
              </a:spcBef>
              <a:spcAft>
                <a:spcPts val="0"/>
              </a:spcAft>
              <a:buSzPct val="100000"/>
              <a:buChar char="●"/>
            </a:pPr>
            <a:r>
              <a:rPr lang="en"/>
              <a:t>Training can be beneficial for the organization and for employees in terms of increasing their value to their organization as well as their employability in the broader marketplace. </a:t>
            </a:r>
            <a:endParaRPr/>
          </a:p>
          <a:p>
            <a:pPr indent="-334327" lvl="0" marL="457200" rtl="0" algn="l">
              <a:spcBef>
                <a:spcPts val="0"/>
              </a:spcBef>
              <a:spcAft>
                <a:spcPts val="0"/>
              </a:spcAft>
              <a:buSzPct val="100000"/>
              <a:buChar char="●"/>
            </a:pPr>
            <a:r>
              <a:rPr lang="en"/>
              <a:t>Many organizations are using training and development as a way to attract and retain their most successful employees. In addition, web-based and computer-based training are increasingly being used to expand employees’ access to training (Welsh, Wanberg, Brown, &amp; Simmering, 2003).</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81"/>
          <p:cNvPicPr preferRelativeResize="0"/>
          <p:nvPr/>
        </p:nvPicPr>
        <p:blipFill>
          <a:blip r:embed="rId3">
            <a:alphaModFix/>
          </a:blip>
          <a:stretch>
            <a:fillRect/>
          </a:stretch>
        </p:blipFill>
        <p:spPr>
          <a:xfrm>
            <a:off x="809538" y="152400"/>
            <a:ext cx="7524923" cy="4838700"/>
          </a:xfrm>
          <a:prstGeom prst="rect">
            <a:avLst/>
          </a:prstGeom>
          <a:noFill/>
          <a:ln>
            <a:noFill/>
          </a:ln>
        </p:spPr>
      </p:pic>
      <p:pic>
        <p:nvPicPr>
          <p:cNvPr id="411" name="Google Shape;411;p81"/>
          <p:cNvPicPr preferRelativeResize="0"/>
          <p:nvPr/>
        </p:nvPicPr>
        <p:blipFill>
          <a:blip r:embed="rId4">
            <a:alphaModFix/>
          </a:blip>
          <a:stretch>
            <a:fillRect/>
          </a:stretch>
        </p:blipFill>
        <p:spPr>
          <a:xfrm>
            <a:off x="4160300" y="544480"/>
            <a:ext cx="2291500" cy="7860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82"/>
          <p:cNvSpPr txBox="1"/>
          <p:nvPr>
            <p:ph idx="1" type="body"/>
          </p:nvPr>
        </p:nvSpPr>
        <p:spPr>
          <a:xfrm>
            <a:off x="311700" y="335350"/>
            <a:ext cx="8520600" cy="4233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Training - Systematic acquisition of skills, concepts, or attitudes that result in improved performance in another environment. </a:t>
            </a:r>
            <a:endParaRPr/>
          </a:p>
          <a:p>
            <a:pPr indent="-342900" lvl="0" marL="457200" rtl="0" algn="l">
              <a:spcBef>
                <a:spcPts val="0"/>
              </a:spcBef>
              <a:spcAft>
                <a:spcPts val="0"/>
              </a:spcAft>
              <a:buSzPts val="1800"/>
              <a:buChar char="●"/>
            </a:pPr>
            <a:r>
              <a:rPr lang="en"/>
              <a:t>Learning A relatively permanent change in behavior and human capabilities produced by experience and practice.  </a:t>
            </a:r>
            <a:endParaRPr/>
          </a:p>
          <a:p>
            <a:pPr indent="-342900" lvl="0" marL="457200" rtl="0" algn="l">
              <a:spcBef>
                <a:spcPts val="0"/>
              </a:spcBef>
              <a:spcAft>
                <a:spcPts val="0"/>
              </a:spcAft>
              <a:buSzPts val="1800"/>
              <a:buChar char="●"/>
            </a:pPr>
            <a:r>
              <a:rPr lang="en"/>
              <a:t>Learning outcomes can be organized into three broad categories: </a:t>
            </a:r>
            <a:r>
              <a:rPr b="1" lang="en"/>
              <a:t>cognitive, skill-based, and affective outcomes</a:t>
            </a:r>
            <a:endParaRPr b="1"/>
          </a:p>
          <a:p>
            <a:pPr indent="-342900" lvl="0" marL="457200" rtl="0" algn="l">
              <a:spcBef>
                <a:spcPts val="0"/>
              </a:spcBef>
              <a:spcAft>
                <a:spcPts val="0"/>
              </a:spcAft>
              <a:buSzPts val="1800"/>
              <a:buChar char="●"/>
            </a:pPr>
            <a:r>
              <a:rPr lang="en"/>
              <a:t>Cognitive outcome - Type of learning outcome that includes declarative knowledge, or knowledge of rules, facts, and principles. </a:t>
            </a:r>
            <a:endParaRPr/>
          </a:p>
          <a:p>
            <a:pPr indent="-342900" lvl="0" marL="457200" rtl="0" algn="l">
              <a:spcBef>
                <a:spcPts val="0"/>
              </a:spcBef>
              <a:spcAft>
                <a:spcPts val="0"/>
              </a:spcAft>
              <a:buSzPts val="1800"/>
              <a:buChar char="●"/>
            </a:pPr>
            <a:r>
              <a:rPr lang="en"/>
              <a:t>Skill-based outcome - Type of learning outcome that concerns the development of motor or technical skills. </a:t>
            </a:r>
            <a:endParaRPr/>
          </a:p>
          <a:p>
            <a:pPr indent="-342900" lvl="0" marL="457200" rtl="0" algn="l">
              <a:spcBef>
                <a:spcPts val="0"/>
              </a:spcBef>
              <a:spcAft>
                <a:spcPts val="0"/>
              </a:spcAft>
              <a:buSzPts val="1800"/>
              <a:buChar char="●"/>
            </a:pPr>
            <a:r>
              <a:rPr lang="en"/>
              <a:t>Affective outcome - Type of learning outcome that includes attitudes or beliefs that predispose a person to behave in a certain way.</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83"/>
          <p:cNvSpPr txBox="1"/>
          <p:nvPr>
            <p:ph idx="1" type="body"/>
          </p:nvPr>
        </p:nvSpPr>
        <p:spPr>
          <a:xfrm>
            <a:off x="311700" y="335350"/>
            <a:ext cx="8520600" cy="4378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It is important to note that training, learning, and performance are distinct concepts.</a:t>
            </a:r>
            <a:endParaRPr/>
          </a:p>
          <a:p>
            <a:pPr indent="-342900" lvl="0" marL="457200" rtl="0" algn="l">
              <a:spcBef>
                <a:spcPts val="0"/>
              </a:spcBef>
              <a:spcAft>
                <a:spcPts val="0"/>
              </a:spcAft>
              <a:buSzPts val="1800"/>
              <a:buChar char="●"/>
            </a:pPr>
            <a:r>
              <a:rPr lang="en"/>
              <a:t>Performance - Actions or behaviors relevant to the organization’s goals; measured in terms of each individual’s proficiency.</a:t>
            </a:r>
            <a:endParaRPr/>
          </a:p>
          <a:p>
            <a:pPr indent="-342900" lvl="0" marL="457200" rtl="0" algn="l">
              <a:spcBef>
                <a:spcPts val="0"/>
              </a:spcBef>
              <a:spcAft>
                <a:spcPts val="0"/>
              </a:spcAft>
              <a:buSzPts val="1800"/>
              <a:buChar char="●"/>
            </a:pPr>
            <a:r>
              <a:rPr lang="en"/>
              <a:t>Training needs analysis - A three-step process of organizational, task, and person analysis; required to develop a systematic understanding of where training is needed, what needs to be taught or trained, and who will be trained.</a:t>
            </a:r>
            <a:endParaRPr/>
          </a:p>
          <a:p>
            <a:pPr indent="0" lvl="0" marL="457200" rtl="0" algn="l">
              <a:spcBef>
                <a:spcPts val="1200"/>
              </a:spcBef>
              <a:spcAft>
                <a:spcPts val="1200"/>
              </a:spcAft>
              <a:buNone/>
            </a:pPr>
            <a:r>
              <a:t/>
            </a:r>
            <a:endParaRPr/>
          </a:p>
        </p:txBody>
      </p:sp>
      <p:pic>
        <p:nvPicPr>
          <p:cNvPr id="422" name="Google Shape;422;p83"/>
          <p:cNvPicPr preferRelativeResize="0"/>
          <p:nvPr/>
        </p:nvPicPr>
        <p:blipFill>
          <a:blip r:embed="rId3">
            <a:alphaModFix/>
          </a:blip>
          <a:stretch>
            <a:fillRect/>
          </a:stretch>
        </p:blipFill>
        <p:spPr>
          <a:xfrm>
            <a:off x="1775900" y="2786325"/>
            <a:ext cx="7226401" cy="21822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84"/>
          <p:cNvSpPr txBox="1"/>
          <p:nvPr>
            <p:ph idx="1" type="body"/>
          </p:nvPr>
        </p:nvSpPr>
        <p:spPr>
          <a:xfrm>
            <a:off x="311700" y="307000"/>
            <a:ext cx="8520600" cy="44775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Organizational analysis - Component of training needs analysis that examines organizational goals, available resources, and the organizational environment; helps to determine where training should be directed.</a:t>
            </a:r>
            <a:endParaRPr/>
          </a:p>
          <a:p>
            <a:pPr indent="-342900" lvl="0" marL="457200" rtl="0" algn="l">
              <a:spcBef>
                <a:spcPts val="0"/>
              </a:spcBef>
              <a:spcAft>
                <a:spcPts val="0"/>
              </a:spcAft>
              <a:buSzPts val="1800"/>
              <a:buChar char="●"/>
            </a:pPr>
            <a:r>
              <a:rPr lang="en"/>
              <a:t>Task analysis - Component of training needs analysis that examines what employees must do to perform the job properly. Task analysis can also include an assessment of competencies, sets of behaviors that are instrumental in the delivery of desired results or outcomes.</a:t>
            </a:r>
            <a:endParaRPr/>
          </a:p>
          <a:p>
            <a:pPr indent="-342900" lvl="0" marL="457200" rtl="0" algn="l">
              <a:spcBef>
                <a:spcPts val="0"/>
              </a:spcBef>
              <a:spcAft>
                <a:spcPts val="0"/>
              </a:spcAft>
              <a:buSzPts val="1800"/>
              <a:buChar char="●"/>
            </a:pPr>
            <a:r>
              <a:rPr lang="en"/>
              <a:t>Person analysis - Component of training needs analysis that identifies which individuals in an organization should receive training and what kind of instruction they need.</a:t>
            </a:r>
            <a:endParaRPr/>
          </a:p>
          <a:p>
            <a:pPr indent="-342900" lvl="0" marL="457200" rtl="0" algn="l">
              <a:spcBef>
                <a:spcPts val="0"/>
              </a:spcBef>
              <a:spcAft>
                <a:spcPts val="0"/>
              </a:spcAft>
              <a:buSzPts val="1800"/>
              <a:buChar char="●"/>
            </a:pPr>
            <a:r>
              <a:rPr lang="en"/>
              <a:t>After training needs have been determined and used to develop training objectives, training design begins with an understanding of how learning occurs.</a:t>
            </a:r>
            <a:endParaRPr/>
          </a:p>
          <a:p>
            <a:pPr indent="-342900" lvl="0" marL="457200" rtl="0" algn="l">
              <a:spcBef>
                <a:spcPts val="0"/>
              </a:spcBef>
              <a:spcAft>
                <a:spcPts val="0"/>
              </a:spcAft>
              <a:buSzPts val="1800"/>
              <a:buChar char="●"/>
            </a:pPr>
            <a:r>
              <a:rPr lang="en"/>
              <a:t>Trainee readiness refers to whether employees have the personal characteristics necessary to acquire knowledge from a training program and apply it to the job.</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85"/>
          <p:cNvSpPr txBox="1"/>
          <p:nvPr>
            <p:ph idx="1" type="body"/>
          </p:nvPr>
        </p:nvSpPr>
        <p:spPr>
          <a:xfrm>
            <a:off x="311700" y="136975"/>
            <a:ext cx="8520600" cy="4874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Another indicator of trainee readiness is goal orientation. Individuals with a performance orientation are concerned about doing well in training and being evaluated positively.</a:t>
            </a:r>
            <a:endParaRPr/>
          </a:p>
          <a:p>
            <a:pPr indent="-342900" lvl="0" marL="457200" rtl="0" algn="l">
              <a:spcBef>
                <a:spcPts val="0"/>
              </a:spcBef>
              <a:spcAft>
                <a:spcPts val="0"/>
              </a:spcAft>
              <a:buSzPts val="1800"/>
              <a:buChar char="●"/>
            </a:pPr>
            <a:r>
              <a:rPr lang="en"/>
              <a:t>Performance-oriented learners are often sensitive to feedback, which can lead them to reduce their efforts and goals in challenging situations.</a:t>
            </a:r>
            <a:endParaRPr/>
          </a:p>
          <a:p>
            <a:pPr indent="-342900" lvl="0" marL="457200" rtl="0" algn="l">
              <a:spcBef>
                <a:spcPts val="0"/>
              </a:spcBef>
              <a:spcAft>
                <a:spcPts val="0"/>
              </a:spcAft>
              <a:buSzPts val="1800"/>
              <a:buChar char="●"/>
            </a:pPr>
            <a:r>
              <a:rPr lang="en"/>
              <a:t>In contrast, individuals with a mastery orientation are concerned with increasing their competence for the task at hand, and they view errors and mistakes as part of the learning process. Mastery-oriented individuals are flexible and adaptable in learning situations, which is particularly critical for learning dynamic tasks and complex decision making.</a:t>
            </a:r>
            <a:endParaRPr/>
          </a:p>
          <a:p>
            <a:pPr indent="-342900" lvl="0" marL="457200" rtl="0" algn="l">
              <a:spcBef>
                <a:spcPts val="0"/>
              </a:spcBef>
              <a:spcAft>
                <a:spcPts val="0"/>
              </a:spcAft>
              <a:buSzPts val="1800"/>
              <a:buChar char="●"/>
            </a:pPr>
            <a:r>
              <a:rPr lang="en"/>
              <a:t>An additional indicator of readiness is the trainee’s experience level.</a:t>
            </a:r>
            <a:endParaRPr/>
          </a:p>
          <a:p>
            <a:pPr indent="-342900" lvl="0" marL="457200" rtl="0" algn="l">
              <a:spcBef>
                <a:spcPts val="0"/>
              </a:spcBef>
              <a:spcAft>
                <a:spcPts val="0"/>
              </a:spcAft>
              <a:buSzPts val="1800"/>
              <a:buChar char="●"/>
            </a:pPr>
            <a:r>
              <a:rPr lang="en"/>
              <a:t>Trainee motivation is the extent to which trainees are interested in attending training, learning from training, and transferring the skills and knowledge acquired in training back to the job.</a:t>
            </a:r>
            <a:endParaRPr/>
          </a:p>
          <a:p>
            <a:pPr indent="-342900" lvl="0" marL="457200" rtl="0" algn="l">
              <a:spcBef>
                <a:spcPts val="0"/>
              </a:spcBef>
              <a:spcAft>
                <a:spcPts val="0"/>
              </a:spcAft>
              <a:buSzPts val="1800"/>
              <a:buChar char="●"/>
            </a:pPr>
            <a:r>
              <a:rPr lang="en"/>
              <a:t>Researchers often use an expectancy framework to study and understand training motivation, an approach in which employees’ expectations about the relationship between how much effort they expend and how well they perform are important to their motivation and learning.</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86"/>
          <p:cNvSpPr txBox="1"/>
          <p:nvPr>
            <p:ph type="title"/>
          </p:nvPr>
        </p:nvSpPr>
        <p:spPr>
          <a:xfrm>
            <a:off x="311700" y="104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methods</a:t>
            </a:r>
            <a:endParaRPr/>
          </a:p>
        </p:txBody>
      </p:sp>
      <p:sp>
        <p:nvSpPr>
          <p:cNvPr id="438" name="Google Shape;438;p86"/>
          <p:cNvSpPr txBox="1"/>
          <p:nvPr>
            <p:ph idx="1" type="body"/>
          </p:nvPr>
        </p:nvSpPr>
        <p:spPr>
          <a:xfrm>
            <a:off x="311700" y="562050"/>
            <a:ext cx="8520600" cy="4279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Training methods are generally categorized into on-site and off-site programs, and each of these categories can be divided into several types. </a:t>
            </a:r>
            <a:endParaRPr/>
          </a:p>
          <a:p>
            <a:pPr indent="0" lvl="0" marL="0" rtl="0" algn="l">
              <a:spcBef>
                <a:spcPts val="1200"/>
              </a:spcBef>
              <a:spcAft>
                <a:spcPts val="0"/>
              </a:spcAft>
              <a:buNone/>
            </a:pPr>
            <a:r>
              <a:rPr lang="en"/>
              <a:t>Salas and Cannon-Bowers (2001) echoed this idea by noting that most effective training methods are created around four basic principles:</a:t>
            </a:r>
            <a:endParaRPr/>
          </a:p>
          <a:p>
            <a:pPr indent="0" lvl="0" marL="0" rtl="0" algn="l">
              <a:spcBef>
                <a:spcPts val="1200"/>
              </a:spcBef>
              <a:spcAft>
                <a:spcPts val="0"/>
              </a:spcAft>
              <a:buNone/>
            </a:pPr>
            <a:r>
              <a:rPr lang="en"/>
              <a:t>1. They present relevant information and content to be learned.</a:t>
            </a:r>
            <a:endParaRPr/>
          </a:p>
          <a:p>
            <a:pPr indent="0" lvl="0" marL="0" rtl="0" algn="l">
              <a:spcBef>
                <a:spcPts val="0"/>
              </a:spcBef>
              <a:spcAft>
                <a:spcPts val="0"/>
              </a:spcAft>
              <a:buNone/>
            </a:pPr>
            <a:r>
              <a:rPr lang="en"/>
              <a:t>2. They demonstrate KSAOs to be learned.</a:t>
            </a:r>
            <a:endParaRPr/>
          </a:p>
          <a:p>
            <a:pPr indent="0" lvl="0" marL="0" rtl="0" algn="l">
              <a:spcBef>
                <a:spcPts val="0"/>
              </a:spcBef>
              <a:spcAft>
                <a:spcPts val="0"/>
              </a:spcAft>
              <a:buNone/>
            </a:pPr>
            <a:r>
              <a:rPr lang="en"/>
              <a:t>3. They create opportunities for trainees to practice the required skills.</a:t>
            </a:r>
            <a:endParaRPr/>
          </a:p>
          <a:p>
            <a:pPr indent="0" lvl="0" marL="0" rtl="0" algn="l">
              <a:spcBef>
                <a:spcPts val="0"/>
              </a:spcBef>
              <a:spcAft>
                <a:spcPts val="0"/>
              </a:spcAft>
              <a:buNone/>
            </a:pPr>
            <a:r>
              <a:rPr lang="en"/>
              <a:t>4. They provide feedback to trainees during and after practice.</a:t>
            </a:r>
            <a:endParaRPr/>
          </a:p>
          <a:p>
            <a:pPr indent="0" lvl="0" marL="0" rtl="0" algn="l">
              <a:spcBef>
                <a:spcPts val="1000"/>
              </a:spcBef>
              <a:spcAft>
                <a:spcPts val="0"/>
              </a:spcAft>
              <a:buNone/>
            </a:pPr>
            <a:r>
              <a:rPr lang="en"/>
              <a:t>On-the-job training involves assigning trainees to jobs and encouraging them to observe and learn from more experienced employees.</a:t>
            </a:r>
            <a:endParaRPr/>
          </a:p>
          <a:p>
            <a:pPr indent="-334327" lvl="0" marL="457200" rtl="0" algn="l">
              <a:spcBef>
                <a:spcPts val="1000"/>
              </a:spcBef>
              <a:spcAft>
                <a:spcPts val="0"/>
              </a:spcAft>
              <a:buSzPct val="100000"/>
              <a:buChar char="●"/>
            </a:pPr>
            <a:r>
              <a:rPr lang="en"/>
              <a:t>Apprenticeship is a formal program used to teach a skilled trade.</a:t>
            </a:r>
            <a:endParaRPr/>
          </a:p>
          <a:p>
            <a:pPr indent="-334327" lvl="0" marL="457200" rtl="0" algn="l">
              <a:spcBef>
                <a:spcPts val="0"/>
              </a:spcBef>
              <a:spcAft>
                <a:spcPts val="0"/>
              </a:spcAft>
              <a:buSzPct val="100000"/>
              <a:buChar char="●"/>
            </a:pPr>
            <a:r>
              <a:rPr lang="en"/>
              <a:t>Job rotation Approach that involves moving employees to various departments or areas of a company or to various jobs within a single department.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87"/>
          <p:cNvSpPr txBox="1"/>
          <p:nvPr>
            <p:ph idx="1" type="body"/>
          </p:nvPr>
        </p:nvSpPr>
        <p:spPr>
          <a:xfrm>
            <a:off x="311700" y="250325"/>
            <a:ext cx="8520600" cy="4520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Off-site training methods</a:t>
            </a:r>
            <a:endParaRPr/>
          </a:p>
          <a:p>
            <a:pPr indent="-325755" lvl="0" marL="457200" rtl="0" algn="l">
              <a:spcBef>
                <a:spcPts val="1200"/>
              </a:spcBef>
              <a:spcAft>
                <a:spcPts val="0"/>
              </a:spcAft>
              <a:buSzPct val="100000"/>
              <a:buChar char="●"/>
            </a:pPr>
            <a:r>
              <a:rPr lang="en"/>
              <a:t>Classroom lecture Training method in which the trainer communicates through spoken words and audiovisual materials what trainees are supposed to learn; also commonly used to efficiently present a large amount of information to a large number of trainees.</a:t>
            </a:r>
            <a:endParaRPr/>
          </a:p>
          <a:p>
            <a:pPr indent="-325755" lvl="0" marL="457200" rtl="0" algn="l">
              <a:spcBef>
                <a:spcPts val="0"/>
              </a:spcBef>
              <a:spcAft>
                <a:spcPts val="0"/>
              </a:spcAft>
              <a:buSzPct val="100000"/>
              <a:buChar char="●"/>
            </a:pPr>
            <a:r>
              <a:rPr lang="en"/>
              <a:t>Programmed instruction, an approach in which trainees are given instructional materials in written or computer-based forms that positively reinforce them as they move through the material at their own pace.It can be structured as linear programming, in which all trainees proceed through the same material, or branching programming, a customized approach that gives each learner extra practice on material he or she had difficulty with when it was first presented.</a:t>
            </a:r>
            <a:endParaRPr/>
          </a:p>
          <a:p>
            <a:pPr indent="-325755" lvl="0" marL="457200" rtl="0" algn="l">
              <a:spcBef>
                <a:spcPts val="0"/>
              </a:spcBef>
              <a:spcAft>
                <a:spcPts val="0"/>
              </a:spcAft>
              <a:buSzPct val="100000"/>
              <a:buChar char="●"/>
            </a:pPr>
            <a:r>
              <a:rPr lang="en"/>
              <a:t>Simulator, a teaching tool designed to reproduce the critical characteristics of the real world in a training setting that produces learning and transfer to the job.</a:t>
            </a:r>
            <a:endParaRPr/>
          </a:p>
          <a:p>
            <a:pPr indent="-325755" lvl="0" marL="457200" rtl="0" algn="l">
              <a:spcBef>
                <a:spcPts val="0"/>
              </a:spcBef>
              <a:spcAft>
                <a:spcPts val="0"/>
              </a:spcAft>
              <a:buSzPct val="100000"/>
              <a:buChar char="●"/>
            </a:pPr>
            <a:r>
              <a:rPr lang="en"/>
              <a:t>Distance learning allows trainees to interact and communicate with an instructor by using audio and video (television, computer, or radio) links that allow for learning from a distant location (Goldstein &amp; Ford, 2002). Distance learning can occur across multiple sites at one time, and it provides a more affordable, learning-tailored alternative to live instruction (Hannafin &amp; Hannafin, 1995).</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88"/>
          <p:cNvSpPr txBox="1"/>
          <p:nvPr>
            <p:ph idx="1" type="body"/>
          </p:nvPr>
        </p:nvSpPr>
        <p:spPr>
          <a:xfrm>
            <a:off x="311700" y="420350"/>
            <a:ext cx="8520600" cy="4420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relatively new training approach involves blended learning, which refers to the use of distance learning in combination with face-to-face learning.</a:t>
            </a:r>
            <a:endParaRPr/>
          </a:p>
          <a:p>
            <a:pPr indent="-342900" lvl="0" marL="457200" rtl="0" algn="l">
              <a:spcBef>
                <a:spcPts val="0"/>
              </a:spcBef>
              <a:spcAft>
                <a:spcPts val="0"/>
              </a:spcAft>
              <a:buSzPts val="1800"/>
              <a:buChar char="●"/>
            </a:pPr>
            <a:r>
              <a:rPr lang="en"/>
              <a:t>Like distance learning, computer-based training has expanded greatly in recent years. Many organizations are moving a growing proportion of their training from traditional classroom settings to computer-based training because of its reduced costs and increased flexibility.</a:t>
            </a:r>
            <a:endParaRPr/>
          </a:p>
          <a:p>
            <a:pPr indent="-342900" lvl="0" marL="457200" rtl="0" algn="l">
              <a:spcBef>
                <a:spcPts val="0"/>
              </a:spcBef>
              <a:spcAft>
                <a:spcPts val="0"/>
              </a:spcAft>
              <a:buSzPts val="1800"/>
              <a:buChar char="●"/>
            </a:pPr>
            <a:r>
              <a:rPr lang="en"/>
              <a:t>Computer-based training is defined as “text, graphics, and/or animation presented via computer for the express purpose of teaching job-relevant knowledge and skills”.</a:t>
            </a:r>
            <a:endParaRPr/>
          </a:p>
          <a:p>
            <a:pPr indent="-342900" lvl="0" marL="457200" rtl="0" algn="l">
              <a:spcBef>
                <a:spcPts val="0"/>
              </a:spcBef>
              <a:spcAft>
                <a:spcPts val="0"/>
              </a:spcAft>
              <a:buSzPts val="1800"/>
              <a:buChar char="●"/>
            </a:pPr>
            <a:r>
              <a:rPr lang="en"/>
              <a:t>Because trainees do not naturally make good use of the increased control they are given in computer- and web-based training programs, studies  have examined the effects of providing trainees with adaptive guidance. Adaptive guidance provides trainees with information that helps them interpret their past performance and also determine what they should be studying and practicing to improve their future performance.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89"/>
          <p:cNvSpPr txBox="1"/>
          <p:nvPr>
            <p:ph idx="1" type="body"/>
          </p:nvPr>
        </p:nvSpPr>
        <p:spPr>
          <a:xfrm>
            <a:off x="311700" y="434525"/>
            <a:ext cx="8520600" cy="4350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Training Evaluation</a:t>
            </a:r>
            <a:endParaRPr/>
          </a:p>
          <a:p>
            <a:pPr indent="-342900" lvl="0" marL="457200" rtl="0" algn="l">
              <a:spcBef>
                <a:spcPts val="1200"/>
              </a:spcBef>
              <a:spcAft>
                <a:spcPts val="0"/>
              </a:spcAft>
              <a:buSzPts val="1800"/>
              <a:buChar char="●"/>
            </a:pPr>
            <a:r>
              <a:rPr lang="en"/>
              <a:t>Training evaluation involves the systematic collection of descriptive and judgmental information that can be used to make effective training decisions. Such decisions include the selection, adoption, modification, and financial evaluation of various training activities (Goldstein &amp; Ford, 2002). Implicit in this definition are several purposes of training evaluation (Sackett &amp; Mullen, 1993):</a:t>
            </a:r>
            <a:endParaRPr/>
          </a:p>
          <a:p>
            <a:pPr indent="-342900" lvl="0" marL="457200" rtl="0" algn="l">
              <a:spcBef>
                <a:spcPts val="0"/>
              </a:spcBef>
              <a:spcAft>
                <a:spcPts val="0"/>
              </a:spcAft>
              <a:buSzPts val="1800"/>
              <a:buChar char="●"/>
            </a:pPr>
            <a:r>
              <a:rPr lang="en"/>
              <a:t>To determine whether trainees have achieved the objectives of the training program.</a:t>
            </a:r>
            <a:endParaRPr/>
          </a:p>
          <a:p>
            <a:pPr indent="-342900" lvl="0" marL="457200" rtl="0" algn="l">
              <a:spcBef>
                <a:spcPts val="0"/>
              </a:spcBef>
              <a:spcAft>
                <a:spcPts val="0"/>
              </a:spcAft>
              <a:buSzPts val="1800"/>
              <a:buChar char="●"/>
            </a:pPr>
            <a:r>
              <a:rPr lang="en"/>
              <a:t>To provide feedback that can improve training programs for future participants, ultimately increasing their job performance and productivity.</a:t>
            </a:r>
            <a:endParaRPr/>
          </a:p>
          <a:p>
            <a:pPr indent="-342900" lvl="0" marL="457200" rtl="0" algn="l">
              <a:spcBef>
                <a:spcPts val="0"/>
              </a:spcBef>
              <a:spcAft>
                <a:spcPts val="0"/>
              </a:spcAft>
              <a:buSzPts val="1800"/>
              <a:buChar char="●"/>
            </a:pPr>
            <a:r>
              <a:rPr lang="en"/>
              <a:t>To justify the costs of training programs, which can be expensive. Evaluation can demonstrate the worth of training to top management by indicating whether the accomplishment of key business objectives improved after training.</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90"/>
          <p:cNvSpPr txBox="1"/>
          <p:nvPr>
            <p:ph idx="1" type="body"/>
          </p:nvPr>
        </p:nvSpPr>
        <p:spPr>
          <a:xfrm>
            <a:off x="311700" y="179475"/>
            <a:ext cx="8520600" cy="48885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t>Training Criteria</a:t>
            </a:r>
            <a:endParaRPr/>
          </a:p>
          <a:p>
            <a:pPr indent="0" lvl="0" marL="0" rtl="0" algn="l">
              <a:spcBef>
                <a:spcPts val="1200"/>
              </a:spcBef>
              <a:spcAft>
                <a:spcPts val="0"/>
              </a:spcAft>
              <a:buNone/>
            </a:pPr>
            <a:r>
              <a:rPr lang="en"/>
              <a:t>Kirkpatrick’s (1959, 1998) four-level model is the most common and well-known framework with which to categorize training criteria.</a:t>
            </a:r>
            <a:endParaRPr/>
          </a:p>
          <a:p>
            <a:pPr indent="-317182" lvl="0" marL="457200" rtl="0" algn="l">
              <a:spcBef>
                <a:spcPts val="1200"/>
              </a:spcBef>
              <a:spcAft>
                <a:spcPts val="0"/>
              </a:spcAft>
              <a:buSzPct val="100000"/>
              <a:buChar char="●"/>
            </a:pPr>
            <a:r>
              <a:rPr lang="en"/>
              <a:t>Reaction criteria (level 1) are measures of trainee impressions of the training program. Measures of reaction criteria are sometimes called “smile sheets” because they simply assess trainees’ enjoyment of and satisfaction with the training program (Sitzmann, Brown, &amp; Casper, 2008). </a:t>
            </a:r>
            <a:endParaRPr/>
          </a:p>
          <a:p>
            <a:pPr indent="-317182" lvl="0" marL="457200" rtl="0" algn="l">
              <a:spcBef>
                <a:spcPts val="0"/>
              </a:spcBef>
              <a:spcAft>
                <a:spcPts val="0"/>
              </a:spcAft>
              <a:buSzPct val="100000"/>
              <a:buChar char="●"/>
            </a:pPr>
            <a:r>
              <a:rPr lang="en"/>
              <a:t>Learning criteria (level 2) assess how much trainees learned in the training program. Learning criteria are often assessed with a written test, which might evaluate knowledge acquired in a training program. </a:t>
            </a:r>
            <a:endParaRPr/>
          </a:p>
          <a:p>
            <a:pPr indent="-317182" lvl="0" marL="457200" rtl="0" algn="l">
              <a:spcBef>
                <a:spcPts val="0"/>
              </a:spcBef>
              <a:spcAft>
                <a:spcPts val="0"/>
              </a:spcAft>
              <a:buSzPct val="100000"/>
              <a:buChar char="●"/>
            </a:pPr>
            <a:r>
              <a:rPr lang="en"/>
              <a:t>Behavioral criteria (level 3) measure how well the behaviors learned in training transfer to the job. Behavioral criteria might include ratings of on-the-job performance of behaviors taught in the training program.</a:t>
            </a:r>
            <a:endParaRPr/>
          </a:p>
          <a:p>
            <a:pPr indent="-317182" lvl="0" marL="457200" rtl="0" algn="l">
              <a:spcBef>
                <a:spcPts val="0"/>
              </a:spcBef>
              <a:spcAft>
                <a:spcPts val="0"/>
              </a:spcAft>
              <a:buSzPct val="100000"/>
              <a:buChar char="●"/>
            </a:pPr>
            <a:r>
              <a:rPr lang="en"/>
              <a:t>Results criteria (level 4) provide measures of how well the training can be related to </a:t>
            </a:r>
            <a:r>
              <a:rPr lang="en"/>
              <a:t>o</a:t>
            </a:r>
            <a:r>
              <a:rPr lang="en"/>
              <a:t>rganizational outcomes. For example, results criteria might assess the extent to which a training </a:t>
            </a:r>
            <a:r>
              <a:rPr lang="en"/>
              <a:t>p</a:t>
            </a:r>
            <a:r>
              <a:rPr lang="en"/>
              <a:t>rogram resulted in productivity gains, cost savings, error reductions, or increased customer satisfaction. </a:t>
            </a:r>
            <a:endParaRPr/>
          </a:p>
          <a:p>
            <a:pPr indent="-317182" lvl="0" marL="457200" rtl="0" algn="l">
              <a:spcBef>
                <a:spcPts val="0"/>
              </a:spcBef>
              <a:spcAft>
                <a:spcPts val="0"/>
              </a:spcAft>
              <a:buSzPct val="100000"/>
              <a:buChar char="●"/>
            </a:pPr>
            <a:r>
              <a:rPr lang="en"/>
              <a:t>Reaction and learning criteria are considered internal criteria because they focus on what occurred within the training program. Behavioral and results criteria are considered external criteria because they assess changes that occur back on the job.</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91"/>
          <p:cNvSpPr txBox="1"/>
          <p:nvPr>
            <p:ph idx="1" type="body"/>
          </p:nvPr>
        </p:nvSpPr>
        <p:spPr>
          <a:xfrm>
            <a:off x="311700" y="307000"/>
            <a:ext cx="8520600" cy="433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Training Evaluation Designs</a:t>
            </a:r>
            <a:endParaRPr/>
          </a:p>
          <a:p>
            <a:pPr indent="0" lvl="0" marL="0" rtl="0" algn="l">
              <a:spcBef>
                <a:spcPts val="1200"/>
              </a:spcBef>
              <a:spcAft>
                <a:spcPts val="0"/>
              </a:spcAft>
              <a:buNone/>
            </a:pPr>
            <a:r>
              <a:rPr lang="en"/>
              <a:t>The purpose of training is to bring about systematic changes in knowledge, skills, and attitudes. Evaluation designs are used to determine whether training objectives have been met and whether post-training improvements in knowledge, skills, and attitudes are a result of training. Training evaluators attempt to infer whether such improvements are a result of the training program.</a:t>
            </a:r>
            <a:endParaRPr/>
          </a:p>
          <a:p>
            <a:pPr indent="0" lvl="0" marL="0" rtl="0" algn="l">
              <a:spcBef>
                <a:spcPts val="1200"/>
              </a:spcBef>
              <a:spcAft>
                <a:spcPts val="1200"/>
              </a:spcAft>
              <a:buNone/>
            </a:pPr>
            <a:r>
              <a:rPr lang="en"/>
              <a:t>The strongest training evaluation designs include random assignment of participants to conditions, a control group, and measures that are obtained both before and after training has occurred. An example of a design that includes these characteristics is the pretest–posttest control group design, a design that generally includes random assignment of participants to conditions, a control group, and measures obtained both before and after training has occurred.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