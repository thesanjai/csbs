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76" roundtripDataSignature="AMtx7miv6bOABHUDoLL5LcJUB2yiq0dD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32" Type="http://schemas.openxmlformats.org/officeDocument/2006/relationships/slide" Target="slides/slide27.xml"/><Relationship Id="rId76" Type="http://customschemas.google.com/relationships/presentationmetadata" Target="metadata"/><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Consider the following facts: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0" name="Google Shape;330;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1" name="Google Shape;401;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7" name="Google Shape;407;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 name="Google Shape;418;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3" name="Google Shape;433;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8" name="Google Shape;438;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7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7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7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7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7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7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7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7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7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 name="Shape 25"/>
        <p:cNvGrpSpPr/>
        <p:nvPr/>
      </p:nvGrpSpPr>
      <p:grpSpPr>
        <a:xfrm>
          <a:off x="0" y="0"/>
          <a:ext cx="0" cy="0"/>
          <a:chOff x="0" y="0"/>
          <a:chExt cx="0" cy="0"/>
        </a:xfrm>
      </p:grpSpPr>
      <p:sp>
        <p:nvSpPr>
          <p:cNvPr id="26" name="Google Shape;26;p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7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7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7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8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8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8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8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8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8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8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8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8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8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7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7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1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Industrial Psychology</a:t>
            </a:r>
            <a:endParaRPr/>
          </a:p>
        </p:txBody>
      </p:sp>
      <p:sp>
        <p:nvSpPr>
          <p:cNvPr id="55" name="Google Shape;5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ctr">
              <a:lnSpc>
                <a:spcPct val="100000"/>
              </a:lnSpc>
              <a:spcBef>
                <a:spcPts val="0"/>
              </a:spcBef>
              <a:spcAft>
                <a:spcPts val="0"/>
              </a:spcAft>
              <a:buSzPct val="117647"/>
              <a:buNone/>
            </a:pPr>
            <a:r>
              <a:rPr lang="en"/>
              <a:t>Industrial - Organizational (I - O) Psychology &amp; Individual Differences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 this unit</a:t>
            </a:r>
            <a:endParaRPr/>
          </a:p>
        </p:txBody>
      </p:sp>
      <p:sp>
        <p:nvSpPr>
          <p:cNvPr id="61" name="Google Shape;61;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Clr>
                <a:srgbClr val="434343"/>
              </a:buClr>
              <a:buSzPts val="1800"/>
              <a:buChar char="●"/>
            </a:pPr>
            <a:r>
              <a:rPr lang="en">
                <a:solidFill>
                  <a:srgbClr val="434343"/>
                </a:solidFill>
              </a:rPr>
              <a:t>Nature and scope of I-O Psychology</a:t>
            </a:r>
            <a:endParaRPr>
              <a:solidFill>
                <a:srgbClr val="434343"/>
              </a:solidFill>
            </a:endParaRPr>
          </a:p>
          <a:p>
            <a:pPr indent="-342900" lvl="0" marL="457200" rtl="0" algn="l">
              <a:lnSpc>
                <a:spcPct val="115000"/>
              </a:lnSpc>
              <a:spcBef>
                <a:spcPts val="0"/>
              </a:spcBef>
              <a:spcAft>
                <a:spcPts val="0"/>
              </a:spcAft>
              <a:buClr>
                <a:srgbClr val="434343"/>
              </a:buClr>
              <a:buSzPts val="1800"/>
              <a:buChar char="●"/>
            </a:pPr>
            <a:r>
              <a:rPr lang="en">
                <a:solidFill>
                  <a:srgbClr val="434343"/>
                </a:solidFill>
              </a:rPr>
              <a:t>Importance</a:t>
            </a:r>
            <a:endParaRPr>
              <a:solidFill>
                <a:srgbClr val="434343"/>
              </a:solidFill>
            </a:endParaRPr>
          </a:p>
          <a:p>
            <a:pPr indent="-342900" lvl="0" marL="457200" rtl="0" algn="l">
              <a:lnSpc>
                <a:spcPct val="115000"/>
              </a:lnSpc>
              <a:spcBef>
                <a:spcPts val="0"/>
              </a:spcBef>
              <a:spcAft>
                <a:spcPts val="0"/>
              </a:spcAft>
              <a:buClr>
                <a:srgbClr val="434343"/>
              </a:buClr>
              <a:buSzPts val="1800"/>
              <a:buChar char="●"/>
            </a:pPr>
            <a:r>
              <a:rPr lang="en">
                <a:solidFill>
                  <a:srgbClr val="434343"/>
                </a:solidFill>
              </a:rPr>
              <a:t>I-O Psychology - past, present and future</a:t>
            </a:r>
            <a:endParaRPr>
              <a:solidFill>
                <a:srgbClr val="434343"/>
              </a:solidFill>
            </a:endParaRPr>
          </a:p>
          <a:p>
            <a:pPr indent="-342900" lvl="0" marL="457200" rtl="0" algn="l">
              <a:lnSpc>
                <a:spcPct val="115000"/>
              </a:lnSpc>
              <a:spcBef>
                <a:spcPts val="0"/>
              </a:spcBef>
              <a:spcAft>
                <a:spcPts val="0"/>
              </a:spcAft>
              <a:buClr>
                <a:srgbClr val="434343"/>
              </a:buClr>
              <a:buSzPts val="1800"/>
              <a:buChar char="●"/>
            </a:pPr>
            <a:r>
              <a:rPr lang="en">
                <a:solidFill>
                  <a:srgbClr val="434343"/>
                </a:solidFill>
              </a:rPr>
              <a:t>Multicultural and cross-cultural issues</a:t>
            </a:r>
            <a:endParaRPr>
              <a:solidFill>
                <a:srgbClr val="434343"/>
              </a:solidFill>
            </a:endParaRPr>
          </a:p>
          <a:p>
            <a:pPr indent="-342900" lvl="0" marL="457200" rtl="0" algn="l">
              <a:lnSpc>
                <a:spcPct val="115000"/>
              </a:lnSpc>
              <a:spcBef>
                <a:spcPts val="0"/>
              </a:spcBef>
              <a:spcAft>
                <a:spcPts val="0"/>
              </a:spcAft>
              <a:buClr>
                <a:srgbClr val="434343"/>
              </a:buClr>
              <a:buSzPts val="1800"/>
              <a:buChar char="●"/>
            </a:pPr>
            <a:r>
              <a:rPr lang="en">
                <a:solidFill>
                  <a:srgbClr val="434343"/>
                </a:solidFill>
              </a:rPr>
              <a:t>Introduction to individual differences - identification and varieties</a:t>
            </a:r>
            <a:endParaRPr>
              <a:solidFill>
                <a:srgbClr val="434343"/>
              </a:solidFill>
            </a:endParaRPr>
          </a:p>
          <a:p>
            <a:pPr indent="-342900" lvl="0" marL="457200" rtl="0" algn="l">
              <a:lnSpc>
                <a:spcPct val="115000"/>
              </a:lnSpc>
              <a:spcBef>
                <a:spcPts val="0"/>
              </a:spcBef>
              <a:spcAft>
                <a:spcPts val="0"/>
              </a:spcAft>
              <a:buClr>
                <a:srgbClr val="434343"/>
              </a:buClr>
              <a:buSzPts val="1800"/>
              <a:buChar char="●"/>
            </a:pPr>
            <a:r>
              <a:rPr lang="en">
                <a:solidFill>
                  <a:srgbClr val="434343"/>
                </a:solidFill>
              </a:rPr>
              <a:t>Human attributes and abilities</a:t>
            </a:r>
            <a:endParaRPr>
              <a:solidFill>
                <a:srgbClr val="434343"/>
              </a:solidFill>
            </a:endParaRPr>
          </a:p>
          <a:p>
            <a:pPr indent="-342900" lvl="0" marL="457200" rtl="0" algn="l">
              <a:lnSpc>
                <a:spcPct val="115000"/>
              </a:lnSpc>
              <a:spcBef>
                <a:spcPts val="0"/>
              </a:spcBef>
              <a:spcAft>
                <a:spcPts val="0"/>
              </a:spcAft>
              <a:buClr>
                <a:srgbClr val="434343"/>
              </a:buClr>
              <a:buSzPts val="1800"/>
              <a:buChar char="●"/>
            </a:pPr>
            <a:r>
              <a:rPr lang="en">
                <a:solidFill>
                  <a:srgbClr val="434343"/>
                </a:solidFill>
              </a:rPr>
              <a:t>Personalities and work behaviour</a:t>
            </a:r>
            <a:endParaRPr>
              <a:solidFill>
                <a:srgbClr val="434343"/>
              </a:solidFill>
            </a:endParaRPr>
          </a:p>
          <a:p>
            <a:pPr indent="-342900" lvl="0" marL="457200" rtl="0" algn="l">
              <a:lnSpc>
                <a:spcPct val="115000"/>
              </a:lnSpc>
              <a:spcBef>
                <a:spcPts val="0"/>
              </a:spcBef>
              <a:spcAft>
                <a:spcPts val="0"/>
              </a:spcAft>
              <a:buClr>
                <a:srgbClr val="434343"/>
              </a:buClr>
              <a:buSzPts val="1800"/>
              <a:buChar char="●"/>
            </a:pPr>
            <a:r>
              <a:rPr lang="en">
                <a:solidFill>
                  <a:srgbClr val="434343"/>
                </a:solidFill>
              </a:rPr>
              <a:t>Big five and other models of personality</a:t>
            </a:r>
            <a:endParaRPr>
              <a:solidFill>
                <a:srgbClr val="434343"/>
              </a:solidFill>
            </a:endParaRPr>
          </a:p>
          <a:p>
            <a:pPr indent="-342900" lvl="0" marL="457200" rtl="0" algn="l">
              <a:lnSpc>
                <a:spcPct val="115000"/>
              </a:lnSpc>
              <a:spcBef>
                <a:spcPts val="0"/>
              </a:spcBef>
              <a:spcAft>
                <a:spcPts val="0"/>
              </a:spcAft>
              <a:buClr>
                <a:srgbClr val="434343"/>
              </a:buClr>
              <a:buSzPts val="1800"/>
              <a:buChar char="●"/>
            </a:pPr>
            <a:r>
              <a:rPr lang="en">
                <a:solidFill>
                  <a:srgbClr val="434343"/>
                </a:solidFill>
              </a:rPr>
              <a:t>Job analysis and performance - Campbell model </a:t>
            </a:r>
            <a:endParaRPr>
              <a:solidFill>
                <a:srgbClr val="434343"/>
              </a:solidFill>
            </a:endParaRPr>
          </a:p>
          <a:p>
            <a:pPr indent="-342900" lvl="0" marL="457200" rtl="0" algn="l">
              <a:lnSpc>
                <a:spcPct val="115000"/>
              </a:lnSpc>
              <a:spcBef>
                <a:spcPts val="0"/>
              </a:spcBef>
              <a:spcAft>
                <a:spcPts val="0"/>
              </a:spcAft>
              <a:buClr>
                <a:srgbClr val="434343"/>
              </a:buClr>
              <a:buSzPts val="1800"/>
              <a:buChar char="●"/>
            </a:pPr>
            <a:r>
              <a:rPr lang="en">
                <a:solidFill>
                  <a:srgbClr val="434343"/>
                </a:solidFill>
              </a:rPr>
              <a:t>Types of performance measures and organizational citizenship behaviour</a:t>
            </a:r>
            <a:endParaRPr>
              <a:solidFill>
                <a:srgbClr val="434343"/>
              </a:solidFill>
            </a:endParaRPr>
          </a:p>
          <a:p>
            <a:pPr indent="-342900" lvl="0" marL="457200" rtl="0" algn="l">
              <a:lnSpc>
                <a:spcPct val="115000"/>
              </a:lnSpc>
              <a:spcBef>
                <a:spcPts val="0"/>
              </a:spcBef>
              <a:spcAft>
                <a:spcPts val="0"/>
              </a:spcAft>
              <a:buClr>
                <a:srgbClr val="434343"/>
              </a:buClr>
              <a:buSzPts val="1800"/>
              <a:buChar char="●"/>
            </a:pPr>
            <a:r>
              <a:rPr lang="en">
                <a:solidFill>
                  <a:srgbClr val="434343"/>
                </a:solidFill>
              </a:rPr>
              <a:t>Types of job analysis and competency modelling</a:t>
            </a:r>
            <a:endParaRPr>
              <a:solidFill>
                <a:srgbClr val="43434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What is Industrial - Organizational (I - O) Psychology?</a:t>
            </a:r>
            <a:endParaRPr/>
          </a:p>
        </p:txBody>
      </p:sp>
      <p:sp>
        <p:nvSpPr>
          <p:cNvPr id="67" name="Google Shape;6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just">
              <a:lnSpc>
                <a:spcPct val="115000"/>
              </a:lnSpc>
              <a:spcBef>
                <a:spcPts val="0"/>
              </a:spcBef>
              <a:spcAft>
                <a:spcPts val="0"/>
              </a:spcAft>
              <a:buSzPct val="108108"/>
              <a:buNone/>
            </a:pPr>
            <a:r>
              <a:rPr lang="en"/>
              <a:t>Martin Luther King, Jr., captured the essence of good work eloquently: “If a man is called to be a street sweeper, he should sweep streets even as Michelangelo painted, Beethoven composed music, or Shakespeare wrote poetry. He should sweep streets so well that all heaven and earth will pause to say, ‘Here lived a great street sweeper who did his job well’” (King, 1956).</a:t>
            </a:r>
            <a:endParaRPr/>
          </a:p>
          <a:p>
            <a:pPr indent="0" lvl="0" marL="0" rtl="0" algn="just">
              <a:lnSpc>
                <a:spcPct val="115000"/>
              </a:lnSpc>
              <a:spcBef>
                <a:spcPts val="1200"/>
              </a:spcBef>
              <a:spcAft>
                <a:spcPts val="0"/>
              </a:spcAft>
              <a:buSzPct val="108108"/>
              <a:buNone/>
            </a:pPr>
            <a:r>
              <a:rPr lang="en"/>
              <a:t>Industrial-organizational (I-O) psychology is the application of psychological principles, theory, and research to the work setting.</a:t>
            </a:r>
            <a:endParaRPr/>
          </a:p>
          <a:p>
            <a:pPr indent="0" lvl="0" marL="0" rtl="0" algn="just">
              <a:lnSpc>
                <a:spcPct val="115000"/>
              </a:lnSpc>
              <a:spcBef>
                <a:spcPts val="1200"/>
              </a:spcBef>
              <a:spcAft>
                <a:spcPts val="1200"/>
              </a:spcAft>
              <a:buSzPct val="108108"/>
              <a:buNone/>
            </a:pPr>
            <a:r>
              <a:rPr lang="en"/>
              <a:t>The specialty of industrial-organizational psychology (also called I/O psychology) is characterized by the scientific study of human behavior in organizations and the workplace. The specialty focuses on deriving principles of individual, group and organizational behavior and applying this knowledge to the solution of problems at work. (American Psychological Association)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Nature and scope</a:t>
            </a:r>
            <a:endParaRPr/>
          </a:p>
        </p:txBody>
      </p:sp>
      <p:sp>
        <p:nvSpPr>
          <p:cNvPr id="73" name="Google Shape;73;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115000"/>
              </a:lnSpc>
              <a:spcBef>
                <a:spcPts val="0"/>
              </a:spcBef>
              <a:spcAft>
                <a:spcPts val="0"/>
              </a:spcAft>
              <a:buSzPts val="1800"/>
              <a:buNone/>
            </a:pPr>
            <a:r>
              <a:rPr lang="en"/>
              <a:t>The specialty of Industrial Organizational Psychology addresses issues of </a:t>
            </a:r>
            <a:endParaRPr/>
          </a:p>
          <a:p>
            <a:pPr indent="-342900" lvl="0" marL="457200" rtl="0" algn="just">
              <a:lnSpc>
                <a:spcPct val="115000"/>
              </a:lnSpc>
              <a:spcBef>
                <a:spcPts val="1200"/>
              </a:spcBef>
              <a:spcAft>
                <a:spcPts val="0"/>
              </a:spcAft>
              <a:buSzPts val="1800"/>
              <a:buChar char="●"/>
            </a:pPr>
            <a:r>
              <a:rPr lang="en"/>
              <a:t>Recruitment</a:t>
            </a:r>
            <a:endParaRPr/>
          </a:p>
          <a:p>
            <a:pPr indent="-342900" lvl="0" marL="457200" rtl="0" algn="just">
              <a:lnSpc>
                <a:spcPct val="115000"/>
              </a:lnSpc>
              <a:spcBef>
                <a:spcPts val="0"/>
              </a:spcBef>
              <a:spcAft>
                <a:spcPts val="0"/>
              </a:spcAft>
              <a:buSzPts val="1800"/>
              <a:buChar char="●"/>
            </a:pPr>
            <a:r>
              <a:rPr lang="en"/>
              <a:t>Selection and placement</a:t>
            </a:r>
            <a:endParaRPr/>
          </a:p>
          <a:p>
            <a:pPr indent="-342900" lvl="0" marL="457200" rtl="0" algn="just">
              <a:lnSpc>
                <a:spcPct val="115000"/>
              </a:lnSpc>
              <a:spcBef>
                <a:spcPts val="0"/>
              </a:spcBef>
              <a:spcAft>
                <a:spcPts val="0"/>
              </a:spcAft>
              <a:buSzPts val="1800"/>
              <a:buChar char="●"/>
            </a:pPr>
            <a:r>
              <a:rPr lang="en"/>
              <a:t>Training and development</a:t>
            </a:r>
            <a:endParaRPr/>
          </a:p>
          <a:p>
            <a:pPr indent="-342900" lvl="0" marL="457200" rtl="0" algn="just">
              <a:lnSpc>
                <a:spcPct val="115000"/>
              </a:lnSpc>
              <a:spcBef>
                <a:spcPts val="0"/>
              </a:spcBef>
              <a:spcAft>
                <a:spcPts val="0"/>
              </a:spcAft>
              <a:buSzPts val="1800"/>
              <a:buChar char="●"/>
            </a:pPr>
            <a:r>
              <a:rPr lang="en"/>
              <a:t>Performance measurement</a:t>
            </a:r>
            <a:endParaRPr/>
          </a:p>
          <a:p>
            <a:pPr indent="-342900" lvl="0" marL="457200" rtl="0" algn="just">
              <a:lnSpc>
                <a:spcPct val="115000"/>
              </a:lnSpc>
              <a:spcBef>
                <a:spcPts val="0"/>
              </a:spcBef>
              <a:spcAft>
                <a:spcPts val="0"/>
              </a:spcAft>
              <a:buSzPts val="1800"/>
              <a:buChar char="●"/>
            </a:pPr>
            <a:r>
              <a:rPr lang="en"/>
              <a:t>Workplace motivation and reward systems</a:t>
            </a:r>
            <a:endParaRPr/>
          </a:p>
          <a:p>
            <a:pPr indent="-342900" lvl="0" marL="457200" rtl="0" algn="just">
              <a:lnSpc>
                <a:spcPct val="115000"/>
              </a:lnSpc>
              <a:spcBef>
                <a:spcPts val="0"/>
              </a:spcBef>
              <a:spcAft>
                <a:spcPts val="0"/>
              </a:spcAft>
              <a:buSzPts val="1800"/>
              <a:buChar char="●"/>
            </a:pPr>
            <a:r>
              <a:rPr lang="en"/>
              <a:t>Quality of work life</a:t>
            </a:r>
            <a:endParaRPr/>
          </a:p>
          <a:p>
            <a:pPr indent="-342900" lvl="0" marL="457200" rtl="0" algn="just">
              <a:lnSpc>
                <a:spcPct val="115000"/>
              </a:lnSpc>
              <a:spcBef>
                <a:spcPts val="0"/>
              </a:spcBef>
              <a:spcAft>
                <a:spcPts val="0"/>
              </a:spcAft>
              <a:buSzPts val="1800"/>
              <a:buChar char="●"/>
            </a:pPr>
            <a:r>
              <a:rPr lang="en"/>
              <a:t>Structure of work and human factors</a:t>
            </a:r>
            <a:endParaRPr/>
          </a:p>
          <a:p>
            <a:pPr indent="-342900" lvl="0" marL="457200" rtl="0" algn="just">
              <a:lnSpc>
                <a:spcPct val="115000"/>
              </a:lnSpc>
              <a:spcBef>
                <a:spcPts val="0"/>
              </a:spcBef>
              <a:spcAft>
                <a:spcPts val="0"/>
              </a:spcAft>
              <a:buSzPts val="1800"/>
              <a:buChar char="●"/>
            </a:pPr>
            <a:r>
              <a:rPr lang="en"/>
              <a:t>Organizational development</a:t>
            </a:r>
            <a:endParaRPr/>
          </a:p>
          <a:p>
            <a:pPr indent="-342900" lvl="0" marL="457200" rtl="0" algn="just">
              <a:lnSpc>
                <a:spcPct val="115000"/>
              </a:lnSpc>
              <a:spcBef>
                <a:spcPts val="0"/>
              </a:spcBef>
              <a:spcAft>
                <a:spcPts val="0"/>
              </a:spcAft>
              <a:buSzPts val="1800"/>
              <a:buChar char="●"/>
            </a:pPr>
            <a:r>
              <a:rPr lang="en"/>
              <a:t>Consumer behavior.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Traditional divisions</a:t>
            </a:r>
            <a:endParaRPr/>
          </a:p>
        </p:txBody>
      </p:sp>
      <p:sp>
        <p:nvSpPr>
          <p:cNvPr id="79" name="Google Shape;79;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20000"/>
          </a:bodyPr>
          <a:lstStyle/>
          <a:p>
            <a:pPr indent="0" lvl="0" marL="0" rtl="0" algn="just">
              <a:lnSpc>
                <a:spcPct val="115000"/>
              </a:lnSpc>
              <a:spcBef>
                <a:spcPts val="0"/>
              </a:spcBef>
              <a:spcAft>
                <a:spcPts val="0"/>
              </a:spcAft>
              <a:buClr>
                <a:schemeClr val="dk1"/>
              </a:buClr>
              <a:buSzPts val="1100"/>
              <a:buFont typeface="Arial"/>
              <a:buNone/>
            </a:pPr>
            <a:r>
              <a:rPr lang="en"/>
              <a:t>I-O psychology has been traditionally divided into three major concentrations: </a:t>
            </a:r>
            <a:r>
              <a:rPr b="1" lang="en"/>
              <a:t>personnel psychology, organizational psychology, and human engineering.</a:t>
            </a:r>
            <a:endParaRPr b="1"/>
          </a:p>
          <a:p>
            <a:pPr indent="0" lvl="0" marL="0" rtl="0" algn="just">
              <a:lnSpc>
                <a:spcPct val="115000"/>
              </a:lnSpc>
              <a:spcBef>
                <a:spcPts val="1200"/>
              </a:spcBef>
              <a:spcAft>
                <a:spcPts val="0"/>
              </a:spcAft>
              <a:buSzPts val="1800"/>
              <a:buNone/>
            </a:pPr>
            <a:r>
              <a:rPr b="1" lang="en"/>
              <a:t>Personnel psychology</a:t>
            </a:r>
            <a:r>
              <a:rPr lang="en"/>
              <a:t> (often seen as part of human resources management, or HRM) addresses issues such as recruitment, selection, training, performance appraisal, promotion, transfer, and termination. The approach assumes that people are consistently different in their attributes and work behaviors and that information about these differences can be used to predict, maintain, and increase work performance and satisfaction.</a:t>
            </a:r>
            <a:endParaRPr/>
          </a:p>
          <a:p>
            <a:pPr indent="0" lvl="0" marL="0" rtl="0" algn="just">
              <a:lnSpc>
                <a:spcPct val="115000"/>
              </a:lnSpc>
              <a:spcBef>
                <a:spcPts val="1200"/>
              </a:spcBef>
              <a:spcAft>
                <a:spcPts val="1200"/>
              </a:spcAft>
              <a:buClr>
                <a:schemeClr val="dk1"/>
              </a:buClr>
              <a:buSzPts val="1100"/>
              <a:buFont typeface="Arial"/>
              <a:buNone/>
            </a:pPr>
            <a:r>
              <a:rPr b="1" lang="en"/>
              <a:t>Human engineering </a:t>
            </a:r>
            <a:r>
              <a:rPr lang="en"/>
              <a:t>(also called human factors psychology) is the study of the capacities and limitations of humans with respect to a particular environment. The human engineering approach is almost the opposite of the personnel approach.</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6"/>
          <p:cNvSpPr txBox="1"/>
          <p:nvPr>
            <p:ph idx="1" type="body"/>
          </p:nvPr>
        </p:nvSpPr>
        <p:spPr>
          <a:xfrm>
            <a:off x="311700" y="384350"/>
            <a:ext cx="8520600" cy="41844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1200"/>
              </a:spcAft>
              <a:buClr>
                <a:schemeClr val="dk1"/>
              </a:buClr>
              <a:buSzPts val="1100"/>
              <a:buFont typeface="Arial"/>
              <a:buNone/>
            </a:pPr>
            <a:r>
              <a:rPr b="1" lang="en"/>
              <a:t>Organizational psychology</a:t>
            </a:r>
            <a:r>
              <a:rPr lang="en"/>
              <a:t> combines research and ideas from social psychology and organizational behavior. It addresses the emotional and motivational side of work. It includes topics such as attitudes, fairness, motivation, stress, leadership, teams, and the broader aspects of organizational and work design. In some senses, it concentrates on the reactions of people to work and the action plans that develop as a result of those reactions. Both work and people are variables of interest, and the issue is the extent to which characteristics of the people match the characteristics or demands of the work. Of course, organizational psychology has implications for performance, but they may not be as direct as is the case with personnel psychology.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sz="2800"/>
              <a:t>I - O Psychology - Past, Present and Future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Past - important timeline</a:t>
            </a:r>
            <a:endParaRPr/>
          </a:p>
        </p:txBody>
      </p:sp>
      <p:sp>
        <p:nvSpPr>
          <p:cNvPr id="95" name="Google Shape;95;p8"/>
          <p:cNvSpPr txBox="1"/>
          <p:nvPr>
            <p:ph idx="1" type="body"/>
          </p:nvPr>
        </p:nvSpPr>
        <p:spPr>
          <a:xfrm>
            <a:off x="311700" y="1152475"/>
            <a:ext cx="4371900" cy="375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600"/>
              <a:t>1888 - Cattell measures individual differences</a:t>
            </a:r>
            <a:endParaRPr sz="1600"/>
          </a:p>
          <a:p>
            <a:pPr indent="0" lvl="0" marL="0" rtl="0" algn="l">
              <a:lnSpc>
                <a:spcPct val="115000"/>
              </a:lnSpc>
              <a:spcBef>
                <a:spcPts val="1200"/>
              </a:spcBef>
              <a:spcAft>
                <a:spcPts val="0"/>
              </a:spcAft>
              <a:buSzPts val="1400"/>
              <a:buNone/>
            </a:pPr>
            <a:r>
              <a:rPr lang="en" sz="1600"/>
              <a:t>1890 - Cattell develops the first Mental Test</a:t>
            </a:r>
            <a:endParaRPr sz="1600"/>
          </a:p>
          <a:p>
            <a:pPr indent="0" lvl="0" marL="0" rtl="0" algn="l">
              <a:lnSpc>
                <a:spcPct val="115000"/>
              </a:lnSpc>
              <a:spcBef>
                <a:spcPts val="1200"/>
              </a:spcBef>
              <a:spcAft>
                <a:spcPts val="0"/>
              </a:spcAft>
              <a:buSzPts val="1400"/>
              <a:buNone/>
            </a:pPr>
            <a:r>
              <a:rPr lang="en" sz="1600"/>
              <a:t>1892 - Munsterberg arrives at Harvard - American Psychological Association founded</a:t>
            </a:r>
            <a:endParaRPr sz="1600"/>
          </a:p>
          <a:p>
            <a:pPr indent="0" lvl="0" marL="0" rtl="0" algn="l">
              <a:lnSpc>
                <a:spcPct val="115000"/>
              </a:lnSpc>
              <a:spcBef>
                <a:spcPts val="1200"/>
              </a:spcBef>
              <a:spcAft>
                <a:spcPts val="0"/>
              </a:spcAft>
              <a:buSzPts val="1400"/>
              <a:buNone/>
            </a:pPr>
            <a:r>
              <a:rPr lang="en" sz="1600"/>
              <a:t>1913 - Munsterberg publishes first English text in I-O Psychology</a:t>
            </a:r>
            <a:endParaRPr sz="1600"/>
          </a:p>
          <a:p>
            <a:pPr indent="0" lvl="0" marL="0" rtl="0" algn="l">
              <a:lnSpc>
                <a:spcPct val="115000"/>
              </a:lnSpc>
              <a:spcBef>
                <a:spcPts val="1200"/>
              </a:spcBef>
              <a:spcAft>
                <a:spcPts val="0"/>
              </a:spcAft>
              <a:buSzPts val="1400"/>
              <a:buNone/>
            </a:pPr>
            <a:r>
              <a:rPr lang="en" sz="1600"/>
              <a:t>1917 - World War I: Scott and Bingha enlist in Army and develop group intelligence test, Lillian Gilbreth was awarded first I-O PhD</a:t>
            </a:r>
            <a:endParaRPr sz="1600"/>
          </a:p>
          <a:p>
            <a:pPr indent="0" lvl="0" marL="0" rtl="0" algn="l">
              <a:lnSpc>
                <a:spcPct val="115000"/>
              </a:lnSpc>
              <a:spcBef>
                <a:spcPts val="1200"/>
              </a:spcBef>
              <a:spcAft>
                <a:spcPts val="1200"/>
              </a:spcAft>
              <a:buSzPts val="1400"/>
              <a:buNone/>
            </a:pPr>
            <a:r>
              <a:rPr lang="en" sz="1600"/>
              <a:t>1923 - Mayo arrives in United States</a:t>
            </a:r>
            <a:endParaRPr sz="1600"/>
          </a:p>
        </p:txBody>
      </p:sp>
      <p:sp>
        <p:nvSpPr>
          <p:cNvPr id="96" name="Google Shape;96;p8"/>
          <p:cNvSpPr txBox="1"/>
          <p:nvPr>
            <p:ph idx="2" type="body"/>
          </p:nvPr>
        </p:nvSpPr>
        <p:spPr>
          <a:xfrm>
            <a:off x="4832400" y="1152475"/>
            <a:ext cx="4129200" cy="363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600"/>
              <a:t>1930 - Mayo publicizes the Hawthorne studies</a:t>
            </a:r>
            <a:endParaRPr sz="1600"/>
          </a:p>
          <a:p>
            <a:pPr indent="0" lvl="0" marL="0" rtl="0" algn="l">
              <a:lnSpc>
                <a:spcPct val="115000"/>
              </a:lnSpc>
              <a:spcBef>
                <a:spcPts val="1200"/>
              </a:spcBef>
              <a:spcAft>
                <a:spcPts val="0"/>
              </a:spcAft>
              <a:buSzPts val="1400"/>
              <a:buNone/>
            </a:pPr>
            <a:r>
              <a:rPr lang="en" sz="1600"/>
              <a:t>1932 - Viteles publishes first modern text in I-O Psychology</a:t>
            </a:r>
            <a:endParaRPr sz="1600"/>
          </a:p>
          <a:p>
            <a:pPr indent="0" lvl="0" marL="0" rtl="0" algn="l">
              <a:lnSpc>
                <a:spcPct val="115000"/>
              </a:lnSpc>
              <a:spcBef>
                <a:spcPts val="1200"/>
              </a:spcBef>
              <a:spcAft>
                <a:spcPts val="0"/>
              </a:spcAft>
              <a:buSzPts val="1400"/>
              <a:buNone/>
            </a:pPr>
            <a:r>
              <a:rPr lang="en" sz="1600"/>
              <a:t>1941 - World War II: Human Engineering applied to solve aircraft accidents</a:t>
            </a:r>
            <a:endParaRPr sz="1600"/>
          </a:p>
          <a:p>
            <a:pPr indent="0" lvl="0" marL="0" rtl="0" algn="l">
              <a:lnSpc>
                <a:spcPct val="115000"/>
              </a:lnSpc>
              <a:spcBef>
                <a:spcPts val="1200"/>
              </a:spcBef>
              <a:spcAft>
                <a:spcPts val="0"/>
              </a:spcAft>
              <a:buSzPts val="1400"/>
              <a:buNone/>
            </a:pPr>
            <a:r>
              <a:rPr lang="en" sz="1600"/>
              <a:t>1945 - I-O Psychology becomes Division 14 of American Psychological Association</a:t>
            </a:r>
            <a:endParaRPr sz="1600"/>
          </a:p>
          <a:p>
            <a:pPr indent="0" lvl="0" marL="0" rtl="0" algn="l">
              <a:lnSpc>
                <a:spcPct val="115000"/>
              </a:lnSpc>
              <a:spcBef>
                <a:spcPts val="1200"/>
              </a:spcBef>
              <a:spcAft>
                <a:spcPts val="0"/>
              </a:spcAft>
              <a:buSzPts val="1400"/>
              <a:buNone/>
            </a:pPr>
            <a:r>
              <a:rPr lang="en" sz="1600"/>
              <a:t>1950 - Explosion of commercial tests</a:t>
            </a:r>
            <a:endParaRPr sz="1600"/>
          </a:p>
          <a:p>
            <a:pPr indent="0" lvl="0" marL="0" rtl="0" algn="l">
              <a:lnSpc>
                <a:spcPct val="115000"/>
              </a:lnSpc>
              <a:spcBef>
                <a:spcPts val="1200"/>
              </a:spcBef>
              <a:spcAft>
                <a:spcPts val="1200"/>
              </a:spcAft>
              <a:buSzPts val="1400"/>
              <a:buNone/>
            </a:pPr>
            <a:r>
              <a:rPr lang="en" sz="1600"/>
              <a:t>1964 - Civil Rights Act - Title VII </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Present</a:t>
            </a:r>
            <a:endParaRPr/>
          </a:p>
        </p:txBody>
      </p:sp>
      <p:sp>
        <p:nvSpPr>
          <p:cNvPr id="102" name="Google Shape;102;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20000"/>
          </a:bodyPr>
          <a:lstStyle/>
          <a:p>
            <a:pPr indent="-334327" lvl="0" marL="457200" rtl="0" algn="just">
              <a:lnSpc>
                <a:spcPct val="115000"/>
              </a:lnSpc>
              <a:spcBef>
                <a:spcPts val="0"/>
              </a:spcBef>
              <a:spcAft>
                <a:spcPts val="0"/>
              </a:spcAft>
              <a:buSzPct val="100000"/>
              <a:buChar char="●"/>
            </a:pPr>
            <a:r>
              <a:rPr lang="en"/>
              <a:t>1988 - Association for Psychological Science was founded to serve the needs of the more experimental and theoretical areas of psychology. (to promote, protect, and advance the interests of scientifically oriented psychology in research, application, teaching, and the improvement of human welfare) </a:t>
            </a:r>
            <a:endParaRPr/>
          </a:p>
          <a:p>
            <a:pPr indent="-334327" lvl="0" marL="457200" rtl="0" algn="just">
              <a:lnSpc>
                <a:spcPct val="115000"/>
              </a:lnSpc>
              <a:spcBef>
                <a:spcPts val="0"/>
              </a:spcBef>
              <a:spcAft>
                <a:spcPts val="0"/>
              </a:spcAft>
              <a:buSzPct val="100000"/>
              <a:buChar char="●"/>
            </a:pPr>
            <a:r>
              <a:rPr lang="en"/>
              <a:t>APA founded in 1892 has more than 50 divisions that represent different types of psychologists; Division 14 of APA represents SIOP. </a:t>
            </a:r>
            <a:endParaRPr/>
          </a:p>
          <a:p>
            <a:pPr indent="-334327" lvl="0" marL="457200" rtl="0" algn="just">
              <a:lnSpc>
                <a:spcPct val="115000"/>
              </a:lnSpc>
              <a:spcBef>
                <a:spcPts val="0"/>
              </a:spcBef>
              <a:spcAft>
                <a:spcPts val="0"/>
              </a:spcAft>
              <a:buSzPct val="100000"/>
              <a:buChar char="●"/>
            </a:pPr>
            <a:r>
              <a:rPr lang="en"/>
              <a:t>In 2012, I-O psychologists represented approximately 4 percent of all members of the APA, and approximately 8,600 I-O psychologists (including approximately 4,000 students) were members of Division 14.</a:t>
            </a:r>
            <a:endParaRPr/>
          </a:p>
          <a:p>
            <a:pPr indent="-334327" lvl="0" marL="457200" rtl="0" algn="just">
              <a:lnSpc>
                <a:spcPct val="115000"/>
              </a:lnSpc>
              <a:spcBef>
                <a:spcPts val="0"/>
              </a:spcBef>
              <a:spcAft>
                <a:spcPts val="0"/>
              </a:spcAft>
              <a:buSzPct val="100000"/>
              <a:buChar char="●"/>
            </a:pPr>
            <a:r>
              <a:rPr lang="en"/>
              <a:t>There is also a major shift / increase </a:t>
            </a:r>
            <a:endParaRPr/>
          </a:p>
          <a:p>
            <a:pPr indent="-316737" lvl="1" marL="914400" rtl="0" algn="just">
              <a:lnSpc>
                <a:spcPct val="115000"/>
              </a:lnSpc>
              <a:spcBef>
                <a:spcPts val="0"/>
              </a:spcBef>
              <a:spcAft>
                <a:spcPts val="0"/>
              </a:spcAft>
              <a:buSzPct val="100000"/>
              <a:buChar char="○"/>
            </a:pPr>
            <a:r>
              <a:rPr lang="en" sz="1500"/>
              <a:t>in the number of Masters and PhD programmes offered by American Higher Education Institutions</a:t>
            </a:r>
            <a:endParaRPr sz="1500"/>
          </a:p>
          <a:p>
            <a:pPr indent="-316737" lvl="1" marL="914400" rtl="0" algn="just">
              <a:lnSpc>
                <a:spcPct val="115000"/>
              </a:lnSpc>
              <a:spcBef>
                <a:spcPts val="0"/>
              </a:spcBef>
              <a:spcAft>
                <a:spcPts val="0"/>
              </a:spcAft>
              <a:buSzPct val="100000"/>
              <a:buChar char="○"/>
            </a:pPr>
            <a:r>
              <a:rPr lang="en" sz="1500"/>
              <a:t>Gender of the I-O psychologists and </a:t>
            </a:r>
            <a:endParaRPr sz="1500"/>
          </a:p>
          <a:p>
            <a:pPr indent="-316737" lvl="1" marL="914400" rtl="0" algn="just">
              <a:lnSpc>
                <a:spcPct val="115000"/>
              </a:lnSpc>
              <a:spcBef>
                <a:spcPts val="0"/>
              </a:spcBef>
              <a:spcAft>
                <a:spcPts val="0"/>
              </a:spcAft>
              <a:buSzPct val="100000"/>
              <a:buChar char="○"/>
            </a:pPr>
            <a:r>
              <a:rPr lang="en" sz="1500"/>
              <a:t>The salary structure of the I-O psychologists</a:t>
            </a:r>
            <a:endParaRPr sz="1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Future</a:t>
            </a:r>
            <a:endParaRPr/>
          </a:p>
        </p:txBody>
      </p:sp>
      <p:sp>
        <p:nvSpPr>
          <p:cNvPr id="108" name="Google Shape;108;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20000"/>
          </a:bodyPr>
          <a:lstStyle/>
          <a:p>
            <a:pPr indent="0" lvl="0" marL="0" rtl="0" algn="just">
              <a:lnSpc>
                <a:spcPct val="115000"/>
              </a:lnSpc>
              <a:spcBef>
                <a:spcPts val="0"/>
              </a:spcBef>
              <a:spcAft>
                <a:spcPts val="0"/>
              </a:spcAft>
              <a:buSzPts val="1800"/>
              <a:buNone/>
            </a:pPr>
            <a:r>
              <a:rPr lang="en"/>
              <a:t>Since the opportunities for I-O psychology is increasing to contribute to employers, workers and the broader society, I_O psychology needs to meet four challenges.</a:t>
            </a:r>
            <a:endParaRPr/>
          </a:p>
          <a:p>
            <a:pPr indent="-342900" lvl="0" marL="457200" rtl="0" algn="just">
              <a:lnSpc>
                <a:spcPct val="115000"/>
              </a:lnSpc>
              <a:spcBef>
                <a:spcPts val="1200"/>
              </a:spcBef>
              <a:spcAft>
                <a:spcPts val="0"/>
              </a:spcAft>
              <a:buSzPts val="1800"/>
              <a:buChar char="●"/>
            </a:pPr>
            <a:r>
              <a:rPr b="1" lang="en"/>
              <a:t>I-O psychology needs to be relevant</a:t>
            </a:r>
            <a:r>
              <a:rPr lang="en"/>
              <a:t>. This means that we need to study the problems of today, not those of yesterday. That is not to say that earlier research was misguided or “wrong,” but rather that older research gives us a foundation for newer research and application.</a:t>
            </a:r>
            <a:endParaRPr/>
          </a:p>
          <a:p>
            <a:pPr indent="-342900" lvl="0" marL="457200" rtl="0" algn="just">
              <a:lnSpc>
                <a:spcPct val="115000"/>
              </a:lnSpc>
              <a:spcBef>
                <a:spcPts val="0"/>
              </a:spcBef>
              <a:spcAft>
                <a:spcPts val="0"/>
              </a:spcAft>
              <a:buSzPts val="1800"/>
              <a:buChar char="●"/>
            </a:pPr>
            <a:r>
              <a:rPr b="1" lang="en"/>
              <a:t>I-O psychology needs to be useful. </a:t>
            </a:r>
            <a:r>
              <a:rPr lang="en"/>
              <a:t>I-O psychology, like counseling, school/educational, and clinical psychology, is an applied subdiscipline. The value the discipline adds is in putting our theories and research findings into action. I-O psychologists must always be thinking of ways to put our research into practice.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1"/>
          <p:cNvSpPr txBox="1"/>
          <p:nvPr>
            <p:ph idx="1" type="body"/>
          </p:nvPr>
        </p:nvSpPr>
        <p:spPr>
          <a:xfrm>
            <a:off x="311700" y="524025"/>
            <a:ext cx="8520600" cy="4044900"/>
          </a:xfrm>
          <a:prstGeom prst="rect">
            <a:avLst/>
          </a:prstGeom>
          <a:noFill/>
          <a:ln>
            <a:noFill/>
          </a:ln>
        </p:spPr>
        <p:txBody>
          <a:bodyPr anchorCtr="0" anchor="t" bIns="91425" lIns="91425" spcFirstLastPara="1" rIns="91425" wrap="square" tIns="91425">
            <a:normAutofit/>
          </a:bodyPr>
          <a:lstStyle/>
          <a:p>
            <a:pPr indent="-342900" lvl="0" marL="457200" rtl="0" algn="just">
              <a:lnSpc>
                <a:spcPct val="115000"/>
              </a:lnSpc>
              <a:spcBef>
                <a:spcPts val="0"/>
              </a:spcBef>
              <a:spcAft>
                <a:spcPts val="0"/>
              </a:spcAft>
              <a:buSzPts val="1800"/>
              <a:buChar char="●"/>
            </a:pPr>
            <a:r>
              <a:rPr b="1" lang="en"/>
              <a:t>I-O psychology needs to think bigger.</a:t>
            </a:r>
            <a:r>
              <a:rPr lang="en"/>
              <a:t> In the past, I-O psychology concentrated on the behavior of single individuals and tended to shy away from larger issues such as poverty, unemployment, globalization, and workforce diversity.</a:t>
            </a:r>
            <a:endParaRPr/>
          </a:p>
          <a:p>
            <a:pPr indent="-342900" lvl="0" marL="457200" rtl="0" algn="just">
              <a:lnSpc>
                <a:spcPct val="115000"/>
              </a:lnSpc>
              <a:spcBef>
                <a:spcPts val="0"/>
              </a:spcBef>
              <a:spcAft>
                <a:spcPts val="0"/>
              </a:spcAft>
              <a:buSzPts val="1800"/>
              <a:buChar char="●"/>
            </a:pPr>
            <a:r>
              <a:rPr b="1" lang="en"/>
              <a:t>I-O psychology needs to be grounded in the scientific method.</a:t>
            </a:r>
            <a:r>
              <a:rPr lang="en"/>
              <a:t> The confidence that society has in I-O psychology depends on this. Careful and systematic observation, the development of hypotheses that can be tested, the public collection and analysis of data, and a logical connection between the data and the interpretations of these data are the bases for our “reputation” in research and practice.</a:t>
            </a:r>
            <a:endParaRPr/>
          </a:p>
          <a:p>
            <a:pPr indent="-342900" lvl="0" marL="457200" rtl="0" algn="just">
              <a:lnSpc>
                <a:spcPct val="115000"/>
              </a:lnSpc>
              <a:spcBef>
                <a:spcPts val="0"/>
              </a:spcBef>
              <a:spcAft>
                <a:spcPts val="0"/>
              </a:spcAft>
              <a:buSzPts val="1800"/>
              <a:buChar char="●"/>
            </a:pPr>
            <a:r>
              <a:rPr lang="en"/>
              <a:t>The goal of I-O psychology is to conduct / apply pragmatic research (important topic with well-designed research)</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Multicultural and cross-cultural issues</a:t>
            </a:r>
            <a:endParaRPr/>
          </a:p>
        </p:txBody>
      </p:sp>
      <p:sp>
        <p:nvSpPr>
          <p:cNvPr id="119" name="Google Shape;119;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08108"/>
              <a:buNone/>
            </a:pPr>
            <a:r>
              <a:rPr lang="en"/>
              <a:t>Culture is a system in which individuals share meanings and common ways of viewing events and objects. As the world of work brings together people of many different nationalities (and, more important, cultures), the opportunities for misunderstandings and ineffective or counterproductive human resource applications grow as the number of different cultures grows. Consider the findings of some I-O research studies:</a:t>
            </a:r>
            <a:endParaRPr/>
          </a:p>
          <a:p>
            <a:pPr indent="0" lvl="0" marL="0" rtl="0" algn="l">
              <a:lnSpc>
                <a:spcPct val="115000"/>
              </a:lnSpc>
              <a:spcBef>
                <a:spcPts val="1200"/>
              </a:spcBef>
              <a:spcAft>
                <a:spcPts val="0"/>
              </a:spcAft>
              <a:buSzPct val="108108"/>
              <a:buNone/>
            </a:pPr>
            <a:r>
              <a:rPr lang="en"/>
              <a:t>1. Asians have a very different understanding of time than Americans (Brislin &amp; Kim, 2003).</a:t>
            </a:r>
            <a:endParaRPr/>
          </a:p>
          <a:p>
            <a:pPr indent="0" lvl="0" marL="0" rtl="0" algn="l">
              <a:lnSpc>
                <a:spcPct val="115000"/>
              </a:lnSpc>
              <a:spcBef>
                <a:spcPts val="1200"/>
              </a:spcBef>
              <a:spcAft>
                <a:spcPts val="1200"/>
              </a:spcAft>
              <a:buSzPct val="108108"/>
              <a:buNone/>
            </a:pPr>
            <a:r>
              <a:rPr lang="en"/>
              <a:t>2. In considering who gets a bonus and how much, Chinese managers make decisions based more on the personal needs of the individual, whereas in the United States, these decisions are based more on the performance of that individual (Zhou &amp; Martocchio, 2001).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3"/>
          <p:cNvSpPr txBox="1"/>
          <p:nvPr>
            <p:ph idx="1" type="body"/>
          </p:nvPr>
        </p:nvSpPr>
        <p:spPr>
          <a:xfrm>
            <a:off x="311700" y="464775"/>
            <a:ext cx="8520600" cy="41040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Clr>
                <a:schemeClr val="dk1"/>
              </a:buClr>
              <a:buSzPts val="1100"/>
              <a:buFont typeface="Arial"/>
              <a:buNone/>
            </a:pPr>
            <a:r>
              <a:rPr lang="en"/>
              <a:t>3. Compared to American managers, Japanese managers are much more likely to solve a strategic problem by being cooperative and making sure that individuals share  equally in rewards (Wade-Benzoni et al., 2002).</a:t>
            </a:r>
            <a:endParaRPr/>
          </a:p>
          <a:p>
            <a:pPr indent="0" lvl="0" marL="0" rtl="0" algn="l">
              <a:lnSpc>
                <a:spcPct val="115000"/>
              </a:lnSpc>
              <a:spcBef>
                <a:spcPts val="1200"/>
              </a:spcBef>
              <a:spcAft>
                <a:spcPts val="0"/>
              </a:spcAft>
              <a:buClr>
                <a:schemeClr val="dk1"/>
              </a:buClr>
              <a:buSzPts val="1100"/>
              <a:buFont typeface="Arial"/>
              <a:buNone/>
            </a:pPr>
            <a:r>
              <a:rPr lang="en"/>
              <a:t>4. Japanese managers are much more likely to seek compromise solutions than their American counterparts, who tend to follow win–lose strategies (Gelfand et al., 2001). </a:t>
            </a:r>
            <a:endParaRPr/>
          </a:p>
          <a:p>
            <a:pPr indent="0" lvl="0" marL="0" rtl="0" algn="l">
              <a:lnSpc>
                <a:spcPct val="115000"/>
              </a:lnSpc>
              <a:spcBef>
                <a:spcPts val="1200"/>
              </a:spcBef>
              <a:spcAft>
                <a:spcPts val="0"/>
              </a:spcAft>
              <a:buClr>
                <a:schemeClr val="dk1"/>
              </a:buClr>
              <a:buSzPts val="1100"/>
              <a:buFont typeface="Arial"/>
              <a:buNone/>
            </a:pPr>
            <a:r>
              <a:rPr lang="en"/>
              <a:t>5. Shame as a result of a poor salesperson–customer interaction motivates salespersons from the Philippines but demotivates their Dutch counterparts (Bagozzi, Verbeke, &amp; Gavino, 2003).</a:t>
            </a:r>
            <a:endParaRPr/>
          </a:p>
          <a:p>
            <a:pPr indent="0" lvl="0" marL="0" rtl="0" algn="l">
              <a:lnSpc>
                <a:spcPct val="115000"/>
              </a:lnSpc>
              <a:spcBef>
                <a:spcPts val="1200"/>
              </a:spcBef>
              <a:spcAft>
                <a:spcPts val="1200"/>
              </a:spcAft>
              <a:buSzPts val="1800"/>
              <a:buNone/>
            </a:pPr>
            <a:r>
              <a:rPr lang="en"/>
              <a:t>6. American software engineers provide assistance to a colleague only when they expect to need that colleague’s help at some future time; Indian software engineers provide help to whoever needs it without any expectation of future reciprocation (Perlow &amp; Weeks, 2002).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4"/>
          <p:cNvSpPr txBox="1"/>
          <p:nvPr>
            <p:ph idx="1" type="body"/>
          </p:nvPr>
        </p:nvSpPr>
        <p:spPr>
          <a:xfrm>
            <a:off x="311700" y="425275"/>
            <a:ext cx="8520600" cy="41436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Clr>
                <a:schemeClr val="dk1"/>
              </a:buClr>
              <a:buSzPts val="1100"/>
              <a:buFont typeface="Arial"/>
              <a:buNone/>
            </a:pPr>
            <a:r>
              <a:rPr lang="en"/>
              <a:t>7. Teams of American financial advisors will be more cohesive and likely to work as a unit when a task is complex; teams of Hong Kong financial advisors are cohesive even when the task is not complex; American financial advisors value autonomy and independence of action more than their Hong Kong counterparts (Man &amp; Lam, 2003).</a:t>
            </a:r>
            <a:endParaRPr/>
          </a:p>
          <a:p>
            <a:pPr indent="0" lvl="0" marL="0" rtl="0" algn="l">
              <a:lnSpc>
                <a:spcPct val="115000"/>
              </a:lnSpc>
              <a:spcBef>
                <a:spcPts val="1200"/>
              </a:spcBef>
              <a:spcAft>
                <a:spcPts val="0"/>
              </a:spcAft>
              <a:buClr>
                <a:schemeClr val="dk1"/>
              </a:buClr>
              <a:buSzPts val="1100"/>
              <a:buFont typeface="Arial"/>
              <a:buNone/>
            </a:pPr>
            <a:r>
              <a:rPr lang="en"/>
              <a:t>8. Most countries have employment protections for “disadvantaged” groups, but these groups vary widely from country to country. In Canada, there are protections for French-speaking citizens; in Greece, there are protections for Albanians, Bulgarians, Georgians, and Romanians; in Israel, there are protections for Palestinian Arabs, Sephardic Jews, and Druze; New Zealand has protections for Maoris and Australia for indigenous Australians (Myors et al., 2008).</a:t>
            </a:r>
            <a:endParaRPr/>
          </a:p>
          <a:p>
            <a:pPr indent="0" lvl="0" marL="0" rtl="0" algn="l">
              <a:lnSpc>
                <a:spcPct val="115000"/>
              </a:lnSpc>
              <a:spcBef>
                <a:spcPts val="1200"/>
              </a:spcBef>
              <a:spcAft>
                <a:spcPts val="1200"/>
              </a:spcAft>
              <a:buSzPts val="1800"/>
              <a:buNone/>
            </a:pPr>
            <a:r>
              <a:rPr lang="en"/>
              <a:t>9. U.S. workers are less concerned about job insecurity than are Chinese workers (Probst &amp; Lawler, 2006).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15"/>
          <p:cNvPicPr preferRelativeResize="0"/>
          <p:nvPr/>
        </p:nvPicPr>
        <p:blipFill rotWithShape="1">
          <a:blip r:embed="rId3">
            <a:alphaModFix/>
          </a:blip>
          <a:srcRect b="0" l="0" r="0" t="0"/>
          <a:stretch/>
        </p:blipFill>
        <p:spPr>
          <a:xfrm>
            <a:off x="2008850" y="152400"/>
            <a:ext cx="5368050" cy="48387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Consider the following facts</a:t>
            </a:r>
            <a:endParaRPr/>
          </a:p>
        </p:txBody>
      </p:sp>
      <p:sp>
        <p:nvSpPr>
          <p:cNvPr id="140" name="Google Shape;140;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77500" lnSpcReduction="20000"/>
          </a:bodyPr>
          <a:lstStyle/>
          <a:p>
            <a:pPr indent="-317182" lvl="0" marL="457200" rtl="0" algn="l">
              <a:lnSpc>
                <a:spcPct val="115000"/>
              </a:lnSpc>
              <a:spcBef>
                <a:spcPts val="0"/>
              </a:spcBef>
              <a:spcAft>
                <a:spcPts val="0"/>
              </a:spcAft>
              <a:buSzPct val="100000"/>
              <a:buChar char="●"/>
            </a:pPr>
            <a:r>
              <a:rPr lang="en"/>
              <a:t>More than 100,000 U.S. companies are involved in worldwide ventures that are worth over $1 trillion; U.S. corporations have invested more than $400 billion abroad and employ more than 60 million overseas workers (Cascio, 2010). </a:t>
            </a:r>
            <a:endParaRPr/>
          </a:p>
          <a:p>
            <a:pPr indent="-317182" lvl="0" marL="457200" rtl="0" algn="l">
              <a:lnSpc>
                <a:spcPct val="115000"/>
              </a:lnSpc>
              <a:spcBef>
                <a:spcPts val="0"/>
              </a:spcBef>
              <a:spcAft>
                <a:spcPts val="0"/>
              </a:spcAft>
              <a:buSzPct val="100000"/>
              <a:buChar char="●"/>
            </a:pPr>
            <a:r>
              <a:rPr lang="en"/>
              <a:t>One in five American jobs is tied directly or indirectly to international trade; foreigners hold top management positions in one-third of large U.S. firms, and Americans hold similar positions in one-fourth of European-based firms (Cascio, 2010).</a:t>
            </a:r>
            <a:endParaRPr/>
          </a:p>
          <a:p>
            <a:pPr indent="-317182" lvl="0" marL="457200" rtl="0" algn="l">
              <a:lnSpc>
                <a:spcPct val="115000"/>
              </a:lnSpc>
              <a:spcBef>
                <a:spcPts val="0"/>
              </a:spcBef>
              <a:spcAft>
                <a:spcPts val="0"/>
              </a:spcAft>
              <a:buSzPct val="100000"/>
              <a:buChar char="●"/>
            </a:pPr>
            <a:r>
              <a:rPr lang="en"/>
              <a:t>The demise of the former Soviet Union and the development of the European Union has led to mass movements of people across borders.</a:t>
            </a:r>
            <a:endParaRPr/>
          </a:p>
          <a:p>
            <a:pPr indent="-317182" lvl="0" marL="457200" rtl="0" algn="l">
              <a:lnSpc>
                <a:spcPct val="115000"/>
              </a:lnSpc>
              <a:spcBef>
                <a:spcPts val="0"/>
              </a:spcBef>
              <a:spcAft>
                <a:spcPts val="0"/>
              </a:spcAft>
              <a:buSzPct val="100000"/>
              <a:buChar char="●"/>
            </a:pPr>
            <a:r>
              <a:rPr lang="en"/>
              <a:t>Economic blocs have formed, enabling easy movement of the goods and people of one nation to another. These blocs include the North American and Central American Free Trade Agreements (NAFTA and CAFTA), the Southern Cone Common Market (MERCOSUR), the European Union (EU), the Association of Southeast Asian Nations (ASEAN), and the Economic Community of West African States (ECOWAS) (Aguinis &amp; Henle, 2002).</a:t>
            </a:r>
            <a:endParaRPr/>
          </a:p>
          <a:p>
            <a:pPr indent="-317182" lvl="0" marL="457200" rtl="0" algn="l">
              <a:lnSpc>
                <a:spcPct val="115000"/>
              </a:lnSpc>
              <a:spcBef>
                <a:spcPts val="0"/>
              </a:spcBef>
              <a:spcAft>
                <a:spcPts val="0"/>
              </a:spcAft>
              <a:buSzPct val="100000"/>
              <a:buChar char="●"/>
            </a:pPr>
            <a:r>
              <a:rPr lang="en"/>
              <a:t>Hermans and Kempen (1998) have dubbed this the “West versus the Rest” mentality. Not surprisingly, attempts to apply American theories to non-American situations are not always successful.</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Some Theories of Cultural Influence</a:t>
            </a:r>
            <a:endParaRPr/>
          </a:p>
        </p:txBody>
      </p:sp>
      <p:sp>
        <p:nvSpPr>
          <p:cNvPr id="146" name="Google Shape;146;p17"/>
          <p:cNvSpPr txBox="1"/>
          <p:nvPr>
            <p:ph idx="1" type="body"/>
          </p:nvPr>
        </p:nvSpPr>
        <p:spPr>
          <a:xfrm>
            <a:off x="311700" y="1017725"/>
            <a:ext cx="8520600" cy="3551100"/>
          </a:xfrm>
          <a:prstGeom prst="rect">
            <a:avLst/>
          </a:prstGeom>
          <a:noFill/>
          <a:ln>
            <a:noFill/>
          </a:ln>
        </p:spPr>
        <p:txBody>
          <a:bodyPr anchorCtr="0" anchor="t" bIns="91425" lIns="91425" spcFirstLastPara="1" rIns="91425" wrap="square" tIns="91425">
            <a:normAutofit/>
          </a:bodyPr>
          <a:lstStyle/>
          <a:p>
            <a:pPr indent="-336550" lvl="0" marL="457200" rtl="0" algn="l">
              <a:lnSpc>
                <a:spcPct val="115000"/>
              </a:lnSpc>
              <a:spcBef>
                <a:spcPts val="0"/>
              </a:spcBef>
              <a:spcAft>
                <a:spcPts val="0"/>
              </a:spcAft>
              <a:buSzPts val="1700"/>
              <a:buChar char="●"/>
            </a:pPr>
            <a:r>
              <a:rPr b="1" lang="en" sz="1700"/>
              <a:t>Collectivist culture</a:t>
            </a:r>
            <a:r>
              <a:rPr lang="en" sz="1700"/>
              <a:t> - a culture that values the group more than the individual.</a:t>
            </a:r>
            <a:endParaRPr sz="1700"/>
          </a:p>
          <a:p>
            <a:pPr indent="-336550" lvl="0" marL="457200" rtl="0" algn="l">
              <a:lnSpc>
                <a:spcPct val="115000"/>
              </a:lnSpc>
              <a:spcBef>
                <a:spcPts val="0"/>
              </a:spcBef>
              <a:spcAft>
                <a:spcPts val="0"/>
              </a:spcAft>
              <a:buSzPts val="1700"/>
              <a:buChar char="●"/>
            </a:pPr>
            <a:r>
              <a:rPr b="1" lang="en" sz="1700"/>
              <a:t>Individualist culture</a:t>
            </a:r>
            <a:r>
              <a:rPr lang="en" sz="1700"/>
              <a:t> - a culture that values the individual more than the group.</a:t>
            </a:r>
            <a:endParaRPr sz="1700"/>
          </a:p>
          <a:p>
            <a:pPr indent="0" lvl="0" marL="0" rtl="0" algn="l">
              <a:lnSpc>
                <a:spcPct val="115000"/>
              </a:lnSpc>
              <a:spcBef>
                <a:spcPts val="1200"/>
              </a:spcBef>
              <a:spcAft>
                <a:spcPts val="1200"/>
              </a:spcAft>
              <a:buSzPts val="1800"/>
              <a:buNone/>
            </a:pPr>
            <a:r>
              <a:t/>
            </a:r>
            <a:endParaRPr sz="1700"/>
          </a:p>
        </p:txBody>
      </p:sp>
      <p:pic>
        <p:nvPicPr>
          <p:cNvPr id="147" name="Google Shape;147;p17"/>
          <p:cNvPicPr preferRelativeResize="0"/>
          <p:nvPr/>
        </p:nvPicPr>
        <p:blipFill rotWithShape="1">
          <a:blip r:embed="rId3">
            <a:alphaModFix/>
          </a:blip>
          <a:srcRect b="0" l="0" r="0" t="0"/>
          <a:stretch/>
        </p:blipFill>
        <p:spPr>
          <a:xfrm>
            <a:off x="571500" y="1700525"/>
            <a:ext cx="8001000" cy="2797675"/>
          </a:xfrm>
          <a:prstGeom prst="rect">
            <a:avLst/>
          </a:prstGeom>
          <a:noFill/>
          <a:ln>
            <a:noFill/>
          </a:ln>
        </p:spPr>
      </p:pic>
      <p:sp>
        <p:nvSpPr>
          <p:cNvPr id="148" name="Google Shape;148;p17"/>
          <p:cNvSpPr txBox="1"/>
          <p:nvPr/>
        </p:nvSpPr>
        <p:spPr>
          <a:xfrm>
            <a:off x="4927350" y="1822575"/>
            <a:ext cx="3510300" cy="243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2"/>
                </a:solidFill>
                <a:latin typeface="Arial"/>
                <a:ea typeface="Arial"/>
                <a:cs typeface="Arial"/>
                <a:sym typeface="Arial"/>
              </a:rPr>
              <a:t>by Dutch researcher Geert Hofstede</a:t>
            </a:r>
            <a:endParaRPr b="0" i="0" sz="1500" u="none" cap="none" strike="noStrike">
              <a:solidFill>
                <a:schemeClr val="dk2"/>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Triandis’s Theory</a:t>
            </a:r>
            <a:endParaRPr/>
          </a:p>
        </p:txBody>
      </p:sp>
      <p:sp>
        <p:nvSpPr>
          <p:cNvPr id="154" name="Google Shape;154;p18"/>
          <p:cNvSpPr txBox="1"/>
          <p:nvPr>
            <p:ph idx="1" type="body"/>
          </p:nvPr>
        </p:nvSpPr>
        <p:spPr>
          <a:xfrm>
            <a:off x="311700" y="908450"/>
            <a:ext cx="8613600" cy="41682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b="1" lang="en" sz="1600"/>
              <a:t>Horizontal culture</a:t>
            </a:r>
            <a:r>
              <a:rPr lang="en" sz="1600"/>
              <a:t> - a culture that minimizes distances between individuals.</a:t>
            </a:r>
            <a:endParaRPr sz="1600"/>
          </a:p>
          <a:p>
            <a:pPr indent="-330200" lvl="0" marL="457200" rtl="0" algn="l">
              <a:lnSpc>
                <a:spcPct val="115000"/>
              </a:lnSpc>
              <a:spcBef>
                <a:spcPts val="0"/>
              </a:spcBef>
              <a:spcAft>
                <a:spcPts val="0"/>
              </a:spcAft>
              <a:buSzPts val="1600"/>
              <a:buChar char="●"/>
            </a:pPr>
            <a:r>
              <a:rPr b="1" lang="en" sz="1600"/>
              <a:t>Vertical culture</a:t>
            </a:r>
            <a:r>
              <a:rPr lang="en" sz="1600"/>
              <a:t> - a culture that accepts and depends upon distances between individuals.</a:t>
            </a:r>
            <a:endParaRPr sz="1600"/>
          </a:p>
          <a:p>
            <a:pPr indent="0" lvl="0" marL="457200" rtl="0" algn="l">
              <a:lnSpc>
                <a:spcPct val="115000"/>
              </a:lnSpc>
              <a:spcBef>
                <a:spcPts val="1200"/>
              </a:spcBef>
              <a:spcAft>
                <a:spcPts val="1200"/>
              </a:spcAft>
              <a:buSzPts val="1800"/>
              <a:buNone/>
            </a:pPr>
            <a:r>
              <a:t/>
            </a:r>
            <a:endParaRPr sz="1600"/>
          </a:p>
        </p:txBody>
      </p:sp>
      <p:pic>
        <p:nvPicPr>
          <p:cNvPr id="155" name="Google Shape;155;p18"/>
          <p:cNvPicPr preferRelativeResize="0"/>
          <p:nvPr/>
        </p:nvPicPr>
        <p:blipFill rotWithShape="1">
          <a:blip r:embed="rId3">
            <a:alphaModFix/>
          </a:blip>
          <a:srcRect b="0" l="0" r="0" t="0"/>
          <a:stretch/>
        </p:blipFill>
        <p:spPr>
          <a:xfrm>
            <a:off x="1880325" y="1693625"/>
            <a:ext cx="5496900" cy="3323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Individual differences</a:t>
            </a:r>
            <a:endParaRPr/>
          </a:p>
        </p:txBody>
      </p:sp>
      <p:sp>
        <p:nvSpPr>
          <p:cNvPr id="161" name="Google Shape;161;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10000"/>
          </a:bodyPr>
          <a:lstStyle/>
          <a:p>
            <a:pPr indent="-334327" lvl="0" marL="457200" rtl="0" algn="l">
              <a:lnSpc>
                <a:spcPct val="115000"/>
              </a:lnSpc>
              <a:spcBef>
                <a:spcPts val="0"/>
              </a:spcBef>
              <a:spcAft>
                <a:spcPts val="0"/>
              </a:spcAft>
              <a:buSzPct val="100000"/>
              <a:buChar char="●"/>
            </a:pPr>
            <a:r>
              <a:rPr lang="en"/>
              <a:t>Individual differences are the dis-similarities between or among two or more people.When </a:t>
            </a:r>
            <a:r>
              <a:rPr b="1" lang="en"/>
              <a:t>Wilhelm Wundt </a:t>
            </a:r>
            <a:r>
              <a:rPr lang="en"/>
              <a:t>was studying the sensations and reactions of people, his student </a:t>
            </a:r>
            <a:r>
              <a:rPr b="1" lang="en"/>
              <a:t>James McKeen Cattell </a:t>
            </a:r>
            <a:r>
              <a:rPr lang="en"/>
              <a:t>discovered that there were differences in people. </a:t>
            </a:r>
            <a:endParaRPr/>
          </a:p>
          <a:p>
            <a:pPr indent="-334327" lvl="0" marL="457200" rtl="0" algn="l">
              <a:lnSpc>
                <a:spcPct val="115000"/>
              </a:lnSpc>
              <a:spcBef>
                <a:spcPts val="0"/>
              </a:spcBef>
              <a:spcAft>
                <a:spcPts val="0"/>
              </a:spcAft>
              <a:buSzPct val="100000"/>
              <a:buChar char="●"/>
            </a:pPr>
            <a:r>
              <a:rPr lang="en"/>
              <a:t>He developed a </a:t>
            </a:r>
            <a:r>
              <a:rPr b="1" lang="en"/>
              <a:t>mental test</a:t>
            </a:r>
            <a:r>
              <a:rPr lang="en"/>
              <a:t>, an instrument designed to measure a subject’s ability to reason,plan, and solve problems;an intelligence test, as a way of charting these differences. </a:t>
            </a:r>
            <a:endParaRPr/>
          </a:p>
          <a:p>
            <a:pPr indent="-334327" lvl="0" marL="457200" rtl="0" algn="l">
              <a:lnSpc>
                <a:spcPct val="115000"/>
              </a:lnSpc>
              <a:spcBef>
                <a:spcPts val="0"/>
              </a:spcBef>
              <a:spcAft>
                <a:spcPts val="0"/>
              </a:spcAft>
              <a:buSzPct val="100000"/>
              <a:buChar char="●"/>
            </a:pPr>
            <a:r>
              <a:rPr lang="en"/>
              <a:t>Since the subject matter of this research was differences, the scientific study of differences became known as </a:t>
            </a:r>
            <a:r>
              <a:rPr b="1" lang="en"/>
              <a:t>differential psychology</a:t>
            </a:r>
            <a:r>
              <a:rPr lang="en"/>
              <a:t>. </a:t>
            </a:r>
            <a:endParaRPr/>
          </a:p>
          <a:p>
            <a:pPr indent="-334327" lvl="0" marL="457200" rtl="0" algn="l">
              <a:lnSpc>
                <a:spcPct val="115000"/>
              </a:lnSpc>
              <a:spcBef>
                <a:spcPts val="0"/>
              </a:spcBef>
              <a:spcAft>
                <a:spcPts val="0"/>
              </a:spcAft>
              <a:buSzPct val="100000"/>
              <a:buChar char="●"/>
            </a:pPr>
            <a:r>
              <a:rPr b="1" lang="en"/>
              <a:t>Intelligence </a:t>
            </a:r>
            <a:r>
              <a:rPr lang="en"/>
              <a:t>The ability to learn and adapt to an environment; often used to refer to general intellectual capacity, as opposed to cognitive ability or mental ability, which often refer to more specific abilities such as memory or reasoning.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0"/>
          <p:cNvSpPr txBox="1"/>
          <p:nvPr>
            <p:ph idx="1" type="body"/>
          </p:nvPr>
        </p:nvSpPr>
        <p:spPr>
          <a:xfrm>
            <a:off x="311700" y="336125"/>
            <a:ext cx="8520600" cy="42327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a:t>He worked with Francis Galton, cousin of Charles Darwin for several years and expanded the number of inherited characteristics.</a:t>
            </a:r>
            <a:endParaRPr/>
          </a:p>
          <a:p>
            <a:pPr indent="-342900" lvl="0" marL="457200" rtl="0" algn="l">
              <a:lnSpc>
                <a:spcPct val="115000"/>
              </a:lnSpc>
              <a:spcBef>
                <a:spcPts val="0"/>
              </a:spcBef>
              <a:spcAft>
                <a:spcPts val="0"/>
              </a:spcAft>
              <a:buSzPts val="1800"/>
              <a:buChar char="●"/>
            </a:pPr>
            <a:r>
              <a:rPr lang="en"/>
              <a:t>After returning to America, he used the mental test to measure the intelligence of incoming college students which he believed that would help the students to choose curricula and predict their successful completion of college.</a:t>
            </a:r>
            <a:endParaRPr/>
          </a:p>
          <a:p>
            <a:pPr indent="-342900" lvl="0" marL="457200" rtl="0" algn="l">
              <a:lnSpc>
                <a:spcPct val="115000"/>
              </a:lnSpc>
              <a:spcBef>
                <a:spcPts val="0"/>
              </a:spcBef>
              <a:spcAft>
                <a:spcPts val="0"/>
              </a:spcAft>
              <a:buSzPts val="1800"/>
              <a:buChar char="●"/>
            </a:pPr>
            <a:r>
              <a:rPr lang="en"/>
              <a:t>He developed methods of measuring </a:t>
            </a:r>
            <a:r>
              <a:rPr b="1" lang="en"/>
              <a:t>mental ability</a:t>
            </a:r>
            <a:r>
              <a:rPr lang="en"/>
              <a:t> (capacity to reason, plan and solve problems) placing it on a scale or metric and the actual measurement of abilities became known as </a:t>
            </a:r>
            <a:r>
              <a:rPr b="1" lang="en"/>
              <a:t>psychometric.</a:t>
            </a:r>
            <a:endParaRPr/>
          </a:p>
          <a:p>
            <a:pPr indent="-342900" lvl="0" marL="457200" rtl="0" algn="l">
              <a:lnSpc>
                <a:spcPct val="115000"/>
              </a:lnSpc>
              <a:spcBef>
                <a:spcPts val="0"/>
              </a:spcBef>
              <a:spcAft>
                <a:spcPts val="0"/>
              </a:spcAft>
              <a:buSzPts val="1800"/>
              <a:buChar char="●"/>
            </a:pPr>
            <a:r>
              <a:rPr lang="en"/>
              <a:t>Several were aware of Cattell’s work in measuring intelligence. While Freud and other psychologists focused on the pathological aspects, pioneers of differential psychology were interested in the mental abilities of normal people.</a:t>
            </a:r>
            <a:endParaRPr/>
          </a:p>
          <a:p>
            <a:pPr indent="-342900" lvl="0" marL="457200" rtl="0" algn="l">
              <a:lnSpc>
                <a:spcPct val="115000"/>
              </a:lnSpc>
              <a:spcBef>
                <a:spcPts val="0"/>
              </a:spcBef>
              <a:spcAft>
                <a:spcPts val="0"/>
              </a:spcAft>
              <a:buSzPts val="1800"/>
              <a:buChar char="●"/>
            </a:pPr>
            <a:r>
              <a:rPr lang="en"/>
              <a:t>Alfred Binet was measuring the mental abilities of French school children.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1"/>
          <p:cNvSpPr txBox="1"/>
          <p:nvPr>
            <p:ph idx="1" type="body"/>
          </p:nvPr>
        </p:nvSpPr>
        <p:spPr>
          <a:xfrm>
            <a:off x="311700" y="381950"/>
            <a:ext cx="8520600" cy="4377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Lewis Terman was conducting similar studies in California with a translation of Binet’s test.</a:t>
            </a:r>
            <a:endParaRPr/>
          </a:p>
          <a:p>
            <a:pPr indent="-342900" lvl="0" marL="457200" rtl="0" algn="l">
              <a:lnSpc>
                <a:spcPct val="115000"/>
              </a:lnSpc>
              <a:spcBef>
                <a:spcPts val="0"/>
              </a:spcBef>
              <a:spcAft>
                <a:spcPts val="0"/>
              </a:spcAft>
              <a:buSzPts val="1800"/>
              <a:buChar char="●"/>
            </a:pPr>
            <a:r>
              <a:rPr lang="en"/>
              <a:t>Hugo Munsterberg was measuring the abilities of trolley drivers in order to predict the likelihood of accidents.</a:t>
            </a:r>
            <a:endParaRPr/>
          </a:p>
          <a:p>
            <a:pPr indent="-342900" lvl="0" marL="457200" rtl="0" algn="l">
              <a:lnSpc>
                <a:spcPct val="115000"/>
              </a:lnSpc>
              <a:spcBef>
                <a:spcPts val="0"/>
              </a:spcBef>
              <a:spcAft>
                <a:spcPts val="0"/>
              </a:spcAft>
              <a:buSzPts val="1800"/>
              <a:buChar char="●"/>
            </a:pPr>
            <a:r>
              <a:rPr lang="en"/>
              <a:t>When the US entered the First World War in 1917, leading industrial psychologists of the time persuaded the army to use an </a:t>
            </a:r>
            <a:r>
              <a:rPr b="1" lang="en"/>
              <a:t>intelligence test </a:t>
            </a:r>
            <a:r>
              <a:rPr lang="en"/>
              <a:t>to screen recruits and determine who should attend officers’ candidate school. </a:t>
            </a:r>
            <a:endParaRPr/>
          </a:p>
          <a:p>
            <a:pPr indent="-342900" lvl="0" marL="457200" rtl="0" algn="l">
              <a:lnSpc>
                <a:spcPct val="115000"/>
              </a:lnSpc>
              <a:spcBef>
                <a:spcPts val="0"/>
              </a:spcBef>
              <a:spcAft>
                <a:spcPts val="0"/>
              </a:spcAft>
              <a:buSzPts val="1800"/>
              <a:buChar char="●"/>
            </a:pPr>
            <a:r>
              <a:rPr lang="en"/>
              <a:t>Measuring individual differences is different from experimental psychology which usually experiments with how all people are alike in their response to a stimulus and looks outside the individual to the stimulus as a way to explain behaviour, whereas differential psychology is person centered looking for qualities or characteristics with the person which helps us to understand the behaviour.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2"/>
          <p:cNvSpPr txBox="1"/>
          <p:nvPr>
            <p:ph idx="1" type="body"/>
          </p:nvPr>
        </p:nvSpPr>
        <p:spPr>
          <a:xfrm>
            <a:off x="311700" y="381950"/>
            <a:ext cx="8520600" cy="43773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In the past, the applied aspects of I-O psychology depended on differences to predict things like job success, job satisfaction and counterproductive work behaviour. Now it considers factors like organizational practices, team characteristics, physical work and work environment design and even broad cultural influences. </a:t>
            </a:r>
            <a:endParaRPr/>
          </a:p>
          <a:p>
            <a:pPr indent="-342900" lvl="0" marL="457200" rtl="0" algn="l">
              <a:lnSpc>
                <a:spcPct val="115000"/>
              </a:lnSpc>
              <a:spcBef>
                <a:spcPts val="0"/>
              </a:spcBef>
              <a:spcAft>
                <a:spcPts val="0"/>
              </a:spcAft>
              <a:buSzPts val="1800"/>
              <a:buChar char="●"/>
            </a:pPr>
            <a:r>
              <a:rPr lang="en"/>
              <a:t>The attributes often measured was some form of intelligence or cognitive ability which is used to acquire knowledge, solve problems and apply reason to situations. The abbreviation for general mental ability is g, the nonspecific capacity to reason, learn and solve problems in any of a wide variety of ways and circumstances. </a:t>
            </a:r>
            <a:endParaRPr/>
          </a:p>
          <a:p>
            <a:pPr indent="-342900" lvl="0" marL="457200" rtl="0" algn="l">
              <a:lnSpc>
                <a:spcPct val="115000"/>
              </a:lnSpc>
              <a:spcBef>
                <a:spcPts val="0"/>
              </a:spcBef>
              <a:spcAft>
                <a:spcPts val="0"/>
              </a:spcAft>
              <a:buSzPts val="1800"/>
              <a:buChar char="●"/>
            </a:pPr>
            <a:r>
              <a:rPr lang="en"/>
              <a:t>Present day work psychologists consider individual difference in physical abilities, personality, interests, knowledge and emotions in addition to cognitive abilities.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3"/>
          <p:cNvSpPr txBox="1"/>
          <p:nvPr>
            <p:ph type="title"/>
          </p:nvPr>
        </p:nvSpPr>
        <p:spPr>
          <a:xfrm>
            <a:off x="403375" y="238750"/>
            <a:ext cx="8520600" cy="922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Fundamental assumptions to apply the individual difference model</a:t>
            </a:r>
            <a:endParaRPr/>
          </a:p>
        </p:txBody>
      </p:sp>
      <p:sp>
        <p:nvSpPr>
          <p:cNvPr id="182" name="Google Shape;182;p23"/>
          <p:cNvSpPr txBox="1"/>
          <p:nvPr>
            <p:ph idx="1" type="body"/>
          </p:nvPr>
        </p:nvSpPr>
        <p:spPr>
          <a:xfrm>
            <a:off x="311700" y="1440550"/>
            <a:ext cx="8520600" cy="3364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Adults have a variety of attributes (e.g., intelligence, personality, interests), and the levels of these attributes are relatively stable over a reasonable time period (several years).</a:t>
            </a:r>
            <a:endParaRPr/>
          </a:p>
          <a:p>
            <a:pPr indent="-342900" lvl="0" marL="457200" rtl="0" algn="l">
              <a:lnSpc>
                <a:spcPct val="115000"/>
              </a:lnSpc>
              <a:spcBef>
                <a:spcPts val="0"/>
              </a:spcBef>
              <a:spcAft>
                <a:spcPts val="0"/>
              </a:spcAft>
              <a:buSzPts val="1800"/>
              <a:buChar char="●"/>
            </a:pPr>
            <a:r>
              <a:rPr lang="en"/>
              <a:t>People differ with respect to these attributes (i.e., there are “individual differences”), and these differences are associated with job success.</a:t>
            </a:r>
            <a:endParaRPr/>
          </a:p>
          <a:p>
            <a:pPr indent="-342900" lvl="0" marL="457200" rtl="0" algn="l">
              <a:lnSpc>
                <a:spcPct val="115000"/>
              </a:lnSpc>
              <a:spcBef>
                <a:spcPts val="0"/>
              </a:spcBef>
              <a:spcAft>
                <a:spcPts val="0"/>
              </a:spcAft>
              <a:buSzPts val="1800"/>
              <a:buChar char="●"/>
            </a:pPr>
            <a:r>
              <a:rPr lang="en"/>
              <a:t>The relative differences between people on these attributes remain even after training, job experience, or some other intervention.</a:t>
            </a:r>
            <a:endParaRPr/>
          </a:p>
          <a:p>
            <a:pPr indent="-342900" lvl="0" marL="457200" rtl="0" algn="l">
              <a:lnSpc>
                <a:spcPct val="115000"/>
              </a:lnSpc>
              <a:spcBef>
                <a:spcPts val="0"/>
              </a:spcBef>
              <a:spcAft>
                <a:spcPts val="0"/>
              </a:spcAft>
              <a:buSzPts val="1800"/>
              <a:buChar char="●"/>
            </a:pPr>
            <a:r>
              <a:rPr lang="en"/>
              <a:t>Different jobs require different attributes.</a:t>
            </a:r>
            <a:endParaRPr/>
          </a:p>
          <a:p>
            <a:pPr indent="-342900" lvl="0" marL="457200" rtl="0" algn="l">
              <a:lnSpc>
                <a:spcPct val="115000"/>
              </a:lnSpc>
              <a:spcBef>
                <a:spcPts val="0"/>
              </a:spcBef>
              <a:spcAft>
                <a:spcPts val="0"/>
              </a:spcAft>
              <a:buSzPts val="1800"/>
              <a:buChar char="●"/>
            </a:pPr>
            <a:r>
              <a:rPr lang="en"/>
              <a:t>These attributes can be measured.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Human abilities</a:t>
            </a:r>
            <a:endParaRPr/>
          </a:p>
        </p:txBody>
      </p:sp>
      <p:sp>
        <p:nvSpPr>
          <p:cNvPr id="188" name="Google Shape;188;p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In 1950s, Edwin Fleishman associated mental and physical abilities to human performance including work performance and published a list of comprehensive 52 abilities or </a:t>
            </a:r>
            <a:r>
              <a:rPr b="1" lang="en"/>
              <a:t>taxonomy </a:t>
            </a:r>
            <a:r>
              <a:rPr lang="en"/>
              <a:t>(an orderly, scientific system of classification) divided into three broad categories of </a:t>
            </a:r>
            <a:r>
              <a:rPr b="1" lang="en"/>
              <a:t>cognitive, physical</a:t>
            </a:r>
            <a:r>
              <a:rPr lang="en"/>
              <a:t> and </a:t>
            </a:r>
            <a:r>
              <a:rPr b="1" lang="en"/>
              <a:t>perceptual - motor abilities</a:t>
            </a:r>
            <a:r>
              <a:rPr lang="en"/>
              <a:t> (physical attributes that combine the senses like seeing and smelling with motion like coordination and dexterity), which did not cover </a:t>
            </a:r>
            <a:r>
              <a:rPr b="1" lang="en"/>
              <a:t>personality </a:t>
            </a:r>
            <a:r>
              <a:rPr lang="en"/>
              <a:t>(an individual’s behavioural and emotional characteristics, generally found to be stable over time and in a variety of circumstances, an individual’s habitual way of responding), </a:t>
            </a:r>
            <a:r>
              <a:rPr b="1" lang="en"/>
              <a:t>affect</a:t>
            </a:r>
            <a:r>
              <a:rPr lang="en"/>
              <a:t> (the conscious, subjective aspect of emotion) or </a:t>
            </a:r>
            <a:r>
              <a:rPr b="1" lang="en"/>
              <a:t>interest</a:t>
            </a:r>
            <a:r>
              <a:rPr lang="en"/>
              <a:t> (preferences or likings for broad ranges of activities).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5"/>
          <p:cNvSpPr txBox="1"/>
          <p:nvPr>
            <p:ph type="title"/>
          </p:nvPr>
        </p:nvSpPr>
        <p:spPr>
          <a:xfrm>
            <a:off x="311700" y="3363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Cognitive abilities</a:t>
            </a:r>
            <a:endParaRPr/>
          </a:p>
        </p:txBody>
      </p:sp>
      <p:sp>
        <p:nvSpPr>
          <p:cNvPr id="194" name="Google Shape;194;p25"/>
          <p:cNvSpPr txBox="1"/>
          <p:nvPr>
            <p:ph idx="1" type="body"/>
          </p:nvPr>
        </p:nvSpPr>
        <p:spPr>
          <a:xfrm>
            <a:off x="311700" y="794475"/>
            <a:ext cx="8520600" cy="39876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a:t>Intelligence, IQ, cognitive ability and mental ability are often considered synonyms to one another, though IQ is a historical term and not longer has a scientific meaning, it is still being used by the general public. </a:t>
            </a:r>
            <a:endParaRPr/>
          </a:p>
          <a:p>
            <a:pPr indent="-342900" lvl="0" marL="457200" rtl="0" algn="l">
              <a:lnSpc>
                <a:spcPct val="115000"/>
              </a:lnSpc>
              <a:spcBef>
                <a:spcPts val="0"/>
              </a:spcBef>
              <a:spcAft>
                <a:spcPts val="0"/>
              </a:spcAft>
              <a:buSzPts val="1800"/>
              <a:buChar char="●"/>
            </a:pPr>
            <a:r>
              <a:rPr lang="en"/>
              <a:t>Different cultures have different views of who is an intelligent person. </a:t>
            </a:r>
            <a:endParaRPr/>
          </a:p>
          <a:p>
            <a:pPr indent="-342900" lvl="0" marL="457200" rtl="0" algn="l">
              <a:lnSpc>
                <a:spcPct val="115000"/>
              </a:lnSpc>
              <a:spcBef>
                <a:spcPts val="0"/>
              </a:spcBef>
              <a:spcAft>
                <a:spcPts val="0"/>
              </a:spcAft>
              <a:buSzPts val="1800"/>
              <a:buChar char="●"/>
            </a:pPr>
            <a:r>
              <a:rPr lang="en"/>
              <a:t>Almost every job requires some active manipulation of information and the greater the amount of information that needs to be manipulated, the more important g becomes. </a:t>
            </a:r>
            <a:endParaRPr/>
          </a:p>
          <a:p>
            <a:pPr indent="-342900" lvl="0" marL="457200" rtl="0" algn="l">
              <a:lnSpc>
                <a:spcPct val="115000"/>
              </a:lnSpc>
              <a:spcBef>
                <a:spcPts val="0"/>
              </a:spcBef>
              <a:spcAft>
                <a:spcPts val="0"/>
              </a:spcAft>
              <a:buSzPts val="1800"/>
              <a:buChar char="●"/>
            </a:pPr>
            <a:r>
              <a:rPr lang="en"/>
              <a:t>A meta analysis in 2004 demonstrated that if the information processing demands of a job are high, a person with lower g is less likely to be successful than a person with higher g which does not mean that high g guarantees success on that job. Depending on the requirements like communication skills, interpersonal skills or certain personality skills, even a person with high g might fail.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6"/>
          <p:cNvSpPr txBox="1"/>
          <p:nvPr>
            <p:ph idx="1" type="body"/>
          </p:nvPr>
        </p:nvSpPr>
        <p:spPr>
          <a:xfrm>
            <a:off x="311700" y="519450"/>
            <a:ext cx="8520600" cy="4049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In most of the Western countries, g is as important as it is in the US.</a:t>
            </a:r>
            <a:endParaRPr/>
          </a:p>
          <a:p>
            <a:pPr indent="-342900" lvl="0" marL="457200" rtl="0" algn="l">
              <a:lnSpc>
                <a:spcPct val="115000"/>
              </a:lnSpc>
              <a:spcBef>
                <a:spcPts val="0"/>
              </a:spcBef>
              <a:spcAft>
                <a:spcPts val="0"/>
              </a:spcAft>
              <a:buSzPts val="1800"/>
              <a:buChar char="●"/>
            </a:pPr>
            <a:r>
              <a:rPr lang="en"/>
              <a:t>Researchers have observed that intelligence continues to rise over time and individuals appear to be more and more smarter through life span and new generations appear to be smarter than their parents. (Flynn effect Phenomenon in which new generations appear to be smarter than their parents by a gain of 15 points in average intelligence test score per generation; named after the political scientist who did extensive research on the topic.)</a:t>
            </a:r>
            <a:endParaRPr/>
          </a:p>
          <a:p>
            <a:pPr indent="-342900" lvl="0" marL="457200" rtl="0" algn="l">
              <a:lnSpc>
                <a:spcPct val="115000"/>
              </a:lnSpc>
              <a:spcBef>
                <a:spcPts val="0"/>
              </a:spcBef>
              <a:spcAft>
                <a:spcPts val="0"/>
              </a:spcAft>
              <a:buSzPts val="1800"/>
              <a:buChar char="●"/>
            </a:pPr>
            <a:r>
              <a:rPr lang="en"/>
              <a:t>These differences from generation to generation may be due to better health care, better nutrition, increased schooling, better education parents and even an increasingly complex environment. </a:t>
            </a:r>
            <a:endParaRPr/>
          </a:p>
          <a:p>
            <a:pPr indent="-342900" lvl="0" marL="457200" rtl="0" algn="l">
              <a:lnSpc>
                <a:spcPct val="115000"/>
              </a:lnSpc>
              <a:spcBef>
                <a:spcPts val="0"/>
              </a:spcBef>
              <a:spcAft>
                <a:spcPts val="0"/>
              </a:spcAft>
              <a:buSzPts val="1800"/>
              <a:buChar char="●"/>
            </a:pPr>
            <a:r>
              <a:rPr lang="en"/>
              <a:t>Within the generation, however, g appears to be stable.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7"/>
          <p:cNvSpPr txBox="1"/>
          <p:nvPr>
            <p:ph type="title"/>
          </p:nvPr>
        </p:nvSpPr>
        <p:spPr>
          <a:xfrm>
            <a:off x="311700" y="445025"/>
            <a:ext cx="8520600" cy="1223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Specific cognitive abilities beyond g -Carroll’s Hierarchical model</a:t>
            </a:r>
            <a:endParaRPr/>
          </a:p>
        </p:txBody>
      </p:sp>
      <p:pic>
        <p:nvPicPr>
          <p:cNvPr id="205" name="Google Shape;205;p27"/>
          <p:cNvPicPr preferRelativeResize="0"/>
          <p:nvPr/>
        </p:nvPicPr>
        <p:blipFill rotWithShape="1">
          <a:blip r:embed="rId3">
            <a:alphaModFix/>
          </a:blip>
          <a:srcRect b="0" l="0" r="0" t="0"/>
          <a:stretch/>
        </p:blipFill>
        <p:spPr>
          <a:xfrm>
            <a:off x="461950" y="1668025"/>
            <a:ext cx="8220075" cy="27241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8"/>
          <p:cNvSpPr txBox="1"/>
          <p:nvPr>
            <p:ph type="title"/>
          </p:nvPr>
        </p:nvSpPr>
        <p:spPr>
          <a:xfrm>
            <a:off x="311700" y="119125"/>
            <a:ext cx="8520600" cy="744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820"/>
              <a:t>Hogan’s theory </a:t>
            </a:r>
            <a:endParaRPr sz="2820"/>
          </a:p>
        </p:txBody>
      </p:sp>
      <p:pic>
        <p:nvPicPr>
          <p:cNvPr id="211" name="Google Shape;211;p28"/>
          <p:cNvPicPr preferRelativeResize="0"/>
          <p:nvPr/>
        </p:nvPicPr>
        <p:blipFill rotWithShape="1">
          <a:blip r:embed="rId3">
            <a:alphaModFix/>
          </a:blip>
          <a:srcRect b="0" l="0" r="0" t="0"/>
          <a:stretch/>
        </p:blipFill>
        <p:spPr>
          <a:xfrm>
            <a:off x="547363" y="1017725"/>
            <a:ext cx="8049262" cy="35973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9"/>
          <p:cNvSpPr txBox="1"/>
          <p:nvPr>
            <p:ph type="title"/>
          </p:nvPr>
        </p:nvSpPr>
        <p:spPr>
          <a:xfrm>
            <a:off x="311700" y="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Classification of Hogan’s abilities</a:t>
            </a:r>
            <a:endParaRPr/>
          </a:p>
        </p:txBody>
      </p:sp>
      <p:sp>
        <p:nvSpPr>
          <p:cNvPr id="217" name="Google Shape;217;p29"/>
          <p:cNvSpPr txBox="1"/>
          <p:nvPr>
            <p:ph idx="1" type="body"/>
          </p:nvPr>
        </p:nvSpPr>
        <p:spPr>
          <a:xfrm>
            <a:off x="311700" y="572700"/>
            <a:ext cx="8520600" cy="3996300"/>
          </a:xfrm>
          <a:prstGeom prst="rect">
            <a:avLst/>
          </a:prstGeom>
          <a:noFill/>
          <a:ln>
            <a:noFill/>
          </a:ln>
        </p:spPr>
        <p:txBody>
          <a:bodyPr anchorCtr="0" anchor="t" bIns="91425" lIns="91425" spcFirstLastPara="1" rIns="91425" wrap="square" tIns="91425">
            <a:noAutofit/>
          </a:bodyPr>
          <a:lstStyle/>
          <a:p>
            <a:pPr indent="-349250" lvl="0" marL="457200" rtl="0" algn="l">
              <a:lnSpc>
                <a:spcPct val="100000"/>
              </a:lnSpc>
              <a:spcBef>
                <a:spcPts val="0"/>
              </a:spcBef>
              <a:spcAft>
                <a:spcPts val="0"/>
              </a:spcAft>
              <a:buSzPts val="1900"/>
              <a:buChar char="●"/>
            </a:pPr>
            <a:r>
              <a:rPr lang="en" sz="1900">
                <a:solidFill>
                  <a:schemeClr val="dk1"/>
                </a:solidFill>
              </a:rPr>
              <a:t>Hogan’s theory insists that seven </a:t>
            </a:r>
            <a:r>
              <a:rPr b="1" lang="en" sz="1900">
                <a:solidFill>
                  <a:schemeClr val="dk1"/>
                </a:solidFill>
              </a:rPr>
              <a:t>physical abilities</a:t>
            </a:r>
            <a:r>
              <a:rPr lang="en" sz="1900">
                <a:solidFill>
                  <a:schemeClr val="dk1"/>
                </a:solidFill>
              </a:rPr>
              <a:t> are commonly required for most of the jobs.</a:t>
            </a:r>
            <a:endParaRPr sz="1900">
              <a:solidFill>
                <a:schemeClr val="dk1"/>
              </a:solidFill>
            </a:endParaRPr>
          </a:p>
          <a:p>
            <a:pPr indent="-349250" lvl="0" marL="457200" rtl="0" algn="l">
              <a:lnSpc>
                <a:spcPct val="100000"/>
              </a:lnSpc>
              <a:spcBef>
                <a:spcPts val="0"/>
              </a:spcBef>
              <a:spcAft>
                <a:spcPts val="0"/>
              </a:spcAft>
              <a:buClr>
                <a:schemeClr val="dk1"/>
              </a:buClr>
              <a:buSzPts val="1900"/>
              <a:buChar char="●"/>
            </a:pPr>
            <a:r>
              <a:rPr lang="en" sz="1900">
                <a:solidFill>
                  <a:schemeClr val="dk1"/>
                </a:solidFill>
              </a:rPr>
              <a:t>If for a job requiring physical abilities, women can’t apply for get offered due to their poor stamina. </a:t>
            </a:r>
            <a:endParaRPr sz="1900">
              <a:solidFill>
                <a:schemeClr val="dk1"/>
              </a:solidFill>
            </a:endParaRPr>
          </a:p>
          <a:p>
            <a:pPr indent="-349250" lvl="0" marL="457200" rtl="0" algn="l">
              <a:lnSpc>
                <a:spcPct val="100000"/>
              </a:lnSpc>
              <a:spcBef>
                <a:spcPts val="0"/>
              </a:spcBef>
              <a:spcAft>
                <a:spcPts val="0"/>
              </a:spcAft>
              <a:buClr>
                <a:schemeClr val="dk1"/>
              </a:buClr>
              <a:buSzPts val="1900"/>
              <a:buChar char="●"/>
            </a:pPr>
            <a:r>
              <a:rPr b="1" lang="en" sz="1900">
                <a:solidFill>
                  <a:schemeClr val="dk1"/>
                </a:solidFill>
              </a:rPr>
              <a:t>Sensory abilities</a:t>
            </a:r>
            <a:r>
              <a:rPr lang="en" sz="1900">
                <a:solidFill>
                  <a:schemeClr val="dk1"/>
                </a:solidFill>
              </a:rPr>
              <a:t> are the physical functions of vision, hearing, touch, taste, smell and kinesthetic feedback. </a:t>
            </a:r>
            <a:endParaRPr sz="1900">
              <a:solidFill>
                <a:schemeClr val="dk1"/>
              </a:solidFill>
            </a:endParaRPr>
          </a:p>
          <a:p>
            <a:pPr indent="-349250" lvl="0" marL="457200" rtl="0" algn="l">
              <a:lnSpc>
                <a:spcPct val="100000"/>
              </a:lnSpc>
              <a:spcBef>
                <a:spcPts val="0"/>
              </a:spcBef>
              <a:spcAft>
                <a:spcPts val="0"/>
              </a:spcAft>
              <a:buClr>
                <a:schemeClr val="dk1"/>
              </a:buClr>
              <a:buSzPts val="1900"/>
              <a:buChar char="●"/>
            </a:pPr>
            <a:r>
              <a:rPr lang="en" sz="1900">
                <a:solidFill>
                  <a:schemeClr val="dk1"/>
                </a:solidFill>
              </a:rPr>
              <a:t>To prevent employers from using a disability as an excuse to reject an application who is capable of performing a job, the </a:t>
            </a:r>
            <a:r>
              <a:rPr b="1" lang="en" sz="1900">
                <a:solidFill>
                  <a:schemeClr val="dk1"/>
                </a:solidFill>
              </a:rPr>
              <a:t>Americans with Disability Act 1990 </a:t>
            </a:r>
            <a:r>
              <a:rPr lang="en" sz="1900">
                <a:solidFill>
                  <a:schemeClr val="dk1"/>
                </a:solidFill>
              </a:rPr>
              <a:t>forbids them to ask about test areas such as sensory or physical abilities that may be considered as disabilities until after they are made a job offer to the candidate. </a:t>
            </a:r>
            <a:endParaRPr sz="1900">
              <a:solidFill>
                <a:schemeClr val="dk1"/>
              </a:solidFill>
            </a:endParaRPr>
          </a:p>
          <a:p>
            <a:pPr indent="-349250" lvl="0" marL="457200" rtl="0" algn="l">
              <a:lnSpc>
                <a:spcPct val="100000"/>
              </a:lnSpc>
              <a:spcBef>
                <a:spcPts val="0"/>
              </a:spcBef>
              <a:spcAft>
                <a:spcPts val="0"/>
              </a:spcAft>
              <a:buClr>
                <a:schemeClr val="dk1"/>
              </a:buClr>
              <a:buSzPts val="1900"/>
              <a:buChar char="●"/>
            </a:pPr>
            <a:r>
              <a:rPr b="1" lang="en" sz="1900">
                <a:solidFill>
                  <a:schemeClr val="dk1"/>
                </a:solidFill>
              </a:rPr>
              <a:t>Psychomotor abilities </a:t>
            </a:r>
            <a:r>
              <a:rPr lang="en" sz="1900">
                <a:solidFill>
                  <a:schemeClr val="dk1"/>
                </a:solidFill>
              </a:rPr>
              <a:t>sometimes called as sensorimotor or just motor abilities, deal with issues of coordination, dexterity and reaction time. </a:t>
            </a:r>
            <a:endParaRPr sz="19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Personality and Work behaviour</a:t>
            </a:r>
            <a:endParaRPr/>
          </a:p>
        </p:txBody>
      </p:sp>
      <p:sp>
        <p:nvSpPr>
          <p:cNvPr id="223" name="Google Shape;223;p30"/>
          <p:cNvSpPr txBox="1"/>
          <p:nvPr>
            <p:ph idx="1" type="body"/>
          </p:nvPr>
        </p:nvSpPr>
        <p:spPr>
          <a:xfrm>
            <a:off x="311700" y="1017725"/>
            <a:ext cx="8520600" cy="35511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17647"/>
              <a:buNone/>
            </a:pPr>
            <a:r>
              <a:rPr lang="en"/>
              <a:t>Work-related behavior includes performance, absenteeism, counterproductive work behavior, and team effectiveness. </a:t>
            </a:r>
            <a:endParaRPr/>
          </a:p>
          <a:p>
            <a:pPr indent="0" lvl="0" marL="0" rtl="0" algn="l">
              <a:lnSpc>
                <a:spcPct val="115000"/>
              </a:lnSpc>
              <a:spcBef>
                <a:spcPts val="1200"/>
              </a:spcBef>
              <a:spcAft>
                <a:spcPts val="0"/>
              </a:spcAft>
              <a:buSzPct val="117647"/>
              <a:buNone/>
            </a:pPr>
            <a:r>
              <a:rPr lang="en"/>
              <a:t>Barrick and Mount (2005) provide the following seven reasons why “personality matters in the workplace” and document those reasons using recent research:</a:t>
            </a:r>
            <a:endParaRPr/>
          </a:p>
          <a:p>
            <a:pPr indent="0" lvl="0" marL="0" rtl="0" algn="l">
              <a:lnSpc>
                <a:spcPct val="115000"/>
              </a:lnSpc>
              <a:spcBef>
                <a:spcPts val="1200"/>
              </a:spcBef>
              <a:spcAft>
                <a:spcPts val="0"/>
              </a:spcAft>
              <a:buSzPct val="117647"/>
              <a:buNone/>
            </a:pPr>
            <a:r>
              <a:rPr lang="en"/>
              <a:t>1. Managers care about personality. In hiring decisions, they weigh personality characteristics as heavily as they do intelligence.</a:t>
            </a:r>
            <a:endParaRPr/>
          </a:p>
          <a:p>
            <a:pPr indent="0" lvl="0" marL="0" rtl="0" algn="l">
              <a:lnSpc>
                <a:spcPct val="115000"/>
              </a:lnSpc>
              <a:spcBef>
                <a:spcPts val="1200"/>
              </a:spcBef>
              <a:spcAft>
                <a:spcPts val="0"/>
              </a:spcAft>
              <a:buSzPct val="117647"/>
              <a:buNone/>
            </a:pPr>
            <a:r>
              <a:rPr lang="en"/>
              <a:t>2. Many research studies show the importance of various personality measures in predicting both overall job performance and specific aspects of performance. Personality addresses the “will do” aspects of performance, while intelligence addresses the “can  do” aspects of performance.</a:t>
            </a:r>
            <a:endParaRPr/>
          </a:p>
          <a:p>
            <a:pPr indent="0" lvl="0" marL="0" rtl="0" algn="l">
              <a:lnSpc>
                <a:spcPct val="115000"/>
              </a:lnSpc>
              <a:spcBef>
                <a:spcPts val="1200"/>
              </a:spcBef>
              <a:spcAft>
                <a:spcPts val="1200"/>
              </a:spcAft>
              <a:buSzPct val="117647"/>
              <a:buNone/>
            </a:pPr>
            <a:r>
              <a:rPr lang="en"/>
              <a:t>3. When we combine personality characteristics (rather than considering them one at a time), the relationship between personality and work performance becomes even stronger.</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1"/>
          <p:cNvSpPr txBox="1"/>
          <p:nvPr>
            <p:ph idx="1" type="body"/>
          </p:nvPr>
        </p:nvSpPr>
        <p:spPr>
          <a:xfrm>
            <a:off x="311700" y="656975"/>
            <a:ext cx="8520600" cy="39120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Clr>
                <a:schemeClr val="dk1"/>
              </a:buClr>
              <a:buSzPts val="1100"/>
              <a:buFont typeface="Arial"/>
              <a:buNone/>
            </a:pPr>
            <a:r>
              <a:rPr lang="en"/>
              <a:t>4. Personality measures improve the predictability of work performance over what would be found using only measures of intelligence or experience.</a:t>
            </a:r>
            <a:endParaRPr/>
          </a:p>
          <a:p>
            <a:pPr indent="0" lvl="0" marL="0" rtl="0" algn="l">
              <a:lnSpc>
                <a:spcPct val="115000"/>
              </a:lnSpc>
              <a:spcBef>
                <a:spcPts val="1200"/>
              </a:spcBef>
              <a:spcAft>
                <a:spcPts val="0"/>
              </a:spcAft>
              <a:buClr>
                <a:schemeClr val="dk1"/>
              </a:buClr>
              <a:buSzPts val="1100"/>
              <a:buFont typeface="Arial"/>
              <a:buNone/>
            </a:pPr>
            <a:r>
              <a:rPr lang="en"/>
              <a:t>5. There are much smaller differences among age, gender, and ethnic minority subgroups on measures of personality than on measures of intelligence.</a:t>
            </a:r>
            <a:endParaRPr/>
          </a:p>
          <a:p>
            <a:pPr indent="0" lvl="0" marL="0" rtl="0" algn="l">
              <a:lnSpc>
                <a:spcPct val="115000"/>
              </a:lnSpc>
              <a:spcBef>
                <a:spcPts val="1200"/>
              </a:spcBef>
              <a:spcAft>
                <a:spcPts val="0"/>
              </a:spcAft>
              <a:buClr>
                <a:schemeClr val="dk1"/>
              </a:buClr>
              <a:buSzPts val="1100"/>
              <a:buFont typeface="Arial"/>
              <a:buNone/>
            </a:pPr>
            <a:r>
              <a:rPr lang="en"/>
              <a:t>6. Personality measures predict not only near-term behavior (e.g., current job performance) but also distant outcomes such as career success, job and life satisfaction, and occupational status.</a:t>
            </a:r>
            <a:endParaRPr/>
          </a:p>
          <a:p>
            <a:pPr indent="0" lvl="0" marL="0" rtl="0" algn="l">
              <a:lnSpc>
                <a:spcPct val="115000"/>
              </a:lnSpc>
              <a:spcBef>
                <a:spcPts val="1200"/>
              </a:spcBef>
              <a:spcAft>
                <a:spcPts val="1200"/>
              </a:spcAft>
              <a:buSzPts val="1800"/>
              <a:buNone/>
            </a:pPr>
            <a:r>
              <a:rPr lang="en"/>
              <a:t>7. Personality measures predict a wide variety of outcomes that are important to managers, including counterproductive behavior, turnover, absenteeism, tardiness, group success, organizational citizenship behavior, job satisfaction, task performance, and leadership effectiveness.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The Big Five or Five Factor Model (FFM)</a:t>
            </a:r>
            <a:endParaRPr/>
          </a:p>
        </p:txBody>
      </p:sp>
      <p:sp>
        <p:nvSpPr>
          <p:cNvPr id="234" name="Google Shape;234;p32"/>
          <p:cNvSpPr txBox="1"/>
          <p:nvPr>
            <p:ph idx="1" type="body"/>
          </p:nvPr>
        </p:nvSpPr>
        <p:spPr>
          <a:xfrm>
            <a:off x="311700" y="1017725"/>
            <a:ext cx="8520600" cy="36957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a:t>Big Five or the Five Factors model is a taxonomy of five personality factors composed of </a:t>
            </a:r>
            <a:r>
              <a:rPr b="1" lang="en"/>
              <a:t>conscientiousness, extraversion, agreeableness, emotional stability and openness to experience.</a:t>
            </a:r>
            <a:endParaRPr b="1"/>
          </a:p>
          <a:p>
            <a:pPr indent="-342900" lvl="0" marL="457200" rtl="0" algn="l">
              <a:lnSpc>
                <a:spcPct val="115000"/>
              </a:lnSpc>
              <a:spcBef>
                <a:spcPts val="0"/>
              </a:spcBef>
              <a:spcAft>
                <a:spcPts val="0"/>
              </a:spcAft>
              <a:buSzPts val="1800"/>
              <a:buChar char="●"/>
            </a:pPr>
            <a:r>
              <a:rPr lang="en"/>
              <a:t>According to this model, an individual’s personality can be described by where that individual falls on five dimensions, a useful acronym for the five scales is </a:t>
            </a:r>
            <a:r>
              <a:rPr b="1" lang="en"/>
              <a:t>OCEAN</a:t>
            </a:r>
            <a:r>
              <a:rPr lang="en"/>
              <a:t>. (N stands for neuroticism, the opposite of emotional stability.)</a:t>
            </a:r>
            <a:endParaRPr/>
          </a:p>
          <a:p>
            <a:pPr indent="-342900" lvl="0" marL="457200" rtl="0" algn="l">
              <a:lnSpc>
                <a:spcPct val="115000"/>
              </a:lnSpc>
              <a:spcBef>
                <a:spcPts val="0"/>
              </a:spcBef>
              <a:spcAft>
                <a:spcPts val="0"/>
              </a:spcAft>
              <a:buSzPts val="1800"/>
              <a:buChar char="●"/>
            </a:pPr>
            <a:r>
              <a:rPr lang="en"/>
              <a:t>Personality can be defined in simplest terms as the typical way that an individual has of responding. It is considered to be a collection of traits because it is fairly stable, even though situations and circumstances might lead a person to behave in a way that is out of character with his or her overall personality.</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p33"/>
          <p:cNvPicPr preferRelativeResize="0"/>
          <p:nvPr/>
        </p:nvPicPr>
        <p:blipFill rotWithShape="1">
          <a:blip r:embed="rId3">
            <a:alphaModFix/>
          </a:blip>
          <a:srcRect b="0" l="0" r="0" t="0"/>
          <a:stretch/>
        </p:blipFill>
        <p:spPr>
          <a:xfrm>
            <a:off x="411375" y="565300"/>
            <a:ext cx="8304826" cy="40049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4"/>
          <p:cNvSpPr txBox="1"/>
          <p:nvPr>
            <p:ph idx="1" type="body"/>
          </p:nvPr>
        </p:nvSpPr>
        <p:spPr>
          <a:xfrm>
            <a:off x="311700" y="175700"/>
            <a:ext cx="8520600" cy="47898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15000"/>
              </a:lnSpc>
              <a:spcBef>
                <a:spcPts val="0"/>
              </a:spcBef>
              <a:spcAft>
                <a:spcPts val="0"/>
              </a:spcAft>
              <a:buSzPct val="108108"/>
              <a:buNone/>
            </a:pPr>
            <a:r>
              <a:rPr lang="en"/>
              <a:t>What seems to be true is that, although each of the five broad personality factors does predict successful</a:t>
            </a:r>
            <a:r>
              <a:rPr lang="en"/>
              <a:t>/unsuccessful</a:t>
            </a:r>
            <a:r>
              <a:rPr lang="en"/>
              <a:t> performance of certain behaviors, some combinations of the factors may be stronger predictors than any single factor. This introduces the idea of a </a:t>
            </a:r>
            <a:r>
              <a:rPr b="1" lang="en"/>
              <a:t>functional personality at work</a:t>
            </a:r>
            <a:r>
              <a:rPr lang="en"/>
              <a:t> , meaning that not just one factor predicts success, but a combination of factors. </a:t>
            </a:r>
            <a:endParaRPr/>
          </a:p>
          <a:p>
            <a:pPr indent="0" lvl="0" marL="0" rtl="0" algn="l">
              <a:lnSpc>
                <a:spcPct val="115000"/>
              </a:lnSpc>
              <a:spcBef>
                <a:spcPts val="1200"/>
              </a:spcBef>
              <a:spcAft>
                <a:spcPts val="0"/>
              </a:spcAft>
              <a:buSzPct val="108108"/>
              <a:buNone/>
            </a:pPr>
            <a:r>
              <a:rPr lang="en"/>
              <a:t>For example, it is found that individuals who were high on conscientiousness, agreeableness, and emotional stability tended to have higher integrity. In this context, integrity means being honest, reliable, and ethical. </a:t>
            </a:r>
            <a:endParaRPr/>
          </a:p>
          <a:p>
            <a:pPr indent="0" lvl="0" marL="0" rtl="0" algn="l">
              <a:lnSpc>
                <a:spcPct val="115000"/>
              </a:lnSpc>
              <a:spcBef>
                <a:spcPts val="1200"/>
              </a:spcBef>
              <a:spcAft>
                <a:spcPts val="0"/>
              </a:spcAft>
              <a:buSzPct val="108108"/>
              <a:buNone/>
            </a:pPr>
            <a:r>
              <a:rPr lang="en"/>
              <a:t>It is also found from a research that  managers believed that a combination of conscientiousness, agreeableness, and emotional stability made applicants more attractive to managers who had hiring responsibilities. </a:t>
            </a:r>
            <a:endParaRPr/>
          </a:p>
          <a:p>
            <a:pPr indent="0" lvl="0" marL="0" rtl="0" algn="l">
              <a:lnSpc>
                <a:spcPct val="115000"/>
              </a:lnSpc>
              <a:spcBef>
                <a:spcPts val="1200"/>
              </a:spcBef>
              <a:spcAft>
                <a:spcPts val="0"/>
              </a:spcAft>
              <a:buSzPct val="108108"/>
              <a:buNone/>
            </a:pPr>
            <a:r>
              <a:rPr lang="en"/>
              <a:t>A review confirmed the importance of conscientiousness across a variety of occupations and performance measures. Emotional stability also appeared to predict overall performance across occupations. </a:t>
            </a:r>
            <a:endParaRPr/>
          </a:p>
          <a:p>
            <a:pPr indent="0" lvl="0" marL="0" rtl="0" algn="l">
              <a:lnSpc>
                <a:spcPct val="115000"/>
              </a:lnSpc>
              <a:spcBef>
                <a:spcPts val="1200"/>
              </a:spcBef>
              <a:spcAft>
                <a:spcPts val="1200"/>
              </a:spcAft>
              <a:buSzPct val="108108"/>
              <a:buNone/>
            </a:pPr>
            <a:r>
              <a:rPr lang="en"/>
              <a:t>It is found that a combination of high emotional stability and high extraversion (which they labeled a “happy” or “buoyant” personality) led to higher performance for employees and supervisors at a health and fitness center. In another meta-analysis, it is found that low agreeableness, high extraversion, and low conscientiousness were related to accidents, both in occupational and traffic situations. These researchers  suggested that individuals low on agreeableness have more difficulty managing interpersonal relations, including following group safety norms.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990"/>
              <a:buFont typeface="Arial"/>
              <a:buNone/>
            </a:pPr>
            <a:r>
              <a:rPr lang="en" sz="1620"/>
              <a:t>To summarize what we know about the relationship between personality and work behavior,</a:t>
            </a:r>
            <a:endParaRPr sz="1620"/>
          </a:p>
          <a:p>
            <a:pPr indent="0" lvl="0" marL="0" rtl="0" algn="l">
              <a:lnSpc>
                <a:spcPct val="100000"/>
              </a:lnSpc>
              <a:spcBef>
                <a:spcPts val="0"/>
              </a:spcBef>
              <a:spcAft>
                <a:spcPts val="0"/>
              </a:spcAft>
              <a:buSzPts val="990"/>
              <a:buNone/>
            </a:pPr>
            <a:r>
              <a:rPr lang="en" sz="1620"/>
              <a:t>we believe the following conclusions can be drawn with confidence:</a:t>
            </a:r>
            <a:endParaRPr sz="1620"/>
          </a:p>
        </p:txBody>
      </p:sp>
      <p:sp>
        <p:nvSpPr>
          <p:cNvPr id="250" name="Google Shape;250;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lnSpc>
                <a:spcPct val="115000"/>
              </a:lnSpc>
              <a:spcBef>
                <a:spcPts val="0"/>
              </a:spcBef>
              <a:spcAft>
                <a:spcPts val="0"/>
              </a:spcAft>
              <a:buSzPct val="159999"/>
              <a:buNone/>
            </a:pPr>
            <a:r>
              <a:rPr lang="en"/>
              <a:t>1. Personality differences play an important role in work behavior independent of the role played by cognitive ability (Mount &amp; Barrick, 1995; Murphy, 1996).</a:t>
            </a:r>
            <a:endParaRPr/>
          </a:p>
          <a:p>
            <a:pPr indent="0" lvl="0" marL="0" rtl="0" algn="l">
              <a:lnSpc>
                <a:spcPct val="115000"/>
              </a:lnSpc>
              <a:spcBef>
                <a:spcPts val="1200"/>
              </a:spcBef>
              <a:spcAft>
                <a:spcPts val="0"/>
              </a:spcAft>
              <a:buClr>
                <a:schemeClr val="dk1"/>
              </a:buClr>
              <a:buSzPct val="61110"/>
              <a:buFont typeface="Arial"/>
              <a:buNone/>
            </a:pPr>
            <a:r>
              <a:rPr lang="en"/>
              <a:t> 2. Personality is more closely related to motivational aspects of work (e.g., effort expenditure) than to technical aspects of work (e.g., knowledge components). Personality is more likely to predict what a person will do, and ability measures are more likely to predict what a person can do (Campbell, 1990a; Mount &amp; Barrick, 1995).</a:t>
            </a:r>
            <a:endParaRPr/>
          </a:p>
          <a:p>
            <a:pPr indent="0" lvl="0" marL="0" rtl="0" algn="l">
              <a:lnSpc>
                <a:spcPct val="115000"/>
              </a:lnSpc>
              <a:spcBef>
                <a:spcPts val="1200"/>
              </a:spcBef>
              <a:spcAft>
                <a:spcPts val="0"/>
              </a:spcAft>
              <a:buClr>
                <a:schemeClr val="dk1"/>
              </a:buClr>
              <a:buSzPct val="61110"/>
              <a:buFont typeface="Arial"/>
              <a:buNone/>
            </a:pPr>
            <a:r>
              <a:rPr lang="en"/>
              <a:t>3. The FFM is a good general framework for thinking about important aspects of personality (Digman, 1990; Guion, 1998; Lubinski, 2000). </a:t>
            </a:r>
            <a:endParaRPr/>
          </a:p>
          <a:p>
            <a:pPr indent="0" lvl="0" marL="0" rtl="0" algn="l">
              <a:lnSpc>
                <a:spcPct val="115000"/>
              </a:lnSpc>
              <a:spcBef>
                <a:spcPts val="1200"/>
              </a:spcBef>
              <a:spcAft>
                <a:spcPts val="0"/>
              </a:spcAft>
              <a:buClr>
                <a:schemeClr val="dk1"/>
              </a:buClr>
              <a:buSzPct val="61110"/>
              <a:buFont typeface="Arial"/>
              <a:buNone/>
            </a:pPr>
            <a:r>
              <a:rPr lang="en"/>
              <a:t>4. The more relevant and specific the work behavior we are trying to predict, the stronger the association between personality and behavior (Mount &amp; Barrick, 1995).</a:t>
            </a:r>
            <a:endParaRPr/>
          </a:p>
          <a:p>
            <a:pPr indent="0" lvl="0" marL="0" rtl="0" algn="l">
              <a:lnSpc>
                <a:spcPct val="115000"/>
              </a:lnSpc>
              <a:spcBef>
                <a:spcPts val="1200"/>
              </a:spcBef>
              <a:spcAft>
                <a:spcPts val="0"/>
              </a:spcAft>
              <a:buClr>
                <a:schemeClr val="dk1"/>
              </a:buClr>
              <a:buSzPct val="61110"/>
              <a:buFont typeface="Arial"/>
              <a:buNone/>
            </a:pPr>
            <a:r>
              <a:rPr lang="en"/>
              <a:t>5. Conscientiousness is best considered a combination of achievement and dependability. Achievement will predict some behaviors (e.g., effort) and dependability will predict other behaviors (e.g., attendance) (Hough, 1992; Moon, 2001; Mount &amp; Barrick, 1995; Stewart, 1999).</a:t>
            </a:r>
            <a:endParaRPr/>
          </a:p>
          <a:p>
            <a:pPr indent="0" lvl="0" marL="0" rtl="0" algn="l">
              <a:lnSpc>
                <a:spcPct val="115000"/>
              </a:lnSpc>
              <a:spcBef>
                <a:spcPts val="1200"/>
              </a:spcBef>
              <a:spcAft>
                <a:spcPts val="1200"/>
              </a:spcAft>
              <a:buSzPct val="159999"/>
              <a:buNone/>
            </a:pPr>
            <a:r>
              <a:rPr lang="en"/>
              <a:t>6. Conscientiousness (along with its constituent factors achievement and dependability) has widespread applicability in work settings. It is possibly the most important personality variable in the workplace, and it may be the equivalent of “g” in the noncognitive domain (Schmidt &amp; Hunter, 1992).</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6"/>
          <p:cNvSpPr txBox="1"/>
          <p:nvPr>
            <p:ph type="title"/>
          </p:nvPr>
        </p:nvSpPr>
        <p:spPr>
          <a:xfrm>
            <a:off x="311700" y="445025"/>
            <a:ext cx="8520600" cy="4749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Additional Attributes</a:t>
            </a:r>
            <a:endParaRPr/>
          </a:p>
        </p:txBody>
      </p:sp>
      <p:sp>
        <p:nvSpPr>
          <p:cNvPr id="256" name="Google Shape;256;p36"/>
          <p:cNvSpPr txBox="1"/>
          <p:nvPr>
            <p:ph idx="1" type="body"/>
          </p:nvPr>
        </p:nvSpPr>
        <p:spPr>
          <a:xfrm>
            <a:off x="311700" y="919925"/>
            <a:ext cx="8520600" cy="3836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n"/>
              <a:t>Skills </a:t>
            </a:r>
            <a:r>
              <a:rPr lang="en"/>
              <a:t>Practiced acts, such as shooting a basketball, using a computer keyboard, or persuading someone to buy something.</a:t>
            </a:r>
            <a:endParaRPr/>
          </a:p>
          <a:p>
            <a:pPr indent="-317500" lvl="1" marL="914400" rtl="0" algn="l">
              <a:lnSpc>
                <a:spcPct val="115000"/>
              </a:lnSpc>
              <a:spcBef>
                <a:spcPts val="0"/>
              </a:spcBef>
              <a:spcAft>
                <a:spcPts val="0"/>
              </a:spcAft>
              <a:buSzPts val="1400"/>
              <a:buChar char="○"/>
            </a:pPr>
            <a:r>
              <a:rPr b="1" lang="en"/>
              <a:t>People skills</a:t>
            </a:r>
            <a:r>
              <a:rPr lang="en"/>
              <a:t> or the other non technical skills widespread than technical skills are negotiating skills, communication skills and conflict resolution skill. </a:t>
            </a:r>
            <a:endParaRPr/>
          </a:p>
          <a:p>
            <a:pPr indent="-342900" lvl="0" marL="457200" rtl="0" algn="l">
              <a:lnSpc>
                <a:spcPct val="115000"/>
              </a:lnSpc>
              <a:spcBef>
                <a:spcPts val="0"/>
              </a:spcBef>
              <a:spcAft>
                <a:spcPts val="0"/>
              </a:spcAft>
              <a:buSzPts val="1800"/>
              <a:buChar char="●"/>
            </a:pPr>
            <a:r>
              <a:rPr b="1" lang="en"/>
              <a:t>Knowledge</a:t>
            </a:r>
            <a:r>
              <a:rPr lang="en"/>
              <a:t> can be defined as “a collection of discrete but related facts and information about a particular domain. It is acquired through formal education or training, or accumulated through specific experiences”. Knowledge supports skill development, and it comes in many varieties.</a:t>
            </a:r>
            <a:endParaRPr/>
          </a:p>
          <a:p>
            <a:pPr indent="-317500" lvl="1" marL="914400" rtl="0" algn="l">
              <a:lnSpc>
                <a:spcPct val="115000"/>
              </a:lnSpc>
              <a:spcBef>
                <a:spcPts val="0"/>
              </a:spcBef>
              <a:spcAft>
                <a:spcPts val="0"/>
              </a:spcAft>
              <a:buSzPts val="1400"/>
              <a:buChar char="○"/>
            </a:pPr>
            <a:r>
              <a:rPr b="1" lang="en"/>
              <a:t>Tacit knowledge </a:t>
            </a:r>
            <a:r>
              <a:rPr lang="en"/>
              <a:t>is action oriented, goal-directed knowledge, acquired without direct help from others; colloquially called street smarts.</a:t>
            </a:r>
            <a:endParaRPr/>
          </a:p>
          <a:p>
            <a:pPr indent="-317500" lvl="1" marL="914400" rtl="0" algn="l">
              <a:lnSpc>
                <a:spcPct val="115000"/>
              </a:lnSpc>
              <a:spcBef>
                <a:spcPts val="0"/>
              </a:spcBef>
              <a:spcAft>
                <a:spcPts val="0"/>
              </a:spcAft>
              <a:buSzPts val="1400"/>
              <a:buChar char="○"/>
            </a:pPr>
            <a:r>
              <a:rPr lang="en"/>
              <a:t>Procedural knowledge is the familiarity with a procedure or process; knowing “how.”</a:t>
            </a:r>
            <a:endParaRPr/>
          </a:p>
          <a:p>
            <a:pPr indent="-317500" lvl="1" marL="914400" rtl="0" algn="l">
              <a:lnSpc>
                <a:spcPct val="115000"/>
              </a:lnSpc>
              <a:spcBef>
                <a:spcPts val="0"/>
              </a:spcBef>
              <a:spcAft>
                <a:spcPts val="0"/>
              </a:spcAft>
              <a:buSzPts val="1400"/>
              <a:buChar char="○"/>
            </a:pPr>
            <a:r>
              <a:rPr lang="en"/>
              <a:t>Declarative knowledge is understanding what is required to perform a task; knowing information about a job or job task.</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7"/>
          <p:cNvSpPr txBox="1"/>
          <p:nvPr>
            <p:ph idx="1" type="body"/>
          </p:nvPr>
        </p:nvSpPr>
        <p:spPr>
          <a:xfrm>
            <a:off x="311700" y="491200"/>
            <a:ext cx="8520600" cy="3882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I-O psychologists talk about  combination of knowledge, skills, abilities and other personality characteristics in terms of </a:t>
            </a:r>
            <a:r>
              <a:rPr b="1" lang="en"/>
              <a:t>competencies</a:t>
            </a:r>
            <a:r>
              <a:rPr lang="en"/>
              <a:t>. </a:t>
            </a:r>
            <a:endParaRPr/>
          </a:p>
          <a:p>
            <a:pPr indent="-317500" lvl="1" marL="914400" rtl="0" algn="l">
              <a:lnSpc>
                <a:spcPct val="115000"/>
              </a:lnSpc>
              <a:spcBef>
                <a:spcPts val="0"/>
              </a:spcBef>
              <a:spcAft>
                <a:spcPts val="0"/>
              </a:spcAft>
              <a:buSzPts val="1400"/>
              <a:buChar char="○"/>
            </a:pPr>
            <a:r>
              <a:rPr lang="en"/>
              <a:t>Competency is defined as “sets of behaviors that are instrumental in the delivery of desired results or outcomes”. They are sets of behaviors, usually learned by experience, that are instrumental in the accomplishment of desired organizational results or outcomes.</a:t>
            </a:r>
            <a:endParaRPr/>
          </a:p>
          <a:p>
            <a:pPr indent="-317500" lvl="1" marL="914400" rtl="0" algn="l">
              <a:lnSpc>
                <a:spcPct val="115000"/>
              </a:lnSpc>
              <a:spcBef>
                <a:spcPts val="0"/>
              </a:spcBef>
              <a:spcAft>
                <a:spcPts val="0"/>
              </a:spcAft>
              <a:buSzPts val="1400"/>
              <a:buChar char="○"/>
            </a:pPr>
            <a:r>
              <a:rPr lang="en"/>
              <a:t>Abilities can be defined and measured in the abstract, as can personality characteristics. But competencies only have meaning in the context of organizational goals.</a:t>
            </a:r>
            <a:endParaRPr/>
          </a:p>
          <a:p>
            <a:pPr indent="-342900" lvl="0" marL="457200" rtl="0" algn="l">
              <a:lnSpc>
                <a:spcPct val="115000"/>
              </a:lnSpc>
              <a:spcBef>
                <a:spcPts val="0"/>
              </a:spcBef>
              <a:spcAft>
                <a:spcPts val="0"/>
              </a:spcAft>
              <a:buSzPts val="1800"/>
              <a:buChar char="●"/>
            </a:pPr>
            <a:r>
              <a:rPr b="1" lang="en"/>
              <a:t>Emotional intelligence (EI)</a:t>
            </a:r>
            <a:r>
              <a:rPr lang="en"/>
              <a:t> is a proposed kind of intelligence focused on people’s awareness of their own and others’ emotions.EI can be defined as “the ability to carry out accurate reasoning about emotions and the ability to use emotions and emotional knowledge to enhance thought”.</a:t>
            </a:r>
            <a:endParaRPr/>
          </a:p>
          <a:p>
            <a:pPr indent="-317500" lvl="1" marL="914400" rtl="0" algn="l">
              <a:lnSpc>
                <a:spcPct val="115000"/>
              </a:lnSpc>
              <a:spcBef>
                <a:spcPts val="0"/>
              </a:spcBef>
              <a:spcAft>
                <a:spcPts val="0"/>
              </a:spcAft>
              <a:buSzPts val="1400"/>
              <a:buChar char="○"/>
            </a:pPr>
            <a:r>
              <a:rPr lang="en"/>
              <a:t>Proposed by Howard Gardner through interpersonal and intrapersonal intelligence and popularized by Goleman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Job analysis and performance</a:t>
            </a:r>
            <a:endParaRPr/>
          </a:p>
        </p:txBody>
      </p:sp>
      <p:sp>
        <p:nvSpPr>
          <p:cNvPr id="267" name="Google Shape;267;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I-O psychologists have devoted a great deal of their research and practice to understanding and improving the performance of workers. All of us who have participated in a work group have observed differences in the performance of group members. Some perform at a very high level, whereas others perform less effectively:Research has shown that the ratio of the productivity of the highest performer to the lowest performer in jobs of low difficulty ranges from 2:1 to 4:1, while in jobs of high difficulty this ratio can be as much as 10:1</a:t>
            </a:r>
            <a:endParaRPr/>
          </a:p>
          <a:p>
            <a:pPr indent="0" lvl="0" marL="0" rtl="0" algn="l">
              <a:lnSpc>
                <a:spcPct val="115000"/>
              </a:lnSpc>
              <a:spcBef>
                <a:spcPts val="1200"/>
              </a:spcBef>
              <a:spcAft>
                <a:spcPts val="1200"/>
              </a:spcAft>
              <a:buSzPts val="1800"/>
              <a:buNone/>
            </a:pPr>
            <a:r>
              <a:rPr lang="en"/>
              <a:t>Attributes or the psychological variables help us in predicting the worker success or job performance.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Campbell’s model of Job performance</a:t>
            </a:r>
            <a:endParaRPr/>
          </a:p>
        </p:txBody>
      </p:sp>
      <p:sp>
        <p:nvSpPr>
          <p:cNvPr id="273" name="Google Shape;273;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rPr lang="en"/>
              <a:t>Following variables have been used as measures of performance by Campbell, et. al (1993)</a:t>
            </a:r>
            <a:endParaRPr/>
          </a:p>
          <a:p>
            <a:pPr indent="-334327" lvl="0" marL="457200" rtl="0" algn="l">
              <a:lnSpc>
                <a:spcPct val="115000"/>
              </a:lnSpc>
              <a:spcBef>
                <a:spcPts val="1200"/>
              </a:spcBef>
              <a:spcAft>
                <a:spcPts val="0"/>
              </a:spcAft>
              <a:buSzPct val="100000"/>
              <a:buChar char="●"/>
            </a:pPr>
            <a:r>
              <a:rPr b="1" lang="en"/>
              <a:t>Time to complete a training course</a:t>
            </a:r>
            <a:r>
              <a:rPr lang="en"/>
              <a:t> might be constrained by how much time the worker can be away from the workplace.</a:t>
            </a:r>
            <a:endParaRPr/>
          </a:p>
          <a:p>
            <a:pPr indent="-334327" lvl="0" marL="457200" rtl="0" algn="l">
              <a:lnSpc>
                <a:spcPct val="115000"/>
              </a:lnSpc>
              <a:spcBef>
                <a:spcPts val="0"/>
              </a:spcBef>
              <a:spcAft>
                <a:spcPts val="0"/>
              </a:spcAft>
              <a:buSzPct val="100000"/>
              <a:buChar char="●"/>
            </a:pPr>
            <a:r>
              <a:rPr b="1" lang="en"/>
              <a:t>Number of pieces produced</a:t>
            </a:r>
            <a:r>
              <a:rPr lang="en"/>
              <a:t> is affected by the technology and equipment used by that worker.</a:t>
            </a:r>
            <a:endParaRPr/>
          </a:p>
          <a:p>
            <a:pPr indent="-334327" lvl="0" marL="457200" rtl="0" algn="l">
              <a:lnSpc>
                <a:spcPct val="115000"/>
              </a:lnSpc>
              <a:spcBef>
                <a:spcPts val="0"/>
              </a:spcBef>
              <a:spcAft>
                <a:spcPts val="0"/>
              </a:spcAft>
              <a:buSzPct val="100000"/>
              <a:buChar char="●"/>
            </a:pPr>
            <a:r>
              <a:rPr b="1" lang="en"/>
              <a:t>Total days absent </a:t>
            </a:r>
            <a:r>
              <a:rPr lang="en"/>
              <a:t>does not distinguish between excused and unexcused absences, sick days, personal days, or vacation days.</a:t>
            </a:r>
            <a:endParaRPr/>
          </a:p>
          <a:p>
            <a:pPr indent="-334327" lvl="0" marL="457200" rtl="0" algn="l">
              <a:lnSpc>
                <a:spcPct val="115000"/>
              </a:lnSpc>
              <a:spcBef>
                <a:spcPts val="0"/>
              </a:spcBef>
              <a:spcAft>
                <a:spcPts val="0"/>
              </a:spcAft>
              <a:buSzPct val="100000"/>
              <a:buChar char="●"/>
            </a:pPr>
            <a:r>
              <a:rPr b="1" lang="en"/>
              <a:t>Total value of sales</a:t>
            </a:r>
            <a:r>
              <a:rPr lang="en"/>
              <a:t> will be affected by discounts, territory, competition, marketing promotions, or the value of the products the employee is assigned to sell.</a:t>
            </a:r>
            <a:endParaRPr/>
          </a:p>
          <a:p>
            <a:pPr indent="-334327" lvl="0" marL="457200" rtl="0" algn="l">
              <a:lnSpc>
                <a:spcPct val="115000"/>
              </a:lnSpc>
              <a:spcBef>
                <a:spcPts val="0"/>
              </a:spcBef>
              <a:spcAft>
                <a:spcPts val="0"/>
              </a:spcAft>
              <a:buSzPct val="100000"/>
              <a:buChar char="●"/>
            </a:pPr>
            <a:r>
              <a:rPr b="1" lang="en"/>
              <a:t>Promotion rate within an organization</a:t>
            </a:r>
            <a:r>
              <a:rPr lang="en"/>
              <a:t> will be affected by the turnover rate in that organization.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idx="1" type="body"/>
          </p:nvPr>
        </p:nvSpPr>
        <p:spPr>
          <a:xfrm>
            <a:off x="311700" y="519450"/>
            <a:ext cx="8520600" cy="4049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Some important terms related to job performance are:</a:t>
            </a:r>
            <a:endParaRPr/>
          </a:p>
          <a:p>
            <a:pPr indent="-342900" lvl="0" marL="457200" rtl="0" algn="l">
              <a:lnSpc>
                <a:spcPct val="115000"/>
              </a:lnSpc>
              <a:spcBef>
                <a:spcPts val="1200"/>
              </a:spcBef>
              <a:spcAft>
                <a:spcPts val="0"/>
              </a:spcAft>
              <a:buSzPts val="1800"/>
              <a:buChar char="●"/>
            </a:pPr>
            <a:r>
              <a:rPr lang="en"/>
              <a:t>Performance - actions or behaviors relevant to the organization’s goals; measured in terms of each individual’s proficiency.</a:t>
            </a:r>
            <a:endParaRPr/>
          </a:p>
          <a:p>
            <a:pPr indent="-342900" lvl="0" marL="457200" rtl="0" algn="l">
              <a:lnSpc>
                <a:spcPct val="115000"/>
              </a:lnSpc>
              <a:spcBef>
                <a:spcPts val="0"/>
              </a:spcBef>
              <a:spcAft>
                <a:spcPts val="0"/>
              </a:spcAft>
              <a:buSzPts val="1800"/>
              <a:buChar char="●"/>
            </a:pPr>
            <a:r>
              <a:rPr lang="en"/>
              <a:t>Effectiveness - evaluation of the results of performance; often controlled by factors beyond the actions of an individual.</a:t>
            </a:r>
            <a:endParaRPr/>
          </a:p>
          <a:p>
            <a:pPr indent="-342900" lvl="0" marL="457200" rtl="0" algn="l">
              <a:lnSpc>
                <a:spcPct val="115000"/>
              </a:lnSpc>
              <a:spcBef>
                <a:spcPts val="0"/>
              </a:spcBef>
              <a:spcAft>
                <a:spcPts val="0"/>
              </a:spcAft>
              <a:buSzPts val="1800"/>
              <a:buChar char="●"/>
            </a:pPr>
            <a:r>
              <a:rPr lang="en"/>
              <a:t>Productivity - ratio of effectiveness (output) to the cost of achieving that level of effectiveness (input).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Campbells’ determinants of Job performance </a:t>
            </a:r>
            <a:endParaRPr/>
          </a:p>
        </p:txBody>
      </p:sp>
      <p:pic>
        <p:nvPicPr>
          <p:cNvPr id="284" name="Google Shape;284;p41"/>
          <p:cNvPicPr preferRelativeResize="0"/>
          <p:nvPr/>
        </p:nvPicPr>
        <p:blipFill rotWithShape="1">
          <a:blip r:embed="rId3">
            <a:alphaModFix/>
          </a:blip>
          <a:srcRect b="0" l="0" r="0" t="0"/>
          <a:stretch/>
        </p:blipFill>
        <p:spPr>
          <a:xfrm>
            <a:off x="839925" y="1017725"/>
            <a:ext cx="7051276" cy="38749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2"/>
          <p:cNvSpPr txBox="1"/>
          <p:nvPr>
            <p:ph idx="1" type="body"/>
          </p:nvPr>
        </p:nvSpPr>
        <p:spPr>
          <a:xfrm>
            <a:off x="311700" y="359050"/>
            <a:ext cx="8520600" cy="44229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n"/>
              <a:t>Declarative knowledge </a:t>
            </a:r>
            <a:r>
              <a:rPr lang="en"/>
              <a:t>(DK) - Understanding what is required to perform a task; knowing information about a job or task.</a:t>
            </a:r>
            <a:endParaRPr/>
          </a:p>
          <a:p>
            <a:pPr indent="-342900" lvl="0" marL="457200" rtl="0" algn="l">
              <a:lnSpc>
                <a:spcPct val="115000"/>
              </a:lnSpc>
              <a:spcBef>
                <a:spcPts val="0"/>
              </a:spcBef>
              <a:spcAft>
                <a:spcPts val="0"/>
              </a:spcAft>
              <a:buSzPts val="1800"/>
              <a:buChar char="●"/>
            </a:pPr>
            <a:r>
              <a:rPr b="1" lang="en"/>
              <a:t>Procedural knowledge and skill</a:t>
            </a:r>
            <a:r>
              <a:rPr lang="en"/>
              <a:t> (PKS) - Knowing how to perform a job or task; often developed through practice and experience.</a:t>
            </a:r>
            <a:endParaRPr/>
          </a:p>
          <a:p>
            <a:pPr indent="-342900" lvl="0" marL="457200" rtl="0" algn="l">
              <a:lnSpc>
                <a:spcPct val="115000"/>
              </a:lnSpc>
              <a:spcBef>
                <a:spcPts val="0"/>
              </a:spcBef>
              <a:spcAft>
                <a:spcPts val="0"/>
              </a:spcAft>
              <a:buSzPts val="1800"/>
              <a:buChar char="●"/>
            </a:pPr>
            <a:r>
              <a:rPr b="1" lang="en"/>
              <a:t>Motivation </a:t>
            </a:r>
            <a:r>
              <a:rPr lang="en"/>
              <a:t>(M) - Concerns the conditions responsible for variations in intensity, persistence, quality, and direction of ongoing behavior.</a:t>
            </a:r>
            <a:endParaRPr/>
          </a:p>
          <a:p>
            <a:pPr indent="-342900" lvl="0" marL="457200" rtl="0" algn="l">
              <a:lnSpc>
                <a:spcPct val="115000"/>
              </a:lnSpc>
              <a:spcBef>
                <a:spcPts val="0"/>
              </a:spcBef>
              <a:spcAft>
                <a:spcPts val="0"/>
              </a:spcAft>
              <a:buSzPts val="1800"/>
              <a:buChar char="●"/>
            </a:pPr>
            <a:r>
              <a:rPr b="1" lang="en"/>
              <a:t>Determinants of performance -</a:t>
            </a:r>
            <a:r>
              <a:rPr lang="en"/>
              <a:t> Basic building blocks or causes of performance, which are declarative knowledge, procedural knowledge, and motivation.</a:t>
            </a:r>
            <a:endParaRPr/>
          </a:p>
          <a:p>
            <a:pPr indent="-342900" lvl="0" marL="457200" rtl="0" algn="l">
              <a:lnSpc>
                <a:spcPct val="115000"/>
              </a:lnSpc>
              <a:spcBef>
                <a:spcPts val="0"/>
              </a:spcBef>
              <a:spcAft>
                <a:spcPts val="0"/>
              </a:spcAft>
              <a:buSzPts val="1800"/>
              <a:buChar char="●"/>
            </a:pPr>
            <a:r>
              <a:rPr b="1" lang="en"/>
              <a:t>Performance components</a:t>
            </a:r>
            <a:r>
              <a:rPr lang="en"/>
              <a:t> - Components that may appear in different jobs and result from the determinants of performance; John Campbell and colleagues identified eight performance components, some or all of which can be found in every job.</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3"/>
          <p:cNvSpPr txBox="1"/>
          <p:nvPr>
            <p:ph idx="1" type="body"/>
          </p:nvPr>
        </p:nvSpPr>
        <p:spPr>
          <a:xfrm>
            <a:off x="311700" y="307000"/>
            <a:ext cx="8520600" cy="4506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a:t>Based on extensive research with army enlisted personnel, Campbell developed a hierarchical model of job performance (Campbell, 1990a; Campbell, McHenry, &amp; Wise, 1990). He postulated three direct determinants of job performance: </a:t>
            </a:r>
            <a:r>
              <a:rPr b="1" lang="en"/>
              <a:t>declarative knowledge (DK), procedural knowledge and skill (PKS), and motivation (M)</a:t>
            </a:r>
            <a:r>
              <a:rPr lang="en"/>
              <a:t>. By determinants, he means the basic building blocks or causes of performance.</a:t>
            </a:r>
            <a:endParaRPr/>
          </a:p>
          <a:p>
            <a:pPr indent="-342900" lvl="0" marL="457200" rtl="0" algn="l">
              <a:lnSpc>
                <a:spcPct val="115000"/>
              </a:lnSpc>
              <a:spcBef>
                <a:spcPts val="0"/>
              </a:spcBef>
              <a:spcAft>
                <a:spcPts val="0"/>
              </a:spcAft>
              <a:buSzPts val="1800"/>
              <a:buChar char="●"/>
            </a:pPr>
            <a:r>
              <a:rPr lang="en"/>
              <a:t>Campbell’s model also proposes that many variables (ability, personality, interest, training and experience, motivators) have an indirect effect on performance.These variables can affect performance only by changing the level of DK, PKS, or M. For example, increased training or experience will affect performance by increasing DK or PKS; incentives for performance will affect performance by increasing M.</a:t>
            </a:r>
            <a:endParaRPr/>
          </a:p>
          <a:p>
            <a:pPr indent="-342900" lvl="0" marL="457200" rtl="0" algn="l">
              <a:lnSpc>
                <a:spcPct val="115000"/>
              </a:lnSpc>
              <a:spcBef>
                <a:spcPts val="0"/>
              </a:spcBef>
              <a:spcAft>
                <a:spcPts val="0"/>
              </a:spcAft>
              <a:buSzPts val="1800"/>
              <a:buChar char="●"/>
            </a:pPr>
            <a:r>
              <a:rPr lang="en"/>
              <a:t>There is one other important aspect to Campbell’s model: actual performance components. DK, PKS, and M are determinants of performance, but they are not behaviors.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4"/>
          <p:cNvSpPr txBox="1"/>
          <p:nvPr>
            <p:ph idx="1" type="body"/>
          </p:nvPr>
        </p:nvSpPr>
        <p:spPr>
          <a:xfrm>
            <a:off x="311700" y="290275"/>
            <a:ext cx="8520600" cy="44688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SzPts val="1800"/>
              <a:buChar char="●"/>
            </a:pPr>
            <a:r>
              <a:rPr lang="en"/>
              <a:t>Campbell’s research identified eight basic performance components, some or all of which can be found in every job. When we combine the eight performance components with the three direct determinants of performance and the various indirect determinants of performance, we get an expanded model  Although the model specifies eight distinct performance components, not all components will appear in all jobs. Nevertheless, the model allows performance in any job to be broken into all or some subsets of these components. </a:t>
            </a:r>
            <a:endParaRPr/>
          </a:p>
          <a:p>
            <a:pPr indent="-342900" lvl="0" marL="457200" rtl="0" algn="l">
              <a:lnSpc>
                <a:spcPct val="115000"/>
              </a:lnSpc>
              <a:spcBef>
                <a:spcPts val="0"/>
              </a:spcBef>
              <a:spcAft>
                <a:spcPts val="0"/>
              </a:spcAft>
              <a:buSzPts val="1800"/>
              <a:buChar char="●"/>
            </a:pPr>
            <a:r>
              <a:rPr lang="en"/>
              <a:t>Campbell asserted that three of the performance components—core task proficiency, demonstrating effort, and maintaining personal discipline—are essential at some level for every job. </a:t>
            </a:r>
            <a:endParaRPr/>
          </a:p>
          <a:p>
            <a:pPr indent="-342900" lvl="0" marL="457200" rtl="0" algn="l">
              <a:lnSpc>
                <a:spcPct val="115000"/>
              </a:lnSpc>
              <a:spcBef>
                <a:spcPts val="0"/>
              </a:spcBef>
              <a:spcAft>
                <a:spcPts val="0"/>
              </a:spcAft>
              <a:buSzPts val="1800"/>
              <a:buChar char="●"/>
            </a:pPr>
            <a:r>
              <a:rPr lang="en"/>
              <a:t>Campbell’s expanded model occupies a valuable middle ground between a view of performance as some unitary entity or a single broad factor—a view that contradicts what we can observe at work every day—and an equally ineffectual view that says every job is different and there can be no general understanding of job performance beyond the particular job being considered.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id="304" name="Google Shape;304;p45"/>
          <p:cNvPicPr preferRelativeResize="0"/>
          <p:nvPr/>
        </p:nvPicPr>
        <p:blipFill rotWithShape="1">
          <a:blip r:embed="rId3">
            <a:alphaModFix/>
          </a:blip>
          <a:srcRect b="0" l="0" r="0" t="0"/>
          <a:stretch/>
        </p:blipFill>
        <p:spPr>
          <a:xfrm>
            <a:off x="152400" y="152400"/>
            <a:ext cx="8826500" cy="49911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Campbell’s extended model</a:t>
            </a:r>
            <a:endParaRPr/>
          </a:p>
        </p:txBody>
      </p:sp>
      <p:pic>
        <p:nvPicPr>
          <p:cNvPr id="310" name="Google Shape;310;p46"/>
          <p:cNvPicPr preferRelativeResize="0"/>
          <p:nvPr/>
        </p:nvPicPr>
        <p:blipFill rotWithShape="1">
          <a:blip r:embed="rId3">
            <a:alphaModFix/>
          </a:blip>
          <a:srcRect b="0" l="0" r="0" t="0"/>
          <a:stretch/>
        </p:blipFill>
        <p:spPr>
          <a:xfrm>
            <a:off x="449975" y="1141775"/>
            <a:ext cx="7956800" cy="32035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Maximum &amp; Typical performance</a:t>
            </a:r>
            <a:endParaRPr/>
          </a:p>
        </p:txBody>
      </p:sp>
      <p:sp>
        <p:nvSpPr>
          <p:cNvPr id="316" name="Google Shape;316;p4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a:bodyPr>
          <a:lstStyle/>
          <a:p>
            <a:pPr indent="-334327" lvl="0" marL="457200" rtl="0" algn="l">
              <a:lnSpc>
                <a:spcPct val="115000"/>
              </a:lnSpc>
              <a:spcBef>
                <a:spcPts val="0"/>
              </a:spcBef>
              <a:spcAft>
                <a:spcPts val="0"/>
              </a:spcAft>
              <a:buSzPct val="100000"/>
              <a:buChar char="●"/>
            </a:pPr>
            <a:r>
              <a:rPr b="1" lang="en"/>
              <a:t>Typical performance</a:t>
            </a:r>
            <a:r>
              <a:rPr lang="en"/>
              <a:t> might be characterized by a worker putting in 70 percent effort for eight hours; </a:t>
            </a:r>
            <a:r>
              <a:rPr b="1" lang="en"/>
              <a:t>maximum performance</a:t>
            </a:r>
            <a:r>
              <a:rPr lang="en"/>
              <a:t>, in contrast, might be that same worker putting in 100 percent effort for four (or even eight!) hours. </a:t>
            </a:r>
            <a:endParaRPr/>
          </a:p>
          <a:p>
            <a:pPr indent="-334327" lvl="0" marL="457200" rtl="0" algn="l">
              <a:lnSpc>
                <a:spcPct val="115000"/>
              </a:lnSpc>
              <a:spcBef>
                <a:spcPts val="0"/>
              </a:spcBef>
              <a:spcAft>
                <a:spcPts val="0"/>
              </a:spcAft>
              <a:buSzPct val="100000"/>
              <a:buChar char="●"/>
            </a:pPr>
            <a:r>
              <a:rPr lang="en"/>
              <a:t>The implication is that these are somehow different types of performance. Maximum performance can be thought of as the very best a person can do—exerting 100 percent effort, leaving nothing in reserve. Typical performance is everything else.</a:t>
            </a:r>
            <a:endParaRPr/>
          </a:p>
          <a:p>
            <a:pPr indent="-334327" lvl="0" marL="457200" rtl="0" algn="l">
              <a:lnSpc>
                <a:spcPct val="115000"/>
              </a:lnSpc>
              <a:spcBef>
                <a:spcPts val="0"/>
              </a:spcBef>
              <a:spcAft>
                <a:spcPts val="0"/>
              </a:spcAft>
              <a:buSzPct val="100000"/>
              <a:buChar char="●"/>
            </a:pPr>
            <a:r>
              <a:rPr lang="en"/>
              <a:t>Furthermore, it is not clear how long a worker can demonstrate maximum performance.</a:t>
            </a:r>
            <a:endParaRPr/>
          </a:p>
          <a:p>
            <a:pPr indent="-334327" lvl="0" marL="457200" rtl="0" algn="l">
              <a:lnSpc>
                <a:spcPct val="115000"/>
              </a:lnSpc>
              <a:spcBef>
                <a:spcPts val="0"/>
              </a:spcBef>
              <a:spcAft>
                <a:spcPts val="0"/>
              </a:spcAft>
              <a:buSzPct val="100000"/>
              <a:buChar char="●"/>
            </a:pPr>
            <a:r>
              <a:rPr lang="en"/>
              <a:t>When first introduced as a concept by Sackett and colleagues (1988), maximum performance was thought to be controlled largely by abilities (e.g., intelligence) and typical performance by a combination of ability and motivation.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id="321" name="Google Shape;321;p48"/>
          <p:cNvPicPr preferRelativeResize="0"/>
          <p:nvPr/>
        </p:nvPicPr>
        <p:blipFill rotWithShape="1">
          <a:blip r:embed="rId3">
            <a:alphaModFix/>
          </a:blip>
          <a:srcRect b="0" l="0" r="0" t="0"/>
          <a:stretch/>
        </p:blipFill>
        <p:spPr>
          <a:xfrm>
            <a:off x="531213" y="250325"/>
            <a:ext cx="8081575" cy="45095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Criterion Deficiency and Contamination</a:t>
            </a:r>
            <a:endParaRPr/>
          </a:p>
        </p:txBody>
      </p:sp>
      <p:sp>
        <p:nvSpPr>
          <p:cNvPr id="327" name="Google Shape;327;p4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1" lang="en"/>
              <a:t>Criterion deficiency </a:t>
            </a:r>
            <a:r>
              <a:rPr lang="en"/>
              <a:t>is a situation that occurs when an actual criterion is missing information that is part of the behavior one is trying to measure. </a:t>
            </a:r>
            <a:endParaRPr/>
          </a:p>
          <a:p>
            <a:pPr indent="-342900" lvl="0" marL="457200" rtl="0" algn="l">
              <a:lnSpc>
                <a:spcPct val="115000"/>
              </a:lnSpc>
              <a:spcBef>
                <a:spcPts val="0"/>
              </a:spcBef>
              <a:spcAft>
                <a:spcPts val="0"/>
              </a:spcAft>
              <a:buSzPts val="1800"/>
              <a:buChar char="●"/>
            </a:pPr>
            <a:r>
              <a:rPr b="1" lang="en"/>
              <a:t>Criterion contamination</a:t>
            </a:r>
            <a:r>
              <a:rPr lang="en"/>
              <a:t> is a situation that occurs when an actual criterion includes information unrelated to the behavior one is trying to measure.</a:t>
            </a:r>
            <a:endParaRPr/>
          </a:p>
          <a:p>
            <a:pPr indent="-342900" lvl="0" marL="457200" rtl="0" algn="l">
              <a:lnSpc>
                <a:spcPct val="115000"/>
              </a:lnSpc>
              <a:spcBef>
                <a:spcPts val="0"/>
              </a:spcBef>
              <a:spcAft>
                <a:spcPts val="0"/>
              </a:spcAft>
              <a:buSzPts val="1800"/>
              <a:buChar char="●"/>
            </a:pPr>
            <a:r>
              <a:rPr lang="en"/>
              <a:t>A collective measure of all relevant aspects of job performance would be called the </a:t>
            </a:r>
            <a:r>
              <a:rPr b="1" lang="en"/>
              <a:t>ultimate criterion</a:t>
            </a:r>
            <a:r>
              <a:rPr lang="en"/>
              <a:t>, but since we can never reliably measure all aspects of performance, we settle for an </a:t>
            </a:r>
            <a:r>
              <a:rPr b="1" lang="en"/>
              <a:t>actual criterion.</a:t>
            </a:r>
            <a:endParaRPr b="1"/>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0"/>
          <p:cNvSpPr txBox="1"/>
          <p:nvPr>
            <p:ph idx="1" type="body"/>
          </p:nvPr>
        </p:nvSpPr>
        <p:spPr>
          <a:xfrm>
            <a:off x="311700" y="448700"/>
            <a:ext cx="8520600" cy="42366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a:t>Campbell’s model of performance, by focusing on worker behaviors and the extent to which the worker has complete control over outcomes, protects against criterion contamination.</a:t>
            </a:r>
            <a:endParaRPr/>
          </a:p>
          <a:p>
            <a:pPr indent="-342900" lvl="0" marL="457200" rtl="0" algn="l">
              <a:lnSpc>
                <a:spcPct val="115000"/>
              </a:lnSpc>
              <a:spcBef>
                <a:spcPts val="0"/>
              </a:spcBef>
              <a:spcAft>
                <a:spcPts val="0"/>
              </a:spcAft>
              <a:buSzPts val="1800"/>
              <a:buChar char="●"/>
            </a:pPr>
            <a:r>
              <a:rPr lang="en"/>
              <a:t>By providing eight of the most important and unique aspects of performance in most jobs, it also protects against criterion deficiency. </a:t>
            </a:r>
            <a:endParaRPr/>
          </a:p>
          <a:p>
            <a:pPr indent="-342900" lvl="0" marL="457200" rtl="0" algn="l">
              <a:lnSpc>
                <a:spcPct val="115000"/>
              </a:lnSpc>
              <a:spcBef>
                <a:spcPts val="0"/>
              </a:spcBef>
              <a:spcAft>
                <a:spcPts val="0"/>
              </a:spcAft>
              <a:buSzPts val="1800"/>
              <a:buChar char="●"/>
            </a:pPr>
            <a:r>
              <a:rPr lang="en"/>
              <a:t>It is important to keep in mind that probably not a single job has only one behavior that defines successful performance. Just as the predictor side of the basic work prediction equation is complex—requiring a consideration of many different combinations of human attributes such as intelligence, personality, and motivation—so is the criterion side, requiring a consideration of many different aspects of performance.</a:t>
            </a:r>
            <a:endParaRPr/>
          </a:p>
          <a:p>
            <a:pPr indent="-342900" lvl="0" marL="457200" rtl="0" algn="l">
              <a:lnSpc>
                <a:spcPct val="115000"/>
              </a:lnSpc>
              <a:spcBef>
                <a:spcPts val="0"/>
              </a:spcBef>
              <a:spcAft>
                <a:spcPts val="0"/>
              </a:spcAft>
              <a:buSzPts val="1800"/>
              <a:buChar char="●"/>
            </a:pPr>
            <a:r>
              <a:rPr lang="en"/>
              <a:t>Workers call on many attributes to perform their jobs, and each of these human attributes (predictors) is associated with certain aspects of performance.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sz="2300"/>
              <a:t>Task Performance versus Organizational Citizenship Behavior</a:t>
            </a:r>
            <a:endParaRPr sz="2300"/>
          </a:p>
        </p:txBody>
      </p:sp>
      <p:sp>
        <p:nvSpPr>
          <p:cNvPr id="338" name="Google Shape;338;p51"/>
          <p:cNvSpPr txBox="1"/>
          <p:nvPr>
            <p:ph idx="1" type="body"/>
          </p:nvPr>
        </p:nvSpPr>
        <p:spPr>
          <a:xfrm>
            <a:off x="311700" y="1017725"/>
            <a:ext cx="8520600" cy="3738600"/>
          </a:xfrm>
          <a:prstGeom prst="rect">
            <a:avLst/>
          </a:prstGeom>
          <a:noFill/>
          <a:ln>
            <a:noFill/>
          </a:ln>
        </p:spPr>
        <p:txBody>
          <a:bodyPr anchorCtr="0" anchor="t" bIns="91425" lIns="91425" spcFirstLastPara="1" rIns="91425" wrap="square" tIns="91425">
            <a:normAutofit fontScale="92500"/>
          </a:bodyPr>
          <a:lstStyle/>
          <a:p>
            <a:pPr indent="-334327" lvl="0" marL="457200" rtl="0" algn="l">
              <a:lnSpc>
                <a:spcPct val="115000"/>
              </a:lnSpc>
              <a:spcBef>
                <a:spcPts val="0"/>
              </a:spcBef>
              <a:spcAft>
                <a:spcPts val="0"/>
              </a:spcAft>
              <a:buSzPct val="100000"/>
              <a:buChar char="●"/>
            </a:pPr>
            <a:r>
              <a:rPr lang="en"/>
              <a:t>When performance is discussed, it is usually in the context of one or more tasks that define a job. These tasks can be found in job descriptions, training materials, and so forth. But there is more to work life than just assigned tasks. </a:t>
            </a:r>
            <a:endParaRPr/>
          </a:p>
          <a:p>
            <a:pPr indent="-334327" lvl="0" marL="457200" rtl="0" algn="l">
              <a:lnSpc>
                <a:spcPct val="115000"/>
              </a:lnSpc>
              <a:spcBef>
                <a:spcPts val="0"/>
              </a:spcBef>
              <a:spcAft>
                <a:spcPts val="0"/>
              </a:spcAft>
              <a:buSzPct val="100000"/>
              <a:buChar char="●"/>
            </a:pPr>
            <a:r>
              <a:rPr lang="en"/>
              <a:t>But, when it comes to job performance, there are two kinds of workers. The first do exactly what they are assigned and no more. They avoid putting themselves out for co-workers or expending any extra effort on behalf of the organization. </a:t>
            </a:r>
            <a:endParaRPr/>
          </a:p>
          <a:p>
            <a:pPr indent="-334327" lvl="0" marL="457200" rtl="0" algn="l">
              <a:lnSpc>
                <a:spcPct val="115000"/>
              </a:lnSpc>
              <a:spcBef>
                <a:spcPts val="0"/>
              </a:spcBef>
              <a:spcAft>
                <a:spcPts val="0"/>
              </a:spcAft>
              <a:buSzPct val="100000"/>
              <a:buChar char="●"/>
            </a:pPr>
            <a:r>
              <a:rPr lang="en"/>
              <a:t>The second type of worker is the exact opposite. These workers go out of their way to make life easier for their co-workers and supervisor, with the result that they are often described as “exceeding expectations.” The term “expectations” is the key.</a:t>
            </a:r>
            <a:endParaRPr/>
          </a:p>
          <a:p>
            <a:pPr indent="-334327" lvl="0" marL="457200" rtl="0" algn="l">
              <a:lnSpc>
                <a:spcPct val="115000"/>
              </a:lnSpc>
              <a:spcBef>
                <a:spcPts val="0"/>
              </a:spcBef>
              <a:spcAft>
                <a:spcPts val="0"/>
              </a:spcAft>
              <a:buSzPct val="100000"/>
              <a:buChar char="●"/>
            </a:pPr>
            <a:r>
              <a:rPr lang="en"/>
              <a:t>Organ and his colleagues (Smith, Organ, &amp; Near, 1983) labeled this type of behavior—going beyond what is expected—organizational citizenship behavior (OCB) and developed questionnaires to assess that behavior in workers.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body"/>
          </p:nvPr>
        </p:nvSpPr>
        <p:spPr>
          <a:xfrm>
            <a:off x="311700" y="363675"/>
            <a:ext cx="8520600" cy="44634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SzPts val="1800"/>
              <a:buChar char="●"/>
            </a:pPr>
            <a:r>
              <a:rPr lang="en"/>
              <a:t>The questionnaires seem to assess two separate aspects of OCB, </a:t>
            </a:r>
            <a:r>
              <a:rPr b="1" lang="en"/>
              <a:t>altruism</a:t>
            </a:r>
            <a:r>
              <a:rPr lang="en"/>
              <a:t>—helpful behaviors directed toward individuals or groups within the organization, such as offering to help a co-worker who is up against a deadline—and </a:t>
            </a:r>
            <a:r>
              <a:rPr b="1" lang="en"/>
              <a:t>generalized compliance</a:t>
            </a:r>
            <a:r>
              <a:rPr lang="en"/>
              <a:t>—behavior that is helpful to the broader organization, such as upholding company rules (Organ &amp; Ryan, 1995).</a:t>
            </a:r>
            <a:endParaRPr/>
          </a:p>
          <a:p>
            <a:pPr indent="-342900" lvl="0" marL="457200" rtl="0" algn="l">
              <a:lnSpc>
                <a:spcPct val="115000"/>
              </a:lnSpc>
              <a:spcBef>
                <a:spcPts val="0"/>
              </a:spcBef>
              <a:spcAft>
                <a:spcPts val="0"/>
              </a:spcAft>
              <a:buSzPts val="1800"/>
              <a:buChar char="●"/>
            </a:pPr>
            <a:r>
              <a:rPr lang="en"/>
              <a:t>It appears that </a:t>
            </a:r>
            <a:r>
              <a:rPr b="1" lang="en"/>
              <a:t>OCB</a:t>
            </a:r>
            <a:r>
              <a:rPr lang="en"/>
              <a:t> is closely associated with the fact that work is a joint rather than an individual effort, considered more important when work tasks required collaboration among workers or within work teams. and a social phenomenon. </a:t>
            </a:r>
            <a:endParaRPr/>
          </a:p>
          <a:p>
            <a:pPr indent="-342900" lvl="0" marL="457200" rtl="0" algn="l">
              <a:lnSpc>
                <a:spcPct val="115000"/>
              </a:lnSpc>
              <a:spcBef>
                <a:spcPts val="0"/>
              </a:spcBef>
              <a:spcAft>
                <a:spcPts val="0"/>
              </a:spcAft>
              <a:buSzPts val="1800"/>
              <a:buChar char="●"/>
            </a:pPr>
            <a:r>
              <a:rPr b="1" lang="en"/>
              <a:t>Task performance</a:t>
            </a:r>
            <a:r>
              <a:rPr lang="en"/>
              <a:t> is defined as “the proficiency with which job incumbents perform activities that are formally recognized as a part of their job”</a:t>
            </a:r>
            <a:endParaRPr/>
          </a:p>
          <a:p>
            <a:pPr indent="-342900" lvl="0" marL="457200" rtl="0" algn="l">
              <a:lnSpc>
                <a:spcPct val="115000"/>
              </a:lnSpc>
              <a:spcBef>
                <a:spcPts val="0"/>
              </a:spcBef>
              <a:spcAft>
                <a:spcPts val="0"/>
              </a:spcAft>
              <a:buSzPts val="1800"/>
              <a:buChar char="●"/>
            </a:pPr>
            <a:r>
              <a:rPr b="1" lang="en"/>
              <a:t>OCB</a:t>
            </a:r>
            <a:r>
              <a:rPr lang="en"/>
              <a:t> is more informal and is defined as “behaviors that go beyond task performance and technical proficiency, instead supporting the organizational, social, and psychological context that serves as the critical catalyst for tasks to be accomplished”</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body"/>
          </p:nvPr>
        </p:nvSpPr>
        <p:spPr>
          <a:xfrm>
            <a:off x="311700" y="363675"/>
            <a:ext cx="8520600" cy="4205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The emergence of measures of personality and emotional intelligence are considered as the new “favorite” predictor variables and OCB is the new “favorite” measure of performance to be studied by I-O psychologists.</a:t>
            </a:r>
            <a:endParaRPr/>
          </a:p>
          <a:p>
            <a:pPr indent="-342900" lvl="0" marL="457200" rtl="0" algn="l">
              <a:lnSpc>
                <a:spcPct val="115000"/>
              </a:lnSpc>
              <a:spcBef>
                <a:spcPts val="0"/>
              </a:spcBef>
              <a:spcAft>
                <a:spcPts val="0"/>
              </a:spcAft>
              <a:buSzPts val="1800"/>
              <a:buChar char="●"/>
            </a:pPr>
            <a:r>
              <a:rPr lang="en"/>
              <a:t>Matrix with OCB Dimensions and Campbell’s Performance Components is given below.</a:t>
            </a:r>
            <a:endParaRPr/>
          </a:p>
          <a:p>
            <a:pPr indent="0" lvl="0" marL="0" rtl="0" algn="l">
              <a:lnSpc>
                <a:spcPct val="115000"/>
              </a:lnSpc>
              <a:spcBef>
                <a:spcPts val="1200"/>
              </a:spcBef>
              <a:spcAft>
                <a:spcPts val="1200"/>
              </a:spcAft>
              <a:buSzPts val="1800"/>
              <a:buNone/>
            </a:pPr>
            <a:r>
              <a:t/>
            </a:r>
            <a:endParaRPr/>
          </a:p>
        </p:txBody>
      </p:sp>
      <p:pic>
        <p:nvPicPr>
          <p:cNvPr id="349" name="Google Shape;349;p53"/>
          <p:cNvPicPr preferRelativeResize="0"/>
          <p:nvPr/>
        </p:nvPicPr>
        <p:blipFill rotWithShape="1">
          <a:blip r:embed="rId3">
            <a:alphaModFix/>
          </a:blip>
          <a:srcRect b="0" l="0" r="0" t="0"/>
          <a:stretch/>
        </p:blipFill>
        <p:spPr>
          <a:xfrm>
            <a:off x="883225" y="2071325"/>
            <a:ext cx="7183900" cy="2845476"/>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4"/>
          <p:cNvSpPr txBox="1"/>
          <p:nvPr>
            <p:ph idx="1" type="body"/>
          </p:nvPr>
        </p:nvSpPr>
        <p:spPr>
          <a:xfrm>
            <a:off x="311700" y="186600"/>
            <a:ext cx="8520600" cy="4770300"/>
          </a:xfrm>
          <a:prstGeom prst="rect">
            <a:avLst/>
          </a:prstGeom>
          <a:noFill/>
          <a:ln>
            <a:noFill/>
          </a:ln>
        </p:spPr>
        <p:txBody>
          <a:bodyPr anchorCtr="0" anchor="t" bIns="91425" lIns="91425" spcFirstLastPara="1" rIns="91425" wrap="square" tIns="91425">
            <a:normAutofit fontScale="92500" lnSpcReduction="10000"/>
          </a:bodyPr>
          <a:lstStyle/>
          <a:p>
            <a:pPr indent="-334327" lvl="0" marL="457200" rtl="0" algn="l">
              <a:lnSpc>
                <a:spcPct val="115000"/>
              </a:lnSpc>
              <a:spcBef>
                <a:spcPts val="0"/>
              </a:spcBef>
              <a:spcAft>
                <a:spcPts val="0"/>
              </a:spcAft>
              <a:buSzPct val="100000"/>
              <a:buChar char="●"/>
            </a:pPr>
            <a:r>
              <a:rPr lang="en"/>
              <a:t>Leveraging organizational goals through human attributes that lead to high levels of worker performance. But, there are constraints to this leveraging process, and they can be collected under the heading </a:t>
            </a:r>
            <a:r>
              <a:rPr b="1" lang="en"/>
              <a:t>counterproductive work behavior </a:t>
            </a:r>
            <a:r>
              <a:rPr lang="en"/>
              <a:t>(CWB).</a:t>
            </a:r>
            <a:endParaRPr/>
          </a:p>
          <a:p>
            <a:pPr indent="-334327" lvl="0" marL="457200" rtl="0" algn="l">
              <a:lnSpc>
                <a:spcPct val="115000"/>
              </a:lnSpc>
              <a:spcBef>
                <a:spcPts val="0"/>
              </a:spcBef>
              <a:spcAft>
                <a:spcPts val="0"/>
              </a:spcAft>
              <a:buSzPct val="100000"/>
              <a:buChar char="●"/>
            </a:pPr>
            <a:r>
              <a:rPr lang="en"/>
              <a:t>Counterproductive behavior is defined as “voluntary behavior that violates significant organizational norms and in so doing, threatens the well-being of the organization, its members, or both”.</a:t>
            </a:r>
            <a:endParaRPr/>
          </a:p>
          <a:p>
            <a:pPr indent="-334327" lvl="0" marL="457200" rtl="0" algn="l">
              <a:lnSpc>
                <a:spcPct val="115000"/>
              </a:lnSpc>
              <a:spcBef>
                <a:spcPts val="0"/>
              </a:spcBef>
              <a:spcAft>
                <a:spcPts val="0"/>
              </a:spcAft>
              <a:buSzPct val="100000"/>
              <a:buChar char="●"/>
            </a:pPr>
            <a:r>
              <a:rPr lang="en"/>
              <a:t>Three common counterproductive behaviors are dishonesty, absenteeism, and sabotage.</a:t>
            </a:r>
            <a:endParaRPr/>
          </a:p>
          <a:p>
            <a:pPr indent="-334327" lvl="0" marL="457200" rtl="0" algn="l">
              <a:lnSpc>
                <a:spcPct val="115000"/>
              </a:lnSpc>
              <a:spcBef>
                <a:spcPts val="0"/>
              </a:spcBef>
              <a:spcAft>
                <a:spcPts val="0"/>
              </a:spcAft>
              <a:buSzPct val="100000"/>
              <a:buChar char="●"/>
            </a:pPr>
            <a:r>
              <a:rPr b="1" lang="en"/>
              <a:t>Dishonesty </a:t>
            </a:r>
            <a:r>
              <a:rPr lang="en"/>
              <a:t>- Employee theft  of goods and theft of time (arriving late, leaving early, taking unnecessary sick days) or dishonest communications with customers, co-workers, or management.</a:t>
            </a:r>
            <a:endParaRPr/>
          </a:p>
          <a:p>
            <a:pPr indent="-334327" lvl="0" marL="457200" rtl="0" algn="l">
              <a:lnSpc>
                <a:spcPct val="115000"/>
              </a:lnSpc>
              <a:spcBef>
                <a:spcPts val="0"/>
              </a:spcBef>
              <a:spcAft>
                <a:spcPts val="0"/>
              </a:spcAft>
              <a:buSzPct val="100000"/>
              <a:buChar char="●"/>
            </a:pPr>
            <a:r>
              <a:rPr b="1" lang="en"/>
              <a:t>Absenteeism</a:t>
            </a:r>
            <a:r>
              <a:rPr lang="en"/>
              <a:t> - Type of counterproductive behavior that involves failure of an employee to report for or remain at work as scheduled.</a:t>
            </a:r>
            <a:endParaRPr/>
          </a:p>
          <a:p>
            <a:pPr indent="-334327" lvl="0" marL="457200" rtl="0" algn="l">
              <a:lnSpc>
                <a:spcPct val="115000"/>
              </a:lnSpc>
              <a:spcBef>
                <a:spcPts val="0"/>
              </a:spcBef>
              <a:spcAft>
                <a:spcPts val="0"/>
              </a:spcAft>
              <a:buSzPct val="100000"/>
              <a:buChar char="●"/>
            </a:pPr>
            <a:r>
              <a:rPr b="1" lang="en"/>
              <a:t>Sabotage </a:t>
            </a:r>
            <a:r>
              <a:rPr lang="en"/>
              <a:t>- Acts that damage, disrupt, or subvert the organization’s operations for personal purposes of the saboteur by creating unfavorable publicity, damage to property, destruction of working relationships, or harming of employees or customers.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p55"/>
          <p:cNvPicPr preferRelativeResize="0"/>
          <p:nvPr/>
        </p:nvPicPr>
        <p:blipFill rotWithShape="1">
          <a:blip r:embed="rId3">
            <a:alphaModFix/>
          </a:blip>
          <a:srcRect b="0" l="0" r="0" t="0"/>
          <a:stretch/>
        </p:blipFill>
        <p:spPr>
          <a:xfrm>
            <a:off x="152400" y="349500"/>
            <a:ext cx="8535474" cy="46211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6"/>
          <p:cNvSpPr txBox="1"/>
          <p:nvPr>
            <p:ph type="title"/>
          </p:nvPr>
        </p:nvSpPr>
        <p:spPr>
          <a:xfrm>
            <a:off x="311700" y="2324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Adaptive performance</a:t>
            </a:r>
            <a:endParaRPr/>
          </a:p>
        </p:txBody>
      </p:sp>
      <p:sp>
        <p:nvSpPr>
          <p:cNvPr id="365" name="Google Shape;365;p56"/>
          <p:cNvSpPr txBox="1"/>
          <p:nvPr>
            <p:ph idx="1" type="body"/>
          </p:nvPr>
        </p:nvSpPr>
        <p:spPr>
          <a:xfrm>
            <a:off x="311700" y="805175"/>
            <a:ext cx="8520600" cy="4206000"/>
          </a:xfrm>
          <a:prstGeom prst="rect">
            <a:avLst/>
          </a:prstGeom>
          <a:noFill/>
          <a:ln>
            <a:noFill/>
          </a:ln>
        </p:spPr>
        <p:txBody>
          <a:bodyPr anchorCtr="0" anchor="t" bIns="91425" lIns="91425" spcFirstLastPara="1" rIns="91425" wrap="square" tIns="91425">
            <a:normAutofit fontScale="85000" lnSpcReduction="10000"/>
          </a:bodyPr>
          <a:lstStyle/>
          <a:p>
            <a:pPr indent="-325755" lvl="0" marL="457200" rtl="0" algn="l">
              <a:lnSpc>
                <a:spcPct val="115000"/>
              </a:lnSpc>
              <a:spcBef>
                <a:spcPts val="0"/>
              </a:spcBef>
              <a:spcAft>
                <a:spcPts val="0"/>
              </a:spcAft>
              <a:buSzPct val="100000"/>
              <a:buChar char="●"/>
            </a:pPr>
            <a:r>
              <a:rPr b="1" lang="en"/>
              <a:t>Adaptive performance </a:t>
            </a:r>
            <a:r>
              <a:rPr lang="en"/>
              <a:t>- Performance component that includes flexibility and the ability to adapt to changing circumstances.</a:t>
            </a:r>
            <a:endParaRPr/>
          </a:p>
          <a:p>
            <a:pPr indent="-325755" lvl="0" marL="457200" rtl="0" algn="l">
              <a:lnSpc>
                <a:spcPct val="115000"/>
              </a:lnSpc>
              <a:spcBef>
                <a:spcPts val="0"/>
              </a:spcBef>
              <a:spcAft>
                <a:spcPts val="0"/>
              </a:spcAft>
              <a:buSzPct val="100000"/>
              <a:buChar char="●"/>
            </a:pPr>
            <a:r>
              <a:rPr lang="en"/>
              <a:t>A changing work environment puts increased importance on workers who are flexible and able to adapt to changing circumstances. </a:t>
            </a:r>
            <a:endParaRPr/>
          </a:p>
          <a:p>
            <a:pPr indent="-325755" lvl="0" marL="457200" rtl="0" algn="l">
              <a:lnSpc>
                <a:spcPct val="115000"/>
              </a:lnSpc>
              <a:spcBef>
                <a:spcPts val="0"/>
              </a:spcBef>
              <a:spcAft>
                <a:spcPts val="0"/>
              </a:spcAft>
              <a:buSzPct val="100000"/>
              <a:buChar char="●"/>
            </a:pPr>
            <a:r>
              <a:rPr lang="en"/>
              <a:t>Pulakos and colleagues cited the following circumstances of today’s workplace that favor this adaptability:</a:t>
            </a:r>
            <a:endParaRPr/>
          </a:p>
          <a:p>
            <a:pPr indent="-304165" lvl="1" marL="914400" rtl="0" algn="l">
              <a:lnSpc>
                <a:spcPct val="115000"/>
              </a:lnSpc>
              <a:spcBef>
                <a:spcPts val="0"/>
              </a:spcBef>
              <a:spcAft>
                <a:spcPts val="0"/>
              </a:spcAft>
              <a:buSzPct val="100000"/>
              <a:buChar char="○"/>
            </a:pPr>
            <a:r>
              <a:rPr lang="en" sz="1400"/>
              <a:t>Changing technologies alter work tasks.</a:t>
            </a:r>
            <a:endParaRPr sz="1400"/>
          </a:p>
          <a:p>
            <a:pPr indent="-304165" lvl="1" marL="914400" rtl="0" algn="l">
              <a:lnSpc>
                <a:spcPct val="115000"/>
              </a:lnSpc>
              <a:spcBef>
                <a:spcPts val="0"/>
              </a:spcBef>
              <a:spcAft>
                <a:spcPts val="0"/>
              </a:spcAft>
              <a:buSzPct val="100000"/>
              <a:buChar char="○"/>
            </a:pPr>
            <a:r>
              <a:rPr lang="en" sz="1400"/>
              <a:t>Mergers, downsizing, and corporate restructuring require employees to learn new skills.</a:t>
            </a:r>
            <a:endParaRPr sz="1400"/>
          </a:p>
          <a:p>
            <a:pPr indent="-304165" lvl="1" marL="914400" rtl="0" algn="l">
              <a:lnSpc>
                <a:spcPct val="115000"/>
              </a:lnSpc>
              <a:spcBef>
                <a:spcPts val="0"/>
              </a:spcBef>
              <a:spcAft>
                <a:spcPts val="0"/>
              </a:spcAft>
              <a:buSzPct val="100000"/>
              <a:buChar char="○"/>
            </a:pPr>
            <a:r>
              <a:rPr lang="en" sz="1400"/>
              <a:t>Globalization requires individuals to work in different cultures.</a:t>
            </a:r>
            <a:endParaRPr/>
          </a:p>
          <a:p>
            <a:pPr indent="-325755" lvl="0" marL="457200" rtl="0" algn="l">
              <a:lnSpc>
                <a:spcPct val="115000"/>
              </a:lnSpc>
              <a:spcBef>
                <a:spcPts val="0"/>
              </a:spcBef>
              <a:spcAft>
                <a:spcPts val="0"/>
              </a:spcAft>
              <a:buSzPct val="100000"/>
              <a:buChar char="●"/>
            </a:pPr>
            <a:r>
              <a:rPr lang="en"/>
              <a:t>Pulakos and colleagues (2000) proposed adaptive performance as a valid performance component that can be further divided into eight types of adaptive behavior</a:t>
            </a:r>
            <a:endParaRPr/>
          </a:p>
          <a:p>
            <a:pPr indent="-325755" lvl="0" marL="457200" rtl="0" algn="l">
              <a:lnSpc>
                <a:spcPct val="115000"/>
              </a:lnSpc>
              <a:spcBef>
                <a:spcPts val="0"/>
              </a:spcBef>
              <a:spcAft>
                <a:spcPts val="0"/>
              </a:spcAft>
              <a:buSzPct val="100000"/>
              <a:buChar char="●"/>
            </a:pPr>
            <a:r>
              <a:rPr lang="en"/>
              <a:t>Bartram (2005) has tried to combine some of the performance categories we have outlined above into a broader model of performance that he calls the “Great Eight” model of competencies. These competencies, which cover Campbell’s dimensions, OCB, and the adaptability concept of Pulakos.</a:t>
            </a:r>
            <a:endParaRPr/>
          </a:p>
          <a:p>
            <a:pPr indent="-325755" lvl="0" marL="457200" rtl="0" algn="l">
              <a:lnSpc>
                <a:spcPct val="115000"/>
              </a:lnSpc>
              <a:spcBef>
                <a:spcPts val="0"/>
              </a:spcBef>
              <a:spcAft>
                <a:spcPts val="0"/>
              </a:spcAft>
              <a:buSzPct val="100000"/>
              <a:buChar char="●"/>
            </a:pPr>
            <a:r>
              <a:rPr lang="en"/>
              <a:t>Expert performance - Performance exhibited by those who have been practicing for at least 10 years and have spent an average of four hours per day in deliberate practice.</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id="370" name="Google Shape;370;p57"/>
          <p:cNvPicPr preferRelativeResize="0"/>
          <p:nvPr/>
        </p:nvPicPr>
        <p:blipFill rotWithShape="1">
          <a:blip r:embed="rId3">
            <a:alphaModFix/>
          </a:blip>
          <a:srcRect b="0" l="0" r="0" t="0"/>
          <a:stretch/>
        </p:blipFill>
        <p:spPr>
          <a:xfrm>
            <a:off x="152400" y="152400"/>
            <a:ext cx="8524000" cy="4838699"/>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id="375" name="Google Shape;375;p58"/>
          <p:cNvPicPr preferRelativeResize="0"/>
          <p:nvPr/>
        </p:nvPicPr>
        <p:blipFill rotWithShape="1">
          <a:blip r:embed="rId3">
            <a:alphaModFix/>
          </a:blip>
          <a:srcRect b="0" l="0" r="0" t="0"/>
          <a:stretch/>
        </p:blipFill>
        <p:spPr>
          <a:xfrm>
            <a:off x="152400" y="152400"/>
            <a:ext cx="8764900" cy="48387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9"/>
          <p:cNvSpPr txBox="1"/>
          <p:nvPr>
            <p:ph type="title"/>
          </p:nvPr>
        </p:nvSpPr>
        <p:spPr>
          <a:xfrm>
            <a:off x="311700" y="2608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Types of Performance Measures</a:t>
            </a:r>
            <a:endParaRPr/>
          </a:p>
        </p:txBody>
      </p:sp>
      <p:sp>
        <p:nvSpPr>
          <p:cNvPr id="381" name="Google Shape;381;p59"/>
          <p:cNvSpPr txBox="1"/>
          <p:nvPr>
            <p:ph idx="1" type="body"/>
          </p:nvPr>
        </p:nvSpPr>
        <p:spPr>
          <a:xfrm>
            <a:off x="311700" y="833525"/>
            <a:ext cx="8520600" cy="40218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Most I-O literature distinguishes among different types of performance indicators; these indicators are concerned with how performance is indexed, not the nature of that performance (e.g., OCB, CWB, task performance). Three different categories have been suggested:</a:t>
            </a:r>
            <a:endParaRPr/>
          </a:p>
          <a:p>
            <a:pPr indent="-342900" lvl="0" marL="457200" rtl="0" algn="l">
              <a:lnSpc>
                <a:spcPct val="115000"/>
              </a:lnSpc>
              <a:spcBef>
                <a:spcPts val="0"/>
              </a:spcBef>
              <a:spcAft>
                <a:spcPts val="0"/>
              </a:spcAft>
              <a:buSzPts val="1800"/>
              <a:buChar char="●"/>
            </a:pPr>
            <a:r>
              <a:rPr b="1" lang="en"/>
              <a:t>Objective performance measure</a:t>
            </a:r>
            <a:r>
              <a:rPr lang="en"/>
              <a:t> - Usually a quantitative count of the results of work, such as sales volume, complaint letters, and output.</a:t>
            </a:r>
            <a:endParaRPr/>
          </a:p>
          <a:p>
            <a:pPr indent="-342900" lvl="0" marL="457200" rtl="0" algn="l">
              <a:lnSpc>
                <a:spcPct val="115000"/>
              </a:lnSpc>
              <a:spcBef>
                <a:spcPts val="0"/>
              </a:spcBef>
              <a:spcAft>
                <a:spcPts val="0"/>
              </a:spcAft>
              <a:buSzPts val="1800"/>
              <a:buChar char="●"/>
            </a:pPr>
            <a:r>
              <a:rPr b="1" lang="en"/>
              <a:t>Judgmental measure</a:t>
            </a:r>
            <a:r>
              <a:rPr lang="en"/>
              <a:t> - Evaluation made of the effectiveness of an individual’s work behavior; judgment most often made by supervisors in the context of a performance evaluation.</a:t>
            </a:r>
            <a:endParaRPr/>
          </a:p>
          <a:p>
            <a:pPr indent="-342900" lvl="0" marL="457200" rtl="0" algn="l">
              <a:lnSpc>
                <a:spcPct val="115000"/>
              </a:lnSpc>
              <a:spcBef>
                <a:spcPts val="0"/>
              </a:spcBef>
              <a:spcAft>
                <a:spcPts val="0"/>
              </a:spcAft>
              <a:buSzPts val="1800"/>
              <a:buChar char="●"/>
            </a:pPr>
            <a:r>
              <a:rPr b="1" lang="en"/>
              <a:t>Personnel measure</a:t>
            </a:r>
            <a:r>
              <a:rPr lang="en"/>
              <a:t> - Measure typically kept in a personnel file, including absences, accidents, tardiness, rate of advancement, disciplinary actions, and commendations of meritorious behavior.</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60"/>
          <p:cNvSpPr txBox="1"/>
          <p:nvPr>
            <p:ph type="title"/>
          </p:nvPr>
        </p:nvSpPr>
        <p:spPr>
          <a:xfrm>
            <a:off x="311700" y="82900"/>
            <a:ext cx="8520600" cy="521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Job analysis</a:t>
            </a:r>
            <a:endParaRPr/>
          </a:p>
        </p:txBody>
      </p:sp>
      <p:sp>
        <p:nvSpPr>
          <p:cNvPr id="387" name="Google Shape;387;p60"/>
          <p:cNvSpPr txBox="1"/>
          <p:nvPr>
            <p:ph idx="1" type="body"/>
          </p:nvPr>
        </p:nvSpPr>
        <p:spPr>
          <a:xfrm>
            <a:off x="311700" y="604600"/>
            <a:ext cx="8520600" cy="4350000"/>
          </a:xfrm>
          <a:prstGeom prst="rect">
            <a:avLst/>
          </a:prstGeom>
          <a:noFill/>
          <a:ln>
            <a:noFill/>
          </a:ln>
        </p:spPr>
        <p:txBody>
          <a:bodyPr anchorCtr="0" anchor="t" bIns="91425" lIns="91425" spcFirstLastPara="1" rIns="91425" wrap="square" tIns="91425">
            <a:normAutofit fontScale="77500" lnSpcReduction="10000"/>
          </a:bodyPr>
          <a:lstStyle/>
          <a:p>
            <a:pPr indent="-317182" lvl="0" marL="457200" rtl="0" algn="l">
              <a:lnSpc>
                <a:spcPct val="115000"/>
              </a:lnSpc>
              <a:spcBef>
                <a:spcPts val="0"/>
              </a:spcBef>
              <a:spcAft>
                <a:spcPts val="0"/>
              </a:spcAft>
              <a:buSzPct val="100000"/>
              <a:buChar char="●"/>
            </a:pPr>
            <a:r>
              <a:rPr b="1" lang="en"/>
              <a:t>Job analysis</a:t>
            </a:r>
            <a:r>
              <a:rPr lang="en"/>
              <a:t> - Process that determines the important tasks of a job and the human attributes necessary to successfully perform those tasks.</a:t>
            </a:r>
            <a:endParaRPr/>
          </a:p>
          <a:p>
            <a:pPr indent="-317182" lvl="0" marL="457200" rtl="0" algn="l">
              <a:lnSpc>
                <a:spcPct val="115000"/>
              </a:lnSpc>
              <a:spcBef>
                <a:spcPts val="0"/>
              </a:spcBef>
              <a:spcAft>
                <a:spcPts val="0"/>
              </a:spcAft>
              <a:buSzPct val="100000"/>
              <a:buChar char="●"/>
            </a:pPr>
            <a:r>
              <a:rPr lang="en"/>
              <a:t>The purpose of a job analysis is to understand what the important tasks of the job are, how they are carried out, and what human attributes are necessary to carry them out successfully. In short, job analysis is an attempt to develop a theory of human behavior about the job in question. </a:t>
            </a:r>
            <a:endParaRPr/>
          </a:p>
          <a:p>
            <a:pPr indent="-317182" lvl="0" marL="457200" rtl="0" algn="l">
              <a:lnSpc>
                <a:spcPct val="115000"/>
              </a:lnSpc>
              <a:spcBef>
                <a:spcPts val="0"/>
              </a:spcBef>
              <a:spcAft>
                <a:spcPts val="0"/>
              </a:spcAft>
              <a:buSzPct val="100000"/>
              <a:buChar char="●"/>
            </a:pPr>
            <a:r>
              <a:rPr lang="en"/>
              <a:t>This theory will include performance expectations (properties of the job in the context of the organization’s expectations) as well as the required abilities, knowledge, experience, skill, and personal characteristics necessary to meet those expectations.</a:t>
            </a:r>
            <a:endParaRPr/>
          </a:p>
          <a:p>
            <a:pPr indent="-317182" lvl="0" marL="457200" rtl="0" algn="l">
              <a:lnSpc>
                <a:spcPct val="115000"/>
              </a:lnSpc>
              <a:spcBef>
                <a:spcPts val="0"/>
              </a:spcBef>
              <a:spcAft>
                <a:spcPts val="0"/>
              </a:spcAft>
              <a:buSzPct val="100000"/>
              <a:buChar char="●"/>
            </a:pPr>
            <a:r>
              <a:rPr lang="en"/>
              <a:t>The results of a job analysis can be used for many different purposes, including those addressed below.</a:t>
            </a:r>
            <a:endParaRPr/>
          </a:p>
          <a:p>
            <a:pPr indent="-297497" lvl="1" marL="914400" rtl="0" algn="l">
              <a:lnSpc>
                <a:spcPct val="115000"/>
              </a:lnSpc>
              <a:spcBef>
                <a:spcPts val="0"/>
              </a:spcBef>
              <a:spcAft>
                <a:spcPts val="0"/>
              </a:spcAft>
              <a:buSzPct val="100000"/>
              <a:buChar char="○"/>
            </a:pPr>
            <a:r>
              <a:rPr lang="en"/>
              <a:t>Job Description</a:t>
            </a:r>
            <a:endParaRPr/>
          </a:p>
          <a:p>
            <a:pPr indent="-297497" lvl="1" marL="914400" rtl="0" algn="l">
              <a:lnSpc>
                <a:spcPct val="115000"/>
              </a:lnSpc>
              <a:spcBef>
                <a:spcPts val="0"/>
              </a:spcBef>
              <a:spcAft>
                <a:spcPts val="0"/>
              </a:spcAft>
              <a:buSzPct val="100000"/>
              <a:buChar char="○"/>
            </a:pPr>
            <a:r>
              <a:rPr lang="en"/>
              <a:t>Recruitment</a:t>
            </a:r>
            <a:endParaRPr/>
          </a:p>
          <a:p>
            <a:pPr indent="-297497" lvl="1" marL="914400" rtl="0" algn="l">
              <a:lnSpc>
                <a:spcPct val="115000"/>
              </a:lnSpc>
              <a:spcBef>
                <a:spcPts val="0"/>
              </a:spcBef>
              <a:spcAft>
                <a:spcPts val="0"/>
              </a:spcAft>
              <a:buSzPct val="100000"/>
              <a:buChar char="○"/>
            </a:pPr>
            <a:r>
              <a:rPr lang="en"/>
              <a:t>Selection</a:t>
            </a:r>
            <a:endParaRPr/>
          </a:p>
          <a:p>
            <a:pPr indent="-297497" lvl="1" marL="914400" rtl="0" algn="l">
              <a:lnSpc>
                <a:spcPct val="115000"/>
              </a:lnSpc>
              <a:spcBef>
                <a:spcPts val="0"/>
              </a:spcBef>
              <a:spcAft>
                <a:spcPts val="0"/>
              </a:spcAft>
              <a:buSzPct val="100000"/>
              <a:buChar char="○"/>
            </a:pPr>
            <a:r>
              <a:rPr lang="en"/>
              <a:t>Training</a:t>
            </a:r>
            <a:endParaRPr/>
          </a:p>
          <a:p>
            <a:pPr indent="-297497" lvl="1" marL="914400" rtl="0" algn="l">
              <a:lnSpc>
                <a:spcPct val="115000"/>
              </a:lnSpc>
              <a:spcBef>
                <a:spcPts val="0"/>
              </a:spcBef>
              <a:spcAft>
                <a:spcPts val="0"/>
              </a:spcAft>
              <a:buSzPct val="100000"/>
              <a:buChar char="○"/>
            </a:pPr>
            <a:r>
              <a:rPr lang="en"/>
              <a:t>Compensation</a:t>
            </a:r>
            <a:endParaRPr/>
          </a:p>
          <a:p>
            <a:pPr indent="-297497" lvl="1" marL="914400" rtl="0" algn="l">
              <a:lnSpc>
                <a:spcPct val="115000"/>
              </a:lnSpc>
              <a:spcBef>
                <a:spcPts val="0"/>
              </a:spcBef>
              <a:spcAft>
                <a:spcPts val="0"/>
              </a:spcAft>
              <a:buSzPct val="100000"/>
              <a:buChar char="○"/>
            </a:pPr>
            <a:r>
              <a:rPr lang="en"/>
              <a:t>Job assignment / Promotion</a:t>
            </a:r>
            <a:endParaRPr/>
          </a:p>
          <a:p>
            <a:pPr indent="-297497" lvl="1" marL="914400" rtl="0" algn="l">
              <a:lnSpc>
                <a:spcPct val="115000"/>
              </a:lnSpc>
              <a:spcBef>
                <a:spcPts val="0"/>
              </a:spcBef>
              <a:spcAft>
                <a:spcPts val="0"/>
              </a:spcAft>
              <a:buSzPct val="100000"/>
              <a:buChar char="○"/>
            </a:pPr>
            <a:r>
              <a:rPr lang="en"/>
              <a:t>Job design</a:t>
            </a:r>
            <a:endParaRPr/>
          </a:p>
          <a:p>
            <a:pPr indent="-297497" lvl="1" marL="914400" rtl="0" algn="l">
              <a:lnSpc>
                <a:spcPct val="115000"/>
              </a:lnSpc>
              <a:spcBef>
                <a:spcPts val="0"/>
              </a:spcBef>
              <a:spcAft>
                <a:spcPts val="0"/>
              </a:spcAft>
              <a:buSzPct val="100000"/>
              <a:buChar char="○"/>
            </a:pPr>
            <a:r>
              <a:rPr lang="en"/>
              <a:t>Workforce reduction / restructuring</a:t>
            </a:r>
            <a:endParaRPr/>
          </a:p>
          <a:p>
            <a:pPr indent="-297497" lvl="1" marL="914400" rtl="0" algn="l">
              <a:lnSpc>
                <a:spcPct val="115000"/>
              </a:lnSpc>
              <a:spcBef>
                <a:spcPts val="0"/>
              </a:spcBef>
              <a:spcAft>
                <a:spcPts val="0"/>
              </a:spcAft>
              <a:buSzPct val="100000"/>
              <a:buChar char="○"/>
            </a:pPr>
            <a:r>
              <a:rPr lang="en"/>
              <a:t>Criterion development</a:t>
            </a:r>
            <a:endParaRPr/>
          </a:p>
          <a:p>
            <a:pPr indent="-297497" lvl="1" marL="914400" rtl="0" algn="l">
              <a:lnSpc>
                <a:spcPct val="115000"/>
              </a:lnSpc>
              <a:spcBef>
                <a:spcPts val="0"/>
              </a:spcBef>
              <a:spcAft>
                <a:spcPts val="0"/>
              </a:spcAft>
              <a:buSzPct val="100000"/>
              <a:buChar char="○"/>
            </a:pPr>
            <a:r>
              <a:rPr lang="en"/>
              <a:t>Performance evaluation</a:t>
            </a:r>
            <a:endParaRPr/>
          </a:p>
          <a:p>
            <a:pPr indent="-297497" lvl="1" marL="914400" rtl="0" algn="l">
              <a:lnSpc>
                <a:spcPct val="115000"/>
              </a:lnSpc>
              <a:spcBef>
                <a:spcPts val="0"/>
              </a:spcBef>
              <a:spcAft>
                <a:spcPts val="0"/>
              </a:spcAft>
              <a:buSzPct val="100000"/>
              <a:buChar char="○"/>
            </a:pPr>
            <a:r>
              <a:rPr lang="en"/>
              <a:t>Litigation</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Types of job analysis</a:t>
            </a:r>
            <a:endParaRPr/>
          </a:p>
        </p:txBody>
      </p:sp>
      <p:sp>
        <p:nvSpPr>
          <p:cNvPr id="393" name="Google Shape;393;p61"/>
          <p:cNvSpPr txBox="1"/>
          <p:nvPr>
            <p:ph idx="1" type="body"/>
          </p:nvPr>
        </p:nvSpPr>
        <p:spPr>
          <a:xfrm>
            <a:off x="311700" y="1017725"/>
            <a:ext cx="8520600" cy="37242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a:t>The purpose of a job analysis is to combine the task demands of a job with our knowledge of human attributes and produce a theory of behavior for the job in question. </a:t>
            </a:r>
            <a:endParaRPr/>
          </a:p>
          <a:p>
            <a:pPr indent="-342900" lvl="0" marL="457200" rtl="0" algn="l">
              <a:lnSpc>
                <a:spcPct val="115000"/>
              </a:lnSpc>
              <a:spcBef>
                <a:spcPts val="0"/>
              </a:spcBef>
              <a:spcAft>
                <a:spcPts val="0"/>
              </a:spcAft>
              <a:buSzPts val="1800"/>
              <a:buChar char="●"/>
            </a:pPr>
            <a:r>
              <a:rPr lang="en"/>
              <a:t>There are two ways to approach building that theory. One is called the </a:t>
            </a:r>
            <a:r>
              <a:rPr b="1" lang="en"/>
              <a:t>work- or task-oriented job analysis</a:t>
            </a:r>
            <a:r>
              <a:rPr lang="en"/>
              <a:t>; this approach begins with a statement of the tasks the worker actually performs, the tools and machines used, and the work context. </a:t>
            </a:r>
            <a:endParaRPr/>
          </a:p>
          <a:p>
            <a:pPr indent="-342900" lvl="0" marL="457200" rtl="0" algn="l">
              <a:lnSpc>
                <a:spcPct val="115000"/>
              </a:lnSpc>
              <a:spcBef>
                <a:spcPts val="0"/>
              </a:spcBef>
              <a:spcAft>
                <a:spcPts val="0"/>
              </a:spcAft>
              <a:buSzPts val="1800"/>
              <a:buChar char="●"/>
            </a:pPr>
            <a:r>
              <a:rPr lang="en"/>
              <a:t>A second method is called the </a:t>
            </a:r>
            <a:r>
              <a:rPr b="1" lang="en"/>
              <a:t>worker-oriented job analysis</a:t>
            </a:r>
            <a:r>
              <a:rPr lang="en"/>
              <a:t>; this approach begins by focusing on the attributes and characteristics of the worker necessary to accomplish the tasks that define the job (Brannick et al., 2007).</a:t>
            </a:r>
            <a:endParaRPr/>
          </a:p>
          <a:p>
            <a:pPr indent="-342900" lvl="0" marL="457200" rtl="0" algn="l">
              <a:lnSpc>
                <a:spcPct val="115000"/>
              </a:lnSpc>
              <a:spcBef>
                <a:spcPts val="0"/>
              </a:spcBef>
              <a:spcAft>
                <a:spcPts val="0"/>
              </a:spcAft>
              <a:buSzPts val="1800"/>
              <a:buChar char="●"/>
            </a:pPr>
            <a:r>
              <a:rPr lang="en"/>
              <a:t>Since both approaches end up in the same place—a statement of KSAOs—neither can be considered the “right” way to conduct a job analysis.</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2"/>
          <p:cNvSpPr txBox="1"/>
          <p:nvPr>
            <p:ph idx="1" type="body"/>
          </p:nvPr>
        </p:nvSpPr>
        <p:spPr>
          <a:xfrm>
            <a:off x="311700" y="292825"/>
            <a:ext cx="8520600" cy="45909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Regardless of which approach is taken, the next step in the job analysis is to identify the attributes—the </a:t>
            </a:r>
            <a:r>
              <a:rPr b="1" lang="en"/>
              <a:t>KSAO</a:t>
            </a:r>
            <a:r>
              <a:rPr lang="en"/>
              <a:t>s we covered in Chapter 3 on individual differences—that an incumbent needs for either performing the tasks or executing the human behaviors described by the job analysis. KSAOs can be defined as follows:</a:t>
            </a:r>
            <a:endParaRPr/>
          </a:p>
          <a:p>
            <a:pPr indent="-342900" lvl="0" marL="457200" rtl="0" algn="l">
              <a:lnSpc>
                <a:spcPct val="115000"/>
              </a:lnSpc>
              <a:spcBef>
                <a:spcPts val="0"/>
              </a:spcBef>
              <a:spcAft>
                <a:spcPts val="0"/>
              </a:spcAft>
              <a:buSzPts val="1800"/>
              <a:buChar char="●"/>
            </a:pPr>
            <a:r>
              <a:rPr b="1" lang="en"/>
              <a:t>Knowledge</a:t>
            </a:r>
            <a:r>
              <a:rPr lang="en"/>
              <a:t>: “a collection of discrete but related facts and information about a particular domain . . . acquired through formal education or training, or accumulated through specific experiences” (Peterson, Mumford, Borman, Jeanneret, &amp; Fleishman, 1999, p. 71)</a:t>
            </a:r>
            <a:endParaRPr/>
          </a:p>
          <a:p>
            <a:pPr indent="-342900" lvl="0" marL="457200" rtl="0" algn="l">
              <a:lnSpc>
                <a:spcPct val="115000"/>
              </a:lnSpc>
              <a:spcBef>
                <a:spcPts val="0"/>
              </a:spcBef>
              <a:spcAft>
                <a:spcPts val="0"/>
              </a:spcAft>
              <a:buSzPts val="1800"/>
              <a:buChar char="●"/>
            </a:pPr>
            <a:r>
              <a:rPr b="1" lang="en"/>
              <a:t>Skill</a:t>
            </a:r>
            <a:r>
              <a:rPr lang="en"/>
              <a:t>: a practiced act, or the capacity to perform a specific task or job duty (Gatewood, Feild, &amp; Barrick, 2011; Harvey, 1991)</a:t>
            </a:r>
            <a:endParaRPr/>
          </a:p>
          <a:p>
            <a:pPr indent="-342900" lvl="0" marL="457200" rtl="0" algn="l">
              <a:lnSpc>
                <a:spcPct val="115000"/>
              </a:lnSpc>
              <a:spcBef>
                <a:spcPts val="0"/>
              </a:spcBef>
              <a:spcAft>
                <a:spcPts val="0"/>
              </a:spcAft>
              <a:buSzPts val="1800"/>
              <a:buChar char="●"/>
            </a:pPr>
            <a:r>
              <a:rPr b="1" lang="en"/>
              <a:t>Ability</a:t>
            </a:r>
            <a:r>
              <a:rPr lang="en"/>
              <a:t>: the stable capacity to engage in a specific behavior</a:t>
            </a:r>
            <a:endParaRPr/>
          </a:p>
          <a:p>
            <a:pPr indent="-342900" lvl="0" marL="457200" rtl="0" algn="l">
              <a:lnSpc>
                <a:spcPct val="115000"/>
              </a:lnSpc>
              <a:spcBef>
                <a:spcPts val="0"/>
              </a:spcBef>
              <a:spcAft>
                <a:spcPts val="0"/>
              </a:spcAft>
              <a:buSzPts val="1800"/>
              <a:buChar char="●"/>
            </a:pPr>
            <a:r>
              <a:rPr b="1" lang="en"/>
              <a:t>Other characteristics</a:t>
            </a:r>
            <a:r>
              <a:rPr lang="en"/>
              <a:t>: personality variables, interests, training, and experience</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3"/>
          <p:cNvSpPr txBox="1"/>
          <p:nvPr>
            <p:ph type="title"/>
          </p:nvPr>
        </p:nvSpPr>
        <p:spPr>
          <a:xfrm>
            <a:off x="311700" y="2608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How job analysis is done?</a:t>
            </a:r>
            <a:endParaRPr/>
          </a:p>
        </p:txBody>
      </p:sp>
      <p:sp>
        <p:nvSpPr>
          <p:cNvPr id="404" name="Google Shape;404;p63"/>
          <p:cNvSpPr txBox="1"/>
          <p:nvPr>
            <p:ph idx="1" type="body"/>
          </p:nvPr>
        </p:nvSpPr>
        <p:spPr>
          <a:xfrm>
            <a:off x="311700" y="746250"/>
            <a:ext cx="8520600" cy="40242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a:t>Regardless of the approach the job analyst decides to use, information about the job is the backbone of the analysis, and there are many ways to get it.  The more information and the more ways the analyst can collect that information, the better the understanding of the job.</a:t>
            </a:r>
            <a:endParaRPr/>
          </a:p>
          <a:p>
            <a:pPr indent="-342900" lvl="0" marL="457200" rtl="0" algn="l">
              <a:lnSpc>
                <a:spcPct val="115000"/>
              </a:lnSpc>
              <a:spcBef>
                <a:spcPts val="0"/>
              </a:spcBef>
              <a:spcAft>
                <a:spcPts val="0"/>
              </a:spcAft>
              <a:buSzPts val="1800"/>
              <a:buChar char="●"/>
            </a:pPr>
            <a:r>
              <a:rPr lang="en"/>
              <a:t>A term frequently used in job analysis is </a:t>
            </a:r>
            <a:r>
              <a:rPr b="1" lang="en"/>
              <a:t>subject matter expert (SME)</a:t>
            </a:r>
            <a:r>
              <a:rPr lang="en"/>
              <a:t>. An SME is usually an incumbent worker or that worker’s supervisor. The person will have accumulated the “expertise” in the “subject matter” of the job by actually performing the job tasks under investigation.</a:t>
            </a:r>
            <a:endParaRPr/>
          </a:p>
          <a:p>
            <a:pPr indent="-342900" lvl="0" marL="457200" rtl="0" algn="l">
              <a:lnSpc>
                <a:spcPct val="115000"/>
              </a:lnSpc>
              <a:spcBef>
                <a:spcPts val="0"/>
              </a:spcBef>
              <a:spcAft>
                <a:spcPts val="0"/>
              </a:spcAft>
              <a:buSzPts val="1800"/>
              <a:buChar char="●"/>
            </a:pPr>
            <a:r>
              <a:rPr lang="en"/>
              <a:t>Some common methods of job analysis include the following:</a:t>
            </a:r>
            <a:endParaRPr/>
          </a:p>
          <a:p>
            <a:pPr indent="-342900" lvl="0" marL="457200" rtl="0" algn="l">
              <a:lnSpc>
                <a:spcPct val="115000"/>
              </a:lnSpc>
              <a:spcBef>
                <a:spcPts val="0"/>
              </a:spcBef>
              <a:spcAft>
                <a:spcPts val="0"/>
              </a:spcAft>
              <a:buSzPts val="1800"/>
              <a:buChar char="●"/>
            </a:pPr>
            <a:r>
              <a:rPr b="1" lang="en"/>
              <a:t>Observation.</a:t>
            </a:r>
            <a:r>
              <a:rPr lang="en"/>
              <a:t> This was perhaps the first method of job analysis I-O psychologists used. They simply watched incumbents (SMEs) perform their jobs and took notes. Sometimes they asked questions while watching, and sometimes they even performed job tasks themselves.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4"/>
          <p:cNvSpPr txBox="1"/>
          <p:nvPr>
            <p:ph idx="1" type="body"/>
          </p:nvPr>
        </p:nvSpPr>
        <p:spPr>
          <a:xfrm>
            <a:off x="311700" y="278675"/>
            <a:ext cx="8520600" cy="4619100"/>
          </a:xfrm>
          <a:prstGeom prst="rect">
            <a:avLst/>
          </a:prstGeom>
          <a:noFill/>
          <a:ln>
            <a:noFill/>
          </a:ln>
        </p:spPr>
        <p:txBody>
          <a:bodyPr anchorCtr="0" anchor="t" bIns="91425" lIns="91425" spcFirstLastPara="1" rIns="91425" wrap="square" tIns="91425">
            <a:normAutofit fontScale="92500" lnSpcReduction="10000"/>
          </a:bodyPr>
          <a:lstStyle/>
          <a:p>
            <a:pPr indent="-334327" lvl="0" marL="457200" rtl="0" algn="l">
              <a:lnSpc>
                <a:spcPct val="115000"/>
              </a:lnSpc>
              <a:spcBef>
                <a:spcPts val="0"/>
              </a:spcBef>
              <a:spcAft>
                <a:spcPts val="0"/>
              </a:spcAft>
              <a:buSzPct val="100000"/>
              <a:buChar char="●"/>
            </a:pPr>
            <a:r>
              <a:rPr b="1" lang="en"/>
              <a:t>Interviews.</a:t>
            </a:r>
            <a:r>
              <a:rPr lang="en"/>
              <a:t> It is important to supplement observation by talking with incumbents, either at the worksite or in a separate location. These interviews are most effective when structured with a specific set of questions based on observations, other analyses of the types of jobs in questions, or prior discussions with HR reps, trainers, or managers knowledgeable about the jobs.</a:t>
            </a:r>
            <a:endParaRPr/>
          </a:p>
          <a:p>
            <a:pPr indent="-334327" lvl="0" marL="457200" rtl="0" algn="l">
              <a:lnSpc>
                <a:spcPct val="115000"/>
              </a:lnSpc>
              <a:spcBef>
                <a:spcPts val="0"/>
              </a:spcBef>
              <a:spcAft>
                <a:spcPts val="0"/>
              </a:spcAft>
              <a:buSzPct val="100000"/>
              <a:buChar char="●"/>
            </a:pPr>
            <a:r>
              <a:rPr b="1" lang="en"/>
              <a:t>Critical incidents and work diaries</a:t>
            </a:r>
            <a:r>
              <a:rPr lang="en"/>
              <a:t>. I-O psychologists have used other techniques to capture important information about jobs. </a:t>
            </a:r>
            <a:endParaRPr/>
          </a:p>
          <a:p>
            <a:pPr indent="-310832" lvl="1" marL="914400" rtl="0" algn="l">
              <a:lnSpc>
                <a:spcPct val="115000"/>
              </a:lnSpc>
              <a:spcBef>
                <a:spcPts val="0"/>
              </a:spcBef>
              <a:spcAft>
                <a:spcPts val="0"/>
              </a:spcAft>
              <a:buSzPct val="100000"/>
              <a:buChar char="○"/>
            </a:pPr>
            <a:r>
              <a:rPr b="1" lang="en"/>
              <a:t>Critical incident technique</a:t>
            </a:r>
            <a:r>
              <a:rPr lang="en"/>
              <a:t> - Approach in which subject matter experts are asked to identify critical aspects of behavior or performance in a particular job that led to success or failure. </a:t>
            </a:r>
            <a:endParaRPr/>
          </a:p>
          <a:p>
            <a:pPr indent="-310832" lvl="1" marL="914400" rtl="0" algn="l">
              <a:lnSpc>
                <a:spcPct val="115000"/>
              </a:lnSpc>
              <a:spcBef>
                <a:spcPts val="0"/>
              </a:spcBef>
              <a:spcAft>
                <a:spcPts val="0"/>
              </a:spcAft>
              <a:buSzPct val="100000"/>
              <a:buChar char="○"/>
            </a:pPr>
            <a:r>
              <a:rPr b="1" lang="en"/>
              <a:t>Work diary - </a:t>
            </a:r>
            <a:r>
              <a:rPr lang="en"/>
              <a:t>Job analysis approach that requires workers and/or supervisors to keep a log of their activities over a prescribed period of time.</a:t>
            </a:r>
            <a:endParaRPr/>
          </a:p>
          <a:p>
            <a:pPr indent="-334327" lvl="0" marL="457200" rtl="0" algn="l">
              <a:lnSpc>
                <a:spcPct val="115000"/>
              </a:lnSpc>
              <a:spcBef>
                <a:spcPts val="0"/>
              </a:spcBef>
              <a:spcAft>
                <a:spcPts val="0"/>
              </a:spcAft>
              <a:buSzPct val="100000"/>
              <a:buChar char="●"/>
            </a:pPr>
            <a:r>
              <a:rPr b="1" lang="en"/>
              <a:t>Questionnaires/surveys. </a:t>
            </a:r>
            <a:r>
              <a:rPr lang="en"/>
              <a:t>Expert incumbents or supervisors (SMEs) often respond to questionnaires or surveys as part of a job analysis. These questionnaires include task statements in the form of worker behaviors. Based on their experience, SMEs are asked to rate each statement on a number of dimensions such as frequency of  performance, importance to overall job success, and whether the task or behavior must be performed on the first day of work or can be learned gradually on the job.</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Job Analysis: Newer Developments</a:t>
            </a:r>
            <a:endParaRPr/>
          </a:p>
        </p:txBody>
      </p:sp>
      <p:sp>
        <p:nvSpPr>
          <p:cNvPr id="415" name="Google Shape;415;p65"/>
          <p:cNvSpPr txBox="1"/>
          <p:nvPr>
            <p:ph idx="1" type="body"/>
          </p:nvPr>
        </p:nvSpPr>
        <p:spPr>
          <a:xfrm>
            <a:off x="311700" y="916300"/>
            <a:ext cx="8520600" cy="40098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a:t>In the 1980s and 1990s, the introduction of computers and other  technology-based information networks into the workplace clearly revolutionized planning, production, and distribution. But this technology has introduced another, less obvious, opportunity: the opportunity to monitor work processes, both actively and passively.</a:t>
            </a:r>
            <a:endParaRPr/>
          </a:p>
          <a:p>
            <a:pPr indent="-342900" lvl="0" marL="457200" rtl="0" algn="l">
              <a:lnSpc>
                <a:spcPct val="115000"/>
              </a:lnSpc>
              <a:spcBef>
                <a:spcPts val="0"/>
              </a:spcBef>
              <a:spcAft>
                <a:spcPts val="0"/>
              </a:spcAft>
              <a:buSzPts val="1800"/>
              <a:buChar char="●"/>
            </a:pPr>
            <a:r>
              <a:rPr b="1" lang="en"/>
              <a:t>Electronic performance monitoring</a:t>
            </a:r>
            <a:r>
              <a:rPr lang="en"/>
              <a:t> - Monitoring work processes with electronic devices; can be very cost effective and has the potential for providing detailed and accurate work logs.</a:t>
            </a:r>
            <a:endParaRPr/>
          </a:p>
          <a:p>
            <a:pPr indent="-342900" lvl="0" marL="457200" rtl="0" algn="l">
              <a:lnSpc>
                <a:spcPct val="115000"/>
              </a:lnSpc>
              <a:spcBef>
                <a:spcPts val="0"/>
              </a:spcBef>
              <a:spcAft>
                <a:spcPts val="0"/>
              </a:spcAft>
              <a:buSzPts val="1800"/>
              <a:buChar char="●"/>
            </a:pPr>
            <a:r>
              <a:rPr lang="en"/>
              <a:t>Example: Consider the phone call you make to ask a question about your telephone bill. A recorded message will tell you that your “call may be monitored for quality control purposes.” That means that the performance of the agent or representative with whom you are talking is being monitored and “critical incidents” in success and failure can be identified.</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6"/>
          <p:cNvSpPr txBox="1"/>
          <p:nvPr>
            <p:ph idx="1" type="body"/>
          </p:nvPr>
        </p:nvSpPr>
        <p:spPr>
          <a:xfrm>
            <a:off x="311700" y="193650"/>
            <a:ext cx="8520600" cy="4590900"/>
          </a:xfrm>
          <a:prstGeom prst="rect">
            <a:avLst/>
          </a:prstGeom>
          <a:noFill/>
          <a:ln>
            <a:noFill/>
          </a:ln>
        </p:spPr>
        <p:txBody>
          <a:bodyPr anchorCtr="0" anchor="t" bIns="91425" lIns="91425" spcFirstLastPara="1" rIns="91425" wrap="square" tIns="91425">
            <a:normAutofit fontScale="92500" lnSpcReduction="20000"/>
          </a:bodyPr>
          <a:lstStyle/>
          <a:p>
            <a:pPr indent="-334327" lvl="0" marL="457200" rtl="0" algn="l">
              <a:lnSpc>
                <a:spcPct val="115000"/>
              </a:lnSpc>
              <a:spcBef>
                <a:spcPts val="0"/>
              </a:spcBef>
              <a:spcAft>
                <a:spcPts val="0"/>
              </a:spcAft>
              <a:buSzPct val="100000"/>
              <a:buChar char="●"/>
            </a:pPr>
            <a:r>
              <a:rPr b="1" lang="en"/>
              <a:t>Cognitive task analysis</a:t>
            </a:r>
            <a:r>
              <a:rPr lang="en"/>
              <a:t> - A process that consists of methods for decomposing job and task performance into discrete, measurable units, with special emphasis on eliciting mental processes and knowledge content.</a:t>
            </a:r>
            <a:endParaRPr/>
          </a:p>
          <a:p>
            <a:pPr indent="-334327" lvl="0" marL="457200" rtl="0" algn="l">
              <a:lnSpc>
                <a:spcPct val="115000"/>
              </a:lnSpc>
              <a:spcBef>
                <a:spcPts val="0"/>
              </a:spcBef>
              <a:spcAft>
                <a:spcPts val="0"/>
              </a:spcAft>
              <a:buSzPct val="100000"/>
              <a:buChar char="●"/>
            </a:pPr>
            <a:r>
              <a:rPr b="1" lang="en"/>
              <a:t>Think-aloud protocol </a:t>
            </a:r>
            <a:r>
              <a:rPr lang="en"/>
              <a:t>- Approach used by cognitive psychologists to investigate the thought processes of experts who achieve high levels of performance; an expert performer describes in words the thought process that he or she uses to accomplish a task.</a:t>
            </a:r>
            <a:endParaRPr/>
          </a:p>
          <a:p>
            <a:pPr indent="-334327" lvl="0" marL="457200" rtl="0" algn="l">
              <a:lnSpc>
                <a:spcPct val="115000"/>
              </a:lnSpc>
              <a:spcBef>
                <a:spcPts val="0"/>
              </a:spcBef>
              <a:spcAft>
                <a:spcPts val="0"/>
              </a:spcAft>
              <a:buSzPct val="100000"/>
              <a:buChar char="●"/>
            </a:pPr>
            <a:r>
              <a:rPr lang="en"/>
              <a:t>Cognitive task analysis is time consuming and requires a good deal of expertise to do well. As a result, it may be a luxury for low-level jobs or jobs in which the cost of a mistake is small. But for critical positions where the consequence of an error is extremely high, cognitive task analysis may be a useful addition to the job analysis arsenal. DuBois (1999) suggested that employers consider the following indicators to determine whether a cognitive task analysis may be worthwhile:</a:t>
            </a:r>
            <a:endParaRPr/>
          </a:p>
          <a:p>
            <a:pPr indent="-310832" lvl="1" marL="914400" rtl="0" algn="l">
              <a:lnSpc>
                <a:spcPct val="115000"/>
              </a:lnSpc>
              <a:spcBef>
                <a:spcPts val="0"/>
              </a:spcBef>
              <a:spcAft>
                <a:spcPts val="0"/>
              </a:spcAft>
              <a:buSzPct val="100000"/>
              <a:buChar char="○"/>
            </a:pPr>
            <a:r>
              <a:rPr lang="en"/>
              <a:t>There are persistent performance problems.</a:t>
            </a:r>
            <a:endParaRPr/>
          </a:p>
          <a:p>
            <a:pPr indent="-310832" lvl="1" marL="914400" rtl="0" algn="l">
              <a:lnSpc>
                <a:spcPct val="115000"/>
              </a:lnSpc>
              <a:spcBef>
                <a:spcPts val="0"/>
              </a:spcBef>
              <a:spcAft>
                <a:spcPts val="0"/>
              </a:spcAft>
              <a:buSzPct val="100000"/>
              <a:buChar char="○"/>
            </a:pPr>
            <a:r>
              <a:rPr lang="en"/>
              <a:t>There are costly errors or accidents.</a:t>
            </a:r>
            <a:endParaRPr/>
          </a:p>
          <a:p>
            <a:pPr indent="-310832" lvl="1" marL="914400" rtl="0" algn="l">
              <a:lnSpc>
                <a:spcPct val="115000"/>
              </a:lnSpc>
              <a:spcBef>
                <a:spcPts val="0"/>
              </a:spcBef>
              <a:spcAft>
                <a:spcPts val="0"/>
              </a:spcAft>
              <a:buSzPct val="100000"/>
              <a:buChar char="○"/>
            </a:pPr>
            <a:r>
              <a:rPr lang="en"/>
              <a:t>Training is difficult to transfer to job behavior.</a:t>
            </a:r>
            <a:endParaRPr/>
          </a:p>
          <a:p>
            <a:pPr indent="-310832" lvl="1" marL="914400" rtl="0" algn="l">
              <a:lnSpc>
                <a:spcPct val="115000"/>
              </a:lnSpc>
              <a:spcBef>
                <a:spcPts val="0"/>
              </a:spcBef>
              <a:spcAft>
                <a:spcPts val="0"/>
              </a:spcAft>
              <a:buSzPct val="100000"/>
              <a:buChar char="○"/>
            </a:pPr>
            <a:r>
              <a:rPr lang="en"/>
              <a:t>Achieving high levels of performance takes a long time.</a:t>
            </a:r>
            <a:endParaRPr/>
          </a:p>
          <a:p>
            <a:pPr indent="-334327" lvl="0" marL="457200" rtl="0" algn="l">
              <a:lnSpc>
                <a:spcPct val="115000"/>
              </a:lnSpc>
              <a:spcBef>
                <a:spcPts val="0"/>
              </a:spcBef>
              <a:spcAft>
                <a:spcPts val="0"/>
              </a:spcAft>
              <a:buSzPct val="100000"/>
              <a:buChar char="●"/>
            </a:pPr>
            <a:r>
              <a:rPr b="1" lang="en"/>
              <a:t>Personality-Related Position Requirements Form (PPRF)</a:t>
            </a:r>
            <a:r>
              <a:rPr lang="en"/>
              <a:t> - Job analysis instrument devoted to identifying personality predictors of job performance.</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7"/>
          <p:cNvSpPr txBox="1"/>
          <p:nvPr>
            <p:ph idx="1" type="body"/>
          </p:nvPr>
        </p:nvSpPr>
        <p:spPr>
          <a:xfrm>
            <a:off x="311700" y="321175"/>
            <a:ext cx="8520600" cy="42477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b="1" lang="en"/>
              <a:t>Dictionary of Occupational Titles </a:t>
            </a:r>
            <a:r>
              <a:rPr lang="en"/>
              <a:t>(DOT) - Document that includes job analysis and occupational information used to match applicants with job openings; a major purpose of the DOT was, and still is, for use in occupational counseling.</a:t>
            </a:r>
            <a:endParaRPr/>
          </a:p>
          <a:p>
            <a:pPr indent="-342900" lvl="0" marL="457200" rtl="0" algn="l">
              <a:lnSpc>
                <a:spcPct val="115000"/>
              </a:lnSpc>
              <a:spcBef>
                <a:spcPts val="0"/>
              </a:spcBef>
              <a:spcAft>
                <a:spcPts val="0"/>
              </a:spcAft>
              <a:buSzPts val="1800"/>
              <a:buChar char="●"/>
            </a:pPr>
            <a:r>
              <a:rPr lang="en"/>
              <a:t>Task-based descriptions of occupations provide limited value in work environments with shifting job boundaries. Further, each revision of the DOT was expensive and time consuming. A decision was made to change both the format and the content of the DOT (Dunnette, 1999).</a:t>
            </a:r>
            <a:endParaRPr/>
          </a:p>
          <a:p>
            <a:pPr indent="-342900" lvl="0" marL="457200" rtl="0" algn="l">
              <a:lnSpc>
                <a:spcPct val="115000"/>
              </a:lnSpc>
              <a:spcBef>
                <a:spcPts val="0"/>
              </a:spcBef>
              <a:spcAft>
                <a:spcPts val="0"/>
              </a:spcAft>
              <a:buSzPts val="1800"/>
              <a:buChar char="●"/>
            </a:pPr>
            <a:r>
              <a:rPr lang="en"/>
              <a:t>In 1995 the federal government introduced the concept of an electronic database to replace the DOT. The database was called the Occupational Information Network or O*NET.</a:t>
            </a:r>
            <a:endParaRPr/>
          </a:p>
          <a:p>
            <a:pPr indent="-342900" lvl="0" marL="457200" rtl="0" algn="l">
              <a:lnSpc>
                <a:spcPct val="115000"/>
              </a:lnSpc>
              <a:spcBef>
                <a:spcPts val="0"/>
              </a:spcBef>
              <a:spcAft>
                <a:spcPts val="0"/>
              </a:spcAft>
              <a:buSzPts val="1800"/>
              <a:buChar char="●"/>
            </a:pPr>
            <a:r>
              <a:rPr lang="en"/>
              <a:t>O</a:t>
            </a:r>
            <a:r>
              <a:rPr b="1" lang="en"/>
              <a:t>ccupational Information Network (O*NET)</a:t>
            </a:r>
            <a:r>
              <a:rPr lang="en"/>
              <a:t> - Collection of electronic databases, based on well-developed taxonomies, that has updated and replaced the Dictionary of Occupational Titles (DOT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pic>
        <p:nvPicPr>
          <p:cNvPr id="430" name="Google Shape;430;p68"/>
          <p:cNvPicPr preferRelativeResize="0"/>
          <p:nvPr/>
        </p:nvPicPr>
        <p:blipFill rotWithShape="1">
          <a:blip r:embed="rId3">
            <a:alphaModFix/>
          </a:blip>
          <a:srcRect b="0" l="0" r="0" t="0"/>
          <a:stretch/>
        </p:blipFill>
        <p:spPr>
          <a:xfrm>
            <a:off x="429800" y="152400"/>
            <a:ext cx="8204101" cy="48387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9"/>
          <p:cNvSpPr txBox="1"/>
          <p:nvPr>
            <p:ph idx="1" type="body"/>
          </p:nvPr>
        </p:nvSpPr>
        <p:spPr>
          <a:xfrm>
            <a:off x="311700" y="434525"/>
            <a:ext cx="8520600" cy="41343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a:t>Not all jobs and job families have yet been entered into the O*NET databases, but when  the system is complete, it is expected to meet at least the following needs: </a:t>
            </a:r>
            <a:endParaRPr/>
          </a:p>
          <a:p>
            <a:pPr indent="-317500" lvl="1" marL="914400" rtl="0" algn="l">
              <a:lnSpc>
                <a:spcPct val="115000"/>
              </a:lnSpc>
              <a:spcBef>
                <a:spcPts val="0"/>
              </a:spcBef>
              <a:spcAft>
                <a:spcPts val="0"/>
              </a:spcAft>
              <a:buSzPts val="1400"/>
              <a:buChar char="○"/>
            </a:pPr>
            <a:r>
              <a:rPr lang="en"/>
              <a:t>Identifying occupational skill standards common to clusters of occupations, or job families.</a:t>
            </a:r>
            <a:endParaRPr/>
          </a:p>
          <a:p>
            <a:pPr indent="-317500" lvl="1" marL="914400" rtl="0" algn="l">
              <a:lnSpc>
                <a:spcPct val="115000"/>
              </a:lnSpc>
              <a:spcBef>
                <a:spcPts val="0"/>
              </a:spcBef>
              <a:spcAft>
                <a:spcPts val="0"/>
              </a:spcAft>
              <a:buSzPts val="1400"/>
              <a:buChar char="○"/>
            </a:pPr>
            <a:r>
              <a:rPr lang="en"/>
              <a:t>Facilitating school-to-work transitions by linking educational programs to occupational standards.</a:t>
            </a:r>
            <a:endParaRPr/>
          </a:p>
          <a:p>
            <a:pPr indent="-317500" lvl="1" marL="914400" rtl="0" algn="l">
              <a:lnSpc>
                <a:spcPct val="115000"/>
              </a:lnSpc>
              <a:spcBef>
                <a:spcPts val="0"/>
              </a:spcBef>
              <a:spcAft>
                <a:spcPts val="0"/>
              </a:spcAft>
              <a:buSzPts val="1400"/>
              <a:buChar char="○"/>
            </a:pPr>
            <a:r>
              <a:rPr lang="en"/>
              <a:t>Assisting laid-off workers in finding reemployment through job search assistance, labor market information, and training.</a:t>
            </a:r>
            <a:endParaRPr/>
          </a:p>
          <a:p>
            <a:pPr indent="-317500" lvl="1" marL="914400" rtl="0" algn="l">
              <a:lnSpc>
                <a:spcPct val="115000"/>
              </a:lnSpc>
              <a:spcBef>
                <a:spcPts val="0"/>
              </a:spcBef>
              <a:spcAft>
                <a:spcPts val="0"/>
              </a:spcAft>
              <a:buSzPts val="1400"/>
              <a:buChar char="○"/>
            </a:pPr>
            <a:r>
              <a:rPr lang="en"/>
              <a:t>Assisting employers in building high-performance workplaces by providing information about the business practices associated with existing high-performance workplaces.</a:t>
            </a:r>
            <a:endParaRPr/>
          </a:p>
          <a:p>
            <a:pPr indent="-342900" lvl="0" marL="457200" rtl="0" algn="l">
              <a:lnSpc>
                <a:spcPct val="115000"/>
              </a:lnSpc>
              <a:spcBef>
                <a:spcPts val="0"/>
              </a:spcBef>
              <a:spcAft>
                <a:spcPts val="0"/>
              </a:spcAft>
              <a:buSzPts val="1800"/>
              <a:buChar char="●"/>
            </a:pPr>
            <a:r>
              <a:rPr b="1" lang="en"/>
              <a:t>Competency modeling </a:t>
            </a:r>
            <a:r>
              <a:rPr lang="en"/>
              <a:t>- Process that identifies the characteristics desired across all individuals and jobs within an organization; these characteristics should predict behavior across a wide variety of tasks and settings, and provide the organization with a set of core characteristics that distinguish it from other organizations.</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70"/>
          <p:cNvSpPr txBox="1"/>
          <p:nvPr>
            <p:ph idx="1" type="body"/>
          </p:nvPr>
        </p:nvSpPr>
        <p:spPr>
          <a:xfrm>
            <a:off x="311700" y="186150"/>
            <a:ext cx="8520600" cy="4658400"/>
          </a:xfrm>
          <a:prstGeom prst="rect">
            <a:avLst/>
          </a:prstGeom>
          <a:noFill/>
          <a:ln>
            <a:noFill/>
          </a:ln>
        </p:spPr>
        <p:txBody>
          <a:bodyPr anchorCtr="0" anchor="t" bIns="91425" lIns="91425" spcFirstLastPara="1" rIns="91425" wrap="square" tIns="91425">
            <a:normAutofit fontScale="92500" lnSpcReduction="10000"/>
          </a:bodyPr>
          <a:lstStyle/>
          <a:p>
            <a:pPr indent="-334327" lvl="0" marL="457200" rtl="0" algn="l">
              <a:lnSpc>
                <a:spcPct val="115000"/>
              </a:lnSpc>
              <a:spcBef>
                <a:spcPts val="0"/>
              </a:spcBef>
              <a:spcAft>
                <a:spcPts val="0"/>
              </a:spcAft>
              <a:buSzPct val="100000"/>
              <a:buChar char="●"/>
            </a:pPr>
            <a:r>
              <a:rPr lang="en"/>
              <a:t>Just as job analysis seeks to define jobs and work in terms of the match between required tasks and human attributes, competency modeling seeks to define organizational units (larger entities than simply jobs or even job families) in terms of the match between the goals and missions of those units and the competencies required to meet those goals and accomplish those missions. </a:t>
            </a:r>
            <a:endParaRPr/>
          </a:p>
          <a:p>
            <a:pPr indent="-334327" lvl="0" marL="457200" rtl="0" algn="l">
              <a:lnSpc>
                <a:spcPct val="115000"/>
              </a:lnSpc>
              <a:spcBef>
                <a:spcPts val="0"/>
              </a:spcBef>
              <a:spcAft>
                <a:spcPts val="0"/>
              </a:spcAft>
              <a:buSzPct val="100000"/>
              <a:buChar char="●"/>
            </a:pPr>
            <a:r>
              <a:rPr lang="en"/>
              <a:t>Thus, competency modeling is a natural extension of the job analysis logic rather than a replacement for job analysis. It is competency modeling that has the power to connect individual behavior with organizational viability and profitability.</a:t>
            </a:r>
            <a:endParaRPr/>
          </a:p>
          <a:p>
            <a:pPr indent="-334327" lvl="0" marL="457200" rtl="0" algn="l">
              <a:lnSpc>
                <a:spcPct val="115000"/>
              </a:lnSpc>
              <a:spcBef>
                <a:spcPts val="0"/>
              </a:spcBef>
              <a:spcAft>
                <a:spcPts val="0"/>
              </a:spcAft>
              <a:buSzPct val="100000"/>
              <a:buChar char="●"/>
            </a:pPr>
            <a:r>
              <a:rPr lang="en"/>
              <a:t>Like cognitive task analysis and the Personality-Related Position Requirements Form, competency modeling goes beyond traditional job  analysis by recognizing that work and the workplace are in a state of rapid evolution.</a:t>
            </a:r>
            <a:endParaRPr/>
          </a:p>
          <a:p>
            <a:pPr indent="-334327" lvl="0" marL="457200" rtl="0" algn="l">
              <a:lnSpc>
                <a:spcPct val="115000"/>
              </a:lnSpc>
              <a:spcBef>
                <a:spcPts val="0"/>
              </a:spcBef>
              <a:spcAft>
                <a:spcPts val="0"/>
              </a:spcAft>
              <a:buSzPct val="100000"/>
              <a:buChar char="●"/>
            </a:pPr>
            <a:r>
              <a:rPr lang="en"/>
              <a:t>Competency modeling is not without its critics. Much if not most of the criticism is about the definitions of competencies, although recent work (Bartram, 2005; Campion et al., 2011) addresses those issues. In addition, some have criticized the apparent lack of agreement between the results of traditional job analyses and those of competency modeling.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