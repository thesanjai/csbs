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24"/>
  </p:notesMasterIdLst>
  <p:sldIdLst>
    <p:sldId id="277" r:id="rId2"/>
    <p:sldId id="311" r:id="rId3"/>
    <p:sldId id="312" r:id="rId4"/>
    <p:sldId id="322" r:id="rId5"/>
    <p:sldId id="313" r:id="rId6"/>
    <p:sldId id="321" r:id="rId7"/>
    <p:sldId id="314" r:id="rId8"/>
    <p:sldId id="315" r:id="rId9"/>
    <p:sldId id="316" r:id="rId10"/>
    <p:sldId id="320" r:id="rId11"/>
    <p:sldId id="323" r:id="rId12"/>
    <p:sldId id="324" r:id="rId13"/>
    <p:sldId id="317" r:id="rId14"/>
    <p:sldId id="318" r:id="rId15"/>
    <p:sldId id="319" r:id="rId16"/>
    <p:sldId id="270" r:id="rId17"/>
    <p:sldId id="273" r:id="rId18"/>
    <p:sldId id="279" r:id="rId19"/>
    <p:sldId id="280" r:id="rId20"/>
    <p:sldId id="281" r:id="rId21"/>
    <p:sldId id="310" r:id="rId22"/>
    <p:sldId id="300" r:id="rId23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2574" autoAdjust="0"/>
    <p:restoredTop sz="94660"/>
  </p:normalViewPr>
  <p:slideViewPr>
    <p:cSldViewPr snapToGrid="0" showGuides="1">
      <p:cViewPr varScale="1">
        <p:scale>
          <a:sx n="65" d="100"/>
          <a:sy n="65" d="100"/>
        </p:scale>
        <p:origin x="954" y="78"/>
      </p:cViewPr>
      <p:guideLst/>
    </p:cSldViewPr>
  </p:slideViewPr>
  <p:notesTextViewPr>
    <p:cViewPr>
      <p:scale>
        <a:sx n="3" d="2"/>
        <a:sy n="3" d="2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viewProps" Target="viewProps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presProps" Target="presProp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notesMaster" Target="notesMasters/notesMaster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tableStyles" Target="tableStyle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theme" Target="theme/theme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IN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784580BB-5D0A-4EAE-8D66-95434CC2F03F}" type="datetimeFigureOut">
              <a:rPr lang="en-IN" smtClean="0"/>
              <a:t>15-04-2025</a:t>
            </a:fld>
            <a:endParaRPr lang="en-IN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IN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36AA1A66-A45D-4318-AA87-5E766EAA1ADE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69120138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36AA1A66-A45D-4318-AA87-5E766EAA1ADE}" type="slidenum">
              <a:rPr lang="en-IN" smtClean="0"/>
              <a:t>10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108193849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 smtClean="0"/>
              <a:t>Click to edit Master title style</a:t>
            </a:r>
            <a:endParaRPr lang="en-IN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 smtClean="0"/>
              <a:t>Click to edit Master subtitle style</a:t>
            </a:r>
            <a:endParaRPr lang="en-IN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DBCA144-E3BA-4639-8C9D-F8417232AE17}" type="datetimeFigureOut">
              <a:rPr lang="en-IN" smtClean="0"/>
              <a:t>15-04-2025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546D2A7-B370-410D-89B9-A86CA81B2AAC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622190022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IN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IN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DBCA144-E3BA-4639-8C9D-F8417232AE17}" type="datetimeFigureOut">
              <a:rPr lang="en-IN" smtClean="0"/>
              <a:t>15-04-2025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546D2A7-B370-410D-89B9-A86CA81B2AAC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646085004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 smtClean="0"/>
              <a:t>Click to edit Master title style</a:t>
            </a:r>
            <a:endParaRPr lang="en-IN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DBCA144-E3BA-4639-8C9D-F8417232AE17}" type="datetimeFigureOut">
              <a:rPr lang="en-IN" smtClean="0"/>
              <a:t>15-04-2025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546D2A7-B370-410D-89B9-A86CA81B2AAC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695263637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IN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IN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IN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DBCA144-E3BA-4639-8C9D-F8417232AE17}" type="datetimeFigureOut">
              <a:rPr lang="en-IN" smtClean="0"/>
              <a:t>15-04-2025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546D2A7-B370-410D-89B9-A86CA81B2AAC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621448170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IN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IN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IN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DBCA144-E3BA-4639-8C9D-F8417232AE17}" type="datetimeFigureOut">
              <a:rPr lang="en-IN" smtClean="0"/>
              <a:t>15-04-2025</a:t>
            </a:fld>
            <a:endParaRPr lang="en-IN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546D2A7-B370-410D-89B9-A86CA81B2AAC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77860661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IN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DBCA144-E3BA-4639-8C9D-F8417232AE17}" type="datetimeFigureOut">
              <a:rPr lang="en-IN" smtClean="0"/>
              <a:t>15-04-2025</a:t>
            </a:fld>
            <a:endParaRPr lang="en-IN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546D2A7-B370-410D-89B9-A86CA81B2AAC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619830839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DBCA144-E3BA-4639-8C9D-F8417232AE17}" type="datetimeFigureOut">
              <a:rPr lang="en-IN" smtClean="0"/>
              <a:t>15-04-2025</a:t>
            </a:fld>
            <a:endParaRPr lang="en-IN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546D2A7-B370-410D-89B9-A86CA81B2AAC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532896371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 smtClean="0"/>
              <a:t>Click to edit Master title style</a:t>
            </a:r>
            <a:endParaRPr lang="en-IN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IN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DBCA144-E3BA-4639-8C9D-F8417232AE17}" type="datetimeFigureOut">
              <a:rPr lang="en-IN" smtClean="0"/>
              <a:t>15-04-2025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546D2A7-B370-410D-89B9-A86CA81B2AAC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548014979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 smtClean="0"/>
              <a:t>Click to edit Master title style</a:t>
            </a:r>
            <a:endParaRPr lang="en-IN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IN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DBCA144-E3BA-4639-8C9D-F8417232AE17}" type="datetimeFigureOut">
              <a:rPr lang="en-IN" smtClean="0"/>
              <a:t>15-04-2025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546D2A7-B370-410D-89B9-A86CA81B2AAC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896737217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IN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IN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DBCA144-E3BA-4639-8C9D-F8417232AE17}" type="datetimeFigureOut">
              <a:rPr lang="en-IN" smtClean="0"/>
              <a:t>15-04-2025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546D2A7-B370-410D-89B9-A86CA81B2AAC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215722240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IN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IN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DBCA144-E3BA-4639-8C9D-F8417232AE17}" type="datetimeFigureOut">
              <a:rPr lang="en-IN" smtClean="0"/>
              <a:t>15-04-2025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546D2A7-B370-410D-89B9-A86CA81B2AAC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824048140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IN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IN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DBCA144-E3BA-4639-8C9D-F8417232AE17}" type="datetimeFigureOut">
              <a:rPr lang="en-IN" smtClean="0"/>
              <a:t>15-04-2025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A546D2A7-B370-410D-89B9-A86CA81B2AAC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86699815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.jpeg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8200" y="1071707"/>
            <a:ext cx="10515600" cy="1325563"/>
          </a:xfrm>
        </p:spPr>
        <p:txBody>
          <a:bodyPr>
            <a:normAutofit/>
          </a:bodyPr>
          <a:lstStyle/>
          <a:p>
            <a:pPr algn="ctr"/>
            <a:r>
              <a:rPr lang="en-IN" sz="4000" b="1" dirty="0" smtClean="0">
                <a:solidFill>
                  <a:srgbClr val="FF0000"/>
                </a:solidFill>
                <a:latin typeface="Bell MT" panose="02020503060305020303" pitchFamily="18" charset="0"/>
              </a:rPr>
              <a:t>Working Capital Management</a:t>
            </a:r>
            <a:br>
              <a:rPr lang="en-IN" sz="4000" b="1" dirty="0" smtClean="0">
                <a:solidFill>
                  <a:srgbClr val="FF0000"/>
                </a:solidFill>
                <a:latin typeface="Bell MT" panose="02020503060305020303" pitchFamily="18" charset="0"/>
              </a:rPr>
            </a:br>
            <a:r>
              <a:rPr lang="en-IN" sz="2000" b="1" dirty="0" smtClean="0">
                <a:solidFill>
                  <a:srgbClr val="FF0000"/>
                </a:solidFill>
                <a:latin typeface="Bell MT" panose="02020503060305020303" pitchFamily="18" charset="0"/>
              </a:rPr>
              <a:t>(Unit IV)</a:t>
            </a:r>
            <a:endParaRPr lang="en-IN" sz="2000" b="1" dirty="0">
              <a:solidFill>
                <a:srgbClr val="FF0000"/>
              </a:solidFill>
              <a:latin typeface="Bell MT" panose="02020503060305020303" pitchFamily="18" charset="0"/>
            </a:endParaRPr>
          </a:p>
        </p:txBody>
      </p:sp>
      <p:sp>
        <p:nvSpPr>
          <p:cNvPr id="4" name="Content Placeholder 2"/>
          <p:cNvSpPr>
            <a:spLocks noGrp="1"/>
          </p:cNvSpPr>
          <p:nvPr>
            <p:ph idx="1"/>
          </p:nvPr>
        </p:nvSpPr>
        <p:spPr>
          <a:xfrm>
            <a:off x="838200" y="2397270"/>
            <a:ext cx="10515600" cy="3599583"/>
          </a:xfrm>
        </p:spPr>
        <p:txBody>
          <a:bodyPr>
            <a:normAutofit/>
          </a:bodyPr>
          <a:lstStyle/>
          <a:p>
            <a:pPr marL="0" indent="0" algn="ctr">
              <a:buNone/>
            </a:pPr>
            <a:endParaRPr lang="en-IN" sz="3600" dirty="0" smtClean="0">
              <a:solidFill>
                <a:schemeClr val="accent5">
                  <a:lumMod val="50000"/>
                </a:schemeClr>
              </a:solidFill>
              <a:latin typeface="Bodoni MT" panose="02070603080606020203" pitchFamily="18" charset="0"/>
              <a:cs typeface="Arial" panose="020B0604020202020204" pitchFamily="34" charset="0"/>
            </a:endParaRPr>
          </a:p>
          <a:p>
            <a:pPr marL="0" indent="0" algn="ctr">
              <a:buNone/>
            </a:pPr>
            <a:r>
              <a:rPr lang="en-IN" sz="3600" b="1" dirty="0" smtClean="0">
                <a:solidFill>
                  <a:schemeClr val="accent5">
                    <a:lumMod val="50000"/>
                  </a:schemeClr>
                </a:solidFill>
                <a:latin typeface="Bodoni MT" panose="02070603080606020203" pitchFamily="18" charset="0"/>
                <a:cs typeface="Arial" panose="020B0604020202020204" pitchFamily="34" charset="0"/>
              </a:rPr>
              <a:t>Dr.M.Velavan</a:t>
            </a:r>
            <a:endParaRPr lang="en-IN" sz="3600" b="1" dirty="0">
              <a:solidFill>
                <a:schemeClr val="accent5">
                  <a:lumMod val="50000"/>
                </a:schemeClr>
              </a:solidFill>
              <a:latin typeface="Bodoni MT" panose="02070603080606020203" pitchFamily="18" charset="0"/>
              <a:cs typeface="Arial" panose="020B0604020202020204" pitchFamily="34" charset="0"/>
            </a:endParaRPr>
          </a:p>
          <a:p>
            <a:pPr marL="0" indent="0" algn="ctr">
              <a:buNone/>
            </a:pPr>
            <a:r>
              <a:rPr lang="en-IN" dirty="0" smtClean="0">
                <a:solidFill>
                  <a:schemeClr val="accent5">
                    <a:lumMod val="50000"/>
                  </a:schemeClr>
                </a:solidFill>
                <a:latin typeface="Bodoni MT" panose="02070603080606020203" pitchFamily="18" charset="0"/>
                <a:cs typeface="Arial" panose="020B0604020202020204" pitchFamily="34" charset="0"/>
              </a:rPr>
              <a:t>Faculty</a:t>
            </a:r>
          </a:p>
          <a:p>
            <a:pPr marL="0" indent="0" algn="ctr">
              <a:buNone/>
            </a:pPr>
            <a:r>
              <a:rPr lang="en-IN" dirty="0" smtClean="0">
                <a:solidFill>
                  <a:schemeClr val="accent5">
                    <a:lumMod val="50000"/>
                  </a:schemeClr>
                </a:solidFill>
                <a:latin typeface="Bodoni MT" panose="02070603080606020203" pitchFamily="18" charset="0"/>
                <a:cs typeface="Arial" panose="020B0604020202020204" pitchFamily="34" charset="0"/>
              </a:rPr>
              <a:t>School </a:t>
            </a:r>
            <a:r>
              <a:rPr lang="en-IN" dirty="0">
                <a:solidFill>
                  <a:schemeClr val="accent5">
                    <a:lumMod val="50000"/>
                  </a:schemeClr>
                </a:solidFill>
                <a:latin typeface="Bodoni MT" panose="02070603080606020203" pitchFamily="18" charset="0"/>
                <a:cs typeface="Arial" panose="020B0604020202020204" pitchFamily="34" charset="0"/>
              </a:rPr>
              <a:t>of Management</a:t>
            </a:r>
          </a:p>
          <a:p>
            <a:pPr marL="0" indent="0" algn="ctr">
              <a:buNone/>
            </a:pPr>
            <a:r>
              <a:rPr lang="en-IN" dirty="0">
                <a:solidFill>
                  <a:schemeClr val="accent5">
                    <a:lumMod val="50000"/>
                  </a:schemeClr>
                </a:solidFill>
                <a:latin typeface="Bodoni MT" panose="02070603080606020203" pitchFamily="18" charset="0"/>
                <a:cs typeface="Arial" panose="020B0604020202020204" pitchFamily="34" charset="0"/>
              </a:rPr>
              <a:t>SASTRA Deemed University</a:t>
            </a:r>
          </a:p>
          <a:p>
            <a:pPr marL="0" indent="0" algn="ctr">
              <a:buNone/>
            </a:pPr>
            <a:r>
              <a:rPr lang="en-IN" dirty="0">
                <a:solidFill>
                  <a:schemeClr val="accent5">
                    <a:lumMod val="50000"/>
                  </a:schemeClr>
                </a:solidFill>
                <a:latin typeface="Bodoni MT" panose="02070603080606020203" pitchFamily="18" charset="0"/>
                <a:cs typeface="Arial" panose="020B0604020202020204" pitchFamily="34" charset="0"/>
              </a:rPr>
              <a:t>Thanjavur </a:t>
            </a:r>
            <a:r>
              <a:rPr lang="en-IN" dirty="0" smtClean="0">
                <a:solidFill>
                  <a:schemeClr val="accent5">
                    <a:lumMod val="50000"/>
                  </a:schemeClr>
                </a:solidFill>
                <a:latin typeface="Bodoni MT" panose="02070603080606020203" pitchFamily="18" charset="0"/>
                <a:cs typeface="Arial" panose="020B0604020202020204" pitchFamily="34" charset="0"/>
              </a:rPr>
              <a:t>– 613 401</a:t>
            </a:r>
            <a:endParaRPr lang="en-IN" dirty="0">
              <a:solidFill>
                <a:schemeClr val="accent5">
                  <a:lumMod val="50000"/>
                </a:schemeClr>
              </a:solidFill>
              <a:latin typeface="Bodoni MT" panose="02070603080606020203" pitchFamily="18" charset="0"/>
              <a:cs typeface="Arial" panose="020B0604020202020204" pitchFamily="34" charset="0"/>
            </a:endParaRPr>
          </a:p>
          <a:p>
            <a:pPr algn="ctr"/>
            <a:endParaRPr lang="en-IN" dirty="0"/>
          </a:p>
        </p:txBody>
      </p:sp>
      <p:pic>
        <p:nvPicPr>
          <p:cNvPr id="5" name="Picture 4" descr="Image result for sastra logo"/>
          <p:cNvPicPr>
            <a:picLocks noChangeAspect="1" noChangeArrowheads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537700" y="389852"/>
            <a:ext cx="1816100" cy="5661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273055430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38200" y="870155"/>
            <a:ext cx="10515600" cy="5306808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IN" sz="2600" b="1" dirty="0" smtClean="0">
                <a:solidFill>
                  <a:srgbClr val="FF0000"/>
                </a:solidFill>
              </a:rPr>
              <a:t>Overview: </a:t>
            </a:r>
          </a:p>
          <a:p>
            <a:pPr marL="0" indent="0">
              <a:buNone/>
            </a:pPr>
            <a:endParaRPr lang="en-IN" sz="2600" dirty="0"/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 rotWithShape="1">
          <a:blip r:embed="rId2"/>
          <a:srcRect l="30919" t="22278" r="33035" b="21875"/>
          <a:stretch/>
        </p:blipFill>
        <p:spPr>
          <a:xfrm>
            <a:off x="2551471" y="1297858"/>
            <a:ext cx="6732229" cy="4498259"/>
          </a:xfrm>
          <a:prstGeom prst="rect">
            <a:avLst/>
          </a:prstGeom>
          <a:ln w="38100" cap="sq">
            <a:solidFill>
              <a:srgbClr val="000000"/>
            </a:solidFill>
            <a:prstDash val="solid"/>
            <a:miter lim="800000"/>
          </a:ln>
          <a:effectLst>
            <a:outerShdw blurRad="50800" dist="38100" dir="2700000" algn="tl" rotWithShape="0">
              <a:srgbClr val="000000">
                <a:alpha val="43000"/>
              </a:srgbClr>
            </a:outerShdw>
          </a:effectLst>
        </p:spPr>
      </p:pic>
      <p:pic>
        <p:nvPicPr>
          <p:cNvPr id="5" name="Picture 4" descr="Image result for sastra logo"/>
          <p:cNvPicPr>
            <a:picLocks noChangeAspect="1" noChangeArrowheads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537700" y="389852"/>
            <a:ext cx="1816100" cy="5661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1571056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38200" y="988142"/>
            <a:ext cx="10515600" cy="5070834"/>
          </a:xfrm>
        </p:spPr>
        <p:txBody>
          <a:bodyPr>
            <a:normAutofit/>
          </a:bodyPr>
          <a:lstStyle/>
          <a:p>
            <a:pPr marL="0" indent="0" algn="just">
              <a:buNone/>
            </a:pPr>
            <a:r>
              <a:rPr lang="en-IN" sz="2600" b="1" dirty="0" smtClean="0">
                <a:solidFill>
                  <a:srgbClr val="FF0000"/>
                </a:solidFill>
              </a:rPr>
              <a:t>1. Meaning: </a:t>
            </a:r>
          </a:p>
          <a:p>
            <a:pPr marL="0" indent="0" algn="just">
              <a:buNone/>
            </a:pPr>
            <a:r>
              <a:rPr lang="en-IN" sz="2600" dirty="0" smtClean="0"/>
              <a:t>In </a:t>
            </a:r>
            <a:r>
              <a:rPr lang="en-IN" sz="2600" dirty="0"/>
              <a:t>accounting </a:t>
            </a:r>
            <a:r>
              <a:rPr lang="en-IN" sz="2600" dirty="0" smtClean="0"/>
              <a:t>terms, </a:t>
            </a:r>
            <a:r>
              <a:rPr lang="en-IN" sz="2600" dirty="0"/>
              <a:t>working capital is defined as </a:t>
            </a:r>
            <a:r>
              <a:rPr lang="en-IN" sz="2600" b="1" dirty="0">
                <a:solidFill>
                  <a:srgbClr val="FF0000"/>
                </a:solidFill>
              </a:rPr>
              <a:t>the difference between </a:t>
            </a:r>
            <a:r>
              <a:rPr lang="en-IN" sz="2600" b="1" dirty="0" smtClean="0">
                <a:solidFill>
                  <a:srgbClr val="FF0000"/>
                </a:solidFill>
              </a:rPr>
              <a:t>current assets </a:t>
            </a:r>
            <a:r>
              <a:rPr lang="en-IN" sz="2600" b="1" dirty="0">
                <a:solidFill>
                  <a:srgbClr val="FF0000"/>
                </a:solidFill>
              </a:rPr>
              <a:t>and current liabilities.</a:t>
            </a:r>
            <a:r>
              <a:rPr lang="en-IN" sz="2600" dirty="0"/>
              <a:t> If we break down the components of working </a:t>
            </a:r>
            <a:r>
              <a:rPr lang="en-IN" sz="2600" dirty="0" smtClean="0"/>
              <a:t>capital we </a:t>
            </a:r>
            <a:r>
              <a:rPr lang="en-IN" sz="2600" dirty="0"/>
              <a:t>will find working capital as follows</a:t>
            </a:r>
            <a:r>
              <a:rPr lang="en-IN" sz="2600" dirty="0" smtClean="0"/>
              <a:t>:</a:t>
            </a:r>
          </a:p>
          <a:p>
            <a:pPr marL="0" indent="0" algn="just">
              <a:buNone/>
            </a:pPr>
            <a:endParaRPr lang="en-IN" sz="2600" dirty="0"/>
          </a:p>
          <a:p>
            <a:pPr marL="0" indent="0" algn="just">
              <a:buNone/>
            </a:pPr>
            <a:endParaRPr lang="en-IN" sz="2600" dirty="0"/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 rotWithShape="1">
          <a:blip r:embed="rId2"/>
          <a:srcRect l="26839" t="50303" r="27594" b="44254"/>
          <a:stretch/>
        </p:blipFill>
        <p:spPr>
          <a:xfrm>
            <a:off x="838200" y="2643569"/>
            <a:ext cx="10515600" cy="708540"/>
          </a:xfrm>
          <a:prstGeom prst="rect">
            <a:avLst/>
          </a:prstGeom>
        </p:spPr>
      </p:pic>
      <p:pic>
        <p:nvPicPr>
          <p:cNvPr id="5" name="Picture 4" descr="Image result for sastra logo"/>
          <p:cNvPicPr>
            <a:picLocks noChangeAspect="1" noChangeArrowheads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537700" y="389852"/>
            <a:ext cx="1816100" cy="5661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318474630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38200" y="986971"/>
            <a:ext cx="10515600" cy="5189992"/>
          </a:xfrm>
        </p:spPr>
        <p:txBody>
          <a:bodyPr>
            <a:normAutofit lnSpcReduction="10000"/>
          </a:bodyPr>
          <a:lstStyle/>
          <a:p>
            <a:pPr marL="0" indent="0" algn="just">
              <a:buNone/>
            </a:pPr>
            <a:r>
              <a:rPr lang="en-IN" sz="2600" b="1" dirty="0" smtClean="0">
                <a:solidFill>
                  <a:srgbClr val="FF0000"/>
                </a:solidFill>
              </a:rPr>
              <a:t>2. Definition </a:t>
            </a:r>
            <a:r>
              <a:rPr lang="en-IN" sz="2600" b="1" dirty="0">
                <a:solidFill>
                  <a:srgbClr val="FF0000"/>
                </a:solidFill>
              </a:rPr>
              <a:t>of Working Capital: </a:t>
            </a:r>
          </a:p>
          <a:p>
            <a:pPr marL="0" indent="0" algn="just">
              <a:buNone/>
            </a:pPr>
            <a:r>
              <a:rPr lang="en-IN" sz="2600" dirty="0"/>
              <a:t>Working capital refers to </a:t>
            </a:r>
            <a:r>
              <a:rPr lang="en-IN" sz="2600" b="1" dirty="0">
                <a:solidFill>
                  <a:srgbClr val="FF0000"/>
                </a:solidFill>
              </a:rPr>
              <a:t>the circulating capital required to meet the </a:t>
            </a:r>
            <a:r>
              <a:rPr lang="en-IN" sz="2600" b="1" dirty="0" smtClean="0">
                <a:solidFill>
                  <a:srgbClr val="FF0000"/>
                </a:solidFill>
              </a:rPr>
              <a:t>day-to-day </a:t>
            </a:r>
            <a:r>
              <a:rPr lang="en-IN" sz="2600" b="1" dirty="0">
                <a:solidFill>
                  <a:srgbClr val="FF0000"/>
                </a:solidFill>
              </a:rPr>
              <a:t>operations of a business firm. </a:t>
            </a:r>
            <a:r>
              <a:rPr lang="en-IN" sz="2600" dirty="0"/>
              <a:t>Working capital may be defined by various authors as follows: </a:t>
            </a:r>
          </a:p>
          <a:p>
            <a:pPr marL="0" indent="0" algn="just">
              <a:buNone/>
            </a:pPr>
            <a:r>
              <a:rPr lang="en-IN" sz="2600" dirty="0" smtClean="0"/>
              <a:t>1. According to Weston &amp; Brigham - “Working capital refers to a firm’s </a:t>
            </a:r>
            <a:r>
              <a:rPr lang="en-IN" sz="2600" b="1" dirty="0" smtClean="0">
                <a:solidFill>
                  <a:srgbClr val="FF0000"/>
                </a:solidFill>
              </a:rPr>
              <a:t>investment in short-term assets, </a:t>
            </a:r>
            <a:r>
              <a:rPr lang="en-IN" sz="2600" dirty="0" smtClean="0"/>
              <a:t>such as cash, amounts receivables, inventories etc. </a:t>
            </a:r>
          </a:p>
          <a:p>
            <a:pPr marL="0" indent="0" algn="just">
              <a:buNone/>
            </a:pPr>
            <a:r>
              <a:rPr lang="en-IN" sz="2600" dirty="0" smtClean="0"/>
              <a:t>2</a:t>
            </a:r>
            <a:r>
              <a:rPr lang="en-IN" sz="2600" dirty="0"/>
              <a:t>. </a:t>
            </a:r>
            <a:r>
              <a:rPr lang="en-IN" sz="2600" b="1" dirty="0">
                <a:solidFill>
                  <a:srgbClr val="FF0000"/>
                </a:solidFill>
              </a:rPr>
              <a:t>Working capital means current assets. </a:t>
            </a:r>
            <a:r>
              <a:rPr lang="en-IN" sz="2600" dirty="0"/>
              <a:t>—Mead, </a:t>
            </a:r>
            <a:r>
              <a:rPr lang="en-IN" sz="2600" dirty="0" smtClean="0"/>
              <a:t>Baker, </a:t>
            </a:r>
            <a:r>
              <a:rPr lang="en-IN" sz="2600" dirty="0"/>
              <a:t>and Malott. </a:t>
            </a:r>
          </a:p>
          <a:p>
            <a:pPr marL="0" indent="0" algn="just">
              <a:buNone/>
            </a:pPr>
            <a:r>
              <a:rPr lang="en-IN" sz="2600" dirty="0"/>
              <a:t>3. “The sum of the current assets is the working capital of the business” - J.S.Mill </a:t>
            </a:r>
          </a:p>
          <a:p>
            <a:pPr marL="0" indent="0" algn="just">
              <a:buNone/>
            </a:pPr>
            <a:r>
              <a:rPr lang="en-IN" sz="2600" dirty="0"/>
              <a:t>Working capital is defined as </a:t>
            </a:r>
            <a:r>
              <a:rPr lang="en-IN" sz="2600" b="1" dirty="0">
                <a:solidFill>
                  <a:srgbClr val="FF0000"/>
                </a:solidFill>
              </a:rPr>
              <a:t>“the excess of current assets over current liabilities and provisions”. </a:t>
            </a:r>
            <a:r>
              <a:rPr lang="en-IN" sz="2600" dirty="0" smtClean="0"/>
              <a:t>However, </a:t>
            </a:r>
            <a:r>
              <a:rPr lang="en-IN" sz="2600" dirty="0"/>
              <a:t>as per accounting terminology, it is </a:t>
            </a:r>
            <a:r>
              <a:rPr lang="en-IN" sz="2600" dirty="0" smtClean="0"/>
              <a:t>the difference </a:t>
            </a:r>
            <a:r>
              <a:rPr lang="en-IN" sz="2600" dirty="0"/>
              <a:t>between the inflow and outflow of funds.</a:t>
            </a:r>
          </a:p>
          <a:p>
            <a:pPr marL="0" indent="0" algn="just">
              <a:buNone/>
            </a:pPr>
            <a:endParaRPr lang="en-IN" sz="2600" dirty="0"/>
          </a:p>
          <a:p>
            <a:pPr marL="0" indent="0">
              <a:buNone/>
            </a:pPr>
            <a:endParaRPr lang="en-IN" sz="2600" dirty="0"/>
          </a:p>
        </p:txBody>
      </p:sp>
      <p:pic>
        <p:nvPicPr>
          <p:cNvPr id="4" name="Picture 3" descr="Image result for sastra logo"/>
          <p:cNvPicPr>
            <a:picLocks noChangeAspect="1" noChangeArrowheads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537700" y="389852"/>
            <a:ext cx="1816100" cy="5661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4616527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38200" y="978478"/>
            <a:ext cx="10515600" cy="5091113"/>
          </a:xfrm>
        </p:spPr>
        <p:txBody>
          <a:bodyPr>
            <a:normAutofit/>
          </a:bodyPr>
          <a:lstStyle/>
          <a:p>
            <a:pPr marL="0" indent="0" algn="just">
              <a:buNone/>
            </a:pPr>
            <a:r>
              <a:rPr lang="en-IN" sz="2600" b="1" dirty="0" smtClean="0">
                <a:solidFill>
                  <a:srgbClr val="FF0000"/>
                </a:solidFill>
              </a:rPr>
              <a:t>3. Working </a:t>
            </a:r>
            <a:r>
              <a:rPr lang="en-IN" sz="2600" b="1" dirty="0">
                <a:solidFill>
                  <a:srgbClr val="FF0000"/>
                </a:solidFill>
              </a:rPr>
              <a:t>Capital </a:t>
            </a:r>
            <a:r>
              <a:rPr lang="en-IN" sz="2600" b="1" dirty="0" smtClean="0">
                <a:solidFill>
                  <a:srgbClr val="FF0000"/>
                </a:solidFill>
              </a:rPr>
              <a:t>Management:</a:t>
            </a:r>
          </a:p>
          <a:p>
            <a:pPr marL="0" indent="0" algn="just">
              <a:buNone/>
            </a:pPr>
            <a:r>
              <a:rPr lang="en-IN" sz="2600" dirty="0" smtClean="0"/>
              <a:t> It is a process that </a:t>
            </a:r>
            <a:r>
              <a:rPr lang="en-IN" sz="2600" dirty="0"/>
              <a:t>is designed to ensure that </a:t>
            </a:r>
            <a:r>
              <a:rPr lang="en-IN" sz="2600" dirty="0" smtClean="0"/>
              <a:t>an organization </a:t>
            </a:r>
            <a:r>
              <a:rPr lang="en-IN" sz="2600" dirty="0"/>
              <a:t>operates efficiently by </a:t>
            </a:r>
            <a:r>
              <a:rPr lang="en-IN" sz="2600" b="1" dirty="0">
                <a:solidFill>
                  <a:srgbClr val="00B050"/>
                </a:solidFill>
              </a:rPr>
              <a:t>monitoring &amp; </a:t>
            </a:r>
            <a:r>
              <a:rPr lang="en-IN" sz="2600" b="1" dirty="0" smtClean="0">
                <a:solidFill>
                  <a:srgbClr val="00B050"/>
                </a:solidFill>
              </a:rPr>
              <a:t>and utilizing </a:t>
            </a:r>
            <a:r>
              <a:rPr lang="en-IN" sz="2600" b="1" dirty="0">
                <a:solidFill>
                  <a:srgbClr val="00B050"/>
                </a:solidFill>
              </a:rPr>
              <a:t>its current assets </a:t>
            </a:r>
            <a:r>
              <a:rPr lang="en-IN" sz="2600" b="1" dirty="0" smtClean="0">
                <a:solidFill>
                  <a:srgbClr val="00B050"/>
                </a:solidFill>
              </a:rPr>
              <a:t>and current </a:t>
            </a:r>
            <a:r>
              <a:rPr lang="en-IN" sz="2600" b="1" dirty="0">
                <a:solidFill>
                  <a:srgbClr val="00B050"/>
                </a:solidFill>
              </a:rPr>
              <a:t>liabilities to the best effect. </a:t>
            </a:r>
            <a:r>
              <a:rPr lang="en-IN" sz="2600" dirty="0" smtClean="0"/>
              <a:t>The primary </a:t>
            </a:r>
            <a:r>
              <a:rPr lang="en-IN" sz="2600" dirty="0"/>
              <a:t>objective is to enable a </a:t>
            </a:r>
            <a:r>
              <a:rPr lang="en-IN" sz="2600" dirty="0" smtClean="0"/>
              <a:t>company to </a:t>
            </a:r>
            <a:r>
              <a:rPr lang="en-IN" sz="2600" b="1" dirty="0" smtClean="0">
                <a:solidFill>
                  <a:srgbClr val="FF0000"/>
                </a:solidFill>
              </a:rPr>
              <a:t>maintain </a:t>
            </a:r>
            <a:r>
              <a:rPr lang="en-IN" sz="2600" b="1" dirty="0">
                <a:solidFill>
                  <a:srgbClr val="FF0000"/>
                </a:solidFill>
              </a:rPr>
              <a:t>sufficient cash flows in order to meet its </a:t>
            </a:r>
            <a:r>
              <a:rPr lang="en-IN" sz="2600" b="1" dirty="0" smtClean="0">
                <a:solidFill>
                  <a:srgbClr val="FF0000"/>
                </a:solidFill>
              </a:rPr>
              <a:t>day-to-day </a:t>
            </a:r>
            <a:r>
              <a:rPr lang="en-IN" sz="2600" b="1" dirty="0">
                <a:solidFill>
                  <a:srgbClr val="FF0000"/>
                </a:solidFill>
              </a:rPr>
              <a:t>operating </a:t>
            </a:r>
            <a:r>
              <a:rPr lang="en-IN" sz="2600" b="1" dirty="0" smtClean="0">
                <a:solidFill>
                  <a:srgbClr val="FF0000"/>
                </a:solidFill>
              </a:rPr>
              <a:t>expenses and </a:t>
            </a:r>
            <a:r>
              <a:rPr lang="en-IN" sz="2600" b="1" dirty="0">
                <a:solidFill>
                  <a:srgbClr val="FF0000"/>
                </a:solidFill>
              </a:rPr>
              <a:t>its short-term obligations.</a:t>
            </a:r>
          </a:p>
          <a:p>
            <a:pPr marL="0" indent="0" algn="just">
              <a:buNone/>
            </a:pPr>
            <a:endParaRPr lang="en-IN" sz="2600" dirty="0"/>
          </a:p>
        </p:txBody>
      </p:sp>
      <p:pic>
        <p:nvPicPr>
          <p:cNvPr id="5" name="Picture 4" descr="Image result for sastra logo"/>
          <p:cNvPicPr>
            <a:picLocks noChangeAspect="1" noChangeArrowheads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537700" y="389852"/>
            <a:ext cx="1816100" cy="5661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164480956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38200" y="1060655"/>
            <a:ext cx="10515600" cy="5072063"/>
          </a:xfrm>
        </p:spPr>
        <p:txBody>
          <a:bodyPr>
            <a:normAutofit/>
          </a:bodyPr>
          <a:lstStyle/>
          <a:p>
            <a:pPr marL="0" indent="0" algn="just">
              <a:buNone/>
            </a:pPr>
            <a:r>
              <a:rPr lang="en-IN" sz="2600" dirty="0"/>
              <a:t>The concept of working capital can also be explained through two angles.</a:t>
            </a:r>
          </a:p>
          <a:p>
            <a:pPr marL="0" indent="0" algn="just">
              <a:buNone/>
            </a:pPr>
            <a:endParaRPr lang="en-IN" sz="2600" dirty="0"/>
          </a:p>
          <a:p>
            <a:pPr marL="0" indent="0">
              <a:buNone/>
            </a:pPr>
            <a:endParaRPr lang="en-IN" sz="2600" dirty="0"/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502266" y="1622322"/>
            <a:ext cx="9187468" cy="2867162"/>
          </a:xfrm>
          <a:prstGeom prst="rect">
            <a:avLst/>
          </a:prstGeom>
        </p:spPr>
      </p:pic>
      <p:pic>
        <p:nvPicPr>
          <p:cNvPr id="5" name="Picture 4" descr="Image result for sastra logo"/>
          <p:cNvPicPr>
            <a:picLocks noChangeAspect="1" noChangeArrowheads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537700" y="389852"/>
            <a:ext cx="1816100" cy="5661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274356385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38200" y="1028700"/>
            <a:ext cx="10515600" cy="5148263"/>
          </a:xfrm>
        </p:spPr>
        <p:txBody>
          <a:bodyPr>
            <a:normAutofit/>
          </a:bodyPr>
          <a:lstStyle/>
          <a:p>
            <a:pPr marL="0" indent="0" algn="just">
              <a:buNone/>
            </a:pPr>
            <a:r>
              <a:rPr lang="en-IN" sz="2600" b="1" dirty="0" smtClean="0">
                <a:solidFill>
                  <a:srgbClr val="FF0000"/>
                </a:solidFill>
              </a:rPr>
              <a:t>a) Gross </a:t>
            </a:r>
            <a:r>
              <a:rPr lang="en-IN" sz="2600" b="1" dirty="0">
                <a:solidFill>
                  <a:srgbClr val="FF0000"/>
                </a:solidFill>
              </a:rPr>
              <a:t>working </a:t>
            </a:r>
            <a:r>
              <a:rPr lang="en-IN" sz="2600" b="1" dirty="0" smtClean="0">
                <a:solidFill>
                  <a:srgbClr val="FF0000"/>
                </a:solidFill>
              </a:rPr>
              <a:t>capital:</a:t>
            </a:r>
          </a:p>
          <a:p>
            <a:pPr marL="0" indent="0" algn="just">
              <a:buNone/>
            </a:pPr>
            <a:r>
              <a:rPr lang="en-IN" sz="2600" dirty="0" smtClean="0"/>
              <a:t>It refers </a:t>
            </a:r>
            <a:r>
              <a:rPr lang="en-IN" sz="2600" dirty="0"/>
              <a:t>to the firm’s </a:t>
            </a:r>
            <a:r>
              <a:rPr lang="en-IN" sz="2600" b="1" dirty="0">
                <a:solidFill>
                  <a:srgbClr val="FF0000"/>
                </a:solidFill>
              </a:rPr>
              <a:t>investment in current </a:t>
            </a:r>
            <a:r>
              <a:rPr lang="en-IN" sz="2600" b="1" dirty="0" smtClean="0">
                <a:solidFill>
                  <a:srgbClr val="FF0000"/>
                </a:solidFill>
              </a:rPr>
              <a:t>assets [Total Current Assets].</a:t>
            </a:r>
            <a:endParaRPr lang="en-IN" sz="2600" b="1" dirty="0">
              <a:solidFill>
                <a:srgbClr val="FF0000"/>
              </a:solidFill>
            </a:endParaRPr>
          </a:p>
          <a:p>
            <a:pPr marL="0" indent="0" algn="just">
              <a:buNone/>
            </a:pPr>
            <a:r>
              <a:rPr lang="en-IN" sz="2600" b="1" dirty="0" smtClean="0">
                <a:solidFill>
                  <a:srgbClr val="FF0000"/>
                </a:solidFill>
              </a:rPr>
              <a:t>b) Net </a:t>
            </a:r>
            <a:r>
              <a:rPr lang="en-IN" sz="2600" b="1" dirty="0">
                <a:solidFill>
                  <a:srgbClr val="FF0000"/>
                </a:solidFill>
              </a:rPr>
              <a:t>working </a:t>
            </a:r>
            <a:r>
              <a:rPr lang="en-IN" sz="2600" b="1" dirty="0" smtClean="0">
                <a:solidFill>
                  <a:srgbClr val="FF0000"/>
                </a:solidFill>
              </a:rPr>
              <a:t>capital: </a:t>
            </a:r>
            <a:endParaRPr lang="en-IN" sz="2600" dirty="0" smtClean="0"/>
          </a:p>
          <a:p>
            <a:pPr marL="0" indent="0" algn="just">
              <a:buNone/>
            </a:pPr>
            <a:r>
              <a:rPr lang="en-IN" sz="2600" dirty="0" smtClean="0"/>
              <a:t>It refers </a:t>
            </a:r>
            <a:r>
              <a:rPr lang="en-IN" sz="2600" dirty="0"/>
              <a:t>to the </a:t>
            </a:r>
            <a:r>
              <a:rPr lang="en-IN" sz="2600" b="1" dirty="0">
                <a:solidFill>
                  <a:srgbClr val="00B050"/>
                </a:solidFill>
              </a:rPr>
              <a:t>difference between current assets and </a:t>
            </a:r>
            <a:r>
              <a:rPr lang="en-IN" sz="2600" b="1" dirty="0" smtClean="0">
                <a:solidFill>
                  <a:srgbClr val="00B050"/>
                </a:solidFill>
              </a:rPr>
              <a:t>current liabilities [Current Assets-Current Liabilities].</a:t>
            </a:r>
          </a:p>
          <a:p>
            <a:pPr marL="0" indent="0" algn="just">
              <a:buNone/>
            </a:pPr>
            <a:r>
              <a:rPr lang="en-IN" sz="2600" b="1" dirty="0" smtClean="0">
                <a:solidFill>
                  <a:srgbClr val="FF0000"/>
                </a:solidFill>
              </a:rPr>
              <a:t>d) Permanent </a:t>
            </a:r>
            <a:r>
              <a:rPr lang="en-IN" sz="2600" b="1" dirty="0">
                <a:solidFill>
                  <a:srgbClr val="FF0000"/>
                </a:solidFill>
              </a:rPr>
              <a:t>working </a:t>
            </a:r>
            <a:r>
              <a:rPr lang="en-IN" sz="2600" b="1" dirty="0" smtClean="0">
                <a:solidFill>
                  <a:srgbClr val="FF0000"/>
                </a:solidFill>
              </a:rPr>
              <a:t>capital: </a:t>
            </a:r>
          </a:p>
          <a:p>
            <a:pPr marL="0" indent="0" algn="just">
              <a:buNone/>
            </a:pPr>
            <a:r>
              <a:rPr lang="en-IN" sz="2600" dirty="0" smtClean="0"/>
              <a:t>It refers </a:t>
            </a:r>
            <a:r>
              <a:rPr lang="en-IN" sz="2600" dirty="0"/>
              <a:t>to the base working capital, </a:t>
            </a:r>
            <a:r>
              <a:rPr lang="en-IN" sz="2600" b="1" dirty="0">
                <a:solidFill>
                  <a:srgbClr val="FF0000"/>
                </a:solidFill>
              </a:rPr>
              <a:t>which is the </a:t>
            </a:r>
            <a:r>
              <a:rPr lang="en-IN" sz="2600" b="1" dirty="0" smtClean="0">
                <a:solidFill>
                  <a:srgbClr val="FF0000"/>
                </a:solidFill>
              </a:rPr>
              <a:t>minimum level </a:t>
            </a:r>
            <a:r>
              <a:rPr lang="en-IN" sz="2600" b="1" dirty="0">
                <a:solidFill>
                  <a:srgbClr val="FF0000"/>
                </a:solidFill>
              </a:rPr>
              <a:t>of investment in the current assets that is carried by the entity at all times </a:t>
            </a:r>
            <a:r>
              <a:rPr lang="en-IN" sz="2600" b="1" dirty="0" smtClean="0">
                <a:solidFill>
                  <a:srgbClr val="FF0000"/>
                </a:solidFill>
              </a:rPr>
              <a:t>to carry out its day-to-day </a:t>
            </a:r>
            <a:r>
              <a:rPr lang="en-IN" sz="2600" b="1" dirty="0">
                <a:solidFill>
                  <a:srgbClr val="FF0000"/>
                </a:solidFill>
              </a:rPr>
              <a:t>activities. </a:t>
            </a:r>
            <a:r>
              <a:rPr lang="en-IN" sz="2600" dirty="0"/>
              <a:t>It generally stays invested in the business, unless </a:t>
            </a:r>
            <a:r>
              <a:rPr lang="en-IN" sz="2600" dirty="0" smtClean="0"/>
              <a:t>the operations </a:t>
            </a:r>
            <a:r>
              <a:rPr lang="en-IN" sz="2600" dirty="0"/>
              <a:t>are scaled up or down permanently which would also result in </a:t>
            </a:r>
            <a:r>
              <a:rPr lang="en-IN" sz="2600" dirty="0" smtClean="0"/>
              <a:t>an increase </a:t>
            </a:r>
            <a:r>
              <a:rPr lang="en-IN" sz="2600" dirty="0"/>
              <a:t>or decrease in permanent working capital. </a:t>
            </a:r>
            <a:r>
              <a:rPr lang="en-IN" sz="2600" b="1" dirty="0">
                <a:solidFill>
                  <a:srgbClr val="FF0000"/>
                </a:solidFill>
              </a:rPr>
              <a:t>It is generally financed by </a:t>
            </a:r>
            <a:r>
              <a:rPr lang="en-IN" sz="2600" b="1" dirty="0" smtClean="0">
                <a:solidFill>
                  <a:srgbClr val="FF0000"/>
                </a:solidFill>
              </a:rPr>
              <a:t>long-term sources </a:t>
            </a:r>
            <a:r>
              <a:rPr lang="en-IN" sz="2600" b="1" dirty="0">
                <a:solidFill>
                  <a:srgbClr val="FF0000"/>
                </a:solidFill>
              </a:rPr>
              <a:t>of finance.</a:t>
            </a:r>
          </a:p>
        </p:txBody>
      </p:sp>
      <p:pic>
        <p:nvPicPr>
          <p:cNvPr id="4" name="Picture 3" descr="Image result for sastra logo"/>
          <p:cNvPicPr>
            <a:picLocks noChangeAspect="1" noChangeArrowheads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537700" y="389852"/>
            <a:ext cx="1816100" cy="5661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423931820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38200" y="1085850"/>
            <a:ext cx="10515600" cy="5091113"/>
          </a:xfrm>
        </p:spPr>
        <p:txBody>
          <a:bodyPr>
            <a:normAutofit/>
          </a:bodyPr>
          <a:lstStyle/>
          <a:p>
            <a:pPr marL="0" indent="0" algn="just">
              <a:buNone/>
            </a:pPr>
            <a:r>
              <a:rPr lang="en-IN" sz="2600" b="1" dirty="0" smtClean="0">
                <a:solidFill>
                  <a:srgbClr val="FF0000"/>
                </a:solidFill>
              </a:rPr>
              <a:t>e) Temporary </a:t>
            </a:r>
            <a:r>
              <a:rPr lang="en-IN" sz="2600" b="1" dirty="0">
                <a:solidFill>
                  <a:srgbClr val="FF0000"/>
                </a:solidFill>
              </a:rPr>
              <a:t>working </a:t>
            </a:r>
            <a:r>
              <a:rPr lang="en-IN" sz="2600" b="1" dirty="0" smtClean="0">
                <a:solidFill>
                  <a:srgbClr val="FF0000"/>
                </a:solidFill>
              </a:rPr>
              <a:t>capital:</a:t>
            </a:r>
          </a:p>
          <a:p>
            <a:pPr marL="0" indent="0" algn="just">
              <a:buNone/>
            </a:pPr>
            <a:r>
              <a:rPr lang="en-IN" sz="2600" dirty="0" smtClean="0"/>
              <a:t>It refers </a:t>
            </a:r>
            <a:r>
              <a:rPr lang="en-IN" sz="2600" dirty="0"/>
              <a:t>to that part of total working capital, </a:t>
            </a:r>
            <a:r>
              <a:rPr lang="en-IN" sz="2600" b="1" dirty="0">
                <a:solidFill>
                  <a:srgbClr val="FF0000"/>
                </a:solidFill>
              </a:rPr>
              <a:t>which </a:t>
            </a:r>
            <a:r>
              <a:rPr lang="en-IN" sz="2600" b="1" dirty="0" smtClean="0">
                <a:solidFill>
                  <a:srgbClr val="FF0000"/>
                </a:solidFill>
              </a:rPr>
              <a:t>is required </a:t>
            </a:r>
            <a:r>
              <a:rPr lang="en-IN" sz="2600" b="1" dirty="0">
                <a:solidFill>
                  <a:srgbClr val="FF0000"/>
                </a:solidFill>
              </a:rPr>
              <a:t>by an entity in addition to the permanent working capital.</a:t>
            </a:r>
            <a:r>
              <a:rPr lang="en-IN" sz="2600" dirty="0"/>
              <a:t> It is also </a:t>
            </a:r>
            <a:r>
              <a:rPr lang="en-IN" sz="2600" dirty="0" smtClean="0"/>
              <a:t>called </a:t>
            </a:r>
            <a:r>
              <a:rPr lang="en-IN" sz="2600" b="1" dirty="0" smtClean="0">
                <a:solidFill>
                  <a:srgbClr val="FF0000"/>
                </a:solidFill>
              </a:rPr>
              <a:t>variable </a:t>
            </a:r>
            <a:r>
              <a:rPr lang="en-IN" sz="2600" b="1" dirty="0">
                <a:solidFill>
                  <a:srgbClr val="FF0000"/>
                </a:solidFill>
              </a:rPr>
              <a:t>or fluctuating working capital</a:t>
            </a:r>
            <a:r>
              <a:rPr lang="en-IN" sz="2600" b="1" dirty="0">
                <a:solidFill>
                  <a:srgbClr val="00B050"/>
                </a:solidFill>
              </a:rPr>
              <a:t> </a:t>
            </a:r>
            <a:r>
              <a:rPr lang="en-IN" sz="2600" dirty="0"/>
              <a:t>which is used</a:t>
            </a:r>
            <a:r>
              <a:rPr lang="en-IN" sz="2600" b="1" dirty="0">
                <a:solidFill>
                  <a:srgbClr val="FF0000"/>
                </a:solidFill>
              </a:rPr>
              <a:t> to finance the </a:t>
            </a:r>
            <a:r>
              <a:rPr lang="en-IN" sz="2600" b="1" dirty="0" smtClean="0">
                <a:solidFill>
                  <a:srgbClr val="FF0000"/>
                </a:solidFill>
              </a:rPr>
              <a:t>short-term working </a:t>
            </a:r>
            <a:r>
              <a:rPr lang="en-IN" sz="2600" b="1" dirty="0">
                <a:solidFill>
                  <a:srgbClr val="FF0000"/>
                </a:solidFill>
              </a:rPr>
              <a:t>capital requirements</a:t>
            </a:r>
            <a:r>
              <a:rPr lang="en-IN" sz="2600" dirty="0"/>
              <a:t> </a:t>
            </a:r>
            <a:r>
              <a:rPr lang="en-IN" sz="2600" dirty="0" smtClean="0"/>
              <a:t>which arise </a:t>
            </a:r>
            <a:r>
              <a:rPr lang="en-IN" sz="2600" dirty="0"/>
              <a:t>due to fluctuation in sales volume. </a:t>
            </a:r>
            <a:r>
              <a:rPr lang="en-IN" sz="2600" dirty="0" smtClean="0"/>
              <a:t>For instance</a:t>
            </a:r>
            <a:r>
              <a:rPr lang="en-IN" sz="2600" dirty="0"/>
              <a:t>, an organization would maintain increased levels of inventory to </a:t>
            </a:r>
            <a:r>
              <a:rPr lang="en-IN" sz="2600" dirty="0" smtClean="0"/>
              <a:t>meet increased </a:t>
            </a:r>
            <a:r>
              <a:rPr lang="en-IN" sz="2600" dirty="0"/>
              <a:t>seasonal demand.</a:t>
            </a:r>
          </a:p>
        </p:txBody>
      </p:sp>
      <p:pic>
        <p:nvPicPr>
          <p:cNvPr id="4" name="Picture 3" descr="Image result for sastra logo"/>
          <p:cNvPicPr>
            <a:picLocks noChangeAspect="1" noChangeArrowheads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537700" y="389852"/>
            <a:ext cx="1816100" cy="5661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391106332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38200" y="1085850"/>
            <a:ext cx="10515600" cy="5091113"/>
          </a:xfrm>
        </p:spPr>
        <p:txBody>
          <a:bodyPr>
            <a:normAutofit/>
          </a:bodyPr>
          <a:lstStyle/>
          <a:p>
            <a:pPr marL="0" indent="0" algn="just">
              <a:buNone/>
            </a:pPr>
            <a:r>
              <a:rPr lang="en-IN" sz="2600" dirty="0"/>
              <a:t>The following diagrams </a:t>
            </a:r>
            <a:r>
              <a:rPr lang="en-IN" sz="2600" dirty="0" smtClean="0"/>
              <a:t>show </a:t>
            </a:r>
            <a:r>
              <a:rPr lang="en-IN" sz="2600" b="1" dirty="0">
                <a:solidFill>
                  <a:srgbClr val="FF0000"/>
                </a:solidFill>
              </a:rPr>
              <a:t>Permanent and Temporary or Fluctuating or </a:t>
            </a:r>
            <a:r>
              <a:rPr lang="en-IN" sz="2600" b="1" dirty="0" smtClean="0">
                <a:solidFill>
                  <a:srgbClr val="FF0000"/>
                </a:solidFill>
              </a:rPr>
              <a:t>variable </a:t>
            </a:r>
            <a:r>
              <a:rPr lang="en-IN" sz="2600" dirty="0" smtClean="0"/>
              <a:t>working capital:</a:t>
            </a:r>
          </a:p>
          <a:p>
            <a:pPr marL="0" indent="0" algn="just">
              <a:buNone/>
            </a:pPr>
            <a:endParaRPr lang="en-IN" sz="2600" dirty="0"/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 rotWithShape="1">
          <a:blip r:embed="rId2"/>
          <a:srcRect l="29894" t="27920" r="31223" b="39584"/>
          <a:stretch/>
        </p:blipFill>
        <p:spPr>
          <a:xfrm>
            <a:off x="2006600" y="2247899"/>
            <a:ext cx="7994649" cy="3383643"/>
          </a:xfrm>
          <a:prstGeom prst="rect">
            <a:avLst/>
          </a:prstGeom>
          <a:ln w="38100" cap="sq">
            <a:solidFill>
              <a:srgbClr val="000000"/>
            </a:solidFill>
            <a:prstDash val="solid"/>
            <a:miter lim="800000"/>
          </a:ln>
          <a:effectLst>
            <a:outerShdw blurRad="50800" dist="38100" dir="2700000" algn="tl" rotWithShape="0">
              <a:srgbClr val="000000">
                <a:alpha val="43000"/>
              </a:srgbClr>
            </a:outerShdw>
          </a:effectLst>
        </p:spPr>
      </p:pic>
      <p:pic>
        <p:nvPicPr>
          <p:cNvPr id="5" name="Picture 4" descr="Image result for sastra logo"/>
          <p:cNvPicPr>
            <a:picLocks noChangeAspect="1" noChangeArrowheads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537700" y="389852"/>
            <a:ext cx="1816100" cy="5661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253387863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38200" y="1061883"/>
            <a:ext cx="10515600" cy="5115079"/>
          </a:xfrm>
        </p:spPr>
        <p:txBody>
          <a:bodyPr/>
          <a:lstStyle/>
          <a:p>
            <a:pPr marL="0" indent="0">
              <a:buNone/>
            </a:pPr>
            <a:r>
              <a:rPr lang="en-IN" sz="2600" b="1" dirty="0" smtClean="0">
                <a:solidFill>
                  <a:srgbClr val="FF0000"/>
                </a:solidFill>
              </a:rPr>
              <a:t>4. Determinants of Working Capital:</a:t>
            </a:r>
          </a:p>
          <a:p>
            <a:pPr marL="0" indent="0">
              <a:buNone/>
            </a:pPr>
            <a:endParaRPr lang="en-IN" dirty="0"/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 rotWithShape="1">
          <a:blip r:embed="rId3"/>
          <a:srcRect l="35995" t="21380" r="37055" b="33739"/>
          <a:stretch/>
        </p:blipFill>
        <p:spPr>
          <a:xfrm>
            <a:off x="3596251" y="1651819"/>
            <a:ext cx="4999498" cy="4291780"/>
          </a:xfrm>
          <a:prstGeom prst="rect">
            <a:avLst/>
          </a:prstGeom>
          <a:ln w="38100" cap="sq">
            <a:solidFill>
              <a:srgbClr val="000000"/>
            </a:solidFill>
            <a:prstDash val="solid"/>
            <a:miter lim="800000"/>
          </a:ln>
          <a:effectLst>
            <a:outerShdw blurRad="50800" dist="38100" dir="2700000" algn="tl" rotWithShape="0">
              <a:srgbClr val="000000">
                <a:alpha val="43000"/>
              </a:srgbClr>
            </a:outerShdw>
          </a:effectLst>
        </p:spPr>
      </p:pic>
      <p:pic>
        <p:nvPicPr>
          <p:cNvPr id="5" name="Picture 4" descr="Image result for sastra logo"/>
          <p:cNvPicPr>
            <a:picLocks noChangeAspect="1" noChangeArrowheads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537700" y="389852"/>
            <a:ext cx="1816100" cy="5661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396350453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38200" y="1047135"/>
            <a:ext cx="10515600" cy="5129828"/>
          </a:xfrm>
        </p:spPr>
        <p:txBody>
          <a:bodyPr>
            <a:normAutofit/>
          </a:bodyPr>
          <a:lstStyle/>
          <a:p>
            <a:pPr marL="0" indent="0" algn="just">
              <a:buNone/>
            </a:pPr>
            <a:r>
              <a:rPr lang="en-IN" sz="2600" b="1" dirty="0" smtClean="0">
                <a:solidFill>
                  <a:srgbClr val="FF0000"/>
                </a:solidFill>
              </a:rPr>
              <a:t>5. Management of Working Capital:</a:t>
            </a:r>
          </a:p>
          <a:p>
            <a:pPr marL="0" indent="0" algn="just">
              <a:buNone/>
            </a:pPr>
            <a:r>
              <a:rPr lang="en-IN" sz="2600" dirty="0" smtClean="0"/>
              <a:t>The </a:t>
            </a:r>
            <a:r>
              <a:rPr lang="en-IN" sz="2600" dirty="0"/>
              <a:t>importance of working capital for an entity can be compared to </a:t>
            </a:r>
            <a:r>
              <a:rPr lang="en-IN" sz="2600" dirty="0" smtClean="0"/>
              <a:t>the importance of life </a:t>
            </a:r>
            <a:r>
              <a:rPr lang="en-IN" sz="2600" dirty="0"/>
              <a:t>blood for a living body or of </a:t>
            </a:r>
            <a:r>
              <a:rPr lang="en-IN" sz="2600" dirty="0" smtClean="0"/>
              <a:t>lubricant</a:t>
            </a:r>
            <a:r>
              <a:rPr lang="en-IN" sz="2600" dirty="0"/>
              <a:t>/ fuel for an engine. Working capital </a:t>
            </a:r>
            <a:r>
              <a:rPr lang="en-IN" sz="2600" dirty="0" smtClean="0"/>
              <a:t>is required </a:t>
            </a:r>
            <a:r>
              <a:rPr lang="en-IN" sz="2600" dirty="0"/>
              <a:t>for </a:t>
            </a:r>
            <a:r>
              <a:rPr lang="en-IN" sz="2600" b="1" dirty="0" smtClean="0">
                <a:solidFill>
                  <a:srgbClr val="FF0000"/>
                </a:solidFill>
              </a:rPr>
              <a:t>the smooth </a:t>
            </a:r>
            <a:r>
              <a:rPr lang="en-IN" sz="2600" b="1" dirty="0">
                <a:solidFill>
                  <a:srgbClr val="FF0000"/>
                </a:solidFill>
              </a:rPr>
              <a:t>functioning of the business </a:t>
            </a:r>
            <a:r>
              <a:rPr lang="en-IN" sz="2600" dirty="0"/>
              <a:t>of an entity as lack of this </a:t>
            </a:r>
            <a:r>
              <a:rPr lang="en-IN" sz="2600" dirty="0" smtClean="0"/>
              <a:t>may interrupt </a:t>
            </a:r>
            <a:r>
              <a:rPr lang="en-IN" sz="2600" dirty="0"/>
              <a:t>the ordinary course of activities. Hence, the working capital </a:t>
            </a:r>
            <a:r>
              <a:rPr lang="en-IN" sz="2600" dirty="0" smtClean="0"/>
              <a:t>needs adequate </a:t>
            </a:r>
            <a:r>
              <a:rPr lang="en-IN" sz="2600" dirty="0"/>
              <a:t>attention and efficient management. </a:t>
            </a:r>
            <a:endParaRPr lang="en-IN" sz="2600" dirty="0" smtClean="0"/>
          </a:p>
          <a:p>
            <a:pPr marL="0" indent="0" algn="just">
              <a:buNone/>
            </a:pPr>
            <a:r>
              <a:rPr lang="en-IN" sz="2600" dirty="0" smtClean="0"/>
              <a:t>When </a:t>
            </a:r>
            <a:r>
              <a:rPr lang="en-IN" sz="2600" dirty="0"/>
              <a:t>we talk about </a:t>
            </a:r>
            <a:r>
              <a:rPr lang="en-IN" sz="2600" dirty="0" smtClean="0"/>
              <a:t>management</a:t>
            </a:r>
            <a:r>
              <a:rPr lang="en-IN" sz="2600" b="1" dirty="0">
                <a:solidFill>
                  <a:srgbClr val="FF0000"/>
                </a:solidFill>
              </a:rPr>
              <a:t>, it involves 3 Es i.e. Economy, </a:t>
            </a:r>
            <a:r>
              <a:rPr lang="en-IN" sz="2600" b="1" dirty="0" smtClean="0">
                <a:solidFill>
                  <a:srgbClr val="FF0000"/>
                </a:solidFill>
              </a:rPr>
              <a:t>Efficiency, </a:t>
            </a:r>
            <a:r>
              <a:rPr lang="en-IN" sz="2600" b="1" dirty="0">
                <a:solidFill>
                  <a:srgbClr val="FF0000"/>
                </a:solidFill>
              </a:rPr>
              <a:t>and </a:t>
            </a:r>
            <a:r>
              <a:rPr lang="en-IN" sz="2600" b="1" dirty="0" smtClean="0">
                <a:solidFill>
                  <a:srgbClr val="FF0000"/>
                </a:solidFill>
              </a:rPr>
              <a:t>Effectiveness, </a:t>
            </a:r>
            <a:r>
              <a:rPr lang="en-IN" sz="2600" dirty="0"/>
              <a:t>and </a:t>
            </a:r>
            <a:r>
              <a:rPr lang="en-IN" sz="2600" dirty="0" smtClean="0"/>
              <a:t>all these </a:t>
            </a:r>
            <a:r>
              <a:rPr lang="en-IN" sz="2600" dirty="0"/>
              <a:t>three are required for </a:t>
            </a:r>
            <a:r>
              <a:rPr lang="en-IN" sz="2600" dirty="0" smtClean="0"/>
              <a:t>working </a:t>
            </a:r>
            <a:r>
              <a:rPr lang="en-IN" sz="2600" dirty="0"/>
              <a:t>capital management.</a:t>
            </a:r>
          </a:p>
          <a:p>
            <a:pPr marL="0" indent="0" algn="just">
              <a:buNone/>
            </a:pPr>
            <a:r>
              <a:rPr lang="en-IN" sz="2600" dirty="0"/>
              <a:t>The scope of working capital management can be grouped into two broad areas</a:t>
            </a:r>
            <a:r>
              <a:rPr lang="en-IN" sz="2600" dirty="0" smtClean="0"/>
              <a:t>: (</a:t>
            </a:r>
            <a:r>
              <a:rPr lang="en-IN" sz="2600" b="1" dirty="0">
                <a:solidFill>
                  <a:srgbClr val="FF0000"/>
                </a:solidFill>
              </a:rPr>
              <a:t>i) Liquidity and Profitability </a:t>
            </a:r>
            <a:r>
              <a:rPr lang="en-IN" sz="2600" b="1" dirty="0" smtClean="0">
                <a:solidFill>
                  <a:srgbClr val="FF0000"/>
                </a:solidFill>
              </a:rPr>
              <a:t>and (ii</a:t>
            </a:r>
            <a:r>
              <a:rPr lang="en-IN" sz="2600" b="1" dirty="0">
                <a:solidFill>
                  <a:srgbClr val="FF0000"/>
                </a:solidFill>
              </a:rPr>
              <a:t>) Investment and Financing </a:t>
            </a:r>
            <a:r>
              <a:rPr lang="en-IN" sz="2600" b="1" dirty="0" smtClean="0">
                <a:solidFill>
                  <a:srgbClr val="FF0000"/>
                </a:solidFill>
              </a:rPr>
              <a:t>Decisions.</a:t>
            </a:r>
            <a:endParaRPr lang="en-IN" sz="2600" b="1" dirty="0">
              <a:solidFill>
                <a:srgbClr val="FF0000"/>
              </a:solidFill>
            </a:endParaRPr>
          </a:p>
        </p:txBody>
      </p:sp>
      <p:pic>
        <p:nvPicPr>
          <p:cNvPr id="4" name="Picture 3" descr="Image result for sastra logo"/>
          <p:cNvPicPr>
            <a:picLocks noChangeAspect="1" noChangeArrowheads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537700" y="301362"/>
            <a:ext cx="1816100" cy="5661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153443345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Content Placeholder 3"/>
          <p:cNvPicPr>
            <a:picLocks noGrp="1" noChangeAspect="1"/>
          </p:cNvPicPr>
          <p:nvPr>
            <p:ph idx="1"/>
          </p:nvPr>
        </p:nvPicPr>
        <p:blipFill rotWithShape="1">
          <a:blip r:embed="rId2"/>
          <a:srcRect l="28592" t="49387" r="31771" b="33648"/>
          <a:stretch/>
        </p:blipFill>
        <p:spPr>
          <a:xfrm>
            <a:off x="2266950" y="1200150"/>
            <a:ext cx="7943850" cy="2609850"/>
          </a:xfrm>
          <a:prstGeom prst="rect">
            <a:avLst/>
          </a:prstGeom>
        </p:spPr>
      </p:pic>
      <p:pic>
        <p:nvPicPr>
          <p:cNvPr id="5" name="Picture 4" descr="Image result for sastra logo"/>
          <p:cNvPicPr>
            <a:picLocks noChangeAspect="1" noChangeArrowheads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537700" y="389852"/>
            <a:ext cx="1816100" cy="5661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264393479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38200" y="1030514"/>
            <a:ext cx="10515600" cy="5146449"/>
          </a:xfrm>
        </p:spPr>
        <p:txBody>
          <a:bodyPr>
            <a:noAutofit/>
          </a:bodyPr>
          <a:lstStyle/>
          <a:p>
            <a:pPr marL="0" indent="0" algn="just">
              <a:buNone/>
            </a:pPr>
            <a:r>
              <a:rPr lang="en-IN" sz="2600" b="1" dirty="0">
                <a:solidFill>
                  <a:srgbClr val="FF0000"/>
                </a:solidFill>
              </a:rPr>
              <a:t>6</a:t>
            </a:r>
            <a:r>
              <a:rPr lang="en-IN" sz="2600" b="1" dirty="0" smtClean="0">
                <a:solidFill>
                  <a:srgbClr val="FF0000"/>
                </a:solidFill>
              </a:rPr>
              <a:t>. Estimating Working Capital Needs:</a:t>
            </a:r>
          </a:p>
          <a:p>
            <a:pPr marL="0" indent="0" algn="just">
              <a:buNone/>
            </a:pPr>
            <a:r>
              <a:rPr lang="en-IN" sz="2600" dirty="0" smtClean="0"/>
              <a:t>Operating </a:t>
            </a:r>
            <a:r>
              <a:rPr lang="en-IN" sz="2600" dirty="0"/>
              <a:t>cycle is one of the most reliable methods of Computation of </a:t>
            </a:r>
            <a:r>
              <a:rPr lang="en-IN" sz="2600" dirty="0" smtClean="0"/>
              <a:t>Working Capital.</a:t>
            </a:r>
          </a:p>
          <a:p>
            <a:pPr marL="0" indent="0" algn="just">
              <a:buNone/>
            </a:pPr>
            <a:r>
              <a:rPr lang="en-IN" sz="2600" b="1" dirty="0" smtClean="0">
                <a:solidFill>
                  <a:srgbClr val="FF0000"/>
                </a:solidFill>
              </a:rPr>
              <a:t>a) Operating or Working Capital Cycle:</a:t>
            </a:r>
          </a:p>
          <a:p>
            <a:pPr marL="0" indent="0" algn="just">
              <a:buNone/>
            </a:pPr>
            <a:r>
              <a:rPr lang="en-IN" sz="2600" dirty="0" smtClean="0"/>
              <a:t>Working </a:t>
            </a:r>
            <a:r>
              <a:rPr lang="en-IN" sz="2600" dirty="0"/>
              <a:t>Capital cycle indicates </a:t>
            </a:r>
            <a:r>
              <a:rPr lang="en-IN" sz="2600" b="1" dirty="0">
                <a:solidFill>
                  <a:srgbClr val="00B050"/>
                </a:solidFill>
              </a:rPr>
              <a:t>the length of time between a company’s paying </a:t>
            </a:r>
            <a:r>
              <a:rPr lang="en-IN" sz="2600" b="1" dirty="0" smtClean="0">
                <a:solidFill>
                  <a:srgbClr val="00B050"/>
                </a:solidFill>
              </a:rPr>
              <a:t>for materials</a:t>
            </a:r>
            <a:r>
              <a:rPr lang="en-IN" sz="2600" b="1" dirty="0">
                <a:solidFill>
                  <a:srgbClr val="00B050"/>
                </a:solidFill>
              </a:rPr>
              <a:t>, entering into </a:t>
            </a:r>
            <a:r>
              <a:rPr lang="en-IN" sz="2600" b="1" dirty="0" smtClean="0">
                <a:solidFill>
                  <a:srgbClr val="00B050"/>
                </a:solidFill>
              </a:rPr>
              <a:t>stock, </a:t>
            </a:r>
            <a:r>
              <a:rPr lang="en-IN" sz="2600" b="1" dirty="0">
                <a:solidFill>
                  <a:srgbClr val="00B050"/>
                </a:solidFill>
              </a:rPr>
              <a:t>and receiving the cash from sales of finished </a:t>
            </a:r>
            <a:r>
              <a:rPr lang="en-IN" sz="2600" b="1" dirty="0" smtClean="0">
                <a:solidFill>
                  <a:srgbClr val="00B050"/>
                </a:solidFill>
              </a:rPr>
              <a:t>goods. </a:t>
            </a:r>
            <a:r>
              <a:rPr lang="en-IN" sz="2600" dirty="0" smtClean="0"/>
              <a:t>It </a:t>
            </a:r>
            <a:r>
              <a:rPr lang="en-IN" sz="2600" dirty="0"/>
              <a:t>can be determined by adding </a:t>
            </a:r>
            <a:r>
              <a:rPr lang="en-IN" sz="2600" b="1" dirty="0">
                <a:solidFill>
                  <a:srgbClr val="FF0000"/>
                </a:solidFill>
              </a:rPr>
              <a:t>the number of days required for each stage in </a:t>
            </a:r>
            <a:r>
              <a:rPr lang="en-IN" sz="2600" b="1" dirty="0" smtClean="0">
                <a:solidFill>
                  <a:srgbClr val="FF0000"/>
                </a:solidFill>
              </a:rPr>
              <a:t>the cycle</a:t>
            </a:r>
            <a:r>
              <a:rPr lang="en-IN" sz="2600" b="1" dirty="0">
                <a:solidFill>
                  <a:srgbClr val="FF0000"/>
                </a:solidFill>
              </a:rPr>
              <a:t>.</a:t>
            </a:r>
            <a:r>
              <a:rPr lang="en-IN" sz="2600" dirty="0"/>
              <a:t> For example, a company holds raw materials on an average for 60 days, </a:t>
            </a:r>
            <a:r>
              <a:rPr lang="en-IN" sz="2600" dirty="0" smtClean="0"/>
              <a:t>it gets </a:t>
            </a:r>
            <a:r>
              <a:rPr lang="en-IN" sz="2600" dirty="0"/>
              <a:t>credit from the supplier for 15 days, </a:t>
            </a:r>
            <a:r>
              <a:rPr lang="en-IN" sz="2600" dirty="0" smtClean="0"/>
              <a:t>the production </a:t>
            </a:r>
            <a:r>
              <a:rPr lang="en-IN" sz="2600" dirty="0"/>
              <a:t>process needs 15 </a:t>
            </a:r>
            <a:r>
              <a:rPr lang="en-IN" sz="2600" dirty="0" smtClean="0"/>
              <a:t>days, finished </a:t>
            </a:r>
            <a:r>
              <a:rPr lang="en-IN" sz="2600" dirty="0"/>
              <a:t>goods are held for 30 </a:t>
            </a:r>
            <a:r>
              <a:rPr lang="en-IN" sz="2600" dirty="0" smtClean="0"/>
              <a:t>days, </a:t>
            </a:r>
            <a:r>
              <a:rPr lang="en-IN" sz="2600" dirty="0"/>
              <a:t>and 30 days credit is extended to debtors. </a:t>
            </a:r>
            <a:r>
              <a:rPr lang="en-IN" sz="2600" dirty="0" smtClean="0"/>
              <a:t>The total </a:t>
            </a:r>
            <a:r>
              <a:rPr lang="en-IN" sz="2600" dirty="0"/>
              <a:t>of all these, 120 days, i.e., 60 – 15 + 15 + 30 + 30 days is the total </a:t>
            </a:r>
            <a:r>
              <a:rPr lang="en-IN" sz="2600" dirty="0" smtClean="0"/>
              <a:t>working capital </a:t>
            </a:r>
            <a:r>
              <a:rPr lang="en-IN" sz="2600" dirty="0"/>
              <a:t>cycle.</a:t>
            </a:r>
          </a:p>
        </p:txBody>
      </p:sp>
      <p:pic>
        <p:nvPicPr>
          <p:cNvPr id="4" name="Picture 3" descr="Image result for sastra logo"/>
          <p:cNvPicPr>
            <a:picLocks noChangeAspect="1" noChangeArrowheads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537700" y="389852"/>
            <a:ext cx="1816100" cy="5661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151155095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Content Placeholder 3"/>
          <p:cNvPicPr>
            <a:picLocks noGrp="1" noChangeAspect="1"/>
          </p:cNvPicPr>
          <p:nvPr>
            <p:ph idx="1"/>
          </p:nvPr>
        </p:nvPicPr>
        <p:blipFill rotWithShape="1">
          <a:blip r:embed="rId2"/>
          <a:srcRect l="39546" t="28889" r="36972" b="40787"/>
          <a:stretch/>
        </p:blipFill>
        <p:spPr>
          <a:xfrm>
            <a:off x="2960915" y="1277258"/>
            <a:ext cx="5254172" cy="3425372"/>
          </a:xfrm>
          <a:prstGeom prst="rect">
            <a:avLst/>
          </a:prstGeom>
          <a:ln w="38100" cap="sq">
            <a:solidFill>
              <a:srgbClr val="000000"/>
            </a:solidFill>
            <a:prstDash val="solid"/>
            <a:miter lim="800000"/>
          </a:ln>
          <a:effectLst>
            <a:outerShdw blurRad="50800" dist="38100" dir="2700000" algn="tl" rotWithShape="0">
              <a:srgbClr val="000000">
                <a:alpha val="43000"/>
              </a:srgbClr>
            </a:outerShdw>
          </a:effectLst>
        </p:spPr>
      </p:pic>
      <p:pic>
        <p:nvPicPr>
          <p:cNvPr id="5" name="Picture 4" descr="Image result for sastra logo"/>
          <p:cNvPicPr>
            <a:picLocks noChangeAspect="1" noChangeArrowheads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537700" y="389852"/>
            <a:ext cx="1816100" cy="5661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49721800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38200" y="1034436"/>
            <a:ext cx="10515600" cy="5275263"/>
          </a:xfrm>
        </p:spPr>
        <p:txBody>
          <a:bodyPr>
            <a:normAutofit fontScale="92500" lnSpcReduction="20000"/>
          </a:bodyPr>
          <a:lstStyle/>
          <a:p>
            <a:pPr marL="0" indent="0" algn="just">
              <a:buNone/>
            </a:pPr>
            <a:r>
              <a:rPr lang="en-IN" b="1" dirty="0">
                <a:solidFill>
                  <a:srgbClr val="FF0000"/>
                </a:solidFill>
              </a:rPr>
              <a:t>The duration of </a:t>
            </a:r>
            <a:r>
              <a:rPr lang="en-IN" b="1" dirty="0" smtClean="0">
                <a:solidFill>
                  <a:srgbClr val="FF0000"/>
                </a:solidFill>
              </a:rPr>
              <a:t>the working </a:t>
            </a:r>
            <a:r>
              <a:rPr lang="en-IN" b="1" dirty="0">
                <a:solidFill>
                  <a:srgbClr val="FF0000"/>
                </a:solidFill>
              </a:rPr>
              <a:t>capital cycle may vary depending on the nature of </a:t>
            </a:r>
            <a:r>
              <a:rPr lang="en-IN" b="1" dirty="0" smtClean="0">
                <a:solidFill>
                  <a:srgbClr val="FF0000"/>
                </a:solidFill>
              </a:rPr>
              <a:t>the business</a:t>
            </a:r>
            <a:r>
              <a:rPr lang="en-IN" b="1" dirty="0">
                <a:solidFill>
                  <a:srgbClr val="FF0000"/>
                </a:solidFill>
              </a:rPr>
              <a:t>.</a:t>
            </a:r>
          </a:p>
          <a:p>
            <a:pPr marL="0" indent="0" algn="just">
              <a:buNone/>
            </a:pPr>
            <a:r>
              <a:rPr lang="en-IN" dirty="0"/>
              <a:t>In the form of an equation, the operating cycle process can be expressed as follows</a:t>
            </a:r>
            <a:r>
              <a:rPr lang="en-IN" dirty="0" smtClean="0"/>
              <a:t>:</a:t>
            </a:r>
          </a:p>
          <a:p>
            <a:pPr marL="0" indent="0" algn="just">
              <a:buNone/>
            </a:pPr>
            <a:endParaRPr lang="en-IN" dirty="0"/>
          </a:p>
          <a:p>
            <a:pPr marL="0" indent="0" algn="just">
              <a:buNone/>
            </a:pPr>
            <a:endParaRPr lang="en-IN" dirty="0" smtClean="0"/>
          </a:p>
          <a:p>
            <a:pPr marL="0" indent="0" algn="just">
              <a:buNone/>
            </a:pPr>
            <a:r>
              <a:rPr lang="en-IN" b="1" dirty="0">
                <a:solidFill>
                  <a:srgbClr val="FF0000"/>
                </a:solidFill>
              </a:rPr>
              <a:t>Where,</a:t>
            </a:r>
          </a:p>
          <a:p>
            <a:pPr marL="0" indent="0" algn="just">
              <a:buNone/>
            </a:pPr>
            <a:r>
              <a:rPr lang="en-IN" dirty="0"/>
              <a:t>R = Raw material storage period</a:t>
            </a:r>
          </a:p>
          <a:p>
            <a:pPr marL="0" indent="0" algn="just">
              <a:buNone/>
            </a:pPr>
            <a:r>
              <a:rPr lang="en-IN" dirty="0"/>
              <a:t>W = Work-in-progress inventory * holding period</a:t>
            </a:r>
          </a:p>
          <a:p>
            <a:pPr marL="0" indent="0" algn="just">
              <a:buNone/>
            </a:pPr>
            <a:r>
              <a:rPr lang="en-IN" dirty="0"/>
              <a:t>F = Finished goods storage period</a:t>
            </a:r>
          </a:p>
          <a:p>
            <a:pPr marL="0" indent="0" algn="just">
              <a:buNone/>
            </a:pPr>
            <a:r>
              <a:rPr lang="en-IN" dirty="0"/>
              <a:t>D = Receivables (Debtors) collection period.</a:t>
            </a:r>
          </a:p>
          <a:p>
            <a:pPr marL="0" indent="0" algn="just">
              <a:buNone/>
            </a:pPr>
            <a:r>
              <a:rPr lang="en-IN" dirty="0"/>
              <a:t>C = Credit period allowed by suppliers (Creditors).</a:t>
            </a:r>
          </a:p>
          <a:p>
            <a:pPr marL="0" indent="0" algn="just">
              <a:buNone/>
            </a:pPr>
            <a:r>
              <a:rPr lang="en-IN" dirty="0"/>
              <a:t>* work in progress inventory may also be termed as works cost.</a:t>
            </a:r>
            <a:endParaRPr lang="en-IN" dirty="0" smtClean="0"/>
          </a:p>
          <a:p>
            <a:pPr marL="0" indent="0" algn="just">
              <a:buNone/>
            </a:pPr>
            <a:endParaRPr lang="en-IN" dirty="0"/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 rotWithShape="1">
          <a:blip r:embed="rId2"/>
          <a:srcRect l="28805" t="37649" r="29586" b="57788"/>
          <a:stretch/>
        </p:blipFill>
        <p:spPr>
          <a:xfrm>
            <a:off x="838200" y="2423884"/>
            <a:ext cx="10515600" cy="586015"/>
          </a:xfrm>
          <a:prstGeom prst="rect">
            <a:avLst/>
          </a:prstGeom>
        </p:spPr>
      </p:pic>
      <p:pic>
        <p:nvPicPr>
          <p:cNvPr id="5" name="Picture 4" descr="Image result for sastra logo"/>
          <p:cNvPicPr>
            <a:picLocks noChangeAspect="1" noChangeArrowheads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537700" y="389852"/>
            <a:ext cx="1816100" cy="5661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270322251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38200" y="928255"/>
            <a:ext cx="10515600" cy="5248708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IN" sz="2600" dirty="0" smtClean="0">
                <a:solidFill>
                  <a:srgbClr val="FF0000"/>
                </a:solidFill>
              </a:rPr>
              <a:t>Each of the components of the operating cycle can be put as follows:</a:t>
            </a:r>
          </a:p>
          <a:p>
            <a:pPr marL="0" indent="0">
              <a:buNone/>
            </a:pPr>
            <a:r>
              <a:rPr lang="en-IN" sz="2600" dirty="0" smtClean="0"/>
              <a:t>R = </a:t>
            </a:r>
            <a:r>
              <a:rPr lang="en-US" sz="2400" dirty="0"/>
              <a:t>(Average stock of raw materials held/Average consumption per day</a:t>
            </a:r>
            <a:r>
              <a:rPr lang="en-US" sz="2400" dirty="0" smtClean="0"/>
              <a:t>)</a:t>
            </a:r>
          </a:p>
          <a:p>
            <a:pPr marL="0" indent="0">
              <a:buNone/>
            </a:pPr>
            <a:r>
              <a:rPr lang="en-US" sz="2400" dirty="0" smtClean="0"/>
              <a:t>W = (Average </a:t>
            </a:r>
            <a:r>
              <a:rPr lang="en-US" sz="2400" dirty="0"/>
              <a:t>stock of WIP maintained/Average cost of production per day) </a:t>
            </a:r>
            <a:endParaRPr lang="en-US" sz="2400" dirty="0" smtClean="0"/>
          </a:p>
          <a:p>
            <a:pPr marL="0" indent="0">
              <a:buNone/>
            </a:pPr>
            <a:r>
              <a:rPr lang="en-US" sz="2400" dirty="0" smtClean="0"/>
              <a:t>F = </a:t>
            </a:r>
            <a:r>
              <a:rPr lang="en-US" sz="2400" dirty="0"/>
              <a:t>(Average stock of finished goods </a:t>
            </a:r>
            <a:r>
              <a:rPr lang="en-US" sz="2400" dirty="0" smtClean="0"/>
              <a:t>/ </a:t>
            </a:r>
            <a:r>
              <a:rPr lang="en-US" sz="2400" dirty="0"/>
              <a:t>Average cost of goods sold per day) </a:t>
            </a:r>
          </a:p>
          <a:p>
            <a:pPr marL="0" indent="0">
              <a:buNone/>
            </a:pPr>
            <a:r>
              <a:rPr lang="en-US" sz="2400" dirty="0" smtClean="0"/>
              <a:t>D = </a:t>
            </a:r>
            <a:r>
              <a:rPr lang="en-US" sz="2400" dirty="0"/>
              <a:t>(Average book debts/Average credit sales per day) </a:t>
            </a:r>
          </a:p>
          <a:p>
            <a:pPr marL="0" indent="0">
              <a:buNone/>
            </a:pPr>
            <a:r>
              <a:rPr lang="en-US" sz="2400" dirty="0" smtClean="0"/>
              <a:t>C = </a:t>
            </a:r>
            <a:r>
              <a:rPr lang="en-US" sz="2400" dirty="0"/>
              <a:t>(Average trade creditors/Average credit purchases per day) </a:t>
            </a:r>
          </a:p>
          <a:p>
            <a:pPr marL="0" indent="0">
              <a:buNone/>
            </a:pPr>
            <a:r>
              <a:rPr lang="en-IN" sz="2600" dirty="0" smtClean="0">
                <a:solidFill>
                  <a:srgbClr val="FF0000"/>
                </a:solidFill>
              </a:rPr>
              <a:t>After computing the period of one cycle calculate the following:</a:t>
            </a:r>
          </a:p>
          <a:p>
            <a:pPr marL="514350" indent="-514350">
              <a:buAutoNum type="alphaLcParenR"/>
            </a:pPr>
            <a:r>
              <a:rPr lang="en-IN" sz="2600" dirty="0" smtClean="0">
                <a:solidFill>
                  <a:srgbClr val="FF0000"/>
                </a:solidFill>
              </a:rPr>
              <a:t>Number of operating cycle in a year:</a:t>
            </a:r>
          </a:p>
          <a:p>
            <a:pPr marL="0" indent="0">
              <a:buNone/>
            </a:pPr>
            <a:r>
              <a:rPr lang="en-IN" sz="2600" dirty="0" smtClean="0"/>
              <a:t>= 365/ Number </a:t>
            </a:r>
            <a:r>
              <a:rPr lang="en-IN" sz="2600" dirty="0"/>
              <a:t>of operating days in a </a:t>
            </a:r>
            <a:r>
              <a:rPr lang="en-IN" sz="2600" dirty="0" smtClean="0"/>
              <a:t>cycle </a:t>
            </a:r>
          </a:p>
          <a:p>
            <a:pPr marL="0" indent="0">
              <a:buNone/>
            </a:pPr>
            <a:r>
              <a:rPr lang="en-IN" sz="2600" dirty="0" smtClean="0"/>
              <a:t>b) </a:t>
            </a:r>
            <a:r>
              <a:rPr lang="en-IN" sz="2600" dirty="0" smtClean="0">
                <a:solidFill>
                  <a:srgbClr val="FF0000"/>
                </a:solidFill>
              </a:rPr>
              <a:t>Working capital requirement per cycle:</a:t>
            </a:r>
          </a:p>
          <a:p>
            <a:pPr marL="0" indent="0">
              <a:buNone/>
            </a:pPr>
            <a:r>
              <a:rPr lang="en-IN" sz="2600" dirty="0" smtClean="0"/>
              <a:t>= Total operating expenditure/Number of operating cycle in a year.</a:t>
            </a:r>
            <a:endParaRPr lang="en-IN" sz="2600" dirty="0"/>
          </a:p>
          <a:p>
            <a:pPr marL="0" indent="0">
              <a:buNone/>
            </a:pPr>
            <a:endParaRPr lang="en-IN" sz="2600" dirty="0"/>
          </a:p>
        </p:txBody>
      </p:sp>
      <p:pic>
        <p:nvPicPr>
          <p:cNvPr id="4" name="Picture 3" descr="Image result for sastra logo"/>
          <p:cNvPicPr>
            <a:picLocks noChangeAspect="1" noChangeArrowheads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537700" y="362143"/>
            <a:ext cx="1816100" cy="5661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33572030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38200" y="1025235"/>
            <a:ext cx="10515600" cy="5386027"/>
          </a:xfrm>
        </p:spPr>
        <p:txBody>
          <a:bodyPr>
            <a:normAutofit/>
          </a:bodyPr>
          <a:lstStyle/>
          <a:p>
            <a:pPr marL="0" indent="0" algn="just">
              <a:buNone/>
            </a:pPr>
            <a:r>
              <a:rPr lang="en-IN" sz="2600" dirty="0" smtClean="0"/>
              <a:t>P1.From </a:t>
            </a:r>
            <a:r>
              <a:rPr lang="en-IN" sz="2600" dirty="0" smtClean="0"/>
              <a:t>the following information, extracted from the books of a manufacturing company, compute the operating cycle in days and the amount of working capital required:</a:t>
            </a:r>
          </a:p>
          <a:p>
            <a:pPr marL="0" indent="0" algn="just">
              <a:buNone/>
            </a:pPr>
            <a:endParaRPr lang="en-IN" sz="2600" dirty="0" smtClean="0"/>
          </a:p>
          <a:p>
            <a:pPr marL="0" indent="0" algn="just">
              <a:buNone/>
            </a:pPr>
            <a:endParaRPr lang="en-IN" sz="2600" dirty="0"/>
          </a:p>
        </p:txBody>
      </p:sp>
      <p:graphicFrame>
        <p:nvGraphicFramePr>
          <p:cNvPr id="4" name="Table 3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899399326"/>
              </p:ext>
            </p:extLst>
          </p:nvPr>
        </p:nvGraphicFramePr>
        <p:xfrm>
          <a:off x="838197" y="2159303"/>
          <a:ext cx="10515602" cy="41757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8859985">
                  <a:extLst>
                    <a:ext uri="{9D8B030D-6E8A-4147-A177-3AD203B41FA5}">
                      <a16:colId xmlns:a16="http://schemas.microsoft.com/office/drawing/2014/main" val="3652297397"/>
                    </a:ext>
                  </a:extLst>
                </a:gridCol>
                <a:gridCol w="1655617">
                  <a:extLst>
                    <a:ext uri="{9D8B030D-6E8A-4147-A177-3AD203B41FA5}">
                      <a16:colId xmlns:a16="http://schemas.microsoft.com/office/drawing/2014/main" val="2942059709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IN" sz="2000" dirty="0" smtClean="0"/>
                        <a:t>Particulars</a:t>
                      </a:r>
                      <a:endParaRPr lang="en-IN" sz="20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sz="2000" dirty="0" smtClean="0"/>
                        <a:t>Rs.</a:t>
                      </a:r>
                      <a:endParaRPr lang="en-IN" sz="20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243762901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sz="2500" dirty="0" smtClean="0"/>
                        <a:t>Period covered 	</a:t>
                      </a:r>
                      <a:endParaRPr lang="en-IN" sz="25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2500" dirty="0" smtClean="0"/>
                        <a:t>365 days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788250616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sz="2500" dirty="0" smtClean="0"/>
                        <a:t>Average period of credit allowed by suppliers	</a:t>
                      </a:r>
                      <a:endParaRPr lang="en-IN" sz="25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r"/>
                      <a:r>
                        <a:rPr lang="en-IN" sz="2500" dirty="0" smtClean="0"/>
                        <a:t>16 days</a:t>
                      </a:r>
                      <a:endParaRPr lang="en-IN" sz="25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218274325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endParaRPr lang="en-IN" sz="25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2500" dirty="0" smtClean="0"/>
                        <a:t>[Rs.in ‘000]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229821357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sz="2500" dirty="0" smtClean="0"/>
                        <a:t>Average total of debtors outstanding</a:t>
                      </a:r>
                      <a:endParaRPr lang="en-IN" sz="25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r"/>
                      <a:r>
                        <a:rPr lang="en-IN" sz="2500" dirty="0" smtClean="0"/>
                        <a:t>480</a:t>
                      </a:r>
                      <a:endParaRPr lang="en-IN" sz="25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806897362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sz="2500" dirty="0" smtClean="0"/>
                        <a:t>Raw material consumption	</a:t>
                      </a:r>
                      <a:endParaRPr lang="en-IN" sz="25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r"/>
                      <a:r>
                        <a:rPr lang="en-IN" sz="2500" dirty="0" smtClean="0"/>
                        <a:t>4,400</a:t>
                      </a:r>
                      <a:endParaRPr lang="en-IN" sz="25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787147946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sz="2500" dirty="0" smtClean="0"/>
                        <a:t>Total production cost	</a:t>
                      </a:r>
                      <a:endParaRPr lang="en-IN" sz="25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r"/>
                      <a:r>
                        <a:rPr lang="en-IN" sz="2500" dirty="0" smtClean="0"/>
                        <a:t>10,000</a:t>
                      </a:r>
                      <a:endParaRPr lang="en-IN" sz="25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789607435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sz="2500" dirty="0" smtClean="0"/>
                        <a:t>Total cost of sales		</a:t>
                      </a:r>
                      <a:endParaRPr lang="en-IN" sz="25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r"/>
                      <a:r>
                        <a:rPr lang="en-IN" sz="2500" dirty="0" smtClean="0"/>
                        <a:t>10,500</a:t>
                      </a:r>
                      <a:endParaRPr lang="en-IN" sz="25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43480908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sz="2500" dirty="0" smtClean="0"/>
                        <a:t>Sales for the year	</a:t>
                      </a:r>
                      <a:endParaRPr lang="en-IN" sz="25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r"/>
                      <a:r>
                        <a:rPr lang="en-IN" sz="2500" dirty="0" smtClean="0"/>
                        <a:t>16,000</a:t>
                      </a:r>
                      <a:endParaRPr lang="en-IN" sz="25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200821104"/>
                  </a:ext>
                </a:extLst>
              </a:tr>
            </a:tbl>
          </a:graphicData>
        </a:graphic>
      </p:graphicFrame>
      <p:pic>
        <p:nvPicPr>
          <p:cNvPr id="5" name="Picture 4" descr="Image result for sastra logo"/>
          <p:cNvPicPr>
            <a:picLocks noChangeAspect="1" noChangeArrowheads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537699" y="459123"/>
            <a:ext cx="1816100" cy="5661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406171272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4" name="Content Placeholder 3"/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3552064460"/>
              </p:ext>
            </p:extLst>
          </p:nvPr>
        </p:nvGraphicFramePr>
        <p:xfrm>
          <a:off x="838200" y="1122363"/>
          <a:ext cx="10515600" cy="22860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9331036">
                  <a:extLst>
                    <a:ext uri="{9D8B030D-6E8A-4147-A177-3AD203B41FA5}">
                      <a16:colId xmlns:a16="http://schemas.microsoft.com/office/drawing/2014/main" val="4270202052"/>
                    </a:ext>
                  </a:extLst>
                </a:gridCol>
                <a:gridCol w="1184564">
                  <a:extLst>
                    <a:ext uri="{9D8B030D-6E8A-4147-A177-3AD203B41FA5}">
                      <a16:colId xmlns:a16="http://schemas.microsoft.com/office/drawing/2014/main" val="1768205345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IN" sz="2000" dirty="0" smtClean="0"/>
                        <a:t>Particulars </a:t>
                      </a:r>
                      <a:endParaRPr lang="en-IN" sz="20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sz="2000" dirty="0" smtClean="0"/>
                        <a:t>Rs.</a:t>
                      </a:r>
                      <a:endParaRPr lang="en-IN" sz="20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40399417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2500" dirty="0" smtClean="0"/>
                        <a:t>Value of average stock maintained: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r"/>
                      <a:endParaRPr lang="en-IN" sz="250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810877149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sz="2500" dirty="0" smtClean="0"/>
                        <a:t>Raw material</a:t>
                      </a:r>
                      <a:endParaRPr lang="en-IN" sz="25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r"/>
                      <a:r>
                        <a:rPr lang="en-IN" sz="2500" dirty="0" smtClean="0"/>
                        <a:t>320</a:t>
                      </a:r>
                      <a:endParaRPr lang="en-IN" sz="25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089386241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sz="2500" dirty="0" smtClean="0"/>
                        <a:t>Work in progress	</a:t>
                      </a:r>
                      <a:endParaRPr lang="en-IN" sz="25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r"/>
                      <a:r>
                        <a:rPr lang="en-IN" sz="2500" dirty="0" smtClean="0"/>
                        <a:t>350</a:t>
                      </a:r>
                      <a:endParaRPr lang="en-IN" sz="25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430142249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sz="2500" dirty="0" smtClean="0"/>
                        <a:t>Finished goods	</a:t>
                      </a:r>
                      <a:endParaRPr lang="en-IN" sz="25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r"/>
                      <a:r>
                        <a:rPr lang="en-IN" sz="2500" dirty="0" smtClean="0"/>
                        <a:t>260</a:t>
                      </a:r>
                      <a:endParaRPr lang="en-IN" sz="25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854326318"/>
                  </a:ext>
                </a:extLst>
              </a:tr>
            </a:tbl>
          </a:graphicData>
        </a:graphic>
      </p:graphicFrame>
      <p:pic>
        <p:nvPicPr>
          <p:cNvPr id="5" name="Picture 4" descr="Image result for sastra logo"/>
          <p:cNvPicPr>
            <a:picLocks noChangeAspect="1" noChangeArrowheads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537700" y="403851"/>
            <a:ext cx="1816100" cy="5661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300956738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38200" y="914399"/>
            <a:ext cx="10515600" cy="5618171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IN" sz="2600" b="1" dirty="0" smtClean="0">
                <a:solidFill>
                  <a:srgbClr val="FF0000"/>
                </a:solidFill>
              </a:rPr>
              <a:t>Solution: Computation of operation cycle </a:t>
            </a:r>
          </a:p>
          <a:p>
            <a:pPr marL="0" indent="0">
              <a:buNone/>
            </a:pPr>
            <a:endParaRPr lang="en-IN" sz="2600" dirty="0"/>
          </a:p>
        </p:txBody>
      </p:sp>
      <p:graphicFrame>
        <p:nvGraphicFramePr>
          <p:cNvPr id="5" name="Table 4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772572414"/>
              </p:ext>
            </p:extLst>
          </p:nvPr>
        </p:nvGraphicFramePr>
        <p:xfrm>
          <a:off x="838200" y="1315410"/>
          <a:ext cx="10515600" cy="52171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644237">
                  <a:extLst>
                    <a:ext uri="{9D8B030D-6E8A-4147-A177-3AD203B41FA5}">
                      <a16:colId xmlns:a16="http://schemas.microsoft.com/office/drawing/2014/main" val="3600006923"/>
                    </a:ext>
                  </a:extLst>
                </a:gridCol>
                <a:gridCol w="8562108">
                  <a:extLst>
                    <a:ext uri="{9D8B030D-6E8A-4147-A177-3AD203B41FA5}">
                      <a16:colId xmlns:a16="http://schemas.microsoft.com/office/drawing/2014/main" val="974322356"/>
                    </a:ext>
                  </a:extLst>
                </a:gridCol>
                <a:gridCol w="1309255">
                  <a:extLst>
                    <a:ext uri="{9D8B030D-6E8A-4147-A177-3AD203B41FA5}">
                      <a16:colId xmlns:a16="http://schemas.microsoft.com/office/drawing/2014/main" val="244832127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/>
                      <a:endParaRPr lang="en-IN" dirty="0">
                        <a:solidFill>
                          <a:srgbClr val="FF0000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dirty="0" smtClean="0"/>
                        <a:t>Particulars</a:t>
                      </a:r>
                      <a:endParaRPr lang="en-IN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dirty="0" smtClean="0"/>
                        <a:t>No. of days</a:t>
                      </a:r>
                      <a:endParaRPr lang="en-IN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562483646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IN" sz="2500" dirty="0" smtClean="0">
                          <a:solidFill>
                            <a:srgbClr val="FF0000"/>
                          </a:solidFill>
                        </a:rPr>
                        <a:t>1.</a:t>
                      </a:r>
                      <a:endParaRPr lang="en-IN" sz="2500" dirty="0">
                        <a:solidFill>
                          <a:srgbClr val="FF0000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just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IN" sz="2500" b="1" dirty="0" smtClean="0">
                          <a:solidFill>
                            <a:srgbClr val="FF0000"/>
                          </a:solidFill>
                        </a:rPr>
                        <a:t>Raw material</a:t>
                      </a:r>
                      <a:r>
                        <a:rPr lang="en-IN" sz="2500" b="1" baseline="0" dirty="0" smtClean="0">
                          <a:solidFill>
                            <a:srgbClr val="FF0000"/>
                          </a:solidFill>
                        </a:rPr>
                        <a:t> held in stock:</a:t>
                      </a:r>
                      <a:endParaRPr lang="en-IN" sz="2500" b="1" dirty="0" smtClean="0">
                        <a:solidFill>
                          <a:srgbClr val="FF0000"/>
                        </a:solidFill>
                      </a:endParaRPr>
                    </a:p>
                    <a:p>
                      <a:pPr marL="0" marR="0" lvl="0" indent="0" algn="just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2500" dirty="0" smtClean="0"/>
                        <a:t> = (Average stock of raw materials held/Average consumption per day)</a:t>
                      </a:r>
                    </a:p>
                    <a:p>
                      <a:pPr algn="just"/>
                      <a:r>
                        <a:rPr lang="en-IN" sz="2500" dirty="0" smtClean="0"/>
                        <a:t>= 320/(Rs. 4,400/365]</a:t>
                      </a:r>
                      <a:endParaRPr lang="en-IN" sz="25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r"/>
                      <a:r>
                        <a:rPr lang="en-IN" sz="2500" dirty="0" smtClean="0"/>
                        <a:t>27 days</a:t>
                      </a:r>
                      <a:endParaRPr lang="en-IN" sz="25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081534377"/>
                  </a:ext>
                </a:extLst>
              </a:tr>
              <a:tr h="499996">
                <a:tc>
                  <a:txBody>
                    <a:bodyPr/>
                    <a:lstStyle/>
                    <a:p>
                      <a:pPr algn="ctr"/>
                      <a:r>
                        <a:rPr lang="en-IN" sz="2500" dirty="0" smtClean="0">
                          <a:solidFill>
                            <a:srgbClr val="FF0000"/>
                          </a:solidFill>
                        </a:rPr>
                        <a:t>2.</a:t>
                      </a:r>
                      <a:endParaRPr lang="en-IN" sz="2500" dirty="0">
                        <a:solidFill>
                          <a:srgbClr val="FF0000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just"/>
                      <a:r>
                        <a:rPr lang="en-IN" sz="2500" b="1" dirty="0" smtClean="0">
                          <a:solidFill>
                            <a:srgbClr val="FF0000"/>
                          </a:solidFill>
                        </a:rPr>
                        <a:t>Work-in-progress:</a:t>
                      </a:r>
                    </a:p>
                    <a:p>
                      <a:pPr algn="just"/>
                      <a:r>
                        <a:rPr lang="en-US" sz="2500" dirty="0" smtClean="0"/>
                        <a:t> = (Average stock of WIP maintained/Average cost of production per day) </a:t>
                      </a:r>
                    </a:p>
                    <a:p>
                      <a:pPr algn="just"/>
                      <a:r>
                        <a:rPr lang="en-US" sz="2500" dirty="0" smtClean="0"/>
                        <a:t>= 350/[Rs. 10,000/365]</a:t>
                      </a:r>
                      <a:endParaRPr lang="en-IN" sz="25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r"/>
                      <a:r>
                        <a:rPr lang="en-IN" sz="2500" dirty="0" smtClean="0"/>
                        <a:t>13 days</a:t>
                      </a:r>
                      <a:endParaRPr lang="en-IN" sz="25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58108976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IN" sz="2500" dirty="0" smtClean="0">
                          <a:solidFill>
                            <a:srgbClr val="FF0000"/>
                          </a:solidFill>
                        </a:rPr>
                        <a:t>3. </a:t>
                      </a:r>
                      <a:endParaRPr lang="en-IN" sz="2500" dirty="0">
                        <a:solidFill>
                          <a:srgbClr val="FF0000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just"/>
                      <a:r>
                        <a:rPr lang="en-IN" sz="2500" b="1" dirty="0" smtClean="0">
                          <a:solidFill>
                            <a:srgbClr val="FF0000"/>
                          </a:solidFill>
                        </a:rPr>
                        <a:t>Finished goods held in stock:</a:t>
                      </a:r>
                    </a:p>
                    <a:p>
                      <a:pPr marL="0" marR="0" lvl="0" indent="0" algn="just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IN" sz="2500" dirty="0" smtClean="0"/>
                        <a:t>=</a:t>
                      </a:r>
                      <a:r>
                        <a:rPr lang="en-IN" sz="2500" baseline="0" dirty="0" smtClean="0"/>
                        <a:t> </a:t>
                      </a:r>
                      <a:r>
                        <a:rPr lang="en-US" sz="2500" dirty="0" smtClean="0"/>
                        <a:t>(Average stock of finished goods / Average cost of goods sold per day) </a:t>
                      </a:r>
                    </a:p>
                    <a:p>
                      <a:pPr algn="just"/>
                      <a:r>
                        <a:rPr lang="en-IN" sz="2500" dirty="0" smtClean="0"/>
                        <a:t>= 260/[Rs.</a:t>
                      </a:r>
                      <a:r>
                        <a:rPr lang="en-IN" sz="2500" baseline="0" dirty="0" smtClean="0"/>
                        <a:t> </a:t>
                      </a:r>
                      <a:r>
                        <a:rPr lang="en-IN" sz="2500" dirty="0" smtClean="0"/>
                        <a:t>10,500/365]</a:t>
                      </a:r>
                      <a:endParaRPr lang="en-IN" sz="25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r"/>
                      <a:r>
                        <a:rPr lang="en-IN" sz="2500" dirty="0" smtClean="0"/>
                        <a:t>9 days</a:t>
                      </a:r>
                      <a:endParaRPr lang="en-IN" sz="25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977123756"/>
                  </a:ext>
                </a:extLst>
              </a:tr>
            </a:tbl>
          </a:graphicData>
        </a:graphic>
      </p:graphicFrame>
      <p:pic>
        <p:nvPicPr>
          <p:cNvPr id="6" name="Picture 5" descr="Image result for sastra logo"/>
          <p:cNvPicPr>
            <a:picLocks noChangeAspect="1" noChangeArrowheads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537700" y="348287"/>
            <a:ext cx="1816100" cy="5661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121881379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Content Placeholder 4"/>
          <p:cNvSpPr>
            <a:spLocks noGrp="1"/>
          </p:cNvSpPr>
          <p:nvPr>
            <p:ph idx="1"/>
          </p:nvPr>
        </p:nvSpPr>
        <p:spPr>
          <a:xfrm>
            <a:off x="800709" y="720437"/>
            <a:ext cx="10515600" cy="5805054"/>
          </a:xfrm>
        </p:spPr>
        <p:txBody>
          <a:bodyPr>
            <a:normAutofit/>
          </a:bodyPr>
          <a:lstStyle/>
          <a:p>
            <a:pPr marL="0" indent="0">
              <a:buNone/>
            </a:pPr>
            <a:endParaRPr lang="en-IN" sz="2600" dirty="0" smtClean="0"/>
          </a:p>
          <a:p>
            <a:pPr marL="0" indent="0">
              <a:buNone/>
            </a:pPr>
            <a:endParaRPr lang="en-IN" sz="2600" dirty="0" smtClean="0"/>
          </a:p>
          <a:p>
            <a:pPr marL="0" indent="0">
              <a:buNone/>
            </a:pPr>
            <a:endParaRPr lang="en-IN" sz="2600" dirty="0"/>
          </a:p>
          <a:p>
            <a:pPr marL="0" indent="0">
              <a:buNone/>
            </a:pPr>
            <a:endParaRPr lang="en-IN" sz="2600" dirty="0" smtClean="0"/>
          </a:p>
          <a:p>
            <a:pPr marL="0" indent="0">
              <a:buNone/>
            </a:pPr>
            <a:endParaRPr lang="en-IN" sz="2600" dirty="0"/>
          </a:p>
          <a:p>
            <a:pPr marL="0" indent="0">
              <a:buNone/>
            </a:pPr>
            <a:endParaRPr lang="en-IN" sz="2600" dirty="0" smtClean="0"/>
          </a:p>
          <a:p>
            <a:pPr marL="0" indent="0">
              <a:buNone/>
            </a:pPr>
            <a:endParaRPr lang="en-IN" sz="2600" dirty="0"/>
          </a:p>
          <a:p>
            <a:pPr marL="0" indent="0">
              <a:buNone/>
            </a:pPr>
            <a:r>
              <a:rPr lang="en-IN" sz="2600" dirty="0" smtClean="0">
                <a:solidFill>
                  <a:srgbClr val="FF0000"/>
                </a:solidFill>
              </a:rPr>
              <a:t>a) Number of operating cycle in a year:</a:t>
            </a:r>
          </a:p>
          <a:p>
            <a:pPr marL="0" indent="0">
              <a:buNone/>
            </a:pPr>
            <a:r>
              <a:rPr lang="en-IN" sz="2600" dirty="0"/>
              <a:t> </a:t>
            </a:r>
            <a:r>
              <a:rPr lang="en-IN" sz="2600" dirty="0" smtClean="0"/>
              <a:t>= 365 days/44 days = 8.30 </a:t>
            </a:r>
          </a:p>
          <a:p>
            <a:pPr marL="0" indent="0">
              <a:buNone/>
            </a:pPr>
            <a:r>
              <a:rPr lang="en-IN" sz="2600" dirty="0" smtClean="0">
                <a:solidFill>
                  <a:srgbClr val="FF0000"/>
                </a:solidFill>
              </a:rPr>
              <a:t>b) Amount of working capital required:</a:t>
            </a:r>
          </a:p>
          <a:p>
            <a:pPr marL="0" indent="0">
              <a:buNone/>
            </a:pPr>
            <a:r>
              <a:rPr lang="en-IN" sz="2600" dirty="0" smtClean="0"/>
              <a:t>= Total operating cost/No. of operating cycle in a year</a:t>
            </a:r>
          </a:p>
          <a:p>
            <a:pPr marL="0" indent="0">
              <a:buNone/>
            </a:pPr>
            <a:r>
              <a:rPr lang="en-IN" sz="2600" dirty="0" smtClean="0"/>
              <a:t>= Rs. 10,500/8.3 = Rs. 1,265</a:t>
            </a:r>
            <a:endParaRPr lang="en-IN" sz="2600" dirty="0"/>
          </a:p>
        </p:txBody>
      </p:sp>
      <p:pic>
        <p:nvPicPr>
          <p:cNvPr id="6" name="Picture 5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00709" y="872835"/>
            <a:ext cx="10553091" cy="3158837"/>
          </a:xfrm>
          <a:prstGeom prst="rect">
            <a:avLst/>
          </a:prstGeom>
        </p:spPr>
      </p:pic>
      <p:pic>
        <p:nvPicPr>
          <p:cNvPr id="7" name="Picture 6" descr="Image result for sastra logo"/>
          <p:cNvPicPr>
            <a:picLocks noChangeAspect="1" noChangeArrowheads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500209" y="306723"/>
            <a:ext cx="1816100" cy="5661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78788536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00709" y="872834"/>
            <a:ext cx="10515600" cy="5527965"/>
          </a:xfrm>
        </p:spPr>
        <p:txBody>
          <a:bodyPr>
            <a:normAutofit fontScale="92500" lnSpcReduction="10000"/>
          </a:bodyPr>
          <a:lstStyle/>
          <a:p>
            <a:pPr marL="0" indent="0">
              <a:buNone/>
            </a:pPr>
            <a:r>
              <a:rPr lang="en-US" dirty="0" smtClean="0"/>
              <a:t>P2. The </a:t>
            </a:r>
            <a:r>
              <a:rPr lang="en-US" dirty="0"/>
              <a:t>following information is available for ABC Limited.</a:t>
            </a:r>
            <a:endParaRPr lang="en-IN" dirty="0"/>
          </a:p>
          <a:p>
            <a:pPr marL="0" indent="0">
              <a:buNone/>
            </a:pPr>
            <a:r>
              <a:rPr lang="en-US" dirty="0"/>
              <a:t>Balance Sheet Data</a:t>
            </a:r>
            <a:r>
              <a:rPr lang="en-US" dirty="0" smtClean="0"/>
              <a:t>:</a:t>
            </a:r>
          </a:p>
          <a:p>
            <a:pPr marL="0" indent="0">
              <a:buNone/>
            </a:pPr>
            <a:r>
              <a:rPr lang="en-US" i="1" dirty="0" smtClean="0"/>
              <a:t>                                                                  Beginning </a:t>
            </a:r>
            <a:r>
              <a:rPr lang="en-US" i="1" dirty="0"/>
              <a:t>of</a:t>
            </a:r>
            <a:r>
              <a:rPr lang="en-US" dirty="0"/>
              <a:t>   20X5  </a:t>
            </a:r>
            <a:r>
              <a:rPr lang="en-US" i="1" dirty="0"/>
              <a:t>End of</a:t>
            </a:r>
            <a:r>
              <a:rPr lang="en-US" dirty="0"/>
              <a:t> </a:t>
            </a:r>
            <a:r>
              <a:rPr lang="en-US" dirty="0" smtClean="0"/>
              <a:t>20X5</a:t>
            </a:r>
          </a:p>
          <a:p>
            <a:pPr marL="0" indent="0">
              <a:buNone/>
            </a:pPr>
            <a:r>
              <a:rPr lang="en-US" dirty="0" smtClean="0"/>
              <a:t>Inventory</a:t>
            </a:r>
            <a:r>
              <a:rPr lang="en-US" dirty="0"/>
              <a:t>	                                  </a:t>
            </a:r>
            <a:r>
              <a:rPr lang="en-US" dirty="0" smtClean="0"/>
              <a:t>                   300</a:t>
            </a:r>
            <a:r>
              <a:rPr lang="en-US" dirty="0"/>
              <a:t>	             </a:t>
            </a:r>
            <a:r>
              <a:rPr lang="en-US" dirty="0" smtClean="0"/>
              <a:t>          310</a:t>
            </a:r>
            <a:r>
              <a:rPr lang="en-US" dirty="0"/>
              <a:t>	         </a:t>
            </a:r>
            <a:endParaRPr lang="en-IN" dirty="0"/>
          </a:p>
          <a:p>
            <a:pPr marL="0" indent="0">
              <a:buNone/>
            </a:pPr>
            <a:r>
              <a:rPr lang="en-US" dirty="0" smtClean="0"/>
              <a:t>Accounts </a:t>
            </a:r>
            <a:r>
              <a:rPr lang="en-US" dirty="0"/>
              <a:t>receivable                          </a:t>
            </a:r>
            <a:r>
              <a:rPr lang="en-US" dirty="0" smtClean="0"/>
              <a:t>                180</a:t>
            </a:r>
            <a:r>
              <a:rPr lang="en-US" dirty="0"/>
              <a:t>	               </a:t>
            </a:r>
            <a:r>
              <a:rPr lang="en-US" dirty="0" smtClean="0"/>
              <a:t>        170</a:t>
            </a:r>
            <a:endParaRPr lang="en-IN" dirty="0"/>
          </a:p>
          <a:p>
            <a:pPr marL="0" indent="0">
              <a:buNone/>
            </a:pPr>
            <a:r>
              <a:rPr lang="en-US" dirty="0" smtClean="0"/>
              <a:t>Accounts </a:t>
            </a:r>
            <a:r>
              <a:rPr lang="en-US" dirty="0"/>
              <a:t>payable                                </a:t>
            </a:r>
            <a:r>
              <a:rPr lang="en-US" dirty="0" smtClean="0"/>
              <a:t>                 85</a:t>
            </a:r>
            <a:r>
              <a:rPr lang="en-US" dirty="0"/>
              <a:t>	     </a:t>
            </a:r>
            <a:r>
              <a:rPr lang="en-US" dirty="0" smtClean="0"/>
              <a:t>                    95</a:t>
            </a:r>
            <a:endParaRPr lang="en-IN" dirty="0"/>
          </a:p>
          <a:p>
            <a:pPr marL="0" indent="0">
              <a:buNone/>
            </a:pPr>
            <a:r>
              <a:rPr lang="en-US" dirty="0" smtClean="0"/>
              <a:t>Profit </a:t>
            </a:r>
            <a:r>
              <a:rPr lang="en-US" dirty="0"/>
              <a:t>and Loss Account Data for the year ending 20X5:</a:t>
            </a:r>
            <a:endParaRPr lang="en-IN" dirty="0"/>
          </a:p>
          <a:p>
            <a:pPr marL="0" indent="0">
              <a:buNone/>
            </a:pPr>
            <a:r>
              <a:rPr lang="en-US" dirty="0"/>
              <a:t>				        </a:t>
            </a:r>
            <a:r>
              <a:rPr lang="en-US" dirty="0" smtClean="0"/>
              <a:t>  Rs</a:t>
            </a:r>
            <a:r>
              <a:rPr lang="en-US" dirty="0"/>
              <a:t>.</a:t>
            </a:r>
            <a:endParaRPr lang="en-IN" dirty="0"/>
          </a:p>
          <a:p>
            <a:pPr marL="0" indent="0">
              <a:buNone/>
            </a:pPr>
            <a:r>
              <a:rPr lang="en-US" dirty="0"/>
              <a:t>Sales 				      </a:t>
            </a:r>
            <a:r>
              <a:rPr lang="en-US" dirty="0" smtClean="0"/>
              <a:t>3,000</a:t>
            </a:r>
            <a:endParaRPr lang="en-IN" dirty="0"/>
          </a:p>
          <a:p>
            <a:pPr marL="0" indent="0">
              <a:buNone/>
            </a:pPr>
            <a:r>
              <a:rPr lang="en-US" dirty="0" smtClean="0"/>
              <a:t>Cost </a:t>
            </a:r>
            <a:r>
              <a:rPr lang="en-US" dirty="0"/>
              <a:t>of Goods Sold		      1,800	</a:t>
            </a:r>
            <a:endParaRPr lang="en-IN" dirty="0"/>
          </a:p>
          <a:p>
            <a:pPr marL="0" indent="0">
              <a:buNone/>
            </a:pPr>
            <a:r>
              <a:rPr lang="en-US" dirty="0" smtClean="0"/>
              <a:t>What </a:t>
            </a:r>
            <a:r>
              <a:rPr lang="en-US" dirty="0"/>
              <a:t>is the duration of the cash cycle</a:t>
            </a:r>
            <a:r>
              <a:rPr lang="en-US" dirty="0" smtClean="0"/>
              <a:t>?</a:t>
            </a:r>
          </a:p>
          <a:p>
            <a:pPr marL="0" indent="0">
              <a:buNone/>
            </a:pPr>
            <a:r>
              <a:rPr lang="en-US" b="1" dirty="0" smtClean="0">
                <a:solidFill>
                  <a:srgbClr val="FF0000"/>
                </a:solidFill>
              </a:rPr>
              <a:t>Answer: 65 Days</a:t>
            </a:r>
            <a:endParaRPr lang="en-IN" b="1" dirty="0">
              <a:solidFill>
                <a:srgbClr val="FF0000"/>
              </a:solidFill>
            </a:endParaRPr>
          </a:p>
        </p:txBody>
      </p:sp>
      <p:pic>
        <p:nvPicPr>
          <p:cNvPr id="9" name="Picture 8" descr="Image result for sastra logo"/>
          <p:cNvPicPr>
            <a:picLocks noChangeAspect="1" noChangeArrowheads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500209" y="306723"/>
            <a:ext cx="1816100" cy="5661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142311065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00709" y="872835"/>
            <a:ext cx="10515600" cy="4683283"/>
          </a:xfrm>
        </p:spPr>
        <p:txBody>
          <a:bodyPr>
            <a:normAutofit/>
          </a:bodyPr>
          <a:lstStyle/>
          <a:p>
            <a:pPr marL="0" indent="0" algn="ctr">
              <a:buNone/>
            </a:pPr>
            <a:endParaRPr lang="en-IN" sz="4400" dirty="0" smtClean="0">
              <a:solidFill>
                <a:srgbClr val="FF0000"/>
              </a:solidFill>
              <a:latin typeface="Bell MT" panose="02020503060305020303" pitchFamily="18" charset="0"/>
            </a:endParaRPr>
          </a:p>
          <a:p>
            <a:pPr marL="0" indent="0" algn="ctr">
              <a:buNone/>
            </a:pPr>
            <a:endParaRPr lang="en-IN" sz="4400" dirty="0">
              <a:solidFill>
                <a:srgbClr val="FF0000"/>
              </a:solidFill>
              <a:latin typeface="Bell MT" panose="02020503060305020303" pitchFamily="18" charset="0"/>
            </a:endParaRPr>
          </a:p>
          <a:p>
            <a:pPr marL="0" indent="0" algn="ctr">
              <a:buNone/>
            </a:pPr>
            <a:endParaRPr lang="en-IN" sz="4400" b="1" dirty="0">
              <a:solidFill>
                <a:srgbClr val="FF0000"/>
              </a:solidFill>
              <a:latin typeface="Bell MT" panose="02020503060305020303" pitchFamily="18" charset="0"/>
            </a:endParaRPr>
          </a:p>
          <a:p>
            <a:pPr marL="0" indent="0" algn="ctr">
              <a:buNone/>
            </a:pPr>
            <a:r>
              <a:rPr lang="en-IN" sz="4400" b="1" dirty="0" smtClean="0">
                <a:solidFill>
                  <a:srgbClr val="FF0000"/>
                </a:solidFill>
                <a:latin typeface="Bell MT" panose="02020503060305020303" pitchFamily="18" charset="0"/>
              </a:rPr>
              <a:t>Thank You</a:t>
            </a:r>
            <a:endParaRPr lang="en-IN" sz="4400" b="1" dirty="0">
              <a:solidFill>
                <a:srgbClr val="FF0000"/>
              </a:solidFill>
              <a:latin typeface="Bell MT" panose="02020503060305020303" pitchFamily="18" charset="0"/>
            </a:endParaRPr>
          </a:p>
        </p:txBody>
      </p:sp>
      <p:pic>
        <p:nvPicPr>
          <p:cNvPr id="4" name="Picture 3" descr="Image result for sastra logo"/>
          <p:cNvPicPr>
            <a:picLocks noChangeAspect="1" noChangeArrowheads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500209" y="306723"/>
            <a:ext cx="1816100" cy="5661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2916363575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723</TotalTime>
  <Words>1336</Words>
  <Application>Microsoft Office PowerPoint</Application>
  <PresentationFormat>Widescreen</PresentationFormat>
  <Paragraphs>133</Paragraphs>
  <Slides>22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22</vt:i4>
      </vt:variant>
    </vt:vector>
  </HeadingPairs>
  <TitlesOfParts>
    <vt:vector size="28" baseType="lpstr">
      <vt:lpstr>Arial</vt:lpstr>
      <vt:lpstr>Bell MT</vt:lpstr>
      <vt:lpstr>Bodoni MT</vt:lpstr>
      <vt:lpstr>Calibri</vt:lpstr>
      <vt:lpstr>Calibri Light</vt:lpstr>
      <vt:lpstr>Office Theme</vt:lpstr>
      <vt:lpstr>Working Capital Management (Unit IV)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Hewlett-Packard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Sabarish</dc:creator>
  <cp:lastModifiedBy>Sabarish</cp:lastModifiedBy>
  <cp:revision>199</cp:revision>
  <dcterms:created xsi:type="dcterms:W3CDTF">2020-11-28T11:02:10Z</dcterms:created>
  <dcterms:modified xsi:type="dcterms:W3CDTF">2025-04-15T03:12:47Z</dcterms:modified>
</cp:coreProperties>
</file>