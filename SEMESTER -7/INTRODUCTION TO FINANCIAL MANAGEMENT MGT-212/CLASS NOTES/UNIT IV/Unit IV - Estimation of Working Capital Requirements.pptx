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4" r:id="rId3"/>
    <p:sldId id="288" r:id="rId4"/>
    <p:sldId id="289" r:id="rId5"/>
    <p:sldId id="256" r:id="rId6"/>
    <p:sldId id="258" r:id="rId7"/>
    <p:sldId id="259" r:id="rId8"/>
    <p:sldId id="260" r:id="rId9"/>
    <p:sldId id="261" r:id="rId10"/>
    <p:sldId id="262" r:id="rId11"/>
    <p:sldId id="263" r:id="rId12"/>
    <p:sldId id="265" r:id="rId13"/>
    <p:sldId id="266" r:id="rId14"/>
    <p:sldId id="267" r:id="rId15"/>
    <p:sldId id="269" r:id="rId16"/>
    <p:sldId id="271" r:id="rId17"/>
    <p:sldId id="270" r:id="rId18"/>
    <p:sldId id="282" r:id="rId19"/>
    <p:sldId id="274" r:id="rId20"/>
    <p:sldId id="275" r:id="rId21"/>
    <p:sldId id="272" r:id="rId22"/>
    <p:sldId id="273" r:id="rId23"/>
    <p:sldId id="276" r:id="rId24"/>
    <p:sldId id="280" r:id="rId25"/>
    <p:sldId id="281" r:id="rId26"/>
    <p:sldId id="277" r:id="rId27"/>
    <p:sldId id="283" r:id="rId28"/>
    <p:sldId id="284" r:id="rId29"/>
    <p:sldId id="285" r:id="rId30"/>
    <p:sldId id="286" r:id="rId31"/>
    <p:sldId id="287" r:id="rId32"/>
    <p:sldId id="27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5" d="100"/>
          <a:sy n="65" d="100"/>
        </p:scale>
        <p:origin x="834" y="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B93AC98-F7E2-491D-8184-B0C1EF2E3B5B}"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12344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B93AC98-F7E2-491D-8184-B0C1EF2E3B5B}"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542001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B93AC98-F7E2-491D-8184-B0C1EF2E3B5B}"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2123552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B93AC98-F7E2-491D-8184-B0C1EF2E3B5B}"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3322560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B93AC98-F7E2-491D-8184-B0C1EF2E3B5B}" type="datetimeFigureOut">
              <a:rPr lang="en-IN" smtClean="0"/>
              <a:t>21-04-2025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3339526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B93AC98-F7E2-491D-8184-B0C1EF2E3B5B}" type="datetimeFigureOut">
              <a:rPr lang="en-IN" smtClean="0"/>
              <a:t>21-04-2025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2612556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93AC98-F7E2-491D-8184-B0C1EF2E3B5B}" type="datetimeFigureOut">
              <a:rPr lang="en-IN" smtClean="0"/>
              <a:t>21-04-2025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4059500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93AC98-F7E2-491D-8184-B0C1EF2E3B5B}"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24906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93AC98-F7E2-491D-8184-B0C1EF2E3B5B}"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3687458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B93AC98-F7E2-491D-8184-B0C1EF2E3B5B}"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2350204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B93AC98-F7E2-491D-8184-B0C1EF2E3B5B}"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9F08C5-CF63-4605-B378-EB53930F700D}" type="slidenum">
              <a:rPr lang="en-IN" smtClean="0"/>
              <a:t>‹#›</a:t>
            </a:fld>
            <a:endParaRPr lang="en-IN"/>
          </a:p>
        </p:txBody>
      </p:sp>
    </p:spTree>
    <p:extLst>
      <p:ext uri="{BB962C8B-B14F-4D97-AF65-F5344CB8AC3E}">
        <p14:creationId xmlns:p14="http://schemas.microsoft.com/office/powerpoint/2010/main" val="1889829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93AC98-F7E2-491D-8184-B0C1EF2E3B5B}" type="datetimeFigureOut">
              <a:rPr lang="en-IN" smtClean="0"/>
              <a:t>21-04-2025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9F08C5-CF63-4605-B378-EB53930F700D}" type="slidenum">
              <a:rPr lang="en-IN" smtClean="0"/>
              <a:t>‹#›</a:t>
            </a:fld>
            <a:endParaRPr lang="en-IN"/>
          </a:p>
        </p:txBody>
      </p:sp>
    </p:spTree>
    <p:extLst>
      <p:ext uri="{BB962C8B-B14F-4D97-AF65-F5344CB8AC3E}">
        <p14:creationId xmlns:p14="http://schemas.microsoft.com/office/powerpoint/2010/main" val="3731402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6346"/>
            <a:ext cx="10515600" cy="1325563"/>
          </a:xfrm>
        </p:spPr>
        <p:txBody>
          <a:bodyPr>
            <a:normAutofit fontScale="90000"/>
          </a:bodyPr>
          <a:lstStyle/>
          <a:p>
            <a:pPr algn="ctr"/>
            <a:r>
              <a:rPr lang="en-IN" b="1" dirty="0" smtClean="0">
                <a:solidFill>
                  <a:srgbClr val="FF0000"/>
                </a:solidFill>
                <a:latin typeface="Bell MT" panose="02020503060305020303" pitchFamily="18" charset="0"/>
              </a:rPr>
              <a:t>Estimation of Working Capital Requirements</a:t>
            </a:r>
            <a:br>
              <a:rPr lang="en-IN" b="1" dirty="0" smtClean="0">
                <a:solidFill>
                  <a:srgbClr val="FF0000"/>
                </a:solidFill>
                <a:latin typeface="Bell MT" panose="02020503060305020303" pitchFamily="18" charset="0"/>
              </a:rPr>
            </a:br>
            <a:r>
              <a:rPr lang="en-IN" sz="2000" b="1" dirty="0" smtClean="0">
                <a:solidFill>
                  <a:srgbClr val="FF0000"/>
                </a:solidFill>
                <a:latin typeface="Bell MT" panose="02020503060305020303" pitchFamily="18" charset="0"/>
              </a:rPr>
              <a:t>(Unit-IV)</a:t>
            </a:r>
            <a:endParaRPr lang="en-IN" sz="2000" b="1" dirty="0">
              <a:solidFill>
                <a:srgbClr val="FF0000"/>
              </a:solidFill>
              <a:latin typeface="Bell MT" panose="02020503060305020303" pitchFamily="18" charset="0"/>
            </a:endParaRPr>
          </a:p>
        </p:txBody>
      </p:sp>
      <p:sp>
        <p:nvSpPr>
          <p:cNvPr id="4" name="Content Placeholder 2"/>
          <p:cNvSpPr>
            <a:spLocks noGrp="1"/>
          </p:cNvSpPr>
          <p:nvPr>
            <p:ph idx="1"/>
          </p:nvPr>
        </p:nvSpPr>
        <p:spPr>
          <a:xfrm>
            <a:off x="838200" y="2241909"/>
            <a:ext cx="10515600" cy="3181350"/>
          </a:xfrm>
        </p:spPr>
        <p:txBody>
          <a:bodyPr>
            <a:normAutofit lnSpcReduction="10000"/>
          </a:bodyPr>
          <a:lstStyle/>
          <a:p>
            <a:pPr marL="0" indent="0" algn="ctr">
              <a:buNone/>
            </a:pPr>
            <a:endParaRPr lang="en-IN" sz="3600" dirty="0" smtClean="0">
              <a:solidFill>
                <a:schemeClr val="accent5">
                  <a:lumMod val="50000"/>
                </a:schemeClr>
              </a:solidFill>
              <a:latin typeface="Bodoni MT" panose="02070603080606020203" pitchFamily="18" charset="0"/>
              <a:cs typeface="Arial" panose="020B0604020202020204" pitchFamily="34" charset="0"/>
            </a:endParaRPr>
          </a:p>
          <a:p>
            <a:pPr marL="0" indent="0" algn="ctr">
              <a:buNone/>
            </a:pPr>
            <a:r>
              <a:rPr lang="en-IN" sz="3600" b="1" dirty="0" smtClean="0">
                <a:solidFill>
                  <a:schemeClr val="accent5">
                    <a:lumMod val="50000"/>
                  </a:schemeClr>
                </a:solidFill>
                <a:latin typeface="Bodoni MT" panose="02070603080606020203" pitchFamily="18" charset="0"/>
                <a:cs typeface="Arial" panose="020B0604020202020204" pitchFamily="34" charset="0"/>
              </a:rPr>
              <a:t>Dr.M.Velavan</a:t>
            </a:r>
            <a:endParaRPr lang="en-IN" sz="3600" b="1" dirty="0">
              <a:solidFill>
                <a:schemeClr val="accent5">
                  <a:lumMod val="50000"/>
                </a:schemeClr>
              </a:solidFill>
              <a:latin typeface="Bodoni MT" panose="02070603080606020203" pitchFamily="18" charset="0"/>
              <a:cs typeface="Arial" panose="020B0604020202020204" pitchFamily="34" charset="0"/>
            </a:endParaRPr>
          </a:p>
          <a:p>
            <a:pPr marL="0" indent="0" algn="ctr">
              <a:buNone/>
            </a:pPr>
            <a:r>
              <a:rPr lang="en-IN" dirty="0" smtClean="0">
                <a:solidFill>
                  <a:schemeClr val="accent5">
                    <a:lumMod val="50000"/>
                  </a:schemeClr>
                </a:solidFill>
                <a:latin typeface="Bodoni MT" panose="02070603080606020203" pitchFamily="18" charset="0"/>
                <a:cs typeface="Arial" panose="020B0604020202020204" pitchFamily="34" charset="0"/>
              </a:rPr>
              <a:t>Faculty</a:t>
            </a:r>
          </a:p>
          <a:p>
            <a:pPr marL="0" indent="0" algn="ctr">
              <a:buNone/>
            </a:pPr>
            <a:r>
              <a:rPr lang="en-IN" dirty="0" smtClean="0">
                <a:solidFill>
                  <a:schemeClr val="accent5">
                    <a:lumMod val="50000"/>
                  </a:schemeClr>
                </a:solidFill>
                <a:latin typeface="Bodoni MT" panose="02070603080606020203" pitchFamily="18" charset="0"/>
                <a:cs typeface="Arial" panose="020B0604020202020204" pitchFamily="34" charset="0"/>
              </a:rPr>
              <a:t>School </a:t>
            </a:r>
            <a:r>
              <a:rPr lang="en-IN" dirty="0">
                <a:solidFill>
                  <a:schemeClr val="accent5">
                    <a:lumMod val="50000"/>
                  </a:schemeClr>
                </a:solidFill>
                <a:latin typeface="Bodoni MT" panose="02070603080606020203" pitchFamily="18" charset="0"/>
                <a:cs typeface="Arial" panose="020B0604020202020204" pitchFamily="34" charset="0"/>
              </a:rPr>
              <a:t>of Management</a:t>
            </a:r>
          </a:p>
          <a:p>
            <a:pPr marL="0" indent="0" algn="ctr">
              <a:buNone/>
            </a:pPr>
            <a:r>
              <a:rPr lang="en-IN" dirty="0">
                <a:solidFill>
                  <a:schemeClr val="accent5">
                    <a:lumMod val="50000"/>
                  </a:schemeClr>
                </a:solidFill>
                <a:latin typeface="Bodoni MT" panose="02070603080606020203" pitchFamily="18" charset="0"/>
                <a:cs typeface="Arial" panose="020B0604020202020204" pitchFamily="34" charset="0"/>
              </a:rPr>
              <a:t>SASTRA Deemed University</a:t>
            </a:r>
          </a:p>
          <a:p>
            <a:pPr marL="0" indent="0" algn="ctr">
              <a:buNone/>
            </a:pPr>
            <a:r>
              <a:rPr lang="en-IN" dirty="0">
                <a:solidFill>
                  <a:schemeClr val="accent5">
                    <a:lumMod val="50000"/>
                  </a:schemeClr>
                </a:solidFill>
                <a:latin typeface="Bodoni MT" panose="02070603080606020203" pitchFamily="18" charset="0"/>
                <a:cs typeface="Arial" panose="020B0604020202020204" pitchFamily="34" charset="0"/>
              </a:rPr>
              <a:t>Thanjavur </a:t>
            </a:r>
            <a:r>
              <a:rPr lang="en-IN" dirty="0" smtClean="0">
                <a:solidFill>
                  <a:schemeClr val="accent5">
                    <a:lumMod val="50000"/>
                  </a:schemeClr>
                </a:solidFill>
                <a:latin typeface="Bodoni MT" panose="02070603080606020203" pitchFamily="18" charset="0"/>
                <a:cs typeface="Arial" panose="020B0604020202020204" pitchFamily="34" charset="0"/>
              </a:rPr>
              <a:t>– 613 401</a:t>
            </a:r>
            <a:endParaRPr lang="en-IN" dirty="0">
              <a:solidFill>
                <a:schemeClr val="accent5">
                  <a:lumMod val="50000"/>
                </a:schemeClr>
              </a:solidFill>
              <a:latin typeface="Bodoni MT" panose="02070603080606020203" pitchFamily="18" charset="0"/>
              <a:cs typeface="Arial" panose="020B0604020202020204" pitchFamily="34" charset="0"/>
            </a:endParaRPr>
          </a:p>
          <a:p>
            <a:pPr algn="ctr"/>
            <a:endParaRPr lang="en-IN" b="1" dirty="0"/>
          </a:p>
        </p:txBody>
      </p:sp>
      <p:pic>
        <p:nvPicPr>
          <p:cNvPr id="5" name="Picture 4"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6418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50374"/>
            <a:ext cx="10515600" cy="5026589"/>
          </a:xfrm>
        </p:spPr>
        <p:txBody>
          <a:bodyPr>
            <a:normAutofit/>
          </a:bodyPr>
          <a:lstStyle/>
          <a:p>
            <a:pPr marL="0" indent="0" algn="just">
              <a:buNone/>
            </a:pPr>
            <a:r>
              <a:rPr lang="en-IN" sz="2600" b="1" dirty="0" smtClean="0">
                <a:solidFill>
                  <a:srgbClr val="FF0000"/>
                </a:solidFill>
              </a:rPr>
              <a:t>1. Introduction:</a:t>
            </a:r>
          </a:p>
          <a:p>
            <a:pPr marL="0" indent="0" algn="just">
              <a:buNone/>
            </a:pPr>
            <a:r>
              <a:rPr lang="en-IN" sz="2600" dirty="0" smtClean="0"/>
              <a:t>The working capital estimation as per the method of operating cycle, is the most systematic and logical approach. In this case, </a:t>
            </a:r>
            <a:r>
              <a:rPr lang="en-IN" sz="2600" b="1" dirty="0" smtClean="0">
                <a:solidFill>
                  <a:srgbClr val="FF0000"/>
                </a:solidFill>
              </a:rPr>
              <a:t>the working capital estimation is made on the basis of analysis of each and every component of the working capital individually. </a:t>
            </a:r>
            <a:r>
              <a:rPr lang="en-IN" sz="2600" dirty="0" smtClean="0"/>
              <a:t>As already discussed, the working capital, required to sustain the level of planned operations, is determined by calculating </a:t>
            </a:r>
            <a:r>
              <a:rPr lang="en-IN" sz="2600" b="1" dirty="0" smtClean="0">
                <a:solidFill>
                  <a:srgbClr val="FF0000"/>
                </a:solidFill>
              </a:rPr>
              <a:t>all the individual components of current assets and current liabilities.</a:t>
            </a:r>
            <a:r>
              <a:rPr lang="en-IN" sz="2600" dirty="0" smtClean="0"/>
              <a:t> The calculation of net working capital may also be shown as follows:</a:t>
            </a:r>
          </a:p>
          <a:p>
            <a:pPr marL="0" indent="0" algn="just">
              <a:buNone/>
            </a:pPr>
            <a:r>
              <a:rPr lang="en-IN" sz="2600" b="1" dirty="0" smtClean="0">
                <a:solidFill>
                  <a:srgbClr val="FF0000"/>
                </a:solidFill>
              </a:rPr>
              <a:t>Working Capital = </a:t>
            </a:r>
            <a:r>
              <a:rPr lang="en-IN" sz="2600" b="1" smtClean="0">
                <a:solidFill>
                  <a:srgbClr val="00B050"/>
                </a:solidFill>
              </a:rPr>
              <a:t>Current Assets </a:t>
            </a:r>
            <a:r>
              <a:rPr lang="en-IN" sz="2600" b="1" smtClean="0">
                <a:solidFill>
                  <a:srgbClr val="FF0000"/>
                </a:solidFill>
              </a:rPr>
              <a:t>(Raw </a:t>
            </a:r>
            <a:r>
              <a:rPr lang="en-IN" sz="2600" b="1" dirty="0" smtClean="0">
                <a:solidFill>
                  <a:srgbClr val="FF0000"/>
                </a:solidFill>
              </a:rPr>
              <a:t>Materials Stock + Work-in-progress Stock + Finished Goods Stock + Debtors + Cash Balance) –</a:t>
            </a:r>
            <a:r>
              <a:rPr lang="en-IN" sz="2600" b="1" dirty="0" smtClean="0"/>
              <a:t> </a:t>
            </a:r>
            <a:r>
              <a:rPr lang="en-IN" sz="2600" b="1" dirty="0">
                <a:solidFill>
                  <a:srgbClr val="00B050"/>
                </a:solidFill>
              </a:rPr>
              <a:t>Current Liabilities </a:t>
            </a:r>
            <a:r>
              <a:rPr lang="en-IN" sz="2600" b="1" dirty="0" smtClean="0">
                <a:solidFill>
                  <a:srgbClr val="FF0000"/>
                </a:solidFill>
              </a:rPr>
              <a:t>(Creditors + Outstanding Wages + Outstanding Overheads).</a:t>
            </a:r>
            <a:endParaRPr lang="en-IN" sz="2600" b="1" dirty="0">
              <a:solidFill>
                <a:srgbClr val="FF0000"/>
              </a:solidFill>
            </a:endParaRPr>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95176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2387"/>
            <a:ext cx="10515600" cy="5144576"/>
          </a:xfrm>
        </p:spPr>
        <p:txBody>
          <a:bodyPr>
            <a:normAutofit/>
          </a:bodyPr>
          <a:lstStyle/>
          <a:p>
            <a:pPr marL="0" indent="0">
              <a:buNone/>
            </a:pPr>
            <a:r>
              <a:rPr lang="en-IN" sz="2600" b="1" dirty="0">
                <a:solidFill>
                  <a:srgbClr val="FF0000"/>
                </a:solidFill>
              </a:rPr>
              <a:t>2</a:t>
            </a:r>
            <a:r>
              <a:rPr lang="en-IN" sz="2600" b="1" dirty="0" smtClean="0">
                <a:solidFill>
                  <a:srgbClr val="FF0000"/>
                </a:solidFill>
              </a:rPr>
              <a:t>. Factors Influencing Working Capital Requirements:</a:t>
            </a:r>
            <a:r>
              <a:rPr lang="en-IN" sz="2600" dirty="0" smtClean="0"/>
              <a:t> </a:t>
            </a:r>
          </a:p>
          <a:p>
            <a:pPr marL="0" indent="0">
              <a:buNone/>
            </a:pPr>
            <a:r>
              <a:rPr lang="en-IN" sz="2600" dirty="0" smtClean="0"/>
              <a:t>The working capital needs of a firm are influenced by numerous factors. The important ones are:</a:t>
            </a:r>
          </a:p>
          <a:p>
            <a:r>
              <a:rPr lang="en-IN" sz="2600" dirty="0" smtClean="0"/>
              <a:t>Nature of business</a:t>
            </a:r>
          </a:p>
          <a:p>
            <a:r>
              <a:rPr lang="en-IN" sz="2600" dirty="0" smtClean="0"/>
              <a:t>Seasonality of operations</a:t>
            </a:r>
          </a:p>
          <a:p>
            <a:r>
              <a:rPr lang="en-IN" sz="2600" dirty="0" smtClean="0"/>
              <a:t>Production policy </a:t>
            </a:r>
          </a:p>
          <a:p>
            <a:r>
              <a:rPr lang="en-IN" sz="2600" dirty="0" smtClean="0"/>
              <a:t>Market conditions</a:t>
            </a:r>
          </a:p>
          <a:p>
            <a:r>
              <a:rPr lang="en-IN" sz="2600" dirty="0" smtClean="0"/>
              <a:t>Conditions of supply</a:t>
            </a:r>
            <a:endParaRPr lang="en-IN" sz="2600" dirty="0"/>
          </a:p>
        </p:txBody>
      </p:sp>
      <p:pic>
        <p:nvPicPr>
          <p:cNvPr id="4" name="Picture 3"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27704"/>
            <a:ext cx="1816100" cy="48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6981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52500"/>
            <a:ext cx="10515600" cy="5224463"/>
          </a:xfrm>
        </p:spPr>
        <p:txBody>
          <a:bodyPr/>
          <a:lstStyle/>
          <a:p>
            <a:pPr marL="0" indent="0">
              <a:buNone/>
            </a:pPr>
            <a:r>
              <a:rPr lang="en-IN" sz="2600" b="1" dirty="0">
                <a:solidFill>
                  <a:srgbClr val="FF0000"/>
                </a:solidFill>
              </a:rPr>
              <a:t>3</a:t>
            </a:r>
            <a:r>
              <a:rPr lang="en-IN" sz="2600" b="1" dirty="0" smtClean="0">
                <a:solidFill>
                  <a:srgbClr val="FF0000"/>
                </a:solidFill>
              </a:rPr>
              <a:t>. Proportions of Current Assets and Current Liabilities:</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36625350"/>
              </p:ext>
            </p:extLst>
          </p:nvPr>
        </p:nvGraphicFramePr>
        <p:xfrm>
          <a:off x="838200" y="1387031"/>
          <a:ext cx="10515600" cy="4602480"/>
        </p:xfrm>
        <a:graphic>
          <a:graphicData uri="http://schemas.openxmlformats.org/drawingml/2006/table">
            <a:tbl>
              <a:tblPr firstRow="1" bandRow="1">
                <a:tableStyleId>{5C22544A-7EE6-4342-B048-85BDC9FD1C3A}</a:tableStyleId>
              </a:tblPr>
              <a:tblGrid>
                <a:gridCol w="2171701">
                  <a:extLst>
                    <a:ext uri="{9D8B030D-6E8A-4147-A177-3AD203B41FA5}">
                      <a16:colId xmlns:a16="http://schemas.microsoft.com/office/drawing/2014/main" val="3039663272"/>
                    </a:ext>
                  </a:extLst>
                </a:gridCol>
                <a:gridCol w="2571750">
                  <a:extLst>
                    <a:ext uri="{9D8B030D-6E8A-4147-A177-3AD203B41FA5}">
                      <a16:colId xmlns:a16="http://schemas.microsoft.com/office/drawing/2014/main" val="2052494499"/>
                    </a:ext>
                  </a:extLst>
                </a:gridCol>
                <a:gridCol w="5772149">
                  <a:extLst>
                    <a:ext uri="{9D8B030D-6E8A-4147-A177-3AD203B41FA5}">
                      <a16:colId xmlns:a16="http://schemas.microsoft.com/office/drawing/2014/main" val="547635552"/>
                    </a:ext>
                  </a:extLst>
                </a:gridCol>
              </a:tblGrid>
              <a:tr h="370840">
                <a:tc>
                  <a:txBody>
                    <a:bodyPr/>
                    <a:lstStyle/>
                    <a:p>
                      <a:pPr algn="ctr"/>
                      <a:r>
                        <a:rPr lang="en-IN" sz="2000" b="1" dirty="0" smtClean="0"/>
                        <a:t>Current Assets </a:t>
                      </a:r>
                    </a:p>
                    <a:p>
                      <a:pPr algn="ctr"/>
                      <a:r>
                        <a:rPr lang="en-IN" sz="2000" b="1" dirty="0" smtClean="0"/>
                        <a:t>(%)</a:t>
                      </a:r>
                      <a:endParaRPr lang="en-IN" sz="2000" b="1" dirty="0"/>
                    </a:p>
                  </a:txBody>
                  <a:tcPr/>
                </a:tc>
                <a:tc>
                  <a:txBody>
                    <a:bodyPr/>
                    <a:lstStyle/>
                    <a:p>
                      <a:pPr algn="ctr"/>
                      <a:r>
                        <a:rPr lang="en-IN" sz="2000" b="1" dirty="0" smtClean="0"/>
                        <a:t>Fixed Assets </a:t>
                      </a:r>
                    </a:p>
                    <a:p>
                      <a:pPr algn="ctr"/>
                      <a:r>
                        <a:rPr lang="en-IN" sz="2000" b="1" dirty="0" smtClean="0"/>
                        <a:t>(%)</a:t>
                      </a:r>
                      <a:endParaRPr lang="en-IN" sz="2000" b="1" dirty="0"/>
                    </a:p>
                  </a:txBody>
                  <a:tcPr/>
                </a:tc>
                <a:tc>
                  <a:txBody>
                    <a:bodyPr/>
                    <a:lstStyle/>
                    <a:p>
                      <a:pPr algn="ctr"/>
                      <a:r>
                        <a:rPr lang="en-IN" sz="2000" b="1" dirty="0" smtClean="0"/>
                        <a:t>Industries</a:t>
                      </a:r>
                      <a:endParaRPr lang="en-IN" sz="2000" b="1" dirty="0"/>
                    </a:p>
                  </a:txBody>
                  <a:tcPr/>
                </a:tc>
                <a:extLst>
                  <a:ext uri="{0D108BD9-81ED-4DB2-BD59-A6C34878D82A}">
                    <a16:rowId xmlns:a16="http://schemas.microsoft.com/office/drawing/2014/main" val="3352859569"/>
                  </a:ext>
                </a:extLst>
              </a:tr>
              <a:tr h="370840">
                <a:tc>
                  <a:txBody>
                    <a:bodyPr/>
                    <a:lstStyle/>
                    <a:p>
                      <a:pPr algn="ctr"/>
                      <a:r>
                        <a:rPr lang="en-IN" sz="2600" dirty="0" smtClean="0"/>
                        <a:t>10-20</a:t>
                      </a:r>
                      <a:endParaRPr lang="en-IN" sz="2600" dirty="0"/>
                    </a:p>
                  </a:txBody>
                  <a:tcPr/>
                </a:tc>
                <a:tc>
                  <a:txBody>
                    <a:bodyPr/>
                    <a:lstStyle/>
                    <a:p>
                      <a:pPr algn="ctr"/>
                      <a:r>
                        <a:rPr lang="en-IN" sz="2600" dirty="0" smtClean="0"/>
                        <a:t>80-90</a:t>
                      </a:r>
                      <a:endParaRPr lang="en-IN" sz="2600" dirty="0"/>
                    </a:p>
                  </a:txBody>
                  <a:tcPr/>
                </a:tc>
                <a:tc>
                  <a:txBody>
                    <a:bodyPr/>
                    <a:lstStyle/>
                    <a:p>
                      <a:r>
                        <a:rPr lang="en-IN" sz="2600" dirty="0" smtClean="0"/>
                        <a:t>Hotels and Restaurants</a:t>
                      </a:r>
                      <a:endParaRPr lang="en-IN" sz="2600" dirty="0"/>
                    </a:p>
                  </a:txBody>
                  <a:tcPr/>
                </a:tc>
                <a:extLst>
                  <a:ext uri="{0D108BD9-81ED-4DB2-BD59-A6C34878D82A}">
                    <a16:rowId xmlns:a16="http://schemas.microsoft.com/office/drawing/2014/main" val="3215567323"/>
                  </a:ext>
                </a:extLst>
              </a:tr>
              <a:tr h="370840">
                <a:tc>
                  <a:txBody>
                    <a:bodyPr/>
                    <a:lstStyle/>
                    <a:p>
                      <a:pPr algn="ctr"/>
                      <a:r>
                        <a:rPr lang="en-IN" sz="2600" dirty="0" smtClean="0"/>
                        <a:t>20-30</a:t>
                      </a:r>
                      <a:endParaRPr lang="en-IN" sz="2600" dirty="0"/>
                    </a:p>
                  </a:txBody>
                  <a:tcPr/>
                </a:tc>
                <a:tc>
                  <a:txBody>
                    <a:bodyPr/>
                    <a:lstStyle/>
                    <a:p>
                      <a:pPr algn="ctr"/>
                      <a:r>
                        <a:rPr lang="en-IN" sz="2600" dirty="0" smtClean="0"/>
                        <a:t>70-80</a:t>
                      </a:r>
                      <a:endParaRPr lang="en-IN" sz="2600" dirty="0"/>
                    </a:p>
                  </a:txBody>
                  <a:tcPr/>
                </a:tc>
                <a:tc>
                  <a:txBody>
                    <a:bodyPr/>
                    <a:lstStyle/>
                    <a:p>
                      <a:r>
                        <a:rPr lang="en-IN" sz="2600" dirty="0" smtClean="0"/>
                        <a:t>Electricity Generation</a:t>
                      </a:r>
                      <a:r>
                        <a:rPr lang="en-IN" sz="2600" baseline="0" dirty="0" smtClean="0"/>
                        <a:t> and Distribution</a:t>
                      </a:r>
                      <a:endParaRPr lang="en-IN" sz="2600" dirty="0"/>
                    </a:p>
                  </a:txBody>
                  <a:tcPr/>
                </a:tc>
                <a:extLst>
                  <a:ext uri="{0D108BD9-81ED-4DB2-BD59-A6C34878D82A}">
                    <a16:rowId xmlns:a16="http://schemas.microsoft.com/office/drawing/2014/main" val="717839477"/>
                  </a:ext>
                </a:extLst>
              </a:tr>
              <a:tr h="370840">
                <a:tc>
                  <a:txBody>
                    <a:bodyPr/>
                    <a:lstStyle/>
                    <a:p>
                      <a:pPr algn="ctr"/>
                      <a:r>
                        <a:rPr lang="en-IN" sz="2600" dirty="0" smtClean="0"/>
                        <a:t>30-40</a:t>
                      </a:r>
                      <a:endParaRPr lang="en-IN" sz="2600" dirty="0"/>
                    </a:p>
                  </a:txBody>
                  <a:tcPr/>
                </a:tc>
                <a:tc>
                  <a:txBody>
                    <a:bodyPr/>
                    <a:lstStyle/>
                    <a:p>
                      <a:pPr algn="ctr"/>
                      <a:r>
                        <a:rPr lang="en-IN" sz="2600" dirty="0" smtClean="0"/>
                        <a:t>60-70</a:t>
                      </a:r>
                      <a:endParaRPr lang="en-IN" sz="2600" dirty="0"/>
                    </a:p>
                  </a:txBody>
                  <a:tcPr/>
                </a:tc>
                <a:tc>
                  <a:txBody>
                    <a:bodyPr/>
                    <a:lstStyle/>
                    <a:p>
                      <a:r>
                        <a:rPr lang="en-IN" sz="2600" dirty="0" smtClean="0"/>
                        <a:t>Aluminium,</a:t>
                      </a:r>
                      <a:r>
                        <a:rPr lang="en-IN" sz="2600" baseline="0" dirty="0" smtClean="0"/>
                        <a:t> Shipping</a:t>
                      </a:r>
                      <a:endParaRPr lang="en-IN" sz="2600" dirty="0"/>
                    </a:p>
                  </a:txBody>
                  <a:tcPr/>
                </a:tc>
                <a:extLst>
                  <a:ext uri="{0D108BD9-81ED-4DB2-BD59-A6C34878D82A}">
                    <a16:rowId xmlns:a16="http://schemas.microsoft.com/office/drawing/2014/main" val="1140894862"/>
                  </a:ext>
                </a:extLst>
              </a:tr>
              <a:tr h="370840">
                <a:tc>
                  <a:txBody>
                    <a:bodyPr/>
                    <a:lstStyle/>
                    <a:p>
                      <a:pPr algn="ctr"/>
                      <a:r>
                        <a:rPr lang="en-IN" sz="2600" dirty="0" smtClean="0"/>
                        <a:t>40-50</a:t>
                      </a:r>
                      <a:endParaRPr lang="en-IN" sz="2600" dirty="0"/>
                    </a:p>
                  </a:txBody>
                  <a:tcPr/>
                </a:tc>
                <a:tc>
                  <a:txBody>
                    <a:bodyPr/>
                    <a:lstStyle/>
                    <a:p>
                      <a:pPr algn="ctr"/>
                      <a:r>
                        <a:rPr lang="en-IN" sz="2600" dirty="0" smtClean="0"/>
                        <a:t>50-60</a:t>
                      </a:r>
                      <a:endParaRPr lang="en-IN" sz="2600" dirty="0"/>
                    </a:p>
                  </a:txBody>
                  <a:tcPr/>
                </a:tc>
                <a:tc>
                  <a:txBody>
                    <a:bodyPr/>
                    <a:lstStyle/>
                    <a:p>
                      <a:r>
                        <a:rPr lang="en-IN" sz="2600" dirty="0" smtClean="0"/>
                        <a:t>Ion and Steel,</a:t>
                      </a:r>
                      <a:r>
                        <a:rPr lang="en-IN" sz="2600" baseline="0" dirty="0" smtClean="0"/>
                        <a:t> Basic Industrial Chemicals</a:t>
                      </a:r>
                      <a:endParaRPr lang="en-IN" sz="2600" dirty="0"/>
                    </a:p>
                  </a:txBody>
                  <a:tcPr/>
                </a:tc>
                <a:extLst>
                  <a:ext uri="{0D108BD9-81ED-4DB2-BD59-A6C34878D82A}">
                    <a16:rowId xmlns:a16="http://schemas.microsoft.com/office/drawing/2014/main" val="590776499"/>
                  </a:ext>
                </a:extLst>
              </a:tr>
              <a:tr h="370840">
                <a:tc>
                  <a:txBody>
                    <a:bodyPr/>
                    <a:lstStyle/>
                    <a:p>
                      <a:pPr algn="ctr"/>
                      <a:r>
                        <a:rPr lang="en-IN" sz="2600" dirty="0" smtClean="0"/>
                        <a:t>50-60</a:t>
                      </a:r>
                      <a:endParaRPr lang="en-IN" sz="2600" dirty="0"/>
                    </a:p>
                  </a:txBody>
                  <a:tcPr/>
                </a:tc>
                <a:tc>
                  <a:txBody>
                    <a:bodyPr/>
                    <a:lstStyle/>
                    <a:p>
                      <a:pPr algn="ctr"/>
                      <a:r>
                        <a:rPr lang="en-IN" sz="2600" dirty="0" smtClean="0"/>
                        <a:t>40-50</a:t>
                      </a:r>
                      <a:endParaRPr lang="en-IN" sz="2600" dirty="0"/>
                    </a:p>
                  </a:txBody>
                  <a:tcPr/>
                </a:tc>
                <a:tc>
                  <a:txBody>
                    <a:bodyPr/>
                    <a:lstStyle/>
                    <a:p>
                      <a:r>
                        <a:rPr lang="en-IN" sz="2600" dirty="0" smtClean="0"/>
                        <a:t>Tea Plantation</a:t>
                      </a:r>
                      <a:endParaRPr lang="en-IN" sz="2600" dirty="0"/>
                    </a:p>
                  </a:txBody>
                  <a:tcPr/>
                </a:tc>
                <a:extLst>
                  <a:ext uri="{0D108BD9-81ED-4DB2-BD59-A6C34878D82A}">
                    <a16:rowId xmlns:a16="http://schemas.microsoft.com/office/drawing/2014/main" val="1465656572"/>
                  </a:ext>
                </a:extLst>
              </a:tr>
              <a:tr h="370840">
                <a:tc>
                  <a:txBody>
                    <a:bodyPr/>
                    <a:lstStyle/>
                    <a:p>
                      <a:pPr algn="ctr"/>
                      <a:r>
                        <a:rPr lang="en-IN" sz="2600" dirty="0" smtClean="0"/>
                        <a:t>60-70</a:t>
                      </a:r>
                      <a:endParaRPr lang="en-IN" sz="2600" dirty="0"/>
                    </a:p>
                  </a:txBody>
                  <a:tcPr/>
                </a:tc>
                <a:tc>
                  <a:txBody>
                    <a:bodyPr/>
                    <a:lstStyle/>
                    <a:p>
                      <a:pPr algn="ctr"/>
                      <a:r>
                        <a:rPr lang="en-IN" sz="2600" dirty="0" smtClean="0"/>
                        <a:t>30-40</a:t>
                      </a:r>
                      <a:endParaRPr lang="en-IN" sz="2600" dirty="0"/>
                    </a:p>
                  </a:txBody>
                  <a:tcPr/>
                </a:tc>
                <a:tc>
                  <a:txBody>
                    <a:bodyPr/>
                    <a:lstStyle/>
                    <a:p>
                      <a:r>
                        <a:rPr lang="en-IN" sz="2600" dirty="0" smtClean="0"/>
                        <a:t>Cotton, Textiles, Sugar</a:t>
                      </a:r>
                      <a:endParaRPr lang="en-IN" sz="2600" dirty="0"/>
                    </a:p>
                  </a:txBody>
                  <a:tcPr/>
                </a:tc>
                <a:extLst>
                  <a:ext uri="{0D108BD9-81ED-4DB2-BD59-A6C34878D82A}">
                    <a16:rowId xmlns:a16="http://schemas.microsoft.com/office/drawing/2014/main" val="3511071618"/>
                  </a:ext>
                </a:extLst>
              </a:tr>
              <a:tr h="370840">
                <a:tc>
                  <a:txBody>
                    <a:bodyPr/>
                    <a:lstStyle/>
                    <a:p>
                      <a:pPr algn="ctr"/>
                      <a:r>
                        <a:rPr lang="en-IN" sz="2600" dirty="0" smtClean="0"/>
                        <a:t>70-80</a:t>
                      </a:r>
                      <a:endParaRPr lang="en-IN" sz="2600" dirty="0"/>
                    </a:p>
                  </a:txBody>
                  <a:tcPr/>
                </a:tc>
                <a:tc>
                  <a:txBody>
                    <a:bodyPr/>
                    <a:lstStyle/>
                    <a:p>
                      <a:pPr algn="ctr"/>
                      <a:r>
                        <a:rPr lang="en-IN" sz="2600" dirty="0" smtClean="0"/>
                        <a:t>20-30</a:t>
                      </a:r>
                      <a:endParaRPr lang="en-IN" sz="2600" dirty="0"/>
                    </a:p>
                  </a:txBody>
                  <a:tcPr/>
                </a:tc>
                <a:tc>
                  <a:txBody>
                    <a:bodyPr/>
                    <a:lstStyle/>
                    <a:p>
                      <a:r>
                        <a:rPr lang="en-IN" sz="2600" dirty="0" smtClean="0"/>
                        <a:t>Edible Oils, Tobacco</a:t>
                      </a:r>
                      <a:endParaRPr lang="en-IN" sz="2600" dirty="0"/>
                    </a:p>
                  </a:txBody>
                  <a:tcPr/>
                </a:tc>
                <a:extLst>
                  <a:ext uri="{0D108BD9-81ED-4DB2-BD59-A6C34878D82A}">
                    <a16:rowId xmlns:a16="http://schemas.microsoft.com/office/drawing/2014/main" val="3935714354"/>
                  </a:ext>
                </a:extLst>
              </a:tr>
              <a:tr h="370840">
                <a:tc>
                  <a:txBody>
                    <a:bodyPr/>
                    <a:lstStyle/>
                    <a:p>
                      <a:pPr algn="ctr"/>
                      <a:r>
                        <a:rPr lang="en-IN" sz="2600" dirty="0" smtClean="0"/>
                        <a:t>80-90</a:t>
                      </a:r>
                      <a:endParaRPr lang="en-IN" sz="2600" dirty="0"/>
                    </a:p>
                  </a:txBody>
                  <a:tcPr/>
                </a:tc>
                <a:tc>
                  <a:txBody>
                    <a:bodyPr/>
                    <a:lstStyle/>
                    <a:p>
                      <a:pPr algn="ctr"/>
                      <a:r>
                        <a:rPr lang="en-IN" sz="2600" dirty="0" smtClean="0"/>
                        <a:t>10-20</a:t>
                      </a:r>
                      <a:endParaRPr lang="en-IN" sz="2600" dirty="0"/>
                    </a:p>
                  </a:txBody>
                  <a:tcPr/>
                </a:tc>
                <a:tc>
                  <a:txBody>
                    <a:bodyPr/>
                    <a:lstStyle/>
                    <a:p>
                      <a:r>
                        <a:rPr lang="en-IN" sz="2600" dirty="0" smtClean="0"/>
                        <a:t>Trading,</a:t>
                      </a:r>
                      <a:r>
                        <a:rPr lang="en-IN" sz="2600" baseline="0" dirty="0" smtClean="0"/>
                        <a:t> Construction</a:t>
                      </a:r>
                      <a:endParaRPr lang="en-IN" sz="2600" dirty="0"/>
                    </a:p>
                  </a:txBody>
                  <a:tcPr/>
                </a:tc>
                <a:extLst>
                  <a:ext uri="{0D108BD9-81ED-4DB2-BD59-A6C34878D82A}">
                    <a16:rowId xmlns:a16="http://schemas.microsoft.com/office/drawing/2014/main" val="138763555"/>
                  </a:ext>
                </a:extLst>
              </a:tr>
            </a:tbl>
          </a:graphicData>
        </a:graphic>
      </p:graphicFrame>
      <p:pic>
        <p:nvPicPr>
          <p:cNvPr id="5" name="Picture 4"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27704"/>
            <a:ext cx="1816100" cy="48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32775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76632"/>
            <a:ext cx="10515600" cy="4982344"/>
          </a:xfrm>
        </p:spPr>
        <p:txBody>
          <a:bodyPr>
            <a:normAutofit/>
          </a:bodyPr>
          <a:lstStyle/>
          <a:p>
            <a:pPr marL="0" indent="0" algn="just">
              <a:buNone/>
            </a:pPr>
            <a:r>
              <a:rPr lang="en-IN" sz="2600" b="1" dirty="0" smtClean="0">
                <a:solidFill>
                  <a:srgbClr val="FF0000"/>
                </a:solidFill>
              </a:rPr>
              <a:t>4. Basis of Calculation:</a:t>
            </a:r>
          </a:p>
          <a:p>
            <a:pPr algn="just"/>
            <a:r>
              <a:rPr lang="en-IN" sz="2600" dirty="0" smtClean="0"/>
              <a:t>Raw Materials = </a:t>
            </a:r>
            <a:r>
              <a:rPr lang="en-IN" sz="2600" b="1" dirty="0" smtClean="0">
                <a:solidFill>
                  <a:srgbClr val="FF0000"/>
                </a:solidFill>
              </a:rPr>
              <a:t>Cost (Average) of Materials in Stock. </a:t>
            </a:r>
          </a:p>
          <a:p>
            <a:pPr algn="just"/>
            <a:r>
              <a:rPr lang="en-IN" sz="2600" dirty="0" smtClean="0"/>
              <a:t>Work-in-progress Stock = Cost of Materials + Wages +Overhead of Work-in-progress </a:t>
            </a:r>
            <a:r>
              <a:rPr lang="en-IN" sz="2600" b="1" dirty="0" smtClean="0">
                <a:solidFill>
                  <a:srgbClr val="FF0000"/>
                </a:solidFill>
              </a:rPr>
              <a:t>[Cost of sales or goods sold].</a:t>
            </a:r>
          </a:p>
          <a:p>
            <a:pPr algn="just"/>
            <a:r>
              <a:rPr lang="en-IN" sz="2600" dirty="0" smtClean="0"/>
              <a:t>Finished Goods Stock = Cost of Materials + Wages +Overhead of Finished Goods </a:t>
            </a:r>
            <a:r>
              <a:rPr lang="en-IN" sz="2600" b="1" dirty="0" smtClean="0">
                <a:solidFill>
                  <a:srgbClr val="FF0000"/>
                </a:solidFill>
              </a:rPr>
              <a:t>[Cost of sales or goods sold].</a:t>
            </a:r>
          </a:p>
          <a:p>
            <a:pPr algn="just"/>
            <a:r>
              <a:rPr lang="en-IN" sz="2600" dirty="0" smtClean="0"/>
              <a:t>Debtors = </a:t>
            </a:r>
            <a:r>
              <a:rPr lang="en-IN" sz="2600" b="1" dirty="0" smtClean="0">
                <a:solidFill>
                  <a:srgbClr val="FF0000"/>
                </a:solidFill>
              </a:rPr>
              <a:t>Cost of sales/sales</a:t>
            </a:r>
          </a:p>
          <a:p>
            <a:pPr algn="just"/>
            <a:r>
              <a:rPr lang="en-IN" sz="2600" dirty="0" smtClean="0"/>
              <a:t> Creditors for Material = </a:t>
            </a:r>
            <a:r>
              <a:rPr lang="en-IN" sz="2600" b="1" dirty="0" smtClean="0">
                <a:solidFill>
                  <a:srgbClr val="FF0000"/>
                </a:solidFill>
              </a:rPr>
              <a:t>Cost of Average Outstanding Creditors.</a:t>
            </a:r>
          </a:p>
          <a:p>
            <a:pPr algn="just"/>
            <a:r>
              <a:rPr lang="en-IN" sz="2600" dirty="0" smtClean="0"/>
              <a:t> Creditors for Wages = </a:t>
            </a:r>
            <a:r>
              <a:rPr lang="en-IN" sz="2600" b="1" dirty="0" smtClean="0">
                <a:solidFill>
                  <a:srgbClr val="FF0000"/>
                </a:solidFill>
              </a:rPr>
              <a:t>Averages Wages Outstanding</a:t>
            </a:r>
            <a:r>
              <a:rPr lang="en-IN" sz="2600" dirty="0" smtClean="0"/>
              <a:t>. </a:t>
            </a:r>
          </a:p>
          <a:p>
            <a:pPr algn="just"/>
            <a:r>
              <a:rPr lang="en-IN" sz="2600" dirty="0" smtClean="0"/>
              <a:t>Creditors for Overhead = </a:t>
            </a:r>
            <a:r>
              <a:rPr lang="en-IN" sz="2600" b="1" dirty="0" smtClean="0">
                <a:solidFill>
                  <a:srgbClr val="FF0000"/>
                </a:solidFill>
              </a:rPr>
              <a:t>Average Overheads Outstanding</a:t>
            </a:r>
            <a:endParaRPr lang="en-IN" sz="2600" b="1" dirty="0">
              <a:solidFill>
                <a:srgbClr val="FF0000"/>
              </a:solidFill>
            </a:endParaRPr>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45470"/>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28965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0935" y="929148"/>
            <a:ext cx="10515600" cy="5483789"/>
          </a:xfrm>
        </p:spPr>
        <p:txBody>
          <a:bodyPr>
            <a:normAutofit/>
          </a:bodyPr>
          <a:lstStyle/>
          <a:p>
            <a:pPr marL="0" lvl="0" indent="0" algn="just">
              <a:buNone/>
            </a:pPr>
            <a:r>
              <a:rPr lang="en-IN" sz="2600" b="1" dirty="0" smtClean="0">
                <a:solidFill>
                  <a:srgbClr val="FF0000"/>
                </a:solidFill>
              </a:rPr>
              <a:t>Solved Problems: </a:t>
            </a:r>
          </a:p>
          <a:p>
            <a:pPr marL="0" lvl="0" indent="0" algn="just">
              <a:buNone/>
            </a:pPr>
            <a:r>
              <a:rPr lang="en-IN" sz="2600" dirty="0" smtClean="0"/>
              <a:t>P1. From </a:t>
            </a:r>
            <a:r>
              <a:rPr lang="en-IN" sz="2600" dirty="0"/>
              <a:t>the following information, prepare a statement showing the estimated working capital requirements:</a:t>
            </a:r>
          </a:p>
          <a:p>
            <a:pPr marL="0" indent="0" algn="just">
              <a:buNone/>
            </a:pPr>
            <a:r>
              <a:rPr lang="en-IN" sz="2600" dirty="0"/>
              <a:t>Budgeted sales – Rs. 2, 60,000 p.a.</a:t>
            </a:r>
          </a:p>
          <a:p>
            <a:pPr marL="0" indent="0" algn="just">
              <a:buNone/>
            </a:pPr>
            <a:r>
              <a:rPr lang="en-IN" sz="2600" dirty="0"/>
              <a:t>Cost </a:t>
            </a:r>
            <a:r>
              <a:rPr lang="en-IN" sz="2600" dirty="0" smtClean="0"/>
              <a:t>and </a:t>
            </a:r>
            <a:r>
              <a:rPr lang="en-IN" sz="2600" dirty="0"/>
              <a:t>profit of each units:</a:t>
            </a:r>
          </a:p>
          <a:p>
            <a:pPr marL="0" indent="0" algn="just">
              <a:buNone/>
            </a:pPr>
            <a:endParaRPr lang="en-IN" sz="2600" dirty="0"/>
          </a:p>
        </p:txBody>
      </p:sp>
      <p:graphicFrame>
        <p:nvGraphicFramePr>
          <p:cNvPr id="6" name="Table 5"/>
          <p:cNvGraphicFramePr>
            <a:graphicFrameLocks noGrp="1"/>
          </p:cNvGraphicFramePr>
          <p:nvPr>
            <p:extLst>
              <p:ext uri="{D42A27DB-BD31-4B8C-83A1-F6EECF244321}">
                <p14:modId xmlns:p14="http://schemas.microsoft.com/office/powerpoint/2010/main" val="3631260104"/>
              </p:ext>
            </p:extLst>
          </p:nvPr>
        </p:nvGraphicFramePr>
        <p:xfrm>
          <a:off x="1074174" y="3113848"/>
          <a:ext cx="4137660" cy="2734056"/>
        </p:xfrm>
        <a:graphic>
          <a:graphicData uri="http://schemas.openxmlformats.org/drawingml/2006/table">
            <a:tbl>
              <a:tblPr firstRow="1" firstCol="1" bandRow="1"/>
              <a:tblGrid>
                <a:gridCol w="2877820">
                  <a:extLst>
                    <a:ext uri="{9D8B030D-6E8A-4147-A177-3AD203B41FA5}">
                      <a16:colId xmlns:a16="http://schemas.microsoft.com/office/drawing/2014/main" val="2207216641"/>
                    </a:ext>
                  </a:extLst>
                </a:gridCol>
                <a:gridCol w="1259840">
                  <a:extLst>
                    <a:ext uri="{9D8B030D-6E8A-4147-A177-3AD203B41FA5}">
                      <a16:colId xmlns:a16="http://schemas.microsoft.com/office/drawing/2014/main" val="721975934"/>
                    </a:ext>
                  </a:extLst>
                </a:gridCol>
              </a:tblGrid>
              <a:tr h="0">
                <a:tc>
                  <a:txBody>
                    <a:bodyPr/>
                    <a:lstStyle/>
                    <a:p>
                      <a:pPr marL="457200" algn="ctr">
                        <a:lnSpc>
                          <a:spcPct val="115000"/>
                        </a:lnSpc>
                        <a:spcAft>
                          <a:spcPts val="0"/>
                        </a:spcAft>
                      </a:pPr>
                      <a:r>
                        <a:rPr lang="en-IN" sz="2600" dirty="0">
                          <a:effectLst/>
                          <a:latin typeface="+mn-lt"/>
                          <a:ea typeface="Times New Roman" panose="02020603050405020304" pitchFamily="18" charset="0"/>
                          <a:cs typeface="Latha" panose="020B0604020202020204" pitchFamily="34" charset="0"/>
                        </a:rPr>
                        <a:t>Particulars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IN" sz="2600" b="0" dirty="0">
                          <a:effectLst/>
                          <a:latin typeface="+mn-lt"/>
                          <a:ea typeface="Times New Roman" panose="02020603050405020304" pitchFamily="18" charset="0"/>
                          <a:cs typeface="Latha" panose="020B0604020202020204" pitchFamily="34" charset="0"/>
                        </a:rPr>
                        <a:t>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3293054"/>
                  </a:ext>
                </a:extLst>
              </a:tr>
              <a:tr h="0">
                <a:tc>
                  <a:txBody>
                    <a:bodyPr/>
                    <a:lstStyle/>
                    <a:p>
                      <a:pPr marL="457200" algn="just">
                        <a:lnSpc>
                          <a:spcPct val="115000"/>
                        </a:lnSpc>
                        <a:spcAft>
                          <a:spcPts val="0"/>
                        </a:spcAft>
                      </a:pPr>
                      <a:r>
                        <a:rPr lang="en-IN" sz="2600" dirty="0">
                          <a:effectLst/>
                          <a:latin typeface="+mn-lt"/>
                          <a:ea typeface="Times New Roman" panose="02020603050405020304" pitchFamily="18" charset="0"/>
                          <a:cs typeface="Latha" panose="020B0604020202020204" pitchFamily="34" charset="0"/>
                        </a:rPr>
                        <a:t>Raw materials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IN" sz="2600">
                          <a:effectLst/>
                          <a:latin typeface="+mn-lt"/>
                          <a:ea typeface="Times New Roman" panose="02020603050405020304" pitchFamily="18" charset="0"/>
                          <a:cs typeface="Latha" panose="020B0604020202020204" pitchFamily="34"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8673939"/>
                  </a:ext>
                </a:extLst>
              </a:tr>
              <a:tr h="0">
                <a:tc>
                  <a:txBody>
                    <a:bodyPr/>
                    <a:lstStyle/>
                    <a:p>
                      <a:pPr marL="457200" algn="just">
                        <a:lnSpc>
                          <a:spcPct val="115000"/>
                        </a:lnSpc>
                        <a:spcAft>
                          <a:spcPts val="0"/>
                        </a:spcAft>
                      </a:pPr>
                      <a:r>
                        <a:rPr lang="en-IN" sz="2600" dirty="0">
                          <a:effectLst/>
                          <a:latin typeface="+mn-lt"/>
                          <a:ea typeface="Times New Roman" panose="02020603050405020304" pitchFamily="18" charset="0"/>
                          <a:cs typeface="Latha" panose="020B0604020202020204" pitchFamily="34" charset="0"/>
                        </a:rPr>
                        <a:t>Labour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IN" sz="2600">
                          <a:effectLst/>
                          <a:latin typeface="+mn-lt"/>
                          <a:ea typeface="Times New Roman" panose="02020603050405020304" pitchFamily="18" charset="0"/>
                          <a:cs typeface="Latha" panose="020B0604020202020204" pitchFamily="34"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9480607"/>
                  </a:ext>
                </a:extLst>
              </a:tr>
              <a:tr h="0">
                <a:tc>
                  <a:txBody>
                    <a:bodyPr/>
                    <a:lstStyle/>
                    <a:p>
                      <a:pPr marL="457200" algn="just">
                        <a:lnSpc>
                          <a:spcPct val="115000"/>
                        </a:lnSpc>
                        <a:spcAft>
                          <a:spcPts val="0"/>
                        </a:spcAft>
                      </a:pPr>
                      <a:r>
                        <a:rPr lang="en-IN" sz="2600" dirty="0">
                          <a:effectLst/>
                          <a:latin typeface="+mn-lt"/>
                          <a:ea typeface="Times New Roman" panose="02020603050405020304" pitchFamily="18" charset="0"/>
                          <a:cs typeface="Latha" panose="020B0604020202020204" pitchFamily="34" charset="0"/>
                        </a:rPr>
                        <a:t>Overheads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IN" sz="2600">
                          <a:effectLst/>
                          <a:latin typeface="+mn-lt"/>
                          <a:ea typeface="Times New Roman" panose="02020603050405020304" pitchFamily="18" charset="0"/>
                          <a:cs typeface="Latha" panose="020B0604020202020204" pitchFamily="34"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3362072"/>
                  </a:ext>
                </a:extLst>
              </a:tr>
              <a:tr h="0">
                <a:tc>
                  <a:txBody>
                    <a:bodyPr/>
                    <a:lstStyle/>
                    <a:p>
                      <a:pPr marL="457200" algn="just">
                        <a:lnSpc>
                          <a:spcPct val="115000"/>
                        </a:lnSpc>
                        <a:spcAft>
                          <a:spcPts val="0"/>
                        </a:spcAft>
                      </a:pPr>
                      <a:r>
                        <a:rPr lang="en-IN" sz="2600" dirty="0">
                          <a:effectLst/>
                          <a:latin typeface="+mn-lt"/>
                          <a:ea typeface="Times New Roman" panose="02020603050405020304" pitchFamily="18" charset="0"/>
                          <a:cs typeface="Latha" panose="020B0604020202020204" pitchFamily="34" charset="0"/>
                        </a:rPr>
                        <a:t>Profit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IN" sz="2600" dirty="0">
                          <a:effectLst/>
                          <a:latin typeface="+mn-lt"/>
                          <a:ea typeface="Times New Roman" panose="02020603050405020304" pitchFamily="18" charset="0"/>
                          <a:cs typeface="Latha" panose="020B0604020202020204" pitchFamily="34"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6889582"/>
                  </a:ext>
                </a:extLst>
              </a:tr>
              <a:tr h="0">
                <a:tc>
                  <a:txBody>
                    <a:bodyPr/>
                    <a:lstStyle/>
                    <a:p>
                      <a:pPr marL="457200" algn="just">
                        <a:lnSpc>
                          <a:spcPct val="115000"/>
                        </a:lnSpc>
                        <a:spcAft>
                          <a:spcPts val="0"/>
                        </a:spcAft>
                      </a:pPr>
                      <a:r>
                        <a:rPr lang="en-IN" sz="2600" b="0" dirty="0">
                          <a:effectLst/>
                          <a:latin typeface="+mn-lt"/>
                          <a:ea typeface="Times New Roman" panose="02020603050405020304" pitchFamily="18" charset="0"/>
                          <a:cs typeface="Latha" panose="020B0604020202020204" pitchFamily="34" charset="0"/>
                        </a:rPr>
                        <a:t>Selling price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IN" sz="2600" b="0" dirty="0">
                          <a:effectLst/>
                          <a:latin typeface="+mn-lt"/>
                          <a:ea typeface="Times New Roman" panose="02020603050405020304" pitchFamily="18" charset="0"/>
                          <a:cs typeface="Latha" panose="020B0604020202020204" pitchFamily="34"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483916"/>
                  </a:ext>
                </a:extLst>
              </a:tr>
            </a:tbl>
          </a:graphicData>
        </a:graphic>
      </p:graphicFrame>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1939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20877"/>
            <a:ext cx="10515600" cy="5056086"/>
          </a:xfrm>
        </p:spPr>
        <p:txBody>
          <a:bodyPr>
            <a:normAutofit/>
          </a:bodyPr>
          <a:lstStyle/>
          <a:p>
            <a:pPr marL="0" indent="0">
              <a:buNone/>
            </a:pPr>
            <a:r>
              <a:rPr lang="en-IN" sz="2600" dirty="0"/>
              <a:t>It is estimated </a:t>
            </a:r>
            <a:r>
              <a:rPr lang="en-IN" sz="2600" dirty="0" smtClean="0"/>
              <a:t>that, </a:t>
            </a:r>
            <a:endParaRPr lang="en-IN" sz="2600" dirty="0"/>
          </a:p>
          <a:p>
            <a:pPr lvl="0"/>
            <a:r>
              <a:rPr lang="en-IN" sz="2600" dirty="0"/>
              <a:t>Raw materials carried in stock for three weeks and finished goods for two weeks.</a:t>
            </a:r>
          </a:p>
          <a:p>
            <a:pPr lvl="0"/>
            <a:r>
              <a:rPr lang="en-IN" sz="2600" dirty="0"/>
              <a:t>Factory process will take three weeks.</a:t>
            </a:r>
          </a:p>
          <a:p>
            <a:pPr lvl="0"/>
            <a:r>
              <a:rPr lang="en-IN" sz="2600" dirty="0"/>
              <a:t>Suppliers will give five weeks and customers will require eight-week credit.</a:t>
            </a:r>
          </a:p>
          <a:p>
            <a:pPr marL="0" indent="0">
              <a:buNone/>
            </a:pPr>
            <a:r>
              <a:rPr lang="en-IN" sz="2600" dirty="0"/>
              <a:t>Assumed that production and overheads accrue evenly throughout the year.</a:t>
            </a:r>
          </a:p>
          <a:p>
            <a:endParaRPr lang="en-IN" sz="2600" dirty="0"/>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524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8142"/>
            <a:ext cx="10515600" cy="5085582"/>
          </a:xfrm>
        </p:spPr>
        <p:txBody>
          <a:bodyPr>
            <a:normAutofit/>
          </a:bodyPr>
          <a:lstStyle/>
          <a:p>
            <a:pPr marL="0" indent="0">
              <a:buNone/>
            </a:pPr>
            <a:r>
              <a:rPr lang="en-IN" sz="2600" b="1" dirty="0" smtClean="0">
                <a:solidFill>
                  <a:srgbClr val="FF0000"/>
                </a:solidFill>
              </a:rPr>
              <a:t>Solution:</a:t>
            </a:r>
          </a:p>
          <a:p>
            <a:pPr marL="0" indent="0">
              <a:buNone/>
            </a:pPr>
            <a:r>
              <a:rPr lang="en-IN" sz="2600" b="1" dirty="0" smtClean="0">
                <a:solidFill>
                  <a:srgbClr val="FF0000"/>
                </a:solidFill>
              </a:rPr>
              <a:t>Working Note:</a:t>
            </a:r>
          </a:p>
          <a:p>
            <a:pPr marL="514350" indent="-514350">
              <a:buAutoNum type="alphaLcParenR"/>
            </a:pPr>
            <a:r>
              <a:rPr lang="en-IN" sz="2600" dirty="0" smtClean="0"/>
              <a:t>No of units sold = Rs. 2,60,000/ Rs. 10 = 26,000 Units</a:t>
            </a:r>
            <a:endParaRPr lang="en-IN" sz="2600" dirty="0"/>
          </a:p>
          <a:p>
            <a:pPr marL="514350" indent="-514350">
              <a:buAutoNum type="alphaLcParenR"/>
            </a:pPr>
            <a:r>
              <a:rPr lang="en-IN" sz="2600" b="1" dirty="0" smtClean="0">
                <a:solidFill>
                  <a:srgbClr val="FF0000"/>
                </a:solidFill>
              </a:rPr>
              <a:t>Calculation of cost of goods sold p.a. 		Rs.</a:t>
            </a:r>
          </a:p>
          <a:p>
            <a:pPr marL="0" indent="0">
              <a:buNone/>
            </a:pPr>
            <a:r>
              <a:rPr lang="en-IN" sz="2600" dirty="0" smtClean="0"/>
              <a:t>Raw materials [26,000 Units × Rs.3] 		=     78,000</a:t>
            </a:r>
          </a:p>
          <a:p>
            <a:pPr marL="0" indent="0">
              <a:buNone/>
            </a:pPr>
            <a:r>
              <a:rPr lang="en-IN" sz="2600" dirty="0" smtClean="0"/>
              <a:t>Labour [26,000 Units × Rs. 4] 			= 1,04,000 </a:t>
            </a:r>
          </a:p>
          <a:p>
            <a:pPr marL="0" indent="0">
              <a:buNone/>
            </a:pPr>
            <a:r>
              <a:rPr lang="en-IN" sz="2600" dirty="0" smtClean="0"/>
              <a:t>Overheads [26,000 Units × Rs. 2] 			=     52,000</a:t>
            </a:r>
          </a:p>
          <a:p>
            <a:pPr marL="0" indent="0">
              <a:buNone/>
            </a:pPr>
            <a:r>
              <a:rPr lang="en-IN" sz="2600" b="1" dirty="0" smtClean="0">
                <a:solidFill>
                  <a:srgbClr val="FF0000"/>
                </a:solidFill>
              </a:rPr>
              <a:t>Cost of goods sold 					 = 2,34,000</a:t>
            </a:r>
            <a:endParaRPr lang="en-IN" sz="2600" b="1" dirty="0">
              <a:solidFill>
                <a:srgbClr val="FF0000"/>
              </a:solidFill>
            </a:endParaRPr>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5184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1443"/>
            <a:ext cx="10515600" cy="5624403"/>
          </a:xfrm>
        </p:spPr>
        <p:txBody>
          <a:bodyPr/>
          <a:lstStyle/>
          <a:p>
            <a:pPr marL="0" indent="0">
              <a:buNone/>
            </a:pPr>
            <a:r>
              <a:rPr lang="en-IN" sz="2600" b="1" dirty="0" smtClean="0">
                <a:solidFill>
                  <a:srgbClr val="FF0000"/>
                </a:solidFill>
              </a:rPr>
              <a:t>Solution:        Statement showing working capital requirements:</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23255579"/>
              </p:ext>
            </p:extLst>
          </p:nvPr>
        </p:nvGraphicFramePr>
        <p:xfrm>
          <a:off x="838200" y="1350056"/>
          <a:ext cx="10515600" cy="4754880"/>
        </p:xfrm>
        <a:graphic>
          <a:graphicData uri="http://schemas.openxmlformats.org/drawingml/2006/table">
            <a:tbl>
              <a:tblPr firstRow="1" bandRow="1">
                <a:tableStyleId>{5C22544A-7EE6-4342-B048-85BDC9FD1C3A}</a:tableStyleId>
              </a:tblPr>
              <a:tblGrid>
                <a:gridCol w="769374">
                  <a:extLst>
                    <a:ext uri="{9D8B030D-6E8A-4147-A177-3AD203B41FA5}">
                      <a16:colId xmlns:a16="http://schemas.microsoft.com/office/drawing/2014/main" val="1320661344"/>
                    </a:ext>
                  </a:extLst>
                </a:gridCol>
                <a:gridCol w="7359445">
                  <a:extLst>
                    <a:ext uri="{9D8B030D-6E8A-4147-A177-3AD203B41FA5}">
                      <a16:colId xmlns:a16="http://schemas.microsoft.com/office/drawing/2014/main" val="3234151637"/>
                    </a:ext>
                  </a:extLst>
                </a:gridCol>
                <a:gridCol w="1253613">
                  <a:extLst>
                    <a:ext uri="{9D8B030D-6E8A-4147-A177-3AD203B41FA5}">
                      <a16:colId xmlns:a16="http://schemas.microsoft.com/office/drawing/2014/main" val="1389087919"/>
                    </a:ext>
                  </a:extLst>
                </a:gridCol>
                <a:gridCol w="1133168">
                  <a:extLst>
                    <a:ext uri="{9D8B030D-6E8A-4147-A177-3AD203B41FA5}">
                      <a16:colId xmlns:a16="http://schemas.microsoft.com/office/drawing/2014/main" val="2220915326"/>
                    </a:ext>
                  </a:extLst>
                </a:gridCol>
              </a:tblGrid>
              <a:tr h="356553">
                <a:tc>
                  <a:txBody>
                    <a:bodyPr/>
                    <a:lstStyle/>
                    <a:p>
                      <a:endParaRPr lang="en-IN" dirty="0"/>
                    </a:p>
                  </a:txBody>
                  <a:tcPr/>
                </a:tc>
                <a:tc>
                  <a:txBody>
                    <a:bodyPr/>
                    <a:lstStyle/>
                    <a:p>
                      <a:r>
                        <a:rPr lang="en-IN" dirty="0" smtClean="0"/>
                        <a:t>Particulars</a:t>
                      </a:r>
                      <a:endParaRPr lang="en-IN" dirty="0"/>
                    </a:p>
                  </a:txBody>
                  <a:tcPr/>
                </a:tc>
                <a:tc>
                  <a:txBody>
                    <a:bodyPr/>
                    <a:lstStyle/>
                    <a:p>
                      <a:pPr algn="r"/>
                      <a:r>
                        <a:rPr lang="en-IN" dirty="0" smtClean="0"/>
                        <a:t>Rs.</a:t>
                      </a:r>
                      <a:endParaRPr lang="en-IN" dirty="0"/>
                    </a:p>
                  </a:txBody>
                  <a:tcPr/>
                </a:tc>
                <a:tc>
                  <a:txBody>
                    <a:bodyPr/>
                    <a:lstStyle/>
                    <a:p>
                      <a:pPr algn="r"/>
                      <a:r>
                        <a:rPr lang="en-IN" dirty="0" smtClean="0"/>
                        <a:t>Rs.</a:t>
                      </a:r>
                      <a:endParaRPr lang="en-IN" dirty="0"/>
                    </a:p>
                  </a:txBody>
                  <a:tcPr/>
                </a:tc>
                <a:extLst>
                  <a:ext uri="{0D108BD9-81ED-4DB2-BD59-A6C34878D82A}">
                    <a16:rowId xmlns:a16="http://schemas.microsoft.com/office/drawing/2014/main" val="4097373910"/>
                  </a:ext>
                </a:extLst>
              </a:tr>
              <a:tr h="439586">
                <a:tc>
                  <a:txBody>
                    <a:bodyPr/>
                    <a:lstStyle/>
                    <a:p>
                      <a:endParaRPr lang="en-IN" sz="2400" b="1" dirty="0">
                        <a:solidFill>
                          <a:srgbClr val="FF0000"/>
                        </a:solidFill>
                      </a:endParaRPr>
                    </a:p>
                  </a:txBody>
                  <a:tcPr/>
                </a:tc>
                <a:tc>
                  <a:txBody>
                    <a:bodyPr/>
                    <a:lstStyle/>
                    <a:p>
                      <a:r>
                        <a:rPr lang="en-IN" sz="2600" b="1" dirty="0" smtClean="0">
                          <a:solidFill>
                            <a:srgbClr val="FF0000"/>
                          </a:solidFill>
                        </a:rPr>
                        <a:t>A)</a:t>
                      </a:r>
                      <a:r>
                        <a:rPr lang="en-IN" sz="2600" b="1" baseline="0" dirty="0" smtClean="0">
                          <a:solidFill>
                            <a:srgbClr val="FF0000"/>
                          </a:solidFill>
                        </a:rPr>
                        <a:t> </a:t>
                      </a:r>
                      <a:r>
                        <a:rPr lang="en-IN" sz="2600" b="1" dirty="0" smtClean="0">
                          <a:solidFill>
                            <a:srgbClr val="FF0000"/>
                          </a:solidFill>
                        </a:rPr>
                        <a:t>Current Assets:</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endParaRPr lang="en-IN" sz="2600" b="1" dirty="0">
                        <a:solidFill>
                          <a:srgbClr val="FF0000"/>
                        </a:solidFill>
                      </a:endParaRPr>
                    </a:p>
                  </a:txBody>
                  <a:tcPr/>
                </a:tc>
                <a:extLst>
                  <a:ext uri="{0D108BD9-81ED-4DB2-BD59-A6C34878D82A}">
                    <a16:rowId xmlns:a16="http://schemas.microsoft.com/office/drawing/2014/main" val="2304704551"/>
                  </a:ext>
                </a:extLst>
              </a:tr>
              <a:tr h="439586">
                <a:tc>
                  <a:txBody>
                    <a:bodyPr/>
                    <a:lstStyle/>
                    <a:p>
                      <a:endParaRPr lang="en-IN" sz="2400"/>
                    </a:p>
                  </a:txBody>
                  <a:tcPr/>
                </a:tc>
                <a:tc>
                  <a:txBody>
                    <a:bodyPr/>
                    <a:lstStyle/>
                    <a:p>
                      <a:r>
                        <a:rPr lang="en-IN" sz="2600" dirty="0" smtClean="0"/>
                        <a:t>Raw materials [Rs. 78,000× 3/52]</a:t>
                      </a:r>
                      <a:endParaRPr lang="en-IN" sz="2600" dirty="0"/>
                    </a:p>
                  </a:txBody>
                  <a:tcPr/>
                </a:tc>
                <a:tc>
                  <a:txBody>
                    <a:bodyPr/>
                    <a:lstStyle/>
                    <a:p>
                      <a:pPr algn="r"/>
                      <a:endParaRPr lang="en-IN" sz="2600" dirty="0"/>
                    </a:p>
                  </a:txBody>
                  <a:tcPr/>
                </a:tc>
                <a:tc>
                  <a:txBody>
                    <a:bodyPr/>
                    <a:lstStyle/>
                    <a:p>
                      <a:pPr algn="r"/>
                      <a:r>
                        <a:rPr lang="en-IN" sz="2600" dirty="0" smtClean="0"/>
                        <a:t>4,500</a:t>
                      </a:r>
                      <a:endParaRPr lang="en-IN" sz="2600" dirty="0"/>
                    </a:p>
                  </a:txBody>
                  <a:tcPr/>
                </a:tc>
                <a:extLst>
                  <a:ext uri="{0D108BD9-81ED-4DB2-BD59-A6C34878D82A}">
                    <a16:rowId xmlns:a16="http://schemas.microsoft.com/office/drawing/2014/main" val="3456548249"/>
                  </a:ext>
                </a:extLst>
              </a:tr>
              <a:tr h="439586">
                <a:tc>
                  <a:txBody>
                    <a:bodyPr/>
                    <a:lstStyle/>
                    <a:p>
                      <a:endParaRPr lang="en-IN" sz="2400"/>
                    </a:p>
                  </a:txBody>
                  <a:tcPr/>
                </a:tc>
                <a:tc>
                  <a:txBody>
                    <a:bodyPr/>
                    <a:lstStyle/>
                    <a:p>
                      <a:r>
                        <a:rPr lang="en-IN" sz="2600" dirty="0" smtClean="0"/>
                        <a:t>Work in progress:</a:t>
                      </a:r>
                    </a:p>
                  </a:txBody>
                  <a:tcPr/>
                </a:tc>
                <a:tc>
                  <a:txBody>
                    <a:bodyPr/>
                    <a:lstStyle/>
                    <a:p>
                      <a:pPr algn="r"/>
                      <a:endParaRPr lang="en-IN" sz="2600" dirty="0"/>
                    </a:p>
                  </a:txBody>
                  <a:tcPr/>
                </a:tc>
                <a:tc>
                  <a:txBody>
                    <a:bodyPr/>
                    <a:lstStyle/>
                    <a:p>
                      <a:pPr algn="r"/>
                      <a:endParaRPr lang="en-IN" sz="2600" dirty="0"/>
                    </a:p>
                  </a:txBody>
                  <a:tcPr/>
                </a:tc>
                <a:extLst>
                  <a:ext uri="{0D108BD9-81ED-4DB2-BD59-A6C34878D82A}">
                    <a16:rowId xmlns:a16="http://schemas.microsoft.com/office/drawing/2014/main" val="1212104400"/>
                  </a:ext>
                </a:extLst>
              </a:tr>
              <a:tr h="439586">
                <a:tc>
                  <a:txBody>
                    <a:bodyPr/>
                    <a:lstStyle/>
                    <a:p>
                      <a:endParaRPr lang="en-IN" sz="2400"/>
                    </a:p>
                  </a:txBody>
                  <a:tcPr/>
                </a:tc>
                <a:tc>
                  <a:txBody>
                    <a:bodyPr/>
                    <a:lstStyle/>
                    <a:p>
                      <a:r>
                        <a:rPr lang="en-IN" sz="2600" dirty="0" smtClean="0"/>
                        <a:t>         Raw</a:t>
                      </a:r>
                      <a:r>
                        <a:rPr lang="en-IN" sz="2600" baseline="0" dirty="0" smtClean="0"/>
                        <a:t> materials </a:t>
                      </a:r>
                      <a:r>
                        <a:rPr lang="en-IN" sz="2600" dirty="0" smtClean="0"/>
                        <a:t>[Rs. 78,000×3/52]</a:t>
                      </a:r>
                      <a:endParaRPr lang="en-IN" sz="2600" dirty="0"/>
                    </a:p>
                  </a:txBody>
                  <a:tcPr/>
                </a:tc>
                <a:tc>
                  <a:txBody>
                    <a:bodyPr/>
                    <a:lstStyle/>
                    <a:p>
                      <a:pPr algn="r"/>
                      <a:r>
                        <a:rPr lang="en-IN" sz="2600" dirty="0" smtClean="0"/>
                        <a:t>4,500</a:t>
                      </a:r>
                      <a:endParaRPr lang="en-IN" sz="2600" dirty="0"/>
                    </a:p>
                  </a:txBody>
                  <a:tcPr/>
                </a:tc>
                <a:tc>
                  <a:txBody>
                    <a:bodyPr/>
                    <a:lstStyle/>
                    <a:p>
                      <a:pPr algn="r"/>
                      <a:endParaRPr lang="en-IN" sz="2600" dirty="0"/>
                    </a:p>
                  </a:txBody>
                  <a:tcPr/>
                </a:tc>
                <a:extLst>
                  <a:ext uri="{0D108BD9-81ED-4DB2-BD59-A6C34878D82A}">
                    <a16:rowId xmlns:a16="http://schemas.microsoft.com/office/drawing/2014/main" val="2518614336"/>
                  </a:ext>
                </a:extLst>
              </a:tr>
              <a:tr h="439586">
                <a:tc>
                  <a:txBody>
                    <a:bodyPr/>
                    <a:lstStyle/>
                    <a:p>
                      <a:endParaRPr lang="en-IN" sz="2400"/>
                    </a:p>
                  </a:txBody>
                  <a:tcPr/>
                </a:tc>
                <a:tc>
                  <a:txBody>
                    <a:bodyPr/>
                    <a:lstStyle/>
                    <a:p>
                      <a:r>
                        <a:rPr lang="en-IN" sz="2600" dirty="0" smtClean="0"/>
                        <a:t>         Labour [Rs. 1,04,000×3/52×1/2]</a:t>
                      </a:r>
                      <a:endParaRPr lang="en-IN" sz="2600" dirty="0"/>
                    </a:p>
                  </a:txBody>
                  <a:tcPr/>
                </a:tc>
                <a:tc>
                  <a:txBody>
                    <a:bodyPr/>
                    <a:lstStyle/>
                    <a:p>
                      <a:pPr algn="r"/>
                      <a:r>
                        <a:rPr lang="en-IN" sz="2600" dirty="0" smtClean="0"/>
                        <a:t>3,000</a:t>
                      </a:r>
                      <a:endParaRPr lang="en-IN" sz="2600" dirty="0"/>
                    </a:p>
                  </a:txBody>
                  <a:tcPr/>
                </a:tc>
                <a:tc>
                  <a:txBody>
                    <a:bodyPr/>
                    <a:lstStyle/>
                    <a:p>
                      <a:pPr algn="r"/>
                      <a:endParaRPr lang="en-IN" sz="2600" dirty="0"/>
                    </a:p>
                  </a:txBody>
                  <a:tcPr/>
                </a:tc>
                <a:extLst>
                  <a:ext uri="{0D108BD9-81ED-4DB2-BD59-A6C34878D82A}">
                    <a16:rowId xmlns:a16="http://schemas.microsoft.com/office/drawing/2014/main" val="1757284129"/>
                  </a:ext>
                </a:extLst>
              </a:tr>
              <a:tr h="439586">
                <a:tc>
                  <a:txBody>
                    <a:bodyPr/>
                    <a:lstStyle/>
                    <a:p>
                      <a:endParaRPr lang="en-IN" sz="2400"/>
                    </a:p>
                  </a:txBody>
                  <a:tcPr/>
                </a:tc>
                <a:tc>
                  <a:txBody>
                    <a:bodyPr/>
                    <a:lstStyle/>
                    <a:p>
                      <a:r>
                        <a:rPr lang="en-IN" sz="2600" dirty="0" smtClean="0"/>
                        <a:t>         Overheads [Rs. 52,000×3/52×1/2]</a:t>
                      </a:r>
                      <a:endParaRPr lang="en-IN" sz="2600" dirty="0"/>
                    </a:p>
                  </a:txBody>
                  <a:tcPr/>
                </a:tc>
                <a:tc>
                  <a:txBody>
                    <a:bodyPr/>
                    <a:lstStyle/>
                    <a:p>
                      <a:pPr algn="r"/>
                      <a:r>
                        <a:rPr lang="en-IN" sz="2600" dirty="0" smtClean="0"/>
                        <a:t>1,500</a:t>
                      </a:r>
                      <a:endParaRPr lang="en-IN" sz="2600" dirty="0"/>
                    </a:p>
                  </a:txBody>
                  <a:tcPr/>
                </a:tc>
                <a:tc>
                  <a:txBody>
                    <a:bodyPr/>
                    <a:lstStyle/>
                    <a:p>
                      <a:pPr algn="r"/>
                      <a:r>
                        <a:rPr lang="en-IN" sz="2600" dirty="0" smtClean="0"/>
                        <a:t>9,000</a:t>
                      </a:r>
                      <a:endParaRPr lang="en-IN" sz="2600" dirty="0"/>
                    </a:p>
                  </a:txBody>
                  <a:tcPr/>
                </a:tc>
                <a:extLst>
                  <a:ext uri="{0D108BD9-81ED-4DB2-BD59-A6C34878D82A}">
                    <a16:rowId xmlns:a16="http://schemas.microsoft.com/office/drawing/2014/main" val="2639623378"/>
                  </a:ext>
                </a:extLst>
              </a:tr>
              <a:tr h="439586">
                <a:tc>
                  <a:txBody>
                    <a:bodyPr/>
                    <a:lstStyle/>
                    <a:p>
                      <a:endParaRPr lang="en-IN" sz="2400"/>
                    </a:p>
                  </a:txBody>
                  <a:tcPr/>
                </a:tc>
                <a:tc>
                  <a:txBody>
                    <a:bodyPr/>
                    <a:lstStyle/>
                    <a:p>
                      <a:r>
                        <a:rPr lang="en-IN" sz="2600" dirty="0" smtClean="0"/>
                        <a:t>Finished Goods [Rs. 2,34,000×2/52]</a:t>
                      </a:r>
                      <a:endParaRPr lang="en-IN" sz="2600" dirty="0"/>
                    </a:p>
                  </a:txBody>
                  <a:tcPr/>
                </a:tc>
                <a:tc>
                  <a:txBody>
                    <a:bodyPr/>
                    <a:lstStyle/>
                    <a:p>
                      <a:pPr algn="r"/>
                      <a:endParaRPr lang="en-IN" sz="2600" dirty="0"/>
                    </a:p>
                  </a:txBody>
                  <a:tcPr/>
                </a:tc>
                <a:tc>
                  <a:txBody>
                    <a:bodyPr/>
                    <a:lstStyle/>
                    <a:p>
                      <a:pPr algn="r"/>
                      <a:r>
                        <a:rPr lang="en-IN" sz="2600" dirty="0" smtClean="0"/>
                        <a:t>9,000</a:t>
                      </a:r>
                      <a:endParaRPr lang="en-IN" sz="2600" dirty="0"/>
                    </a:p>
                  </a:txBody>
                  <a:tcPr/>
                </a:tc>
                <a:extLst>
                  <a:ext uri="{0D108BD9-81ED-4DB2-BD59-A6C34878D82A}">
                    <a16:rowId xmlns:a16="http://schemas.microsoft.com/office/drawing/2014/main" val="1800410368"/>
                  </a:ext>
                </a:extLst>
              </a:tr>
              <a:tr h="439586">
                <a:tc>
                  <a:txBody>
                    <a:bodyPr/>
                    <a:lstStyle/>
                    <a:p>
                      <a:endParaRPr lang="en-IN" sz="2400" dirty="0"/>
                    </a:p>
                  </a:txBody>
                  <a:tcPr/>
                </a:tc>
                <a:tc>
                  <a:txBody>
                    <a:bodyPr/>
                    <a:lstStyle/>
                    <a:p>
                      <a:r>
                        <a:rPr lang="en-IN" sz="2600" dirty="0" smtClean="0"/>
                        <a:t>Debtors [Rs. 2,34,000×8/52]</a:t>
                      </a:r>
                      <a:endParaRPr lang="en-IN" sz="2600" dirty="0"/>
                    </a:p>
                  </a:txBody>
                  <a:tcPr/>
                </a:tc>
                <a:tc>
                  <a:txBody>
                    <a:bodyPr/>
                    <a:lstStyle/>
                    <a:p>
                      <a:pPr algn="r"/>
                      <a:endParaRPr lang="en-IN" sz="2600" dirty="0"/>
                    </a:p>
                  </a:txBody>
                  <a:tcPr/>
                </a:tc>
                <a:tc>
                  <a:txBody>
                    <a:bodyPr/>
                    <a:lstStyle/>
                    <a:p>
                      <a:pPr algn="r"/>
                      <a:r>
                        <a:rPr lang="en-IN" sz="2600" dirty="0" smtClean="0"/>
                        <a:t>36,000</a:t>
                      </a:r>
                      <a:endParaRPr lang="en-IN" sz="2600" dirty="0"/>
                    </a:p>
                  </a:txBody>
                  <a:tcPr/>
                </a:tc>
                <a:extLst>
                  <a:ext uri="{0D108BD9-81ED-4DB2-BD59-A6C34878D82A}">
                    <a16:rowId xmlns:a16="http://schemas.microsoft.com/office/drawing/2014/main" val="1157294668"/>
                  </a:ext>
                </a:extLst>
              </a:tr>
              <a:tr h="439586">
                <a:tc>
                  <a:txBody>
                    <a:bodyPr/>
                    <a:lstStyle/>
                    <a:p>
                      <a:endParaRPr lang="en-IN" sz="2400" b="1"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1" dirty="0" smtClean="0">
                          <a:solidFill>
                            <a:srgbClr val="FF0000"/>
                          </a:solidFill>
                        </a:rPr>
                        <a:t>Total Current Assets [A]</a:t>
                      </a: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58,500</a:t>
                      </a:r>
                      <a:endParaRPr lang="en-IN" sz="2600" b="1" dirty="0">
                        <a:solidFill>
                          <a:srgbClr val="FF0000"/>
                        </a:solidFill>
                      </a:endParaRPr>
                    </a:p>
                  </a:txBody>
                  <a:tcPr/>
                </a:tc>
                <a:extLst>
                  <a:ext uri="{0D108BD9-81ED-4DB2-BD59-A6C34878D82A}">
                    <a16:rowId xmlns:a16="http://schemas.microsoft.com/office/drawing/2014/main" val="2413885677"/>
                  </a:ext>
                </a:extLst>
              </a:tr>
            </a:tbl>
          </a:graphicData>
        </a:graphic>
      </p:graphicFrame>
      <p:pic>
        <p:nvPicPr>
          <p:cNvPr id="5" name="Picture 4"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01224"/>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89209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198335354"/>
              </p:ext>
            </p:extLst>
          </p:nvPr>
        </p:nvGraphicFramePr>
        <p:xfrm>
          <a:off x="838200" y="1090613"/>
          <a:ext cx="10515600" cy="1833880"/>
        </p:xfrm>
        <a:graphic>
          <a:graphicData uri="http://schemas.openxmlformats.org/drawingml/2006/table">
            <a:tbl>
              <a:tblPr firstRow="1" bandRow="1">
                <a:tableStyleId>{5C22544A-7EE6-4342-B048-85BDC9FD1C3A}</a:tableStyleId>
              </a:tblPr>
              <a:tblGrid>
                <a:gridCol w="931606">
                  <a:extLst>
                    <a:ext uri="{9D8B030D-6E8A-4147-A177-3AD203B41FA5}">
                      <a16:colId xmlns:a16="http://schemas.microsoft.com/office/drawing/2014/main" val="2156627544"/>
                    </a:ext>
                  </a:extLst>
                </a:gridCol>
                <a:gridCol w="7226710">
                  <a:extLst>
                    <a:ext uri="{9D8B030D-6E8A-4147-A177-3AD203B41FA5}">
                      <a16:colId xmlns:a16="http://schemas.microsoft.com/office/drawing/2014/main" val="1280784742"/>
                    </a:ext>
                  </a:extLst>
                </a:gridCol>
                <a:gridCol w="1179871">
                  <a:extLst>
                    <a:ext uri="{9D8B030D-6E8A-4147-A177-3AD203B41FA5}">
                      <a16:colId xmlns:a16="http://schemas.microsoft.com/office/drawing/2014/main" val="2816569001"/>
                    </a:ext>
                  </a:extLst>
                </a:gridCol>
                <a:gridCol w="1177413">
                  <a:extLst>
                    <a:ext uri="{9D8B030D-6E8A-4147-A177-3AD203B41FA5}">
                      <a16:colId xmlns:a16="http://schemas.microsoft.com/office/drawing/2014/main" val="1595518488"/>
                    </a:ext>
                  </a:extLst>
                </a:gridCol>
              </a:tblGrid>
              <a:tr h="370840">
                <a:tc>
                  <a:txBody>
                    <a:bodyPr/>
                    <a:lstStyle/>
                    <a:p>
                      <a:pPr algn="ctr"/>
                      <a:endParaRPr lang="en-IN" dirty="0"/>
                    </a:p>
                  </a:txBody>
                  <a:tcPr/>
                </a:tc>
                <a:tc>
                  <a:txBody>
                    <a:bodyPr/>
                    <a:lstStyle/>
                    <a:p>
                      <a:pPr algn="ctr"/>
                      <a:r>
                        <a:rPr lang="en-IN" dirty="0" smtClean="0"/>
                        <a:t>Particulars</a:t>
                      </a:r>
                      <a:endParaRPr lang="en-IN" dirty="0"/>
                    </a:p>
                  </a:txBody>
                  <a:tcPr/>
                </a:tc>
                <a:tc>
                  <a:txBody>
                    <a:bodyPr/>
                    <a:lstStyle/>
                    <a:p>
                      <a:pPr algn="r"/>
                      <a:r>
                        <a:rPr lang="en-IN" dirty="0" smtClean="0"/>
                        <a:t>Rs.</a:t>
                      </a:r>
                      <a:endParaRPr lang="en-IN" dirty="0"/>
                    </a:p>
                  </a:txBody>
                  <a:tcPr/>
                </a:tc>
                <a:tc>
                  <a:txBody>
                    <a:bodyPr/>
                    <a:lstStyle/>
                    <a:p>
                      <a:pPr algn="r"/>
                      <a:r>
                        <a:rPr lang="en-IN" dirty="0" smtClean="0"/>
                        <a:t>Rs.</a:t>
                      </a:r>
                      <a:endParaRPr lang="en-IN" dirty="0"/>
                    </a:p>
                  </a:txBody>
                  <a:tcPr/>
                </a:tc>
                <a:extLst>
                  <a:ext uri="{0D108BD9-81ED-4DB2-BD59-A6C34878D82A}">
                    <a16:rowId xmlns:a16="http://schemas.microsoft.com/office/drawing/2014/main" val="1197908108"/>
                  </a:ext>
                </a:extLst>
              </a:tr>
              <a:tr h="370840">
                <a:tc>
                  <a:txBody>
                    <a:bodyPr/>
                    <a:lstStyle/>
                    <a:p>
                      <a:r>
                        <a:rPr lang="en-IN" sz="2600" b="1" dirty="0" smtClean="0">
                          <a:solidFill>
                            <a:srgbClr val="FF0000"/>
                          </a:solidFill>
                        </a:rPr>
                        <a:t>Less</a:t>
                      </a:r>
                      <a:endParaRPr lang="en-IN" sz="2600" b="1" dirty="0">
                        <a:solidFill>
                          <a:srgbClr val="FF0000"/>
                        </a:solidFill>
                      </a:endParaRPr>
                    </a:p>
                  </a:txBody>
                  <a:tcPr/>
                </a:tc>
                <a:tc>
                  <a:txBody>
                    <a:bodyPr/>
                    <a:lstStyle/>
                    <a:p>
                      <a:r>
                        <a:rPr lang="en-IN" sz="2600" b="1" dirty="0" smtClean="0">
                          <a:solidFill>
                            <a:srgbClr val="FF0000"/>
                          </a:solidFill>
                        </a:rPr>
                        <a:t>B)</a:t>
                      </a:r>
                      <a:r>
                        <a:rPr lang="en-IN" sz="2600" b="1" baseline="0" dirty="0" smtClean="0">
                          <a:solidFill>
                            <a:srgbClr val="FF0000"/>
                          </a:solidFill>
                        </a:rPr>
                        <a:t> </a:t>
                      </a:r>
                      <a:r>
                        <a:rPr lang="en-IN" sz="2600" b="1" dirty="0" smtClean="0">
                          <a:solidFill>
                            <a:srgbClr val="FF0000"/>
                          </a:solidFill>
                        </a:rPr>
                        <a:t>Current Liabilities </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endParaRPr lang="en-IN" sz="2600" b="1" dirty="0">
                        <a:solidFill>
                          <a:srgbClr val="FF0000"/>
                        </a:solidFill>
                      </a:endParaRPr>
                    </a:p>
                  </a:txBody>
                  <a:tcPr/>
                </a:tc>
                <a:extLst>
                  <a:ext uri="{0D108BD9-81ED-4DB2-BD59-A6C34878D82A}">
                    <a16:rowId xmlns:a16="http://schemas.microsoft.com/office/drawing/2014/main" val="4182250095"/>
                  </a:ext>
                </a:extLst>
              </a:tr>
              <a:tr h="370840">
                <a:tc>
                  <a:txBody>
                    <a:bodyPr/>
                    <a:lstStyle/>
                    <a:p>
                      <a:endParaRPr lang="en-IN" sz="2600" dirty="0"/>
                    </a:p>
                  </a:txBody>
                  <a:tcPr/>
                </a:tc>
                <a:tc>
                  <a:txBody>
                    <a:bodyPr/>
                    <a:lstStyle/>
                    <a:p>
                      <a:r>
                        <a:rPr lang="en-IN" sz="2600" dirty="0" smtClean="0"/>
                        <a:t>Creditors for raw</a:t>
                      </a:r>
                      <a:r>
                        <a:rPr lang="en-IN" sz="2600" baseline="0" dirty="0" smtClean="0"/>
                        <a:t> materials [Rs. 78,000×5/52]</a:t>
                      </a:r>
                      <a:endParaRPr lang="en-IN" sz="2600" dirty="0"/>
                    </a:p>
                  </a:txBody>
                  <a:tcPr/>
                </a:tc>
                <a:tc>
                  <a:txBody>
                    <a:bodyPr/>
                    <a:lstStyle/>
                    <a:p>
                      <a:pPr algn="r"/>
                      <a:endParaRPr lang="en-IN" sz="2600" dirty="0"/>
                    </a:p>
                  </a:txBody>
                  <a:tcPr/>
                </a:tc>
                <a:tc>
                  <a:txBody>
                    <a:bodyPr/>
                    <a:lstStyle/>
                    <a:p>
                      <a:pPr algn="r"/>
                      <a:r>
                        <a:rPr lang="en-IN" sz="2600" dirty="0" smtClean="0"/>
                        <a:t>7,500</a:t>
                      </a:r>
                      <a:endParaRPr lang="en-IN" sz="2600" dirty="0"/>
                    </a:p>
                  </a:txBody>
                  <a:tcPr/>
                </a:tc>
                <a:extLst>
                  <a:ext uri="{0D108BD9-81ED-4DB2-BD59-A6C34878D82A}">
                    <a16:rowId xmlns:a16="http://schemas.microsoft.com/office/drawing/2014/main" val="4100144371"/>
                  </a:ext>
                </a:extLst>
              </a:tr>
              <a:tr h="370840">
                <a:tc>
                  <a:txBody>
                    <a:bodyPr/>
                    <a:lstStyle/>
                    <a:p>
                      <a:endParaRPr lang="en-IN" sz="2600" b="1">
                        <a:solidFill>
                          <a:srgbClr val="FF0000"/>
                        </a:solidFill>
                      </a:endParaRPr>
                    </a:p>
                  </a:txBody>
                  <a:tcPr/>
                </a:tc>
                <a:tc>
                  <a:txBody>
                    <a:bodyPr/>
                    <a:lstStyle/>
                    <a:p>
                      <a:r>
                        <a:rPr lang="en-IN" sz="2600" b="1" dirty="0" smtClean="0">
                          <a:solidFill>
                            <a:srgbClr val="FF0000"/>
                          </a:solidFill>
                        </a:rPr>
                        <a:t>Working Capital Requirement [A-B]</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51,000</a:t>
                      </a:r>
                      <a:endParaRPr lang="en-IN" sz="2600" b="1" dirty="0">
                        <a:solidFill>
                          <a:srgbClr val="FF0000"/>
                        </a:solidFill>
                      </a:endParaRPr>
                    </a:p>
                  </a:txBody>
                  <a:tcPr/>
                </a:tc>
                <a:extLst>
                  <a:ext uri="{0D108BD9-81ED-4DB2-BD59-A6C34878D82A}">
                    <a16:rowId xmlns:a16="http://schemas.microsoft.com/office/drawing/2014/main" val="2790276209"/>
                  </a:ext>
                </a:extLst>
              </a:tr>
            </a:tbl>
          </a:graphicData>
        </a:graphic>
      </p:graphicFrame>
      <p:pic>
        <p:nvPicPr>
          <p:cNvPr id="3" name="Picture 2"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0952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3955" y="1036073"/>
            <a:ext cx="10515600" cy="5482713"/>
          </a:xfrm>
        </p:spPr>
        <p:txBody>
          <a:bodyPr>
            <a:normAutofit fontScale="92500"/>
          </a:bodyPr>
          <a:lstStyle/>
          <a:p>
            <a:pPr marL="0" indent="0" algn="just">
              <a:buNone/>
            </a:pPr>
            <a:r>
              <a:rPr lang="en-IN" dirty="0" smtClean="0"/>
              <a:t>P2 The cost sheet of POR Ltd. provides the following data : </a:t>
            </a:r>
          </a:p>
          <a:p>
            <a:pPr marL="0" indent="0" algn="just">
              <a:buNone/>
            </a:pPr>
            <a:r>
              <a:rPr lang="en-IN" dirty="0" smtClean="0"/>
              <a:t>									  Cost per unit </a:t>
            </a:r>
          </a:p>
          <a:p>
            <a:pPr marL="0" indent="0" algn="just">
              <a:buNone/>
            </a:pPr>
            <a:r>
              <a:rPr lang="en-IN" dirty="0" smtClean="0"/>
              <a:t>Raw materials 							          Rs.   50 </a:t>
            </a:r>
          </a:p>
          <a:p>
            <a:pPr marL="0" indent="0" algn="just">
              <a:buNone/>
            </a:pPr>
            <a:r>
              <a:rPr lang="en-IN" dirty="0" smtClean="0"/>
              <a:t>Direct Labor 							</a:t>
            </a:r>
            <a:r>
              <a:rPr lang="en-IN" dirty="0"/>
              <a:t> </a:t>
            </a:r>
            <a:r>
              <a:rPr lang="en-IN" dirty="0" smtClean="0"/>
              <a:t>                      Rs.   20 </a:t>
            </a:r>
          </a:p>
          <a:p>
            <a:pPr marL="0" indent="0" algn="just">
              <a:buNone/>
            </a:pPr>
            <a:r>
              <a:rPr lang="en-IN" dirty="0" smtClean="0"/>
              <a:t>Overheads (including depreciation of Rs. 10)                                          Rs.   40 </a:t>
            </a:r>
          </a:p>
          <a:p>
            <a:pPr marL="0" indent="0" algn="just">
              <a:buNone/>
            </a:pPr>
            <a:r>
              <a:rPr lang="en-IN" dirty="0" smtClean="0"/>
              <a:t>Total cost 								           Rs. 110 </a:t>
            </a:r>
          </a:p>
          <a:p>
            <a:pPr marL="0" indent="0" algn="just">
              <a:buNone/>
            </a:pPr>
            <a:r>
              <a:rPr lang="en-IN" dirty="0" smtClean="0"/>
              <a:t>Profits 								</a:t>
            </a:r>
            <a:r>
              <a:rPr lang="en-IN" dirty="0"/>
              <a:t> </a:t>
            </a:r>
            <a:r>
              <a:rPr lang="en-IN" dirty="0" smtClean="0"/>
              <a:t>          Rs.   20 </a:t>
            </a:r>
          </a:p>
          <a:p>
            <a:pPr marL="0" indent="0" algn="just">
              <a:buNone/>
            </a:pPr>
            <a:r>
              <a:rPr lang="en-IN" dirty="0" smtClean="0"/>
              <a:t>Selling price                                                                                                    Rs. 130 </a:t>
            </a:r>
          </a:p>
          <a:p>
            <a:pPr marL="0" indent="0" algn="just">
              <a:buNone/>
            </a:pPr>
            <a:r>
              <a:rPr lang="en-IN" dirty="0" smtClean="0"/>
              <a:t>Average raw material in stock is for one month. Average materials in work-in-progress is for half month. Credit allowed by suppliers; one month; credit allowed to debtors; one month. Average time lag in payment of wages; 10 days; average time lag in payment of overheads 30 days. </a:t>
            </a:r>
            <a:endParaRPr lang="en-IN" dirty="0"/>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27892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76632"/>
            <a:ext cx="10515600" cy="5100331"/>
          </a:xfrm>
        </p:spPr>
        <p:txBody>
          <a:bodyPr>
            <a:normAutofit/>
          </a:bodyPr>
          <a:lstStyle/>
          <a:p>
            <a:pPr marL="0" indent="0" algn="just">
              <a:buNone/>
            </a:pPr>
            <a:r>
              <a:rPr lang="en-IN" sz="2600" dirty="0" smtClean="0"/>
              <a:t>25% of the sales are on cash basis. Cash balance expected to be Rs. 1,00,000. Finished goods lie in the warehouse for one month. You are required to prepare a statement of the working capital needed to finance a level of the activity of 54,000 units of output. Production is carried on evenly throughout the year and wages and overheads accrue similarly. State your assumptions, if any, clearly.</a:t>
            </a:r>
          </a:p>
          <a:p>
            <a:pPr marL="0" indent="0" algn="just">
              <a:buNone/>
            </a:pPr>
            <a:r>
              <a:rPr lang="en-IN" sz="2600" b="1" dirty="0" smtClean="0">
                <a:solidFill>
                  <a:srgbClr val="FF0000"/>
                </a:solidFill>
              </a:rPr>
              <a:t>Solution:</a:t>
            </a:r>
          </a:p>
          <a:p>
            <a:pPr marL="514350" indent="-514350" algn="just">
              <a:buAutoNum type="alphaLcParenR"/>
            </a:pPr>
            <a:r>
              <a:rPr lang="en-IN" sz="2600" b="1" dirty="0" smtClean="0">
                <a:solidFill>
                  <a:srgbClr val="FF0000"/>
                </a:solidFill>
              </a:rPr>
              <a:t>Calculation of estimated no of units produced a month:</a:t>
            </a:r>
          </a:p>
          <a:p>
            <a:pPr marL="0" indent="0" algn="just">
              <a:buNone/>
            </a:pPr>
            <a:r>
              <a:rPr lang="en-IN" sz="2600" dirty="0" smtClean="0"/>
              <a:t>= 54,000/12</a:t>
            </a:r>
          </a:p>
          <a:p>
            <a:pPr marL="0" indent="0" algn="just">
              <a:buNone/>
            </a:pPr>
            <a:r>
              <a:rPr lang="en-IN" sz="2600" b="1" dirty="0" smtClean="0">
                <a:solidFill>
                  <a:srgbClr val="FF0000"/>
                </a:solidFill>
              </a:rPr>
              <a:t>= 4,500 units </a:t>
            </a:r>
            <a:endParaRPr lang="en-IN" sz="2600" b="1" dirty="0">
              <a:solidFill>
                <a:srgbClr val="FF0000"/>
              </a:solidFill>
            </a:endParaRPr>
          </a:p>
          <a:p>
            <a:pPr marL="0" indent="0" algn="just">
              <a:buNone/>
            </a:pPr>
            <a:endParaRPr lang="en-IN" sz="2600" b="1" dirty="0" smtClean="0">
              <a:solidFill>
                <a:srgbClr val="FF0000"/>
              </a:solidFill>
            </a:endParaRPr>
          </a:p>
          <a:p>
            <a:pPr marL="0" indent="0" algn="just">
              <a:buNone/>
            </a:pPr>
            <a:endParaRPr lang="en-IN" sz="2600" b="1" dirty="0" smtClean="0">
              <a:solidFill>
                <a:srgbClr val="FF0000"/>
              </a:solidFill>
            </a:endParaRPr>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30223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61883"/>
            <a:ext cx="10515600" cy="5449213"/>
          </a:xfrm>
        </p:spPr>
        <p:txBody>
          <a:bodyPr/>
          <a:lstStyle/>
          <a:p>
            <a:pPr marL="0" indent="0">
              <a:buNone/>
            </a:pPr>
            <a:r>
              <a:rPr lang="en-IN" sz="2600" b="1" dirty="0" smtClean="0">
                <a:solidFill>
                  <a:srgbClr val="FF0000"/>
                </a:solidFill>
              </a:rPr>
              <a:t>Solution:        Statement showing working capital requirements:</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127093041"/>
              </p:ext>
            </p:extLst>
          </p:nvPr>
        </p:nvGraphicFramePr>
        <p:xfrm>
          <a:off x="838200" y="1461249"/>
          <a:ext cx="10515600" cy="5242560"/>
        </p:xfrm>
        <a:graphic>
          <a:graphicData uri="http://schemas.openxmlformats.org/drawingml/2006/table">
            <a:tbl>
              <a:tblPr firstRow="1" bandRow="1">
                <a:tableStyleId>{5C22544A-7EE6-4342-B048-85BDC9FD1C3A}</a:tableStyleId>
              </a:tblPr>
              <a:tblGrid>
                <a:gridCol w="769374">
                  <a:extLst>
                    <a:ext uri="{9D8B030D-6E8A-4147-A177-3AD203B41FA5}">
                      <a16:colId xmlns:a16="http://schemas.microsoft.com/office/drawing/2014/main" val="1320661344"/>
                    </a:ext>
                  </a:extLst>
                </a:gridCol>
                <a:gridCol w="6548284">
                  <a:extLst>
                    <a:ext uri="{9D8B030D-6E8A-4147-A177-3AD203B41FA5}">
                      <a16:colId xmlns:a16="http://schemas.microsoft.com/office/drawing/2014/main" val="3234151637"/>
                    </a:ext>
                  </a:extLst>
                </a:gridCol>
                <a:gridCol w="1563329">
                  <a:extLst>
                    <a:ext uri="{9D8B030D-6E8A-4147-A177-3AD203B41FA5}">
                      <a16:colId xmlns:a16="http://schemas.microsoft.com/office/drawing/2014/main" val="1389087919"/>
                    </a:ext>
                  </a:extLst>
                </a:gridCol>
                <a:gridCol w="1634613">
                  <a:extLst>
                    <a:ext uri="{9D8B030D-6E8A-4147-A177-3AD203B41FA5}">
                      <a16:colId xmlns:a16="http://schemas.microsoft.com/office/drawing/2014/main" val="2220915326"/>
                    </a:ext>
                  </a:extLst>
                </a:gridCol>
              </a:tblGrid>
              <a:tr h="356553">
                <a:tc>
                  <a:txBody>
                    <a:bodyPr/>
                    <a:lstStyle/>
                    <a:p>
                      <a:endParaRPr lang="en-IN" dirty="0"/>
                    </a:p>
                  </a:txBody>
                  <a:tcPr/>
                </a:tc>
                <a:tc>
                  <a:txBody>
                    <a:bodyPr/>
                    <a:lstStyle/>
                    <a:p>
                      <a:r>
                        <a:rPr lang="en-IN" dirty="0" smtClean="0"/>
                        <a:t>Particulars</a:t>
                      </a:r>
                      <a:endParaRPr lang="en-IN" dirty="0"/>
                    </a:p>
                  </a:txBody>
                  <a:tcPr/>
                </a:tc>
                <a:tc>
                  <a:txBody>
                    <a:bodyPr/>
                    <a:lstStyle/>
                    <a:p>
                      <a:pPr algn="r"/>
                      <a:r>
                        <a:rPr lang="en-IN" dirty="0" smtClean="0"/>
                        <a:t>Rs.</a:t>
                      </a:r>
                      <a:endParaRPr lang="en-IN" dirty="0"/>
                    </a:p>
                  </a:txBody>
                  <a:tcPr/>
                </a:tc>
                <a:tc>
                  <a:txBody>
                    <a:bodyPr/>
                    <a:lstStyle/>
                    <a:p>
                      <a:pPr algn="r"/>
                      <a:r>
                        <a:rPr lang="en-IN" dirty="0" smtClean="0"/>
                        <a:t>Rs.</a:t>
                      </a:r>
                      <a:endParaRPr lang="en-IN" dirty="0"/>
                    </a:p>
                  </a:txBody>
                  <a:tcPr/>
                </a:tc>
                <a:extLst>
                  <a:ext uri="{0D108BD9-81ED-4DB2-BD59-A6C34878D82A}">
                    <a16:rowId xmlns:a16="http://schemas.microsoft.com/office/drawing/2014/main" val="4097373910"/>
                  </a:ext>
                </a:extLst>
              </a:tr>
              <a:tr h="439586">
                <a:tc>
                  <a:txBody>
                    <a:bodyPr/>
                    <a:lstStyle/>
                    <a:p>
                      <a:endParaRPr lang="en-IN" sz="2400" b="1" dirty="0">
                        <a:solidFill>
                          <a:srgbClr val="FF0000"/>
                        </a:solidFill>
                      </a:endParaRPr>
                    </a:p>
                  </a:txBody>
                  <a:tcPr/>
                </a:tc>
                <a:tc>
                  <a:txBody>
                    <a:bodyPr/>
                    <a:lstStyle/>
                    <a:p>
                      <a:r>
                        <a:rPr lang="en-IN" sz="2600" b="1" dirty="0" smtClean="0">
                          <a:solidFill>
                            <a:srgbClr val="FF0000"/>
                          </a:solidFill>
                        </a:rPr>
                        <a:t>A) Current Assets:</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endParaRPr lang="en-IN" sz="2600" b="1" dirty="0">
                        <a:solidFill>
                          <a:srgbClr val="FF0000"/>
                        </a:solidFill>
                      </a:endParaRPr>
                    </a:p>
                  </a:txBody>
                  <a:tcPr/>
                </a:tc>
                <a:extLst>
                  <a:ext uri="{0D108BD9-81ED-4DB2-BD59-A6C34878D82A}">
                    <a16:rowId xmlns:a16="http://schemas.microsoft.com/office/drawing/2014/main" val="2304704551"/>
                  </a:ext>
                </a:extLst>
              </a:tr>
              <a:tr h="439586">
                <a:tc>
                  <a:txBody>
                    <a:bodyPr/>
                    <a:lstStyle/>
                    <a:p>
                      <a:endParaRPr lang="en-IN" sz="2400"/>
                    </a:p>
                  </a:txBody>
                  <a:tcPr/>
                </a:tc>
                <a:tc>
                  <a:txBody>
                    <a:bodyPr/>
                    <a:lstStyle/>
                    <a:p>
                      <a:r>
                        <a:rPr lang="en-IN" sz="2600" dirty="0" smtClean="0"/>
                        <a:t>Minimum cash balance </a:t>
                      </a:r>
                      <a:endParaRPr lang="en-IN" sz="2600" dirty="0"/>
                    </a:p>
                  </a:txBody>
                  <a:tcPr/>
                </a:tc>
                <a:tc>
                  <a:txBody>
                    <a:bodyPr/>
                    <a:lstStyle/>
                    <a:p>
                      <a:pPr algn="r"/>
                      <a:endParaRPr lang="en-IN" sz="2600" dirty="0"/>
                    </a:p>
                  </a:txBody>
                  <a:tcPr/>
                </a:tc>
                <a:tc>
                  <a:txBody>
                    <a:bodyPr/>
                    <a:lstStyle/>
                    <a:p>
                      <a:pPr algn="r"/>
                      <a:r>
                        <a:rPr lang="en-IN" sz="2600" dirty="0" smtClean="0"/>
                        <a:t>1,00,000</a:t>
                      </a:r>
                      <a:endParaRPr lang="en-IN" sz="2600" dirty="0"/>
                    </a:p>
                  </a:txBody>
                  <a:tcPr/>
                </a:tc>
                <a:extLst>
                  <a:ext uri="{0D108BD9-81ED-4DB2-BD59-A6C34878D82A}">
                    <a16:rowId xmlns:a16="http://schemas.microsoft.com/office/drawing/2014/main" val="3456548249"/>
                  </a:ext>
                </a:extLst>
              </a:tr>
              <a:tr h="439586">
                <a:tc>
                  <a:txBody>
                    <a:bodyPr/>
                    <a:lstStyle/>
                    <a:p>
                      <a:endParaRPr lang="en-IN" sz="2400"/>
                    </a:p>
                  </a:txBody>
                  <a:tcPr/>
                </a:tc>
                <a:tc>
                  <a:txBody>
                    <a:bodyPr/>
                    <a:lstStyle/>
                    <a:p>
                      <a:r>
                        <a:rPr lang="en-IN" sz="2600" dirty="0" smtClean="0"/>
                        <a:t>Raw materials [4,500×Rs. 50]</a:t>
                      </a:r>
                      <a:endParaRPr lang="en-IN" sz="2600" dirty="0"/>
                    </a:p>
                  </a:txBody>
                  <a:tcPr/>
                </a:tc>
                <a:tc>
                  <a:txBody>
                    <a:bodyPr/>
                    <a:lstStyle/>
                    <a:p>
                      <a:pPr algn="r"/>
                      <a:endParaRPr lang="en-IN" sz="2600" dirty="0"/>
                    </a:p>
                  </a:txBody>
                  <a:tcPr/>
                </a:tc>
                <a:tc>
                  <a:txBody>
                    <a:bodyPr/>
                    <a:lstStyle/>
                    <a:p>
                      <a:pPr algn="r"/>
                      <a:r>
                        <a:rPr lang="en-IN" sz="2600" dirty="0" smtClean="0"/>
                        <a:t>2,25,000</a:t>
                      </a:r>
                      <a:endParaRPr lang="en-IN" sz="2600" dirty="0"/>
                    </a:p>
                  </a:txBody>
                  <a:tcPr/>
                </a:tc>
                <a:extLst>
                  <a:ext uri="{0D108BD9-81ED-4DB2-BD59-A6C34878D82A}">
                    <a16:rowId xmlns:a16="http://schemas.microsoft.com/office/drawing/2014/main" val="1212104400"/>
                  </a:ext>
                </a:extLst>
              </a:tr>
              <a:tr h="439586">
                <a:tc>
                  <a:txBody>
                    <a:bodyPr/>
                    <a:lstStyle/>
                    <a:p>
                      <a:endParaRPr lang="en-IN" sz="2400"/>
                    </a:p>
                  </a:txBody>
                  <a:tcPr/>
                </a:tc>
                <a:tc>
                  <a:txBody>
                    <a:bodyPr/>
                    <a:lstStyle/>
                    <a:p>
                      <a:r>
                        <a:rPr lang="en-IN" sz="2600" dirty="0" smtClean="0"/>
                        <a:t>Work in progress:,</a:t>
                      </a:r>
                    </a:p>
                  </a:txBody>
                  <a:tcPr/>
                </a:tc>
                <a:tc>
                  <a:txBody>
                    <a:bodyPr/>
                    <a:lstStyle/>
                    <a:p>
                      <a:pPr algn="r"/>
                      <a:endParaRPr lang="en-IN" sz="2600" dirty="0"/>
                    </a:p>
                  </a:txBody>
                  <a:tcPr/>
                </a:tc>
                <a:tc>
                  <a:txBody>
                    <a:bodyPr/>
                    <a:lstStyle/>
                    <a:p>
                      <a:pPr algn="r"/>
                      <a:endParaRPr lang="en-IN" sz="2600" dirty="0"/>
                    </a:p>
                  </a:txBody>
                  <a:tcPr/>
                </a:tc>
                <a:extLst>
                  <a:ext uri="{0D108BD9-81ED-4DB2-BD59-A6C34878D82A}">
                    <a16:rowId xmlns:a16="http://schemas.microsoft.com/office/drawing/2014/main" val="2518614336"/>
                  </a:ext>
                </a:extLst>
              </a:tr>
              <a:tr h="439586">
                <a:tc>
                  <a:txBody>
                    <a:bodyPr/>
                    <a:lstStyle/>
                    <a:p>
                      <a:endParaRPr lang="en-IN" sz="2400"/>
                    </a:p>
                  </a:txBody>
                  <a:tcPr/>
                </a:tc>
                <a:tc>
                  <a:txBody>
                    <a:bodyPr/>
                    <a:lstStyle/>
                    <a:p>
                      <a:r>
                        <a:rPr lang="en-IN" sz="2600" dirty="0" smtClean="0"/>
                        <a:t>         Raw</a:t>
                      </a:r>
                      <a:r>
                        <a:rPr lang="en-IN" sz="2600" baseline="0" dirty="0" smtClean="0"/>
                        <a:t> materials </a:t>
                      </a:r>
                      <a:r>
                        <a:rPr lang="en-IN" sz="2600" dirty="0" smtClean="0"/>
                        <a:t>[4,500×Rs. 50×1/2]</a:t>
                      </a:r>
                      <a:endParaRPr lang="en-IN" sz="2600" dirty="0"/>
                    </a:p>
                  </a:txBody>
                  <a:tcPr/>
                </a:tc>
                <a:tc>
                  <a:txBody>
                    <a:bodyPr/>
                    <a:lstStyle/>
                    <a:p>
                      <a:pPr algn="r"/>
                      <a:r>
                        <a:rPr lang="en-IN" sz="2600" dirty="0" smtClean="0"/>
                        <a:t>1,12,500</a:t>
                      </a:r>
                      <a:endParaRPr lang="en-IN" sz="2600" dirty="0"/>
                    </a:p>
                  </a:txBody>
                  <a:tcPr/>
                </a:tc>
                <a:tc>
                  <a:txBody>
                    <a:bodyPr/>
                    <a:lstStyle/>
                    <a:p>
                      <a:pPr algn="r"/>
                      <a:endParaRPr lang="en-IN" sz="2600" dirty="0"/>
                    </a:p>
                  </a:txBody>
                  <a:tcPr/>
                </a:tc>
                <a:extLst>
                  <a:ext uri="{0D108BD9-81ED-4DB2-BD59-A6C34878D82A}">
                    <a16:rowId xmlns:a16="http://schemas.microsoft.com/office/drawing/2014/main" val="1757284129"/>
                  </a:ext>
                </a:extLst>
              </a:tr>
              <a:tr h="439586">
                <a:tc>
                  <a:txBody>
                    <a:bodyPr/>
                    <a:lstStyle/>
                    <a:p>
                      <a:endParaRPr lang="en-IN" sz="2400"/>
                    </a:p>
                  </a:txBody>
                  <a:tcPr/>
                </a:tc>
                <a:tc>
                  <a:txBody>
                    <a:bodyPr/>
                    <a:lstStyle/>
                    <a:p>
                      <a:r>
                        <a:rPr lang="en-IN" sz="2600" dirty="0" smtClean="0"/>
                        <a:t>         Labour [4,500×Rs. 20×1/2×1/2]</a:t>
                      </a:r>
                      <a:endParaRPr lang="en-IN" sz="2600" dirty="0"/>
                    </a:p>
                  </a:txBody>
                  <a:tcPr/>
                </a:tc>
                <a:tc>
                  <a:txBody>
                    <a:bodyPr/>
                    <a:lstStyle/>
                    <a:p>
                      <a:pPr algn="r"/>
                      <a:r>
                        <a:rPr lang="en-IN" sz="2600" dirty="0" smtClean="0"/>
                        <a:t>22,500</a:t>
                      </a:r>
                      <a:endParaRPr lang="en-IN" sz="2600" dirty="0"/>
                    </a:p>
                  </a:txBody>
                  <a:tcPr/>
                </a:tc>
                <a:tc>
                  <a:txBody>
                    <a:bodyPr/>
                    <a:lstStyle/>
                    <a:p>
                      <a:pPr algn="r"/>
                      <a:endParaRPr lang="en-IN" sz="2600" dirty="0"/>
                    </a:p>
                  </a:txBody>
                  <a:tcPr/>
                </a:tc>
                <a:extLst>
                  <a:ext uri="{0D108BD9-81ED-4DB2-BD59-A6C34878D82A}">
                    <a16:rowId xmlns:a16="http://schemas.microsoft.com/office/drawing/2014/main" val="2639623378"/>
                  </a:ext>
                </a:extLst>
              </a:tr>
              <a:tr h="439586">
                <a:tc>
                  <a:txBody>
                    <a:bodyPr/>
                    <a:lstStyle/>
                    <a:p>
                      <a:endParaRPr lang="en-IN" sz="2400"/>
                    </a:p>
                  </a:txBody>
                  <a:tcPr/>
                </a:tc>
                <a:tc>
                  <a:txBody>
                    <a:bodyPr/>
                    <a:lstStyle/>
                    <a:p>
                      <a:r>
                        <a:rPr lang="en-IN" sz="2600" dirty="0" smtClean="0"/>
                        <a:t>         Overheads [4,500×Rs. 30×1/2×1/2]</a:t>
                      </a:r>
                      <a:endParaRPr lang="en-IN" sz="2600" dirty="0"/>
                    </a:p>
                  </a:txBody>
                  <a:tcPr/>
                </a:tc>
                <a:tc>
                  <a:txBody>
                    <a:bodyPr/>
                    <a:lstStyle/>
                    <a:p>
                      <a:pPr algn="r"/>
                      <a:r>
                        <a:rPr lang="en-IN" sz="2600" dirty="0" smtClean="0"/>
                        <a:t>33,750</a:t>
                      </a:r>
                      <a:endParaRPr lang="en-IN" sz="2600" dirty="0"/>
                    </a:p>
                  </a:txBody>
                  <a:tcPr/>
                </a:tc>
                <a:tc>
                  <a:txBody>
                    <a:bodyPr/>
                    <a:lstStyle/>
                    <a:p>
                      <a:pPr algn="r"/>
                      <a:r>
                        <a:rPr lang="en-IN" sz="2600" dirty="0" smtClean="0"/>
                        <a:t>1,68,750</a:t>
                      </a:r>
                      <a:endParaRPr lang="en-IN" sz="2600" dirty="0"/>
                    </a:p>
                  </a:txBody>
                  <a:tcPr/>
                </a:tc>
                <a:extLst>
                  <a:ext uri="{0D108BD9-81ED-4DB2-BD59-A6C34878D82A}">
                    <a16:rowId xmlns:a16="http://schemas.microsoft.com/office/drawing/2014/main" val="1800410368"/>
                  </a:ext>
                </a:extLst>
              </a:tr>
              <a:tr h="439586">
                <a:tc>
                  <a:txBody>
                    <a:bodyPr/>
                    <a:lstStyle/>
                    <a:p>
                      <a:endParaRPr lang="en-IN" sz="2400" dirty="0"/>
                    </a:p>
                  </a:txBody>
                  <a:tcPr/>
                </a:tc>
                <a:tc>
                  <a:txBody>
                    <a:bodyPr/>
                    <a:lstStyle/>
                    <a:p>
                      <a:r>
                        <a:rPr lang="en-IN" sz="2600" dirty="0" smtClean="0"/>
                        <a:t>Finished Goods [4,500×Rs. 100]</a:t>
                      </a:r>
                      <a:endParaRPr lang="en-IN" sz="2600" dirty="0"/>
                    </a:p>
                  </a:txBody>
                  <a:tcPr/>
                </a:tc>
                <a:tc>
                  <a:txBody>
                    <a:bodyPr/>
                    <a:lstStyle/>
                    <a:p>
                      <a:pPr algn="r"/>
                      <a:endParaRPr lang="en-IN" sz="2600" dirty="0"/>
                    </a:p>
                  </a:txBody>
                  <a:tcPr/>
                </a:tc>
                <a:tc>
                  <a:txBody>
                    <a:bodyPr/>
                    <a:lstStyle/>
                    <a:p>
                      <a:pPr algn="r"/>
                      <a:r>
                        <a:rPr lang="en-IN" sz="2600" dirty="0" smtClean="0"/>
                        <a:t>4,50,000</a:t>
                      </a:r>
                      <a:endParaRPr lang="en-IN" sz="2600" dirty="0"/>
                    </a:p>
                  </a:txBody>
                  <a:tcPr/>
                </a:tc>
                <a:extLst>
                  <a:ext uri="{0D108BD9-81ED-4DB2-BD59-A6C34878D82A}">
                    <a16:rowId xmlns:a16="http://schemas.microsoft.com/office/drawing/2014/main" val="1157294668"/>
                  </a:ext>
                </a:extLst>
              </a:tr>
              <a:tr h="439586">
                <a:tc>
                  <a:txBody>
                    <a:bodyPr/>
                    <a:lstStyle/>
                    <a:p>
                      <a:endParaRPr lang="en-IN" sz="2400" b="1" dirty="0">
                        <a:solidFill>
                          <a:srgbClr val="FF0000"/>
                        </a:solidFill>
                      </a:endParaRPr>
                    </a:p>
                  </a:txBody>
                  <a:tcPr/>
                </a:tc>
                <a:tc>
                  <a:txBody>
                    <a:bodyPr/>
                    <a:lstStyle/>
                    <a:p>
                      <a:r>
                        <a:rPr lang="en-IN" sz="2600" dirty="0" smtClean="0"/>
                        <a:t>Debtors [4,500×Rs. 100×75%]</a:t>
                      </a:r>
                      <a:endParaRPr lang="en-IN" sz="2600" dirty="0"/>
                    </a:p>
                  </a:txBody>
                  <a:tcPr/>
                </a:tc>
                <a:tc>
                  <a:txBody>
                    <a:bodyPr/>
                    <a:lstStyle/>
                    <a:p>
                      <a:pPr algn="r"/>
                      <a:endParaRPr lang="en-IN" sz="2600" dirty="0"/>
                    </a:p>
                  </a:txBody>
                  <a:tcPr/>
                </a:tc>
                <a:tc>
                  <a:txBody>
                    <a:bodyPr/>
                    <a:lstStyle/>
                    <a:p>
                      <a:pPr algn="r"/>
                      <a:r>
                        <a:rPr lang="en-IN" sz="2600" dirty="0" smtClean="0"/>
                        <a:t>3,37,500</a:t>
                      </a:r>
                      <a:endParaRPr lang="en-IN" sz="2600" dirty="0"/>
                    </a:p>
                  </a:txBody>
                  <a:tcPr/>
                </a:tc>
                <a:extLst>
                  <a:ext uri="{0D108BD9-81ED-4DB2-BD59-A6C34878D82A}">
                    <a16:rowId xmlns:a16="http://schemas.microsoft.com/office/drawing/2014/main" val="2413885677"/>
                  </a:ext>
                </a:extLst>
              </a:tr>
              <a:tr h="439586">
                <a:tc>
                  <a:txBody>
                    <a:bodyPr/>
                    <a:lstStyle/>
                    <a:p>
                      <a:endParaRPr lang="en-IN" sz="2400" b="1"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1" dirty="0" smtClean="0">
                          <a:solidFill>
                            <a:srgbClr val="FF0000"/>
                          </a:solidFill>
                        </a:rPr>
                        <a:t>Total Current Assets [A]</a:t>
                      </a: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12,81,250</a:t>
                      </a:r>
                      <a:endParaRPr lang="en-IN" sz="2600" b="1" dirty="0">
                        <a:solidFill>
                          <a:srgbClr val="FF0000"/>
                        </a:solidFill>
                      </a:endParaRPr>
                    </a:p>
                  </a:txBody>
                  <a:tcPr/>
                </a:tc>
                <a:extLst>
                  <a:ext uri="{0D108BD9-81ED-4DB2-BD59-A6C34878D82A}">
                    <a16:rowId xmlns:a16="http://schemas.microsoft.com/office/drawing/2014/main" val="685892551"/>
                  </a:ext>
                </a:extLst>
              </a:tr>
            </a:tbl>
          </a:graphicData>
        </a:graphic>
      </p:graphicFrame>
      <p:pic>
        <p:nvPicPr>
          <p:cNvPr id="5" name="Picture 4"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33678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625569056"/>
              </p:ext>
            </p:extLst>
          </p:nvPr>
        </p:nvGraphicFramePr>
        <p:xfrm>
          <a:off x="838200" y="1039106"/>
          <a:ext cx="10515600" cy="2809240"/>
        </p:xfrm>
        <a:graphic>
          <a:graphicData uri="http://schemas.openxmlformats.org/drawingml/2006/table">
            <a:tbl>
              <a:tblPr firstRow="1" bandRow="1">
                <a:tableStyleId>{5C22544A-7EE6-4342-B048-85BDC9FD1C3A}</a:tableStyleId>
              </a:tblPr>
              <a:tblGrid>
                <a:gridCol w="931606">
                  <a:extLst>
                    <a:ext uri="{9D8B030D-6E8A-4147-A177-3AD203B41FA5}">
                      <a16:colId xmlns:a16="http://schemas.microsoft.com/office/drawing/2014/main" val="2156627544"/>
                    </a:ext>
                  </a:extLst>
                </a:gridCol>
                <a:gridCol w="6681020">
                  <a:extLst>
                    <a:ext uri="{9D8B030D-6E8A-4147-A177-3AD203B41FA5}">
                      <a16:colId xmlns:a16="http://schemas.microsoft.com/office/drawing/2014/main" val="1280784742"/>
                    </a:ext>
                  </a:extLst>
                </a:gridCol>
                <a:gridCol w="1474839">
                  <a:extLst>
                    <a:ext uri="{9D8B030D-6E8A-4147-A177-3AD203B41FA5}">
                      <a16:colId xmlns:a16="http://schemas.microsoft.com/office/drawing/2014/main" val="2816569001"/>
                    </a:ext>
                  </a:extLst>
                </a:gridCol>
                <a:gridCol w="1428135">
                  <a:extLst>
                    <a:ext uri="{9D8B030D-6E8A-4147-A177-3AD203B41FA5}">
                      <a16:colId xmlns:a16="http://schemas.microsoft.com/office/drawing/2014/main" val="1595518488"/>
                    </a:ext>
                  </a:extLst>
                </a:gridCol>
              </a:tblGrid>
              <a:tr h="370840">
                <a:tc>
                  <a:txBody>
                    <a:bodyPr/>
                    <a:lstStyle/>
                    <a:p>
                      <a:pPr algn="ctr"/>
                      <a:endParaRPr lang="en-IN" dirty="0"/>
                    </a:p>
                  </a:txBody>
                  <a:tcPr/>
                </a:tc>
                <a:tc>
                  <a:txBody>
                    <a:bodyPr/>
                    <a:lstStyle/>
                    <a:p>
                      <a:pPr algn="ctr"/>
                      <a:r>
                        <a:rPr lang="en-IN" dirty="0" smtClean="0"/>
                        <a:t>Particulars</a:t>
                      </a:r>
                      <a:endParaRPr lang="en-IN" dirty="0"/>
                    </a:p>
                  </a:txBody>
                  <a:tcPr/>
                </a:tc>
                <a:tc>
                  <a:txBody>
                    <a:bodyPr/>
                    <a:lstStyle/>
                    <a:p>
                      <a:pPr algn="r"/>
                      <a:r>
                        <a:rPr lang="en-IN" dirty="0" smtClean="0"/>
                        <a:t>Rs.</a:t>
                      </a:r>
                      <a:endParaRPr lang="en-IN" dirty="0"/>
                    </a:p>
                  </a:txBody>
                  <a:tcPr/>
                </a:tc>
                <a:tc>
                  <a:txBody>
                    <a:bodyPr/>
                    <a:lstStyle/>
                    <a:p>
                      <a:pPr algn="r"/>
                      <a:r>
                        <a:rPr lang="en-IN" dirty="0" smtClean="0"/>
                        <a:t>Rs.</a:t>
                      </a:r>
                      <a:endParaRPr lang="en-IN" dirty="0"/>
                    </a:p>
                  </a:txBody>
                  <a:tcPr/>
                </a:tc>
                <a:extLst>
                  <a:ext uri="{0D108BD9-81ED-4DB2-BD59-A6C34878D82A}">
                    <a16:rowId xmlns:a16="http://schemas.microsoft.com/office/drawing/2014/main" val="1197908108"/>
                  </a:ext>
                </a:extLst>
              </a:tr>
              <a:tr h="370840">
                <a:tc>
                  <a:txBody>
                    <a:bodyPr/>
                    <a:lstStyle/>
                    <a:p>
                      <a:r>
                        <a:rPr lang="en-IN" sz="2600" b="1" dirty="0" smtClean="0">
                          <a:solidFill>
                            <a:srgbClr val="FF0000"/>
                          </a:solidFill>
                        </a:rPr>
                        <a:t>Less</a:t>
                      </a:r>
                      <a:endParaRPr lang="en-IN" sz="2600" b="1" dirty="0">
                        <a:solidFill>
                          <a:srgbClr val="FF0000"/>
                        </a:solidFill>
                      </a:endParaRPr>
                    </a:p>
                  </a:txBody>
                  <a:tcPr/>
                </a:tc>
                <a:tc>
                  <a:txBody>
                    <a:bodyPr/>
                    <a:lstStyle/>
                    <a:p>
                      <a:r>
                        <a:rPr lang="en-IN" sz="2600" b="1" dirty="0" smtClean="0">
                          <a:solidFill>
                            <a:srgbClr val="FF0000"/>
                          </a:solidFill>
                        </a:rPr>
                        <a:t>B)</a:t>
                      </a:r>
                      <a:r>
                        <a:rPr lang="en-IN" sz="2600" b="1" baseline="0" dirty="0" smtClean="0">
                          <a:solidFill>
                            <a:srgbClr val="FF0000"/>
                          </a:solidFill>
                        </a:rPr>
                        <a:t> </a:t>
                      </a:r>
                      <a:r>
                        <a:rPr lang="en-IN" sz="2600" b="1" dirty="0" smtClean="0">
                          <a:solidFill>
                            <a:srgbClr val="FF0000"/>
                          </a:solidFill>
                        </a:rPr>
                        <a:t>Current Liabilities: </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endParaRPr lang="en-IN" sz="2600" b="1" dirty="0">
                        <a:solidFill>
                          <a:srgbClr val="FF0000"/>
                        </a:solidFill>
                      </a:endParaRPr>
                    </a:p>
                  </a:txBody>
                  <a:tcPr/>
                </a:tc>
                <a:extLst>
                  <a:ext uri="{0D108BD9-81ED-4DB2-BD59-A6C34878D82A}">
                    <a16:rowId xmlns:a16="http://schemas.microsoft.com/office/drawing/2014/main" val="4182250095"/>
                  </a:ext>
                </a:extLst>
              </a:tr>
              <a:tr h="370840">
                <a:tc>
                  <a:txBody>
                    <a:bodyPr/>
                    <a:lstStyle/>
                    <a:p>
                      <a:endParaRPr lang="en-IN" sz="2600" dirty="0"/>
                    </a:p>
                  </a:txBody>
                  <a:tcPr/>
                </a:tc>
                <a:tc>
                  <a:txBody>
                    <a:bodyPr/>
                    <a:lstStyle/>
                    <a:p>
                      <a:r>
                        <a:rPr lang="en-IN" sz="2600" dirty="0" smtClean="0"/>
                        <a:t>Creditors for raw</a:t>
                      </a:r>
                      <a:r>
                        <a:rPr lang="en-IN" sz="2600" baseline="0" dirty="0" smtClean="0"/>
                        <a:t> materials [4,500×Rs. 50]</a:t>
                      </a:r>
                      <a:endParaRPr lang="en-IN" sz="2600" dirty="0"/>
                    </a:p>
                  </a:txBody>
                  <a:tcPr/>
                </a:tc>
                <a:tc>
                  <a:txBody>
                    <a:bodyPr/>
                    <a:lstStyle/>
                    <a:p>
                      <a:pPr algn="r"/>
                      <a:r>
                        <a:rPr lang="en-IN" sz="2600" dirty="0" smtClean="0"/>
                        <a:t>2,25,000</a:t>
                      </a:r>
                      <a:endParaRPr lang="en-IN" sz="2600" dirty="0"/>
                    </a:p>
                  </a:txBody>
                  <a:tcPr/>
                </a:tc>
                <a:tc>
                  <a:txBody>
                    <a:bodyPr/>
                    <a:lstStyle/>
                    <a:p>
                      <a:pPr algn="r"/>
                      <a:endParaRPr lang="en-IN" sz="2600" dirty="0"/>
                    </a:p>
                  </a:txBody>
                  <a:tcPr/>
                </a:tc>
                <a:extLst>
                  <a:ext uri="{0D108BD9-81ED-4DB2-BD59-A6C34878D82A}">
                    <a16:rowId xmlns:a16="http://schemas.microsoft.com/office/drawing/2014/main" val="4100144371"/>
                  </a:ext>
                </a:extLst>
              </a:tr>
              <a:tr h="370840">
                <a:tc>
                  <a:txBody>
                    <a:bodyPr/>
                    <a:lstStyle/>
                    <a:p>
                      <a:endParaRPr lang="en-IN" sz="2600" b="1">
                        <a:solidFill>
                          <a:srgbClr val="FF0000"/>
                        </a:solidFill>
                      </a:endParaRPr>
                    </a:p>
                  </a:txBody>
                  <a:tcPr/>
                </a:tc>
                <a:tc>
                  <a:txBody>
                    <a:bodyPr/>
                    <a:lstStyle/>
                    <a:p>
                      <a:r>
                        <a:rPr lang="en-IN" sz="2600" b="0" dirty="0" smtClean="0">
                          <a:solidFill>
                            <a:schemeClr val="tx1"/>
                          </a:solidFill>
                        </a:rPr>
                        <a:t>Creditors for</a:t>
                      </a:r>
                      <a:r>
                        <a:rPr lang="en-IN" sz="2600" b="0" baseline="0" dirty="0" smtClean="0">
                          <a:solidFill>
                            <a:schemeClr val="tx1"/>
                          </a:solidFill>
                        </a:rPr>
                        <a:t> wages [4,500× Rs. 20×10/30]</a:t>
                      </a:r>
                      <a:endParaRPr lang="en-IN" sz="2600" b="0" dirty="0">
                        <a:solidFill>
                          <a:schemeClr val="tx1"/>
                        </a:solidFill>
                      </a:endParaRPr>
                    </a:p>
                  </a:txBody>
                  <a:tcPr/>
                </a:tc>
                <a:tc>
                  <a:txBody>
                    <a:bodyPr/>
                    <a:lstStyle/>
                    <a:p>
                      <a:pPr algn="r"/>
                      <a:r>
                        <a:rPr lang="en-IN" sz="2600" b="0" dirty="0" smtClean="0">
                          <a:solidFill>
                            <a:schemeClr val="tx1"/>
                          </a:solidFill>
                        </a:rPr>
                        <a:t>30,000</a:t>
                      </a:r>
                      <a:endParaRPr lang="en-IN" sz="2600" b="0" dirty="0">
                        <a:solidFill>
                          <a:schemeClr val="tx1"/>
                        </a:solidFill>
                      </a:endParaRPr>
                    </a:p>
                  </a:txBody>
                  <a:tcPr/>
                </a:tc>
                <a:tc>
                  <a:txBody>
                    <a:bodyPr/>
                    <a:lstStyle/>
                    <a:p>
                      <a:pPr algn="r"/>
                      <a:endParaRPr lang="en-IN" sz="2600" dirty="0"/>
                    </a:p>
                  </a:txBody>
                  <a:tcPr/>
                </a:tc>
                <a:extLst>
                  <a:ext uri="{0D108BD9-81ED-4DB2-BD59-A6C34878D82A}">
                    <a16:rowId xmlns:a16="http://schemas.microsoft.com/office/drawing/2014/main" val="2790276209"/>
                  </a:ext>
                </a:extLst>
              </a:tr>
              <a:tr h="370840">
                <a:tc>
                  <a:txBody>
                    <a:bodyPr/>
                    <a:lstStyle/>
                    <a:p>
                      <a:endParaRPr lang="en-IN" sz="2600" b="1" dirty="0">
                        <a:solidFill>
                          <a:srgbClr val="FF0000"/>
                        </a:solidFill>
                      </a:endParaRPr>
                    </a:p>
                  </a:txBody>
                  <a:tcPr/>
                </a:tc>
                <a:tc>
                  <a:txBody>
                    <a:bodyPr/>
                    <a:lstStyle/>
                    <a:p>
                      <a:r>
                        <a:rPr lang="en-IN" sz="2600" b="0" dirty="0" smtClean="0">
                          <a:solidFill>
                            <a:schemeClr val="tx1"/>
                          </a:solidFill>
                        </a:rPr>
                        <a:t>Creditors</a:t>
                      </a:r>
                      <a:r>
                        <a:rPr lang="en-IN" sz="2600" b="0" baseline="0" dirty="0" smtClean="0">
                          <a:solidFill>
                            <a:schemeClr val="tx1"/>
                          </a:solidFill>
                        </a:rPr>
                        <a:t> for overheads [4,500×Rs.30]</a:t>
                      </a:r>
                      <a:endParaRPr lang="en-IN" sz="2600" b="0" dirty="0">
                        <a:solidFill>
                          <a:schemeClr val="tx1"/>
                        </a:solidFill>
                      </a:endParaRPr>
                    </a:p>
                  </a:txBody>
                  <a:tcPr/>
                </a:tc>
                <a:tc>
                  <a:txBody>
                    <a:bodyPr/>
                    <a:lstStyle/>
                    <a:p>
                      <a:pPr algn="r"/>
                      <a:r>
                        <a:rPr lang="en-IN" sz="2600" b="0" dirty="0" smtClean="0">
                          <a:solidFill>
                            <a:schemeClr val="tx1"/>
                          </a:solidFill>
                        </a:rPr>
                        <a:t>1,35,000</a:t>
                      </a:r>
                      <a:endParaRPr lang="en-IN" sz="2600" b="0" dirty="0">
                        <a:solidFill>
                          <a:schemeClr val="tx1"/>
                        </a:solidFill>
                      </a:endParaRPr>
                    </a:p>
                  </a:txBody>
                  <a:tcPr/>
                </a:tc>
                <a:tc>
                  <a:txBody>
                    <a:bodyPr/>
                    <a:lstStyle/>
                    <a:p>
                      <a:pPr algn="r"/>
                      <a:r>
                        <a:rPr lang="en-IN" sz="2600" dirty="0" smtClean="0"/>
                        <a:t>3,90,000</a:t>
                      </a:r>
                      <a:endParaRPr lang="en-IN" sz="2600" dirty="0"/>
                    </a:p>
                  </a:txBody>
                  <a:tcPr/>
                </a:tc>
                <a:extLst>
                  <a:ext uri="{0D108BD9-81ED-4DB2-BD59-A6C34878D82A}">
                    <a16:rowId xmlns:a16="http://schemas.microsoft.com/office/drawing/2014/main" val="1790542968"/>
                  </a:ext>
                </a:extLst>
              </a:tr>
              <a:tr h="370840">
                <a:tc>
                  <a:txBody>
                    <a:bodyPr/>
                    <a:lstStyle/>
                    <a:p>
                      <a:endParaRPr lang="en-IN" sz="2600" b="1"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1" dirty="0" smtClean="0">
                          <a:solidFill>
                            <a:srgbClr val="FF0000"/>
                          </a:solidFill>
                        </a:rPr>
                        <a:t>Working Capital Requirement [A-B]</a:t>
                      </a: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8,91,250</a:t>
                      </a:r>
                      <a:endParaRPr lang="en-IN" sz="2600" b="1" dirty="0">
                        <a:solidFill>
                          <a:srgbClr val="FF0000"/>
                        </a:solidFill>
                      </a:endParaRPr>
                    </a:p>
                  </a:txBody>
                  <a:tcPr/>
                </a:tc>
                <a:extLst>
                  <a:ext uri="{0D108BD9-81ED-4DB2-BD59-A6C34878D82A}">
                    <a16:rowId xmlns:a16="http://schemas.microsoft.com/office/drawing/2014/main" val="3897533600"/>
                  </a:ext>
                </a:extLst>
              </a:tr>
            </a:tbl>
          </a:graphicData>
        </a:graphic>
      </p:graphicFrame>
      <p:pic>
        <p:nvPicPr>
          <p:cNvPr id="3" name="Picture 2"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15847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35626"/>
            <a:ext cx="10515600" cy="5041337"/>
          </a:xfrm>
        </p:spPr>
        <p:txBody>
          <a:bodyPr>
            <a:normAutofit/>
          </a:bodyPr>
          <a:lstStyle/>
          <a:p>
            <a:pPr marL="0" indent="0" algn="just">
              <a:buNone/>
            </a:pPr>
            <a:r>
              <a:rPr lang="en-IN" sz="2600" b="1" dirty="0" smtClean="0">
                <a:solidFill>
                  <a:srgbClr val="FF0000"/>
                </a:solidFill>
              </a:rPr>
              <a:t>Note: </a:t>
            </a:r>
          </a:p>
          <a:p>
            <a:pPr marL="514350" indent="-514350" algn="just">
              <a:buAutoNum type="arabicPeriod"/>
            </a:pPr>
            <a:r>
              <a:rPr lang="en-IN" sz="2600" dirty="0" smtClean="0"/>
              <a:t>The </a:t>
            </a:r>
            <a:r>
              <a:rPr lang="en-IN" sz="2600" dirty="0"/>
              <a:t>Overheads of Rs. 40 per unit include a depreciation of Rs. 10 per unit, which is a non-cash item. This depreciation cost has been ignored for valuation of work-in-progress, finished goods and debtors. The overhead cost, therefore, has been taken only at Rs. 30 per unit. </a:t>
            </a:r>
            <a:endParaRPr lang="en-IN" sz="2600" dirty="0" smtClean="0"/>
          </a:p>
          <a:p>
            <a:pPr marL="514350" indent="-514350" algn="just">
              <a:buAutoNum type="arabicPeriod"/>
            </a:pPr>
            <a:r>
              <a:rPr lang="en-IN" sz="2600" dirty="0" smtClean="0"/>
              <a:t>In </a:t>
            </a:r>
            <a:r>
              <a:rPr lang="en-IN" sz="2600" dirty="0"/>
              <a:t>the valuation of work-in-progress, the raw materials have been taken at full requirements for 15 days; but the wages and overheads have been taken only at 50% on the assumption that on an average all units in work-in-progress are 50% complete. </a:t>
            </a:r>
            <a:endParaRPr lang="en-IN" sz="2600" dirty="0" smtClean="0"/>
          </a:p>
          <a:p>
            <a:pPr marL="514350" indent="-514350" algn="just">
              <a:buAutoNum type="arabicPeriod"/>
            </a:pPr>
            <a:r>
              <a:rPr lang="en-IN" sz="2600" dirty="0" smtClean="0"/>
              <a:t>Since</a:t>
            </a:r>
            <a:r>
              <a:rPr lang="en-IN" sz="2600" dirty="0"/>
              <a:t>, the wages are paid with a time lag of 10 days, the working capital provided by wages has been taken by dividing the monthly wages by 3 (assuming a month to consist of 30 days).</a:t>
            </a:r>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535407"/>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13362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76632"/>
            <a:ext cx="10515600" cy="5100331"/>
          </a:xfrm>
        </p:spPr>
        <p:txBody>
          <a:bodyPr>
            <a:normAutofit/>
          </a:bodyPr>
          <a:lstStyle/>
          <a:p>
            <a:pPr marL="0" indent="0" algn="just">
              <a:buNone/>
            </a:pPr>
            <a:r>
              <a:rPr lang="en-IN" sz="2600" dirty="0" smtClean="0"/>
              <a:t>P3. Calculate </a:t>
            </a:r>
            <a:r>
              <a:rPr lang="en-IN" sz="2600" dirty="0"/>
              <a:t>the amount of working capital requirement for SRCC Ltd. from the following information : </a:t>
            </a:r>
            <a:r>
              <a:rPr lang="en-IN" sz="2600" dirty="0" smtClean="0"/>
              <a:t>						Rs</a:t>
            </a:r>
            <a:r>
              <a:rPr lang="en-IN" sz="2600" dirty="0"/>
              <a:t>. (Per Unit) </a:t>
            </a:r>
            <a:endParaRPr lang="en-IN" sz="2600" dirty="0" smtClean="0"/>
          </a:p>
          <a:p>
            <a:pPr marL="0" indent="0" algn="just">
              <a:buNone/>
            </a:pPr>
            <a:r>
              <a:rPr lang="en-IN" sz="2600" dirty="0" smtClean="0"/>
              <a:t>Raw </a:t>
            </a:r>
            <a:r>
              <a:rPr lang="en-IN" sz="2600" dirty="0"/>
              <a:t>materials </a:t>
            </a:r>
            <a:r>
              <a:rPr lang="en-IN" sz="2600" dirty="0" smtClean="0"/>
              <a:t>							</a:t>
            </a:r>
            <a:r>
              <a:rPr lang="en-IN" sz="2600" dirty="0"/>
              <a:t>	</a:t>
            </a:r>
            <a:r>
              <a:rPr lang="en-IN" sz="2600" dirty="0" smtClean="0"/>
              <a:t>160 </a:t>
            </a:r>
          </a:p>
          <a:p>
            <a:pPr marL="0" indent="0" algn="just">
              <a:buNone/>
            </a:pPr>
            <a:r>
              <a:rPr lang="en-IN" sz="2600" dirty="0" smtClean="0"/>
              <a:t>Direct </a:t>
            </a:r>
            <a:r>
              <a:rPr lang="en-IN" sz="2600" dirty="0"/>
              <a:t>labour </a:t>
            </a:r>
            <a:r>
              <a:rPr lang="en-IN" sz="2600" dirty="0" smtClean="0"/>
              <a:t>								  	  60 </a:t>
            </a:r>
          </a:p>
          <a:p>
            <a:pPr marL="0" indent="0" algn="just">
              <a:buNone/>
            </a:pPr>
            <a:r>
              <a:rPr lang="en-IN" sz="2600" dirty="0" smtClean="0"/>
              <a:t>Overheads 									120 </a:t>
            </a:r>
          </a:p>
          <a:p>
            <a:pPr marL="0" indent="0" algn="just">
              <a:buNone/>
            </a:pPr>
            <a:r>
              <a:rPr lang="en-IN" sz="2600" dirty="0" smtClean="0"/>
              <a:t>Total </a:t>
            </a:r>
            <a:r>
              <a:rPr lang="en-IN" sz="2600" dirty="0"/>
              <a:t>cost </a:t>
            </a:r>
            <a:r>
              <a:rPr lang="en-IN" sz="2600" dirty="0" smtClean="0"/>
              <a:t>									340 </a:t>
            </a:r>
          </a:p>
          <a:p>
            <a:pPr marL="0" indent="0" algn="just">
              <a:buNone/>
            </a:pPr>
            <a:r>
              <a:rPr lang="en-IN" sz="2600" dirty="0" smtClean="0"/>
              <a:t>Profit 										  60 </a:t>
            </a:r>
          </a:p>
          <a:p>
            <a:pPr marL="0" indent="0" algn="just">
              <a:buNone/>
            </a:pPr>
            <a:r>
              <a:rPr lang="en-IN" sz="2600" dirty="0" smtClean="0"/>
              <a:t>Selling </a:t>
            </a:r>
            <a:r>
              <a:rPr lang="en-IN" sz="2600" dirty="0"/>
              <a:t>price </a:t>
            </a:r>
            <a:r>
              <a:rPr lang="en-IN" sz="2600" dirty="0" smtClean="0"/>
              <a:t>									400 </a:t>
            </a:r>
          </a:p>
          <a:p>
            <a:pPr marL="0" indent="0" algn="just">
              <a:buNone/>
            </a:pPr>
            <a:r>
              <a:rPr lang="en-IN" sz="2600" dirty="0" smtClean="0"/>
              <a:t>Raw </a:t>
            </a:r>
            <a:r>
              <a:rPr lang="en-IN" sz="2600" dirty="0"/>
              <a:t>materials are held in stock on an average for one month. Materials are in process on an average for half-a-month. Finished goods are in stock on an average for one </a:t>
            </a:r>
            <a:r>
              <a:rPr lang="en-IN" sz="2600" dirty="0" smtClean="0"/>
              <a:t>month.</a:t>
            </a:r>
            <a:endParaRPr lang="en-IN" sz="2600" dirty="0"/>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08610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91381"/>
            <a:ext cx="10515600" cy="5085582"/>
          </a:xfrm>
        </p:spPr>
        <p:txBody>
          <a:bodyPr>
            <a:normAutofit/>
          </a:bodyPr>
          <a:lstStyle/>
          <a:p>
            <a:pPr marL="0" indent="0" algn="just">
              <a:buNone/>
            </a:pPr>
            <a:r>
              <a:rPr lang="en-IN" sz="2600" dirty="0" smtClean="0"/>
              <a:t>Credit </a:t>
            </a:r>
            <a:r>
              <a:rPr lang="en-IN" sz="2600" dirty="0"/>
              <a:t>allowed by suppliers is one month and credit allowed to debtors is two months. Time lag in payment of wages is 1½ weeks. Time lag in payment of overhead expenses is one month. One fourth of the sales are made on cash basis. Cash in hand and at the bank is expected to be Rs. 50,000; and expected level of production amounts to 1,04,000 units for a year of 52 </a:t>
            </a:r>
            <a:r>
              <a:rPr lang="en-IN" sz="2600" dirty="0" smtClean="0"/>
              <a:t>weeks. </a:t>
            </a:r>
            <a:endParaRPr lang="en-IN" sz="2600" dirty="0"/>
          </a:p>
          <a:p>
            <a:pPr marL="0" indent="0" algn="just">
              <a:buNone/>
            </a:pPr>
            <a:r>
              <a:rPr lang="en-US" sz="2600" dirty="0"/>
              <a:t>Assume that production is carried on evenly throughout the year, wages and overheads accrue similarly and a time period of four weeks is equivalent to a month.</a:t>
            </a:r>
            <a:endParaRPr lang="en-IN" sz="2600" dirty="0"/>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93495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50374"/>
            <a:ext cx="10515600" cy="5026589"/>
          </a:xfrm>
        </p:spPr>
        <p:txBody>
          <a:bodyPr>
            <a:normAutofit/>
          </a:bodyPr>
          <a:lstStyle/>
          <a:p>
            <a:pPr marL="0" indent="0">
              <a:buNone/>
            </a:pPr>
            <a:r>
              <a:rPr lang="en-IN" sz="2600" b="1" dirty="0" smtClean="0">
                <a:solidFill>
                  <a:srgbClr val="FF0000"/>
                </a:solidFill>
              </a:rPr>
              <a:t>Solution: </a:t>
            </a:r>
          </a:p>
          <a:p>
            <a:pPr marL="0" indent="0">
              <a:buNone/>
            </a:pPr>
            <a:r>
              <a:rPr lang="en-IN" sz="2600" b="1" dirty="0" smtClean="0">
                <a:solidFill>
                  <a:srgbClr val="FF0000"/>
                </a:solidFill>
              </a:rPr>
              <a:t>Working Note:</a:t>
            </a:r>
          </a:p>
          <a:p>
            <a:pPr marL="514350" indent="-514350">
              <a:buAutoNum type="alphaLcParenR"/>
            </a:pPr>
            <a:r>
              <a:rPr lang="en-IN" sz="2600" b="1" dirty="0" smtClean="0">
                <a:solidFill>
                  <a:srgbClr val="FF0000"/>
                </a:solidFill>
              </a:rPr>
              <a:t>Calculation of Cost of production for 8,000 units [4 weeks]: </a:t>
            </a:r>
          </a:p>
          <a:p>
            <a:pPr marL="0" indent="0">
              <a:buNone/>
            </a:pPr>
            <a:r>
              <a:rPr lang="en-IN" sz="2600" dirty="0"/>
              <a:t> </a:t>
            </a:r>
            <a:r>
              <a:rPr lang="en-IN" sz="2600" dirty="0" smtClean="0"/>
              <a:t>                                                                                                                  Rs.</a:t>
            </a:r>
          </a:p>
          <a:p>
            <a:pPr marL="0" indent="0">
              <a:buNone/>
            </a:pPr>
            <a:r>
              <a:rPr lang="en-IN" sz="2600" dirty="0"/>
              <a:t>Raw material </a:t>
            </a:r>
            <a:r>
              <a:rPr lang="en-IN" sz="2600" dirty="0" smtClean="0"/>
              <a:t>(8,000×Rs</a:t>
            </a:r>
            <a:r>
              <a:rPr lang="en-IN" sz="2600" dirty="0"/>
              <a:t>. </a:t>
            </a:r>
            <a:r>
              <a:rPr lang="en-IN" sz="2600" dirty="0" smtClean="0"/>
              <a:t>160</a:t>
            </a:r>
            <a:r>
              <a:rPr lang="en-IN" sz="2600" dirty="0"/>
              <a:t>) 			          </a:t>
            </a:r>
            <a:r>
              <a:rPr lang="en-IN" sz="2600" dirty="0" smtClean="0"/>
              <a:t>	          12,80,000 </a:t>
            </a:r>
            <a:endParaRPr lang="en-IN" sz="2600" dirty="0"/>
          </a:p>
          <a:p>
            <a:pPr marL="0" indent="0">
              <a:buNone/>
            </a:pPr>
            <a:r>
              <a:rPr lang="en-IN" sz="2600" dirty="0"/>
              <a:t>Direct labour </a:t>
            </a:r>
            <a:r>
              <a:rPr lang="en-IN" sz="2600" dirty="0" smtClean="0"/>
              <a:t>(8,000×Rs</a:t>
            </a:r>
            <a:r>
              <a:rPr lang="en-IN" sz="2600" dirty="0"/>
              <a:t>. </a:t>
            </a:r>
            <a:r>
              <a:rPr lang="en-IN" sz="2600" dirty="0" smtClean="0"/>
              <a:t>60) </a:t>
            </a:r>
            <a:r>
              <a:rPr lang="en-IN" sz="2600" dirty="0"/>
              <a:t>				</a:t>
            </a:r>
            <a:r>
              <a:rPr lang="en-IN" sz="2600" dirty="0" smtClean="0"/>
              <a:t>            4,80,000</a:t>
            </a:r>
            <a:endParaRPr lang="en-IN" sz="2600" dirty="0"/>
          </a:p>
          <a:p>
            <a:pPr marL="0" indent="0">
              <a:buNone/>
            </a:pPr>
            <a:r>
              <a:rPr lang="en-IN" sz="2600" dirty="0" smtClean="0"/>
              <a:t>Overheads (8,000×Rs</a:t>
            </a:r>
            <a:r>
              <a:rPr lang="en-IN" sz="2600" dirty="0"/>
              <a:t>. </a:t>
            </a:r>
            <a:r>
              <a:rPr lang="en-IN" sz="2600" dirty="0" smtClean="0"/>
              <a:t>120) </a:t>
            </a:r>
            <a:r>
              <a:rPr lang="en-IN" sz="2600" dirty="0"/>
              <a:t>	    </a:t>
            </a:r>
            <a:r>
              <a:rPr lang="en-IN" sz="2600" dirty="0" smtClean="0"/>
              <a:t>   		          	            9,60,000 </a:t>
            </a:r>
            <a:endParaRPr lang="en-IN" sz="2600" dirty="0"/>
          </a:p>
          <a:p>
            <a:pPr marL="0" indent="0">
              <a:buNone/>
            </a:pPr>
            <a:r>
              <a:rPr lang="en-IN" sz="2600" b="1" dirty="0">
                <a:solidFill>
                  <a:srgbClr val="FF0000"/>
                </a:solidFill>
              </a:rPr>
              <a:t>Total Cost </a:t>
            </a:r>
            <a:r>
              <a:rPr lang="en-IN" sz="2600" b="1" dirty="0" smtClean="0">
                <a:solidFill>
                  <a:srgbClr val="FF0000"/>
                </a:solidFill>
              </a:rPr>
              <a:t>of production</a:t>
            </a:r>
            <a:r>
              <a:rPr lang="en-IN" sz="2600" b="1" dirty="0">
                <a:solidFill>
                  <a:srgbClr val="FF0000"/>
                </a:solidFill>
              </a:rPr>
              <a:t> </a:t>
            </a:r>
            <a:r>
              <a:rPr lang="en-IN" sz="2600" b="1" dirty="0" smtClean="0">
                <a:solidFill>
                  <a:srgbClr val="FF0000"/>
                </a:solidFill>
              </a:rPr>
              <a:t>per month </a:t>
            </a:r>
            <a:r>
              <a:rPr lang="en-IN" sz="2600" b="1" dirty="0">
                <a:solidFill>
                  <a:srgbClr val="FF0000"/>
                </a:solidFill>
              </a:rPr>
              <a:t>			</a:t>
            </a:r>
            <a:r>
              <a:rPr lang="en-IN" sz="2600" b="1" dirty="0" smtClean="0">
                <a:solidFill>
                  <a:srgbClr val="FF0000"/>
                </a:solidFill>
              </a:rPr>
              <a:t>          27,20,000</a:t>
            </a:r>
            <a:endParaRPr lang="en-IN" sz="2600" b="1" dirty="0">
              <a:solidFill>
                <a:srgbClr val="FF0000"/>
              </a:solidFill>
            </a:endParaRPr>
          </a:p>
          <a:p>
            <a:pPr marL="0" indent="0">
              <a:buNone/>
            </a:pPr>
            <a:endParaRPr lang="en-IN" sz="2600" dirty="0"/>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550155"/>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64532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0437"/>
            <a:ext cx="10515600" cy="5669630"/>
          </a:xfrm>
        </p:spPr>
        <p:txBody>
          <a:bodyPr/>
          <a:lstStyle/>
          <a:p>
            <a:pPr marL="0" indent="0">
              <a:buNone/>
            </a:pPr>
            <a:r>
              <a:rPr lang="en-IN" sz="2600" b="1" dirty="0" smtClean="0">
                <a:solidFill>
                  <a:srgbClr val="FF0000"/>
                </a:solidFill>
              </a:rPr>
              <a:t>Solution:        Statement showing working capital requirements:</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493330423"/>
              </p:ext>
            </p:extLst>
          </p:nvPr>
        </p:nvGraphicFramePr>
        <p:xfrm>
          <a:off x="838200" y="1387507"/>
          <a:ext cx="10515600" cy="5242560"/>
        </p:xfrm>
        <a:graphic>
          <a:graphicData uri="http://schemas.openxmlformats.org/drawingml/2006/table">
            <a:tbl>
              <a:tblPr firstRow="1" bandRow="1">
                <a:tableStyleId>{5C22544A-7EE6-4342-B048-85BDC9FD1C3A}</a:tableStyleId>
              </a:tblPr>
              <a:tblGrid>
                <a:gridCol w="769374">
                  <a:extLst>
                    <a:ext uri="{9D8B030D-6E8A-4147-A177-3AD203B41FA5}">
                      <a16:colId xmlns:a16="http://schemas.microsoft.com/office/drawing/2014/main" val="1320661344"/>
                    </a:ext>
                  </a:extLst>
                </a:gridCol>
                <a:gridCol w="6636774">
                  <a:extLst>
                    <a:ext uri="{9D8B030D-6E8A-4147-A177-3AD203B41FA5}">
                      <a16:colId xmlns:a16="http://schemas.microsoft.com/office/drawing/2014/main" val="3234151637"/>
                    </a:ext>
                  </a:extLst>
                </a:gridCol>
                <a:gridCol w="1504336">
                  <a:extLst>
                    <a:ext uri="{9D8B030D-6E8A-4147-A177-3AD203B41FA5}">
                      <a16:colId xmlns:a16="http://schemas.microsoft.com/office/drawing/2014/main" val="1389087919"/>
                    </a:ext>
                  </a:extLst>
                </a:gridCol>
                <a:gridCol w="1605116">
                  <a:extLst>
                    <a:ext uri="{9D8B030D-6E8A-4147-A177-3AD203B41FA5}">
                      <a16:colId xmlns:a16="http://schemas.microsoft.com/office/drawing/2014/main" val="2220915326"/>
                    </a:ext>
                  </a:extLst>
                </a:gridCol>
              </a:tblGrid>
              <a:tr h="356553">
                <a:tc>
                  <a:txBody>
                    <a:bodyPr/>
                    <a:lstStyle/>
                    <a:p>
                      <a:pPr algn="ctr"/>
                      <a:endParaRPr lang="en-IN" dirty="0"/>
                    </a:p>
                  </a:txBody>
                  <a:tcPr/>
                </a:tc>
                <a:tc>
                  <a:txBody>
                    <a:bodyPr/>
                    <a:lstStyle/>
                    <a:p>
                      <a:pPr algn="ctr"/>
                      <a:r>
                        <a:rPr lang="en-IN" dirty="0" smtClean="0"/>
                        <a:t>Particulars</a:t>
                      </a:r>
                      <a:endParaRPr lang="en-IN" dirty="0"/>
                    </a:p>
                  </a:txBody>
                  <a:tcPr/>
                </a:tc>
                <a:tc>
                  <a:txBody>
                    <a:bodyPr/>
                    <a:lstStyle/>
                    <a:p>
                      <a:pPr algn="r"/>
                      <a:r>
                        <a:rPr lang="en-IN" dirty="0" smtClean="0"/>
                        <a:t>Rs.</a:t>
                      </a:r>
                      <a:endParaRPr lang="en-IN" dirty="0"/>
                    </a:p>
                  </a:txBody>
                  <a:tcPr/>
                </a:tc>
                <a:tc>
                  <a:txBody>
                    <a:bodyPr/>
                    <a:lstStyle/>
                    <a:p>
                      <a:pPr algn="r"/>
                      <a:r>
                        <a:rPr lang="en-IN" dirty="0" smtClean="0"/>
                        <a:t>Rs.</a:t>
                      </a:r>
                      <a:endParaRPr lang="en-IN" dirty="0"/>
                    </a:p>
                  </a:txBody>
                  <a:tcPr/>
                </a:tc>
                <a:extLst>
                  <a:ext uri="{0D108BD9-81ED-4DB2-BD59-A6C34878D82A}">
                    <a16:rowId xmlns:a16="http://schemas.microsoft.com/office/drawing/2014/main" val="4097373910"/>
                  </a:ext>
                </a:extLst>
              </a:tr>
              <a:tr h="439586">
                <a:tc>
                  <a:txBody>
                    <a:bodyPr/>
                    <a:lstStyle/>
                    <a:p>
                      <a:endParaRPr lang="en-IN" sz="2400" b="1" dirty="0">
                        <a:solidFill>
                          <a:srgbClr val="FF0000"/>
                        </a:solidFill>
                      </a:endParaRPr>
                    </a:p>
                  </a:txBody>
                  <a:tcPr/>
                </a:tc>
                <a:tc>
                  <a:txBody>
                    <a:bodyPr/>
                    <a:lstStyle/>
                    <a:p>
                      <a:r>
                        <a:rPr lang="en-IN" sz="2600" b="1" dirty="0" smtClean="0">
                          <a:solidFill>
                            <a:srgbClr val="FF0000"/>
                          </a:solidFill>
                        </a:rPr>
                        <a:t>A) Current Assets:</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endParaRPr lang="en-IN" sz="2600" b="1" dirty="0">
                        <a:solidFill>
                          <a:srgbClr val="FF0000"/>
                        </a:solidFill>
                      </a:endParaRPr>
                    </a:p>
                  </a:txBody>
                  <a:tcPr/>
                </a:tc>
                <a:extLst>
                  <a:ext uri="{0D108BD9-81ED-4DB2-BD59-A6C34878D82A}">
                    <a16:rowId xmlns:a16="http://schemas.microsoft.com/office/drawing/2014/main" val="2304704551"/>
                  </a:ext>
                </a:extLst>
              </a:tr>
              <a:tr h="439586">
                <a:tc>
                  <a:txBody>
                    <a:bodyPr/>
                    <a:lstStyle/>
                    <a:p>
                      <a:endParaRPr lang="en-IN" sz="2400"/>
                    </a:p>
                  </a:txBody>
                  <a:tcPr/>
                </a:tc>
                <a:tc>
                  <a:txBody>
                    <a:bodyPr/>
                    <a:lstStyle/>
                    <a:p>
                      <a:r>
                        <a:rPr lang="en-IN" sz="2600" dirty="0" smtClean="0"/>
                        <a:t>Minimum cash balance </a:t>
                      </a:r>
                      <a:endParaRPr lang="en-IN" sz="2600" dirty="0"/>
                    </a:p>
                  </a:txBody>
                  <a:tcPr/>
                </a:tc>
                <a:tc>
                  <a:txBody>
                    <a:bodyPr/>
                    <a:lstStyle/>
                    <a:p>
                      <a:pPr algn="r"/>
                      <a:endParaRPr lang="en-IN" sz="2600" dirty="0"/>
                    </a:p>
                  </a:txBody>
                  <a:tcPr/>
                </a:tc>
                <a:tc>
                  <a:txBody>
                    <a:bodyPr/>
                    <a:lstStyle/>
                    <a:p>
                      <a:pPr algn="r"/>
                      <a:r>
                        <a:rPr lang="en-IN" sz="2600" dirty="0" smtClean="0"/>
                        <a:t>50,000</a:t>
                      </a:r>
                      <a:endParaRPr lang="en-IN" sz="2600" dirty="0"/>
                    </a:p>
                  </a:txBody>
                  <a:tcPr/>
                </a:tc>
                <a:extLst>
                  <a:ext uri="{0D108BD9-81ED-4DB2-BD59-A6C34878D82A}">
                    <a16:rowId xmlns:a16="http://schemas.microsoft.com/office/drawing/2014/main" val="3456548249"/>
                  </a:ext>
                </a:extLst>
              </a:tr>
              <a:tr h="439586">
                <a:tc>
                  <a:txBody>
                    <a:bodyPr/>
                    <a:lstStyle/>
                    <a:p>
                      <a:endParaRPr lang="en-IN" sz="2400"/>
                    </a:p>
                  </a:txBody>
                  <a:tcPr/>
                </a:tc>
                <a:tc>
                  <a:txBody>
                    <a:bodyPr/>
                    <a:lstStyle/>
                    <a:p>
                      <a:r>
                        <a:rPr lang="en-IN" sz="2600" dirty="0" smtClean="0"/>
                        <a:t>Raw materials [one</a:t>
                      </a:r>
                      <a:r>
                        <a:rPr lang="en-IN" sz="2600" baseline="0" dirty="0" smtClean="0"/>
                        <a:t> month</a:t>
                      </a:r>
                      <a:r>
                        <a:rPr lang="en-IN" sz="2600" dirty="0" smtClean="0"/>
                        <a:t>]</a:t>
                      </a:r>
                      <a:endParaRPr lang="en-IN" sz="2600" dirty="0"/>
                    </a:p>
                  </a:txBody>
                  <a:tcPr/>
                </a:tc>
                <a:tc>
                  <a:txBody>
                    <a:bodyPr/>
                    <a:lstStyle/>
                    <a:p>
                      <a:pPr algn="r"/>
                      <a:endParaRPr lang="en-IN" sz="2600" dirty="0"/>
                    </a:p>
                  </a:txBody>
                  <a:tcPr/>
                </a:tc>
                <a:tc>
                  <a:txBody>
                    <a:bodyPr/>
                    <a:lstStyle/>
                    <a:p>
                      <a:pPr algn="r"/>
                      <a:r>
                        <a:rPr lang="en-IN" sz="2600" dirty="0" smtClean="0"/>
                        <a:t>12,80,000</a:t>
                      </a:r>
                      <a:endParaRPr lang="en-IN" sz="2600" dirty="0"/>
                    </a:p>
                  </a:txBody>
                  <a:tcPr/>
                </a:tc>
                <a:extLst>
                  <a:ext uri="{0D108BD9-81ED-4DB2-BD59-A6C34878D82A}">
                    <a16:rowId xmlns:a16="http://schemas.microsoft.com/office/drawing/2014/main" val="1212104400"/>
                  </a:ext>
                </a:extLst>
              </a:tr>
              <a:tr h="439586">
                <a:tc>
                  <a:txBody>
                    <a:bodyPr/>
                    <a:lstStyle/>
                    <a:p>
                      <a:endParaRPr lang="en-IN" sz="2400"/>
                    </a:p>
                  </a:txBody>
                  <a:tcPr/>
                </a:tc>
                <a:tc>
                  <a:txBody>
                    <a:bodyPr/>
                    <a:lstStyle/>
                    <a:p>
                      <a:r>
                        <a:rPr lang="en-IN" sz="2600" dirty="0" smtClean="0"/>
                        <a:t>Work in progress</a:t>
                      </a:r>
                      <a:r>
                        <a:rPr lang="en-IN" sz="2600" baseline="0" dirty="0" smtClean="0"/>
                        <a:t> </a:t>
                      </a:r>
                      <a:r>
                        <a:rPr lang="en-IN" sz="2600" b="1" baseline="0" dirty="0" smtClean="0">
                          <a:solidFill>
                            <a:srgbClr val="FF0000"/>
                          </a:solidFill>
                        </a:rPr>
                        <a:t>[100% M +50%L+50%O/H]</a:t>
                      </a:r>
                      <a:endParaRPr lang="en-IN" sz="2600" b="1" dirty="0" smtClean="0">
                        <a:solidFill>
                          <a:srgbClr val="FF0000"/>
                        </a:solidFill>
                      </a:endParaRPr>
                    </a:p>
                  </a:txBody>
                  <a:tcPr/>
                </a:tc>
                <a:tc>
                  <a:txBody>
                    <a:bodyPr/>
                    <a:lstStyle/>
                    <a:p>
                      <a:pPr algn="r"/>
                      <a:endParaRPr lang="en-IN" sz="2600" dirty="0"/>
                    </a:p>
                  </a:txBody>
                  <a:tcPr/>
                </a:tc>
                <a:tc>
                  <a:txBody>
                    <a:bodyPr/>
                    <a:lstStyle/>
                    <a:p>
                      <a:pPr algn="r"/>
                      <a:endParaRPr lang="en-IN" sz="2600" dirty="0"/>
                    </a:p>
                  </a:txBody>
                  <a:tcPr/>
                </a:tc>
                <a:extLst>
                  <a:ext uri="{0D108BD9-81ED-4DB2-BD59-A6C34878D82A}">
                    <a16:rowId xmlns:a16="http://schemas.microsoft.com/office/drawing/2014/main" val="2518614336"/>
                  </a:ext>
                </a:extLst>
              </a:tr>
              <a:tr h="439586">
                <a:tc>
                  <a:txBody>
                    <a:bodyPr/>
                    <a:lstStyle/>
                    <a:p>
                      <a:endParaRPr lang="en-IN" sz="2400"/>
                    </a:p>
                  </a:txBody>
                  <a:tcPr/>
                </a:tc>
                <a:tc>
                  <a:txBody>
                    <a:bodyPr/>
                    <a:lstStyle/>
                    <a:p>
                      <a:r>
                        <a:rPr lang="en-IN" sz="2600" dirty="0" smtClean="0"/>
                        <a:t>         Raw</a:t>
                      </a:r>
                      <a:r>
                        <a:rPr lang="en-IN" sz="2600" baseline="0" dirty="0" smtClean="0"/>
                        <a:t> materials </a:t>
                      </a:r>
                      <a:r>
                        <a:rPr lang="en-IN" sz="2600" dirty="0" smtClean="0"/>
                        <a:t>[Rs. 12,80,000×1/2]</a:t>
                      </a:r>
                      <a:endParaRPr lang="en-IN" sz="2600" dirty="0"/>
                    </a:p>
                  </a:txBody>
                  <a:tcPr/>
                </a:tc>
                <a:tc>
                  <a:txBody>
                    <a:bodyPr/>
                    <a:lstStyle/>
                    <a:p>
                      <a:pPr algn="r"/>
                      <a:r>
                        <a:rPr lang="en-IN" sz="2600" dirty="0" smtClean="0"/>
                        <a:t>6,40,000</a:t>
                      </a:r>
                      <a:endParaRPr lang="en-IN" sz="2600" dirty="0"/>
                    </a:p>
                  </a:txBody>
                  <a:tcPr/>
                </a:tc>
                <a:tc>
                  <a:txBody>
                    <a:bodyPr/>
                    <a:lstStyle/>
                    <a:p>
                      <a:pPr algn="r"/>
                      <a:endParaRPr lang="en-IN" sz="2600" dirty="0"/>
                    </a:p>
                  </a:txBody>
                  <a:tcPr/>
                </a:tc>
                <a:extLst>
                  <a:ext uri="{0D108BD9-81ED-4DB2-BD59-A6C34878D82A}">
                    <a16:rowId xmlns:a16="http://schemas.microsoft.com/office/drawing/2014/main" val="1757284129"/>
                  </a:ext>
                </a:extLst>
              </a:tr>
              <a:tr h="439586">
                <a:tc>
                  <a:txBody>
                    <a:bodyPr/>
                    <a:lstStyle/>
                    <a:p>
                      <a:endParaRPr lang="en-IN" sz="2400"/>
                    </a:p>
                  </a:txBody>
                  <a:tcPr/>
                </a:tc>
                <a:tc>
                  <a:txBody>
                    <a:bodyPr/>
                    <a:lstStyle/>
                    <a:p>
                      <a:r>
                        <a:rPr lang="en-IN" sz="2600" dirty="0" smtClean="0"/>
                        <a:t>         Labour [Rs.4,80,000×1/2×1/2]</a:t>
                      </a:r>
                      <a:endParaRPr lang="en-IN" sz="2600" dirty="0"/>
                    </a:p>
                  </a:txBody>
                  <a:tcPr/>
                </a:tc>
                <a:tc>
                  <a:txBody>
                    <a:bodyPr/>
                    <a:lstStyle/>
                    <a:p>
                      <a:pPr algn="r"/>
                      <a:r>
                        <a:rPr lang="en-IN" sz="2600" dirty="0" smtClean="0"/>
                        <a:t>1,20,000</a:t>
                      </a:r>
                      <a:endParaRPr lang="en-IN" sz="2600" dirty="0"/>
                    </a:p>
                  </a:txBody>
                  <a:tcPr/>
                </a:tc>
                <a:tc>
                  <a:txBody>
                    <a:bodyPr/>
                    <a:lstStyle/>
                    <a:p>
                      <a:pPr algn="r"/>
                      <a:endParaRPr lang="en-IN" sz="2600" dirty="0"/>
                    </a:p>
                  </a:txBody>
                  <a:tcPr/>
                </a:tc>
                <a:extLst>
                  <a:ext uri="{0D108BD9-81ED-4DB2-BD59-A6C34878D82A}">
                    <a16:rowId xmlns:a16="http://schemas.microsoft.com/office/drawing/2014/main" val="2639623378"/>
                  </a:ext>
                </a:extLst>
              </a:tr>
              <a:tr h="439586">
                <a:tc>
                  <a:txBody>
                    <a:bodyPr/>
                    <a:lstStyle/>
                    <a:p>
                      <a:endParaRPr lang="en-IN" sz="2400"/>
                    </a:p>
                  </a:txBody>
                  <a:tcPr/>
                </a:tc>
                <a:tc>
                  <a:txBody>
                    <a:bodyPr/>
                    <a:lstStyle/>
                    <a:p>
                      <a:r>
                        <a:rPr lang="en-IN" sz="2600" dirty="0" smtClean="0"/>
                        <a:t>         Overheads [Rs. 9,60,000×1/2×1/2]</a:t>
                      </a:r>
                      <a:endParaRPr lang="en-IN" sz="2600" dirty="0"/>
                    </a:p>
                  </a:txBody>
                  <a:tcPr/>
                </a:tc>
                <a:tc>
                  <a:txBody>
                    <a:bodyPr/>
                    <a:lstStyle/>
                    <a:p>
                      <a:pPr algn="r"/>
                      <a:r>
                        <a:rPr lang="en-IN" sz="2600" dirty="0" smtClean="0"/>
                        <a:t>2,40,000</a:t>
                      </a:r>
                      <a:endParaRPr lang="en-IN" sz="2600" dirty="0"/>
                    </a:p>
                  </a:txBody>
                  <a:tcPr/>
                </a:tc>
                <a:tc>
                  <a:txBody>
                    <a:bodyPr/>
                    <a:lstStyle/>
                    <a:p>
                      <a:pPr algn="r"/>
                      <a:r>
                        <a:rPr lang="en-IN" sz="2600" dirty="0" smtClean="0"/>
                        <a:t>10,00,000</a:t>
                      </a:r>
                      <a:endParaRPr lang="en-IN" sz="2600" dirty="0"/>
                    </a:p>
                  </a:txBody>
                  <a:tcPr/>
                </a:tc>
                <a:extLst>
                  <a:ext uri="{0D108BD9-81ED-4DB2-BD59-A6C34878D82A}">
                    <a16:rowId xmlns:a16="http://schemas.microsoft.com/office/drawing/2014/main" val="1800410368"/>
                  </a:ext>
                </a:extLst>
              </a:tr>
              <a:tr h="439586">
                <a:tc>
                  <a:txBody>
                    <a:bodyPr/>
                    <a:lstStyle/>
                    <a:p>
                      <a:endParaRPr lang="en-IN" sz="2400" dirty="0"/>
                    </a:p>
                  </a:txBody>
                  <a:tcPr/>
                </a:tc>
                <a:tc>
                  <a:txBody>
                    <a:bodyPr/>
                    <a:lstStyle/>
                    <a:p>
                      <a:r>
                        <a:rPr lang="en-IN" sz="2600" dirty="0" smtClean="0"/>
                        <a:t>Finished Goods [one</a:t>
                      </a:r>
                      <a:r>
                        <a:rPr lang="en-IN" sz="2600" baseline="0" dirty="0" smtClean="0"/>
                        <a:t> month</a:t>
                      </a:r>
                      <a:r>
                        <a:rPr lang="en-IN" sz="2600" dirty="0" smtClean="0"/>
                        <a:t>]</a:t>
                      </a:r>
                      <a:endParaRPr lang="en-IN" sz="2600" dirty="0"/>
                    </a:p>
                  </a:txBody>
                  <a:tcPr/>
                </a:tc>
                <a:tc>
                  <a:txBody>
                    <a:bodyPr/>
                    <a:lstStyle/>
                    <a:p>
                      <a:pPr algn="r"/>
                      <a:endParaRPr lang="en-IN" sz="2600" dirty="0"/>
                    </a:p>
                  </a:txBody>
                  <a:tcPr/>
                </a:tc>
                <a:tc>
                  <a:txBody>
                    <a:bodyPr/>
                    <a:lstStyle/>
                    <a:p>
                      <a:pPr algn="r"/>
                      <a:r>
                        <a:rPr lang="en-IN" sz="2600" dirty="0" smtClean="0"/>
                        <a:t>27,20,000</a:t>
                      </a:r>
                      <a:endParaRPr lang="en-IN" sz="2600" dirty="0"/>
                    </a:p>
                  </a:txBody>
                  <a:tcPr/>
                </a:tc>
                <a:extLst>
                  <a:ext uri="{0D108BD9-81ED-4DB2-BD59-A6C34878D82A}">
                    <a16:rowId xmlns:a16="http://schemas.microsoft.com/office/drawing/2014/main" val="1157294668"/>
                  </a:ext>
                </a:extLst>
              </a:tr>
              <a:tr h="439586">
                <a:tc>
                  <a:txBody>
                    <a:bodyPr/>
                    <a:lstStyle/>
                    <a:p>
                      <a:endParaRPr lang="en-IN" sz="2400" b="1" dirty="0">
                        <a:solidFill>
                          <a:srgbClr val="FF0000"/>
                        </a:solidFill>
                      </a:endParaRPr>
                    </a:p>
                  </a:txBody>
                  <a:tcPr/>
                </a:tc>
                <a:tc>
                  <a:txBody>
                    <a:bodyPr/>
                    <a:lstStyle/>
                    <a:p>
                      <a:r>
                        <a:rPr lang="en-IN" sz="2600" dirty="0" smtClean="0"/>
                        <a:t>Debtors [Rs. 27,20,000×75%×2]</a:t>
                      </a:r>
                      <a:endParaRPr lang="en-IN" sz="2600" dirty="0"/>
                    </a:p>
                  </a:txBody>
                  <a:tcPr/>
                </a:tc>
                <a:tc>
                  <a:txBody>
                    <a:bodyPr/>
                    <a:lstStyle/>
                    <a:p>
                      <a:pPr algn="r"/>
                      <a:endParaRPr lang="en-IN" sz="2600" dirty="0"/>
                    </a:p>
                  </a:txBody>
                  <a:tcPr/>
                </a:tc>
                <a:tc>
                  <a:txBody>
                    <a:bodyPr/>
                    <a:lstStyle/>
                    <a:p>
                      <a:pPr algn="r"/>
                      <a:r>
                        <a:rPr lang="en-IN" sz="2600" dirty="0" smtClean="0"/>
                        <a:t>40,80,000</a:t>
                      </a:r>
                      <a:endParaRPr lang="en-IN" sz="2600" dirty="0"/>
                    </a:p>
                  </a:txBody>
                  <a:tcPr/>
                </a:tc>
                <a:extLst>
                  <a:ext uri="{0D108BD9-81ED-4DB2-BD59-A6C34878D82A}">
                    <a16:rowId xmlns:a16="http://schemas.microsoft.com/office/drawing/2014/main" val="2413885677"/>
                  </a:ext>
                </a:extLst>
              </a:tr>
              <a:tr h="439586">
                <a:tc>
                  <a:txBody>
                    <a:bodyPr/>
                    <a:lstStyle/>
                    <a:p>
                      <a:endParaRPr lang="en-IN" sz="2400" b="1"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1" dirty="0" smtClean="0">
                          <a:solidFill>
                            <a:srgbClr val="FF0000"/>
                          </a:solidFill>
                        </a:rPr>
                        <a:t>Total Current Assets [A]</a:t>
                      </a: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91,30,000</a:t>
                      </a:r>
                      <a:endParaRPr lang="en-IN" sz="2600" b="1" dirty="0">
                        <a:solidFill>
                          <a:srgbClr val="FF0000"/>
                        </a:solidFill>
                      </a:endParaRPr>
                    </a:p>
                  </a:txBody>
                  <a:tcPr/>
                </a:tc>
                <a:extLst>
                  <a:ext uri="{0D108BD9-81ED-4DB2-BD59-A6C34878D82A}">
                    <a16:rowId xmlns:a16="http://schemas.microsoft.com/office/drawing/2014/main" val="685892551"/>
                  </a:ext>
                </a:extLst>
              </a:tr>
            </a:tbl>
          </a:graphicData>
        </a:graphic>
      </p:graphicFrame>
      <p:pic>
        <p:nvPicPr>
          <p:cNvPr id="5" name="Picture 4"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3134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72477337"/>
              </p:ext>
            </p:extLst>
          </p:nvPr>
        </p:nvGraphicFramePr>
        <p:xfrm>
          <a:off x="838200" y="1039106"/>
          <a:ext cx="10515600" cy="2809240"/>
        </p:xfrm>
        <a:graphic>
          <a:graphicData uri="http://schemas.openxmlformats.org/drawingml/2006/table">
            <a:tbl>
              <a:tblPr firstRow="1" bandRow="1">
                <a:tableStyleId>{5C22544A-7EE6-4342-B048-85BDC9FD1C3A}</a:tableStyleId>
              </a:tblPr>
              <a:tblGrid>
                <a:gridCol w="872613">
                  <a:extLst>
                    <a:ext uri="{9D8B030D-6E8A-4147-A177-3AD203B41FA5}">
                      <a16:colId xmlns:a16="http://schemas.microsoft.com/office/drawing/2014/main" val="2156627544"/>
                    </a:ext>
                  </a:extLst>
                </a:gridCol>
                <a:gridCol w="6577781">
                  <a:extLst>
                    <a:ext uri="{9D8B030D-6E8A-4147-A177-3AD203B41FA5}">
                      <a16:colId xmlns:a16="http://schemas.microsoft.com/office/drawing/2014/main" val="1280784742"/>
                    </a:ext>
                  </a:extLst>
                </a:gridCol>
                <a:gridCol w="1519083">
                  <a:extLst>
                    <a:ext uri="{9D8B030D-6E8A-4147-A177-3AD203B41FA5}">
                      <a16:colId xmlns:a16="http://schemas.microsoft.com/office/drawing/2014/main" val="2816569001"/>
                    </a:ext>
                  </a:extLst>
                </a:gridCol>
                <a:gridCol w="1546123">
                  <a:extLst>
                    <a:ext uri="{9D8B030D-6E8A-4147-A177-3AD203B41FA5}">
                      <a16:colId xmlns:a16="http://schemas.microsoft.com/office/drawing/2014/main" val="1595518488"/>
                    </a:ext>
                  </a:extLst>
                </a:gridCol>
              </a:tblGrid>
              <a:tr h="370840">
                <a:tc>
                  <a:txBody>
                    <a:bodyPr/>
                    <a:lstStyle/>
                    <a:p>
                      <a:pPr algn="ctr"/>
                      <a:r>
                        <a:rPr lang="en-IN" dirty="0" smtClean="0"/>
                        <a:t>,</a:t>
                      </a:r>
                      <a:endParaRPr lang="en-IN" dirty="0"/>
                    </a:p>
                  </a:txBody>
                  <a:tcPr/>
                </a:tc>
                <a:tc>
                  <a:txBody>
                    <a:bodyPr/>
                    <a:lstStyle/>
                    <a:p>
                      <a:pPr algn="ctr"/>
                      <a:r>
                        <a:rPr lang="en-IN" dirty="0" smtClean="0"/>
                        <a:t>Particulars</a:t>
                      </a:r>
                      <a:endParaRPr lang="en-IN" dirty="0"/>
                    </a:p>
                  </a:txBody>
                  <a:tcPr/>
                </a:tc>
                <a:tc>
                  <a:txBody>
                    <a:bodyPr/>
                    <a:lstStyle/>
                    <a:p>
                      <a:pPr algn="r"/>
                      <a:r>
                        <a:rPr lang="en-IN" dirty="0" smtClean="0"/>
                        <a:t>Rs.</a:t>
                      </a:r>
                      <a:endParaRPr lang="en-IN" dirty="0"/>
                    </a:p>
                  </a:txBody>
                  <a:tcPr/>
                </a:tc>
                <a:tc>
                  <a:txBody>
                    <a:bodyPr/>
                    <a:lstStyle/>
                    <a:p>
                      <a:pPr algn="r"/>
                      <a:r>
                        <a:rPr lang="en-IN" dirty="0" smtClean="0"/>
                        <a:t>Rs.</a:t>
                      </a:r>
                      <a:endParaRPr lang="en-IN" dirty="0"/>
                    </a:p>
                  </a:txBody>
                  <a:tcPr/>
                </a:tc>
                <a:extLst>
                  <a:ext uri="{0D108BD9-81ED-4DB2-BD59-A6C34878D82A}">
                    <a16:rowId xmlns:a16="http://schemas.microsoft.com/office/drawing/2014/main" val="1197908108"/>
                  </a:ext>
                </a:extLst>
              </a:tr>
              <a:tr h="370840">
                <a:tc>
                  <a:txBody>
                    <a:bodyPr/>
                    <a:lstStyle/>
                    <a:p>
                      <a:pPr algn="ctr"/>
                      <a:r>
                        <a:rPr lang="en-IN" sz="2600" b="1" dirty="0" smtClean="0">
                          <a:solidFill>
                            <a:srgbClr val="FF0000"/>
                          </a:solidFill>
                        </a:rPr>
                        <a:t>Less</a:t>
                      </a:r>
                      <a:endParaRPr lang="en-IN" sz="2600" b="1" dirty="0">
                        <a:solidFill>
                          <a:srgbClr val="FF0000"/>
                        </a:solidFill>
                      </a:endParaRPr>
                    </a:p>
                  </a:txBody>
                  <a:tcPr/>
                </a:tc>
                <a:tc>
                  <a:txBody>
                    <a:bodyPr/>
                    <a:lstStyle/>
                    <a:p>
                      <a:r>
                        <a:rPr lang="en-IN" sz="2600" b="1" dirty="0" smtClean="0">
                          <a:solidFill>
                            <a:srgbClr val="FF0000"/>
                          </a:solidFill>
                        </a:rPr>
                        <a:t>B) Current Liabilities: </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endParaRPr lang="en-IN" sz="2600" b="1" dirty="0">
                        <a:solidFill>
                          <a:srgbClr val="FF0000"/>
                        </a:solidFill>
                      </a:endParaRPr>
                    </a:p>
                  </a:txBody>
                  <a:tcPr/>
                </a:tc>
                <a:extLst>
                  <a:ext uri="{0D108BD9-81ED-4DB2-BD59-A6C34878D82A}">
                    <a16:rowId xmlns:a16="http://schemas.microsoft.com/office/drawing/2014/main" val="4182250095"/>
                  </a:ext>
                </a:extLst>
              </a:tr>
              <a:tr h="370840">
                <a:tc>
                  <a:txBody>
                    <a:bodyPr/>
                    <a:lstStyle/>
                    <a:p>
                      <a:pPr algn="ctr"/>
                      <a:endParaRPr lang="en-IN" sz="2600" dirty="0"/>
                    </a:p>
                  </a:txBody>
                  <a:tcPr/>
                </a:tc>
                <a:tc>
                  <a:txBody>
                    <a:bodyPr/>
                    <a:lstStyle/>
                    <a:p>
                      <a:r>
                        <a:rPr lang="en-IN" sz="2600" dirty="0" smtClean="0"/>
                        <a:t>Creditors for raw</a:t>
                      </a:r>
                      <a:r>
                        <a:rPr lang="en-IN" sz="2600" baseline="0" dirty="0" smtClean="0"/>
                        <a:t> materials [one month]</a:t>
                      </a:r>
                      <a:endParaRPr lang="en-IN" sz="2600" dirty="0"/>
                    </a:p>
                  </a:txBody>
                  <a:tcPr/>
                </a:tc>
                <a:tc>
                  <a:txBody>
                    <a:bodyPr/>
                    <a:lstStyle/>
                    <a:p>
                      <a:pPr algn="r"/>
                      <a:r>
                        <a:rPr lang="en-IN" sz="2600" dirty="0" smtClean="0"/>
                        <a:t>12,80,000</a:t>
                      </a:r>
                      <a:endParaRPr lang="en-IN" sz="2600" dirty="0"/>
                    </a:p>
                  </a:txBody>
                  <a:tcPr/>
                </a:tc>
                <a:tc>
                  <a:txBody>
                    <a:bodyPr/>
                    <a:lstStyle/>
                    <a:p>
                      <a:pPr algn="r"/>
                      <a:endParaRPr lang="en-IN" sz="2600" dirty="0"/>
                    </a:p>
                  </a:txBody>
                  <a:tcPr/>
                </a:tc>
                <a:extLst>
                  <a:ext uri="{0D108BD9-81ED-4DB2-BD59-A6C34878D82A}">
                    <a16:rowId xmlns:a16="http://schemas.microsoft.com/office/drawing/2014/main" val="4100144371"/>
                  </a:ext>
                </a:extLst>
              </a:tr>
              <a:tr h="370840">
                <a:tc>
                  <a:txBody>
                    <a:bodyPr/>
                    <a:lstStyle/>
                    <a:p>
                      <a:pPr algn="ctr"/>
                      <a:endParaRPr lang="en-IN" sz="2600" b="1">
                        <a:solidFill>
                          <a:srgbClr val="FF0000"/>
                        </a:solidFill>
                      </a:endParaRPr>
                    </a:p>
                  </a:txBody>
                  <a:tcPr/>
                </a:tc>
                <a:tc>
                  <a:txBody>
                    <a:bodyPr/>
                    <a:lstStyle/>
                    <a:p>
                      <a:r>
                        <a:rPr lang="en-IN" sz="2600" b="0" dirty="0" smtClean="0">
                          <a:solidFill>
                            <a:schemeClr val="tx1"/>
                          </a:solidFill>
                        </a:rPr>
                        <a:t>Creditors for</a:t>
                      </a:r>
                      <a:r>
                        <a:rPr lang="en-IN" sz="2600" b="0" baseline="0" dirty="0" smtClean="0">
                          <a:solidFill>
                            <a:schemeClr val="tx1"/>
                          </a:solidFill>
                        </a:rPr>
                        <a:t> wages [Rs. 4,80,000×1.5/4]</a:t>
                      </a:r>
                      <a:endParaRPr lang="en-IN" sz="2600" b="0" dirty="0">
                        <a:solidFill>
                          <a:schemeClr val="tx1"/>
                        </a:solidFill>
                      </a:endParaRPr>
                    </a:p>
                  </a:txBody>
                  <a:tcPr/>
                </a:tc>
                <a:tc>
                  <a:txBody>
                    <a:bodyPr/>
                    <a:lstStyle/>
                    <a:p>
                      <a:pPr algn="r"/>
                      <a:r>
                        <a:rPr lang="en-IN" sz="2600" b="0" dirty="0" smtClean="0">
                          <a:solidFill>
                            <a:schemeClr val="tx1"/>
                          </a:solidFill>
                        </a:rPr>
                        <a:t>1,80,000</a:t>
                      </a:r>
                      <a:endParaRPr lang="en-IN" sz="2600" b="0" dirty="0">
                        <a:solidFill>
                          <a:schemeClr val="tx1"/>
                        </a:solidFill>
                      </a:endParaRPr>
                    </a:p>
                  </a:txBody>
                  <a:tcPr/>
                </a:tc>
                <a:tc>
                  <a:txBody>
                    <a:bodyPr/>
                    <a:lstStyle/>
                    <a:p>
                      <a:pPr algn="r"/>
                      <a:endParaRPr lang="en-IN" sz="2600" dirty="0"/>
                    </a:p>
                  </a:txBody>
                  <a:tcPr/>
                </a:tc>
                <a:extLst>
                  <a:ext uri="{0D108BD9-81ED-4DB2-BD59-A6C34878D82A}">
                    <a16:rowId xmlns:a16="http://schemas.microsoft.com/office/drawing/2014/main" val="2790276209"/>
                  </a:ext>
                </a:extLst>
              </a:tr>
              <a:tr h="370840">
                <a:tc>
                  <a:txBody>
                    <a:bodyPr/>
                    <a:lstStyle/>
                    <a:p>
                      <a:pPr algn="ctr"/>
                      <a:endParaRPr lang="en-IN" sz="2600" b="1" dirty="0">
                        <a:solidFill>
                          <a:srgbClr val="FF0000"/>
                        </a:solidFill>
                      </a:endParaRPr>
                    </a:p>
                  </a:txBody>
                  <a:tcPr/>
                </a:tc>
                <a:tc>
                  <a:txBody>
                    <a:bodyPr/>
                    <a:lstStyle/>
                    <a:p>
                      <a:r>
                        <a:rPr lang="en-IN" sz="2600" b="0" dirty="0" smtClean="0">
                          <a:solidFill>
                            <a:schemeClr val="tx1"/>
                          </a:solidFill>
                        </a:rPr>
                        <a:t>Creditors</a:t>
                      </a:r>
                      <a:r>
                        <a:rPr lang="en-IN" sz="2600" b="0" baseline="0" dirty="0" smtClean="0">
                          <a:solidFill>
                            <a:schemeClr val="tx1"/>
                          </a:solidFill>
                        </a:rPr>
                        <a:t> for overheads [one month]</a:t>
                      </a:r>
                      <a:endParaRPr lang="en-IN" sz="2600" b="0" dirty="0">
                        <a:solidFill>
                          <a:schemeClr val="tx1"/>
                        </a:solidFill>
                      </a:endParaRPr>
                    </a:p>
                  </a:txBody>
                  <a:tcPr/>
                </a:tc>
                <a:tc>
                  <a:txBody>
                    <a:bodyPr/>
                    <a:lstStyle/>
                    <a:p>
                      <a:pPr algn="r"/>
                      <a:r>
                        <a:rPr lang="en-IN" sz="2600" b="0" dirty="0" smtClean="0">
                          <a:solidFill>
                            <a:schemeClr val="tx1"/>
                          </a:solidFill>
                        </a:rPr>
                        <a:t>9,60,000</a:t>
                      </a:r>
                      <a:endParaRPr lang="en-IN" sz="2600" b="0" dirty="0">
                        <a:solidFill>
                          <a:schemeClr val="tx1"/>
                        </a:solidFill>
                      </a:endParaRPr>
                    </a:p>
                  </a:txBody>
                  <a:tcPr/>
                </a:tc>
                <a:tc>
                  <a:txBody>
                    <a:bodyPr/>
                    <a:lstStyle/>
                    <a:p>
                      <a:pPr algn="r"/>
                      <a:r>
                        <a:rPr lang="en-IN" sz="2600" dirty="0" smtClean="0"/>
                        <a:t>24,20,000</a:t>
                      </a:r>
                      <a:endParaRPr lang="en-IN" sz="2600" dirty="0"/>
                    </a:p>
                  </a:txBody>
                  <a:tcPr/>
                </a:tc>
                <a:extLst>
                  <a:ext uri="{0D108BD9-81ED-4DB2-BD59-A6C34878D82A}">
                    <a16:rowId xmlns:a16="http://schemas.microsoft.com/office/drawing/2014/main" val="1790542968"/>
                  </a:ext>
                </a:extLst>
              </a:tr>
              <a:tr h="370840">
                <a:tc>
                  <a:txBody>
                    <a:bodyPr/>
                    <a:lstStyle/>
                    <a:p>
                      <a:pPr algn="ctr"/>
                      <a:endParaRPr lang="en-IN" sz="2600" b="1"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1" dirty="0" smtClean="0">
                          <a:solidFill>
                            <a:srgbClr val="FF0000"/>
                          </a:solidFill>
                        </a:rPr>
                        <a:t>Working Capital Requirement [A-B]</a:t>
                      </a: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67,10,000</a:t>
                      </a:r>
                      <a:endParaRPr lang="en-IN" sz="2600" b="1" dirty="0">
                        <a:solidFill>
                          <a:srgbClr val="FF0000"/>
                        </a:solidFill>
                      </a:endParaRPr>
                    </a:p>
                  </a:txBody>
                  <a:tcPr/>
                </a:tc>
                <a:extLst>
                  <a:ext uri="{0D108BD9-81ED-4DB2-BD59-A6C34878D82A}">
                    <a16:rowId xmlns:a16="http://schemas.microsoft.com/office/drawing/2014/main" val="3897533600"/>
                  </a:ext>
                </a:extLst>
              </a:tr>
            </a:tbl>
          </a:graphicData>
        </a:graphic>
      </p:graphicFrame>
      <p:pic>
        <p:nvPicPr>
          <p:cNvPr id="3" name="Picture 2"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09109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0437"/>
            <a:ext cx="10515600" cy="5498106"/>
          </a:xfrm>
        </p:spPr>
        <p:txBody>
          <a:bodyPr>
            <a:normAutofit/>
          </a:bodyPr>
          <a:lstStyle/>
          <a:p>
            <a:pPr marL="0" indent="0" algn="just">
              <a:buNone/>
            </a:pPr>
            <a:r>
              <a:rPr lang="en-IN" sz="2600" dirty="0" smtClean="0"/>
              <a:t>P4. The </a:t>
            </a:r>
            <a:r>
              <a:rPr lang="en-IN" sz="2600" dirty="0"/>
              <a:t>management of Royal Industries has called for a statement showing the working capital to finance a level of </a:t>
            </a:r>
            <a:r>
              <a:rPr lang="en-IN" sz="2600" dirty="0" smtClean="0"/>
              <a:t>activity </a:t>
            </a:r>
            <a:r>
              <a:rPr lang="en-IN" sz="2600" dirty="0"/>
              <a:t>of 1,80,000 units of output for the year. The cost structure for the company’s product for the above mentioned activity level is detailed below : </a:t>
            </a:r>
            <a:endParaRPr lang="en-IN" sz="2600" dirty="0" smtClean="0"/>
          </a:p>
          <a:p>
            <a:pPr marL="0" indent="0" algn="just">
              <a:buNone/>
            </a:pPr>
            <a:r>
              <a:rPr lang="en-IN" sz="2600" dirty="0" smtClean="0"/>
              <a:t>								       Cost </a:t>
            </a:r>
            <a:r>
              <a:rPr lang="en-IN" sz="2600" dirty="0"/>
              <a:t>per unit </a:t>
            </a:r>
            <a:r>
              <a:rPr lang="en-IN" sz="2600" dirty="0" smtClean="0"/>
              <a:t>(Rs.)</a:t>
            </a:r>
          </a:p>
          <a:p>
            <a:pPr marL="0" indent="0" algn="just">
              <a:buNone/>
            </a:pPr>
            <a:r>
              <a:rPr lang="en-IN" sz="2600" dirty="0" smtClean="0"/>
              <a:t>Raw </a:t>
            </a:r>
            <a:r>
              <a:rPr lang="en-IN" sz="2600" dirty="0"/>
              <a:t>material </a:t>
            </a:r>
            <a:r>
              <a:rPr lang="en-IN" sz="2600" dirty="0" smtClean="0"/>
              <a:t>							     Rs</a:t>
            </a:r>
            <a:r>
              <a:rPr lang="en-IN" sz="2600" dirty="0"/>
              <a:t>. 20 </a:t>
            </a:r>
            <a:endParaRPr lang="en-IN" sz="2600" dirty="0" smtClean="0"/>
          </a:p>
          <a:p>
            <a:pPr marL="0" indent="0" algn="just">
              <a:buNone/>
            </a:pPr>
            <a:r>
              <a:rPr lang="en-IN" sz="2600" dirty="0" smtClean="0"/>
              <a:t>Direct </a:t>
            </a:r>
            <a:r>
              <a:rPr lang="en-IN" sz="2600" dirty="0"/>
              <a:t>labour </a:t>
            </a:r>
            <a:r>
              <a:rPr lang="en-IN" sz="2600" dirty="0" smtClean="0"/>
              <a:t>									  5 </a:t>
            </a:r>
          </a:p>
          <a:p>
            <a:pPr marL="0" indent="0" algn="just">
              <a:buNone/>
            </a:pPr>
            <a:r>
              <a:rPr lang="en-IN" sz="2600" dirty="0" smtClean="0"/>
              <a:t>Overheads </a:t>
            </a:r>
            <a:r>
              <a:rPr lang="en-IN" sz="2600" dirty="0"/>
              <a:t>(including depreciation of Rs. 5 per unit) </a:t>
            </a:r>
            <a:r>
              <a:rPr lang="en-IN" sz="2600" dirty="0" smtClean="0"/>
              <a:t>		 	15 </a:t>
            </a:r>
          </a:p>
          <a:p>
            <a:pPr marL="0" indent="0" algn="just">
              <a:buNone/>
            </a:pPr>
            <a:r>
              <a:rPr lang="en-IN" sz="2600" dirty="0" smtClean="0"/>
              <a:t>Profit 										10 </a:t>
            </a:r>
          </a:p>
          <a:p>
            <a:pPr marL="0" indent="0" algn="just">
              <a:buNone/>
            </a:pPr>
            <a:r>
              <a:rPr lang="en-IN" sz="2600" dirty="0" smtClean="0"/>
              <a:t>Selling </a:t>
            </a:r>
            <a:r>
              <a:rPr lang="en-IN" sz="2600" dirty="0"/>
              <a:t>price </a:t>
            </a:r>
            <a:r>
              <a:rPr lang="en-IN" sz="2600" dirty="0" smtClean="0"/>
              <a:t>									50 </a:t>
            </a:r>
          </a:p>
          <a:p>
            <a:pPr marL="0" indent="0" algn="just">
              <a:buNone/>
            </a:pPr>
            <a:r>
              <a:rPr lang="en-IN" sz="2600" dirty="0" smtClean="0"/>
              <a:t>Additional </a:t>
            </a:r>
            <a:r>
              <a:rPr lang="en-IN" sz="2600" dirty="0"/>
              <a:t>information : </a:t>
            </a:r>
            <a:endParaRPr lang="en-IN" sz="2600" dirty="0" smtClean="0"/>
          </a:p>
          <a:p>
            <a:pPr marL="0" indent="0" algn="just">
              <a:buNone/>
            </a:pPr>
            <a:r>
              <a:rPr lang="en-IN" sz="2600" dirty="0" smtClean="0"/>
              <a:t>(</a:t>
            </a:r>
            <a:r>
              <a:rPr lang="en-IN" sz="2600" dirty="0"/>
              <a:t>a) Minimum desired cash balance is Rs. </a:t>
            </a:r>
            <a:r>
              <a:rPr lang="en-IN" sz="2600" dirty="0" smtClean="0"/>
              <a:t>20,000</a:t>
            </a:r>
            <a:endParaRPr lang="en-IN" sz="2600" dirty="0"/>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00968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2229"/>
            <a:ext cx="10515600" cy="4982344"/>
          </a:xfrm>
        </p:spPr>
        <p:txBody>
          <a:bodyPr>
            <a:normAutofit/>
          </a:bodyPr>
          <a:lstStyle/>
          <a:p>
            <a:pPr marL="0" indent="0" algn="just">
              <a:buNone/>
            </a:pPr>
            <a:r>
              <a:rPr lang="en-IN" sz="2600" dirty="0"/>
              <a:t>(b) Raw materials are held in stock, on an average, for two months. </a:t>
            </a:r>
            <a:endParaRPr lang="en-IN" sz="2600" dirty="0" smtClean="0"/>
          </a:p>
          <a:p>
            <a:pPr marL="0" indent="0" algn="just">
              <a:buNone/>
            </a:pPr>
            <a:r>
              <a:rPr lang="en-IN" sz="2600" dirty="0" smtClean="0"/>
              <a:t>(</a:t>
            </a:r>
            <a:r>
              <a:rPr lang="en-IN" sz="2600" dirty="0"/>
              <a:t>c) Work-in-progress (assume 50% completion stage) will approximate to half-a-month’s production. </a:t>
            </a:r>
            <a:endParaRPr lang="en-IN" sz="2600" dirty="0" smtClean="0"/>
          </a:p>
          <a:p>
            <a:pPr marL="0" indent="0" algn="just">
              <a:buNone/>
            </a:pPr>
            <a:r>
              <a:rPr lang="en-IN" sz="2600" dirty="0" smtClean="0"/>
              <a:t>(</a:t>
            </a:r>
            <a:r>
              <a:rPr lang="en-IN" sz="2600" dirty="0"/>
              <a:t>d) Finished goods remain in werehouse, on an average, for a month. </a:t>
            </a:r>
            <a:endParaRPr lang="en-IN" sz="2600" dirty="0" smtClean="0"/>
          </a:p>
          <a:p>
            <a:pPr marL="0" indent="0" algn="just">
              <a:buNone/>
            </a:pPr>
            <a:r>
              <a:rPr lang="en-IN" sz="2600" dirty="0" smtClean="0"/>
              <a:t>(</a:t>
            </a:r>
            <a:r>
              <a:rPr lang="en-IN" sz="2600" dirty="0"/>
              <a:t>e) Suppliers of materials extend a month’s credit and debtors are provided two month’s credit; cash sales are 25% of total sale</a:t>
            </a:r>
            <a:r>
              <a:rPr lang="en-IN" sz="2600" dirty="0" smtClean="0"/>
              <a:t>.</a:t>
            </a:r>
          </a:p>
          <a:p>
            <a:pPr marL="0" indent="0" algn="just">
              <a:buNone/>
            </a:pPr>
            <a:r>
              <a:rPr lang="en-IN" sz="2600" dirty="0" smtClean="0"/>
              <a:t>(</a:t>
            </a:r>
            <a:r>
              <a:rPr lang="en-IN" sz="2600" dirty="0"/>
              <a:t>f) There is a time-lag in payment of wages of a month; and half-a-month in the case of overheads. </a:t>
            </a:r>
            <a:endParaRPr lang="en-IN" sz="2600" dirty="0" smtClean="0"/>
          </a:p>
          <a:p>
            <a:pPr marL="0" indent="0" algn="just">
              <a:buNone/>
            </a:pPr>
            <a:r>
              <a:rPr lang="en-IN" sz="2600" dirty="0" smtClean="0"/>
              <a:t>From </a:t>
            </a:r>
            <a:r>
              <a:rPr lang="en-IN" sz="2600" dirty="0"/>
              <a:t>the above facts, you are required to prepare a statement showing working capital requirements.</a:t>
            </a:r>
          </a:p>
          <a:p>
            <a:pPr algn="just"/>
            <a:endParaRPr lang="en-IN" sz="2600" dirty="0"/>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60737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7639"/>
            <a:ext cx="10515600" cy="5011840"/>
          </a:xfrm>
        </p:spPr>
        <p:txBody>
          <a:bodyPr>
            <a:normAutofit/>
          </a:bodyPr>
          <a:lstStyle/>
          <a:p>
            <a:pPr marL="0" indent="0">
              <a:buNone/>
            </a:pPr>
            <a:r>
              <a:rPr lang="en-IN" sz="2600" b="1" dirty="0" smtClean="0">
                <a:solidFill>
                  <a:srgbClr val="FF0000"/>
                </a:solidFill>
              </a:rPr>
              <a:t>Solution:</a:t>
            </a:r>
          </a:p>
          <a:p>
            <a:pPr marL="0" indent="0">
              <a:buNone/>
            </a:pPr>
            <a:r>
              <a:rPr lang="en-IN" sz="2600" b="1" dirty="0" smtClean="0">
                <a:solidFill>
                  <a:srgbClr val="FF0000"/>
                </a:solidFill>
              </a:rPr>
              <a:t>Working Note:</a:t>
            </a:r>
          </a:p>
          <a:p>
            <a:pPr marL="0" indent="0">
              <a:buNone/>
            </a:pPr>
            <a:r>
              <a:rPr lang="en-IN" sz="2600" b="1" dirty="0" smtClean="0">
                <a:solidFill>
                  <a:srgbClr val="FF0000"/>
                </a:solidFill>
              </a:rPr>
              <a:t>a) Statement </a:t>
            </a:r>
            <a:r>
              <a:rPr lang="en-IN" sz="2600" b="1" dirty="0">
                <a:solidFill>
                  <a:srgbClr val="FF0000"/>
                </a:solidFill>
              </a:rPr>
              <a:t>of Total Cost </a:t>
            </a:r>
            <a:r>
              <a:rPr lang="en-IN" sz="2600" b="1" dirty="0" smtClean="0">
                <a:solidFill>
                  <a:srgbClr val="FF0000"/>
                </a:solidFill>
              </a:rPr>
              <a:t>                                                                            </a:t>
            </a:r>
            <a:r>
              <a:rPr lang="en-IN" sz="2600" dirty="0" smtClean="0"/>
              <a:t>Rs.</a:t>
            </a:r>
          </a:p>
          <a:p>
            <a:pPr marL="0" indent="0">
              <a:buNone/>
            </a:pPr>
            <a:r>
              <a:rPr lang="en-IN" sz="2600" dirty="0" smtClean="0"/>
              <a:t>Raw </a:t>
            </a:r>
            <a:r>
              <a:rPr lang="en-IN" sz="2600" dirty="0"/>
              <a:t>material (1,80,000×Rs. 20) </a:t>
            </a:r>
            <a:r>
              <a:rPr lang="en-IN" sz="2600" dirty="0" smtClean="0"/>
              <a:t>			</a:t>
            </a:r>
            <a:r>
              <a:rPr lang="en-IN" sz="2600" dirty="0"/>
              <a:t> </a:t>
            </a:r>
            <a:r>
              <a:rPr lang="en-IN" sz="2600" dirty="0" smtClean="0"/>
              <a:t>                                 36,00,000 </a:t>
            </a:r>
          </a:p>
          <a:p>
            <a:pPr marL="0" indent="0">
              <a:buNone/>
            </a:pPr>
            <a:r>
              <a:rPr lang="en-IN" sz="2600" dirty="0" smtClean="0"/>
              <a:t>Direct </a:t>
            </a:r>
            <a:r>
              <a:rPr lang="en-IN" sz="2600" dirty="0"/>
              <a:t>labour (1,80,000×Rs. 5) </a:t>
            </a:r>
            <a:r>
              <a:rPr lang="en-IN" sz="2600" dirty="0" smtClean="0"/>
              <a:t>					            9,00,000 </a:t>
            </a:r>
          </a:p>
          <a:p>
            <a:pPr marL="0" indent="0">
              <a:buNone/>
            </a:pPr>
            <a:r>
              <a:rPr lang="en-IN" sz="2600" dirty="0" smtClean="0"/>
              <a:t>Overheads </a:t>
            </a:r>
            <a:r>
              <a:rPr lang="en-IN" sz="2600" dirty="0"/>
              <a:t>(excluding depreciation) (1,80,000×Rs. 10) </a:t>
            </a:r>
            <a:r>
              <a:rPr lang="en-IN" sz="2600" dirty="0" smtClean="0"/>
              <a:t>	                      18,00,000 </a:t>
            </a:r>
          </a:p>
          <a:p>
            <a:pPr marL="0" indent="0">
              <a:buNone/>
            </a:pPr>
            <a:r>
              <a:rPr lang="en-IN" sz="2600" b="1" dirty="0" smtClean="0">
                <a:solidFill>
                  <a:srgbClr val="FF0000"/>
                </a:solidFill>
              </a:rPr>
              <a:t>Total </a:t>
            </a:r>
            <a:r>
              <a:rPr lang="en-IN" sz="2600" b="1" dirty="0">
                <a:solidFill>
                  <a:srgbClr val="FF0000"/>
                </a:solidFill>
              </a:rPr>
              <a:t>Cost </a:t>
            </a:r>
            <a:r>
              <a:rPr lang="en-IN" sz="2600" b="1" dirty="0" smtClean="0">
                <a:solidFill>
                  <a:srgbClr val="FF0000"/>
                </a:solidFill>
              </a:rPr>
              <a:t>								          63,00,000</a:t>
            </a:r>
            <a:endParaRPr lang="en-IN" sz="2600" b="1" dirty="0">
              <a:solidFill>
                <a:srgbClr val="FF0000"/>
              </a:solidFill>
            </a:endParaRPr>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417420"/>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18544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61883"/>
            <a:ext cx="10515600" cy="5449213"/>
          </a:xfrm>
        </p:spPr>
        <p:txBody>
          <a:bodyPr/>
          <a:lstStyle/>
          <a:p>
            <a:pPr marL="0" indent="0">
              <a:buNone/>
            </a:pPr>
            <a:r>
              <a:rPr lang="en-IN" sz="2600" b="1" dirty="0" smtClean="0">
                <a:solidFill>
                  <a:srgbClr val="FF0000"/>
                </a:solidFill>
              </a:rPr>
              <a:t>Solution:        Statement showing working capital requirements:</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4114154198"/>
              </p:ext>
            </p:extLst>
          </p:nvPr>
        </p:nvGraphicFramePr>
        <p:xfrm>
          <a:off x="838200" y="1461249"/>
          <a:ext cx="10515600" cy="3805892"/>
        </p:xfrm>
        <a:graphic>
          <a:graphicData uri="http://schemas.openxmlformats.org/drawingml/2006/table">
            <a:tbl>
              <a:tblPr firstRow="1" bandRow="1">
                <a:tableStyleId>{5C22544A-7EE6-4342-B048-85BDC9FD1C3A}</a:tableStyleId>
              </a:tblPr>
              <a:tblGrid>
                <a:gridCol w="769374">
                  <a:extLst>
                    <a:ext uri="{9D8B030D-6E8A-4147-A177-3AD203B41FA5}">
                      <a16:colId xmlns:a16="http://schemas.microsoft.com/office/drawing/2014/main" val="1320661344"/>
                    </a:ext>
                  </a:extLst>
                </a:gridCol>
                <a:gridCol w="6386052">
                  <a:extLst>
                    <a:ext uri="{9D8B030D-6E8A-4147-A177-3AD203B41FA5}">
                      <a16:colId xmlns:a16="http://schemas.microsoft.com/office/drawing/2014/main" val="3234151637"/>
                    </a:ext>
                  </a:extLst>
                </a:gridCol>
                <a:gridCol w="1548580">
                  <a:extLst>
                    <a:ext uri="{9D8B030D-6E8A-4147-A177-3AD203B41FA5}">
                      <a16:colId xmlns:a16="http://schemas.microsoft.com/office/drawing/2014/main" val="1389087919"/>
                    </a:ext>
                  </a:extLst>
                </a:gridCol>
                <a:gridCol w="1811594">
                  <a:extLst>
                    <a:ext uri="{9D8B030D-6E8A-4147-A177-3AD203B41FA5}">
                      <a16:colId xmlns:a16="http://schemas.microsoft.com/office/drawing/2014/main" val="2220915326"/>
                    </a:ext>
                  </a:extLst>
                </a:gridCol>
              </a:tblGrid>
              <a:tr h="356553">
                <a:tc>
                  <a:txBody>
                    <a:bodyPr/>
                    <a:lstStyle/>
                    <a:p>
                      <a:pPr algn="ctr"/>
                      <a:endParaRPr lang="en-IN" dirty="0"/>
                    </a:p>
                  </a:txBody>
                  <a:tcPr/>
                </a:tc>
                <a:tc>
                  <a:txBody>
                    <a:bodyPr/>
                    <a:lstStyle/>
                    <a:p>
                      <a:pPr algn="ctr"/>
                      <a:r>
                        <a:rPr lang="en-IN" dirty="0" smtClean="0"/>
                        <a:t>Particulars</a:t>
                      </a:r>
                      <a:endParaRPr lang="en-IN" dirty="0"/>
                    </a:p>
                  </a:txBody>
                  <a:tcPr/>
                </a:tc>
                <a:tc>
                  <a:txBody>
                    <a:bodyPr/>
                    <a:lstStyle/>
                    <a:p>
                      <a:pPr algn="r"/>
                      <a:r>
                        <a:rPr lang="en-IN" dirty="0" smtClean="0"/>
                        <a:t>Rs.</a:t>
                      </a:r>
                      <a:endParaRPr lang="en-IN" dirty="0"/>
                    </a:p>
                  </a:txBody>
                  <a:tcPr/>
                </a:tc>
                <a:tc>
                  <a:txBody>
                    <a:bodyPr/>
                    <a:lstStyle/>
                    <a:p>
                      <a:pPr algn="r"/>
                      <a:r>
                        <a:rPr lang="en-IN" dirty="0" smtClean="0"/>
                        <a:t>Rs.</a:t>
                      </a:r>
                      <a:endParaRPr lang="en-IN" dirty="0"/>
                    </a:p>
                  </a:txBody>
                  <a:tcPr/>
                </a:tc>
                <a:extLst>
                  <a:ext uri="{0D108BD9-81ED-4DB2-BD59-A6C34878D82A}">
                    <a16:rowId xmlns:a16="http://schemas.microsoft.com/office/drawing/2014/main" val="4097373910"/>
                  </a:ext>
                </a:extLst>
              </a:tr>
              <a:tr h="439586">
                <a:tc>
                  <a:txBody>
                    <a:bodyPr/>
                    <a:lstStyle/>
                    <a:p>
                      <a:endParaRPr lang="en-IN" sz="2400" b="1" dirty="0">
                        <a:solidFill>
                          <a:srgbClr val="FF0000"/>
                        </a:solidFill>
                      </a:endParaRPr>
                    </a:p>
                  </a:txBody>
                  <a:tcPr/>
                </a:tc>
                <a:tc>
                  <a:txBody>
                    <a:bodyPr/>
                    <a:lstStyle/>
                    <a:p>
                      <a:r>
                        <a:rPr lang="en-IN" sz="2600" b="1" dirty="0" smtClean="0">
                          <a:solidFill>
                            <a:srgbClr val="FF0000"/>
                          </a:solidFill>
                        </a:rPr>
                        <a:t>A) Current Assets:</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endParaRPr lang="en-IN" sz="2600" b="1" dirty="0">
                        <a:solidFill>
                          <a:srgbClr val="FF0000"/>
                        </a:solidFill>
                      </a:endParaRPr>
                    </a:p>
                  </a:txBody>
                  <a:tcPr/>
                </a:tc>
                <a:extLst>
                  <a:ext uri="{0D108BD9-81ED-4DB2-BD59-A6C34878D82A}">
                    <a16:rowId xmlns:a16="http://schemas.microsoft.com/office/drawing/2014/main" val="2304704551"/>
                  </a:ext>
                </a:extLst>
              </a:tr>
              <a:tr h="439586">
                <a:tc>
                  <a:txBody>
                    <a:bodyPr/>
                    <a:lstStyle/>
                    <a:p>
                      <a:endParaRPr lang="en-IN" sz="2400"/>
                    </a:p>
                  </a:txBody>
                  <a:tcPr/>
                </a:tc>
                <a:tc>
                  <a:txBody>
                    <a:bodyPr/>
                    <a:lstStyle/>
                    <a:p>
                      <a:r>
                        <a:rPr lang="en-IN" sz="2600" dirty="0" smtClean="0"/>
                        <a:t>Minimum cash balance </a:t>
                      </a:r>
                      <a:endParaRPr lang="en-IN" sz="2600" dirty="0"/>
                    </a:p>
                  </a:txBody>
                  <a:tcPr/>
                </a:tc>
                <a:tc>
                  <a:txBody>
                    <a:bodyPr/>
                    <a:lstStyle/>
                    <a:p>
                      <a:pPr algn="r"/>
                      <a:endParaRPr lang="en-IN" sz="2600" dirty="0"/>
                    </a:p>
                  </a:txBody>
                  <a:tcPr/>
                </a:tc>
                <a:tc>
                  <a:txBody>
                    <a:bodyPr/>
                    <a:lstStyle/>
                    <a:p>
                      <a:pPr algn="r"/>
                      <a:r>
                        <a:rPr lang="en-IN" sz="2600" dirty="0" smtClean="0"/>
                        <a:t>20,000</a:t>
                      </a:r>
                      <a:endParaRPr lang="en-IN" sz="2600" dirty="0"/>
                    </a:p>
                  </a:txBody>
                  <a:tcPr/>
                </a:tc>
                <a:extLst>
                  <a:ext uri="{0D108BD9-81ED-4DB2-BD59-A6C34878D82A}">
                    <a16:rowId xmlns:a16="http://schemas.microsoft.com/office/drawing/2014/main" val="3456548249"/>
                  </a:ext>
                </a:extLst>
              </a:tr>
              <a:tr h="439586">
                <a:tc>
                  <a:txBody>
                    <a:bodyPr/>
                    <a:lstStyle/>
                    <a:p>
                      <a:endParaRPr lang="en-IN" sz="2400"/>
                    </a:p>
                  </a:txBody>
                  <a:tcPr/>
                </a:tc>
                <a:tc>
                  <a:txBody>
                    <a:bodyPr/>
                    <a:lstStyle/>
                    <a:p>
                      <a:r>
                        <a:rPr lang="en-IN" sz="2600" dirty="0" smtClean="0"/>
                        <a:t>Raw materials [Rs. 36,00,000×2/12]</a:t>
                      </a:r>
                      <a:endParaRPr lang="en-IN" sz="2600" dirty="0"/>
                    </a:p>
                  </a:txBody>
                  <a:tcPr/>
                </a:tc>
                <a:tc>
                  <a:txBody>
                    <a:bodyPr/>
                    <a:lstStyle/>
                    <a:p>
                      <a:pPr algn="r"/>
                      <a:endParaRPr lang="en-IN" sz="2600" dirty="0"/>
                    </a:p>
                  </a:txBody>
                  <a:tcPr/>
                </a:tc>
                <a:tc>
                  <a:txBody>
                    <a:bodyPr/>
                    <a:lstStyle/>
                    <a:p>
                      <a:pPr algn="r"/>
                      <a:r>
                        <a:rPr lang="en-IN" sz="2600" dirty="0" smtClean="0"/>
                        <a:t>6,00,000</a:t>
                      </a:r>
                      <a:endParaRPr lang="en-IN" sz="2600" dirty="0"/>
                    </a:p>
                  </a:txBody>
                  <a:tcPr/>
                </a:tc>
                <a:extLst>
                  <a:ext uri="{0D108BD9-81ED-4DB2-BD59-A6C34878D82A}">
                    <a16:rowId xmlns:a16="http://schemas.microsoft.com/office/drawing/2014/main" val="1212104400"/>
                  </a:ext>
                </a:extLst>
              </a:tr>
              <a:tr h="439586">
                <a:tc>
                  <a:txBody>
                    <a:bodyPr/>
                    <a:lstStyle/>
                    <a:p>
                      <a:endParaRPr lang="en-IN" sz="2400"/>
                    </a:p>
                  </a:txBody>
                  <a:tcPr/>
                </a:tc>
                <a:tc>
                  <a:txBody>
                    <a:bodyPr/>
                    <a:lstStyle/>
                    <a:p>
                      <a:r>
                        <a:rPr lang="en-IN" sz="2600" dirty="0" smtClean="0"/>
                        <a:t>Work in progress:</a:t>
                      </a:r>
                      <a:r>
                        <a:rPr lang="en-IN" sz="2600" baseline="0" dirty="0" smtClean="0"/>
                        <a:t> [Rs. 63,00,000×1/24×50%]</a:t>
                      </a:r>
                      <a:endParaRPr lang="en-IN" sz="2600" dirty="0" smtClean="0"/>
                    </a:p>
                  </a:txBody>
                  <a:tcPr/>
                </a:tc>
                <a:tc>
                  <a:txBody>
                    <a:bodyPr/>
                    <a:lstStyle/>
                    <a:p>
                      <a:pPr algn="r"/>
                      <a:endParaRPr lang="en-IN" sz="2600" dirty="0"/>
                    </a:p>
                  </a:txBody>
                  <a:tcPr/>
                </a:tc>
                <a:tc>
                  <a:txBody>
                    <a:bodyPr/>
                    <a:lstStyle/>
                    <a:p>
                      <a:pPr algn="r"/>
                      <a:r>
                        <a:rPr lang="en-IN" sz="2600" dirty="0" smtClean="0"/>
                        <a:t>1,31,250</a:t>
                      </a:r>
                      <a:endParaRPr lang="en-IN" sz="2600" dirty="0"/>
                    </a:p>
                  </a:txBody>
                  <a:tcPr/>
                </a:tc>
                <a:extLst>
                  <a:ext uri="{0D108BD9-81ED-4DB2-BD59-A6C34878D82A}">
                    <a16:rowId xmlns:a16="http://schemas.microsoft.com/office/drawing/2014/main" val="2518614336"/>
                  </a:ext>
                </a:extLst>
              </a:tr>
              <a:tr h="514052">
                <a:tc>
                  <a:txBody>
                    <a:bodyPr/>
                    <a:lstStyle/>
                    <a:p>
                      <a:endParaRPr lang="en-IN" sz="2400" dirty="0"/>
                    </a:p>
                  </a:txBody>
                  <a:tcPr/>
                </a:tc>
                <a:tc>
                  <a:txBody>
                    <a:bodyPr/>
                    <a:lstStyle/>
                    <a:p>
                      <a:r>
                        <a:rPr lang="en-IN" sz="2600" dirty="0" smtClean="0"/>
                        <a:t>Finished Goods [Rs. 63,00,000×1/12]</a:t>
                      </a:r>
                      <a:endParaRPr lang="en-IN" sz="2600" dirty="0"/>
                    </a:p>
                  </a:txBody>
                  <a:tcPr/>
                </a:tc>
                <a:tc>
                  <a:txBody>
                    <a:bodyPr/>
                    <a:lstStyle/>
                    <a:p>
                      <a:pPr algn="r"/>
                      <a:endParaRPr lang="en-IN" sz="2600" dirty="0"/>
                    </a:p>
                  </a:txBody>
                  <a:tcPr/>
                </a:tc>
                <a:tc>
                  <a:txBody>
                    <a:bodyPr/>
                    <a:lstStyle/>
                    <a:p>
                      <a:pPr algn="r"/>
                      <a:r>
                        <a:rPr lang="en-IN" sz="2600" dirty="0" smtClean="0"/>
                        <a:t>5,25,000</a:t>
                      </a:r>
                      <a:endParaRPr lang="en-IN" sz="2600" dirty="0"/>
                    </a:p>
                  </a:txBody>
                  <a:tcPr/>
                </a:tc>
                <a:extLst>
                  <a:ext uri="{0D108BD9-81ED-4DB2-BD59-A6C34878D82A}">
                    <a16:rowId xmlns:a16="http://schemas.microsoft.com/office/drawing/2014/main" val="1157294668"/>
                  </a:ext>
                </a:extLst>
              </a:tr>
              <a:tr h="0">
                <a:tc>
                  <a:txBody>
                    <a:bodyPr/>
                    <a:lstStyle/>
                    <a:p>
                      <a:endParaRPr lang="en-IN" sz="2400" b="1" dirty="0">
                        <a:solidFill>
                          <a:srgbClr val="FF0000"/>
                        </a:solidFill>
                      </a:endParaRPr>
                    </a:p>
                  </a:txBody>
                  <a:tcPr/>
                </a:tc>
                <a:tc>
                  <a:txBody>
                    <a:bodyPr/>
                    <a:lstStyle/>
                    <a:p>
                      <a:r>
                        <a:rPr lang="en-IN" sz="2600" dirty="0" smtClean="0"/>
                        <a:t>Debtors [Rs. 63,00,000×75%×1/12]</a:t>
                      </a:r>
                      <a:endParaRPr lang="en-IN" sz="2600" dirty="0"/>
                    </a:p>
                  </a:txBody>
                  <a:tcPr/>
                </a:tc>
                <a:tc>
                  <a:txBody>
                    <a:bodyPr/>
                    <a:lstStyle/>
                    <a:p>
                      <a:pPr algn="r"/>
                      <a:endParaRPr lang="en-IN" sz="2600" dirty="0"/>
                    </a:p>
                  </a:txBody>
                  <a:tcPr/>
                </a:tc>
                <a:tc>
                  <a:txBody>
                    <a:bodyPr/>
                    <a:lstStyle/>
                    <a:p>
                      <a:pPr algn="r"/>
                      <a:r>
                        <a:rPr lang="en-IN" sz="2600" dirty="0" smtClean="0"/>
                        <a:t>7,87,500</a:t>
                      </a:r>
                      <a:endParaRPr lang="en-IN" sz="2600" dirty="0"/>
                    </a:p>
                  </a:txBody>
                  <a:tcPr/>
                </a:tc>
                <a:extLst>
                  <a:ext uri="{0D108BD9-81ED-4DB2-BD59-A6C34878D82A}">
                    <a16:rowId xmlns:a16="http://schemas.microsoft.com/office/drawing/2014/main" val="2413885677"/>
                  </a:ext>
                </a:extLst>
              </a:tr>
              <a:tr h="439586">
                <a:tc>
                  <a:txBody>
                    <a:bodyPr/>
                    <a:lstStyle/>
                    <a:p>
                      <a:endParaRPr lang="en-IN" sz="2400" b="1"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1" dirty="0" smtClean="0">
                          <a:solidFill>
                            <a:srgbClr val="FF0000"/>
                          </a:solidFill>
                        </a:rPr>
                        <a:t>Total Current Assets [A]</a:t>
                      </a: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20,63,750</a:t>
                      </a:r>
                      <a:endParaRPr lang="en-IN" sz="2600" b="1" dirty="0">
                        <a:solidFill>
                          <a:srgbClr val="FF0000"/>
                        </a:solidFill>
                      </a:endParaRPr>
                    </a:p>
                  </a:txBody>
                  <a:tcPr/>
                </a:tc>
                <a:extLst>
                  <a:ext uri="{0D108BD9-81ED-4DB2-BD59-A6C34878D82A}">
                    <a16:rowId xmlns:a16="http://schemas.microsoft.com/office/drawing/2014/main" val="685892551"/>
                  </a:ext>
                </a:extLst>
              </a:tr>
            </a:tbl>
          </a:graphicData>
        </a:graphic>
      </p:graphicFrame>
      <p:pic>
        <p:nvPicPr>
          <p:cNvPr id="5" name="Picture 4"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84354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94557832"/>
              </p:ext>
            </p:extLst>
          </p:nvPr>
        </p:nvGraphicFramePr>
        <p:xfrm>
          <a:off x="838200" y="1039106"/>
          <a:ext cx="10515600" cy="2809240"/>
        </p:xfrm>
        <a:graphic>
          <a:graphicData uri="http://schemas.openxmlformats.org/drawingml/2006/table">
            <a:tbl>
              <a:tblPr firstRow="1" bandRow="1">
                <a:tableStyleId>{5C22544A-7EE6-4342-B048-85BDC9FD1C3A}</a:tableStyleId>
              </a:tblPr>
              <a:tblGrid>
                <a:gridCol w="872613">
                  <a:extLst>
                    <a:ext uri="{9D8B030D-6E8A-4147-A177-3AD203B41FA5}">
                      <a16:colId xmlns:a16="http://schemas.microsoft.com/office/drawing/2014/main" val="2156627544"/>
                    </a:ext>
                  </a:extLst>
                </a:gridCol>
                <a:gridCol w="6400800">
                  <a:extLst>
                    <a:ext uri="{9D8B030D-6E8A-4147-A177-3AD203B41FA5}">
                      <a16:colId xmlns:a16="http://schemas.microsoft.com/office/drawing/2014/main" val="1280784742"/>
                    </a:ext>
                  </a:extLst>
                </a:gridCol>
                <a:gridCol w="1607574">
                  <a:extLst>
                    <a:ext uri="{9D8B030D-6E8A-4147-A177-3AD203B41FA5}">
                      <a16:colId xmlns:a16="http://schemas.microsoft.com/office/drawing/2014/main" val="2816569001"/>
                    </a:ext>
                  </a:extLst>
                </a:gridCol>
                <a:gridCol w="1634613">
                  <a:extLst>
                    <a:ext uri="{9D8B030D-6E8A-4147-A177-3AD203B41FA5}">
                      <a16:colId xmlns:a16="http://schemas.microsoft.com/office/drawing/2014/main" val="1595518488"/>
                    </a:ext>
                  </a:extLst>
                </a:gridCol>
              </a:tblGrid>
              <a:tr h="370840">
                <a:tc>
                  <a:txBody>
                    <a:bodyPr/>
                    <a:lstStyle/>
                    <a:p>
                      <a:pPr algn="ctr"/>
                      <a:endParaRPr lang="en-IN" dirty="0"/>
                    </a:p>
                  </a:txBody>
                  <a:tcPr/>
                </a:tc>
                <a:tc>
                  <a:txBody>
                    <a:bodyPr/>
                    <a:lstStyle/>
                    <a:p>
                      <a:pPr algn="ctr"/>
                      <a:r>
                        <a:rPr lang="en-IN" dirty="0" smtClean="0"/>
                        <a:t>Particulars</a:t>
                      </a:r>
                      <a:endParaRPr lang="en-IN" dirty="0"/>
                    </a:p>
                  </a:txBody>
                  <a:tcPr/>
                </a:tc>
                <a:tc>
                  <a:txBody>
                    <a:bodyPr/>
                    <a:lstStyle/>
                    <a:p>
                      <a:pPr algn="r"/>
                      <a:r>
                        <a:rPr lang="en-IN" dirty="0" smtClean="0"/>
                        <a:t>Rs.</a:t>
                      </a:r>
                      <a:endParaRPr lang="en-IN" dirty="0"/>
                    </a:p>
                  </a:txBody>
                  <a:tcPr/>
                </a:tc>
                <a:tc>
                  <a:txBody>
                    <a:bodyPr/>
                    <a:lstStyle/>
                    <a:p>
                      <a:pPr algn="r"/>
                      <a:r>
                        <a:rPr lang="en-IN" dirty="0" smtClean="0"/>
                        <a:t>Rs.</a:t>
                      </a:r>
                      <a:endParaRPr lang="en-IN" dirty="0"/>
                    </a:p>
                  </a:txBody>
                  <a:tcPr/>
                </a:tc>
                <a:extLst>
                  <a:ext uri="{0D108BD9-81ED-4DB2-BD59-A6C34878D82A}">
                    <a16:rowId xmlns:a16="http://schemas.microsoft.com/office/drawing/2014/main" val="1197908108"/>
                  </a:ext>
                </a:extLst>
              </a:tr>
              <a:tr h="370840">
                <a:tc>
                  <a:txBody>
                    <a:bodyPr/>
                    <a:lstStyle/>
                    <a:p>
                      <a:pPr algn="ctr"/>
                      <a:r>
                        <a:rPr lang="en-IN" sz="2600" b="1" dirty="0" smtClean="0">
                          <a:solidFill>
                            <a:srgbClr val="FF0000"/>
                          </a:solidFill>
                        </a:rPr>
                        <a:t>Less</a:t>
                      </a:r>
                      <a:endParaRPr lang="en-IN" sz="2600" b="1" dirty="0">
                        <a:solidFill>
                          <a:srgbClr val="FF0000"/>
                        </a:solidFill>
                      </a:endParaRPr>
                    </a:p>
                  </a:txBody>
                  <a:tcPr/>
                </a:tc>
                <a:tc>
                  <a:txBody>
                    <a:bodyPr/>
                    <a:lstStyle/>
                    <a:p>
                      <a:r>
                        <a:rPr lang="en-IN" sz="2600" b="1" dirty="0" smtClean="0">
                          <a:solidFill>
                            <a:srgbClr val="FF0000"/>
                          </a:solidFill>
                        </a:rPr>
                        <a:t>B) Current Liabilities:</a:t>
                      </a:r>
                      <a:r>
                        <a:rPr lang="en-IN" sz="2600" b="1" baseline="0" dirty="0" smtClean="0">
                          <a:solidFill>
                            <a:srgbClr val="FF0000"/>
                          </a:solidFill>
                        </a:rPr>
                        <a:t> </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endParaRPr lang="en-IN" sz="2600" b="1" dirty="0">
                        <a:solidFill>
                          <a:srgbClr val="FF0000"/>
                        </a:solidFill>
                      </a:endParaRPr>
                    </a:p>
                  </a:txBody>
                  <a:tcPr/>
                </a:tc>
                <a:extLst>
                  <a:ext uri="{0D108BD9-81ED-4DB2-BD59-A6C34878D82A}">
                    <a16:rowId xmlns:a16="http://schemas.microsoft.com/office/drawing/2014/main" val="4182250095"/>
                  </a:ext>
                </a:extLst>
              </a:tr>
              <a:tr h="370840">
                <a:tc>
                  <a:txBody>
                    <a:bodyPr/>
                    <a:lstStyle/>
                    <a:p>
                      <a:pPr algn="ctr"/>
                      <a:endParaRPr lang="en-IN" sz="2600" dirty="0"/>
                    </a:p>
                  </a:txBody>
                  <a:tcPr/>
                </a:tc>
                <a:tc>
                  <a:txBody>
                    <a:bodyPr/>
                    <a:lstStyle/>
                    <a:p>
                      <a:r>
                        <a:rPr lang="en-IN" sz="2600" dirty="0" smtClean="0"/>
                        <a:t>Creditors </a:t>
                      </a:r>
                      <a:r>
                        <a:rPr lang="en-IN" sz="2600" baseline="0" dirty="0" smtClean="0"/>
                        <a:t> [Rs. 36,00,000×1/12]]</a:t>
                      </a:r>
                      <a:endParaRPr lang="en-IN" sz="2600" dirty="0"/>
                    </a:p>
                  </a:txBody>
                  <a:tcPr/>
                </a:tc>
                <a:tc>
                  <a:txBody>
                    <a:bodyPr/>
                    <a:lstStyle/>
                    <a:p>
                      <a:pPr algn="r"/>
                      <a:r>
                        <a:rPr lang="en-IN" sz="2600" dirty="0" smtClean="0"/>
                        <a:t>3,00,000</a:t>
                      </a:r>
                      <a:endParaRPr lang="en-IN" sz="2600" dirty="0"/>
                    </a:p>
                  </a:txBody>
                  <a:tcPr/>
                </a:tc>
                <a:tc>
                  <a:txBody>
                    <a:bodyPr/>
                    <a:lstStyle/>
                    <a:p>
                      <a:pPr algn="r"/>
                      <a:endParaRPr lang="en-IN" sz="2600" dirty="0"/>
                    </a:p>
                  </a:txBody>
                  <a:tcPr/>
                </a:tc>
                <a:extLst>
                  <a:ext uri="{0D108BD9-81ED-4DB2-BD59-A6C34878D82A}">
                    <a16:rowId xmlns:a16="http://schemas.microsoft.com/office/drawing/2014/main" val="4100144371"/>
                  </a:ext>
                </a:extLst>
              </a:tr>
              <a:tr h="370840">
                <a:tc>
                  <a:txBody>
                    <a:bodyPr/>
                    <a:lstStyle/>
                    <a:p>
                      <a:pPr algn="ctr"/>
                      <a:endParaRPr lang="en-IN" sz="2600" b="1">
                        <a:solidFill>
                          <a:srgbClr val="FF0000"/>
                        </a:solidFill>
                      </a:endParaRPr>
                    </a:p>
                  </a:txBody>
                  <a:tcPr/>
                </a:tc>
                <a:tc>
                  <a:txBody>
                    <a:bodyPr/>
                    <a:lstStyle/>
                    <a:p>
                      <a:r>
                        <a:rPr lang="en-IN" sz="2600" b="0" dirty="0" smtClean="0">
                          <a:solidFill>
                            <a:schemeClr val="tx1"/>
                          </a:solidFill>
                        </a:rPr>
                        <a:t>Creditors for</a:t>
                      </a:r>
                      <a:r>
                        <a:rPr lang="en-IN" sz="2600" b="0" baseline="0" dirty="0" smtClean="0">
                          <a:solidFill>
                            <a:schemeClr val="tx1"/>
                          </a:solidFill>
                        </a:rPr>
                        <a:t> wages [Rs. 9,00,000×1/12]</a:t>
                      </a:r>
                      <a:endParaRPr lang="en-IN" sz="2600" b="0" dirty="0">
                        <a:solidFill>
                          <a:schemeClr val="tx1"/>
                        </a:solidFill>
                      </a:endParaRPr>
                    </a:p>
                  </a:txBody>
                  <a:tcPr/>
                </a:tc>
                <a:tc>
                  <a:txBody>
                    <a:bodyPr/>
                    <a:lstStyle/>
                    <a:p>
                      <a:pPr algn="r"/>
                      <a:r>
                        <a:rPr lang="en-IN" sz="2600" b="0" dirty="0" smtClean="0">
                          <a:solidFill>
                            <a:schemeClr val="tx1"/>
                          </a:solidFill>
                        </a:rPr>
                        <a:t>75,000</a:t>
                      </a:r>
                      <a:endParaRPr lang="en-IN" sz="2600" b="0" dirty="0">
                        <a:solidFill>
                          <a:schemeClr val="tx1"/>
                        </a:solidFill>
                      </a:endParaRPr>
                    </a:p>
                  </a:txBody>
                  <a:tcPr/>
                </a:tc>
                <a:tc>
                  <a:txBody>
                    <a:bodyPr/>
                    <a:lstStyle/>
                    <a:p>
                      <a:pPr algn="r"/>
                      <a:endParaRPr lang="en-IN" sz="2600" dirty="0"/>
                    </a:p>
                  </a:txBody>
                  <a:tcPr/>
                </a:tc>
                <a:extLst>
                  <a:ext uri="{0D108BD9-81ED-4DB2-BD59-A6C34878D82A}">
                    <a16:rowId xmlns:a16="http://schemas.microsoft.com/office/drawing/2014/main" val="2790276209"/>
                  </a:ext>
                </a:extLst>
              </a:tr>
              <a:tr h="370840">
                <a:tc>
                  <a:txBody>
                    <a:bodyPr/>
                    <a:lstStyle/>
                    <a:p>
                      <a:pPr algn="ctr"/>
                      <a:endParaRPr lang="en-IN" sz="2600" b="1" dirty="0">
                        <a:solidFill>
                          <a:srgbClr val="FF0000"/>
                        </a:solidFill>
                      </a:endParaRPr>
                    </a:p>
                  </a:txBody>
                  <a:tcPr/>
                </a:tc>
                <a:tc>
                  <a:txBody>
                    <a:bodyPr/>
                    <a:lstStyle/>
                    <a:p>
                      <a:r>
                        <a:rPr lang="en-IN" sz="2600" b="0" dirty="0" smtClean="0">
                          <a:solidFill>
                            <a:schemeClr val="tx1"/>
                          </a:solidFill>
                        </a:rPr>
                        <a:t>Creditors</a:t>
                      </a:r>
                      <a:r>
                        <a:rPr lang="en-IN" sz="2600" b="0" baseline="0" dirty="0" smtClean="0">
                          <a:solidFill>
                            <a:schemeClr val="tx1"/>
                          </a:solidFill>
                        </a:rPr>
                        <a:t> for overheads [Rs. 18,00,000 ×1/24]</a:t>
                      </a:r>
                      <a:endParaRPr lang="en-IN" sz="2600" b="0" dirty="0">
                        <a:solidFill>
                          <a:schemeClr val="tx1"/>
                        </a:solidFill>
                      </a:endParaRPr>
                    </a:p>
                  </a:txBody>
                  <a:tcPr/>
                </a:tc>
                <a:tc>
                  <a:txBody>
                    <a:bodyPr/>
                    <a:lstStyle/>
                    <a:p>
                      <a:pPr algn="r"/>
                      <a:r>
                        <a:rPr lang="en-IN" sz="2600" b="0" dirty="0" smtClean="0">
                          <a:solidFill>
                            <a:schemeClr val="tx1"/>
                          </a:solidFill>
                        </a:rPr>
                        <a:t>75,000</a:t>
                      </a:r>
                      <a:endParaRPr lang="en-IN" sz="2600" b="0" dirty="0">
                        <a:solidFill>
                          <a:schemeClr val="tx1"/>
                        </a:solidFill>
                      </a:endParaRPr>
                    </a:p>
                  </a:txBody>
                  <a:tcPr/>
                </a:tc>
                <a:tc>
                  <a:txBody>
                    <a:bodyPr/>
                    <a:lstStyle/>
                    <a:p>
                      <a:pPr algn="r"/>
                      <a:r>
                        <a:rPr lang="en-IN" sz="2600" dirty="0" smtClean="0"/>
                        <a:t>4,50,000</a:t>
                      </a:r>
                      <a:endParaRPr lang="en-IN" sz="2600" dirty="0"/>
                    </a:p>
                  </a:txBody>
                  <a:tcPr/>
                </a:tc>
                <a:extLst>
                  <a:ext uri="{0D108BD9-81ED-4DB2-BD59-A6C34878D82A}">
                    <a16:rowId xmlns:a16="http://schemas.microsoft.com/office/drawing/2014/main" val="1790542968"/>
                  </a:ext>
                </a:extLst>
              </a:tr>
              <a:tr h="370840">
                <a:tc>
                  <a:txBody>
                    <a:bodyPr/>
                    <a:lstStyle/>
                    <a:p>
                      <a:pPr algn="ctr"/>
                      <a:endParaRPr lang="en-IN" sz="2600" b="1"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1" dirty="0" smtClean="0">
                          <a:solidFill>
                            <a:srgbClr val="FF0000"/>
                          </a:solidFill>
                        </a:rPr>
                        <a:t>Working Capital Requirement [A-B]</a:t>
                      </a: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16,13,750</a:t>
                      </a:r>
                      <a:endParaRPr lang="en-IN" sz="2600" b="1" dirty="0">
                        <a:solidFill>
                          <a:srgbClr val="FF0000"/>
                        </a:solidFill>
                      </a:endParaRPr>
                    </a:p>
                  </a:txBody>
                  <a:tcPr/>
                </a:tc>
                <a:extLst>
                  <a:ext uri="{0D108BD9-81ED-4DB2-BD59-A6C34878D82A}">
                    <a16:rowId xmlns:a16="http://schemas.microsoft.com/office/drawing/2014/main" val="3897533600"/>
                  </a:ext>
                </a:extLst>
              </a:tr>
            </a:tbl>
          </a:graphicData>
        </a:graphic>
      </p:graphicFrame>
      <p:pic>
        <p:nvPicPr>
          <p:cNvPr id="3" name="Picture 2"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28908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0437"/>
            <a:ext cx="10515600" cy="5100331"/>
          </a:xfrm>
        </p:spPr>
        <p:txBody>
          <a:bodyPr>
            <a:normAutofit/>
          </a:bodyPr>
          <a:lstStyle/>
          <a:p>
            <a:pPr marL="0" indent="0" algn="just">
              <a:buNone/>
            </a:pPr>
            <a:r>
              <a:rPr lang="en-IN" sz="2600" b="1" dirty="0" smtClean="0">
                <a:solidFill>
                  <a:srgbClr val="FF0000"/>
                </a:solidFill>
              </a:rPr>
              <a:t>Note: </a:t>
            </a:r>
          </a:p>
          <a:p>
            <a:pPr marL="0" indent="0" algn="just">
              <a:buNone/>
            </a:pPr>
            <a:r>
              <a:rPr lang="en-IN" sz="2600" dirty="0" smtClean="0"/>
              <a:t>Depreciation </a:t>
            </a:r>
            <a:r>
              <a:rPr lang="en-IN" sz="2600" dirty="0"/>
              <a:t>is a non-cash item, therefore, it has been excluded from total cost as well as working capital provided by overheads. Work-in-progress has been assumed to be 50% complete in respect of </a:t>
            </a:r>
            <a:r>
              <a:rPr lang="en-IN" sz="2600" dirty="0" smtClean="0"/>
              <a:t>materials </a:t>
            </a:r>
            <a:r>
              <a:rPr lang="en-IN" sz="2600" dirty="0"/>
              <a:t>as well as labour and overheads expenses.</a:t>
            </a:r>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0218"/>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10935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2386"/>
            <a:ext cx="10515600" cy="5427407"/>
          </a:xfrm>
        </p:spPr>
        <p:txBody>
          <a:bodyPr>
            <a:normAutofit fontScale="92500" lnSpcReduction="10000"/>
          </a:bodyPr>
          <a:lstStyle/>
          <a:p>
            <a:pPr marL="0" lvl="0" indent="0" algn="just">
              <a:buNone/>
            </a:pPr>
            <a:r>
              <a:rPr lang="en-US" dirty="0" smtClean="0"/>
              <a:t>P5. Suppose </a:t>
            </a:r>
            <a:r>
              <a:rPr lang="en-US" dirty="0"/>
              <a:t>a company sells goods at a profit margin of 25%, counting depreciation as part of the cost of manufacture. Its annual figures are as follows:</a:t>
            </a:r>
            <a:endParaRPr lang="en-IN" dirty="0"/>
          </a:p>
          <a:p>
            <a:pPr algn="just"/>
            <a:r>
              <a:rPr lang="en-US" dirty="0"/>
              <a:t>Sales (2 months </a:t>
            </a:r>
            <a:r>
              <a:rPr lang="en-US" dirty="0" smtClean="0"/>
              <a:t>credit) Rs. 240 million.</a:t>
            </a:r>
            <a:endParaRPr lang="en-IN" dirty="0"/>
          </a:p>
          <a:p>
            <a:pPr algn="just"/>
            <a:r>
              <a:rPr lang="en-US" dirty="0"/>
              <a:t>Material cost (suppliers give three months credit) </a:t>
            </a:r>
            <a:r>
              <a:rPr lang="en-US" dirty="0" smtClean="0"/>
              <a:t>Rs. 72 million.</a:t>
            </a:r>
            <a:endParaRPr lang="en-IN" dirty="0"/>
          </a:p>
          <a:p>
            <a:pPr algn="just"/>
            <a:r>
              <a:rPr lang="en-US" dirty="0"/>
              <a:t>Wages (wages are paid one month in arrears) 	</a:t>
            </a:r>
            <a:r>
              <a:rPr lang="en-US" dirty="0" smtClean="0"/>
              <a:t>Rs. 48 million.</a:t>
            </a:r>
            <a:endParaRPr lang="en-IN" dirty="0"/>
          </a:p>
          <a:p>
            <a:pPr algn="just"/>
            <a:r>
              <a:rPr lang="en-US" dirty="0"/>
              <a:t>Manufacturing expenses outstanding at the end of the year (cash </a:t>
            </a:r>
            <a:r>
              <a:rPr lang="en-US" dirty="0" smtClean="0"/>
              <a:t>expenses </a:t>
            </a:r>
            <a:r>
              <a:rPr lang="en-US" dirty="0"/>
              <a:t>are paid one month in </a:t>
            </a:r>
            <a:r>
              <a:rPr lang="en-US" dirty="0" smtClean="0"/>
              <a:t>arrears Rs. 4 million).</a:t>
            </a:r>
            <a:endParaRPr lang="en-IN" dirty="0"/>
          </a:p>
          <a:p>
            <a:pPr algn="just"/>
            <a:r>
              <a:rPr lang="en-US" dirty="0"/>
              <a:t>Administrative and sales expenses paid as and when they are incurred </a:t>
            </a:r>
            <a:r>
              <a:rPr lang="en-US" dirty="0" smtClean="0"/>
              <a:t>Rs. 30 million.</a:t>
            </a:r>
            <a:endParaRPr lang="en-IN" dirty="0"/>
          </a:p>
          <a:p>
            <a:pPr marL="0" indent="0" algn="just">
              <a:buNone/>
            </a:pPr>
            <a:r>
              <a:rPr lang="en-US" dirty="0"/>
              <a:t>If the company keeps two </a:t>
            </a:r>
            <a:r>
              <a:rPr lang="en-US" dirty="0" smtClean="0"/>
              <a:t>months’ </a:t>
            </a:r>
            <a:r>
              <a:rPr lang="en-US" dirty="0"/>
              <a:t>stock of raw materials and one </a:t>
            </a:r>
            <a:r>
              <a:rPr lang="en-US" dirty="0" smtClean="0"/>
              <a:t>month’s </a:t>
            </a:r>
            <a:r>
              <a:rPr lang="en-US" dirty="0"/>
              <a:t>stock of finished goods, and if it wants to maintain a cash balance of </a:t>
            </a:r>
            <a:r>
              <a:rPr lang="en-US" dirty="0" smtClean="0"/>
              <a:t>Rs. 5 </a:t>
            </a:r>
            <a:r>
              <a:rPr lang="en-US" dirty="0"/>
              <a:t>million, </a:t>
            </a:r>
            <a:r>
              <a:rPr lang="en-US" dirty="0" smtClean="0"/>
              <a:t>estimates </a:t>
            </a:r>
            <a:r>
              <a:rPr lang="en-US" dirty="0"/>
              <a:t>the requirement of working capital on </a:t>
            </a:r>
            <a:r>
              <a:rPr lang="en-US" dirty="0" smtClean="0"/>
              <a:t>a cash </a:t>
            </a:r>
            <a:r>
              <a:rPr lang="en-US" dirty="0"/>
              <a:t>cost basis, assuming </a:t>
            </a:r>
            <a:r>
              <a:rPr lang="en-US" dirty="0" smtClean="0"/>
              <a:t>a 10</a:t>
            </a:r>
            <a:r>
              <a:rPr lang="en-US" dirty="0"/>
              <a:t>% safety margin. Ignore work in process.</a:t>
            </a:r>
            <a:endParaRPr lang="en-IN" dirty="0"/>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53961"/>
            <a:ext cx="1816100" cy="575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14705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3" y="811162"/>
            <a:ext cx="10515600" cy="5663380"/>
          </a:xfrm>
        </p:spPr>
        <p:txBody>
          <a:bodyPr>
            <a:normAutofit/>
          </a:bodyPr>
          <a:lstStyle/>
          <a:p>
            <a:pPr marL="0" indent="0">
              <a:buNone/>
            </a:pPr>
            <a:r>
              <a:rPr lang="en-IN" sz="2600" b="1" dirty="0" smtClean="0">
                <a:solidFill>
                  <a:srgbClr val="FF0000"/>
                </a:solidFill>
              </a:rPr>
              <a:t>Working Note:</a:t>
            </a:r>
          </a:p>
          <a:p>
            <a:pPr marL="514350" indent="-514350">
              <a:buAutoNum type="arabicPeriod"/>
            </a:pPr>
            <a:r>
              <a:rPr lang="en-IN" sz="2600" b="1" dirty="0" smtClean="0">
                <a:solidFill>
                  <a:srgbClr val="FF0000"/>
                </a:solidFill>
              </a:rPr>
              <a:t>Calculation of the amount of depreciation: </a:t>
            </a:r>
          </a:p>
          <a:p>
            <a:pPr marL="0" indent="0">
              <a:buNone/>
            </a:pPr>
            <a:endParaRPr lang="en-IN" sz="2600" b="1"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228592351"/>
              </p:ext>
            </p:extLst>
          </p:nvPr>
        </p:nvGraphicFramePr>
        <p:xfrm>
          <a:off x="838202" y="1722556"/>
          <a:ext cx="10515601" cy="4541520"/>
        </p:xfrm>
        <a:graphic>
          <a:graphicData uri="http://schemas.openxmlformats.org/drawingml/2006/table">
            <a:tbl>
              <a:tblPr firstRow="1" bandRow="1">
                <a:tableStyleId>{5C22544A-7EE6-4342-B048-85BDC9FD1C3A}</a:tableStyleId>
              </a:tblPr>
              <a:tblGrid>
                <a:gridCol w="916857">
                  <a:extLst>
                    <a:ext uri="{9D8B030D-6E8A-4147-A177-3AD203B41FA5}">
                      <a16:colId xmlns:a16="http://schemas.microsoft.com/office/drawing/2014/main" val="1099100"/>
                    </a:ext>
                  </a:extLst>
                </a:gridCol>
                <a:gridCol w="7064476">
                  <a:extLst>
                    <a:ext uri="{9D8B030D-6E8A-4147-A177-3AD203B41FA5}">
                      <a16:colId xmlns:a16="http://schemas.microsoft.com/office/drawing/2014/main" val="84886846"/>
                    </a:ext>
                  </a:extLst>
                </a:gridCol>
                <a:gridCol w="1238865">
                  <a:extLst>
                    <a:ext uri="{9D8B030D-6E8A-4147-A177-3AD203B41FA5}">
                      <a16:colId xmlns:a16="http://schemas.microsoft.com/office/drawing/2014/main" val="3385323149"/>
                    </a:ext>
                  </a:extLst>
                </a:gridCol>
                <a:gridCol w="1295403">
                  <a:extLst>
                    <a:ext uri="{9D8B030D-6E8A-4147-A177-3AD203B41FA5}">
                      <a16:colId xmlns:a16="http://schemas.microsoft.com/office/drawing/2014/main" val="4199564859"/>
                    </a:ext>
                  </a:extLst>
                </a:gridCol>
              </a:tblGrid>
              <a:tr h="370840">
                <a:tc>
                  <a:txBody>
                    <a:bodyPr/>
                    <a:lstStyle/>
                    <a:p>
                      <a:endParaRPr lang="en-IN" sz="1800" dirty="0"/>
                    </a:p>
                  </a:txBody>
                  <a:tcPr/>
                </a:tc>
                <a:tc>
                  <a:txBody>
                    <a:bodyPr/>
                    <a:lstStyle/>
                    <a:p>
                      <a:pPr algn="ctr"/>
                      <a:r>
                        <a:rPr lang="en-IN" sz="1800" dirty="0" smtClean="0"/>
                        <a:t>Particulars</a:t>
                      </a:r>
                      <a:endParaRPr lang="en-IN" sz="1800" dirty="0"/>
                    </a:p>
                  </a:txBody>
                  <a:tcPr/>
                </a:tc>
                <a:tc>
                  <a:txBody>
                    <a:bodyPr/>
                    <a:lstStyle/>
                    <a:p>
                      <a:pPr algn="ctr"/>
                      <a:r>
                        <a:rPr lang="en-IN" sz="1800" dirty="0" smtClean="0"/>
                        <a:t>Rs.</a:t>
                      </a:r>
                    </a:p>
                    <a:p>
                      <a:pPr algn="ctr"/>
                      <a:r>
                        <a:rPr lang="en-IN" sz="1800" dirty="0" smtClean="0"/>
                        <a:t>(In Million)</a:t>
                      </a:r>
                      <a:endParaRPr lang="en-IN" sz="1800" dirty="0"/>
                    </a:p>
                  </a:txBody>
                  <a:tcPr/>
                </a:tc>
                <a:tc>
                  <a:txBody>
                    <a:bodyPr/>
                    <a:lstStyle/>
                    <a:p>
                      <a:pPr algn="ctr"/>
                      <a:r>
                        <a:rPr lang="en-IN" sz="1800" dirty="0" smtClean="0"/>
                        <a:t>Rs. </a:t>
                      </a:r>
                    </a:p>
                    <a:p>
                      <a:pPr algn="ctr"/>
                      <a:r>
                        <a:rPr lang="en-IN" sz="1800" dirty="0" smtClean="0"/>
                        <a:t>(In Million)</a:t>
                      </a:r>
                      <a:endParaRPr lang="en-IN" sz="1800" dirty="0"/>
                    </a:p>
                  </a:txBody>
                  <a:tcPr/>
                </a:tc>
                <a:extLst>
                  <a:ext uri="{0D108BD9-81ED-4DB2-BD59-A6C34878D82A}">
                    <a16:rowId xmlns:a16="http://schemas.microsoft.com/office/drawing/2014/main" val="306531270"/>
                  </a:ext>
                </a:extLst>
              </a:tr>
              <a:tr h="370840">
                <a:tc>
                  <a:txBody>
                    <a:bodyPr/>
                    <a:lstStyle/>
                    <a:p>
                      <a:endParaRPr lang="en-IN" sz="2600" dirty="0">
                        <a:solidFill>
                          <a:srgbClr val="FF0000"/>
                        </a:solidFill>
                      </a:endParaRPr>
                    </a:p>
                  </a:txBody>
                  <a:tcPr/>
                </a:tc>
                <a:tc>
                  <a:txBody>
                    <a:bodyPr/>
                    <a:lstStyle/>
                    <a:p>
                      <a:r>
                        <a:rPr lang="en-IN" sz="2600" dirty="0" smtClean="0"/>
                        <a:t>Sales </a:t>
                      </a:r>
                      <a:endParaRPr lang="en-IN" sz="2600" dirty="0"/>
                    </a:p>
                  </a:txBody>
                  <a:tcPr/>
                </a:tc>
                <a:tc>
                  <a:txBody>
                    <a:bodyPr/>
                    <a:lstStyle/>
                    <a:p>
                      <a:pPr algn="r"/>
                      <a:endParaRPr lang="en-IN" sz="2600" dirty="0"/>
                    </a:p>
                  </a:txBody>
                  <a:tcPr/>
                </a:tc>
                <a:tc>
                  <a:txBody>
                    <a:bodyPr/>
                    <a:lstStyle/>
                    <a:p>
                      <a:pPr algn="r"/>
                      <a:r>
                        <a:rPr lang="en-IN" sz="2600" dirty="0" smtClean="0"/>
                        <a:t>240</a:t>
                      </a:r>
                      <a:endParaRPr lang="en-IN" sz="2600" dirty="0"/>
                    </a:p>
                  </a:txBody>
                  <a:tcPr/>
                </a:tc>
                <a:extLst>
                  <a:ext uri="{0D108BD9-81ED-4DB2-BD59-A6C34878D82A}">
                    <a16:rowId xmlns:a16="http://schemas.microsoft.com/office/drawing/2014/main" val="716471701"/>
                  </a:ext>
                </a:extLst>
              </a:tr>
              <a:tr h="370840">
                <a:tc>
                  <a:txBody>
                    <a:bodyPr/>
                    <a:lstStyle/>
                    <a:p>
                      <a:pPr algn="ctr"/>
                      <a:r>
                        <a:rPr lang="en-IN" sz="2600" dirty="0" smtClean="0">
                          <a:solidFill>
                            <a:srgbClr val="FF0000"/>
                          </a:solidFill>
                        </a:rPr>
                        <a:t>Less </a:t>
                      </a:r>
                      <a:endParaRPr lang="en-IN" sz="2600" dirty="0">
                        <a:solidFill>
                          <a:srgbClr val="FF0000"/>
                        </a:solidFill>
                      </a:endParaRPr>
                    </a:p>
                  </a:txBody>
                  <a:tcPr/>
                </a:tc>
                <a:tc>
                  <a:txBody>
                    <a:bodyPr/>
                    <a:lstStyle/>
                    <a:p>
                      <a:r>
                        <a:rPr lang="en-IN" sz="2600" dirty="0" smtClean="0"/>
                        <a:t>Gross profit @25% of Rs. 240</a:t>
                      </a:r>
                      <a:endParaRPr lang="en-IN" sz="2600" dirty="0"/>
                    </a:p>
                  </a:txBody>
                  <a:tcPr/>
                </a:tc>
                <a:tc>
                  <a:txBody>
                    <a:bodyPr/>
                    <a:lstStyle/>
                    <a:p>
                      <a:pPr algn="r"/>
                      <a:endParaRPr lang="en-IN" sz="2600" dirty="0"/>
                    </a:p>
                  </a:txBody>
                  <a:tcPr/>
                </a:tc>
                <a:tc>
                  <a:txBody>
                    <a:bodyPr/>
                    <a:lstStyle/>
                    <a:p>
                      <a:pPr algn="r"/>
                      <a:r>
                        <a:rPr lang="en-IN" sz="2600" dirty="0" smtClean="0"/>
                        <a:t>60</a:t>
                      </a:r>
                      <a:endParaRPr lang="en-IN" sz="2600" dirty="0"/>
                    </a:p>
                  </a:txBody>
                  <a:tcPr/>
                </a:tc>
                <a:extLst>
                  <a:ext uri="{0D108BD9-81ED-4DB2-BD59-A6C34878D82A}">
                    <a16:rowId xmlns:a16="http://schemas.microsoft.com/office/drawing/2014/main" val="2737595348"/>
                  </a:ext>
                </a:extLst>
              </a:tr>
              <a:tr h="370840">
                <a:tc>
                  <a:txBody>
                    <a:bodyPr/>
                    <a:lstStyle/>
                    <a:p>
                      <a:pPr algn="ctr"/>
                      <a:endParaRPr lang="en-IN" sz="2600" b="1" dirty="0">
                        <a:solidFill>
                          <a:srgbClr val="FF0000"/>
                        </a:solidFill>
                      </a:endParaRPr>
                    </a:p>
                  </a:txBody>
                  <a:tcPr/>
                </a:tc>
                <a:tc>
                  <a:txBody>
                    <a:bodyPr/>
                    <a:lstStyle/>
                    <a:p>
                      <a:r>
                        <a:rPr lang="en-IN" sz="2600" b="1" dirty="0" smtClean="0">
                          <a:solidFill>
                            <a:srgbClr val="FF0000"/>
                          </a:solidFill>
                        </a:rPr>
                        <a:t>Cost of</a:t>
                      </a:r>
                      <a:r>
                        <a:rPr lang="en-IN" sz="2600" b="1" baseline="0" dirty="0" smtClean="0">
                          <a:solidFill>
                            <a:srgbClr val="FF0000"/>
                          </a:solidFill>
                        </a:rPr>
                        <a:t> Goods Sold </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180</a:t>
                      </a:r>
                      <a:endParaRPr lang="en-IN" sz="2600" b="1" dirty="0">
                        <a:solidFill>
                          <a:srgbClr val="FF0000"/>
                        </a:solidFill>
                      </a:endParaRPr>
                    </a:p>
                  </a:txBody>
                  <a:tcPr/>
                </a:tc>
                <a:extLst>
                  <a:ext uri="{0D108BD9-81ED-4DB2-BD59-A6C34878D82A}">
                    <a16:rowId xmlns:a16="http://schemas.microsoft.com/office/drawing/2014/main" val="89612396"/>
                  </a:ext>
                </a:extLst>
              </a:tr>
              <a:tr h="370840">
                <a:tc>
                  <a:txBody>
                    <a:bodyPr/>
                    <a:lstStyle/>
                    <a:p>
                      <a:pPr algn="ctr"/>
                      <a:r>
                        <a:rPr lang="en-IN" sz="2600" dirty="0" smtClean="0">
                          <a:solidFill>
                            <a:srgbClr val="FF0000"/>
                          </a:solidFill>
                        </a:rPr>
                        <a:t>Less </a:t>
                      </a:r>
                      <a:endParaRPr lang="en-IN" sz="2600" dirty="0">
                        <a:solidFill>
                          <a:srgbClr val="FF0000"/>
                        </a:solidFill>
                      </a:endParaRPr>
                    </a:p>
                  </a:txBody>
                  <a:tcPr/>
                </a:tc>
                <a:tc>
                  <a:txBody>
                    <a:bodyPr/>
                    <a:lstStyle/>
                    <a:p>
                      <a:r>
                        <a:rPr lang="en-IN" sz="2600" dirty="0" smtClean="0"/>
                        <a:t>Materials</a:t>
                      </a:r>
                      <a:r>
                        <a:rPr lang="en-IN" sz="2600" baseline="0" dirty="0" smtClean="0"/>
                        <a:t> </a:t>
                      </a:r>
                      <a:endParaRPr lang="en-IN" sz="2600" dirty="0"/>
                    </a:p>
                  </a:txBody>
                  <a:tcPr/>
                </a:tc>
                <a:tc>
                  <a:txBody>
                    <a:bodyPr/>
                    <a:lstStyle/>
                    <a:p>
                      <a:pPr algn="r"/>
                      <a:r>
                        <a:rPr lang="en-IN" sz="2600" dirty="0" smtClean="0"/>
                        <a:t>72</a:t>
                      </a:r>
                      <a:endParaRPr lang="en-IN" sz="2600" dirty="0"/>
                    </a:p>
                  </a:txBody>
                  <a:tcPr/>
                </a:tc>
                <a:tc>
                  <a:txBody>
                    <a:bodyPr/>
                    <a:lstStyle/>
                    <a:p>
                      <a:pPr algn="r"/>
                      <a:endParaRPr lang="en-IN" sz="2600" dirty="0"/>
                    </a:p>
                  </a:txBody>
                  <a:tcPr/>
                </a:tc>
                <a:extLst>
                  <a:ext uri="{0D108BD9-81ED-4DB2-BD59-A6C34878D82A}">
                    <a16:rowId xmlns:a16="http://schemas.microsoft.com/office/drawing/2014/main" val="262370113"/>
                  </a:ext>
                </a:extLst>
              </a:tr>
              <a:tr h="370840">
                <a:tc>
                  <a:txBody>
                    <a:bodyPr/>
                    <a:lstStyle/>
                    <a:p>
                      <a:pPr algn="ctr"/>
                      <a:endParaRPr lang="en-IN" sz="2600" dirty="0">
                        <a:solidFill>
                          <a:srgbClr val="FF0000"/>
                        </a:solidFill>
                      </a:endParaRPr>
                    </a:p>
                  </a:txBody>
                  <a:tcPr/>
                </a:tc>
                <a:tc>
                  <a:txBody>
                    <a:bodyPr/>
                    <a:lstStyle/>
                    <a:p>
                      <a:r>
                        <a:rPr lang="en-IN" sz="2600" dirty="0" smtClean="0"/>
                        <a:t>Wages</a:t>
                      </a:r>
                      <a:r>
                        <a:rPr lang="en-IN" sz="2600" baseline="0" dirty="0" smtClean="0"/>
                        <a:t> </a:t>
                      </a:r>
                      <a:endParaRPr lang="en-IN" sz="2600" dirty="0"/>
                    </a:p>
                  </a:txBody>
                  <a:tcPr/>
                </a:tc>
                <a:tc>
                  <a:txBody>
                    <a:bodyPr/>
                    <a:lstStyle/>
                    <a:p>
                      <a:pPr algn="r"/>
                      <a:r>
                        <a:rPr lang="en-IN" sz="2600" dirty="0" smtClean="0"/>
                        <a:t>48</a:t>
                      </a:r>
                      <a:endParaRPr lang="en-IN" sz="2600" dirty="0"/>
                    </a:p>
                  </a:txBody>
                  <a:tcPr/>
                </a:tc>
                <a:tc>
                  <a:txBody>
                    <a:bodyPr/>
                    <a:lstStyle/>
                    <a:p>
                      <a:pPr algn="r"/>
                      <a:r>
                        <a:rPr lang="en-IN" sz="2600" dirty="0" smtClean="0"/>
                        <a:t>120</a:t>
                      </a:r>
                      <a:endParaRPr lang="en-IN" sz="2600" dirty="0"/>
                    </a:p>
                  </a:txBody>
                  <a:tcPr/>
                </a:tc>
                <a:extLst>
                  <a:ext uri="{0D108BD9-81ED-4DB2-BD59-A6C34878D82A}">
                    <a16:rowId xmlns:a16="http://schemas.microsoft.com/office/drawing/2014/main" val="1019673901"/>
                  </a:ext>
                </a:extLst>
              </a:tr>
              <a:tr h="370840">
                <a:tc>
                  <a:txBody>
                    <a:bodyPr/>
                    <a:lstStyle/>
                    <a:p>
                      <a:pPr algn="ctr"/>
                      <a:endParaRPr lang="en-IN" sz="2600" b="1" dirty="0">
                        <a:solidFill>
                          <a:srgbClr val="FF0000"/>
                        </a:solidFill>
                      </a:endParaRPr>
                    </a:p>
                  </a:txBody>
                  <a:tcPr/>
                </a:tc>
                <a:tc>
                  <a:txBody>
                    <a:bodyPr/>
                    <a:lstStyle/>
                    <a:p>
                      <a:r>
                        <a:rPr lang="en-IN" sz="2600" b="1" dirty="0" smtClean="0">
                          <a:solidFill>
                            <a:srgbClr val="FF0000"/>
                          </a:solidFill>
                        </a:rPr>
                        <a:t>Manufacturing expenses [B/F]</a:t>
                      </a:r>
                      <a:endParaRPr lang="en-IN" sz="2600" b="1" dirty="0">
                        <a:solidFill>
                          <a:srgbClr val="FF0000"/>
                        </a:solidFill>
                      </a:endParaRPr>
                    </a:p>
                  </a:txBody>
                  <a:tcPr/>
                </a:tc>
                <a:tc>
                  <a:txBody>
                    <a:bodyPr/>
                    <a:lstStyle/>
                    <a:p>
                      <a:pPr algn="r"/>
                      <a:endParaRPr lang="en-IN" sz="2600" b="1" dirty="0">
                        <a:solidFill>
                          <a:srgbClr val="FF0000"/>
                        </a:solidFill>
                      </a:endParaRPr>
                    </a:p>
                  </a:txBody>
                  <a:tcPr/>
                </a:tc>
                <a:tc>
                  <a:txBody>
                    <a:bodyPr/>
                    <a:lstStyle/>
                    <a:p>
                      <a:pPr algn="r"/>
                      <a:r>
                        <a:rPr lang="en-IN" sz="2600" b="1" dirty="0" smtClean="0">
                          <a:solidFill>
                            <a:srgbClr val="FF0000"/>
                          </a:solidFill>
                        </a:rPr>
                        <a:t>60</a:t>
                      </a:r>
                      <a:endParaRPr lang="en-IN" sz="2600" b="1" dirty="0">
                        <a:solidFill>
                          <a:srgbClr val="FF0000"/>
                        </a:solidFill>
                      </a:endParaRPr>
                    </a:p>
                  </a:txBody>
                  <a:tcPr/>
                </a:tc>
                <a:extLst>
                  <a:ext uri="{0D108BD9-81ED-4DB2-BD59-A6C34878D82A}">
                    <a16:rowId xmlns:a16="http://schemas.microsoft.com/office/drawing/2014/main" val="3250155015"/>
                  </a:ext>
                </a:extLst>
              </a:tr>
              <a:tr h="370840">
                <a:tc>
                  <a:txBody>
                    <a:bodyPr/>
                    <a:lstStyle/>
                    <a:p>
                      <a:pPr algn="ctr"/>
                      <a:r>
                        <a:rPr lang="en-IN" sz="2600" dirty="0" smtClean="0">
                          <a:solidFill>
                            <a:srgbClr val="FF0000"/>
                          </a:solidFill>
                        </a:rPr>
                        <a:t>Less </a:t>
                      </a:r>
                      <a:endParaRPr lang="en-IN" sz="2600" dirty="0">
                        <a:solidFill>
                          <a:srgbClr val="FF0000"/>
                        </a:solidFill>
                      </a:endParaRPr>
                    </a:p>
                  </a:txBody>
                  <a:tcPr/>
                </a:tc>
                <a:tc>
                  <a:txBody>
                    <a:bodyPr/>
                    <a:lstStyle/>
                    <a:p>
                      <a:r>
                        <a:rPr lang="en-IN" sz="2600" dirty="0" smtClean="0"/>
                        <a:t>Cash</a:t>
                      </a:r>
                      <a:r>
                        <a:rPr lang="en-IN" sz="2600" baseline="0" dirty="0" smtClean="0"/>
                        <a:t> Manufacturing cost [Rs.4 × 12]</a:t>
                      </a:r>
                      <a:endParaRPr lang="en-IN" sz="2600" dirty="0"/>
                    </a:p>
                  </a:txBody>
                  <a:tcPr/>
                </a:tc>
                <a:tc>
                  <a:txBody>
                    <a:bodyPr/>
                    <a:lstStyle/>
                    <a:p>
                      <a:pPr algn="r"/>
                      <a:endParaRPr lang="en-IN" sz="2600" dirty="0"/>
                    </a:p>
                  </a:txBody>
                  <a:tcPr/>
                </a:tc>
                <a:tc>
                  <a:txBody>
                    <a:bodyPr/>
                    <a:lstStyle/>
                    <a:p>
                      <a:pPr algn="r"/>
                      <a:r>
                        <a:rPr lang="en-IN" sz="2600" dirty="0" smtClean="0"/>
                        <a:t>48</a:t>
                      </a:r>
                    </a:p>
                  </a:txBody>
                  <a:tcPr/>
                </a:tc>
                <a:extLst>
                  <a:ext uri="{0D108BD9-81ED-4DB2-BD59-A6C34878D82A}">
                    <a16:rowId xmlns:a16="http://schemas.microsoft.com/office/drawing/2014/main" val="3487127315"/>
                  </a:ext>
                </a:extLst>
              </a:tr>
              <a:tr h="370840">
                <a:tc>
                  <a:txBody>
                    <a:bodyPr/>
                    <a:lstStyle/>
                    <a:p>
                      <a:pPr algn="ctr"/>
                      <a:endParaRPr lang="en-IN" sz="2600" b="1" dirty="0">
                        <a:solidFill>
                          <a:srgbClr val="FF0000"/>
                        </a:solidFill>
                      </a:endParaRPr>
                    </a:p>
                  </a:txBody>
                  <a:tcPr/>
                </a:tc>
                <a:tc>
                  <a:txBody>
                    <a:bodyPr/>
                    <a:lstStyle/>
                    <a:p>
                      <a:r>
                        <a:rPr lang="en-IN" sz="2600" b="1" dirty="0" smtClean="0">
                          <a:solidFill>
                            <a:srgbClr val="FF0000"/>
                          </a:solidFill>
                        </a:rPr>
                        <a:t>Depreciation</a:t>
                      </a:r>
                      <a:r>
                        <a:rPr lang="en-IN" sz="2600" b="1" baseline="0" dirty="0" smtClean="0">
                          <a:solidFill>
                            <a:srgbClr val="FF0000"/>
                          </a:solidFill>
                        </a:rPr>
                        <a:t> [Non-cash cost]</a:t>
                      </a:r>
                      <a:endParaRPr lang="en-IN" sz="2600" b="1" dirty="0">
                        <a:solidFill>
                          <a:srgbClr val="FF0000"/>
                        </a:solidFill>
                      </a:endParaRPr>
                    </a:p>
                  </a:txBody>
                  <a:tcPr/>
                </a:tc>
                <a:tc>
                  <a:txBody>
                    <a:bodyPr/>
                    <a:lstStyle/>
                    <a:p>
                      <a:endParaRPr lang="en-IN" sz="2600" b="1" dirty="0">
                        <a:solidFill>
                          <a:srgbClr val="FF0000"/>
                        </a:solidFill>
                      </a:endParaRPr>
                    </a:p>
                  </a:txBody>
                  <a:tcPr/>
                </a:tc>
                <a:tc>
                  <a:txBody>
                    <a:bodyPr/>
                    <a:lstStyle/>
                    <a:p>
                      <a:pPr algn="r"/>
                      <a:r>
                        <a:rPr lang="en-IN" sz="2600" b="1" dirty="0" smtClean="0">
                          <a:solidFill>
                            <a:srgbClr val="FF0000"/>
                          </a:solidFill>
                        </a:rPr>
                        <a:t>12</a:t>
                      </a:r>
                    </a:p>
                  </a:txBody>
                  <a:tcPr/>
                </a:tc>
                <a:extLst>
                  <a:ext uri="{0D108BD9-81ED-4DB2-BD59-A6C34878D82A}">
                    <a16:rowId xmlns:a16="http://schemas.microsoft.com/office/drawing/2014/main" val="3293277850"/>
                  </a:ext>
                </a:extLst>
              </a:tr>
            </a:tbl>
          </a:graphicData>
        </a:graphic>
      </p:graphicFrame>
      <p:pic>
        <p:nvPicPr>
          <p:cNvPr id="5" name="Picture 4"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32167"/>
            <a:ext cx="1816100" cy="54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0850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2890"/>
            <a:ext cx="10515600" cy="5174073"/>
          </a:xfrm>
        </p:spPr>
        <p:txBody>
          <a:bodyPr>
            <a:normAutofit/>
          </a:bodyPr>
          <a:lstStyle/>
          <a:p>
            <a:pPr marL="0" indent="0">
              <a:buNone/>
            </a:pPr>
            <a:r>
              <a:rPr lang="en-IN" sz="2600" b="1" dirty="0" smtClean="0">
                <a:solidFill>
                  <a:srgbClr val="FF0000"/>
                </a:solidFill>
              </a:rPr>
              <a:t>2. Calculation of Total Cash </a:t>
            </a:r>
            <a:r>
              <a:rPr lang="en-IN" sz="2600" b="1" dirty="0">
                <a:solidFill>
                  <a:srgbClr val="FF0000"/>
                </a:solidFill>
              </a:rPr>
              <a:t>C</a:t>
            </a:r>
            <a:r>
              <a:rPr lang="en-IN" sz="2600" b="1" dirty="0" smtClean="0">
                <a:solidFill>
                  <a:srgbClr val="FF0000"/>
                </a:solidFill>
              </a:rPr>
              <a:t>ost of Sales:</a:t>
            </a:r>
          </a:p>
          <a:p>
            <a:pPr marL="0" indent="0">
              <a:buNone/>
            </a:pPr>
            <a:endParaRPr lang="en-IN" sz="2600" b="1"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400011065"/>
              </p:ext>
            </p:extLst>
          </p:nvPr>
        </p:nvGraphicFramePr>
        <p:xfrm>
          <a:off x="838200" y="1442336"/>
          <a:ext cx="10515600" cy="3078480"/>
        </p:xfrm>
        <a:graphic>
          <a:graphicData uri="http://schemas.openxmlformats.org/drawingml/2006/table">
            <a:tbl>
              <a:tblPr firstRow="1" bandRow="1">
                <a:tableStyleId>{5C22544A-7EE6-4342-B048-85BDC9FD1C3A}</a:tableStyleId>
              </a:tblPr>
              <a:tblGrid>
                <a:gridCol w="843118">
                  <a:extLst>
                    <a:ext uri="{9D8B030D-6E8A-4147-A177-3AD203B41FA5}">
                      <a16:colId xmlns:a16="http://schemas.microsoft.com/office/drawing/2014/main" val="4030175899"/>
                    </a:ext>
                  </a:extLst>
                </a:gridCol>
                <a:gridCol w="8288594">
                  <a:extLst>
                    <a:ext uri="{9D8B030D-6E8A-4147-A177-3AD203B41FA5}">
                      <a16:colId xmlns:a16="http://schemas.microsoft.com/office/drawing/2014/main" val="2979920411"/>
                    </a:ext>
                  </a:extLst>
                </a:gridCol>
                <a:gridCol w="1383888">
                  <a:extLst>
                    <a:ext uri="{9D8B030D-6E8A-4147-A177-3AD203B41FA5}">
                      <a16:colId xmlns:a16="http://schemas.microsoft.com/office/drawing/2014/main" val="1560792791"/>
                    </a:ext>
                  </a:extLst>
                </a:gridCol>
              </a:tblGrid>
              <a:tr h="370840">
                <a:tc>
                  <a:txBody>
                    <a:bodyPr/>
                    <a:lstStyle/>
                    <a:p>
                      <a:endParaRPr lang="en-IN" dirty="0"/>
                    </a:p>
                  </a:txBody>
                  <a:tcPr/>
                </a:tc>
                <a:tc>
                  <a:txBody>
                    <a:bodyPr/>
                    <a:lstStyle/>
                    <a:p>
                      <a:pPr algn="ctr"/>
                      <a:r>
                        <a:rPr lang="en-IN" dirty="0" smtClean="0"/>
                        <a:t>Particulars</a:t>
                      </a:r>
                      <a:endParaRPr lang="en-IN" dirty="0"/>
                    </a:p>
                  </a:txBody>
                  <a:tcPr/>
                </a:tc>
                <a:tc>
                  <a:txBody>
                    <a:bodyPr/>
                    <a:lstStyle/>
                    <a:p>
                      <a:pPr algn="ctr"/>
                      <a:r>
                        <a:rPr lang="en-IN" dirty="0" smtClean="0"/>
                        <a:t>Rs. </a:t>
                      </a:r>
                    </a:p>
                    <a:p>
                      <a:pPr algn="ctr"/>
                      <a:r>
                        <a:rPr lang="en-IN" dirty="0" smtClean="0"/>
                        <a:t>(In Million)</a:t>
                      </a:r>
                      <a:endParaRPr lang="en-IN" dirty="0"/>
                    </a:p>
                  </a:txBody>
                  <a:tcPr/>
                </a:tc>
                <a:extLst>
                  <a:ext uri="{0D108BD9-81ED-4DB2-BD59-A6C34878D82A}">
                    <a16:rowId xmlns:a16="http://schemas.microsoft.com/office/drawing/2014/main" val="3954455280"/>
                  </a:ext>
                </a:extLst>
              </a:tr>
              <a:tr h="370840">
                <a:tc>
                  <a:txBody>
                    <a:bodyPr/>
                    <a:lstStyle/>
                    <a:p>
                      <a:pPr algn="ctr"/>
                      <a:endParaRPr lang="en-IN" sz="2600" dirty="0"/>
                    </a:p>
                  </a:txBody>
                  <a:tcPr/>
                </a:tc>
                <a:tc>
                  <a:txBody>
                    <a:bodyPr/>
                    <a:lstStyle/>
                    <a:p>
                      <a:r>
                        <a:rPr lang="en-IN" sz="2600" dirty="0" smtClean="0"/>
                        <a:t>Cost of goods sold </a:t>
                      </a:r>
                      <a:endParaRPr lang="en-IN" sz="2600" dirty="0"/>
                    </a:p>
                  </a:txBody>
                  <a:tcPr/>
                </a:tc>
                <a:tc>
                  <a:txBody>
                    <a:bodyPr/>
                    <a:lstStyle/>
                    <a:p>
                      <a:pPr algn="r"/>
                      <a:r>
                        <a:rPr lang="en-IN" sz="2600" dirty="0" smtClean="0"/>
                        <a:t>180</a:t>
                      </a:r>
                      <a:endParaRPr lang="en-IN" sz="2600" dirty="0"/>
                    </a:p>
                  </a:txBody>
                  <a:tcPr/>
                </a:tc>
                <a:extLst>
                  <a:ext uri="{0D108BD9-81ED-4DB2-BD59-A6C34878D82A}">
                    <a16:rowId xmlns:a16="http://schemas.microsoft.com/office/drawing/2014/main" val="2711072224"/>
                  </a:ext>
                </a:extLst>
              </a:tr>
              <a:tr h="370840">
                <a:tc>
                  <a:txBody>
                    <a:bodyPr/>
                    <a:lstStyle/>
                    <a:p>
                      <a:pPr algn="ctr"/>
                      <a:r>
                        <a:rPr lang="en-IN" sz="2600" b="1" dirty="0" smtClean="0">
                          <a:solidFill>
                            <a:srgbClr val="FF0000"/>
                          </a:solidFill>
                        </a:rPr>
                        <a:t>Less</a:t>
                      </a:r>
                      <a:endParaRPr lang="en-IN" sz="2600" b="1" dirty="0">
                        <a:solidFill>
                          <a:srgbClr val="FF0000"/>
                        </a:solidFill>
                      </a:endParaRPr>
                    </a:p>
                  </a:txBody>
                  <a:tcPr/>
                </a:tc>
                <a:tc>
                  <a:txBody>
                    <a:bodyPr/>
                    <a:lstStyle/>
                    <a:p>
                      <a:r>
                        <a:rPr lang="en-IN" sz="2600" dirty="0" smtClean="0">
                          <a:solidFill>
                            <a:schemeClr val="tx1"/>
                          </a:solidFill>
                        </a:rPr>
                        <a:t>Depreciation</a:t>
                      </a:r>
                      <a:r>
                        <a:rPr lang="en-IN" sz="2600" baseline="0" dirty="0" smtClean="0">
                          <a:solidFill>
                            <a:schemeClr val="tx1"/>
                          </a:solidFill>
                        </a:rPr>
                        <a:t> </a:t>
                      </a:r>
                      <a:r>
                        <a:rPr lang="en-IN" sz="2600" b="1" baseline="0" dirty="0" smtClean="0">
                          <a:solidFill>
                            <a:srgbClr val="FF0000"/>
                          </a:solidFill>
                        </a:rPr>
                        <a:t>[</a:t>
                      </a:r>
                      <a:r>
                        <a:rPr lang="en-IN" sz="2600" b="1" baseline="0" dirty="0" smtClean="0">
                          <a:solidFill>
                            <a:srgbClr val="FF0000"/>
                          </a:solidFill>
                        </a:rPr>
                        <a:t>Non-Cash Cost</a:t>
                      </a:r>
                      <a:r>
                        <a:rPr lang="en-IN" sz="2600" b="1" baseline="0" dirty="0" smtClean="0">
                          <a:solidFill>
                            <a:srgbClr val="FF0000"/>
                          </a:solidFill>
                        </a:rPr>
                        <a:t>]</a:t>
                      </a:r>
                      <a:endParaRPr lang="en-IN" sz="2600" b="1" dirty="0">
                        <a:solidFill>
                          <a:srgbClr val="FF0000"/>
                        </a:solidFill>
                      </a:endParaRPr>
                    </a:p>
                  </a:txBody>
                  <a:tcPr/>
                </a:tc>
                <a:tc>
                  <a:txBody>
                    <a:bodyPr/>
                    <a:lstStyle/>
                    <a:p>
                      <a:pPr algn="r"/>
                      <a:r>
                        <a:rPr lang="en-IN" sz="2600" dirty="0" smtClean="0">
                          <a:solidFill>
                            <a:schemeClr val="tx1"/>
                          </a:solidFill>
                        </a:rPr>
                        <a:t>12</a:t>
                      </a:r>
                      <a:endParaRPr lang="en-IN" sz="2600" dirty="0">
                        <a:solidFill>
                          <a:schemeClr val="tx1"/>
                        </a:solidFill>
                      </a:endParaRPr>
                    </a:p>
                  </a:txBody>
                  <a:tcPr/>
                </a:tc>
                <a:extLst>
                  <a:ext uri="{0D108BD9-81ED-4DB2-BD59-A6C34878D82A}">
                    <a16:rowId xmlns:a16="http://schemas.microsoft.com/office/drawing/2014/main" val="2425650313"/>
                  </a:ext>
                </a:extLst>
              </a:tr>
              <a:tr h="370840">
                <a:tc>
                  <a:txBody>
                    <a:bodyPr/>
                    <a:lstStyle/>
                    <a:p>
                      <a:pPr algn="ctr"/>
                      <a:endParaRPr lang="en-IN" sz="2600" b="1" dirty="0">
                        <a:solidFill>
                          <a:srgbClr val="FF0000"/>
                        </a:solidFill>
                      </a:endParaRPr>
                    </a:p>
                  </a:txBody>
                  <a:tcPr/>
                </a:tc>
                <a:tc>
                  <a:txBody>
                    <a:bodyPr/>
                    <a:lstStyle/>
                    <a:p>
                      <a:r>
                        <a:rPr lang="en-IN" sz="2600" b="1" dirty="0" smtClean="0">
                          <a:solidFill>
                            <a:srgbClr val="FF0000"/>
                          </a:solidFill>
                        </a:rPr>
                        <a:t>Cash </a:t>
                      </a:r>
                      <a:r>
                        <a:rPr lang="en-IN" sz="2600" b="1" dirty="0" smtClean="0">
                          <a:solidFill>
                            <a:srgbClr val="FF0000"/>
                          </a:solidFill>
                        </a:rPr>
                        <a:t>Cost </a:t>
                      </a:r>
                      <a:r>
                        <a:rPr lang="en-IN" sz="2600" b="1" dirty="0" smtClean="0">
                          <a:solidFill>
                            <a:srgbClr val="FF0000"/>
                          </a:solidFill>
                        </a:rPr>
                        <a:t>of </a:t>
                      </a:r>
                      <a:r>
                        <a:rPr lang="en-IN" sz="2600" b="1" dirty="0" smtClean="0">
                          <a:solidFill>
                            <a:srgbClr val="FF0000"/>
                          </a:solidFill>
                        </a:rPr>
                        <a:t>Sales </a:t>
                      </a:r>
                      <a:r>
                        <a:rPr lang="en-IN" sz="2600" b="1" dirty="0" smtClean="0">
                          <a:solidFill>
                            <a:srgbClr val="FF0000"/>
                          </a:solidFill>
                        </a:rPr>
                        <a:t>[Production]</a:t>
                      </a:r>
                      <a:endParaRPr lang="en-IN" sz="2600" b="1" dirty="0">
                        <a:solidFill>
                          <a:srgbClr val="FF0000"/>
                        </a:solidFill>
                      </a:endParaRPr>
                    </a:p>
                  </a:txBody>
                  <a:tcPr/>
                </a:tc>
                <a:tc>
                  <a:txBody>
                    <a:bodyPr/>
                    <a:lstStyle/>
                    <a:p>
                      <a:pPr algn="r"/>
                      <a:r>
                        <a:rPr lang="en-IN" sz="2600" b="1" dirty="0" smtClean="0">
                          <a:solidFill>
                            <a:srgbClr val="FF0000"/>
                          </a:solidFill>
                        </a:rPr>
                        <a:t>168</a:t>
                      </a:r>
                      <a:endParaRPr lang="en-IN" sz="2600" b="1" dirty="0">
                        <a:solidFill>
                          <a:srgbClr val="FF0000"/>
                        </a:solidFill>
                      </a:endParaRPr>
                    </a:p>
                  </a:txBody>
                  <a:tcPr/>
                </a:tc>
                <a:extLst>
                  <a:ext uri="{0D108BD9-81ED-4DB2-BD59-A6C34878D82A}">
                    <a16:rowId xmlns:a16="http://schemas.microsoft.com/office/drawing/2014/main" val="1417916418"/>
                  </a:ext>
                </a:extLst>
              </a:tr>
              <a:tr h="370840">
                <a:tc>
                  <a:txBody>
                    <a:bodyPr/>
                    <a:lstStyle/>
                    <a:p>
                      <a:pPr algn="ctr"/>
                      <a:r>
                        <a:rPr lang="en-IN" sz="2600" b="1" dirty="0" smtClean="0">
                          <a:solidFill>
                            <a:srgbClr val="FF0000"/>
                          </a:solidFill>
                        </a:rPr>
                        <a:t>Add </a:t>
                      </a:r>
                      <a:endParaRPr lang="en-IN" sz="2600" b="1" dirty="0">
                        <a:solidFill>
                          <a:srgbClr val="FF0000"/>
                        </a:solidFill>
                      </a:endParaRPr>
                    </a:p>
                  </a:txBody>
                  <a:tcPr/>
                </a:tc>
                <a:tc>
                  <a:txBody>
                    <a:bodyPr/>
                    <a:lstStyle/>
                    <a:p>
                      <a:r>
                        <a:rPr lang="en-IN" sz="2600" dirty="0" smtClean="0"/>
                        <a:t>Administration and</a:t>
                      </a:r>
                      <a:r>
                        <a:rPr lang="en-IN" sz="2600" baseline="0" dirty="0" smtClean="0"/>
                        <a:t> Sales promotion expenses </a:t>
                      </a:r>
                      <a:endParaRPr lang="en-IN" sz="2600" dirty="0"/>
                    </a:p>
                  </a:txBody>
                  <a:tcPr/>
                </a:tc>
                <a:tc>
                  <a:txBody>
                    <a:bodyPr/>
                    <a:lstStyle/>
                    <a:p>
                      <a:pPr algn="r"/>
                      <a:r>
                        <a:rPr lang="en-IN" sz="2600" dirty="0" smtClean="0"/>
                        <a:t>30</a:t>
                      </a:r>
                      <a:endParaRPr lang="en-IN" sz="2600" dirty="0"/>
                    </a:p>
                  </a:txBody>
                  <a:tcPr/>
                </a:tc>
                <a:extLst>
                  <a:ext uri="{0D108BD9-81ED-4DB2-BD59-A6C34878D82A}">
                    <a16:rowId xmlns:a16="http://schemas.microsoft.com/office/drawing/2014/main" val="3464632161"/>
                  </a:ext>
                </a:extLst>
              </a:tr>
              <a:tr h="370840">
                <a:tc>
                  <a:txBody>
                    <a:bodyPr/>
                    <a:lstStyle/>
                    <a:p>
                      <a:pPr algn="ctr"/>
                      <a:endParaRPr lang="en-IN" sz="2600" b="1" dirty="0">
                        <a:solidFill>
                          <a:srgbClr val="FF0000"/>
                        </a:solidFill>
                      </a:endParaRPr>
                    </a:p>
                  </a:txBody>
                  <a:tcPr/>
                </a:tc>
                <a:tc>
                  <a:txBody>
                    <a:bodyPr/>
                    <a:lstStyle/>
                    <a:p>
                      <a:r>
                        <a:rPr lang="en-IN" sz="2600" b="1" dirty="0" smtClean="0">
                          <a:solidFill>
                            <a:srgbClr val="FF0000"/>
                          </a:solidFill>
                        </a:rPr>
                        <a:t>Total Cash </a:t>
                      </a:r>
                      <a:r>
                        <a:rPr lang="en-IN" sz="2600" b="1" dirty="0" smtClean="0">
                          <a:solidFill>
                            <a:srgbClr val="FF0000"/>
                          </a:solidFill>
                        </a:rPr>
                        <a:t>Cost </a:t>
                      </a:r>
                      <a:r>
                        <a:rPr lang="en-IN" sz="2600" b="1" dirty="0" smtClean="0">
                          <a:solidFill>
                            <a:srgbClr val="FF0000"/>
                          </a:solidFill>
                        </a:rPr>
                        <a:t>of </a:t>
                      </a:r>
                      <a:r>
                        <a:rPr lang="en-IN" sz="2600" b="1" dirty="0" smtClean="0">
                          <a:solidFill>
                            <a:srgbClr val="FF0000"/>
                          </a:solidFill>
                        </a:rPr>
                        <a:t>Sales </a:t>
                      </a:r>
                      <a:r>
                        <a:rPr lang="en-IN" sz="2600" b="1" dirty="0" smtClean="0">
                          <a:solidFill>
                            <a:srgbClr val="FF0000"/>
                          </a:solidFill>
                        </a:rPr>
                        <a:t>[Selling]</a:t>
                      </a:r>
                      <a:endParaRPr lang="en-IN" sz="2600" b="1" dirty="0">
                        <a:solidFill>
                          <a:srgbClr val="FF0000"/>
                        </a:solidFill>
                      </a:endParaRPr>
                    </a:p>
                  </a:txBody>
                  <a:tcPr/>
                </a:tc>
                <a:tc>
                  <a:txBody>
                    <a:bodyPr/>
                    <a:lstStyle/>
                    <a:p>
                      <a:pPr algn="r"/>
                      <a:r>
                        <a:rPr lang="en-IN" sz="2600" b="1" dirty="0" smtClean="0">
                          <a:solidFill>
                            <a:srgbClr val="FF0000"/>
                          </a:solidFill>
                        </a:rPr>
                        <a:t>198</a:t>
                      </a:r>
                      <a:endParaRPr lang="en-IN" sz="2600" b="1" dirty="0">
                        <a:solidFill>
                          <a:srgbClr val="FF0000"/>
                        </a:solidFill>
                      </a:endParaRPr>
                    </a:p>
                  </a:txBody>
                  <a:tcPr/>
                </a:tc>
                <a:extLst>
                  <a:ext uri="{0D108BD9-81ED-4DB2-BD59-A6C34878D82A}">
                    <a16:rowId xmlns:a16="http://schemas.microsoft.com/office/drawing/2014/main" val="1061596306"/>
                  </a:ext>
                </a:extLst>
              </a:tr>
            </a:tbl>
          </a:graphicData>
        </a:graphic>
      </p:graphicFrame>
      <p:pic>
        <p:nvPicPr>
          <p:cNvPr id="5" name="Picture 4"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32167"/>
            <a:ext cx="1816100" cy="54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1220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8373"/>
            <a:ext cx="10515600" cy="5895875"/>
          </a:xfrm>
        </p:spPr>
        <p:txBody>
          <a:bodyPr>
            <a:normAutofit/>
          </a:bodyPr>
          <a:lstStyle/>
          <a:p>
            <a:pPr marL="0" indent="0">
              <a:buNone/>
            </a:pPr>
            <a:r>
              <a:rPr lang="en-IN" sz="2600" b="1" dirty="0" smtClean="0">
                <a:solidFill>
                  <a:srgbClr val="FF0000"/>
                </a:solidFill>
              </a:rPr>
              <a:t>Statement showing working capital requirements:</a:t>
            </a:r>
          </a:p>
          <a:p>
            <a:pPr marL="0" indent="0">
              <a:buNone/>
            </a:pPr>
            <a:endParaRPr lang="en-IN" sz="2600" b="1"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196883398"/>
              </p:ext>
            </p:extLst>
          </p:nvPr>
        </p:nvGraphicFramePr>
        <p:xfrm>
          <a:off x="895964" y="1147368"/>
          <a:ext cx="10400071" cy="5516880"/>
        </p:xfrm>
        <a:graphic>
          <a:graphicData uri="http://schemas.openxmlformats.org/drawingml/2006/table">
            <a:tbl>
              <a:tblPr firstRow="1" bandRow="1">
                <a:tableStyleId>{5C22544A-7EE6-4342-B048-85BDC9FD1C3A}</a:tableStyleId>
              </a:tblPr>
              <a:tblGrid>
                <a:gridCol w="887361">
                  <a:extLst>
                    <a:ext uri="{9D8B030D-6E8A-4147-A177-3AD203B41FA5}">
                      <a16:colId xmlns:a16="http://schemas.microsoft.com/office/drawing/2014/main" val="1041265332"/>
                    </a:ext>
                  </a:extLst>
                </a:gridCol>
                <a:gridCol w="6977217">
                  <a:extLst>
                    <a:ext uri="{9D8B030D-6E8A-4147-A177-3AD203B41FA5}">
                      <a16:colId xmlns:a16="http://schemas.microsoft.com/office/drawing/2014/main" val="4212081675"/>
                    </a:ext>
                  </a:extLst>
                </a:gridCol>
                <a:gridCol w="1238864">
                  <a:extLst>
                    <a:ext uri="{9D8B030D-6E8A-4147-A177-3AD203B41FA5}">
                      <a16:colId xmlns:a16="http://schemas.microsoft.com/office/drawing/2014/main" val="1205505969"/>
                    </a:ext>
                  </a:extLst>
                </a:gridCol>
                <a:gridCol w="1296629">
                  <a:extLst>
                    <a:ext uri="{9D8B030D-6E8A-4147-A177-3AD203B41FA5}">
                      <a16:colId xmlns:a16="http://schemas.microsoft.com/office/drawing/2014/main" val="16735686"/>
                    </a:ext>
                  </a:extLst>
                </a:gridCol>
              </a:tblGrid>
              <a:tr h="370840">
                <a:tc>
                  <a:txBody>
                    <a:bodyPr/>
                    <a:lstStyle/>
                    <a:p>
                      <a:endParaRPr lang="en-IN" dirty="0"/>
                    </a:p>
                  </a:txBody>
                  <a:tcPr/>
                </a:tc>
                <a:tc>
                  <a:txBody>
                    <a:bodyPr/>
                    <a:lstStyle/>
                    <a:p>
                      <a:pPr algn="ctr"/>
                      <a:r>
                        <a:rPr lang="en-IN" dirty="0" smtClean="0"/>
                        <a:t>Particulars</a:t>
                      </a:r>
                      <a:endParaRPr lang="en-IN" dirty="0"/>
                    </a:p>
                  </a:txBody>
                  <a:tcPr/>
                </a:tc>
                <a:tc>
                  <a:txBody>
                    <a:bodyPr/>
                    <a:lstStyle/>
                    <a:p>
                      <a:pPr algn="ctr"/>
                      <a:r>
                        <a:rPr lang="en-IN" dirty="0" smtClean="0"/>
                        <a:t>Rs. </a:t>
                      </a:r>
                    </a:p>
                    <a:p>
                      <a:pPr algn="ctr"/>
                      <a:r>
                        <a:rPr lang="en-IN" dirty="0" smtClean="0"/>
                        <a:t>(In Million)</a:t>
                      </a:r>
                      <a:endParaRPr lang="en-IN" dirty="0"/>
                    </a:p>
                  </a:txBody>
                  <a:tcPr/>
                </a:tc>
                <a:tc>
                  <a:txBody>
                    <a:bodyPr/>
                    <a:lstStyle/>
                    <a:p>
                      <a:pPr algn="ctr"/>
                      <a:r>
                        <a:rPr lang="en-IN" dirty="0" smtClean="0"/>
                        <a:t>Rs.</a:t>
                      </a:r>
                    </a:p>
                    <a:p>
                      <a:pPr algn="ctr"/>
                      <a:r>
                        <a:rPr lang="en-IN" dirty="0" smtClean="0"/>
                        <a:t>(In Million)</a:t>
                      </a:r>
                      <a:endParaRPr lang="en-IN" dirty="0"/>
                    </a:p>
                  </a:txBody>
                  <a:tcPr/>
                </a:tc>
                <a:extLst>
                  <a:ext uri="{0D108BD9-81ED-4DB2-BD59-A6C34878D82A}">
                    <a16:rowId xmlns:a16="http://schemas.microsoft.com/office/drawing/2014/main" val="2815830071"/>
                  </a:ext>
                </a:extLst>
              </a:tr>
              <a:tr h="370840">
                <a:tc>
                  <a:txBody>
                    <a:bodyPr/>
                    <a:lstStyle/>
                    <a:p>
                      <a:endParaRPr lang="en-IN"/>
                    </a:p>
                  </a:txBody>
                  <a:tcPr/>
                </a:tc>
                <a:tc>
                  <a:txBody>
                    <a:bodyPr/>
                    <a:lstStyle/>
                    <a:p>
                      <a:r>
                        <a:rPr lang="en-IN" sz="2600" b="1" dirty="0" smtClean="0">
                          <a:solidFill>
                            <a:srgbClr val="FF0000"/>
                          </a:solidFill>
                        </a:rPr>
                        <a:t>A) Current Assets:</a:t>
                      </a:r>
                      <a:endParaRPr lang="en-IN" sz="2600" b="1" dirty="0">
                        <a:solidFill>
                          <a:srgbClr val="FF0000"/>
                        </a:solidFill>
                      </a:endParaRPr>
                    </a:p>
                  </a:txBody>
                  <a:tcPr/>
                </a:tc>
                <a:tc>
                  <a:txBody>
                    <a:bodyPr/>
                    <a:lstStyle/>
                    <a:p>
                      <a:endParaRPr lang="en-IN" sz="2600"/>
                    </a:p>
                  </a:txBody>
                  <a:tcPr/>
                </a:tc>
                <a:tc>
                  <a:txBody>
                    <a:bodyPr/>
                    <a:lstStyle/>
                    <a:p>
                      <a:endParaRPr lang="en-IN" sz="2600" dirty="0"/>
                    </a:p>
                  </a:txBody>
                  <a:tcPr/>
                </a:tc>
                <a:extLst>
                  <a:ext uri="{0D108BD9-81ED-4DB2-BD59-A6C34878D82A}">
                    <a16:rowId xmlns:a16="http://schemas.microsoft.com/office/drawing/2014/main" val="158370173"/>
                  </a:ext>
                </a:extLst>
              </a:tr>
              <a:tr h="370840">
                <a:tc>
                  <a:txBody>
                    <a:bodyPr/>
                    <a:lstStyle/>
                    <a:p>
                      <a:endParaRPr lang="en-IN"/>
                    </a:p>
                  </a:txBody>
                  <a:tcPr/>
                </a:tc>
                <a:tc>
                  <a:txBody>
                    <a:bodyPr/>
                    <a:lstStyle/>
                    <a:p>
                      <a:r>
                        <a:rPr lang="en-IN" sz="2600" dirty="0" smtClean="0"/>
                        <a:t>Stock of raw-materials [Rs. 72×2/12]</a:t>
                      </a:r>
                      <a:endParaRPr lang="en-IN" sz="2600" dirty="0"/>
                    </a:p>
                  </a:txBody>
                  <a:tcPr/>
                </a:tc>
                <a:tc>
                  <a:txBody>
                    <a:bodyPr/>
                    <a:lstStyle/>
                    <a:p>
                      <a:endParaRPr lang="en-IN" sz="2600" dirty="0"/>
                    </a:p>
                  </a:txBody>
                  <a:tcPr/>
                </a:tc>
                <a:tc>
                  <a:txBody>
                    <a:bodyPr/>
                    <a:lstStyle/>
                    <a:p>
                      <a:pPr algn="r"/>
                      <a:r>
                        <a:rPr lang="en-IN" sz="2600" dirty="0" smtClean="0"/>
                        <a:t>12.00</a:t>
                      </a:r>
                      <a:endParaRPr lang="en-IN" sz="2600" dirty="0"/>
                    </a:p>
                  </a:txBody>
                  <a:tcPr/>
                </a:tc>
                <a:extLst>
                  <a:ext uri="{0D108BD9-81ED-4DB2-BD59-A6C34878D82A}">
                    <a16:rowId xmlns:a16="http://schemas.microsoft.com/office/drawing/2014/main" val="362035405"/>
                  </a:ext>
                </a:extLst>
              </a:tr>
              <a:tr h="370840">
                <a:tc>
                  <a:txBody>
                    <a:bodyPr/>
                    <a:lstStyle/>
                    <a:p>
                      <a:endParaRPr lang="en-IN"/>
                    </a:p>
                  </a:txBody>
                  <a:tcPr/>
                </a:tc>
                <a:tc>
                  <a:txBody>
                    <a:bodyPr/>
                    <a:lstStyle/>
                    <a:p>
                      <a:r>
                        <a:rPr lang="en-IN" sz="2600" dirty="0" smtClean="0"/>
                        <a:t>Finished goods [ Rs. 168×1/12]</a:t>
                      </a:r>
                      <a:endParaRPr lang="en-IN" sz="2600" dirty="0"/>
                    </a:p>
                  </a:txBody>
                  <a:tcPr/>
                </a:tc>
                <a:tc>
                  <a:txBody>
                    <a:bodyPr/>
                    <a:lstStyle/>
                    <a:p>
                      <a:endParaRPr lang="en-IN" sz="2600"/>
                    </a:p>
                  </a:txBody>
                  <a:tcPr/>
                </a:tc>
                <a:tc>
                  <a:txBody>
                    <a:bodyPr/>
                    <a:lstStyle/>
                    <a:p>
                      <a:pPr algn="r"/>
                      <a:r>
                        <a:rPr lang="en-IN" sz="2600" dirty="0" smtClean="0"/>
                        <a:t>14.00</a:t>
                      </a:r>
                      <a:endParaRPr lang="en-IN" sz="2600" dirty="0"/>
                    </a:p>
                  </a:txBody>
                  <a:tcPr/>
                </a:tc>
                <a:extLst>
                  <a:ext uri="{0D108BD9-81ED-4DB2-BD59-A6C34878D82A}">
                    <a16:rowId xmlns:a16="http://schemas.microsoft.com/office/drawing/2014/main" val="235241289"/>
                  </a:ext>
                </a:extLst>
              </a:tr>
              <a:tr h="370840">
                <a:tc>
                  <a:txBody>
                    <a:bodyPr/>
                    <a:lstStyle/>
                    <a:p>
                      <a:endParaRPr lang="en-IN"/>
                    </a:p>
                  </a:txBody>
                  <a:tcPr/>
                </a:tc>
                <a:tc>
                  <a:txBody>
                    <a:bodyPr/>
                    <a:lstStyle/>
                    <a:p>
                      <a:r>
                        <a:rPr lang="en-IN" sz="2600" dirty="0" smtClean="0"/>
                        <a:t>Debtors</a:t>
                      </a:r>
                      <a:r>
                        <a:rPr lang="en-IN" sz="2600" baseline="0" dirty="0" smtClean="0"/>
                        <a:t> [Rs. 198×2/12]</a:t>
                      </a:r>
                      <a:endParaRPr lang="en-IN" sz="2600" dirty="0"/>
                    </a:p>
                  </a:txBody>
                  <a:tcPr/>
                </a:tc>
                <a:tc>
                  <a:txBody>
                    <a:bodyPr/>
                    <a:lstStyle/>
                    <a:p>
                      <a:endParaRPr lang="en-IN" sz="2600"/>
                    </a:p>
                  </a:txBody>
                  <a:tcPr/>
                </a:tc>
                <a:tc>
                  <a:txBody>
                    <a:bodyPr/>
                    <a:lstStyle/>
                    <a:p>
                      <a:pPr algn="r"/>
                      <a:r>
                        <a:rPr lang="en-IN" sz="2600" dirty="0" smtClean="0"/>
                        <a:t>33.00</a:t>
                      </a:r>
                      <a:endParaRPr lang="en-IN" sz="2600" dirty="0"/>
                    </a:p>
                  </a:txBody>
                  <a:tcPr/>
                </a:tc>
                <a:extLst>
                  <a:ext uri="{0D108BD9-81ED-4DB2-BD59-A6C34878D82A}">
                    <a16:rowId xmlns:a16="http://schemas.microsoft.com/office/drawing/2014/main" val="273354672"/>
                  </a:ext>
                </a:extLst>
              </a:tr>
              <a:tr h="370840">
                <a:tc>
                  <a:txBody>
                    <a:bodyPr/>
                    <a:lstStyle/>
                    <a:p>
                      <a:endParaRPr lang="en-IN"/>
                    </a:p>
                  </a:txBody>
                  <a:tcPr/>
                </a:tc>
                <a:tc>
                  <a:txBody>
                    <a:bodyPr/>
                    <a:lstStyle/>
                    <a:p>
                      <a:r>
                        <a:rPr lang="en-IN" sz="2600" dirty="0" smtClean="0"/>
                        <a:t>Cash Balance [Pre</a:t>
                      </a:r>
                      <a:r>
                        <a:rPr lang="en-IN" sz="2600" baseline="0" dirty="0" smtClean="0"/>
                        <a:t>-determined]</a:t>
                      </a:r>
                      <a:endParaRPr lang="en-IN" sz="2600" dirty="0"/>
                    </a:p>
                  </a:txBody>
                  <a:tcPr/>
                </a:tc>
                <a:tc>
                  <a:txBody>
                    <a:bodyPr/>
                    <a:lstStyle/>
                    <a:p>
                      <a:endParaRPr lang="en-IN" sz="2600"/>
                    </a:p>
                  </a:txBody>
                  <a:tcPr/>
                </a:tc>
                <a:tc>
                  <a:txBody>
                    <a:bodyPr/>
                    <a:lstStyle/>
                    <a:p>
                      <a:pPr algn="r"/>
                      <a:r>
                        <a:rPr lang="en-IN" sz="2600" dirty="0" smtClean="0"/>
                        <a:t>5.00</a:t>
                      </a:r>
                      <a:endParaRPr lang="en-IN" sz="2600" dirty="0"/>
                    </a:p>
                  </a:txBody>
                  <a:tcPr/>
                </a:tc>
                <a:extLst>
                  <a:ext uri="{0D108BD9-81ED-4DB2-BD59-A6C34878D82A}">
                    <a16:rowId xmlns:a16="http://schemas.microsoft.com/office/drawing/2014/main" val="1155703017"/>
                  </a:ext>
                </a:extLst>
              </a:tr>
              <a:tr h="370840">
                <a:tc>
                  <a:txBody>
                    <a:bodyPr/>
                    <a:lstStyle/>
                    <a:p>
                      <a:endParaRPr lang="en-IN" b="1">
                        <a:solidFill>
                          <a:srgbClr val="FF0000"/>
                        </a:solidFill>
                      </a:endParaRPr>
                    </a:p>
                  </a:txBody>
                  <a:tcPr/>
                </a:tc>
                <a:tc>
                  <a:txBody>
                    <a:bodyPr/>
                    <a:lstStyle/>
                    <a:p>
                      <a:r>
                        <a:rPr lang="en-IN" sz="2600" b="1" dirty="0" smtClean="0">
                          <a:solidFill>
                            <a:srgbClr val="FF0000"/>
                          </a:solidFill>
                        </a:rPr>
                        <a:t>Total</a:t>
                      </a:r>
                      <a:r>
                        <a:rPr lang="en-IN" sz="2600" b="1" baseline="0" dirty="0" smtClean="0">
                          <a:solidFill>
                            <a:srgbClr val="FF0000"/>
                          </a:solidFill>
                        </a:rPr>
                        <a:t> Current Assets [A]</a:t>
                      </a:r>
                      <a:endParaRPr lang="en-IN" sz="2600" b="1" dirty="0">
                        <a:solidFill>
                          <a:srgbClr val="FF0000"/>
                        </a:solidFill>
                      </a:endParaRPr>
                    </a:p>
                  </a:txBody>
                  <a:tcPr/>
                </a:tc>
                <a:tc>
                  <a:txBody>
                    <a:bodyPr/>
                    <a:lstStyle/>
                    <a:p>
                      <a:endParaRPr lang="en-IN" sz="2600" b="1" dirty="0">
                        <a:solidFill>
                          <a:srgbClr val="FF0000"/>
                        </a:solidFill>
                      </a:endParaRPr>
                    </a:p>
                  </a:txBody>
                  <a:tcPr/>
                </a:tc>
                <a:tc>
                  <a:txBody>
                    <a:bodyPr/>
                    <a:lstStyle/>
                    <a:p>
                      <a:pPr algn="r"/>
                      <a:r>
                        <a:rPr lang="en-IN" sz="2600" b="1" dirty="0" smtClean="0">
                          <a:solidFill>
                            <a:srgbClr val="FF0000"/>
                          </a:solidFill>
                        </a:rPr>
                        <a:t>64.00</a:t>
                      </a:r>
                      <a:endParaRPr lang="en-IN" sz="2600" b="1" dirty="0">
                        <a:solidFill>
                          <a:srgbClr val="FF0000"/>
                        </a:solidFill>
                      </a:endParaRPr>
                    </a:p>
                  </a:txBody>
                  <a:tcPr/>
                </a:tc>
                <a:extLst>
                  <a:ext uri="{0D108BD9-81ED-4DB2-BD59-A6C34878D82A}">
                    <a16:rowId xmlns:a16="http://schemas.microsoft.com/office/drawing/2014/main" val="1614640444"/>
                  </a:ext>
                </a:extLst>
              </a:tr>
              <a:tr h="370840">
                <a:tc>
                  <a:txBody>
                    <a:bodyPr/>
                    <a:lstStyle/>
                    <a:p>
                      <a:r>
                        <a:rPr lang="en-IN" sz="2600" b="1" dirty="0" smtClean="0">
                          <a:solidFill>
                            <a:srgbClr val="FF0000"/>
                          </a:solidFill>
                        </a:rPr>
                        <a:t>Less</a:t>
                      </a:r>
                      <a:endParaRPr lang="en-IN" sz="2600" b="1" dirty="0">
                        <a:solidFill>
                          <a:srgbClr val="FF0000"/>
                        </a:solidFill>
                      </a:endParaRPr>
                    </a:p>
                  </a:txBody>
                  <a:tcPr/>
                </a:tc>
                <a:tc>
                  <a:txBody>
                    <a:bodyPr/>
                    <a:lstStyle/>
                    <a:p>
                      <a:r>
                        <a:rPr lang="en-IN" sz="2600" b="1" dirty="0" smtClean="0">
                          <a:solidFill>
                            <a:srgbClr val="FF0000"/>
                          </a:solidFill>
                        </a:rPr>
                        <a:t>B)</a:t>
                      </a:r>
                      <a:r>
                        <a:rPr lang="en-IN" sz="2600" b="1" baseline="0" dirty="0" smtClean="0">
                          <a:solidFill>
                            <a:srgbClr val="FF0000"/>
                          </a:solidFill>
                        </a:rPr>
                        <a:t> Current Liabilities: </a:t>
                      </a:r>
                      <a:endParaRPr lang="en-IN" sz="2600" b="1" dirty="0">
                        <a:solidFill>
                          <a:srgbClr val="FF0000"/>
                        </a:solidFill>
                      </a:endParaRPr>
                    </a:p>
                  </a:txBody>
                  <a:tcPr/>
                </a:tc>
                <a:tc>
                  <a:txBody>
                    <a:bodyPr/>
                    <a:lstStyle/>
                    <a:p>
                      <a:endParaRPr lang="en-IN" sz="2600" b="1" dirty="0">
                        <a:solidFill>
                          <a:srgbClr val="FF0000"/>
                        </a:solidFill>
                      </a:endParaRPr>
                    </a:p>
                  </a:txBody>
                  <a:tcPr/>
                </a:tc>
                <a:tc>
                  <a:txBody>
                    <a:bodyPr/>
                    <a:lstStyle/>
                    <a:p>
                      <a:pPr algn="r"/>
                      <a:endParaRPr lang="en-IN" sz="2600" b="1" dirty="0">
                        <a:solidFill>
                          <a:srgbClr val="FF0000"/>
                        </a:solidFill>
                      </a:endParaRPr>
                    </a:p>
                  </a:txBody>
                  <a:tcPr/>
                </a:tc>
                <a:extLst>
                  <a:ext uri="{0D108BD9-81ED-4DB2-BD59-A6C34878D82A}">
                    <a16:rowId xmlns:a16="http://schemas.microsoft.com/office/drawing/2014/main" val="2366794508"/>
                  </a:ext>
                </a:extLst>
              </a:tr>
              <a:tr h="370840">
                <a:tc>
                  <a:txBody>
                    <a:bodyPr/>
                    <a:lstStyle/>
                    <a:p>
                      <a:endParaRPr lang="en-IN" dirty="0"/>
                    </a:p>
                  </a:txBody>
                  <a:tcPr/>
                </a:tc>
                <a:tc>
                  <a:txBody>
                    <a:bodyPr/>
                    <a:lstStyle/>
                    <a:p>
                      <a:r>
                        <a:rPr lang="en-IN" sz="2600" dirty="0" smtClean="0"/>
                        <a:t>Suppliers [Creditors] [Rs.72×3/12]</a:t>
                      </a:r>
                      <a:endParaRPr lang="en-IN" sz="2600" dirty="0"/>
                    </a:p>
                  </a:txBody>
                  <a:tcPr/>
                </a:tc>
                <a:tc>
                  <a:txBody>
                    <a:bodyPr/>
                    <a:lstStyle/>
                    <a:p>
                      <a:pPr algn="r"/>
                      <a:r>
                        <a:rPr lang="en-IN" sz="2600" dirty="0" smtClean="0"/>
                        <a:t>18.00</a:t>
                      </a:r>
                      <a:endParaRPr lang="en-IN" sz="2600" dirty="0"/>
                    </a:p>
                  </a:txBody>
                  <a:tcPr/>
                </a:tc>
                <a:tc>
                  <a:txBody>
                    <a:bodyPr/>
                    <a:lstStyle/>
                    <a:p>
                      <a:endParaRPr lang="en-IN" dirty="0"/>
                    </a:p>
                  </a:txBody>
                  <a:tcPr/>
                </a:tc>
                <a:extLst>
                  <a:ext uri="{0D108BD9-81ED-4DB2-BD59-A6C34878D82A}">
                    <a16:rowId xmlns:a16="http://schemas.microsoft.com/office/drawing/2014/main" val="4208468697"/>
                  </a:ext>
                </a:extLst>
              </a:tr>
              <a:tr h="370840">
                <a:tc>
                  <a:txBody>
                    <a:bodyPr/>
                    <a:lstStyle/>
                    <a:p>
                      <a:endParaRPr lang="en-IN" dirty="0"/>
                    </a:p>
                  </a:txBody>
                  <a:tcPr/>
                </a:tc>
                <a:tc>
                  <a:txBody>
                    <a:bodyPr/>
                    <a:lstStyle/>
                    <a:p>
                      <a:r>
                        <a:rPr lang="en-IN" sz="2600" dirty="0" smtClean="0"/>
                        <a:t>Wages [Rs. 48×1/12]</a:t>
                      </a:r>
                      <a:endParaRPr lang="en-IN" sz="2600" dirty="0"/>
                    </a:p>
                  </a:txBody>
                  <a:tcPr/>
                </a:tc>
                <a:tc>
                  <a:txBody>
                    <a:bodyPr/>
                    <a:lstStyle/>
                    <a:p>
                      <a:pPr algn="r"/>
                      <a:r>
                        <a:rPr lang="en-IN" sz="2600" dirty="0" smtClean="0"/>
                        <a:t>4.00</a:t>
                      </a:r>
                      <a:endParaRPr lang="en-IN" sz="2600" dirty="0"/>
                    </a:p>
                  </a:txBody>
                  <a:tcPr/>
                </a:tc>
                <a:tc>
                  <a:txBody>
                    <a:bodyPr/>
                    <a:lstStyle/>
                    <a:p>
                      <a:endParaRPr lang="en-IN"/>
                    </a:p>
                  </a:txBody>
                  <a:tcPr/>
                </a:tc>
                <a:extLst>
                  <a:ext uri="{0D108BD9-81ED-4DB2-BD59-A6C34878D82A}">
                    <a16:rowId xmlns:a16="http://schemas.microsoft.com/office/drawing/2014/main" val="2096902454"/>
                  </a:ext>
                </a:extLst>
              </a:tr>
              <a:tr h="370840">
                <a:tc>
                  <a:txBody>
                    <a:bodyPr/>
                    <a:lstStyle/>
                    <a:p>
                      <a:endParaRPr lang="en-IN" dirty="0"/>
                    </a:p>
                  </a:txBody>
                  <a:tcPr/>
                </a:tc>
                <a:tc>
                  <a:txBody>
                    <a:bodyPr/>
                    <a:lstStyle/>
                    <a:p>
                      <a:r>
                        <a:rPr lang="en-IN" sz="2600" dirty="0" smtClean="0"/>
                        <a:t>Manufacturing Expenses </a:t>
                      </a:r>
                      <a:endParaRPr lang="en-IN" sz="2600" dirty="0"/>
                    </a:p>
                  </a:txBody>
                  <a:tcPr/>
                </a:tc>
                <a:tc>
                  <a:txBody>
                    <a:bodyPr/>
                    <a:lstStyle/>
                    <a:p>
                      <a:pPr algn="r"/>
                      <a:r>
                        <a:rPr lang="en-IN" sz="2600" dirty="0" smtClean="0"/>
                        <a:t>4.00</a:t>
                      </a:r>
                      <a:endParaRPr lang="en-IN" sz="2600" dirty="0"/>
                    </a:p>
                  </a:txBody>
                  <a:tcPr/>
                </a:tc>
                <a:tc>
                  <a:txBody>
                    <a:bodyPr/>
                    <a:lstStyle/>
                    <a:p>
                      <a:endParaRPr lang="en-IN" dirty="0"/>
                    </a:p>
                  </a:txBody>
                  <a:tcPr/>
                </a:tc>
                <a:extLst>
                  <a:ext uri="{0D108BD9-81ED-4DB2-BD59-A6C34878D82A}">
                    <a16:rowId xmlns:a16="http://schemas.microsoft.com/office/drawing/2014/main" val="1267791672"/>
                  </a:ext>
                </a:extLst>
              </a:tr>
            </a:tbl>
          </a:graphicData>
        </a:graphic>
      </p:graphicFrame>
      <p:pic>
        <p:nvPicPr>
          <p:cNvPr id="5" name="Picture 4"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278037"/>
            <a:ext cx="1816100" cy="54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35811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27819206"/>
              </p:ext>
            </p:extLst>
          </p:nvPr>
        </p:nvGraphicFramePr>
        <p:xfrm>
          <a:off x="838200" y="1047750"/>
          <a:ext cx="10515600" cy="2590800"/>
        </p:xfrm>
        <a:graphic>
          <a:graphicData uri="http://schemas.openxmlformats.org/drawingml/2006/table">
            <a:tbl>
              <a:tblPr firstRow="1" bandRow="1">
                <a:tableStyleId>{5C22544A-7EE6-4342-B048-85BDC9FD1C3A}</a:tableStyleId>
              </a:tblPr>
              <a:tblGrid>
                <a:gridCol w="902110">
                  <a:extLst>
                    <a:ext uri="{9D8B030D-6E8A-4147-A177-3AD203B41FA5}">
                      <a16:colId xmlns:a16="http://schemas.microsoft.com/office/drawing/2014/main" val="3508591878"/>
                    </a:ext>
                  </a:extLst>
                </a:gridCol>
                <a:gridCol w="6843251">
                  <a:extLst>
                    <a:ext uri="{9D8B030D-6E8A-4147-A177-3AD203B41FA5}">
                      <a16:colId xmlns:a16="http://schemas.microsoft.com/office/drawing/2014/main" val="3590052784"/>
                    </a:ext>
                  </a:extLst>
                </a:gridCol>
                <a:gridCol w="1356852">
                  <a:extLst>
                    <a:ext uri="{9D8B030D-6E8A-4147-A177-3AD203B41FA5}">
                      <a16:colId xmlns:a16="http://schemas.microsoft.com/office/drawing/2014/main" val="3482372356"/>
                    </a:ext>
                  </a:extLst>
                </a:gridCol>
                <a:gridCol w="1413387">
                  <a:extLst>
                    <a:ext uri="{9D8B030D-6E8A-4147-A177-3AD203B41FA5}">
                      <a16:colId xmlns:a16="http://schemas.microsoft.com/office/drawing/2014/main" val="2369245469"/>
                    </a:ext>
                  </a:extLst>
                </a:gridCol>
              </a:tblGrid>
              <a:tr h="370840">
                <a:tc>
                  <a:txBody>
                    <a:bodyPr/>
                    <a:lstStyle/>
                    <a:p>
                      <a:endParaRPr lang="en-IN" dirty="0"/>
                    </a:p>
                  </a:txBody>
                  <a:tcPr/>
                </a:tc>
                <a:tc>
                  <a:txBody>
                    <a:bodyPr/>
                    <a:lstStyle/>
                    <a:p>
                      <a:pPr algn="ctr"/>
                      <a:r>
                        <a:rPr lang="en-IN" dirty="0" smtClean="0"/>
                        <a:t>Particulars</a:t>
                      </a:r>
                      <a:endParaRPr lang="en-IN" dirty="0"/>
                    </a:p>
                  </a:txBody>
                  <a:tcPr/>
                </a:tc>
                <a:tc>
                  <a:txBody>
                    <a:bodyPr/>
                    <a:lstStyle/>
                    <a:p>
                      <a:pPr algn="ctr"/>
                      <a:r>
                        <a:rPr lang="en-IN" dirty="0" smtClean="0"/>
                        <a:t>Rs. </a:t>
                      </a:r>
                    </a:p>
                    <a:p>
                      <a:pPr algn="ctr"/>
                      <a:r>
                        <a:rPr lang="en-IN" dirty="0" smtClean="0"/>
                        <a:t>(In Million)</a:t>
                      </a:r>
                      <a:endParaRPr lang="en-IN" dirty="0"/>
                    </a:p>
                  </a:txBody>
                  <a:tcPr/>
                </a:tc>
                <a:tc>
                  <a:txBody>
                    <a:bodyPr/>
                    <a:lstStyle/>
                    <a:p>
                      <a:pPr algn="ctr"/>
                      <a:r>
                        <a:rPr lang="en-IN" dirty="0" smtClean="0"/>
                        <a:t>Rs.</a:t>
                      </a:r>
                    </a:p>
                    <a:p>
                      <a:pPr algn="ctr"/>
                      <a:r>
                        <a:rPr lang="en-IN" dirty="0" smtClean="0"/>
                        <a:t>(In Million)</a:t>
                      </a:r>
                      <a:endParaRPr lang="en-IN" dirty="0"/>
                    </a:p>
                  </a:txBody>
                  <a:tcPr/>
                </a:tc>
                <a:extLst>
                  <a:ext uri="{0D108BD9-81ED-4DB2-BD59-A6C34878D82A}">
                    <a16:rowId xmlns:a16="http://schemas.microsoft.com/office/drawing/2014/main" val="2791782749"/>
                  </a:ext>
                </a:extLst>
              </a:tr>
              <a:tr h="370840">
                <a:tc>
                  <a:txBody>
                    <a:bodyPr/>
                    <a:lstStyle/>
                    <a:p>
                      <a:pPr algn="ctr"/>
                      <a:endParaRPr lang="en-IN" sz="2600" b="1" dirty="0">
                        <a:solidFill>
                          <a:srgbClr val="FF0000"/>
                        </a:solidFill>
                      </a:endParaRPr>
                    </a:p>
                  </a:txBody>
                  <a:tcPr/>
                </a:tc>
                <a:tc>
                  <a:txBody>
                    <a:bodyPr/>
                    <a:lstStyle/>
                    <a:p>
                      <a:r>
                        <a:rPr lang="en-IN" sz="2600" b="1" dirty="0" smtClean="0">
                          <a:solidFill>
                            <a:srgbClr val="FF0000"/>
                          </a:solidFill>
                        </a:rPr>
                        <a:t>Total Current Liabilities [B] </a:t>
                      </a:r>
                      <a:endParaRPr lang="en-IN" sz="2600" b="1" dirty="0">
                        <a:solidFill>
                          <a:srgbClr val="FF0000"/>
                        </a:solidFill>
                      </a:endParaRPr>
                    </a:p>
                  </a:txBody>
                  <a:tcPr/>
                </a:tc>
                <a:tc>
                  <a:txBody>
                    <a:bodyPr/>
                    <a:lstStyle/>
                    <a:p>
                      <a:endParaRPr lang="en-IN" sz="2600" b="1">
                        <a:solidFill>
                          <a:srgbClr val="FF0000"/>
                        </a:solidFill>
                      </a:endParaRPr>
                    </a:p>
                  </a:txBody>
                  <a:tcPr/>
                </a:tc>
                <a:tc>
                  <a:txBody>
                    <a:bodyPr/>
                    <a:lstStyle/>
                    <a:p>
                      <a:pPr algn="r"/>
                      <a:r>
                        <a:rPr lang="en-IN" sz="2600" b="1" dirty="0" smtClean="0">
                          <a:solidFill>
                            <a:srgbClr val="FF0000"/>
                          </a:solidFill>
                        </a:rPr>
                        <a:t>26.00</a:t>
                      </a:r>
                      <a:endParaRPr lang="en-IN" sz="2600" b="1" dirty="0">
                        <a:solidFill>
                          <a:srgbClr val="FF0000"/>
                        </a:solidFill>
                      </a:endParaRPr>
                    </a:p>
                  </a:txBody>
                  <a:tcPr/>
                </a:tc>
                <a:extLst>
                  <a:ext uri="{0D108BD9-81ED-4DB2-BD59-A6C34878D82A}">
                    <a16:rowId xmlns:a16="http://schemas.microsoft.com/office/drawing/2014/main" val="300804289"/>
                  </a:ext>
                </a:extLst>
              </a:tr>
              <a:tr h="370840">
                <a:tc>
                  <a:txBody>
                    <a:bodyPr/>
                    <a:lstStyle/>
                    <a:p>
                      <a:pPr algn="ctr"/>
                      <a:endParaRPr lang="en-IN" sz="2600" b="1" dirty="0">
                        <a:solidFill>
                          <a:srgbClr val="FF0000"/>
                        </a:solidFill>
                      </a:endParaRPr>
                    </a:p>
                  </a:txBody>
                  <a:tcPr/>
                </a:tc>
                <a:tc>
                  <a:txBody>
                    <a:bodyPr/>
                    <a:lstStyle/>
                    <a:p>
                      <a:r>
                        <a:rPr lang="en-IN" sz="2600" b="1" dirty="0" smtClean="0">
                          <a:solidFill>
                            <a:srgbClr val="FF0000"/>
                          </a:solidFill>
                        </a:rPr>
                        <a:t>Working Capital [A-B]</a:t>
                      </a:r>
                      <a:endParaRPr lang="en-IN" sz="2600" b="1" dirty="0">
                        <a:solidFill>
                          <a:srgbClr val="FF0000"/>
                        </a:solidFill>
                      </a:endParaRPr>
                    </a:p>
                  </a:txBody>
                  <a:tcPr/>
                </a:tc>
                <a:tc>
                  <a:txBody>
                    <a:bodyPr/>
                    <a:lstStyle/>
                    <a:p>
                      <a:endParaRPr lang="en-IN" sz="2600" b="1">
                        <a:solidFill>
                          <a:srgbClr val="FF0000"/>
                        </a:solidFill>
                      </a:endParaRPr>
                    </a:p>
                  </a:txBody>
                  <a:tcPr/>
                </a:tc>
                <a:tc>
                  <a:txBody>
                    <a:bodyPr/>
                    <a:lstStyle/>
                    <a:p>
                      <a:pPr algn="r"/>
                      <a:r>
                        <a:rPr lang="en-IN" sz="2600" b="1" dirty="0" smtClean="0">
                          <a:solidFill>
                            <a:srgbClr val="FF0000"/>
                          </a:solidFill>
                        </a:rPr>
                        <a:t>38.00</a:t>
                      </a:r>
                      <a:endParaRPr lang="en-IN" sz="2600" b="1" dirty="0">
                        <a:solidFill>
                          <a:srgbClr val="FF0000"/>
                        </a:solidFill>
                      </a:endParaRPr>
                    </a:p>
                  </a:txBody>
                  <a:tcPr/>
                </a:tc>
                <a:extLst>
                  <a:ext uri="{0D108BD9-81ED-4DB2-BD59-A6C34878D82A}">
                    <a16:rowId xmlns:a16="http://schemas.microsoft.com/office/drawing/2014/main" val="117001483"/>
                  </a:ext>
                </a:extLst>
              </a:tr>
              <a:tr h="370840">
                <a:tc>
                  <a:txBody>
                    <a:bodyPr/>
                    <a:lstStyle/>
                    <a:p>
                      <a:pPr algn="ctr"/>
                      <a:r>
                        <a:rPr lang="en-IN" sz="2600" b="1" dirty="0" smtClean="0">
                          <a:solidFill>
                            <a:srgbClr val="FF0000"/>
                          </a:solidFill>
                        </a:rPr>
                        <a:t>Add </a:t>
                      </a:r>
                      <a:endParaRPr lang="en-IN" sz="2600" b="1" dirty="0">
                        <a:solidFill>
                          <a:srgbClr val="FF0000"/>
                        </a:solidFill>
                      </a:endParaRPr>
                    </a:p>
                  </a:txBody>
                  <a:tcPr/>
                </a:tc>
                <a:tc>
                  <a:txBody>
                    <a:bodyPr/>
                    <a:lstStyle/>
                    <a:p>
                      <a:r>
                        <a:rPr lang="en-IN" sz="2600" dirty="0" smtClean="0"/>
                        <a:t>10% Safety Margin [Rs. 38×10/100]</a:t>
                      </a:r>
                      <a:endParaRPr lang="en-IN" sz="2600" dirty="0"/>
                    </a:p>
                  </a:txBody>
                  <a:tcPr/>
                </a:tc>
                <a:tc>
                  <a:txBody>
                    <a:bodyPr/>
                    <a:lstStyle/>
                    <a:p>
                      <a:endParaRPr lang="en-IN" sz="2600" dirty="0"/>
                    </a:p>
                  </a:txBody>
                  <a:tcPr/>
                </a:tc>
                <a:tc>
                  <a:txBody>
                    <a:bodyPr/>
                    <a:lstStyle/>
                    <a:p>
                      <a:pPr algn="r"/>
                      <a:r>
                        <a:rPr lang="en-IN" sz="2600" dirty="0" smtClean="0"/>
                        <a:t>3.80</a:t>
                      </a:r>
                      <a:endParaRPr lang="en-IN" sz="2600" dirty="0"/>
                    </a:p>
                  </a:txBody>
                  <a:tcPr/>
                </a:tc>
                <a:extLst>
                  <a:ext uri="{0D108BD9-81ED-4DB2-BD59-A6C34878D82A}">
                    <a16:rowId xmlns:a16="http://schemas.microsoft.com/office/drawing/2014/main" val="3718836800"/>
                  </a:ext>
                </a:extLst>
              </a:tr>
              <a:tr h="370840">
                <a:tc>
                  <a:txBody>
                    <a:bodyPr/>
                    <a:lstStyle/>
                    <a:p>
                      <a:pPr algn="ctr"/>
                      <a:endParaRPr lang="en-IN" sz="2600" b="1" dirty="0">
                        <a:solidFill>
                          <a:srgbClr val="FF0000"/>
                        </a:solidFill>
                      </a:endParaRPr>
                    </a:p>
                  </a:txBody>
                  <a:tcPr/>
                </a:tc>
                <a:tc>
                  <a:txBody>
                    <a:bodyPr/>
                    <a:lstStyle/>
                    <a:p>
                      <a:r>
                        <a:rPr lang="en-IN" sz="2600" b="1" dirty="0" smtClean="0">
                          <a:solidFill>
                            <a:srgbClr val="FF0000"/>
                          </a:solidFill>
                        </a:rPr>
                        <a:t>Working Capital Requirements</a:t>
                      </a:r>
                      <a:endParaRPr lang="en-IN" sz="2600" b="1" dirty="0">
                        <a:solidFill>
                          <a:srgbClr val="FF0000"/>
                        </a:solidFill>
                      </a:endParaRPr>
                    </a:p>
                  </a:txBody>
                  <a:tcPr/>
                </a:tc>
                <a:tc>
                  <a:txBody>
                    <a:bodyPr/>
                    <a:lstStyle/>
                    <a:p>
                      <a:endParaRPr lang="en-IN" sz="2600" b="1" dirty="0">
                        <a:solidFill>
                          <a:srgbClr val="FF0000"/>
                        </a:solidFill>
                      </a:endParaRPr>
                    </a:p>
                  </a:txBody>
                  <a:tcPr/>
                </a:tc>
                <a:tc>
                  <a:txBody>
                    <a:bodyPr/>
                    <a:lstStyle/>
                    <a:p>
                      <a:pPr algn="r"/>
                      <a:r>
                        <a:rPr lang="en-IN" sz="2600" b="1" dirty="0" smtClean="0">
                          <a:solidFill>
                            <a:srgbClr val="FF0000"/>
                          </a:solidFill>
                        </a:rPr>
                        <a:t>41.80</a:t>
                      </a:r>
                      <a:endParaRPr lang="en-IN" sz="2600" b="1" dirty="0">
                        <a:solidFill>
                          <a:srgbClr val="FF0000"/>
                        </a:solidFill>
                      </a:endParaRPr>
                    </a:p>
                  </a:txBody>
                  <a:tcPr/>
                </a:tc>
                <a:extLst>
                  <a:ext uri="{0D108BD9-81ED-4DB2-BD59-A6C34878D82A}">
                    <a16:rowId xmlns:a16="http://schemas.microsoft.com/office/drawing/2014/main" val="717704609"/>
                  </a:ext>
                </a:extLst>
              </a:tr>
            </a:tbl>
          </a:graphicData>
        </a:graphic>
      </p:graphicFrame>
      <p:pic>
        <p:nvPicPr>
          <p:cNvPr id="5" name="Picture 4"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27704"/>
            <a:ext cx="1816100" cy="48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16799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3897"/>
            <a:ext cx="10515600" cy="4170505"/>
          </a:xfrm>
        </p:spPr>
        <p:txBody>
          <a:bodyPr>
            <a:normAutofit/>
          </a:bodyPr>
          <a:lstStyle/>
          <a:p>
            <a:pPr marL="0" indent="0" algn="ctr">
              <a:buNone/>
            </a:pPr>
            <a:endParaRPr lang="en-IN" sz="4000" b="1" dirty="0" smtClean="0">
              <a:solidFill>
                <a:srgbClr val="FF0000"/>
              </a:solidFill>
              <a:latin typeface="Bell MT" panose="02020503060305020303" pitchFamily="18" charset="0"/>
            </a:endParaRPr>
          </a:p>
          <a:p>
            <a:pPr marL="0" indent="0" algn="ctr">
              <a:buNone/>
            </a:pPr>
            <a:endParaRPr lang="en-IN" sz="4000" b="1" dirty="0">
              <a:solidFill>
                <a:srgbClr val="FF0000"/>
              </a:solidFill>
              <a:latin typeface="Bell MT" panose="02020503060305020303" pitchFamily="18" charset="0"/>
            </a:endParaRPr>
          </a:p>
          <a:p>
            <a:pPr marL="0" indent="0" algn="ctr">
              <a:buNone/>
            </a:pPr>
            <a:endParaRPr lang="en-IN" sz="4000" b="1" dirty="0">
              <a:solidFill>
                <a:srgbClr val="FF0000"/>
              </a:solidFill>
              <a:latin typeface="Bell MT" panose="02020503060305020303" pitchFamily="18" charset="0"/>
            </a:endParaRPr>
          </a:p>
          <a:p>
            <a:pPr marL="0" indent="0" algn="ctr">
              <a:buNone/>
            </a:pPr>
            <a:r>
              <a:rPr lang="en-IN" sz="4000" b="1" dirty="0" smtClean="0">
                <a:solidFill>
                  <a:srgbClr val="FF0000"/>
                </a:solidFill>
                <a:latin typeface="Bell MT" panose="02020503060305020303" pitchFamily="18" charset="0"/>
              </a:rPr>
              <a:t>Thank You</a:t>
            </a:r>
            <a:endParaRPr lang="en-IN" sz="4000" b="1" dirty="0">
              <a:solidFill>
                <a:srgbClr val="FF0000"/>
              </a:solidFill>
              <a:latin typeface="Bell MT" panose="02020503060305020303" pitchFamily="18" charset="0"/>
            </a:endParaRPr>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609149"/>
            <a:ext cx="1816100" cy="6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5171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708</TotalTime>
  <Words>2513</Words>
  <Application>Microsoft Office PowerPoint</Application>
  <PresentationFormat>Widescreen</PresentationFormat>
  <Paragraphs>373</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Bell MT</vt:lpstr>
      <vt:lpstr>Bodoni MT</vt:lpstr>
      <vt:lpstr>Calibri</vt:lpstr>
      <vt:lpstr>Calibri Light</vt:lpstr>
      <vt:lpstr>Latha</vt:lpstr>
      <vt:lpstr>Times New Roman</vt:lpstr>
      <vt:lpstr>Office Theme</vt:lpstr>
      <vt:lpstr>Estimation of Working Capital Requirements (Unit-IV)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Sabarish</dc:creator>
  <cp:lastModifiedBy>Sabarish</cp:lastModifiedBy>
  <cp:revision>118</cp:revision>
  <dcterms:created xsi:type="dcterms:W3CDTF">2021-11-17T23:27:26Z</dcterms:created>
  <dcterms:modified xsi:type="dcterms:W3CDTF">2025-04-21T06:56:42Z</dcterms:modified>
</cp:coreProperties>
</file>