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Lst>
  <p:sldSz cy="6858000" cx="12192000"/>
  <p:notesSz cx="6858000" cy="9144000"/>
  <p:embeddedFontLst>
    <p:embeddedFont>
      <p:font typeface="Bodoni"/>
      <p:regular r:id="rId126"/>
      <p:bold r:id="rId127"/>
      <p:italic r:id="rId128"/>
      <p:boldItalic r:id="rId129"/>
    </p:embeddedFont>
    <p:embeddedFont>
      <p:font typeface="Bell MT"/>
      <p:regular r:id="rId130"/>
      <p:bold r:id="rId131"/>
      <p:italic r:id="rId132"/>
      <p:boldItalic r:id="rId1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140CFC-2FD2-45D3-AD89-D6322BEAE1F3}">
  <a:tblStyle styleId="{75140CFC-2FD2-45D3-AD89-D6322BEAE1F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font" Target="fonts/Bodoni-boldItalic.fntdata"/><Relationship Id="rId128" Type="http://schemas.openxmlformats.org/officeDocument/2006/relationships/font" Target="fonts/Bodoni-italic.fntdata"/><Relationship Id="rId127" Type="http://schemas.openxmlformats.org/officeDocument/2006/relationships/font" Target="fonts/Bodoni-bold.fntdata"/><Relationship Id="rId126" Type="http://schemas.openxmlformats.org/officeDocument/2006/relationships/font" Target="fonts/Bodoni-regular.fntdata"/><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2" Type="http://schemas.openxmlformats.org/officeDocument/2006/relationships/font" Target="fonts/BellMT-italic.fntdata"/><Relationship Id="rId131" Type="http://schemas.openxmlformats.org/officeDocument/2006/relationships/font" Target="fonts/BellMT-bold.fntdata"/><Relationship Id="rId130" Type="http://schemas.openxmlformats.org/officeDocument/2006/relationships/font" Target="fonts/BellMT-regular.fntdata"/><Relationship Id="rId133" Type="http://schemas.openxmlformats.org/officeDocument/2006/relationships/font" Target="fonts/BellMT-boldItalic.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2.</a:t>
            </a:r>
            <a:endParaRPr/>
          </a:p>
        </p:txBody>
      </p:sp>
      <p:sp>
        <p:nvSpPr>
          <p:cNvPr id="559" name="Google Shape;559;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8" name="Google Shape;788;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 name="Google Shape;807;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 name="Google Shape;821;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9.png"/><Relationship Id="rId4"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jpg"/><Relationship Id="rId4" Type="http://schemas.openxmlformats.org/officeDocument/2006/relationships/image" Target="../media/image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2.png"/><Relationship Id="rId4" Type="http://schemas.openxmlformats.org/officeDocument/2006/relationships/image" Target="../media/image1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jpg"/><Relationship Id="rId4" Type="http://schemas.openxmlformats.org/officeDocument/2006/relationships/image" Target="../media/image1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3.png"/><Relationship Id="rId4"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7.png"/><Relationship Id="rId4"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6.png"/><Relationship Id="rId4" Type="http://schemas.openxmlformats.org/officeDocument/2006/relationships/image" Target="../media/image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914398" y="97862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Bell MT"/>
              <a:buNone/>
            </a:pPr>
            <a:r>
              <a:rPr b="1" lang="en-IN">
                <a:solidFill>
                  <a:srgbClr val="FF0000"/>
                </a:solidFill>
                <a:latin typeface="Bell MT"/>
                <a:ea typeface="Bell MT"/>
                <a:cs typeface="Bell MT"/>
                <a:sym typeface="Bell MT"/>
              </a:rPr>
              <a:t>Capital Budgeting</a:t>
            </a:r>
            <a:br>
              <a:rPr b="1" lang="en-IN">
                <a:solidFill>
                  <a:srgbClr val="FF0000"/>
                </a:solidFill>
                <a:latin typeface="Bell MT"/>
                <a:ea typeface="Bell MT"/>
                <a:cs typeface="Bell MT"/>
                <a:sym typeface="Bell MT"/>
              </a:rPr>
            </a:br>
            <a:r>
              <a:rPr b="1" lang="en-IN" sz="2000">
                <a:solidFill>
                  <a:srgbClr val="FF0000"/>
                </a:solidFill>
                <a:latin typeface="Bell MT"/>
                <a:ea typeface="Bell MT"/>
                <a:cs typeface="Bell MT"/>
                <a:sym typeface="Bell MT"/>
              </a:rPr>
              <a:t>(Unit III) </a:t>
            </a:r>
            <a:endParaRPr b="1" sz="2000">
              <a:solidFill>
                <a:srgbClr val="FF0000"/>
              </a:solidFill>
              <a:latin typeface="Bell MT"/>
              <a:ea typeface="Bell MT"/>
              <a:cs typeface="Bell MT"/>
              <a:sym typeface="Bell MT"/>
            </a:endParaRPr>
          </a:p>
        </p:txBody>
      </p:sp>
      <p:sp>
        <p:nvSpPr>
          <p:cNvPr id="89" name="Google Shape;89;p13"/>
          <p:cNvSpPr txBox="1"/>
          <p:nvPr>
            <p:ph idx="1" type="body"/>
          </p:nvPr>
        </p:nvSpPr>
        <p:spPr>
          <a:xfrm>
            <a:off x="2978725" y="2352243"/>
            <a:ext cx="6386947" cy="347535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t/>
            </a:r>
            <a:endParaRPr sz="3600">
              <a:solidFill>
                <a:srgbClr val="1F3864"/>
              </a:solidFill>
              <a:latin typeface="Bodoni"/>
              <a:ea typeface="Bodoni"/>
              <a:cs typeface="Bodoni"/>
              <a:sym typeface="Bodoni"/>
            </a:endParaRPr>
          </a:p>
          <a:p>
            <a:pPr indent="0" lvl="0" marL="0" rtl="0" algn="ctr">
              <a:lnSpc>
                <a:spcPct val="90000"/>
              </a:lnSpc>
              <a:spcBef>
                <a:spcPts val="1000"/>
              </a:spcBef>
              <a:spcAft>
                <a:spcPts val="0"/>
              </a:spcAft>
              <a:buClr>
                <a:srgbClr val="1F3864"/>
              </a:buClr>
              <a:buSzPts val="3600"/>
              <a:buNone/>
            </a:pPr>
            <a:r>
              <a:rPr b="1" lang="en-IN" sz="3600">
                <a:solidFill>
                  <a:srgbClr val="1F3864"/>
                </a:solidFill>
                <a:latin typeface="Bodoni"/>
                <a:ea typeface="Bodoni"/>
                <a:cs typeface="Bodoni"/>
                <a:sym typeface="Bodoni"/>
              </a:rPr>
              <a:t>Dr.M.Velavan</a:t>
            </a:r>
            <a:endParaRPr b="1" sz="3600">
              <a:solidFill>
                <a:srgbClr val="1F3864"/>
              </a:solidFill>
              <a:latin typeface="Bodoni"/>
              <a:ea typeface="Bodoni"/>
              <a:cs typeface="Bodoni"/>
              <a:sym typeface="Bodoni"/>
            </a:endParaRPr>
          </a:p>
          <a:p>
            <a:pPr indent="0" lvl="0" marL="0" rtl="0" algn="ctr">
              <a:lnSpc>
                <a:spcPct val="90000"/>
              </a:lnSpc>
              <a:spcBef>
                <a:spcPts val="1000"/>
              </a:spcBef>
              <a:spcAft>
                <a:spcPts val="0"/>
              </a:spcAft>
              <a:buClr>
                <a:srgbClr val="1F3864"/>
              </a:buClr>
              <a:buSzPts val="2800"/>
              <a:buNone/>
            </a:pPr>
            <a:r>
              <a:rPr lang="en-IN">
                <a:solidFill>
                  <a:srgbClr val="1F3864"/>
                </a:solidFill>
                <a:latin typeface="Bodoni"/>
                <a:ea typeface="Bodoni"/>
                <a:cs typeface="Bodoni"/>
                <a:sym typeface="Bodoni"/>
              </a:rPr>
              <a:t>Faculty</a:t>
            </a:r>
            <a:endParaRPr/>
          </a:p>
          <a:p>
            <a:pPr indent="0" lvl="0" marL="0" rtl="0" algn="ctr">
              <a:lnSpc>
                <a:spcPct val="90000"/>
              </a:lnSpc>
              <a:spcBef>
                <a:spcPts val="1000"/>
              </a:spcBef>
              <a:spcAft>
                <a:spcPts val="0"/>
              </a:spcAft>
              <a:buClr>
                <a:srgbClr val="1F3864"/>
              </a:buClr>
              <a:buSzPts val="2800"/>
              <a:buNone/>
            </a:pPr>
            <a:r>
              <a:rPr lang="en-IN">
                <a:solidFill>
                  <a:srgbClr val="1F3864"/>
                </a:solidFill>
                <a:latin typeface="Bodoni"/>
                <a:ea typeface="Bodoni"/>
                <a:cs typeface="Bodoni"/>
                <a:sym typeface="Bodoni"/>
              </a:rPr>
              <a:t>School of Management</a:t>
            </a:r>
            <a:endParaRPr/>
          </a:p>
          <a:p>
            <a:pPr indent="0" lvl="0" marL="0" rtl="0" algn="ctr">
              <a:lnSpc>
                <a:spcPct val="90000"/>
              </a:lnSpc>
              <a:spcBef>
                <a:spcPts val="1000"/>
              </a:spcBef>
              <a:spcAft>
                <a:spcPts val="0"/>
              </a:spcAft>
              <a:buClr>
                <a:srgbClr val="1F3864"/>
              </a:buClr>
              <a:buSzPts val="2800"/>
              <a:buNone/>
            </a:pPr>
            <a:r>
              <a:rPr lang="en-IN">
                <a:solidFill>
                  <a:srgbClr val="1F3864"/>
                </a:solidFill>
                <a:latin typeface="Bodoni"/>
                <a:ea typeface="Bodoni"/>
                <a:cs typeface="Bodoni"/>
                <a:sym typeface="Bodoni"/>
              </a:rPr>
              <a:t>SASTRA Deemed University</a:t>
            </a:r>
            <a:endParaRPr/>
          </a:p>
          <a:p>
            <a:pPr indent="0" lvl="0" marL="0" rtl="0" algn="ctr">
              <a:lnSpc>
                <a:spcPct val="90000"/>
              </a:lnSpc>
              <a:spcBef>
                <a:spcPts val="1000"/>
              </a:spcBef>
              <a:spcAft>
                <a:spcPts val="0"/>
              </a:spcAft>
              <a:buClr>
                <a:srgbClr val="1F3864"/>
              </a:buClr>
              <a:buSzPts val="2800"/>
              <a:buNone/>
            </a:pPr>
            <a:r>
              <a:rPr lang="en-IN">
                <a:solidFill>
                  <a:srgbClr val="1F3864"/>
                </a:solidFill>
                <a:latin typeface="Bodoni"/>
                <a:ea typeface="Bodoni"/>
                <a:cs typeface="Bodoni"/>
                <a:sym typeface="Bodoni"/>
              </a:rPr>
              <a:t>Thanjavur – 613 401</a:t>
            </a:r>
            <a:endParaRPr>
              <a:solidFill>
                <a:srgbClr val="1F3864"/>
              </a:solidFill>
              <a:latin typeface="Bodoni"/>
              <a:ea typeface="Bodoni"/>
              <a:cs typeface="Bodoni"/>
              <a:sym typeface="Bodoni"/>
            </a:endParaRPr>
          </a:p>
          <a:p>
            <a:pPr indent="-50800" lvl="0" marL="228600" rtl="0" algn="ctr">
              <a:lnSpc>
                <a:spcPct val="90000"/>
              </a:lnSpc>
              <a:spcBef>
                <a:spcPts val="1000"/>
              </a:spcBef>
              <a:spcAft>
                <a:spcPts val="0"/>
              </a:spcAft>
              <a:buClr>
                <a:schemeClr val="dk1"/>
              </a:buClr>
              <a:buSzPts val="2800"/>
              <a:buNone/>
            </a:pPr>
            <a:r>
              <a:t/>
            </a:r>
            <a:endParaRPr/>
          </a:p>
        </p:txBody>
      </p:sp>
      <p:pic>
        <p:nvPicPr>
          <p:cNvPr descr="Image result for sastra logo" id="90" name="Google Shape;90;p13"/>
          <p:cNvPicPr preferRelativeResize="0"/>
          <p:nvPr/>
        </p:nvPicPr>
        <p:blipFill rotWithShape="1">
          <a:blip r:embed="rId3">
            <a:alphaModFix/>
          </a:blip>
          <a:srcRect b="0" l="0" r="0" t="0"/>
          <a:stretch/>
        </p:blipFill>
        <p:spPr>
          <a:xfrm>
            <a:off x="9613898" y="421409"/>
            <a:ext cx="1816100" cy="5572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idx="1" type="body"/>
          </p:nvPr>
        </p:nvSpPr>
        <p:spPr>
          <a:xfrm>
            <a:off x="838200" y="927100"/>
            <a:ext cx="10515600" cy="52498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Overview: </a:t>
            </a:r>
            <a:endParaRPr/>
          </a:p>
          <a:p>
            <a:pPr indent="0" lvl="0" marL="0" rtl="0" algn="l">
              <a:lnSpc>
                <a:spcPct val="90000"/>
              </a:lnSpc>
              <a:spcBef>
                <a:spcPts val="1000"/>
              </a:spcBef>
              <a:spcAft>
                <a:spcPts val="0"/>
              </a:spcAft>
              <a:buClr>
                <a:schemeClr val="dk1"/>
              </a:buClr>
              <a:buSzPts val="2800"/>
              <a:buNone/>
            </a:pPr>
            <a:r>
              <a:t/>
            </a:r>
            <a:endParaRPr/>
          </a:p>
        </p:txBody>
      </p:sp>
      <p:pic>
        <p:nvPicPr>
          <p:cNvPr id="96" name="Google Shape;96;p14"/>
          <p:cNvPicPr preferRelativeResize="0"/>
          <p:nvPr/>
        </p:nvPicPr>
        <p:blipFill rotWithShape="1">
          <a:blip r:embed="rId3">
            <a:alphaModFix/>
          </a:blip>
          <a:srcRect b="0" l="0" r="0" t="0"/>
          <a:stretch/>
        </p:blipFill>
        <p:spPr>
          <a:xfrm>
            <a:off x="2029615" y="1460500"/>
            <a:ext cx="8132769" cy="419068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descr="Image result for sastra logo" id="97" name="Google Shape;97;p14"/>
          <p:cNvPicPr preferRelativeResize="0"/>
          <p:nvPr/>
        </p:nvPicPr>
        <p:blipFill rotWithShape="1">
          <a:blip r:embed="rId4">
            <a:alphaModFix/>
          </a:blip>
          <a:srcRect b="0" l="0" r="0" t="0"/>
          <a:stretch/>
        </p:blipFill>
        <p:spPr>
          <a:xfrm>
            <a:off x="9045864" y="287916"/>
            <a:ext cx="1816100" cy="5572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idx="1" type="body"/>
          </p:nvPr>
        </p:nvSpPr>
        <p:spPr>
          <a:xfrm>
            <a:off x="838200" y="812800"/>
            <a:ext cx="10515600" cy="53641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1. Introduction:</a:t>
            </a:r>
            <a:endParaRPr/>
          </a:p>
          <a:p>
            <a:pPr indent="0" lvl="0" marL="0" rtl="0" algn="just">
              <a:lnSpc>
                <a:spcPct val="90000"/>
              </a:lnSpc>
              <a:spcBef>
                <a:spcPts val="1000"/>
              </a:spcBef>
              <a:spcAft>
                <a:spcPts val="0"/>
              </a:spcAft>
              <a:buClr>
                <a:schemeClr val="dk1"/>
              </a:buClr>
              <a:buSzPts val="2600"/>
              <a:buNone/>
            </a:pPr>
            <a:r>
              <a:rPr lang="en-IN" sz="2600"/>
              <a:t>One of the important aspects of Financial Management is proper decision making in respect of </a:t>
            </a:r>
            <a:r>
              <a:rPr b="1" lang="en-IN" sz="2600">
                <a:solidFill>
                  <a:srgbClr val="00B050"/>
                </a:solidFill>
              </a:rPr>
              <a:t>investment of funds. </a:t>
            </a:r>
            <a:r>
              <a:rPr lang="en-IN" sz="2600"/>
              <a:t>Successful operation of any business depends upon the investment of resources in such a way as to bring </a:t>
            </a:r>
            <a:r>
              <a:rPr lang="en-IN" sz="2600">
                <a:solidFill>
                  <a:srgbClr val="FF0000"/>
                </a:solidFill>
              </a:rPr>
              <a:t>in benefits or best possible returns from any investment. </a:t>
            </a:r>
            <a:r>
              <a:rPr lang="en-IN" sz="2600"/>
              <a:t>An investment can be simply defined as </a:t>
            </a:r>
            <a:r>
              <a:rPr b="1" lang="en-IN" sz="2600">
                <a:solidFill>
                  <a:srgbClr val="00B050"/>
                </a:solidFill>
              </a:rPr>
              <a:t>an expenditure in cash or its equivalent during one or more time periods in anticipation of enjoying a net inflow of cash or its equivalent in some future time period or periods. </a:t>
            </a:r>
            <a:endParaRPr b="1" sz="2600">
              <a:solidFill>
                <a:srgbClr val="00B050"/>
              </a:solidFill>
            </a:endParaRPr>
          </a:p>
          <a:p>
            <a:pPr indent="0" lvl="0" marL="0" rtl="0" algn="just">
              <a:lnSpc>
                <a:spcPct val="90000"/>
              </a:lnSpc>
              <a:spcBef>
                <a:spcPts val="1000"/>
              </a:spcBef>
              <a:spcAft>
                <a:spcPts val="0"/>
              </a:spcAft>
              <a:buClr>
                <a:schemeClr val="dk1"/>
              </a:buClr>
              <a:buSzPts val="2600"/>
              <a:buNone/>
            </a:pPr>
            <a:r>
              <a:rPr lang="en-IN" sz="2600"/>
              <a:t>An appraisal of investment proposals is necessary to ensure that the </a:t>
            </a:r>
            <a:r>
              <a:rPr b="1" lang="en-IN" sz="2600">
                <a:solidFill>
                  <a:srgbClr val="FF0000"/>
                </a:solidFill>
              </a:rPr>
              <a:t>investment of resources will bring in desired benefits in future. </a:t>
            </a:r>
            <a:r>
              <a:rPr lang="en-IN" sz="2600"/>
              <a:t>If the financial resources were in abundance, it would be possible to accept several investment proposals which satisfy the norms of approval or acceptability. </a:t>
            </a:r>
            <a:r>
              <a:rPr lang="en-IN" sz="2600">
                <a:solidFill>
                  <a:srgbClr val="FF0000"/>
                </a:solidFill>
              </a:rPr>
              <a:t>Since resources are limited a choice has to be made among the various investment proposals by evaluating their comparative merit. </a:t>
            </a:r>
            <a:endParaRPr/>
          </a:p>
        </p:txBody>
      </p:sp>
      <p:pic>
        <p:nvPicPr>
          <p:cNvPr descr="Image result for sastra logo" id="103" name="Google Shape;103;p15"/>
          <p:cNvPicPr preferRelativeResize="0"/>
          <p:nvPr/>
        </p:nvPicPr>
        <p:blipFill rotWithShape="1">
          <a:blip r:embed="rId3">
            <a:alphaModFix/>
          </a:blip>
          <a:srcRect b="0" l="0" r="0" t="0"/>
          <a:stretch/>
        </p:blipFill>
        <p:spPr>
          <a:xfrm>
            <a:off x="9537700" y="203200"/>
            <a:ext cx="1816100" cy="60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idx="1" type="body"/>
          </p:nvPr>
        </p:nvSpPr>
        <p:spPr>
          <a:xfrm>
            <a:off x="838200" y="988291"/>
            <a:ext cx="10515600" cy="529027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It is apparent that </a:t>
            </a:r>
            <a:r>
              <a:rPr lang="en-IN" sz="2600">
                <a:solidFill>
                  <a:srgbClr val="FF0000"/>
                </a:solidFill>
              </a:rPr>
              <a:t>some techniques should be followed </a:t>
            </a:r>
            <a:r>
              <a:rPr lang="en-IN" sz="2600"/>
              <a:t>for making appraisal of investment proposals. </a:t>
            </a:r>
            <a:r>
              <a:rPr b="1" lang="en-IN" sz="2600">
                <a:solidFill>
                  <a:srgbClr val="00B050"/>
                </a:solidFill>
              </a:rPr>
              <a:t>Capital Budgeting is one of the appraising techniques of investment decisions. </a:t>
            </a:r>
            <a:endParaRPr b="1" sz="2600">
              <a:solidFill>
                <a:srgbClr val="00B050"/>
              </a:solidFill>
            </a:endParaRPr>
          </a:p>
          <a:p>
            <a:pPr indent="0" lvl="0" marL="0" rtl="0" algn="just">
              <a:lnSpc>
                <a:spcPct val="90000"/>
              </a:lnSpc>
              <a:spcBef>
                <a:spcPts val="1000"/>
              </a:spcBef>
              <a:spcAft>
                <a:spcPts val="0"/>
              </a:spcAft>
              <a:buClr>
                <a:schemeClr val="dk1"/>
              </a:buClr>
              <a:buSzPts val="2600"/>
              <a:buNone/>
            </a:pPr>
            <a:r>
              <a:rPr lang="en-IN" sz="2600"/>
              <a:t>Capital Budgeting is defined as the firm‘s </a:t>
            </a:r>
            <a:r>
              <a:rPr lang="en-IN" sz="2600">
                <a:solidFill>
                  <a:srgbClr val="FF0000"/>
                </a:solidFill>
              </a:rPr>
              <a:t>decision to invest its current funds most efficiently in long term activities in anticipation of an expected flow of future benefits over a series of years. </a:t>
            </a:r>
            <a:r>
              <a:rPr lang="en-IN" sz="2600"/>
              <a:t>It should be remembered that the investment proposal is </a:t>
            </a:r>
            <a:r>
              <a:rPr b="1" lang="en-IN" sz="2600">
                <a:solidFill>
                  <a:srgbClr val="00B050"/>
                </a:solidFill>
              </a:rPr>
              <a:t>common both for fixed assets and current assets. </a:t>
            </a:r>
            <a:endParaRPr b="1" sz="2600">
              <a:solidFill>
                <a:srgbClr val="00B050"/>
              </a:solidFill>
            </a:endParaRPr>
          </a:p>
          <a:p>
            <a:pPr indent="0" lvl="0" marL="0" rtl="0" algn="just">
              <a:lnSpc>
                <a:spcPct val="90000"/>
              </a:lnSpc>
              <a:spcBef>
                <a:spcPts val="1000"/>
              </a:spcBef>
              <a:spcAft>
                <a:spcPts val="0"/>
              </a:spcAft>
              <a:buClr>
                <a:schemeClr val="dk1"/>
              </a:buClr>
              <a:buSzPts val="2600"/>
              <a:buNone/>
            </a:pPr>
            <a:r>
              <a:rPr lang="en-IN" sz="2600"/>
              <a:t>Investment decision is concerned with </a:t>
            </a:r>
            <a:r>
              <a:rPr b="1" lang="en-IN" sz="2600">
                <a:solidFill>
                  <a:srgbClr val="FF0000"/>
                </a:solidFill>
              </a:rPr>
              <a:t>optimum utilization of fund to maximize the wealth of the organization. </a:t>
            </a:r>
            <a:endParaRPr b="1" sz="2600">
              <a:solidFill>
                <a:srgbClr val="FF0000"/>
              </a:solidFill>
            </a:endParaRPr>
          </a:p>
        </p:txBody>
      </p:sp>
      <p:pic>
        <p:nvPicPr>
          <p:cNvPr descr="Image result for sastra logo" id="109" name="Google Shape;109;p16"/>
          <p:cNvPicPr preferRelativeResize="0"/>
          <p:nvPr/>
        </p:nvPicPr>
        <p:blipFill rotWithShape="1">
          <a:blip r:embed="rId3">
            <a:alphaModFix/>
          </a:blip>
          <a:srcRect b="0" l="0" r="0" t="0"/>
          <a:stretch/>
        </p:blipFill>
        <p:spPr>
          <a:xfrm>
            <a:off x="9537700" y="339870"/>
            <a:ext cx="1816100" cy="6588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idx="1" type="body"/>
          </p:nvPr>
        </p:nvSpPr>
        <p:spPr>
          <a:xfrm>
            <a:off x="838200" y="1143000"/>
            <a:ext cx="10515600" cy="5033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Capital Budgeting involves:</a:t>
            </a:r>
            <a:endParaRPr b="1" sz="2600">
              <a:solidFill>
                <a:srgbClr val="FF0000"/>
              </a:solidFill>
            </a:endParaRPr>
          </a:p>
          <a:p>
            <a:pPr indent="-228600" lvl="0" marL="228600" rtl="0" algn="just">
              <a:lnSpc>
                <a:spcPct val="90000"/>
              </a:lnSpc>
              <a:spcBef>
                <a:spcPts val="1000"/>
              </a:spcBef>
              <a:spcAft>
                <a:spcPts val="0"/>
              </a:spcAft>
              <a:buClr>
                <a:srgbClr val="FF0000"/>
              </a:buClr>
              <a:buSzPts val="2600"/>
              <a:buChar char="•"/>
            </a:pPr>
            <a:r>
              <a:rPr b="1" lang="en-IN" sz="2600">
                <a:solidFill>
                  <a:srgbClr val="FF0000"/>
                </a:solidFill>
              </a:rPr>
              <a:t>Identification</a:t>
            </a:r>
            <a:r>
              <a:rPr b="1" lang="en-IN" sz="2600"/>
              <a:t> </a:t>
            </a:r>
            <a:r>
              <a:rPr lang="en-IN" sz="2600"/>
              <a:t>of investment projects that are strategic to business’ overall objectives;</a:t>
            </a:r>
            <a:endParaRPr sz="2600"/>
          </a:p>
          <a:p>
            <a:pPr indent="-228600" lvl="0" marL="228600" rtl="0" algn="just">
              <a:lnSpc>
                <a:spcPct val="90000"/>
              </a:lnSpc>
              <a:spcBef>
                <a:spcPts val="1000"/>
              </a:spcBef>
              <a:spcAft>
                <a:spcPts val="0"/>
              </a:spcAft>
              <a:buClr>
                <a:srgbClr val="FF0000"/>
              </a:buClr>
              <a:buSzPts val="2600"/>
              <a:buChar char="•"/>
            </a:pPr>
            <a:r>
              <a:rPr b="1" lang="en-IN" sz="2600">
                <a:solidFill>
                  <a:srgbClr val="FF0000"/>
                </a:solidFill>
              </a:rPr>
              <a:t>Estimating and evaluating </a:t>
            </a:r>
            <a:r>
              <a:rPr lang="en-IN" sz="2600"/>
              <a:t>post-tax incremental cash flows for each of the investment proposals; and</a:t>
            </a:r>
            <a:endParaRPr sz="2600"/>
          </a:p>
          <a:p>
            <a:pPr indent="-228600" lvl="0" marL="228600" rtl="0" algn="just">
              <a:lnSpc>
                <a:spcPct val="90000"/>
              </a:lnSpc>
              <a:spcBef>
                <a:spcPts val="1000"/>
              </a:spcBef>
              <a:spcAft>
                <a:spcPts val="0"/>
              </a:spcAft>
              <a:buClr>
                <a:srgbClr val="FF0000"/>
              </a:buClr>
              <a:buSzPts val="2600"/>
              <a:buChar char="•"/>
            </a:pPr>
            <a:r>
              <a:rPr b="1" lang="en-IN" sz="2600">
                <a:solidFill>
                  <a:srgbClr val="FF0000"/>
                </a:solidFill>
              </a:rPr>
              <a:t>Selection </a:t>
            </a:r>
            <a:r>
              <a:rPr lang="en-IN" sz="2600"/>
              <a:t>of an investment proposal that maximizes the return to the investors.</a:t>
            </a:r>
            <a:endParaRPr sz="2600"/>
          </a:p>
          <a:p>
            <a:pPr indent="-63500" lvl="0" marL="228600" rtl="0" algn="just">
              <a:lnSpc>
                <a:spcPct val="90000"/>
              </a:lnSpc>
              <a:spcBef>
                <a:spcPts val="1000"/>
              </a:spcBef>
              <a:spcAft>
                <a:spcPts val="0"/>
              </a:spcAft>
              <a:buClr>
                <a:schemeClr val="dk1"/>
              </a:buClr>
              <a:buSzPts val="2600"/>
              <a:buNone/>
            </a:pPr>
            <a:r>
              <a:t/>
            </a:r>
            <a:endParaRPr sz="2600"/>
          </a:p>
        </p:txBody>
      </p:sp>
      <p:pic>
        <p:nvPicPr>
          <p:cNvPr descr="Image result for sastra logo" id="115" name="Google Shape;115;p17"/>
          <p:cNvPicPr preferRelativeResize="0"/>
          <p:nvPr/>
        </p:nvPicPr>
        <p:blipFill rotWithShape="1">
          <a:blip r:embed="rId3">
            <a:alphaModFix/>
          </a:blip>
          <a:srcRect b="0" l="0" r="0" t="0"/>
          <a:stretch/>
        </p:blipFill>
        <p:spPr>
          <a:xfrm>
            <a:off x="9537700" y="421266"/>
            <a:ext cx="1816100" cy="5572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idx="1" type="body"/>
          </p:nvPr>
        </p:nvSpPr>
        <p:spPr>
          <a:xfrm>
            <a:off x="838200" y="942109"/>
            <a:ext cx="10515600" cy="529027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2. Definitions: </a:t>
            </a:r>
            <a:endParaRPr b="1"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Charles. T. Horngreen </a:t>
            </a:r>
            <a:r>
              <a:rPr lang="en-IN" sz="2600"/>
              <a:t>defined capital budgeting as Long - term planning for making and financing proposed capital out lay.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According to Keller and Ferrara, </a:t>
            </a:r>
            <a:r>
              <a:rPr lang="en-IN" sz="2600"/>
              <a:t>Capital Budgeting represents the plans for the appropriation and expenditure for fixed asset during the budget period.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Robert N. Anthony defined as </a:t>
            </a:r>
            <a:r>
              <a:rPr lang="en-IN" sz="2600"/>
              <a:t>Capital Budget is essentially a list of what management believes to be worthwhile projects for the acquisition of new capital assets together with the estimated cost of each product. </a:t>
            </a:r>
            <a:endParaRPr sz="2600"/>
          </a:p>
        </p:txBody>
      </p:sp>
      <p:pic>
        <p:nvPicPr>
          <p:cNvPr descr="Image result for sastra logo" id="121" name="Google Shape;121;p18"/>
          <p:cNvPicPr preferRelativeResize="0"/>
          <p:nvPr/>
        </p:nvPicPr>
        <p:blipFill rotWithShape="1">
          <a:blip r:embed="rId3">
            <a:alphaModFix/>
          </a:blip>
          <a:srcRect b="0" l="0" r="0" t="0"/>
          <a:stretch/>
        </p:blipFill>
        <p:spPr>
          <a:xfrm>
            <a:off x="9537700" y="384897"/>
            <a:ext cx="1816100" cy="5572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idx="1" type="body"/>
          </p:nvPr>
        </p:nvSpPr>
        <p:spPr>
          <a:xfrm>
            <a:off x="838200" y="817418"/>
            <a:ext cx="10515600" cy="535954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3. Purpose of Capital Budgeting:</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The selection of the most profitable project for capital investment is the key function of the Financial Manager</a:t>
            </a:r>
            <a:r>
              <a:rPr b="1" lang="en-IN" sz="2600">
                <a:solidFill>
                  <a:srgbClr val="FF0000"/>
                </a:solidFill>
              </a:rPr>
              <a:t>. </a:t>
            </a:r>
            <a:r>
              <a:rPr lang="en-IN" sz="2600"/>
              <a:t>The decisions taken by the management in this area have affected the operations of the firm for many years. </a:t>
            </a:r>
            <a:endParaRPr sz="2600"/>
          </a:p>
          <a:p>
            <a:pPr indent="0" lvl="0" marL="0" rtl="0" algn="just">
              <a:lnSpc>
                <a:spcPct val="90000"/>
              </a:lnSpc>
              <a:spcBef>
                <a:spcPts val="1000"/>
              </a:spcBef>
              <a:spcAft>
                <a:spcPts val="0"/>
              </a:spcAft>
              <a:buClr>
                <a:schemeClr val="dk1"/>
              </a:buClr>
              <a:buSzPts val="2600"/>
              <a:buNone/>
            </a:pPr>
            <a:r>
              <a:rPr lang="en-IN" sz="2600"/>
              <a:t>Capital budgeting decisions may be </a:t>
            </a:r>
            <a:r>
              <a:rPr lang="en-IN" sz="2600">
                <a:solidFill>
                  <a:srgbClr val="FF0000"/>
                </a:solidFill>
              </a:rPr>
              <a:t>generally needed </a:t>
            </a:r>
            <a:r>
              <a:rPr lang="en-IN" sz="2600"/>
              <a:t>for the following purposes: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a) Expansion;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b) Replacement;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c) Diversification;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d) Buy or lease and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e) Research and Development. </a:t>
            </a:r>
            <a:endParaRPr sz="2600">
              <a:solidFill>
                <a:srgbClr val="FF0000"/>
              </a:solidFill>
            </a:endParaRPr>
          </a:p>
        </p:txBody>
      </p:sp>
      <p:pic>
        <p:nvPicPr>
          <p:cNvPr descr="Image result for sastra logo" id="127" name="Google Shape;127;p19"/>
          <p:cNvPicPr preferRelativeResize="0"/>
          <p:nvPr/>
        </p:nvPicPr>
        <p:blipFill rotWithShape="1">
          <a:blip r:embed="rId3">
            <a:alphaModFix/>
          </a:blip>
          <a:srcRect b="0" l="0" r="0" t="0"/>
          <a:stretch/>
        </p:blipFill>
        <p:spPr>
          <a:xfrm>
            <a:off x="9537700" y="260206"/>
            <a:ext cx="1816100" cy="5572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idx="1" type="body"/>
          </p:nvPr>
        </p:nvSpPr>
        <p:spPr>
          <a:xfrm>
            <a:off x="838200" y="900545"/>
            <a:ext cx="10515600" cy="5276418"/>
          </a:xfrm>
          <a:prstGeom prst="rect">
            <a:avLst/>
          </a:prstGeom>
          <a:noFill/>
          <a:ln>
            <a:noFill/>
          </a:ln>
        </p:spPr>
        <p:txBody>
          <a:bodyPr anchorCtr="0" anchor="t" bIns="45700" lIns="91425" spcFirstLastPara="1" rIns="91425" wrap="square" tIns="45700">
            <a:normAutofit/>
          </a:bodyPr>
          <a:lstStyle/>
          <a:p>
            <a:pPr indent="-514350" lvl="0" marL="514350" rtl="0" algn="just">
              <a:lnSpc>
                <a:spcPct val="90000"/>
              </a:lnSpc>
              <a:spcBef>
                <a:spcPts val="0"/>
              </a:spcBef>
              <a:spcAft>
                <a:spcPts val="0"/>
              </a:spcAft>
              <a:buClr>
                <a:srgbClr val="FF0000"/>
              </a:buClr>
              <a:buSzPts val="2600"/>
              <a:buAutoNum type="alphaLcParenR"/>
            </a:pPr>
            <a:r>
              <a:rPr b="1" lang="en-IN" sz="2600">
                <a:solidFill>
                  <a:srgbClr val="FF0000"/>
                </a:solidFill>
              </a:rPr>
              <a:t>Expansion: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The firm requires additional funds to invest in fixed assets when it intends </a:t>
            </a:r>
            <a:r>
              <a:rPr lang="en-IN" sz="2600">
                <a:solidFill>
                  <a:srgbClr val="FF0000"/>
                </a:solidFill>
              </a:rPr>
              <a:t>to expand the production facilities in view of the increase in demand for their product in near future. Accordingly the current assets will increase. </a:t>
            </a:r>
            <a:r>
              <a:rPr lang="en-IN" sz="2600"/>
              <a:t>In case of expansion the existing infrastructure </a:t>
            </a:r>
            <a:r>
              <a:rPr lang="en-IN" sz="2600">
                <a:solidFill>
                  <a:srgbClr val="FF0000"/>
                </a:solidFill>
              </a:rPr>
              <a:t>– like plant, machinery and other fixed assets is inadequate, to carry out the increased production volume. </a:t>
            </a:r>
            <a:r>
              <a:rPr lang="en-IN" sz="2600"/>
              <a:t>Thus the firm needs funds for such project. </a:t>
            </a:r>
            <a:r>
              <a:rPr lang="en-IN" sz="2600">
                <a:solidFill>
                  <a:srgbClr val="FF0000"/>
                </a:solidFill>
              </a:rPr>
              <a:t>This will include not only expenditure on fixed assets (infrastructure) but also an increase in working capital (current assets).</a:t>
            </a:r>
            <a:endParaRPr/>
          </a:p>
          <a:p>
            <a:pPr indent="-63500" lvl="0" marL="228600" rtl="0" algn="just">
              <a:lnSpc>
                <a:spcPct val="90000"/>
              </a:lnSpc>
              <a:spcBef>
                <a:spcPts val="1000"/>
              </a:spcBef>
              <a:spcAft>
                <a:spcPts val="0"/>
              </a:spcAft>
              <a:buClr>
                <a:schemeClr val="dk1"/>
              </a:buClr>
              <a:buSzPts val="2600"/>
              <a:buNone/>
            </a:pPr>
            <a:r>
              <a:t/>
            </a:r>
            <a:endParaRPr sz="2600"/>
          </a:p>
        </p:txBody>
      </p:sp>
      <p:pic>
        <p:nvPicPr>
          <p:cNvPr descr="Image result for sastra logo" id="133" name="Google Shape;133;p20"/>
          <p:cNvPicPr preferRelativeResize="0"/>
          <p:nvPr/>
        </p:nvPicPr>
        <p:blipFill rotWithShape="1">
          <a:blip r:embed="rId3">
            <a:alphaModFix/>
          </a:blip>
          <a:srcRect b="0" l="0" r="0" t="0"/>
          <a:stretch/>
        </p:blipFill>
        <p:spPr>
          <a:xfrm>
            <a:off x="9537700" y="343333"/>
            <a:ext cx="1816100" cy="5572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idx="1" type="body"/>
          </p:nvPr>
        </p:nvSpPr>
        <p:spPr>
          <a:xfrm>
            <a:off x="838200" y="706582"/>
            <a:ext cx="10515600" cy="5470381"/>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Replacement: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The machines and equipment used in production may either wear out or may be </a:t>
            </a:r>
            <a:r>
              <a:rPr b="1" lang="en-IN" sz="2600">
                <a:solidFill>
                  <a:srgbClr val="FF0000"/>
                </a:solidFill>
              </a:rPr>
              <a:t>rendered obsolete due to new technology. </a:t>
            </a:r>
            <a:r>
              <a:rPr lang="en-IN" sz="2600"/>
              <a:t>The productive capacity and competitive ability of the firm may be adversely affected. The firm needs funds or modernisation of a certain machines or for renovation of the entire plant etc., to make them more efficient and productive. Modernization and renovation will be a substitute for total replacement, where renovation or modernization</a:t>
            </a:r>
            <a:r>
              <a:rPr lang="en-IN" sz="2600">
                <a:solidFill>
                  <a:srgbClr val="FF0000"/>
                </a:solidFill>
              </a:rPr>
              <a:t> </a:t>
            </a:r>
            <a:r>
              <a:rPr lang="en-IN" sz="2600"/>
              <a:t>is not desirable or feasible, funds will be needed for replacement. </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c) Diversification: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If the management of the firm decided to diversify its production </a:t>
            </a:r>
            <a:r>
              <a:rPr lang="en-IN" sz="2600">
                <a:solidFill>
                  <a:srgbClr val="FF0000"/>
                </a:solidFill>
              </a:rPr>
              <a:t>into other lines by adding a new line to its original line, </a:t>
            </a:r>
            <a:r>
              <a:rPr lang="en-IN" sz="2600"/>
              <a:t>the process of diversification would require </a:t>
            </a:r>
            <a:r>
              <a:rPr lang="en-IN" sz="2600">
                <a:solidFill>
                  <a:srgbClr val="FF0000"/>
                </a:solidFill>
              </a:rPr>
              <a:t>large funds for long-term investment. </a:t>
            </a:r>
            <a:r>
              <a:rPr lang="en-IN" sz="2600"/>
              <a:t>For example </a:t>
            </a:r>
            <a:r>
              <a:rPr lang="en-IN" sz="2600">
                <a:solidFill>
                  <a:srgbClr val="FF0000"/>
                </a:solidFill>
              </a:rPr>
              <a:t>ITC and Philips company for their diversification.</a:t>
            </a:r>
            <a:endParaRPr/>
          </a:p>
        </p:txBody>
      </p:sp>
      <p:pic>
        <p:nvPicPr>
          <p:cNvPr descr="Image result for sastra logo" id="139" name="Google Shape;139;p21"/>
          <p:cNvPicPr preferRelativeResize="0"/>
          <p:nvPr/>
        </p:nvPicPr>
        <p:blipFill rotWithShape="1">
          <a:blip r:embed="rId3">
            <a:alphaModFix/>
          </a:blip>
          <a:srcRect b="0" l="0" r="0" t="0"/>
          <a:stretch/>
        </p:blipFill>
        <p:spPr>
          <a:xfrm>
            <a:off x="9537700" y="149370"/>
            <a:ext cx="1816100" cy="5572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idx="1" type="body"/>
          </p:nvPr>
        </p:nvSpPr>
        <p:spPr>
          <a:xfrm>
            <a:off x="838200" y="678872"/>
            <a:ext cx="10515600" cy="5818909"/>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d) Buy or Lease: </a:t>
            </a:r>
            <a:endParaRPr/>
          </a:p>
          <a:p>
            <a:pPr indent="0" lvl="0" marL="0" rtl="0" algn="just">
              <a:lnSpc>
                <a:spcPct val="90000"/>
              </a:lnSpc>
              <a:spcBef>
                <a:spcPts val="1000"/>
              </a:spcBef>
              <a:spcAft>
                <a:spcPts val="0"/>
              </a:spcAft>
              <a:buClr>
                <a:schemeClr val="dk1"/>
              </a:buClr>
              <a:buSzPts val="2600"/>
              <a:buNone/>
            </a:pPr>
            <a:r>
              <a:rPr lang="en-IN" sz="2600"/>
              <a:t>This is a most important decision area in Financial Management whether the firm </a:t>
            </a:r>
            <a:r>
              <a:rPr b="1" lang="en-IN" sz="2600">
                <a:solidFill>
                  <a:srgbClr val="FF0000"/>
                </a:solidFill>
              </a:rPr>
              <a:t>acquire the desired equipment and building on lease or buy it. </a:t>
            </a:r>
            <a:r>
              <a:rPr lang="en-IN" sz="2600"/>
              <a:t>If the asset is acquired on lease, there have to be made </a:t>
            </a:r>
            <a:r>
              <a:rPr lang="en-IN" sz="2600">
                <a:solidFill>
                  <a:srgbClr val="FF0000"/>
                </a:solidFill>
              </a:rPr>
              <a:t>a series of annual or monthly rental payments.</a:t>
            </a:r>
            <a:r>
              <a:rPr lang="en-IN" sz="2600"/>
              <a:t> If the asset is purchased, there </a:t>
            </a:r>
            <a:r>
              <a:rPr lang="en-IN" sz="2600">
                <a:solidFill>
                  <a:srgbClr val="FF0000"/>
                </a:solidFill>
              </a:rPr>
              <a:t>will be a large initial commitment of funds,</a:t>
            </a:r>
            <a:r>
              <a:rPr lang="en-IN" sz="2600"/>
              <a:t> </a:t>
            </a:r>
            <a:r>
              <a:rPr lang="en-IN" sz="2600">
                <a:solidFill>
                  <a:srgbClr val="00B050"/>
                </a:solidFill>
              </a:rPr>
              <a:t>but not further payments. </a:t>
            </a:r>
            <a:r>
              <a:rPr lang="en-IN" sz="2600"/>
              <a:t>The decision – making area is which course of action will be better to follow? The costs and benefits of the two alternative methods should be matched and compared to arrive at a conclusion.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e) </a:t>
            </a:r>
            <a:r>
              <a:rPr b="1" lang="en-IN" sz="2600">
                <a:solidFill>
                  <a:srgbClr val="FF0000"/>
                </a:solidFill>
              </a:rPr>
              <a:t>Research and Development: </a:t>
            </a:r>
            <a:endParaRPr/>
          </a:p>
          <a:p>
            <a:pPr indent="0" lvl="0" marL="0" rtl="0" algn="just">
              <a:lnSpc>
                <a:spcPct val="90000"/>
              </a:lnSpc>
              <a:spcBef>
                <a:spcPts val="1000"/>
              </a:spcBef>
              <a:spcAft>
                <a:spcPts val="0"/>
              </a:spcAft>
              <a:buClr>
                <a:schemeClr val="dk1"/>
              </a:buClr>
              <a:buSzPts val="2600"/>
              <a:buNone/>
            </a:pPr>
            <a:r>
              <a:rPr lang="en-IN" sz="2600"/>
              <a:t>The existing production and operations can be improved by the application of </a:t>
            </a:r>
            <a:r>
              <a:rPr lang="en-IN" sz="2600">
                <a:solidFill>
                  <a:srgbClr val="00B050"/>
                </a:solidFill>
              </a:rPr>
              <a:t>new and more sophisticated production and operations management techniques.</a:t>
            </a:r>
            <a:r>
              <a:rPr lang="en-IN" sz="2600"/>
              <a:t> </a:t>
            </a:r>
            <a:r>
              <a:rPr lang="en-IN" sz="2600">
                <a:solidFill>
                  <a:srgbClr val="FF0000"/>
                </a:solidFill>
              </a:rPr>
              <a:t>New technology can be borrowed or developed in the laboratories. </a:t>
            </a:r>
            <a:r>
              <a:rPr lang="en-IN" sz="2600"/>
              <a:t>There is a greater need of funds for continuous research and development of new technology for future benefits or returns from such investments.</a:t>
            </a:r>
            <a:endParaRPr sz="2600"/>
          </a:p>
        </p:txBody>
      </p:sp>
      <p:pic>
        <p:nvPicPr>
          <p:cNvPr descr="Image result for sastra logo" id="145" name="Google Shape;145;p22"/>
          <p:cNvPicPr preferRelativeResize="0"/>
          <p:nvPr/>
        </p:nvPicPr>
        <p:blipFill rotWithShape="1">
          <a:blip r:embed="rId3">
            <a:alphaModFix/>
          </a:blip>
          <a:srcRect b="0" l="0" r="0" t="0"/>
          <a:stretch/>
        </p:blipFill>
        <p:spPr>
          <a:xfrm>
            <a:off x="9537700" y="121660"/>
            <a:ext cx="1816100" cy="5572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idx="1" type="body"/>
          </p:nvPr>
        </p:nvSpPr>
        <p:spPr>
          <a:xfrm>
            <a:off x="838200" y="720436"/>
            <a:ext cx="10515600" cy="5456527"/>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600"/>
              <a:buNone/>
            </a:pPr>
            <a:r>
              <a:rPr lang="en-IN" sz="2600"/>
              <a:t>Capital Budgeting decisions are considered important for a variety of reasons. Some of them are the following: </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1) Crucial decisions: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Capital budgeting decisions are crucial, affecting all the departments of the firm. </a:t>
            </a:r>
            <a:r>
              <a:rPr lang="en-IN" sz="2600">
                <a:solidFill>
                  <a:srgbClr val="FF0000"/>
                </a:solidFill>
              </a:rPr>
              <a:t>So the capital budgeting decisions should be taken very carefully.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2) Long-run decisions: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The implications of capital budgeting decisions extend </a:t>
            </a:r>
            <a:r>
              <a:rPr lang="en-IN" sz="2600">
                <a:solidFill>
                  <a:srgbClr val="FF0000"/>
                </a:solidFill>
              </a:rPr>
              <a:t>to a longer period in the future. </a:t>
            </a:r>
            <a:r>
              <a:rPr lang="en-IN" sz="2600"/>
              <a:t>The consequences of a wrong decision will be disastrous for the survival of the firm. </a:t>
            </a:r>
            <a:endParaRPr sz="2600"/>
          </a:p>
          <a:p>
            <a:pPr indent="0" lvl="0" marL="0" rtl="0" algn="just">
              <a:lnSpc>
                <a:spcPct val="90000"/>
              </a:lnSpc>
              <a:spcBef>
                <a:spcPts val="1000"/>
              </a:spcBef>
              <a:spcAft>
                <a:spcPts val="0"/>
              </a:spcAft>
              <a:buClr>
                <a:srgbClr val="FF0000"/>
              </a:buClr>
              <a:buSzPts val="2400"/>
              <a:buNone/>
            </a:pPr>
            <a:r>
              <a:rPr b="1" lang="en-IN" sz="2400">
                <a:solidFill>
                  <a:srgbClr val="FF0000"/>
                </a:solidFill>
              </a:rPr>
              <a:t>3) Large amount of funds: </a:t>
            </a:r>
            <a:endParaRPr b="1" sz="2400">
              <a:solidFill>
                <a:srgbClr val="FF0000"/>
              </a:solidFill>
            </a:endParaRPr>
          </a:p>
          <a:p>
            <a:pPr indent="0" lvl="0" marL="0" rtl="0" algn="just">
              <a:lnSpc>
                <a:spcPct val="90000"/>
              </a:lnSpc>
              <a:spcBef>
                <a:spcPts val="1000"/>
              </a:spcBef>
              <a:spcAft>
                <a:spcPts val="0"/>
              </a:spcAft>
              <a:buClr>
                <a:schemeClr val="dk1"/>
              </a:buClr>
              <a:buSzPts val="2400"/>
              <a:buNone/>
            </a:pPr>
            <a:r>
              <a:rPr lang="en-IN" sz="2400"/>
              <a:t>Capital budgeting decisions involve spending </a:t>
            </a:r>
            <a:r>
              <a:rPr lang="en-IN" sz="2400">
                <a:solidFill>
                  <a:srgbClr val="FF0000"/>
                </a:solidFill>
              </a:rPr>
              <a:t>large amount of funds. </a:t>
            </a:r>
            <a:r>
              <a:rPr lang="en-IN" sz="2400"/>
              <a:t>As such proper care should be exercised to see that these funds are invested in productive purchases. </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151" name="Google Shape;151;p23"/>
          <p:cNvPicPr preferRelativeResize="0"/>
          <p:nvPr/>
        </p:nvPicPr>
        <p:blipFill rotWithShape="1">
          <a:blip r:embed="rId3">
            <a:alphaModFix/>
          </a:blip>
          <a:srcRect b="0" l="0" r="0" t="0"/>
          <a:stretch/>
        </p:blipFill>
        <p:spPr>
          <a:xfrm>
            <a:off x="9537700" y="163224"/>
            <a:ext cx="1816100" cy="5572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838200" y="706582"/>
            <a:ext cx="10515600" cy="5470381"/>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4) Rigid: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Capital budgeting decision </a:t>
            </a:r>
            <a:r>
              <a:rPr lang="en-IN" sz="2600">
                <a:solidFill>
                  <a:srgbClr val="FF0000"/>
                </a:solidFill>
              </a:rPr>
              <a:t>cannot be altered easily </a:t>
            </a:r>
            <a:r>
              <a:rPr lang="en-IN" sz="2600"/>
              <a:t>to suit the purpose. Because of this reason, </a:t>
            </a:r>
            <a:r>
              <a:rPr lang="en-IN" sz="2600">
                <a:solidFill>
                  <a:srgbClr val="FF0000"/>
                </a:solidFill>
              </a:rPr>
              <a:t>when once funds are committed in a project, they are to be continued till the end, loss or profit no matter. </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4. Process of Capital Budgeting:</a:t>
            </a:r>
            <a:endParaRPr/>
          </a:p>
          <a:p>
            <a:pPr indent="0" lvl="0" marL="0" rtl="0" algn="just">
              <a:lnSpc>
                <a:spcPct val="90000"/>
              </a:lnSpc>
              <a:spcBef>
                <a:spcPts val="1000"/>
              </a:spcBef>
              <a:spcAft>
                <a:spcPts val="0"/>
              </a:spcAft>
              <a:buClr>
                <a:schemeClr val="dk1"/>
              </a:buClr>
              <a:buSzPts val="2600"/>
              <a:buNone/>
            </a:pPr>
            <a:r>
              <a:rPr lang="en-IN" sz="2600"/>
              <a:t>The major steps in the capital budgeting process are given below:</a:t>
            </a:r>
            <a:endParaRPr sz="2600"/>
          </a:p>
          <a:p>
            <a:pPr indent="0" lvl="0" marL="0" rtl="0" algn="just">
              <a:lnSpc>
                <a:spcPct val="90000"/>
              </a:lnSpc>
              <a:spcBef>
                <a:spcPts val="1000"/>
              </a:spcBef>
              <a:spcAft>
                <a:spcPts val="0"/>
              </a:spcAft>
              <a:buClr>
                <a:schemeClr val="dk1"/>
              </a:buClr>
              <a:buSzPts val="2600"/>
              <a:buNone/>
            </a:pPr>
            <a:r>
              <a:rPr lang="en-IN" sz="2600"/>
              <a:t>They are: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a) Generation of project;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b) Evaluation of the project;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c) Selection of the project and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d) Execution of the project.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The capital budgeting process may include a few more steps. As each step is significant they are usually taken by top management. </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157" name="Google Shape;157;p24"/>
          <p:cNvPicPr preferRelativeResize="0"/>
          <p:nvPr/>
        </p:nvPicPr>
        <p:blipFill rotWithShape="1">
          <a:blip r:embed="rId3">
            <a:alphaModFix/>
          </a:blip>
          <a:srcRect b="0" l="0" r="0" t="0"/>
          <a:stretch/>
        </p:blipFill>
        <p:spPr>
          <a:xfrm>
            <a:off x="9537700" y="149370"/>
            <a:ext cx="1816100" cy="5572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Image result for sastra logo" id="162" name="Google Shape;162;p25"/>
          <p:cNvPicPr preferRelativeResize="0"/>
          <p:nvPr/>
        </p:nvPicPr>
        <p:blipFill rotWithShape="1">
          <a:blip r:embed="rId3">
            <a:alphaModFix/>
          </a:blip>
          <a:srcRect b="0" l="0" r="0" t="0"/>
          <a:stretch/>
        </p:blipFill>
        <p:spPr>
          <a:xfrm>
            <a:off x="9378373" y="166688"/>
            <a:ext cx="1816100" cy="557212"/>
          </a:xfrm>
          <a:prstGeom prst="rect">
            <a:avLst/>
          </a:prstGeom>
          <a:noFill/>
          <a:ln>
            <a:noFill/>
          </a:ln>
        </p:spPr>
      </p:pic>
      <p:pic>
        <p:nvPicPr>
          <p:cNvPr id="163" name="Google Shape;163;p25"/>
          <p:cNvPicPr preferRelativeResize="0"/>
          <p:nvPr>
            <p:ph idx="1" type="body"/>
          </p:nvPr>
        </p:nvPicPr>
        <p:blipFill rotWithShape="1">
          <a:blip r:embed="rId4">
            <a:alphaModFix/>
          </a:blip>
          <a:srcRect b="0" l="0" r="0" t="0"/>
          <a:stretch/>
        </p:blipFill>
        <p:spPr>
          <a:xfrm>
            <a:off x="1085849" y="1257300"/>
            <a:ext cx="10108623" cy="238125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idx="1" type="body"/>
          </p:nvPr>
        </p:nvSpPr>
        <p:spPr>
          <a:xfrm>
            <a:off x="838200" y="748146"/>
            <a:ext cx="10515600" cy="542881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a) Generation of Project: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Depending upon the nature of the firm, investment proposals can emanate from a variety of sources. Projects may be classified into five categories.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(i) New products or expansion of existing products.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(ii) Replacement of equipment or buildings.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(iii) Research and development.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(iv) Exploration.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(v) Others like acquisition of a pollution control device etc.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Investment proposals should be generated for the productive employment of firm‘s funds. However, a systematic procedure must be evolved for generating profitable proposals to keep the firm healthy</a:t>
            </a:r>
            <a:endParaRPr sz="2600">
              <a:solidFill>
                <a:srgbClr val="FF0000"/>
              </a:solidFill>
            </a:endParaRPr>
          </a:p>
          <a:p>
            <a:pPr indent="-63500" lvl="0" marL="228600" rtl="0" algn="just">
              <a:lnSpc>
                <a:spcPct val="90000"/>
              </a:lnSpc>
              <a:spcBef>
                <a:spcPts val="1000"/>
              </a:spcBef>
              <a:spcAft>
                <a:spcPts val="0"/>
              </a:spcAft>
              <a:buClr>
                <a:schemeClr val="dk1"/>
              </a:buClr>
              <a:buSzPts val="2600"/>
              <a:buNone/>
            </a:pPr>
            <a:r>
              <a:t/>
            </a:r>
            <a:endParaRPr sz="2600"/>
          </a:p>
        </p:txBody>
      </p:sp>
      <p:pic>
        <p:nvPicPr>
          <p:cNvPr descr="Image result for sastra logo" id="169" name="Google Shape;169;p26"/>
          <p:cNvPicPr preferRelativeResize="0"/>
          <p:nvPr/>
        </p:nvPicPr>
        <p:blipFill rotWithShape="1">
          <a:blip r:embed="rId3">
            <a:alphaModFix/>
          </a:blip>
          <a:srcRect b="0" l="0" r="0" t="0"/>
          <a:stretch/>
        </p:blipFill>
        <p:spPr>
          <a:xfrm>
            <a:off x="9537700" y="190934"/>
            <a:ext cx="1816100" cy="5572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idx="1" type="body"/>
          </p:nvPr>
        </p:nvSpPr>
        <p:spPr>
          <a:xfrm>
            <a:off x="838200" y="748145"/>
            <a:ext cx="10515600" cy="542881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Evaluation of the project: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The evaluation of the project may be done in two steps.</a:t>
            </a:r>
            <a:r>
              <a:rPr b="1" lang="en-IN" sz="2600">
                <a:solidFill>
                  <a:srgbClr val="00B050"/>
                </a:solidFill>
              </a:rPr>
              <a:t> First </a:t>
            </a:r>
            <a:r>
              <a:rPr lang="en-IN" sz="2600">
                <a:solidFill>
                  <a:srgbClr val="FF0000"/>
                </a:solidFill>
              </a:rPr>
              <a:t>the costs and benefits of the project are estimated in terms of cash flows</a:t>
            </a:r>
            <a:r>
              <a:rPr lang="en-IN" sz="2600"/>
              <a:t> and</a:t>
            </a:r>
            <a:r>
              <a:rPr b="1" lang="en-IN" sz="2600">
                <a:solidFill>
                  <a:srgbClr val="00B050"/>
                </a:solidFill>
              </a:rPr>
              <a:t> secondly </a:t>
            </a:r>
            <a:r>
              <a:rPr lang="en-IN" sz="2600">
                <a:solidFill>
                  <a:srgbClr val="FF0000"/>
                </a:solidFill>
              </a:rPr>
              <a:t>the desirability of the project is judged by an appropriate criterion.</a:t>
            </a:r>
            <a:r>
              <a:rPr lang="en-IN" sz="2600"/>
              <a:t> It is important that the project must be evaluated without any prejudice on the part of the individual. </a:t>
            </a:r>
            <a:r>
              <a:rPr lang="en-IN" sz="2600">
                <a:solidFill>
                  <a:srgbClr val="FF0000"/>
                </a:solidFill>
              </a:rPr>
              <a:t>While selecting a criterion to judge the desirability of the project, due consideration must be given to the market value of the firm.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c) Selection of the project: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After evaluation of the project, </a:t>
            </a:r>
            <a:r>
              <a:rPr lang="en-IN" sz="2600">
                <a:solidFill>
                  <a:srgbClr val="FF0000"/>
                </a:solidFill>
              </a:rPr>
              <a:t>the project with highest return should be selected. </a:t>
            </a:r>
            <a:r>
              <a:rPr lang="en-IN" sz="2600"/>
              <a:t>There is no hard and fast rule set for the purpose of selecting a project from many alternative projects</a:t>
            </a:r>
            <a:r>
              <a:rPr lang="en-IN" sz="2600">
                <a:solidFill>
                  <a:srgbClr val="FF0000"/>
                </a:solidFill>
              </a:rPr>
              <a:t>. Normally the projects are screened at various levels. However, the final selection of the project vests with the top level management.</a:t>
            </a:r>
            <a:endParaRPr/>
          </a:p>
        </p:txBody>
      </p:sp>
      <p:pic>
        <p:nvPicPr>
          <p:cNvPr descr="Image result for sastra logo" id="175" name="Google Shape;175;p27"/>
          <p:cNvPicPr preferRelativeResize="0"/>
          <p:nvPr/>
        </p:nvPicPr>
        <p:blipFill rotWithShape="1">
          <a:blip r:embed="rId3">
            <a:alphaModFix/>
          </a:blip>
          <a:srcRect b="0" l="0" r="0" t="0"/>
          <a:stretch/>
        </p:blipFill>
        <p:spPr>
          <a:xfrm>
            <a:off x="9537700" y="190933"/>
            <a:ext cx="1816100" cy="5572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idx="1" type="body"/>
          </p:nvPr>
        </p:nvSpPr>
        <p:spPr>
          <a:xfrm>
            <a:off x="838200" y="831273"/>
            <a:ext cx="10515600" cy="534569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d) Execution of project: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After selection of a project, </a:t>
            </a:r>
            <a:r>
              <a:rPr lang="en-IN" sz="2600">
                <a:solidFill>
                  <a:srgbClr val="FF0000"/>
                </a:solidFill>
              </a:rPr>
              <a:t>the next step in capital budgeting process is to implement the project.</a:t>
            </a:r>
            <a:r>
              <a:rPr lang="en-IN" sz="2600"/>
              <a:t> </a:t>
            </a:r>
            <a:r>
              <a:rPr lang="en-IN" sz="2600">
                <a:solidFill>
                  <a:srgbClr val="00B050"/>
                </a:solidFill>
              </a:rPr>
              <a:t>Thus the funds are appropriated for capital expenditures. </a:t>
            </a:r>
            <a:r>
              <a:rPr lang="en-IN" sz="2600"/>
              <a:t>The funds are spent in accordance with appropriations made in the capital budget funds for the purpose of project execution should be spent </a:t>
            </a:r>
            <a:r>
              <a:rPr lang="en-IN" sz="2600">
                <a:solidFill>
                  <a:srgbClr val="FF0000"/>
                </a:solidFill>
              </a:rPr>
              <a:t>only after seeking format permission for the controller.</a:t>
            </a:r>
            <a:r>
              <a:rPr lang="en-IN" sz="2600"/>
              <a:t> </a:t>
            </a:r>
            <a:r>
              <a:rPr lang="en-IN" sz="2600">
                <a:solidFill>
                  <a:srgbClr val="00B050"/>
                </a:solidFill>
              </a:rPr>
              <a:t>The follow – up comparison of actual performance with original estimates ensure better control.</a:t>
            </a:r>
            <a:r>
              <a:rPr lang="en-IN" sz="2600"/>
              <a:t> </a:t>
            </a:r>
            <a:r>
              <a:rPr lang="en-IN" sz="2600">
                <a:solidFill>
                  <a:srgbClr val="FF0000"/>
                </a:solidFill>
              </a:rPr>
              <a:t>Thus the top management should follow the above procedure before taking a capital expenditure decision. </a:t>
            </a:r>
            <a:endParaRPr/>
          </a:p>
        </p:txBody>
      </p:sp>
      <p:pic>
        <p:nvPicPr>
          <p:cNvPr descr="Image result for sastra logo" id="181" name="Google Shape;181;p28"/>
          <p:cNvPicPr preferRelativeResize="0"/>
          <p:nvPr/>
        </p:nvPicPr>
        <p:blipFill rotWithShape="1">
          <a:blip r:embed="rId3">
            <a:alphaModFix/>
          </a:blip>
          <a:srcRect b="0" l="0" r="0" t="0"/>
          <a:stretch/>
        </p:blipFill>
        <p:spPr>
          <a:xfrm>
            <a:off x="9537700" y="274061"/>
            <a:ext cx="1816100" cy="5572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idx="1" type="body"/>
          </p:nvPr>
        </p:nvSpPr>
        <p:spPr>
          <a:xfrm>
            <a:off x="838200" y="932873"/>
            <a:ext cx="10515600" cy="49958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5. Types of Capital Investment/Budgeting Decisions:</a:t>
            </a:r>
            <a:endParaRPr/>
          </a:p>
          <a:p>
            <a:pPr indent="0" lvl="0" marL="0" rtl="0" algn="just">
              <a:lnSpc>
                <a:spcPct val="90000"/>
              </a:lnSpc>
              <a:spcBef>
                <a:spcPts val="1000"/>
              </a:spcBef>
              <a:spcAft>
                <a:spcPts val="0"/>
              </a:spcAft>
              <a:buClr>
                <a:schemeClr val="dk1"/>
              </a:buClr>
              <a:buSzPts val="2600"/>
              <a:buNone/>
            </a:pPr>
            <a:r>
              <a:rPr lang="en-IN" sz="2600"/>
              <a:t>There are many ways to classify capital budgeting decisions. Generally, capital investment decisions are classified in two ways. One way is to classify them based on the firm’s existence. Another way is to classify them based on the decision situation.</a:t>
            </a:r>
            <a:endParaRPr sz="2600"/>
          </a:p>
        </p:txBody>
      </p:sp>
      <p:pic>
        <p:nvPicPr>
          <p:cNvPr descr="Image result for sastra logo" id="187" name="Google Shape;187;p29"/>
          <p:cNvPicPr preferRelativeResize="0"/>
          <p:nvPr/>
        </p:nvPicPr>
        <p:blipFill rotWithShape="1">
          <a:blip r:embed="rId3">
            <a:alphaModFix/>
          </a:blip>
          <a:srcRect b="0" l="0" r="0" t="0"/>
          <a:stretch/>
        </p:blipFill>
        <p:spPr>
          <a:xfrm>
            <a:off x="9537700" y="374836"/>
            <a:ext cx="1816100" cy="5572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30"/>
          <p:cNvPicPr preferRelativeResize="0"/>
          <p:nvPr>
            <p:ph idx="1" type="body"/>
          </p:nvPr>
        </p:nvPicPr>
        <p:blipFill rotWithShape="1">
          <a:blip r:embed="rId3">
            <a:alphaModFix/>
          </a:blip>
          <a:srcRect b="12815" l="17602" r="16551" t="37417"/>
          <a:stretch/>
        </p:blipFill>
        <p:spPr>
          <a:xfrm>
            <a:off x="941695" y="907473"/>
            <a:ext cx="10454185" cy="493395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descr="Image result for sastra logo" id="193" name="Google Shape;193;p30"/>
          <p:cNvPicPr preferRelativeResize="0"/>
          <p:nvPr/>
        </p:nvPicPr>
        <p:blipFill rotWithShape="1">
          <a:blip r:embed="rId4">
            <a:alphaModFix/>
          </a:blip>
          <a:srcRect b="0" l="0" r="0" t="0"/>
          <a:stretch/>
        </p:blipFill>
        <p:spPr>
          <a:xfrm>
            <a:off x="9579780" y="213783"/>
            <a:ext cx="1816100" cy="5572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idx="1" type="body"/>
          </p:nvPr>
        </p:nvSpPr>
        <p:spPr>
          <a:xfrm>
            <a:off x="838200" y="990600"/>
            <a:ext cx="10515600" cy="51863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6. Investment Criterion-Methods of Appraisal:</a:t>
            </a:r>
            <a:endParaRPr/>
          </a:p>
          <a:p>
            <a:pPr indent="0" lvl="0" marL="0" rtl="0" algn="just">
              <a:lnSpc>
                <a:spcPct val="90000"/>
              </a:lnSpc>
              <a:spcBef>
                <a:spcPts val="1000"/>
              </a:spcBef>
              <a:spcAft>
                <a:spcPts val="0"/>
              </a:spcAft>
              <a:buClr>
                <a:schemeClr val="dk1"/>
              </a:buClr>
              <a:buSzPts val="2600"/>
              <a:buNone/>
            </a:pPr>
            <a:r>
              <a:rPr lang="en-IN" sz="2600"/>
              <a:t>The capital budgeting appraisal methods or techniques for evaluation of investment proposals will help the company </a:t>
            </a:r>
            <a:r>
              <a:rPr lang="en-IN" sz="2600">
                <a:solidFill>
                  <a:srgbClr val="00B050"/>
                </a:solidFill>
              </a:rPr>
              <a:t>to decide the desirability of an investment proposal, depending upon their relative income generating capacity and rank them in order if their desirability. </a:t>
            </a:r>
            <a:r>
              <a:rPr lang="en-IN" sz="2600"/>
              <a:t>These methods provide the company a set of normal method should enable to measure </a:t>
            </a:r>
            <a:r>
              <a:rPr lang="en-IN" sz="2600">
                <a:solidFill>
                  <a:srgbClr val="FF0000"/>
                </a:solidFill>
              </a:rPr>
              <a:t>the real worth of the investment proposal.</a:t>
            </a:r>
            <a:r>
              <a:rPr lang="en-IN" sz="2600"/>
              <a:t> The appraisal methods should posses several good characteristics, which are mentioned as under. </a:t>
            </a:r>
            <a:endParaRPr/>
          </a:p>
        </p:txBody>
      </p:sp>
      <p:pic>
        <p:nvPicPr>
          <p:cNvPr descr="Image result for sastra logo" id="199" name="Google Shape;199;p31"/>
          <p:cNvPicPr preferRelativeResize="0"/>
          <p:nvPr/>
        </p:nvPicPr>
        <p:blipFill rotWithShape="1">
          <a:blip r:embed="rId3">
            <a:alphaModFix/>
          </a:blip>
          <a:srcRect b="0" l="0" r="0" t="0"/>
          <a:stretch/>
        </p:blipFill>
        <p:spPr>
          <a:xfrm>
            <a:off x="9537700" y="433388"/>
            <a:ext cx="1816100" cy="5572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idx="1" type="body"/>
          </p:nvPr>
        </p:nvSpPr>
        <p:spPr>
          <a:xfrm>
            <a:off x="838200" y="685800"/>
            <a:ext cx="10515600" cy="54911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Characteristics of a Sound Appraisal Method:</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(i) It should help the company to rank the investment proposals in order of their desirability. </a:t>
            </a:r>
            <a:endParaRPr sz="2600">
              <a:solidFill>
                <a:srgbClr val="FF0000"/>
              </a:solidFill>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(ii) It should provide a technique for distinguishing between an acceptable and nonacceptable project. </a:t>
            </a:r>
            <a:endParaRPr sz="2600">
              <a:solidFill>
                <a:srgbClr val="00B05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(iii) It should provide a criteria to solve the problem of choosing among alternative projects. </a:t>
            </a:r>
            <a:endParaRPr sz="2600">
              <a:solidFill>
                <a:srgbClr val="FF0000"/>
              </a:solidFill>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(iv) It should recognize the importance of time value of money i.e. bigger benefits are preferable to smaller ones and early benefits are preferable to later benefits. </a:t>
            </a:r>
            <a:endParaRPr sz="2600">
              <a:solidFill>
                <a:srgbClr val="00B05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(v) It should provide the criteria for the selection of investment proposals. (vi) It should take into account the pattern of cash flows. </a:t>
            </a:r>
            <a:endParaRPr/>
          </a:p>
        </p:txBody>
      </p:sp>
      <p:pic>
        <p:nvPicPr>
          <p:cNvPr descr="Image result for sastra logo" id="205" name="Google Shape;205;p32"/>
          <p:cNvPicPr preferRelativeResize="0"/>
          <p:nvPr/>
        </p:nvPicPr>
        <p:blipFill rotWithShape="1">
          <a:blip r:embed="rId3">
            <a:alphaModFix/>
          </a:blip>
          <a:srcRect b="0" l="0" r="0" t="0"/>
          <a:stretch/>
        </p:blipFill>
        <p:spPr>
          <a:xfrm>
            <a:off x="9537700" y="128588"/>
            <a:ext cx="1816100" cy="5572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idx="1" type="body"/>
          </p:nvPr>
        </p:nvSpPr>
        <p:spPr>
          <a:xfrm>
            <a:off x="838200" y="766008"/>
            <a:ext cx="10515600" cy="5689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7. Types of Capital Budgeting techniques :</a:t>
            </a:r>
            <a:endParaRPr/>
          </a:p>
          <a:p>
            <a:pPr indent="0" lvl="0" marL="0" rtl="0" algn="just">
              <a:lnSpc>
                <a:spcPct val="90000"/>
              </a:lnSpc>
              <a:spcBef>
                <a:spcPts val="1000"/>
              </a:spcBef>
              <a:spcAft>
                <a:spcPts val="0"/>
              </a:spcAft>
              <a:buClr>
                <a:schemeClr val="dk1"/>
              </a:buClr>
              <a:buSzPts val="2600"/>
              <a:buNone/>
            </a:pPr>
            <a:r>
              <a:rPr lang="en-IN" sz="2600"/>
              <a:t>There are several techniques available for the appraisal of investment proposals and can be classified as presented below:</a:t>
            </a:r>
            <a:endParaRPr/>
          </a:p>
          <a:p>
            <a:pPr indent="0" lvl="0" marL="0" rtl="0" algn="l">
              <a:lnSpc>
                <a:spcPct val="90000"/>
              </a:lnSpc>
              <a:spcBef>
                <a:spcPts val="1000"/>
              </a:spcBef>
              <a:spcAft>
                <a:spcPts val="0"/>
              </a:spcAft>
              <a:buClr>
                <a:schemeClr val="dk1"/>
              </a:buClr>
              <a:buSzPts val="2600"/>
              <a:buNone/>
            </a:pPr>
            <a:r>
              <a:t/>
            </a:r>
            <a:endParaRPr b="1" sz="2600">
              <a:solidFill>
                <a:srgbClr val="FF0000"/>
              </a:solidFill>
            </a:endParaRPr>
          </a:p>
          <a:p>
            <a:pPr indent="0" lvl="0" marL="0" rtl="0" algn="l">
              <a:lnSpc>
                <a:spcPct val="90000"/>
              </a:lnSpc>
              <a:spcBef>
                <a:spcPts val="1000"/>
              </a:spcBef>
              <a:spcAft>
                <a:spcPts val="0"/>
              </a:spcAft>
              <a:buClr>
                <a:schemeClr val="dk1"/>
              </a:buClr>
              <a:buSzPts val="2800"/>
              <a:buNone/>
            </a:pPr>
            <a:r>
              <a:t/>
            </a:r>
            <a:endParaRPr/>
          </a:p>
        </p:txBody>
      </p:sp>
      <p:pic>
        <p:nvPicPr>
          <p:cNvPr id="211" name="Google Shape;211;p33"/>
          <p:cNvPicPr preferRelativeResize="0"/>
          <p:nvPr/>
        </p:nvPicPr>
        <p:blipFill rotWithShape="1">
          <a:blip r:embed="rId3">
            <a:alphaModFix/>
          </a:blip>
          <a:srcRect b="12550" l="15419" r="17092" t="33284"/>
          <a:stretch/>
        </p:blipFill>
        <p:spPr>
          <a:xfrm>
            <a:off x="972457" y="2046514"/>
            <a:ext cx="10381343" cy="440909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descr="Image result for sastra logo" id="212" name="Google Shape;212;p33"/>
          <p:cNvPicPr preferRelativeResize="0"/>
          <p:nvPr/>
        </p:nvPicPr>
        <p:blipFill rotWithShape="1">
          <a:blip r:embed="rId4">
            <a:alphaModFix/>
          </a:blip>
          <a:srcRect b="0" l="0" r="0" t="0"/>
          <a:stretch/>
        </p:blipFill>
        <p:spPr>
          <a:xfrm>
            <a:off x="9537700" y="208796"/>
            <a:ext cx="1816100" cy="5572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idx="1" type="body"/>
          </p:nvPr>
        </p:nvSpPr>
        <p:spPr>
          <a:xfrm>
            <a:off x="838200" y="773373"/>
            <a:ext cx="10515600" cy="55626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A) Traditional Methods: </a:t>
            </a:r>
            <a:endParaRPr/>
          </a:p>
          <a:p>
            <a:pPr indent="0" lvl="0" marL="0" rtl="0" algn="just">
              <a:lnSpc>
                <a:spcPct val="90000"/>
              </a:lnSpc>
              <a:spcBef>
                <a:spcPts val="1000"/>
              </a:spcBef>
              <a:spcAft>
                <a:spcPts val="0"/>
              </a:spcAft>
              <a:buClr>
                <a:schemeClr val="dk1"/>
              </a:buClr>
              <a:buSzPts val="2600"/>
              <a:buNone/>
            </a:pPr>
            <a:r>
              <a:rPr lang="en-IN" sz="2600"/>
              <a:t>These methods are based on the principles to determine the desirability of an investment project on the basis of its </a:t>
            </a:r>
            <a:r>
              <a:rPr b="1" lang="en-IN" sz="2600">
                <a:solidFill>
                  <a:srgbClr val="00B050"/>
                </a:solidFill>
              </a:rPr>
              <a:t>useful life and expected returns. </a:t>
            </a:r>
            <a:r>
              <a:rPr lang="en-IN" sz="2600"/>
              <a:t>These methods </a:t>
            </a:r>
            <a:r>
              <a:rPr lang="en-IN" sz="2600">
                <a:solidFill>
                  <a:srgbClr val="FF0000"/>
                </a:solidFill>
              </a:rPr>
              <a:t>depend upon the accounting information available from the books of accounts of the company. </a:t>
            </a:r>
            <a:r>
              <a:rPr b="1" lang="en-IN" sz="2600">
                <a:solidFill>
                  <a:srgbClr val="00B050"/>
                </a:solidFill>
              </a:rPr>
              <a:t>These will not take into account the concept of time value of money </a:t>
            </a:r>
            <a:r>
              <a:rPr lang="en-IN" sz="2600"/>
              <a:t>which is a signification factors to desirability of a project in terms of present value. </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1. Pay-back Period: </a:t>
            </a:r>
            <a:endParaRPr/>
          </a:p>
          <a:p>
            <a:pPr indent="0" lvl="0" marL="0" rtl="0" algn="just">
              <a:lnSpc>
                <a:spcPct val="90000"/>
              </a:lnSpc>
              <a:spcBef>
                <a:spcPts val="1000"/>
              </a:spcBef>
              <a:spcAft>
                <a:spcPts val="0"/>
              </a:spcAft>
              <a:buClr>
                <a:schemeClr val="dk1"/>
              </a:buClr>
              <a:buSzPts val="2600"/>
              <a:buNone/>
            </a:pPr>
            <a:r>
              <a:rPr lang="en-IN" sz="2600"/>
              <a:t>It is </a:t>
            </a:r>
            <a:r>
              <a:rPr lang="en-IN" sz="2600">
                <a:solidFill>
                  <a:srgbClr val="00B050"/>
                </a:solidFill>
              </a:rPr>
              <a:t>the most popular and widely recognized traditional methods of evaluating the investment proposals.</a:t>
            </a:r>
            <a:r>
              <a:rPr lang="en-IN" sz="2600"/>
              <a:t> It can be defined as ―</a:t>
            </a:r>
            <a:r>
              <a:rPr lang="en-IN" sz="2600">
                <a:solidFill>
                  <a:srgbClr val="FF0000"/>
                </a:solidFill>
              </a:rPr>
              <a:t>the number of years to recover the original capital invested in a project. </a:t>
            </a:r>
            <a:endParaRPr/>
          </a:p>
          <a:p>
            <a:pPr indent="0" lvl="0" marL="0" rtl="0" algn="just">
              <a:lnSpc>
                <a:spcPct val="90000"/>
              </a:lnSpc>
              <a:spcBef>
                <a:spcPts val="1000"/>
              </a:spcBef>
              <a:spcAft>
                <a:spcPts val="0"/>
              </a:spcAft>
              <a:buClr>
                <a:schemeClr val="dk1"/>
              </a:buClr>
              <a:buSzPts val="2600"/>
              <a:buNone/>
            </a:pPr>
            <a:r>
              <a:rPr lang="en-IN" sz="2600"/>
              <a:t>According to Weston and Brigham, ―</a:t>
            </a:r>
            <a:r>
              <a:rPr lang="en-IN" sz="2600">
                <a:solidFill>
                  <a:srgbClr val="FF0000"/>
                </a:solidFill>
              </a:rPr>
              <a:t>the payback period is the number of years it takes for the firm to recover its original investment by net returns before depreciation, but after taxes: </a:t>
            </a:r>
            <a:endParaRPr/>
          </a:p>
        </p:txBody>
      </p:sp>
      <p:pic>
        <p:nvPicPr>
          <p:cNvPr descr="Image result for sastra logo" id="218" name="Google Shape;218;p34"/>
          <p:cNvPicPr preferRelativeResize="0"/>
          <p:nvPr/>
        </p:nvPicPr>
        <p:blipFill rotWithShape="1">
          <a:blip r:embed="rId3">
            <a:alphaModFix/>
          </a:blip>
          <a:srcRect b="0" l="0" r="0" t="0"/>
          <a:stretch/>
        </p:blipFill>
        <p:spPr>
          <a:xfrm>
            <a:off x="9537700" y="204788"/>
            <a:ext cx="1816100" cy="5572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idx="1" type="body"/>
          </p:nvPr>
        </p:nvSpPr>
        <p:spPr>
          <a:xfrm>
            <a:off x="838200" y="762000"/>
            <a:ext cx="10515600" cy="5414963"/>
          </a:xfrm>
          <a:prstGeom prst="rect">
            <a:avLst/>
          </a:prstGeom>
          <a:noFill/>
          <a:ln>
            <a:noFill/>
          </a:ln>
        </p:spPr>
        <p:txBody>
          <a:bodyPr anchorCtr="0" anchor="t" bIns="45700" lIns="91425" spcFirstLastPara="1" rIns="91425" wrap="square" tIns="45700">
            <a:normAutofit/>
          </a:bodyPr>
          <a:lstStyle/>
          <a:p>
            <a:pPr indent="-514350" lvl="0" marL="514350" rtl="0" algn="just">
              <a:lnSpc>
                <a:spcPct val="90000"/>
              </a:lnSpc>
              <a:spcBef>
                <a:spcPts val="0"/>
              </a:spcBef>
              <a:spcAft>
                <a:spcPts val="0"/>
              </a:spcAft>
              <a:buClr>
                <a:srgbClr val="00B050"/>
              </a:buClr>
              <a:buSzPts val="2600"/>
              <a:buAutoNum type="alphaLcParenR"/>
            </a:pPr>
            <a:r>
              <a:rPr b="1" lang="en-IN" sz="2600">
                <a:solidFill>
                  <a:srgbClr val="00B050"/>
                </a:solidFill>
              </a:rPr>
              <a:t>When cash flows are uniform/Uniform Cash Flows:</a:t>
            </a:r>
            <a:endParaRPr b="1" sz="2600">
              <a:solidFill>
                <a:srgbClr val="00B050"/>
              </a:solidFill>
            </a:endParaRPr>
          </a:p>
          <a:p>
            <a:pPr indent="0" lvl="0" marL="0" rtl="0" algn="just">
              <a:lnSpc>
                <a:spcPct val="90000"/>
              </a:lnSpc>
              <a:spcBef>
                <a:spcPts val="1000"/>
              </a:spcBef>
              <a:spcAft>
                <a:spcPts val="0"/>
              </a:spcAft>
              <a:buClr>
                <a:schemeClr val="dk1"/>
              </a:buClr>
              <a:buSzPts val="2600"/>
              <a:buNone/>
            </a:pPr>
            <a:r>
              <a:rPr lang="en-IN" sz="2600"/>
              <a:t>If the proposed </a:t>
            </a:r>
            <a:r>
              <a:rPr lang="en-IN" sz="2600">
                <a:solidFill>
                  <a:srgbClr val="FF0000"/>
                </a:solidFill>
              </a:rPr>
              <a:t>project‘s cash inflows are uniform </a:t>
            </a:r>
            <a:r>
              <a:rPr lang="en-IN" sz="2600"/>
              <a:t>the following formula can be used to calculate the payback period.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Payback period = Initial Investment/Annual Cash inflows</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Annual Cash inflow = Profit after tax plus depreciation (CFAT)</a:t>
            </a:r>
            <a:endParaRPr sz="2600">
              <a:solidFill>
                <a:srgbClr val="FF0000"/>
              </a:solidFill>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b) When cash flows are not uniform/Non-Uniform Cash Flows:</a:t>
            </a:r>
            <a:endParaRPr b="1" sz="2600">
              <a:solidFill>
                <a:srgbClr val="00B050"/>
              </a:solidFill>
            </a:endParaRPr>
          </a:p>
          <a:p>
            <a:pPr indent="0" lvl="0" marL="0" rtl="0" algn="just">
              <a:lnSpc>
                <a:spcPct val="90000"/>
              </a:lnSpc>
              <a:spcBef>
                <a:spcPts val="1000"/>
              </a:spcBef>
              <a:spcAft>
                <a:spcPts val="0"/>
              </a:spcAft>
              <a:buClr>
                <a:schemeClr val="dk1"/>
              </a:buClr>
              <a:buSzPts val="2600"/>
              <a:buNone/>
            </a:pPr>
            <a:r>
              <a:rPr lang="en-IN" sz="2600"/>
              <a:t>When the project‘s cash inflows </a:t>
            </a:r>
            <a:r>
              <a:rPr lang="en-IN" sz="2600">
                <a:solidFill>
                  <a:srgbClr val="FF0000"/>
                </a:solidFill>
              </a:rPr>
              <a:t>are not uniform, </a:t>
            </a:r>
            <a:r>
              <a:rPr lang="en-IN" sz="2600"/>
              <a:t>but vary from year to year pay back period is calculated by the process of cumulating cash inflows till the time when cumulative cash flows become equal to the original investment outlay. </a:t>
            </a:r>
            <a:endParaRPr sz="2600">
              <a:solidFill>
                <a:srgbClr val="FF0000"/>
              </a:solidFill>
            </a:endParaRPr>
          </a:p>
        </p:txBody>
      </p:sp>
      <p:pic>
        <p:nvPicPr>
          <p:cNvPr descr="Image result for sastra logo" id="224" name="Google Shape;224;p35"/>
          <p:cNvPicPr preferRelativeResize="0"/>
          <p:nvPr/>
        </p:nvPicPr>
        <p:blipFill rotWithShape="1">
          <a:blip r:embed="rId3">
            <a:alphaModFix/>
          </a:blip>
          <a:srcRect b="0" l="0" r="0" t="0"/>
          <a:stretch/>
        </p:blipFill>
        <p:spPr>
          <a:xfrm>
            <a:off x="9537700" y="204788"/>
            <a:ext cx="1816100" cy="5572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idx="1" type="body"/>
          </p:nvPr>
        </p:nvSpPr>
        <p:spPr>
          <a:xfrm>
            <a:off x="838200" y="872836"/>
            <a:ext cx="10515600" cy="530412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lang="en-IN" sz="2600">
                <a:solidFill>
                  <a:srgbClr val="FF0000"/>
                </a:solidFill>
              </a:rPr>
              <a:t>The payback period can be used as an accept or reject criterion as well as a method of ranking projects. </a:t>
            </a:r>
            <a:r>
              <a:rPr lang="en-IN" sz="2600"/>
              <a:t>The payback period is the number of years to recover the investment made in a project. </a:t>
            </a:r>
            <a:r>
              <a:rPr lang="en-IN" sz="2600">
                <a:solidFill>
                  <a:srgbClr val="FF0000"/>
                </a:solidFill>
              </a:rPr>
              <a:t>If the payback period calculated for a project is less than the maximum payback period set-up by the company, it can be accepted.</a:t>
            </a:r>
            <a:r>
              <a:rPr lang="en-IN" sz="2600"/>
              <a:t> </a:t>
            </a:r>
            <a:endParaRPr sz="2600"/>
          </a:p>
          <a:p>
            <a:pPr indent="0" lvl="0" marL="0" rtl="0" algn="just">
              <a:lnSpc>
                <a:spcPct val="90000"/>
              </a:lnSpc>
              <a:spcBef>
                <a:spcPts val="1000"/>
              </a:spcBef>
              <a:spcAft>
                <a:spcPts val="0"/>
              </a:spcAft>
              <a:buClr>
                <a:schemeClr val="dk1"/>
              </a:buClr>
              <a:buSzPts val="2600"/>
              <a:buNone/>
            </a:pPr>
            <a:r>
              <a:rPr lang="en-IN" sz="2600"/>
              <a:t>As a ranking method </a:t>
            </a:r>
            <a:r>
              <a:rPr lang="en-IN" sz="2600">
                <a:solidFill>
                  <a:srgbClr val="00B050"/>
                </a:solidFill>
              </a:rPr>
              <a:t>it gives the highest rank to a project which has the lowest payback period,</a:t>
            </a:r>
            <a:r>
              <a:rPr lang="en-IN" sz="2600"/>
              <a:t> </a:t>
            </a:r>
            <a:r>
              <a:rPr lang="en-IN" sz="2600">
                <a:solidFill>
                  <a:srgbClr val="FF0000"/>
                </a:solidFill>
              </a:rPr>
              <a:t>and the lowest rank to a project with the highest payback period.</a:t>
            </a:r>
            <a:r>
              <a:rPr lang="en-IN" sz="2600"/>
              <a:t> Whenever a company faces the problem of choosing among two or more mutually exclusive projects, </a:t>
            </a:r>
            <a:r>
              <a:rPr b="1" lang="en-IN" sz="2600">
                <a:solidFill>
                  <a:srgbClr val="00B050"/>
                </a:solidFill>
              </a:rPr>
              <a:t>it can select a project on the basis of payback period, which has shorter period than the other projects. </a:t>
            </a:r>
            <a:endParaRPr/>
          </a:p>
        </p:txBody>
      </p:sp>
      <p:pic>
        <p:nvPicPr>
          <p:cNvPr descr="Image result for sastra logo" id="230" name="Google Shape;230;p36"/>
          <p:cNvPicPr preferRelativeResize="0"/>
          <p:nvPr/>
        </p:nvPicPr>
        <p:blipFill rotWithShape="1">
          <a:blip r:embed="rId3">
            <a:alphaModFix/>
          </a:blip>
          <a:srcRect b="0" l="0" r="0" t="0"/>
          <a:stretch/>
        </p:blipFill>
        <p:spPr>
          <a:xfrm>
            <a:off x="9537700" y="315624"/>
            <a:ext cx="1816100" cy="5572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idx="1" type="body"/>
          </p:nvPr>
        </p:nvSpPr>
        <p:spPr>
          <a:xfrm>
            <a:off x="838200" y="706582"/>
            <a:ext cx="10515600" cy="573578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Merits: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The following are the merits of the payback period method: </a:t>
            </a:r>
            <a:endParaRPr sz="2600"/>
          </a:p>
          <a:p>
            <a:pPr indent="0" lvl="0" marL="0" rtl="0" algn="just">
              <a:lnSpc>
                <a:spcPct val="90000"/>
              </a:lnSpc>
              <a:spcBef>
                <a:spcPts val="1000"/>
              </a:spcBef>
              <a:spcAft>
                <a:spcPts val="0"/>
              </a:spcAft>
              <a:buClr>
                <a:srgbClr val="00B050"/>
              </a:buClr>
              <a:buSzPts val="2600"/>
              <a:buNone/>
            </a:pPr>
            <a:r>
              <a:rPr lang="en-IN" sz="2600">
                <a:solidFill>
                  <a:srgbClr val="00B050"/>
                </a:solidFill>
              </a:rPr>
              <a:t>(i) </a:t>
            </a:r>
            <a:r>
              <a:rPr b="1" lang="en-IN" sz="2600">
                <a:solidFill>
                  <a:srgbClr val="00B050"/>
                </a:solidFill>
              </a:rPr>
              <a:t>Easy to calculate: </a:t>
            </a:r>
            <a:r>
              <a:rPr lang="en-IN" sz="2600">
                <a:solidFill>
                  <a:srgbClr val="FF0000"/>
                </a:solidFill>
              </a:rPr>
              <a:t>It is one of the easiest methods of evaluating the investment projects. It is simple to understand and easy to compute. </a:t>
            </a:r>
            <a:endParaRPr sz="2600">
              <a:solidFill>
                <a:srgbClr val="FF0000"/>
              </a:solidFill>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(ii) Knowledge: </a:t>
            </a:r>
            <a:r>
              <a:rPr lang="en-IN" sz="2600">
                <a:solidFill>
                  <a:srgbClr val="FF0000"/>
                </a:solidFill>
              </a:rPr>
              <a:t>The knowledge of payback period is useful in decision-making, the shorter the period better the project. </a:t>
            </a:r>
            <a:endParaRPr sz="2600">
              <a:solidFill>
                <a:srgbClr val="FF0000"/>
              </a:solidFill>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(iii) Protection from loss due to obsolescence: </a:t>
            </a:r>
            <a:r>
              <a:rPr lang="en-IN" sz="2600">
                <a:solidFill>
                  <a:srgbClr val="00B050"/>
                </a:solidFill>
              </a:rPr>
              <a:t>This method is very suitable to such industries where mechanical and technical changes are routine practice and hence, shorter payback period practice avoids such losses. </a:t>
            </a:r>
            <a:endParaRPr sz="2600">
              <a:solidFill>
                <a:srgbClr val="00B050"/>
              </a:solidFill>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(iv) Easily availability of information: </a:t>
            </a:r>
            <a:r>
              <a:rPr lang="en-IN" sz="2600">
                <a:solidFill>
                  <a:srgbClr val="FF0000"/>
                </a:solidFill>
              </a:rPr>
              <a:t>It can be computed on the basis of accounting information, what is available from the books. </a:t>
            </a:r>
            <a:endParaRPr/>
          </a:p>
        </p:txBody>
      </p:sp>
      <p:pic>
        <p:nvPicPr>
          <p:cNvPr descr="Image result for sastra logo" id="236" name="Google Shape;236;p37"/>
          <p:cNvPicPr preferRelativeResize="0"/>
          <p:nvPr/>
        </p:nvPicPr>
        <p:blipFill rotWithShape="1">
          <a:blip r:embed="rId3">
            <a:alphaModFix/>
          </a:blip>
          <a:srcRect b="0" l="0" r="0" t="0"/>
          <a:stretch/>
        </p:blipFill>
        <p:spPr>
          <a:xfrm>
            <a:off x="9537700" y="149370"/>
            <a:ext cx="1816100" cy="5572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idx="1" type="body"/>
          </p:nvPr>
        </p:nvSpPr>
        <p:spPr>
          <a:xfrm>
            <a:off x="838200" y="775855"/>
            <a:ext cx="10515600" cy="540110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rgbClr val="FF0000"/>
              </a:buClr>
              <a:buSzPct val="100000"/>
              <a:buNone/>
            </a:pPr>
            <a:r>
              <a:rPr b="1" lang="en-IN">
                <a:solidFill>
                  <a:srgbClr val="FF0000"/>
                </a:solidFill>
              </a:rPr>
              <a:t>Demerits: </a:t>
            </a:r>
            <a:endParaRPr b="1">
              <a:solidFill>
                <a:srgbClr val="FF0000"/>
              </a:solidFill>
            </a:endParaRPr>
          </a:p>
          <a:p>
            <a:pPr indent="0" lvl="0" marL="0" rtl="0" algn="just">
              <a:lnSpc>
                <a:spcPct val="90000"/>
              </a:lnSpc>
              <a:spcBef>
                <a:spcPts val="1000"/>
              </a:spcBef>
              <a:spcAft>
                <a:spcPts val="0"/>
              </a:spcAft>
              <a:buClr>
                <a:schemeClr val="dk1"/>
              </a:buClr>
              <a:buSzPct val="100000"/>
              <a:buNone/>
            </a:pPr>
            <a:r>
              <a:rPr lang="en-IN"/>
              <a:t>However, the payback period method has certain demerits: </a:t>
            </a:r>
            <a:endParaRPr/>
          </a:p>
          <a:p>
            <a:pPr indent="0" lvl="0" marL="0" rtl="0" algn="just">
              <a:lnSpc>
                <a:spcPct val="90000"/>
              </a:lnSpc>
              <a:spcBef>
                <a:spcPts val="1000"/>
              </a:spcBef>
              <a:spcAft>
                <a:spcPts val="0"/>
              </a:spcAft>
              <a:buClr>
                <a:srgbClr val="00B050"/>
              </a:buClr>
              <a:buSzPct val="100000"/>
              <a:buNone/>
            </a:pPr>
            <a:r>
              <a:rPr b="1" lang="en-IN">
                <a:solidFill>
                  <a:srgbClr val="00B050"/>
                </a:solidFill>
              </a:rPr>
              <a:t>(i) Failure in taking cash flows after payback period: </a:t>
            </a:r>
            <a:r>
              <a:rPr lang="en-IN">
                <a:solidFill>
                  <a:srgbClr val="FF0000"/>
                </a:solidFill>
              </a:rPr>
              <a:t>This methods is not taking into account the cash flows received by the company after the payback period. </a:t>
            </a:r>
            <a:endParaRPr>
              <a:solidFill>
                <a:srgbClr val="FF0000"/>
              </a:solidFill>
            </a:endParaRPr>
          </a:p>
          <a:p>
            <a:pPr indent="0" lvl="0" marL="0" rtl="0" algn="just">
              <a:lnSpc>
                <a:spcPct val="90000"/>
              </a:lnSpc>
              <a:spcBef>
                <a:spcPts val="1000"/>
              </a:spcBef>
              <a:spcAft>
                <a:spcPts val="0"/>
              </a:spcAft>
              <a:buClr>
                <a:srgbClr val="00B050"/>
              </a:buClr>
              <a:buSzPct val="100000"/>
              <a:buNone/>
            </a:pPr>
            <a:r>
              <a:rPr b="1" lang="en-IN">
                <a:solidFill>
                  <a:srgbClr val="00B050"/>
                </a:solidFill>
              </a:rPr>
              <a:t>(ii) Not considering the time value of money: </a:t>
            </a:r>
            <a:r>
              <a:rPr lang="en-IN">
                <a:solidFill>
                  <a:srgbClr val="FF0000"/>
                </a:solidFill>
              </a:rPr>
              <a:t>It does not take into account the time value of money. </a:t>
            </a:r>
            <a:endParaRPr>
              <a:solidFill>
                <a:srgbClr val="FF0000"/>
              </a:solidFill>
            </a:endParaRPr>
          </a:p>
          <a:p>
            <a:pPr indent="0" lvl="0" marL="0" rtl="0" algn="just">
              <a:lnSpc>
                <a:spcPct val="90000"/>
              </a:lnSpc>
              <a:spcBef>
                <a:spcPts val="1000"/>
              </a:spcBef>
              <a:spcAft>
                <a:spcPts val="0"/>
              </a:spcAft>
              <a:buClr>
                <a:srgbClr val="00B050"/>
              </a:buClr>
              <a:buSzPct val="100000"/>
              <a:buNone/>
            </a:pPr>
            <a:r>
              <a:rPr b="1" lang="en-IN">
                <a:solidFill>
                  <a:srgbClr val="00B050"/>
                </a:solidFill>
              </a:rPr>
              <a:t>(iii) Non-considering of interest factor: </a:t>
            </a:r>
            <a:r>
              <a:rPr lang="en-IN">
                <a:solidFill>
                  <a:srgbClr val="FF0000"/>
                </a:solidFill>
              </a:rPr>
              <a:t>It does not take into account the interest factor involved in the capital outlay. </a:t>
            </a:r>
            <a:endParaRPr>
              <a:solidFill>
                <a:srgbClr val="FF0000"/>
              </a:solidFill>
            </a:endParaRPr>
          </a:p>
          <a:p>
            <a:pPr indent="0" lvl="0" marL="0" rtl="0" algn="just">
              <a:lnSpc>
                <a:spcPct val="90000"/>
              </a:lnSpc>
              <a:spcBef>
                <a:spcPts val="1000"/>
              </a:spcBef>
              <a:spcAft>
                <a:spcPts val="0"/>
              </a:spcAft>
              <a:buClr>
                <a:srgbClr val="00B050"/>
              </a:buClr>
              <a:buSzPct val="100000"/>
              <a:buNone/>
            </a:pPr>
            <a:r>
              <a:rPr b="1" lang="en-IN">
                <a:solidFill>
                  <a:srgbClr val="00B050"/>
                </a:solidFill>
              </a:rPr>
              <a:t>(iv) Maximisation of market value not possible: </a:t>
            </a:r>
            <a:r>
              <a:rPr lang="en-IN">
                <a:solidFill>
                  <a:srgbClr val="FF0000"/>
                </a:solidFill>
              </a:rPr>
              <a:t>It is not consistent with the objective of maximizing the market value of share. </a:t>
            </a:r>
            <a:endParaRPr>
              <a:solidFill>
                <a:srgbClr val="FF0000"/>
              </a:solidFill>
            </a:endParaRPr>
          </a:p>
          <a:p>
            <a:pPr indent="0" lvl="0" marL="0" rtl="0" algn="just">
              <a:lnSpc>
                <a:spcPct val="90000"/>
              </a:lnSpc>
              <a:spcBef>
                <a:spcPts val="1000"/>
              </a:spcBef>
              <a:spcAft>
                <a:spcPts val="0"/>
              </a:spcAft>
              <a:buClr>
                <a:srgbClr val="00B050"/>
              </a:buClr>
              <a:buSzPct val="100000"/>
              <a:buNone/>
            </a:pPr>
            <a:r>
              <a:rPr b="1" lang="en-IN">
                <a:solidFill>
                  <a:srgbClr val="00B050"/>
                </a:solidFill>
              </a:rPr>
              <a:t>(v) Failure in taking magnitude and timing of cash inflows: </a:t>
            </a:r>
            <a:r>
              <a:rPr lang="en-IN">
                <a:solidFill>
                  <a:srgbClr val="FF0000"/>
                </a:solidFill>
              </a:rPr>
              <a:t>It fails to consider the pattern of cash inflows i.e. the magnitude and timing of cash inflows. </a:t>
            </a:r>
            <a:endParaRPr/>
          </a:p>
        </p:txBody>
      </p:sp>
      <p:pic>
        <p:nvPicPr>
          <p:cNvPr descr="Image result for sastra logo" id="242" name="Google Shape;242;p38"/>
          <p:cNvPicPr preferRelativeResize="0"/>
          <p:nvPr/>
        </p:nvPicPr>
        <p:blipFill rotWithShape="1">
          <a:blip r:embed="rId3">
            <a:alphaModFix/>
          </a:blip>
          <a:srcRect b="0" l="0" r="0" t="0"/>
          <a:stretch/>
        </p:blipFill>
        <p:spPr>
          <a:xfrm>
            <a:off x="9537700" y="218643"/>
            <a:ext cx="1816100" cy="55721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idx="1" type="body"/>
          </p:nvPr>
        </p:nvSpPr>
        <p:spPr>
          <a:xfrm>
            <a:off x="838200" y="928255"/>
            <a:ext cx="10515600" cy="524870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Solved problems:</a:t>
            </a:r>
            <a:endParaRPr/>
          </a:p>
          <a:p>
            <a:pPr indent="0" lvl="0" marL="0" rtl="0" algn="just">
              <a:lnSpc>
                <a:spcPct val="90000"/>
              </a:lnSpc>
              <a:spcBef>
                <a:spcPts val="1000"/>
              </a:spcBef>
              <a:spcAft>
                <a:spcPts val="0"/>
              </a:spcAft>
              <a:buClr>
                <a:schemeClr val="dk1"/>
              </a:buClr>
              <a:buSzPts val="2600"/>
              <a:buNone/>
            </a:pPr>
            <a:r>
              <a:rPr lang="en-IN" sz="2600"/>
              <a:t>P1. A project costs Rs. 2,50,000 and yields an annual cash inflow of Rs. 50,000 for 7 years. Calculate it’s Pay Back Period.</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Solution:</a:t>
            </a:r>
            <a:endParaRPr/>
          </a:p>
          <a:p>
            <a:pPr indent="0" lvl="0" marL="0" rtl="0" algn="just">
              <a:lnSpc>
                <a:spcPct val="90000"/>
              </a:lnSpc>
              <a:spcBef>
                <a:spcPts val="1000"/>
              </a:spcBef>
              <a:spcAft>
                <a:spcPts val="0"/>
              </a:spcAft>
              <a:buClr>
                <a:schemeClr val="dk1"/>
              </a:buClr>
              <a:buSzPts val="2600"/>
              <a:buNone/>
            </a:pPr>
            <a:r>
              <a:rPr lang="en-IN" sz="2600"/>
              <a:t>PBP     = Initial Investment/Annual cash inflows</a:t>
            </a:r>
            <a:endParaRPr/>
          </a:p>
          <a:p>
            <a:pPr indent="0" lvl="0" marL="0" rtl="0" algn="just">
              <a:lnSpc>
                <a:spcPct val="90000"/>
              </a:lnSpc>
              <a:spcBef>
                <a:spcPts val="1000"/>
              </a:spcBef>
              <a:spcAft>
                <a:spcPts val="0"/>
              </a:spcAft>
              <a:buClr>
                <a:schemeClr val="dk1"/>
              </a:buClr>
              <a:buSzPts val="2600"/>
              <a:buNone/>
            </a:pPr>
            <a:r>
              <a:rPr lang="en-IN" sz="2600"/>
              <a:t>	= Rs. 2,50,000/Rs. 50,000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5 years.</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248" name="Google Shape;248;p39"/>
          <p:cNvPicPr preferRelativeResize="0"/>
          <p:nvPr/>
        </p:nvPicPr>
        <p:blipFill rotWithShape="1">
          <a:blip r:embed="rId3">
            <a:alphaModFix/>
          </a:blip>
          <a:srcRect b="0" l="0" r="0" t="0"/>
          <a:stretch/>
        </p:blipFill>
        <p:spPr>
          <a:xfrm>
            <a:off x="9537700" y="371043"/>
            <a:ext cx="1816100" cy="5572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idx="1" type="body"/>
          </p:nvPr>
        </p:nvSpPr>
        <p:spPr>
          <a:xfrm>
            <a:off x="838200" y="992909"/>
            <a:ext cx="10515600" cy="538725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 A project cost Rs. 5,00,000 and yields profit of Rs. 1,00,000 after writing off depreciation of Rs. 25,000 per annum. Calculate Pay Back Period.</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Solution:</a:t>
            </a:r>
            <a:endParaRPr/>
          </a:p>
          <a:p>
            <a:pPr indent="0" lvl="0" marL="0" rtl="0" algn="just">
              <a:lnSpc>
                <a:spcPct val="90000"/>
              </a:lnSpc>
              <a:spcBef>
                <a:spcPts val="1000"/>
              </a:spcBef>
              <a:spcAft>
                <a:spcPts val="0"/>
              </a:spcAft>
              <a:buClr>
                <a:schemeClr val="dk1"/>
              </a:buClr>
              <a:buSzPts val="2600"/>
              <a:buNone/>
            </a:pPr>
            <a:r>
              <a:rPr lang="en-IN" sz="2600"/>
              <a:t>Pay Back Period = Initial Investment/Annual Cash flows</a:t>
            </a:r>
            <a:endParaRPr sz="2600"/>
          </a:p>
          <a:p>
            <a:pPr indent="0" lvl="0" marL="0" rtl="0" algn="just">
              <a:lnSpc>
                <a:spcPct val="90000"/>
              </a:lnSpc>
              <a:spcBef>
                <a:spcPts val="1000"/>
              </a:spcBef>
              <a:spcAft>
                <a:spcPts val="0"/>
              </a:spcAft>
              <a:buClr>
                <a:schemeClr val="dk1"/>
              </a:buClr>
              <a:buSzPts val="2600"/>
              <a:buNone/>
            </a:pPr>
            <a:r>
              <a:rPr lang="en-IN" sz="2600"/>
              <a:t>Annual Cash flows (CFAT)    = Profit after tax + Depreciation</a:t>
            </a:r>
            <a:endParaRPr/>
          </a:p>
          <a:p>
            <a:pPr indent="0" lvl="0" marL="0" rtl="0" algn="l">
              <a:lnSpc>
                <a:spcPct val="90000"/>
              </a:lnSpc>
              <a:spcBef>
                <a:spcPts val="1000"/>
              </a:spcBef>
              <a:spcAft>
                <a:spcPts val="0"/>
              </a:spcAft>
              <a:buClr>
                <a:schemeClr val="dk1"/>
              </a:buClr>
              <a:buSzPts val="2600"/>
              <a:buNone/>
            </a:pPr>
            <a:r>
              <a:rPr lang="en-IN" sz="2600"/>
              <a:t>				= Rs. 1,00,000 + Rs. 25,000</a:t>
            </a:r>
            <a:br>
              <a:rPr lang="en-IN" sz="2600"/>
            </a:br>
            <a:r>
              <a:rPr lang="en-IN" sz="2600"/>
              <a:t>				</a:t>
            </a:r>
            <a:r>
              <a:rPr lang="en-IN" sz="2600">
                <a:solidFill>
                  <a:srgbClr val="FF0000"/>
                </a:solidFill>
              </a:rPr>
              <a:t>= Rs. 1,25,000</a:t>
            </a:r>
            <a:endParaRPr/>
          </a:p>
          <a:p>
            <a:pPr indent="0" lvl="0" marL="0" rtl="0" algn="just">
              <a:lnSpc>
                <a:spcPct val="90000"/>
              </a:lnSpc>
              <a:spcBef>
                <a:spcPts val="1000"/>
              </a:spcBef>
              <a:spcAft>
                <a:spcPts val="0"/>
              </a:spcAft>
              <a:buClr>
                <a:schemeClr val="dk1"/>
              </a:buClr>
              <a:buSzPts val="2600"/>
              <a:buNone/>
            </a:pPr>
            <a:r>
              <a:rPr lang="en-IN" sz="2600"/>
              <a:t>Pay Back Period  = Rs. 5,00,000/Rs. 1,25,000</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      = 4 years</a:t>
            </a:r>
            <a:endParaRPr sz="2600">
              <a:solidFill>
                <a:srgbClr val="FF0000"/>
              </a:solidFill>
            </a:endParaRPr>
          </a:p>
        </p:txBody>
      </p:sp>
      <p:pic>
        <p:nvPicPr>
          <p:cNvPr descr="Image result for sastra logo" id="254" name="Google Shape;254;p40"/>
          <p:cNvPicPr preferRelativeResize="0"/>
          <p:nvPr/>
        </p:nvPicPr>
        <p:blipFill rotWithShape="1">
          <a:blip r:embed="rId3">
            <a:alphaModFix/>
          </a:blip>
          <a:srcRect b="0" l="0" r="0" t="0"/>
          <a:stretch/>
        </p:blipFill>
        <p:spPr>
          <a:xfrm>
            <a:off x="9537700" y="232497"/>
            <a:ext cx="1816100" cy="5572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idx="1" type="body"/>
          </p:nvPr>
        </p:nvSpPr>
        <p:spPr>
          <a:xfrm>
            <a:off x="838200" y="942109"/>
            <a:ext cx="10515600" cy="515216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P3. A project has an initial investment of Rs. 2,00,000. It will produce cash flows after tax Rs. 50,000 per annum for six years. Compute the Pay Back period for the project.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Computation of Pay Back Period:</a:t>
            </a:r>
            <a:endParaRPr/>
          </a:p>
          <a:p>
            <a:pPr indent="0" lvl="0" marL="0" rtl="0" algn="just">
              <a:lnSpc>
                <a:spcPct val="90000"/>
              </a:lnSpc>
              <a:spcBef>
                <a:spcPts val="1000"/>
              </a:spcBef>
              <a:spcAft>
                <a:spcPts val="0"/>
              </a:spcAft>
              <a:buClr>
                <a:schemeClr val="dk1"/>
              </a:buClr>
              <a:buSzPts val="2600"/>
              <a:buNone/>
            </a:pPr>
            <a:r>
              <a:rPr lang="en-IN" sz="2600"/>
              <a:t>Pay back period = Initial Investment/Annual cash inflow</a:t>
            </a:r>
            <a:endParaRPr/>
          </a:p>
          <a:p>
            <a:pPr indent="0" lvl="0" marL="0" rtl="0" algn="just">
              <a:lnSpc>
                <a:spcPct val="90000"/>
              </a:lnSpc>
              <a:spcBef>
                <a:spcPts val="1000"/>
              </a:spcBef>
              <a:spcAft>
                <a:spcPts val="0"/>
              </a:spcAft>
              <a:buClr>
                <a:schemeClr val="dk1"/>
              </a:buClr>
              <a:buSzPts val="2600"/>
              <a:buNone/>
            </a:pPr>
            <a:r>
              <a:rPr lang="en-IN" sz="2600"/>
              <a:t> 		= Rs. 2,00,000/Rs. 50,000</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 4 years</a:t>
            </a:r>
            <a:endParaRPr sz="2600">
              <a:solidFill>
                <a:srgbClr val="FF0000"/>
              </a:solidFill>
            </a:endParaRPr>
          </a:p>
        </p:txBody>
      </p:sp>
      <p:pic>
        <p:nvPicPr>
          <p:cNvPr descr="Image result for sastra logo" id="260" name="Google Shape;260;p41"/>
          <p:cNvPicPr preferRelativeResize="0"/>
          <p:nvPr/>
        </p:nvPicPr>
        <p:blipFill rotWithShape="1">
          <a:blip r:embed="rId3">
            <a:alphaModFix/>
          </a:blip>
          <a:srcRect b="0" l="0" r="0" t="0"/>
          <a:stretch/>
        </p:blipFill>
        <p:spPr>
          <a:xfrm>
            <a:off x="9537700" y="384897"/>
            <a:ext cx="1816100" cy="5572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idx="1" type="body"/>
          </p:nvPr>
        </p:nvSpPr>
        <p:spPr>
          <a:xfrm>
            <a:off x="838200" y="831273"/>
            <a:ext cx="10515600" cy="534569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P4. Project A has an initial investment of Rs. 5,00,000. It’s cash inflows for 5 years are Rs. 1,50,000, Rs. 1,80,000, Rs. 1,50,000, Rs. 1,32,000 and Rs. 1,20,000. Calculate the Pay back period.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Solution:</a:t>
            </a:r>
            <a:endParaRPr/>
          </a:p>
          <a:p>
            <a:pPr indent="0" lvl="0" marL="0" rtl="0" algn="ctr">
              <a:lnSpc>
                <a:spcPct val="90000"/>
              </a:lnSpc>
              <a:spcBef>
                <a:spcPts val="1000"/>
              </a:spcBef>
              <a:spcAft>
                <a:spcPts val="0"/>
              </a:spcAft>
              <a:buClr>
                <a:srgbClr val="FF0000"/>
              </a:buClr>
              <a:buSzPts val="2600"/>
              <a:buNone/>
            </a:pPr>
            <a:r>
              <a:rPr lang="en-IN" sz="2600">
                <a:solidFill>
                  <a:srgbClr val="FF0000"/>
                </a:solidFill>
              </a:rPr>
              <a:t>Statement showing Cumulative cash inflows</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266" name="Google Shape;266;p42"/>
          <p:cNvGraphicFramePr/>
          <p:nvPr/>
        </p:nvGraphicFramePr>
        <p:xfrm>
          <a:off x="838199" y="2977957"/>
          <a:ext cx="3000000" cy="3000000"/>
        </p:xfrm>
        <a:graphic>
          <a:graphicData uri="http://schemas.openxmlformats.org/drawingml/2006/table">
            <a:tbl>
              <a:tblPr bandRow="1" firstRow="1">
                <a:noFill/>
                <a:tableStyleId>{75140CFC-2FD2-45D3-AD89-D6322BEAE1F3}</a:tableStyleId>
              </a:tblPr>
              <a:tblGrid>
                <a:gridCol w="962900"/>
                <a:gridCol w="4987625"/>
                <a:gridCol w="4565075"/>
              </a:tblGrid>
              <a:tr h="370850">
                <a:tc>
                  <a:txBody>
                    <a:bodyPr/>
                    <a:lstStyle/>
                    <a:p>
                      <a:pPr indent="0" lvl="0" marL="0" marR="0" rtl="0" algn="ctr">
                        <a:spcBef>
                          <a:spcPts val="0"/>
                        </a:spcBef>
                        <a:spcAft>
                          <a:spcPts val="0"/>
                        </a:spcAft>
                        <a:buNone/>
                      </a:pPr>
                      <a:r>
                        <a:rPr lang="en-IN" sz="2200" u="none" cap="none" strike="noStrike"/>
                        <a:t>Year </a:t>
                      </a:r>
                      <a:endParaRPr sz="2200" u="none" cap="none" strike="noStrike"/>
                    </a:p>
                  </a:txBody>
                  <a:tcPr marT="45725" marB="45725" marR="91450" marL="91450"/>
                </a:tc>
                <a:tc>
                  <a:txBody>
                    <a:bodyPr/>
                    <a:lstStyle/>
                    <a:p>
                      <a:pPr indent="0" lvl="0" marL="0" marR="0" rtl="0" algn="ctr">
                        <a:spcBef>
                          <a:spcPts val="0"/>
                        </a:spcBef>
                        <a:spcAft>
                          <a:spcPts val="0"/>
                        </a:spcAft>
                        <a:buNone/>
                      </a:pPr>
                      <a:r>
                        <a:rPr lang="en-IN" sz="2200" u="none" cap="none" strike="noStrike"/>
                        <a:t>Annual Cash inflows</a:t>
                      </a:r>
                      <a:endParaRPr/>
                    </a:p>
                    <a:p>
                      <a:pPr indent="0" lvl="0" marL="0" marR="0" rtl="0" algn="ctr">
                        <a:spcBef>
                          <a:spcPts val="0"/>
                        </a:spcBef>
                        <a:spcAft>
                          <a:spcPts val="0"/>
                        </a:spcAft>
                        <a:buNone/>
                      </a:pPr>
                      <a:r>
                        <a:rPr lang="en-IN" sz="2200" u="none" cap="none" strike="noStrike"/>
                        <a:t>Rs.</a:t>
                      </a:r>
                      <a:endParaRPr sz="2200" u="none" cap="none" strike="noStrike"/>
                    </a:p>
                  </a:txBody>
                  <a:tcPr marT="45725" marB="45725" marR="91450" marL="91450"/>
                </a:tc>
                <a:tc>
                  <a:txBody>
                    <a:bodyPr/>
                    <a:lstStyle/>
                    <a:p>
                      <a:pPr indent="0" lvl="0" marL="0" marR="0" rtl="0" algn="ctr">
                        <a:spcBef>
                          <a:spcPts val="0"/>
                        </a:spcBef>
                        <a:spcAft>
                          <a:spcPts val="0"/>
                        </a:spcAft>
                        <a:buNone/>
                      </a:pPr>
                      <a:r>
                        <a:rPr lang="en-IN" sz="2200" u="none" cap="none" strike="noStrike"/>
                        <a:t>Cumulative annual cash inflows</a:t>
                      </a:r>
                      <a:endParaRPr/>
                    </a:p>
                    <a:p>
                      <a:pPr indent="0" lvl="0" marL="0" marR="0" rtl="0" algn="ctr">
                        <a:spcBef>
                          <a:spcPts val="0"/>
                        </a:spcBef>
                        <a:spcAft>
                          <a:spcPts val="0"/>
                        </a:spcAft>
                        <a:buNone/>
                      </a:pPr>
                      <a:r>
                        <a:rPr lang="en-IN" sz="2200" u="none" cap="none" strike="noStrike"/>
                        <a:t>Rs.</a:t>
                      </a:r>
                      <a:endParaRPr sz="22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1.</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1,50,000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1,50,000</a:t>
                      </a:r>
                      <a:endParaRPr sz="2500" u="none" cap="none" strike="noStrike"/>
                    </a:p>
                  </a:txBody>
                  <a:tcPr marT="45725" marB="45725" marR="91450" marL="91450"/>
                </a:tc>
              </a:tr>
              <a:tr h="577325">
                <a:tc>
                  <a:txBody>
                    <a:bodyPr/>
                    <a:lstStyle/>
                    <a:p>
                      <a:pPr indent="0" lvl="0" marL="0" marR="0" rtl="0" algn="ctr">
                        <a:spcBef>
                          <a:spcPts val="0"/>
                        </a:spcBef>
                        <a:spcAft>
                          <a:spcPts val="0"/>
                        </a:spcAft>
                        <a:buNone/>
                      </a:pPr>
                      <a:r>
                        <a:rPr lang="en-IN" sz="2500" u="none" cap="none" strike="noStrike"/>
                        <a:t>2.</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1,80,000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3,30,000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b="1" lang="en-IN" sz="2500" u="none" cap="none" strike="noStrike">
                          <a:solidFill>
                            <a:srgbClr val="FF0000"/>
                          </a:solidFill>
                        </a:rPr>
                        <a:t>3.</a:t>
                      </a:r>
                      <a:endParaRPr b="1" sz="2500" u="none" cap="none" strike="noStrike">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u="none" cap="none" strike="noStrike">
                          <a:solidFill>
                            <a:srgbClr val="FF0000"/>
                          </a:solidFill>
                        </a:rPr>
                        <a:t>1,50,000</a:t>
                      </a:r>
                      <a:endParaRPr b="1" sz="2500" u="none" cap="none" strike="noStrike">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u="none" cap="none" strike="noStrike">
                          <a:solidFill>
                            <a:srgbClr val="FF0000"/>
                          </a:solidFill>
                        </a:rPr>
                        <a:t>4,80,000</a:t>
                      </a:r>
                      <a:endParaRPr b="1" sz="2500" u="none" cap="none" strike="noStrike">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4.</a:t>
                      </a:r>
                      <a:endParaRPr sz="2500" u="none" cap="none" strike="noStrike"/>
                    </a:p>
                  </a:txBody>
                  <a:tcPr marT="45725" marB="45725" marR="91450" marL="91450"/>
                </a:tc>
                <a:tc>
                  <a:txBody>
                    <a:bodyPr/>
                    <a:lstStyle/>
                    <a:p>
                      <a:pPr indent="0" lvl="0" marL="0" marR="0" rtl="0" algn="ctr">
                        <a:spcBef>
                          <a:spcPts val="0"/>
                        </a:spcBef>
                        <a:spcAft>
                          <a:spcPts val="0"/>
                        </a:spcAft>
                        <a:buNone/>
                      </a:pPr>
                      <a:r>
                        <a:t/>
                      </a:r>
                      <a:endParaRPr sz="2500" u="none" cap="none" strike="noStrike">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500" u="none" cap="none" strike="noStrike"/>
                        <a:t>6,12,000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5.</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1,20,000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7,32,000</a:t>
                      </a:r>
                      <a:endParaRPr sz="2500" u="none" cap="none" strike="noStrike"/>
                    </a:p>
                  </a:txBody>
                  <a:tcPr marT="45725" marB="45725" marR="91450" marL="91450"/>
                </a:tc>
              </a:tr>
            </a:tbl>
          </a:graphicData>
        </a:graphic>
      </p:graphicFrame>
      <p:cxnSp>
        <p:nvCxnSpPr>
          <p:cNvPr id="267" name="Google Shape;267;p42"/>
          <p:cNvCxnSpPr>
            <a:stCxn id="268" idx="6"/>
          </p:cNvCxnSpPr>
          <p:nvPr/>
        </p:nvCxnSpPr>
        <p:spPr>
          <a:xfrm flipH="1" rot="10800000">
            <a:off x="5084618" y="4932191"/>
            <a:ext cx="3505200" cy="526500"/>
          </a:xfrm>
          <a:prstGeom prst="straightConnector1">
            <a:avLst/>
          </a:prstGeom>
          <a:noFill/>
          <a:ln cap="flat" cmpd="sng" w="9525">
            <a:solidFill>
              <a:schemeClr val="accent2"/>
            </a:solidFill>
            <a:prstDash val="solid"/>
            <a:miter lim="800000"/>
            <a:headEnd len="sm" w="sm" type="none"/>
            <a:tailEnd len="sm" w="sm" type="none"/>
          </a:ln>
        </p:spPr>
      </p:cxnSp>
      <p:sp>
        <p:nvSpPr>
          <p:cNvPr id="268" name="Google Shape;268;p42"/>
          <p:cNvSpPr/>
          <p:nvPr/>
        </p:nvSpPr>
        <p:spPr>
          <a:xfrm>
            <a:off x="3338945" y="5195455"/>
            <a:ext cx="1745673" cy="526471"/>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2200" u="none" cap="none" strike="noStrike">
                <a:solidFill>
                  <a:srgbClr val="FF0000"/>
                </a:solidFill>
                <a:latin typeface="Calibri"/>
                <a:ea typeface="Calibri"/>
                <a:cs typeface="Calibri"/>
                <a:sym typeface="Calibri"/>
              </a:rPr>
              <a:t>1,32,000</a:t>
            </a:r>
            <a:endParaRPr b="1" i="0" sz="2200" u="none" cap="none" strike="noStrike">
              <a:solidFill>
                <a:srgbClr val="FF0000"/>
              </a:solidFill>
              <a:latin typeface="Calibri"/>
              <a:ea typeface="Calibri"/>
              <a:cs typeface="Calibri"/>
              <a:sym typeface="Calibri"/>
            </a:endParaRPr>
          </a:p>
        </p:txBody>
      </p:sp>
      <p:pic>
        <p:nvPicPr>
          <p:cNvPr descr="Image result for sastra logo" id="269" name="Google Shape;269;p42"/>
          <p:cNvPicPr preferRelativeResize="0"/>
          <p:nvPr/>
        </p:nvPicPr>
        <p:blipFill rotWithShape="1">
          <a:blip r:embed="rId3">
            <a:alphaModFix/>
          </a:blip>
          <a:srcRect b="0" l="0" r="0" t="0"/>
          <a:stretch/>
        </p:blipFill>
        <p:spPr>
          <a:xfrm>
            <a:off x="9537699" y="274061"/>
            <a:ext cx="1816100" cy="55721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idx="1" type="body"/>
          </p:nvPr>
        </p:nvSpPr>
        <p:spPr>
          <a:xfrm>
            <a:off x="838200" y="947386"/>
            <a:ext cx="10515600" cy="458651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Pay back period = 3 years + {[Rs. 20,000/Rs. 1,32,000] ×12}</a:t>
            </a:r>
            <a:endParaRPr/>
          </a:p>
          <a:p>
            <a:pPr indent="0" lvl="0" marL="0" rtl="0" algn="l">
              <a:lnSpc>
                <a:spcPct val="90000"/>
              </a:lnSpc>
              <a:spcBef>
                <a:spcPts val="1000"/>
              </a:spcBef>
              <a:spcAft>
                <a:spcPts val="0"/>
              </a:spcAft>
              <a:buClr>
                <a:schemeClr val="dk1"/>
              </a:buClr>
              <a:buSzPts val="2600"/>
              <a:buNone/>
            </a:pPr>
            <a:r>
              <a:rPr lang="en-IN" sz="2600"/>
              <a:t>		= 3 years + 2 months</a:t>
            </a:r>
            <a:endParaRPr/>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3.2 years</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p:txBody>
      </p:sp>
      <p:pic>
        <p:nvPicPr>
          <p:cNvPr descr="Image result for sastra logo" id="275" name="Google Shape;275;p43"/>
          <p:cNvPicPr preferRelativeResize="0"/>
          <p:nvPr/>
        </p:nvPicPr>
        <p:blipFill rotWithShape="1">
          <a:blip r:embed="rId3">
            <a:alphaModFix/>
          </a:blip>
          <a:srcRect b="0" l="0" r="0" t="0"/>
          <a:stretch/>
        </p:blipFill>
        <p:spPr>
          <a:xfrm>
            <a:off x="9537700" y="315624"/>
            <a:ext cx="1816100" cy="55721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4"/>
          <p:cNvSpPr txBox="1"/>
          <p:nvPr>
            <p:ph idx="1" type="body"/>
          </p:nvPr>
        </p:nvSpPr>
        <p:spPr>
          <a:xfrm>
            <a:off x="838199" y="831273"/>
            <a:ext cx="10515600" cy="508514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 </a:t>
            </a:r>
            <a:r>
              <a:rPr b="1" lang="en-IN" sz="2600">
                <a:solidFill>
                  <a:srgbClr val="FF0000"/>
                </a:solidFill>
              </a:rPr>
              <a:t>1.1</a:t>
            </a:r>
            <a:r>
              <a:rPr lang="en-IN" sz="2600"/>
              <a:t> </a:t>
            </a:r>
            <a:r>
              <a:rPr b="1" lang="en-IN" sz="2600">
                <a:solidFill>
                  <a:srgbClr val="FF0000"/>
                </a:solidFill>
              </a:rPr>
              <a:t>Payback Reciprocal:</a:t>
            </a:r>
            <a:endParaRPr/>
          </a:p>
          <a:p>
            <a:pPr indent="0" lvl="0" marL="0" rtl="0" algn="just">
              <a:lnSpc>
                <a:spcPct val="90000"/>
              </a:lnSpc>
              <a:spcBef>
                <a:spcPts val="1000"/>
              </a:spcBef>
              <a:spcAft>
                <a:spcPts val="0"/>
              </a:spcAft>
              <a:buClr>
                <a:schemeClr val="dk1"/>
              </a:buClr>
              <a:buSzPts val="2600"/>
              <a:buNone/>
            </a:pPr>
            <a:r>
              <a:rPr lang="en-IN" sz="2600"/>
              <a:t>As the name indicates, it is the reciprocal of the payback period. A major drawback of the payback period method of capital budgeting is that it does not indicate any cut-off period for the purpose of investment decisions. It is, however, argued that the reciprocal of </a:t>
            </a:r>
            <a:r>
              <a:rPr b="1" lang="en-IN" sz="2600">
                <a:solidFill>
                  <a:srgbClr val="FF0000"/>
                </a:solidFill>
              </a:rPr>
              <a:t>the payback would be a close approximation of the Internal Rate of Return </a:t>
            </a:r>
            <a:r>
              <a:rPr lang="en-IN" sz="2600"/>
              <a:t>(later discussed in detail) if the life of the project is at least twice the payback period and the project generates an equal amount of the annual cash inflows. In practice, </a:t>
            </a:r>
            <a:r>
              <a:rPr b="1" lang="en-IN" sz="2600">
                <a:solidFill>
                  <a:srgbClr val="FF0000"/>
                </a:solidFill>
              </a:rPr>
              <a:t>the payback reciprocal is a helpful tool for quick estimation of the rate of return of a project provided its life is at least twice the payback period.</a:t>
            </a:r>
            <a:endParaRPr/>
          </a:p>
        </p:txBody>
      </p:sp>
      <p:pic>
        <p:nvPicPr>
          <p:cNvPr descr="Image result for sastra logo" id="281" name="Google Shape;281;p44"/>
          <p:cNvPicPr preferRelativeResize="0"/>
          <p:nvPr/>
        </p:nvPicPr>
        <p:blipFill rotWithShape="1">
          <a:blip r:embed="rId3">
            <a:alphaModFix/>
          </a:blip>
          <a:srcRect b="0" l="0" r="0" t="0"/>
          <a:stretch/>
        </p:blipFill>
        <p:spPr>
          <a:xfrm>
            <a:off x="9537699" y="274061"/>
            <a:ext cx="1816100" cy="55721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idx="1" type="body"/>
          </p:nvPr>
        </p:nvSpPr>
        <p:spPr>
          <a:xfrm>
            <a:off x="824552" y="941696"/>
            <a:ext cx="10515600" cy="515885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The payback reciprocal can be calculated as follows: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id="287" name="Google Shape;287;p45"/>
          <p:cNvPicPr preferRelativeResize="0"/>
          <p:nvPr/>
        </p:nvPicPr>
        <p:blipFill rotWithShape="1">
          <a:blip r:embed="rId3">
            <a:alphaModFix/>
          </a:blip>
          <a:srcRect b="39412" l="24126" r="25210" t="52006"/>
          <a:stretch/>
        </p:blipFill>
        <p:spPr>
          <a:xfrm>
            <a:off x="824552" y="1542198"/>
            <a:ext cx="10515600" cy="1050878"/>
          </a:xfrm>
          <a:prstGeom prst="rect">
            <a:avLst/>
          </a:prstGeom>
          <a:noFill/>
          <a:ln>
            <a:noFill/>
          </a:ln>
        </p:spPr>
      </p:pic>
      <p:pic>
        <p:nvPicPr>
          <p:cNvPr descr="Image result for sastra logo" id="288" name="Google Shape;288;p45"/>
          <p:cNvPicPr preferRelativeResize="0"/>
          <p:nvPr/>
        </p:nvPicPr>
        <p:blipFill rotWithShape="1">
          <a:blip r:embed="rId4">
            <a:alphaModFix/>
          </a:blip>
          <a:srcRect b="0" l="0" r="0" t="0"/>
          <a:stretch/>
        </p:blipFill>
        <p:spPr>
          <a:xfrm>
            <a:off x="9537699" y="274061"/>
            <a:ext cx="1816100" cy="5572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idx="1" type="body"/>
          </p:nvPr>
        </p:nvSpPr>
        <p:spPr>
          <a:xfrm>
            <a:off x="838200" y="1045029"/>
            <a:ext cx="10515600" cy="513193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Example: </a:t>
            </a:r>
            <a:endParaRPr/>
          </a:p>
          <a:p>
            <a:pPr indent="0" lvl="0" marL="0" rtl="0" algn="just">
              <a:lnSpc>
                <a:spcPct val="90000"/>
              </a:lnSpc>
              <a:spcBef>
                <a:spcPts val="1000"/>
              </a:spcBef>
              <a:spcAft>
                <a:spcPts val="0"/>
              </a:spcAft>
              <a:buClr>
                <a:schemeClr val="dk1"/>
              </a:buClr>
              <a:buSzPts val="2600"/>
              <a:buNone/>
            </a:pPr>
            <a:r>
              <a:rPr lang="en-IN" sz="2600"/>
              <a:t>Suppose a project requires an initial investment of Rs. 20,000 and it would give an annual cash inflow of Rs. 4,000. The useful life of the project is estimated to be 10 years.</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In this example, payback reciprocal = [Rs. 4,000/Rs. 20,000]100 = 20%</a:t>
            </a:r>
            <a:endParaRPr/>
          </a:p>
          <a:p>
            <a:pPr indent="0" lvl="0" marL="0" rtl="0" algn="just">
              <a:lnSpc>
                <a:spcPct val="90000"/>
              </a:lnSpc>
              <a:spcBef>
                <a:spcPts val="1000"/>
              </a:spcBef>
              <a:spcAft>
                <a:spcPts val="0"/>
              </a:spcAft>
              <a:buClr>
                <a:schemeClr val="dk1"/>
              </a:buClr>
              <a:buSzPts val="2600"/>
              <a:buNone/>
            </a:pPr>
            <a:r>
              <a:rPr lang="en-IN" sz="2600"/>
              <a:t>The above payback reciprocal provides a reasonable approximation of the</a:t>
            </a:r>
            <a:endParaRPr/>
          </a:p>
          <a:p>
            <a:pPr indent="0" lvl="0" marL="0" rtl="0" algn="just">
              <a:lnSpc>
                <a:spcPct val="90000"/>
              </a:lnSpc>
              <a:spcBef>
                <a:spcPts val="1000"/>
              </a:spcBef>
              <a:spcAft>
                <a:spcPts val="0"/>
              </a:spcAft>
              <a:buClr>
                <a:schemeClr val="dk1"/>
              </a:buClr>
              <a:buSzPts val="2600"/>
              <a:buNone/>
            </a:pPr>
            <a:r>
              <a:rPr lang="en-IN" sz="2600"/>
              <a:t>internal rate of return, i.e. 20%</a:t>
            </a:r>
            <a:endParaRPr/>
          </a:p>
        </p:txBody>
      </p:sp>
      <p:pic>
        <p:nvPicPr>
          <p:cNvPr descr="Image result for sastra logo" id="294" name="Google Shape;294;p46"/>
          <p:cNvPicPr preferRelativeResize="0"/>
          <p:nvPr/>
        </p:nvPicPr>
        <p:blipFill rotWithShape="1">
          <a:blip r:embed="rId3">
            <a:alphaModFix/>
          </a:blip>
          <a:srcRect b="0" l="0" r="0" t="0"/>
          <a:stretch/>
        </p:blipFill>
        <p:spPr>
          <a:xfrm>
            <a:off x="9537699" y="274061"/>
            <a:ext cx="1816100" cy="5572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7"/>
          <p:cNvSpPr txBox="1"/>
          <p:nvPr>
            <p:ph idx="1" type="body"/>
          </p:nvPr>
        </p:nvSpPr>
        <p:spPr>
          <a:xfrm>
            <a:off x="838200" y="665019"/>
            <a:ext cx="10515600" cy="573578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P5. A project costs Rs. 20,00,000 and yields annually a profit of Rs. 3,00,000 after depreciation at 12.5% but before tax at 50%. Calculate pay back period.</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Solution:                                Statement showing CFAT</a:t>
            </a:r>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Pay back period = Initial Investment/CFAT</a:t>
            </a:r>
            <a:endParaRPr/>
          </a:p>
          <a:p>
            <a:pPr indent="0" lvl="0" marL="0" rtl="0" algn="just">
              <a:lnSpc>
                <a:spcPct val="90000"/>
              </a:lnSpc>
              <a:spcBef>
                <a:spcPts val="1000"/>
              </a:spcBef>
              <a:spcAft>
                <a:spcPts val="0"/>
              </a:spcAft>
              <a:buClr>
                <a:schemeClr val="dk1"/>
              </a:buClr>
              <a:buSzPts val="2600"/>
              <a:buNone/>
            </a:pPr>
            <a:r>
              <a:rPr lang="en-IN" sz="2600"/>
              <a:t>		= Rs.20,00,000/Rs.4,00,000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5 years</a:t>
            </a:r>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p:txBody>
      </p:sp>
      <p:pic>
        <p:nvPicPr>
          <p:cNvPr id="300" name="Google Shape;300;p47"/>
          <p:cNvPicPr preferRelativeResize="0"/>
          <p:nvPr/>
        </p:nvPicPr>
        <p:blipFill rotWithShape="1">
          <a:blip r:embed="rId3">
            <a:alphaModFix/>
          </a:blip>
          <a:srcRect b="0" l="0" r="0" t="0"/>
          <a:stretch/>
        </p:blipFill>
        <p:spPr>
          <a:xfrm>
            <a:off x="838200" y="1910690"/>
            <a:ext cx="10553091" cy="2981202"/>
          </a:xfrm>
          <a:prstGeom prst="rect">
            <a:avLst/>
          </a:prstGeom>
          <a:noFill/>
          <a:ln>
            <a:noFill/>
          </a:ln>
        </p:spPr>
      </p:pic>
      <p:pic>
        <p:nvPicPr>
          <p:cNvPr descr="Image result for sastra logo" id="301" name="Google Shape;301;p47"/>
          <p:cNvPicPr preferRelativeResize="0"/>
          <p:nvPr/>
        </p:nvPicPr>
        <p:blipFill rotWithShape="1">
          <a:blip r:embed="rId4">
            <a:alphaModFix/>
          </a:blip>
          <a:srcRect b="0" l="0" r="0" t="0"/>
          <a:stretch/>
        </p:blipFill>
        <p:spPr>
          <a:xfrm>
            <a:off x="9537700" y="135517"/>
            <a:ext cx="1816100" cy="5572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8"/>
          <p:cNvSpPr txBox="1"/>
          <p:nvPr>
            <p:ph idx="1" type="body"/>
          </p:nvPr>
        </p:nvSpPr>
        <p:spPr>
          <a:xfrm>
            <a:off x="838199" y="869453"/>
            <a:ext cx="10515600" cy="545652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P6. A company has to choose one of the following two mutually exclusive projects. Investment required for each project is Rs. 1,50,000. Both the projects have to be depreciated on straight line basis. The tax rate is 50%.</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307" name="Google Shape;307;p48"/>
          <p:cNvGraphicFramePr/>
          <p:nvPr/>
        </p:nvGraphicFramePr>
        <p:xfrm>
          <a:off x="838199" y="2027271"/>
          <a:ext cx="3000000" cy="3000000"/>
        </p:xfrm>
        <a:graphic>
          <a:graphicData uri="http://schemas.openxmlformats.org/drawingml/2006/table">
            <a:tbl>
              <a:tblPr bandRow="1" firstRow="1">
                <a:noFill/>
                <a:tableStyleId>{75140CFC-2FD2-45D3-AD89-D6322BEAE1F3}</a:tableStyleId>
              </a:tblPr>
              <a:tblGrid>
                <a:gridCol w="1489375"/>
                <a:gridCol w="4336475"/>
                <a:gridCol w="4689775"/>
              </a:tblGrid>
              <a:tr h="370850">
                <a:tc rowSpan="2">
                  <a:txBody>
                    <a:bodyPr/>
                    <a:lstStyle/>
                    <a:p>
                      <a:pPr indent="0" lvl="0" marL="0" marR="0" rtl="0" algn="ctr">
                        <a:spcBef>
                          <a:spcPts val="0"/>
                        </a:spcBef>
                        <a:spcAft>
                          <a:spcPts val="0"/>
                        </a:spcAft>
                        <a:buNone/>
                      </a:pPr>
                      <a:r>
                        <a:t/>
                      </a:r>
                      <a:endParaRPr sz="2500" u="none" cap="none" strike="noStrike"/>
                    </a:p>
                    <a:p>
                      <a:pPr indent="0" lvl="0" marL="0" marR="0" rtl="0" algn="ctr">
                        <a:spcBef>
                          <a:spcPts val="0"/>
                        </a:spcBef>
                        <a:spcAft>
                          <a:spcPts val="0"/>
                        </a:spcAft>
                        <a:buNone/>
                      </a:pPr>
                      <a:r>
                        <a:rPr lang="en-IN" sz="2200" u="none" cap="none" strike="noStrike"/>
                        <a:t>Year</a:t>
                      </a:r>
                      <a:endParaRPr sz="2200" u="none" cap="none" strike="noStrike"/>
                    </a:p>
                  </a:txBody>
                  <a:tcPr marT="45725" marB="45725" marR="91450" marL="91450"/>
                </a:tc>
                <a:tc gridSpan="2">
                  <a:txBody>
                    <a:bodyPr/>
                    <a:lstStyle/>
                    <a:p>
                      <a:pPr indent="0" lvl="0" marL="0" marR="0" rtl="0" algn="ctr">
                        <a:spcBef>
                          <a:spcPts val="0"/>
                        </a:spcBef>
                        <a:spcAft>
                          <a:spcPts val="0"/>
                        </a:spcAft>
                        <a:buNone/>
                      </a:pPr>
                      <a:r>
                        <a:rPr lang="en-IN" sz="1800" u="none" cap="none" strike="noStrike"/>
                        <a:t>Profit before depreciation</a:t>
                      </a:r>
                      <a:endParaRPr sz="1800" u="none" cap="none" strike="noStrike"/>
                    </a:p>
                  </a:txBody>
                  <a:tcPr marT="45725" marB="45725" marR="91450" marL="91450"/>
                </a:tc>
                <a:tc hMerge="1"/>
              </a:tr>
              <a:tr h="370850">
                <a:tc vMerge="1"/>
                <a:tc>
                  <a:txBody>
                    <a:bodyPr/>
                    <a:lstStyle/>
                    <a:p>
                      <a:pPr indent="0" lvl="0" marL="0" marR="0" rtl="0" algn="ctr">
                        <a:spcBef>
                          <a:spcPts val="0"/>
                        </a:spcBef>
                        <a:spcAft>
                          <a:spcPts val="0"/>
                        </a:spcAft>
                        <a:buNone/>
                      </a:pPr>
                      <a:r>
                        <a:rPr b="1" lang="en-IN" sz="1800" u="none" cap="none" strike="noStrike">
                          <a:solidFill>
                            <a:srgbClr val="FF0000"/>
                          </a:solidFill>
                        </a:rPr>
                        <a:t>Project X</a:t>
                      </a:r>
                      <a:endParaRPr/>
                    </a:p>
                    <a:p>
                      <a:pPr indent="0" lvl="0" marL="0" marR="0" rtl="0" algn="ctr">
                        <a:spcBef>
                          <a:spcPts val="0"/>
                        </a:spcBef>
                        <a:spcAft>
                          <a:spcPts val="0"/>
                        </a:spcAft>
                        <a:buNone/>
                      </a:pPr>
                      <a:r>
                        <a:rPr b="1" lang="en-IN" sz="1800" u="none" cap="none" strike="noStrike">
                          <a:solidFill>
                            <a:srgbClr val="FF0000"/>
                          </a:solidFill>
                        </a:rPr>
                        <a:t>Rs.</a:t>
                      </a:r>
                      <a:endParaRPr b="1" sz="1800" u="none" cap="none" strike="noStrike">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1800" u="none" cap="none" strike="noStrike">
                          <a:solidFill>
                            <a:srgbClr val="FF0000"/>
                          </a:solidFill>
                        </a:rPr>
                        <a:t>Project Y</a:t>
                      </a:r>
                      <a:endParaRPr/>
                    </a:p>
                    <a:p>
                      <a:pPr indent="0" lvl="0" marL="0" marR="0" rtl="0" algn="ctr">
                        <a:spcBef>
                          <a:spcPts val="0"/>
                        </a:spcBef>
                        <a:spcAft>
                          <a:spcPts val="0"/>
                        </a:spcAft>
                        <a:buNone/>
                      </a:pPr>
                      <a:r>
                        <a:rPr b="1" lang="en-IN" sz="1800" u="none" cap="none" strike="noStrike">
                          <a:solidFill>
                            <a:srgbClr val="FF0000"/>
                          </a:solidFill>
                        </a:rPr>
                        <a:t>Rs.</a:t>
                      </a:r>
                      <a:endParaRPr b="1" sz="1800" u="none" cap="none" strike="noStrike">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1</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42,000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42,000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2</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48,000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45,000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3</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70,000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40,000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4</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70,000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50,000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5</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20,000</a:t>
                      </a:r>
                      <a:endParaRPr sz="2500" u="none" cap="none" strike="noStrike"/>
                    </a:p>
                  </a:txBody>
                  <a:tcPr marT="45725" marB="45725" marR="91450" marL="91450"/>
                </a:tc>
                <a:tc>
                  <a:txBody>
                    <a:bodyPr/>
                    <a:lstStyle/>
                    <a:p>
                      <a:pPr indent="0" lvl="0" marL="0" marR="0" rtl="0" algn="ctr">
                        <a:spcBef>
                          <a:spcPts val="0"/>
                        </a:spcBef>
                        <a:spcAft>
                          <a:spcPts val="0"/>
                        </a:spcAft>
                        <a:buNone/>
                      </a:pPr>
                      <a:r>
                        <a:rPr lang="en-IN" sz="2500" u="none" cap="none" strike="noStrike"/>
                        <a:t>1,00,000</a:t>
                      </a:r>
                      <a:endParaRPr sz="2500" u="none" cap="none" strike="noStrike"/>
                    </a:p>
                  </a:txBody>
                  <a:tcPr marT="45725" marB="45725" marR="91450" marL="91450"/>
                </a:tc>
              </a:tr>
            </a:tbl>
          </a:graphicData>
        </a:graphic>
      </p:graphicFrame>
      <p:pic>
        <p:nvPicPr>
          <p:cNvPr descr="Image result for sastra logo" id="308" name="Google Shape;308;p48"/>
          <p:cNvPicPr preferRelativeResize="0"/>
          <p:nvPr/>
        </p:nvPicPr>
        <p:blipFill rotWithShape="1">
          <a:blip r:embed="rId3">
            <a:alphaModFix/>
          </a:blip>
          <a:srcRect b="0" l="0" r="0" t="0"/>
          <a:stretch/>
        </p:blipFill>
        <p:spPr>
          <a:xfrm>
            <a:off x="9537699" y="312241"/>
            <a:ext cx="1816100" cy="55721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9"/>
          <p:cNvSpPr txBox="1"/>
          <p:nvPr>
            <p:ph idx="1" type="body"/>
          </p:nvPr>
        </p:nvSpPr>
        <p:spPr>
          <a:xfrm>
            <a:off x="838200" y="692727"/>
            <a:ext cx="10515600" cy="58327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Project X                                  Statement showing CIFAT</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rPr lang="en-IN" sz="2600"/>
              <a:t>Pay back period = 3 years + {[Rs. 25,000/Rs. 50,000] × 12}</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 3.6 years</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314" name="Google Shape;314;p49"/>
          <p:cNvGraphicFramePr/>
          <p:nvPr/>
        </p:nvGraphicFramePr>
        <p:xfrm>
          <a:off x="734293" y="1606356"/>
          <a:ext cx="3000000" cy="3000000"/>
        </p:xfrm>
        <a:graphic>
          <a:graphicData uri="http://schemas.openxmlformats.org/drawingml/2006/table">
            <a:tbl>
              <a:tblPr bandRow="1" firstRow="1">
                <a:noFill/>
                <a:tableStyleId>{75140CFC-2FD2-45D3-AD89-D6322BEAE1F3}</a:tableStyleId>
              </a:tblPr>
              <a:tblGrid>
                <a:gridCol w="720425"/>
                <a:gridCol w="1385450"/>
                <a:gridCol w="1274625"/>
                <a:gridCol w="1271650"/>
                <a:gridCol w="1069775"/>
                <a:gridCol w="1246900"/>
                <a:gridCol w="1108375"/>
                <a:gridCol w="1094200"/>
                <a:gridCol w="1448125"/>
              </a:tblGrid>
              <a:tr h="370850">
                <a:tc>
                  <a:txBody>
                    <a:bodyPr/>
                    <a:lstStyle/>
                    <a:p>
                      <a:pPr indent="0" lvl="0" marL="0" marR="0" rtl="0" algn="ctr">
                        <a:spcBef>
                          <a:spcPts val="0"/>
                        </a:spcBef>
                        <a:spcAft>
                          <a:spcPts val="0"/>
                        </a:spcAft>
                        <a:buNone/>
                      </a:pPr>
                      <a:r>
                        <a:rPr lang="en-IN" sz="2000" u="none" cap="none" strike="noStrike"/>
                        <a:t>Year</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Profit before dep and tax</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Less: Dep</a:t>
                      </a:r>
                      <a:endParaRPr/>
                    </a:p>
                    <a:p>
                      <a:pPr indent="0" lvl="0" marL="0" marR="0" rtl="0" algn="r">
                        <a:spcBef>
                          <a:spcPts val="0"/>
                        </a:spcBef>
                        <a:spcAft>
                          <a:spcPts val="0"/>
                        </a:spcAft>
                        <a:buNone/>
                      </a:pPr>
                      <a:r>
                        <a:rPr lang="en-IN" sz="1500" u="none" cap="none" strike="noStrike"/>
                        <a:t>(1,50,000/5</a:t>
                      </a:r>
                      <a:r>
                        <a:rPr lang="en-IN" sz="1800" u="none" cap="none" strike="noStrike"/>
                        <a:t>)</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Profit before tax</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Less: Tax @50%</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PAT</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Add: Dep</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CIF</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Cumulative CCIF</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1</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42,000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12,000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6,000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6,000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36,000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36,000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2</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48,000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18,000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9,000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9,000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39,000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75,000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b="1" lang="en-IN" sz="2500" u="none" cap="none" strike="noStrike">
                          <a:solidFill>
                            <a:srgbClr val="FF0000"/>
                          </a:solidFill>
                        </a:rPr>
                        <a:t>3</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70,000</a:t>
                      </a:r>
                      <a:endParaRPr b="1" sz="2500" u="none" cap="none" strike="noStrike">
                        <a:solidFill>
                          <a:srgbClr val="FF0000"/>
                        </a:solidFill>
                      </a:endParaRPr>
                    </a:p>
                  </a:txBody>
                  <a:tcPr marT="45725" marB="45725" marR="91450" marL="91450"/>
                </a:tc>
                <a:tc>
                  <a:txBody>
                    <a:bodyPr/>
                    <a:lstStyle/>
                    <a:p>
                      <a:pPr indent="0" lvl="0" marL="0" marR="0" rtl="0" algn="r">
                        <a:lnSpc>
                          <a:spcPct val="100000"/>
                        </a:lnSpc>
                        <a:spcBef>
                          <a:spcPts val="0"/>
                        </a:spcBef>
                        <a:spcAft>
                          <a:spcPts val="0"/>
                        </a:spcAft>
                        <a:buClr>
                          <a:srgbClr val="FF0000"/>
                        </a:buClr>
                        <a:buSzPts val="2500"/>
                        <a:buFont typeface="Calibri"/>
                        <a:buNone/>
                      </a:pPr>
                      <a:r>
                        <a:rPr b="1" i="0" lang="en-IN" sz="2500" u="none" cap="none" strike="noStrike">
                          <a:solidFill>
                            <a:srgbClr val="FF0000"/>
                          </a:solidFill>
                          <a:latin typeface="Calibri"/>
                          <a:ea typeface="Calibri"/>
                          <a:cs typeface="Calibri"/>
                          <a:sym typeface="Calibri"/>
                        </a:rPr>
                        <a:t>30,000</a:t>
                      </a:r>
                      <a:endParaRPr b="1" i="0" sz="2500" u="none" cap="none" strike="noStrike">
                        <a:solidFill>
                          <a:srgbClr val="FF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40,000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20,000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20,000</a:t>
                      </a:r>
                      <a:endParaRPr b="1" sz="2500" u="none" cap="none" strike="noStrike">
                        <a:solidFill>
                          <a:srgbClr val="FF0000"/>
                        </a:solidFill>
                      </a:endParaRPr>
                    </a:p>
                  </a:txBody>
                  <a:tcPr marT="45725" marB="45725" marR="91450" marL="91450"/>
                </a:tc>
                <a:tc>
                  <a:txBody>
                    <a:bodyPr/>
                    <a:lstStyle/>
                    <a:p>
                      <a:pPr indent="0" lvl="0" marL="0" marR="0" rtl="0" algn="r">
                        <a:lnSpc>
                          <a:spcPct val="100000"/>
                        </a:lnSpc>
                        <a:spcBef>
                          <a:spcPts val="0"/>
                        </a:spcBef>
                        <a:spcAft>
                          <a:spcPts val="0"/>
                        </a:spcAft>
                        <a:buClr>
                          <a:srgbClr val="FF0000"/>
                        </a:buClr>
                        <a:buSzPts val="2500"/>
                        <a:buFont typeface="Calibri"/>
                        <a:buNone/>
                      </a:pPr>
                      <a:r>
                        <a:rPr b="1" i="0" lang="en-IN" sz="2500" u="none" cap="none" strike="noStrike">
                          <a:solidFill>
                            <a:srgbClr val="FF0000"/>
                          </a:solidFill>
                          <a:latin typeface="Calibri"/>
                          <a:ea typeface="Calibri"/>
                          <a:cs typeface="Calibri"/>
                          <a:sym typeface="Calibri"/>
                        </a:rPr>
                        <a:t>30,000</a:t>
                      </a:r>
                      <a:endParaRPr b="1" i="0" sz="2500" u="none" cap="none" strike="noStrike">
                        <a:solidFill>
                          <a:srgbClr val="FF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50,000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1,25,000</a:t>
                      </a:r>
                      <a:endParaRPr b="1" sz="2500" u="none" cap="none" strike="noStrike">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4</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70,000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40,000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20,000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20,000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50,000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u="none" cap="none" strike="noStrike"/>
                        <a:t>1,75,000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5</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20,000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solidFill>
                            <a:srgbClr val="FF0000"/>
                          </a:solidFill>
                        </a:rPr>
                        <a:t>(10,000)</a:t>
                      </a:r>
                      <a:endParaRPr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u="none" cap="none" strike="noStrike">
                          <a:solidFill>
                            <a:srgbClr val="FF0000"/>
                          </a:solidFill>
                        </a:rPr>
                        <a:t>Nil</a:t>
                      </a:r>
                      <a:endParaRPr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400" u="none" cap="none" strike="noStrike">
                          <a:solidFill>
                            <a:srgbClr val="FF0000"/>
                          </a:solidFill>
                        </a:rPr>
                        <a:t>(10,000)</a:t>
                      </a:r>
                      <a:endParaRPr sz="2400" u="none" cap="none" strike="noStrike">
                        <a:solidFill>
                          <a:srgbClr val="FF0000"/>
                        </a:solidFill>
                      </a:endParaRPr>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20,000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1,95,000</a:t>
                      </a:r>
                      <a:endParaRPr sz="2500" u="none" cap="none" strike="noStrike"/>
                    </a:p>
                  </a:txBody>
                  <a:tcPr marT="45725" marB="45725" marR="91450" marL="91450"/>
                </a:tc>
              </a:tr>
            </a:tbl>
          </a:graphicData>
        </a:graphic>
      </p:graphicFrame>
      <p:cxnSp>
        <p:nvCxnSpPr>
          <p:cNvPr id="315" name="Google Shape;315;p49"/>
          <p:cNvCxnSpPr/>
          <p:nvPr/>
        </p:nvCxnSpPr>
        <p:spPr>
          <a:xfrm flipH="1">
            <a:off x="9809019" y="4170218"/>
            <a:ext cx="387926" cy="304800"/>
          </a:xfrm>
          <a:prstGeom prst="straightConnector1">
            <a:avLst/>
          </a:prstGeom>
          <a:noFill/>
          <a:ln cap="flat" cmpd="sng" w="9525">
            <a:solidFill>
              <a:schemeClr val="accent1"/>
            </a:solidFill>
            <a:prstDash val="solid"/>
            <a:miter lim="800000"/>
            <a:headEnd len="sm" w="sm" type="none"/>
            <a:tailEnd len="sm" w="sm" type="none"/>
          </a:ln>
        </p:spPr>
      </p:cxnSp>
      <p:pic>
        <p:nvPicPr>
          <p:cNvPr descr="Image result for sastra logo" id="316" name="Google Shape;316;p49"/>
          <p:cNvPicPr preferRelativeResize="0"/>
          <p:nvPr/>
        </p:nvPicPr>
        <p:blipFill rotWithShape="1">
          <a:blip r:embed="rId3">
            <a:alphaModFix/>
          </a:blip>
          <a:srcRect b="0" l="0" r="0" t="0"/>
          <a:stretch/>
        </p:blipFill>
        <p:spPr>
          <a:xfrm>
            <a:off x="9537700" y="135515"/>
            <a:ext cx="1816100" cy="55721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ph idx="1" type="body"/>
          </p:nvPr>
        </p:nvSpPr>
        <p:spPr>
          <a:xfrm>
            <a:off x="838200" y="692727"/>
            <a:ext cx="10515600" cy="548423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Project Y:                                 Statement showing CIFAT</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rPr lang="en-IN" sz="2600"/>
              <a:t>Pay back period = 4 years + {[Rs.1,500/Rs. 65,000] × 365}</a:t>
            </a:r>
            <a:endParaRPr/>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4 years and 8 days or 4 years and 0.277 months</a:t>
            </a:r>
            <a:endParaRPr/>
          </a:p>
          <a:p>
            <a:pPr indent="0" lvl="0" marL="0" rtl="0" algn="ctr">
              <a:lnSpc>
                <a:spcPct val="90000"/>
              </a:lnSpc>
              <a:spcBef>
                <a:spcPts val="1000"/>
              </a:spcBef>
              <a:spcAft>
                <a:spcPts val="0"/>
              </a:spcAft>
              <a:buClr>
                <a:schemeClr val="dk1"/>
              </a:buClr>
              <a:buSzPts val="2600"/>
              <a:buNone/>
            </a:pPr>
            <a:r>
              <a:t/>
            </a:r>
            <a:endParaRPr sz="2600"/>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322" name="Google Shape;322;p50"/>
          <p:cNvGraphicFramePr/>
          <p:nvPr/>
        </p:nvGraphicFramePr>
        <p:xfrm>
          <a:off x="838200" y="1100051"/>
          <a:ext cx="3000000" cy="3000000"/>
        </p:xfrm>
        <a:graphic>
          <a:graphicData uri="http://schemas.openxmlformats.org/drawingml/2006/table">
            <a:tbl>
              <a:tblPr bandRow="1" firstRow="1">
                <a:noFill/>
                <a:tableStyleId>{75140CFC-2FD2-45D3-AD89-D6322BEAE1F3}</a:tableStyleId>
              </a:tblPr>
              <a:tblGrid>
                <a:gridCol w="685800"/>
                <a:gridCol w="1385450"/>
                <a:gridCol w="1330025"/>
                <a:gridCol w="1272325"/>
                <a:gridCol w="1168400"/>
                <a:gridCol w="1078350"/>
                <a:gridCol w="1080650"/>
                <a:gridCol w="1108375"/>
                <a:gridCol w="1406225"/>
              </a:tblGrid>
              <a:tr h="370850">
                <a:tc>
                  <a:txBody>
                    <a:bodyPr/>
                    <a:lstStyle/>
                    <a:p>
                      <a:pPr indent="0" lvl="0" marL="0" marR="0" rtl="0" algn="ctr">
                        <a:spcBef>
                          <a:spcPts val="0"/>
                        </a:spcBef>
                        <a:spcAft>
                          <a:spcPts val="0"/>
                        </a:spcAft>
                        <a:buNone/>
                      </a:pPr>
                      <a:r>
                        <a:rPr lang="en-IN" sz="2000" u="none" cap="none" strike="noStrike"/>
                        <a:t>Year</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Profit before dep and tax</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Less: Dep</a:t>
                      </a:r>
                      <a:endParaRPr/>
                    </a:p>
                    <a:p>
                      <a:pPr indent="0" lvl="0" marL="0" marR="0" rtl="0" algn="r">
                        <a:spcBef>
                          <a:spcPts val="0"/>
                        </a:spcBef>
                        <a:spcAft>
                          <a:spcPts val="0"/>
                        </a:spcAft>
                        <a:buNone/>
                      </a:pPr>
                      <a:r>
                        <a:rPr lang="en-IN" sz="1500" u="none" cap="none" strike="noStrike"/>
                        <a:t>(1,50,000/5)</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Profit before tax</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Less: Tax @50%</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PAT</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Add: Dep</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CIF</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c>
                  <a:txBody>
                    <a:bodyPr/>
                    <a:lstStyle/>
                    <a:p>
                      <a:pPr indent="0" lvl="0" marL="0" marR="0" rtl="0" algn="r">
                        <a:spcBef>
                          <a:spcPts val="0"/>
                        </a:spcBef>
                        <a:spcAft>
                          <a:spcPts val="0"/>
                        </a:spcAft>
                        <a:buNone/>
                      </a:pPr>
                      <a:r>
                        <a:rPr lang="en-IN" sz="2000" u="none" cap="none" strike="noStrike"/>
                        <a:t>Cumulative CCIF</a:t>
                      </a:r>
                      <a:endParaRPr/>
                    </a:p>
                    <a:p>
                      <a:pPr indent="0" lvl="0" marL="0" marR="0" rtl="0" algn="r">
                        <a:spcBef>
                          <a:spcPts val="0"/>
                        </a:spcBef>
                        <a:spcAft>
                          <a:spcPts val="0"/>
                        </a:spcAft>
                        <a:buNone/>
                      </a:pPr>
                      <a:r>
                        <a:rPr lang="en-IN" sz="2000" u="none" cap="none" strike="noStrike"/>
                        <a:t>Rs.</a:t>
                      </a:r>
                      <a:endParaRPr sz="20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1</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42,000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12,000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6,000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6,000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36,000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36,000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2</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45,000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15,000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7,500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7,500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37,500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73,500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3</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40,000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10,000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5,000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5,000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35,000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1,08,500</a:t>
                      </a:r>
                      <a:endParaRPr sz="2500" u="none" cap="none" strike="noStrike"/>
                    </a:p>
                  </a:txBody>
                  <a:tcPr marT="45725" marB="45725" marR="91450" marL="91450"/>
                </a:tc>
              </a:tr>
              <a:tr h="370850">
                <a:tc>
                  <a:txBody>
                    <a:bodyPr/>
                    <a:lstStyle/>
                    <a:p>
                      <a:pPr indent="0" lvl="0" marL="0" marR="0" rtl="0" algn="ctr">
                        <a:spcBef>
                          <a:spcPts val="0"/>
                        </a:spcBef>
                        <a:spcAft>
                          <a:spcPts val="0"/>
                        </a:spcAft>
                        <a:buNone/>
                      </a:pPr>
                      <a:r>
                        <a:rPr b="1" lang="en-IN" sz="2500" u="none" cap="none" strike="noStrike">
                          <a:solidFill>
                            <a:srgbClr val="FF0000"/>
                          </a:solidFill>
                        </a:rPr>
                        <a:t>4</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50,000</a:t>
                      </a:r>
                      <a:endParaRPr b="1" sz="2500" u="none" cap="none" strike="noStrike">
                        <a:solidFill>
                          <a:srgbClr val="FF0000"/>
                        </a:solidFill>
                      </a:endParaRPr>
                    </a:p>
                  </a:txBody>
                  <a:tcPr marT="45725" marB="45725" marR="91450" marL="91450"/>
                </a:tc>
                <a:tc>
                  <a:txBody>
                    <a:bodyPr/>
                    <a:lstStyle/>
                    <a:p>
                      <a:pPr indent="0" lvl="0" marL="0" marR="0" rtl="0" algn="r">
                        <a:lnSpc>
                          <a:spcPct val="100000"/>
                        </a:lnSpc>
                        <a:spcBef>
                          <a:spcPts val="0"/>
                        </a:spcBef>
                        <a:spcAft>
                          <a:spcPts val="0"/>
                        </a:spcAft>
                        <a:buClr>
                          <a:srgbClr val="FF0000"/>
                        </a:buClr>
                        <a:buSzPts val="2500"/>
                        <a:buFont typeface="Calibri"/>
                        <a:buNone/>
                      </a:pPr>
                      <a:r>
                        <a:rPr b="1" i="0" lang="en-IN" sz="2500" u="none" cap="none" strike="noStrike">
                          <a:solidFill>
                            <a:srgbClr val="FF0000"/>
                          </a:solidFill>
                          <a:latin typeface="Calibri"/>
                          <a:ea typeface="Calibri"/>
                          <a:cs typeface="Calibri"/>
                          <a:sym typeface="Calibri"/>
                        </a:rPr>
                        <a:t>30,000</a:t>
                      </a:r>
                      <a:endParaRPr b="1" i="0" sz="2500" u="none" cap="none" strike="noStrike">
                        <a:solidFill>
                          <a:srgbClr val="FF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20,000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10,000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10,000</a:t>
                      </a:r>
                      <a:endParaRPr b="1" sz="2500" u="none" cap="none" strike="noStrike">
                        <a:solidFill>
                          <a:srgbClr val="FF0000"/>
                        </a:solidFill>
                      </a:endParaRPr>
                    </a:p>
                  </a:txBody>
                  <a:tcPr marT="45725" marB="45725" marR="91450" marL="91450"/>
                </a:tc>
                <a:tc>
                  <a:txBody>
                    <a:bodyPr/>
                    <a:lstStyle/>
                    <a:p>
                      <a:pPr indent="0" lvl="0" marL="0" marR="0" rtl="0" algn="r">
                        <a:lnSpc>
                          <a:spcPct val="100000"/>
                        </a:lnSpc>
                        <a:spcBef>
                          <a:spcPts val="0"/>
                        </a:spcBef>
                        <a:spcAft>
                          <a:spcPts val="0"/>
                        </a:spcAft>
                        <a:buClr>
                          <a:srgbClr val="FF0000"/>
                        </a:buClr>
                        <a:buSzPts val="2500"/>
                        <a:buFont typeface="Calibri"/>
                        <a:buNone/>
                      </a:pPr>
                      <a:r>
                        <a:rPr b="1" i="0" lang="en-IN" sz="2500" u="none" cap="none" strike="noStrike">
                          <a:solidFill>
                            <a:srgbClr val="FF0000"/>
                          </a:solidFill>
                          <a:latin typeface="Calibri"/>
                          <a:ea typeface="Calibri"/>
                          <a:cs typeface="Calibri"/>
                          <a:sym typeface="Calibri"/>
                        </a:rPr>
                        <a:t>30,000</a:t>
                      </a:r>
                      <a:endParaRPr b="1" i="0" sz="2500" u="none" cap="none" strike="noStrike">
                        <a:solidFill>
                          <a:srgbClr val="FF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40,000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1,48,500</a:t>
                      </a:r>
                      <a:endParaRPr b="1" sz="2500" u="none" cap="none" strike="noStrike">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u="none" cap="none" strike="noStrike"/>
                        <a:t>5</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1,00,000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lang="en-IN" sz="2500" u="none" cap="none" strike="noStrike"/>
                        <a:t>70,000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35,000</a:t>
                      </a:r>
                      <a:endParaRPr sz="2500" u="none" cap="none" strike="noStrike"/>
                    </a:p>
                  </a:txBody>
                  <a:tcPr marT="45725" marB="45725" marR="91450" marL="91450"/>
                </a:tc>
                <a:tc>
                  <a:txBody>
                    <a:bodyPr/>
                    <a:lstStyle/>
                    <a:p>
                      <a:pPr indent="0" lvl="0" marL="0" marR="0" rtl="0" algn="r">
                        <a:spcBef>
                          <a:spcPts val="0"/>
                        </a:spcBef>
                        <a:spcAft>
                          <a:spcPts val="0"/>
                        </a:spcAft>
                        <a:buNone/>
                      </a:pPr>
                      <a:r>
                        <a:rPr lang="en-IN" sz="2500" u="none" cap="none" strike="noStrike"/>
                        <a:t>35,000</a:t>
                      </a:r>
                      <a:endParaRPr sz="2500" u="none" cap="none" strike="noStrike"/>
                    </a:p>
                  </a:txBody>
                  <a:tcPr marT="45725" marB="45725" marR="91450" marL="91450"/>
                </a:tc>
                <a:tc>
                  <a:txBody>
                    <a:bodyPr/>
                    <a:lstStyle/>
                    <a:p>
                      <a:pPr indent="0" lvl="0" marL="0" marR="0" rtl="0" algn="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30,000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r">
                        <a:spcBef>
                          <a:spcPts val="0"/>
                        </a:spcBef>
                        <a:spcAft>
                          <a:spcPts val="0"/>
                        </a:spcAft>
                        <a:buNone/>
                      </a:pPr>
                      <a:r>
                        <a:rPr b="1" lang="en-IN" sz="2500" u="none" cap="none" strike="noStrike">
                          <a:solidFill>
                            <a:srgbClr val="FF0000"/>
                          </a:solidFill>
                        </a:rPr>
                        <a:t>65,000</a:t>
                      </a:r>
                      <a:endParaRPr b="1" sz="2500" u="none" cap="none" strike="noStrike">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u="none" cap="none" strike="noStrike"/>
                        <a:t>2,13,500</a:t>
                      </a:r>
                      <a:endParaRPr sz="2500" u="none" cap="none" strike="noStrike"/>
                    </a:p>
                  </a:txBody>
                  <a:tcPr marT="45725" marB="45725" marR="91450" marL="91450"/>
                </a:tc>
              </a:tr>
            </a:tbl>
          </a:graphicData>
        </a:graphic>
      </p:graphicFrame>
      <p:cxnSp>
        <p:nvCxnSpPr>
          <p:cNvPr id="323" name="Google Shape;323;p50"/>
          <p:cNvCxnSpPr/>
          <p:nvPr/>
        </p:nvCxnSpPr>
        <p:spPr>
          <a:xfrm flipH="1">
            <a:off x="9822872" y="4142509"/>
            <a:ext cx="360218" cy="318654"/>
          </a:xfrm>
          <a:prstGeom prst="straightConnector1">
            <a:avLst/>
          </a:prstGeom>
          <a:noFill/>
          <a:ln cap="flat" cmpd="sng" w="9525">
            <a:solidFill>
              <a:schemeClr val="accent1"/>
            </a:solidFill>
            <a:prstDash val="solid"/>
            <a:miter lim="800000"/>
            <a:headEnd len="sm" w="sm" type="none"/>
            <a:tailEnd len="sm" w="sm" type="none"/>
          </a:ln>
        </p:spPr>
      </p:cxnSp>
      <p:pic>
        <p:nvPicPr>
          <p:cNvPr descr="Image result for sastra logo" id="324" name="Google Shape;324;p50"/>
          <p:cNvPicPr preferRelativeResize="0"/>
          <p:nvPr/>
        </p:nvPicPr>
        <p:blipFill rotWithShape="1">
          <a:blip r:embed="rId3">
            <a:alphaModFix/>
          </a:blip>
          <a:srcRect b="0" l="0" r="0" t="0"/>
          <a:stretch/>
        </p:blipFill>
        <p:spPr>
          <a:xfrm>
            <a:off x="9537698" y="135515"/>
            <a:ext cx="1816100" cy="5572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1"/>
          <p:cNvSpPr txBox="1"/>
          <p:nvPr>
            <p:ph idx="1" type="body"/>
          </p:nvPr>
        </p:nvSpPr>
        <p:spPr>
          <a:xfrm>
            <a:off x="838200" y="775856"/>
            <a:ext cx="10515600" cy="569751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P7. It is proposed to introduce a new machine to increase the production capacity of Department X. Two Machines are available Type “A” and Type “B”. The following information is available:</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331" name="Google Shape;331;p51"/>
          <p:cNvGraphicFramePr/>
          <p:nvPr/>
        </p:nvGraphicFramePr>
        <p:xfrm>
          <a:off x="838200" y="1927082"/>
          <a:ext cx="3000000" cy="3000000"/>
        </p:xfrm>
        <a:graphic>
          <a:graphicData uri="http://schemas.openxmlformats.org/drawingml/2006/table">
            <a:tbl>
              <a:tblPr bandRow="1" firstRow="1">
                <a:noFill/>
                <a:tableStyleId>{75140CFC-2FD2-45D3-AD89-D6322BEAE1F3}</a:tableStyleId>
              </a:tblPr>
              <a:tblGrid>
                <a:gridCol w="7473275"/>
                <a:gridCol w="1528550"/>
                <a:gridCol w="1513775"/>
              </a:tblGrid>
              <a:tr h="133950">
                <a:tc>
                  <a:txBody>
                    <a:bodyPr/>
                    <a:lstStyle/>
                    <a:p>
                      <a:pPr indent="0" lvl="0" marL="0" marR="0" rtl="0" algn="ctr">
                        <a:spcBef>
                          <a:spcPts val="0"/>
                        </a:spcBef>
                        <a:spcAft>
                          <a:spcPts val="0"/>
                        </a:spcAft>
                        <a:buNone/>
                      </a:pPr>
                      <a:r>
                        <a:rPr lang="en-IN" sz="1800" u="none" cap="none" strike="noStrike">
                          <a:latin typeface="Calibri"/>
                          <a:ea typeface="Calibri"/>
                          <a:cs typeface="Calibri"/>
                          <a:sym typeface="Calibri"/>
                        </a:rPr>
                        <a:t>Particulars </a:t>
                      </a:r>
                      <a:endParaRPr sz="1800" u="none" cap="none" strike="noStrike">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Calibri"/>
                          <a:ea typeface="Calibri"/>
                          <a:cs typeface="Calibri"/>
                          <a:sym typeface="Calibri"/>
                        </a:rPr>
                        <a:t>A  (Rs.)</a:t>
                      </a:r>
                      <a:endParaRPr sz="1800" u="none" cap="none" strike="noStrike">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Calibri"/>
                          <a:ea typeface="Calibri"/>
                          <a:cs typeface="Calibri"/>
                          <a:sym typeface="Calibri"/>
                        </a:rPr>
                        <a:t>B (Rs.)</a:t>
                      </a:r>
                      <a:endParaRPr sz="1800" u="none" cap="none" strike="noStrike">
                        <a:latin typeface="Calibri"/>
                        <a:ea typeface="Calibri"/>
                        <a:cs typeface="Calibri"/>
                        <a:sym typeface="Calibri"/>
                      </a:endParaRPr>
                    </a:p>
                  </a:txBody>
                  <a:tcPr marT="45725" marB="45725" marR="91450" marL="91450"/>
                </a:tc>
              </a:tr>
              <a:tr h="404475">
                <a:tc>
                  <a:txBody>
                    <a:bodyPr/>
                    <a:lstStyle/>
                    <a:p>
                      <a:pPr indent="0" lvl="0" marL="0" marR="0" rtl="0" algn="l">
                        <a:lnSpc>
                          <a:spcPct val="115000"/>
                        </a:lnSpc>
                        <a:spcBef>
                          <a:spcPts val="0"/>
                        </a:spcBef>
                        <a:spcAft>
                          <a:spcPts val="0"/>
                        </a:spcAft>
                        <a:buClr>
                          <a:schemeClr val="dk1"/>
                        </a:buClr>
                        <a:buSzPts val="2400"/>
                        <a:buFont typeface="Calibri"/>
                        <a:buNone/>
                      </a:pPr>
                      <a:r>
                        <a:rPr lang="en-IN" sz="2400" u="none" cap="none" strike="noStrike">
                          <a:latin typeface="Calibri"/>
                          <a:ea typeface="Calibri"/>
                          <a:cs typeface="Calibri"/>
                          <a:sym typeface="Calibri"/>
                        </a:rPr>
                        <a:t>Cost of Machine </a:t>
                      </a:r>
                      <a:endParaRPr sz="2400" u="none" cap="none" strike="noStrike">
                        <a:latin typeface="Calibri"/>
                        <a:ea typeface="Calibri"/>
                        <a:cs typeface="Calibri"/>
                        <a:sym typeface="Calibri"/>
                      </a:endParaRPr>
                    </a:p>
                  </a:txBody>
                  <a:tcPr marT="0" marB="0" marR="68575" marL="68575"/>
                </a:tc>
                <a:tc>
                  <a:txBody>
                    <a:bodyPr/>
                    <a:lstStyle/>
                    <a:p>
                      <a:pPr indent="95250" lvl="0" marL="0" marR="0" rtl="0" algn="r">
                        <a:lnSpc>
                          <a:spcPct val="115000"/>
                        </a:lnSpc>
                        <a:spcBef>
                          <a:spcPts val="0"/>
                        </a:spcBef>
                        <a:spcAft>
                          <a:spcPts val="0"/>
                        </a:spcAft>
                        <a:buNone/>
                      </a:pPr>
                      <a:r>
                        <a:rPr lang="en-IN" sz="2400" u="none" cap="none" strike="noStrike">
                          <a:latin typeface="Calibri"/>
                          <a:ea typeface="Calibri"/>
                          <a:cs typeface="Calibri"/>
                          <a:sym typeface="Calibri"/>
                        </a:rPr>
                        <a:t>3,50,000</a:t>
                      </a:r>
                      <a:endParaRPr sz="2400" u="none" cap="none" strike="noStrike">
                        <a:latin typeface="Calibri"/>
                        <a:ea typeface="Calibri"/>
                        <a:cs typeface="Calibri"/>
                        <a:sym typeface="Calibri"/>
                      </a:endParaRPr>
                    </a:p>
                  </a:txBody>
                  <a:tcPr marT="0" marB="0" marR="68575" marL="68575"/>
                </a:tc>
                <a:tc>
                  <a:txBody>
                    <a:bodyPr/>
                    <a:lstStyle/>
                    <a:p>
                      <a:pPr indent="0" lvl="0" marL="95250" marR="0" rtl="0" algn="r">
                        <a:lnSpc>
                          <a:spcPct val="115000"/>
                        </a:lnSpc>
                        <a:spcBef>
                          <a:spcPts val="0"/>
                        </a:spcBef>
                        <a:spcAft>
                          <a:spcPts val="0"/>
                        </a:spcAft>
                        <a:buNone/>
                      </a:pPr>
                      <a:r>
                        <a:rPr lang="en-IN" sz="2400" u="none" cap="none" strike="noStrike">
                          <a:latin typeface="Calibri"/>
                          <a:ea typeface="Calibri"/>
                          <a:cs typeface="Calibri"/>
                          <a:sym typeface="Calibri"/>
                        </a:rPr>
                        <a:t>6,30,000</a:t>
                      </a:r>
                      <a:endParaRPr sz="2400" u="none" cap="none" strike="noStrike">
                        <a:latin typeface="Calibri"/>
                        <a:ea typeface="Calibri"/>
                        <a:cs typeface="Calibri"/>
                        <a:sym typeface="Calibri"/>
                      </a:endParaRPr>
                    </a:p>
                  </a:txBody>
                  <a:tcPr marT="0" marB="0" marR="68575" marL="68575"/>
                </a:tc>
              </a:tr>
              <a:tr h="479050">
                <a:tc>
                  <a:txBody>
                    <a:bodyPr/>
                    <a:lstStyle/>
                    <a:p>
                      <a:pPr indent="0" lvl="0" marL="0" marR="0" rtl="0" algn="l">
                        <a:spcBef>
                          <a:spcPts val="0"/>
                        </a:spcBef>
                        <a:spcAft>
                          <a:spcPts val="0"/>
                        </a:spcAft>
                        <a:buNone/>
                      </a:pPr>
                      <a:r>
                        <a:rPr lang="en-IN" sz="2400" u="none" cap="none" strike="noStrike">
                          <a:solidFill>
                            <a:schemeClr val="dk1"/>
                          </a:solidFill>
                          <a:latin typeface="Calibri"/>
                          <a:ea typeface="Calibri"/>
                          <a:cs typeface="Calibri"/>
                          <a:sym typeface="Calibri"/>
                        </a:rPr>
                        <a:t>Estimated Life (Years) </a:t>
                      </a:r>
                      <a:endParaRPr sz="2400" u="none" cap="none" strike="noStrike">
                        <a:latin typeface="Calibri"/>
                        <a:ea typeface="Calibri"/>
                        <a:cs typeface="Calibri"/>
                        <a:sym typeface="Calibri"/>
                      </a:endParaRPr>
                    </a:p>
                  </a:txBody>
                  <a:tcPr marT="45725" marB="45725" marR="91450" marL="91450"/>
                </a:tc>
                <a:tc>
                  <a:txBody>
                    <a:bodyPr/>
                    <a:lstStyle/>
                    <a:p>
                      <a:pPr indent="0" lvl="0" marL="457200" marR="0" rtl="0" algn="r">
                        <a:lnSpc>
                          <a:spcPct val="115000"/>
                        </a:lnSpc>
                        <a:spcBef>
                          <a:spcPts val="0"/>
                        </a:spcBef>
                        <a:spcAft>
                          <a:spcPts val="0"/>
                        </a:spcAft>
                        <a:buNone/>
                      </a:pPr>
                      <a:r>
                        <a:rPr lang="en-IN" sz="2400" u="none" cap="none" strike="noStrike">
                          <a:latin typeface="Calibri"/>
                          <a:ea typeface="Calibri"/>
                          <a:cs typeface="Calibri"/>
                          <a:sym typeface="Calibri"/>
                        </a:rPr>
                        <a:t>7</a:t>
                      </a:r>
                      <a:endParaRPr sz="2400" u="none" cap="none" strike="noStrike">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u="none" cap="none" strike="noStrike">
                          <a:latin typeface="Calibri"/>
                          <a:ea typeface="Calibri"/>
                          <a:cs typeface="Calibri"/>
                          <a:sym typeface="Calibri"/>
                        </a:rPr>
                        <a:t>10</a:t>
                      </a:r>
                      <a:endParaRPr sz="2400" u="none" cap="none" strike="noStrike">
                        <a:latin typeface="Calibri"/>
                        <a:ea typeface="Calibri"/>
                        <a:cs typeface="Calibri"/>
                        <a:sym typeface="Calibri"/>
                      </a:endParaRPr>
                    </a:p>
                  </a:txBody>
                  <a:tcPr marT="0" marB="0" marR="68575" marL="68575"/>
                </a:tc>
              </a:tr>
              <a:tr h="404475">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Estimated savings in scrap p.a.</a:t>
                      </a:r>
                      <a:endParaRPr sz="2400" u="none" cap="none" strike="noStrike">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u="none" cap="none" strike="noStrike">
                          <a:latin typeface="Calibri"/>
                          <a:ea typeface="Calibri"/>
                          <a:cs typeface="Calibri"/>
                          <a:sym typeface="Calibri"/>
                        </a:rPr>
                        <a:t>20,000</a:t>
                      </a:r>
                      <a:endParaRPr sz="2400" u="none" cap="none" strike="noStrike">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u="none" cap="none" strike="noStrike">
                          <a:latin typeface="Calibri"/>
                          <a:ea typeface="Calibri"/>
                          <a:cs typeface="Calibri"/>
                          <a:sym typeface="Calibri"/>
                        </a:rPr>
                        <a:t>32,000</a:t>
                      </a:r>
                      <a:endParaRPr sz="2400" u="none" cap="none" strike="noStrike">
                        <a:latin typeface="Calibri"/>
                        <a:ea typeface="Calibri"/>
                        <a:cs typeface="Calibri"/>
                        <a:sym typeface="Calibri"/>
                      </a:endParaRPr>
                    </a:p>
                  </a:txBody>
                  <a:tcPr marT="0" marB="0" marR="68575" marL="68575"/>
                </a:tc>
              </a:tr>
              <a:tr h="456850">
                <a:tc>
                  <a:txBody>
                    <a:bodyPr/>
                    <a:lstStyle/>
                    <a:p>
                      <a:pPr indent="0" lvl="0" marL="0" marR="0" rtl="0" algn="l">
                        <a:spcBef>
                          <a:spcPts val="0"/>
                        </a:spcBef>
                        <a:spcAft>
                          <a:spcPts val="0"/>
                        </a:spcAft>
                        <a:buNone/>
                      </a:pPr>
                      <a:r>
                        <a:rPr lang="en-IN" sz="2400" u="none" cap="none" strike="noStrike">
                          <a:solidFill>
                            <a:schemeClr val="dk1"/>
                          </a:solidFill>
                          <a:latin typeface="Calibri"/>
                          <a:ea typeface="Calibri"/>
                          <a:cs typeface="Calibri"/>
                          <a:sym typeface="Calibri"/>
                        </a:rPr>
                        <a:t>Additional cost of indirect materials p.a. </a:t>
                      </a:r>
                      <a:endParaRPr sz="2400">
                        <a:latin typeface="Calibri"/>
                        <a:ea typeface="Calibri"/>
                        <a:cs typeface="Calibri"/>
                        <a:sym typeface="Calibri"/>
                      </a:endParaRPr>
                    </a:p>
                  </a:txBody>
                  <a:tcPr marT="45725" marB="45725" marR="91450" marL="91450"/>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10,000</a:t>
                      </a:r>
                      <a:endParaRPr sz="24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16,000</a:t>
                      </a:r>
                      <a:endParaRPr sz="2400">
                        <a:latin typeface="Calibri"/>
                        <a:ea typeface="Calibri"/>
                        <a:cs typeface="Calibri"/>
                        <a:sym typeface="Calibri"/>
                      </a:endParaRPr>
                    </a:p>
                  </a:txBody>
                  <a:tcPr marT="0" marB="0" marR="68575" marL="68575"/>
                </a:tc>
              </a:tr>
              <a:tr h="456850">
                <a:tc>
                  <a:txBody>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Estimated savings in wages:</a:t>
                      </a:r>
                      <a:endParaRPr sz="2400">
                        <a:latin typeface="Calibri"/>
                        <a:ea typeface="Calibri"/>
                        <a:cs typeface="Calibri"/>
                        <a:sym typeface="Calibri"/>
                      </a:endParaRPr>
                    </a:p>
                  </a:txBody>
                  <a:tcPr marT="45725" marB="45725" marR="91450" marL="91450"/>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 </a:t>
                      </a:r>
                      <a:endParaRPr sz="24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 </a:t>
                      </a:r>
                      <a:endParaRPr sz="2400">
                        <a:latin typeface="Calibri"/>
                        <a:ea typeface="Calibri"/>
                        <a:cs typeface="Calibri"/>
                        <a:sym typeface="Calibri"/>
                      </a:endParaRPr>
                    </a:p>
                  </a:txBody>
                  <a:tcPr marT="0" marB="0" marR="68575" marL="68575"/>
                </a:tc>
              </a:tr>
              <a:tr h="456850">
                <a:tc>
                  <a:txBody>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Employees not required </a:t>
                      </a:r>
                      <a:endParaRPr sz="2400">
                        <a:latin typeface="Calibri"/>
                        <a:ea typeface="Calibri"/>
                        <a:cs typeface="Calibri"/>
                        <a:sym typeface="Calibri"/>
                      </a:endParaRPr>
                    </a:p>
                  </a:txBody>
                  <a:tcPr marT="45725" marB="45725" marR="91450" marL="91450"/>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15</a:t>
                      </a:r>
                      <a:endParaRPr sz="24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20</a:t>
                      </a:r>
                      <a:endParaRPr sz="2400">
                        <a:latin typeface="Calibri"/>
                        <a:ea typeface="Calibri"/>
                        <a:cs typeface="Calibri"/>
                        <a:sym typeface="Calibri"/>
                      </a:endParaRPr>
                    </a:p>
                  </a:txBody>
                  <a:tcPr marT="0" marB="0" marR="68575" marL="68575"/>
                </a:tc>
              </a:tr>
              <a:tr h="456850">
                <a:tc>
                  <a:txBody>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Wages per employees per annum</a:t>
                      </a:r>
                      <a:endParaRPr sz="2400">
                        <a:latin typeface="Calibri"/>
                        <a:ea typeface="Calibri"/>
                        <a:cs typeface="Calibri"/>
                        <a:sym typeface="Calibri"/>
                      </a:endParaRPr>
                    </a:p>
                  </a:txBody>
                  <a:tcPr marT="45725" marB="45725" marR="91450" marL="91450"/>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10,000</a:t>
                      </a:r>
                      <a:endParaRPr sz="24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16,000</a:t>
                      </a:r>
                      <a:endParaRPr sz="2400">
                        <a:latin typeface="Calibri"/>
                        <a:ea typeface="Calibri"/>
                        <a:cs typeface="Calibri"/>
                        <a:sym typeface="Calibri"/>
                      </a:endParaRPr>
                    </a:p>
                  </a:txBody>
                  <a:tcPr marT="0" marB="0" marR="68575" marL="68575"/>
                </a:tc>
              </a:tr>
              <a:tr h="456850">
                <a:tc>
                  <a:txBody>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Additional cost of maintenance p.a.</a:t>
                      </a:r>
                      <a:endParaRPr sz="2400">
                        <a:latin typeface="Calibri"/>
                        <a:ea typeface="Calibri"/>
                        <a:cs typeface="Calibri"/>
                        <a:sym typeface="Calibri"/>
                      </a:endParaRPr>
                    </a:p>
                  </a:txBody>
                  <a:tcPr marT="45725" marB="45725" marR="91450" marL="91450"/>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7,200</a:t>
                      </a:r>
                      <a:endParaRPr sz="24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12,000</a:t>
                      </a:r>
                      <a:endParaRPr sz="2400">
                        <a:latin typeface="Calibri"/>
                        <a:ea typeface="Calibri"/>
                        <a:cs typeface="Calibri"/>
                        <a:sym typeface="Calibri"/>
                      </a:endParaRPr>
                    </a:p>
                  </a:txBody>
                  <a:tcPr marT="0" marB="0" marR="68575" marL="68575"/>
                </a:tc>
              </a:tr>
              <a:tr h="456850">
                <a:tc>
                  <a:txBody>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Additional cost of supervision p.a. </a:t>
                      </a:r>
                      <a:endParaRPr sz="2400">
                        <a:latin typeface="Calibri"/>
                        <a:ea typeface="Calibri"/>
                        <a:cs typeface="Calibri"/>
                        <a:sym typeface="Calibri"/>
                      </a:endParaRPr>
                    </a:p>
                  </a:txBody>
                  <a:tcPr marT="45725" marB="45725" marR="91450" marL="91450"/>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24,000</a:t>
                      </a:r>
                      <a:endParaRPr sz="2400">
                        <a:latin typeface="Calibri"/>
                        <a:ea typeface="Calibri"/>
                        <a:cs typeface="Calibri"/>
                        <a:sym typeface="Calibri"/>
                      </a:endParaRPr>
                    </a:p>
                  </a:txBody>
                  <a:tcPr marT="0" marB="0" marR="68575" marL="68575"/>
                </a:tc>
                <a:tc>
                  <a:txBody>
                    <a:bodyPr/>
                    <a:lstStyle/>
                    <a:p>
                      <a:pPr indent="0" lvl="0" marL="457200" marR="0" rtl="0" algn="r">
                        <a:lnSpc>
                          <a:spcPct val="115000"/>
                        </a:lnSpc>
                        <a:spcBef>
                          <a:spcPts val="0"/>
                        </a:spcBef>
                        <a:spcAft>
                          <a:spcPts val="0"/>
                        </a:spcAft>
                        <a:buNone/>
                      </a:pPr>
                      <a:r>
                        <a:rPr lang="en-IN" sz="2400">
                          <a:latin typeface="Calibri"/>
                          <a:ea typeface="Calibri"/>
                          <a:cs typeface="Calibri"/>
                          <a:sym typeface="Calibri"/>
                        </a:rPr>
                        <a:t>36,000</a:t>
                      </a:r>
                      <a:endParaRPr sz="2400">
                        <a:latin typeface="Calibri"/>
                        <a:ea typeface="Calibri"/>
                        <a:cs typeface="Calibri"/>
                        <a:sym typeface="Calibri"/>
                      </a:endParaRPr>
                    </a:p>
                  </a:txBody>
                  <a:tcPr marT="0" marB="0" marR="68575" marL="68575"/>
                </a:tc>
              </a:tr>
            </a:tbl>
          </a:graphicData>
        </a:graphic>
      </p:graphicFrame>
      <p:pic>
        <p:nvPicPr>
          <p:cNvPr descr="Image result for sastra logo" id="332" name="Google Shape;332;p51"/>
          <p:cNvPicPr preferRelativeResize="0"/>
          <p:nvPr/>
        </p:nvPicPr>
        <p:blipFill rotWithShape="1">
          <a:blip r:embed="rId3">
            <a:alphaModFix/>
          </a:blip>
          <a:srcRect b="0" l="0" r="0" t="0"/>
          <a:stretch/>
        </p:blipFill>
        <p:spPr>
          <a:xfrm>
            <a:off x="9537700" y="218644"/>
            <a:ext cx="1816100" cy="55721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2"/>
          <p:cNvSpPr txBox="1"/>
          <p:nvPr>
            <p:ph idx="1" type="body"/>
          </p:nvPr>
        </p:nvSpPr>
        <p:spPr>
          <a:xfrm>
            <a:off x="838200" y="900546"/>
            <a:ext cx="10515600" cy="527641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rate of taxation can be regarded as 50% of profits. Which machine can be recommended for purchase?</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Working Note:</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a) Computation of Amount of Depreciation:</a:t>
            </a:r>
            <a:endParaRPr/>
          </a:p>
          <a:p>
            <a:pPr indent="0" lvl="0" marL="0" rtl="0" algn="just">
              <a:lnSpc>
                <a:spcPct val="90000"/>
              </a:lnSpc>
              <a:spcBef>
                <a:spcPts val="1000"/>
              </a:spcBef>
              <a:spcAft>
                <a:spcPts val="0"/>
              </a:spcAft>
              <a:buClr>
                <a:schemeClr val="dk1"/>
              </a:buClr>
              <a:buSzPts val="2600"/>
              <a:buNone/>
            </a:pPr>
            <a:r>
              <a:rPr lang="en-IN" sz="2600"/>
              <a:t>Amount of depreciation = Cost of machine/Estimated life</a:t>
            </a:r>
            <a:endParaRPr/>
          </a:p>
          <a:p>
            <a:pPr indent="0" lvl="0" marL="0" rtl="0" algn="just">
              <a:lnSpc>
                <a:spcPct val="90000"/>
              </a:lnSpc>
              <a:spcBef>
                <a:spcPts val="1000"/>
              </a:spcBef>
              <a:spcAft>
                <a:spcPts val="0"/>
              </a:spcAft>
              <a:buClr>
                <a:schemeClr val="dk1"/>
              </a:buClr>
              <a:buSzPts val="2600"/>
              <a:buNone/>
            </a:pPr>
            <a:r>
              <a:rPr lang="en-IN" sz="2600"/>
              <a:t>Machine A = Rs. 3,50,000/7 years </a:t>
            </a:r>
            <a:endParaRPr/>
          </a:p>
          <a:p>
            <a:pPr indent="0" lvl="0" marL="0" rtl="0" algn="just">
              <a:lnSpc>
                <a:spcPct val="90000"/>
              </a:lnSpc>
              <a:spcBef>
                <a:spcPts val="1000"/>
              </a:spcBef>
              <a:spcAft>
                <a:spcPts val="0"/>
              </a:spcAft>
              <a:buClr>
                <a:schemeClr val="dk1"/>
              </a:buClr>
              <a:buSzPts val="2600"/>
              <a:buNone/>
            </a:pPr>
            <a:r>
              <a:rPr lang="en-IN" sz="2600"/>
              <a:t>	</a:t>
            </a:r>
            <a:r>
              <a:rPr lang="en-IN" sz="2600">
                <a:solidFill>
                  <a:srgbClr val="FF0000"/>
                </a:solidFill>
              </a:rPr>
              <a:t>        = Rs. 50,000</a:t>
            </a:r>
            <a:endParaRPr/>
          </a:p>
          <a:p>
            <a:pPr indent="0" lvl="0" marL="0" rtl="0" algn="just">
              <a:lnSpc>
                <a:spcPct val="90000"/>
              </a:lnSpc>
              <a:spcBef>
                <a:spcPts val="1000"/>
              </a:spcBef>
              <a:spcAft>
                <a:spcPts val="0"/>
              </a:spcAft>
              <a:buClr>
                <a:schemeClr val="dk1"/>
              </a:buClr>
              <a:buSzPts val="2600"/>
              <a:buNone/>
            </a:pPr>
            <a:r>
              <a:rPr lang="en-IN" sz="2600"/>
              <a:t>Machine B = Rs. 6,30,000/10 years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Rs. 63,000</a:t>
            </a:r>
            <a:endParaRPr sz="2600">
              <a:solidFill>
                <a:srgbClr val="FF0000"/>
              </a:solidFill>
            </a:endParaRPr>
          </a:p>
        </p:txBody>
      </p:sp>
      <p:pic>
        <p:nvPicPr>
          <p:cNvPr descr="Image result for sastra logo" id="338" name="Google Shape;338;p52"/>
          <p:cNvPicPr preferRelativeResize="0"/>
          <p:nvPr/>
        </p:nvPicPr>
        <p:blipFill rotWithShape="1">
          <a:blip r:embed="rId3">
            <a:alphaModFix/>
          </a:blip>
          <a:srcRect b="0" l="0" r="0" t="0"/>
          <a:stretch/>
        </p:blipFill>
        <p:spPr>
          <a:xfrm>
            <a:off x="9537700" y="343334"/>
            <a:ext cx="1816100" cy="55721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idx="1" type="body"/>
          </p:nvPr>
        </p:nvSpPr>
        <p:spPr>
          <a:xfrm>
            <a:off x="838200" y="609600"/>
            <a:ext cx="10515600" cy="597988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Profitability Statement</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344" name="Google Shape;344;p53"/>
          <p:cNvGraphicFramePr/>
          <p:nvPr/>
        </p:nvGraphicFramePr>
        <p:xfrm>
          <a:off x="838199" y="1166812"/>
          <a:ext cx="3000000" cy="3000000"/>
        </p:xfrm>
        <a:graphic>
          <a:graphicData uri="http://schemas.openxmlformats.org/drawingml/2006/table">
            <a:tbl>
              <a:tblPr bandRow="1" firstRow="1">
                <a:noFill/>
                <a:tableStyleId>{75140CFC-2FD2-45D3-AD89-D6322BEAE1F3}</a:tableStyleId>
              </a:tblPr>
              <a:tblGrid>
                <a:gridCol w="782775"/>
                <a:gridCol w="6650175"/>
                <a:gridCol w="1551700"/>
                <a:gridCol w="1530925"/>
              </a:tblGrid>
              <a:tr h="370850">
                <a:tc gridSpan="2">
                  <a:txBody>
                    <a:bodyPr/>
                    <a:lstStyle/>
                    <a:p>
                      <a:pPr indent="0" lvl="0" marL="0" marR="0" rtl="0" algn="ctr">
                        <a:lnSpc>
                          <a:spcPct val="100000"/>
                        </a:lnSpc>
                        <a:spcBef>
                          <a:spcPts val="0"/>
                        </a:spcBef>
                        <a:spcAft>
                          <a:spcPts val="0"/>
                        </a:spcAft>
                        <a:buClr>
                          <a:schemeClr val="dk1"/>
                        </a:buClr>
                        <a:buSzPts val="2200"/>
                        <a:buFont typeface="Calibri"/>
                        <a:buNone/>
                      </a:pPr>
                      <a:r>
                        <a:rPr lang="en-IN" sz="2200"/>
                        <a:t>Particulars </a:t>
                      </a:r>
                      <a:endParaRPr/>
                    </a:p>
                    <a:p>
                      <a:pPr indent="0" lvl="0" marL="0" marR="0" rtl="0" algn="l">
                        <a:spcBef>
                          <a:spcPts val="0"/>
                        </a:spcBef>
                        <a:spcAft>
                          <a:spcPts val="0"/>
                        </a:spcAft>
                        <a:buNone/>
                      </a:pPr>
                      <a:r>
                        <a:t/>
                      </a:r>
                      <a:endParaRPr sz="2200"/>
                    </a:p>
                  </a:txBody>
                  <a:tcPr marT="45725" marB="45725" marR="91450" marL="91450"/>
                </a:tc>
                <a:tc hMerge="1"/>
                <a:tc>
                  <a:txBody>
                    <a:bodyPr/>
                    <a:lstStyle/>
                    <a:p>
                      <a:pPr indent="0" lvl="0" marL="0" marR="0" rtl="0" algn="r">
                        <a:spcBef>
                          <a:spcPts val="0"/>
                        </a:spcBef>
                        <a:spcAft>
                          <a:spcPts val="0"/>
                        </a:spcAft>
                        <a:buNone/>
                      </a:pPr>
                      <a:r>
                        <a:rPr lang="en-IN" sz="2200"/>
                        <a:t>Machine A</a:t>
                      </a:r>
                      <a:endParaRPr/>
                    </a:p>
                    <a:p>
                      <a:pPr indent="0" lvl="0" marL="0" marR="0" rtl="0" algn="r">
                        <a:spcBef>
                          <a:spcPts val="0"/>
                        </a:spcBef>
                        <a:spcAft>
                          <a:spcPts val="0"/>
                        </a:spcAft>
                        <a:buNone/>
                      </a:pPr>
                      <a:r>
                        <a:rPr lang="en-IN" sz="2200"/>
                        <a:t>Rs.</a:t>
                      </a:r>
                      <a:endParaRPr sz="2200"/>
                    </a:p>
                  </a:txBody>
                  <a:tcPr marT="45725" marB="45725" marR="91450" marL="91450"/>
                </a:tc>
                <a:tc>
                  <a:txBody>
                    <a:bodyPr/>
                    <a:lstStyle/>
                    <a:p>
                      <a:pPr indent="0" lvl="0" marL="0" marR="0" rtl="0" algn="r">
                        <a:spcBef>
                          <a:spcPts val="0"/>
                        </a:spcBef>
                        <a:spcAft>
                          <a:spcPts val="0"/>
                        </a:spcAft>
                        <a:buNone/>
                      </a:pPr>
                      <a:r>
                        <a:rPr lang="en-IN" sz="2200"/>
                        <a:t>Machine B</a:t>
                      </a:r>
                      <a:endParaRPr/>
                    </a:p>
                    <a:p>
                      <a:pPr indent="0" lvl="0" marL="0" marR="0" rtl="0" algn="r">
                        <a:spcBef>
                          <a:spcPts val="0"/>
                        </a:spcBef>
                        <a:spcAft>
                          <a:spcPts val="0"/>
                        </a:spcAft>
                        <a:buNone/>
                      </a:pPr>
                      <a:r>
                        <a:rPr lang="en-IN" sz="2200"/>
                        <a:t>Rs.</a:t>
                      </a:r>
                      <a:endParaRPr sz="2200"/>
                    </a:p>
                  </a:txBody>
                  <a:tcPr marT="45725" marB="45725" marR="91450" marL="91450"/>
                </a:tc>
              </a:tr>
              <a:tr h="370850">
                <a:tc>
                  <a:txBody>
                    <a:bodyPr/>
                    <a:lstStyle/>
                    <a:p>
                      <a:pPr indent="0" lvl="0" marL="0" marR="0" rtl="0" algn="l">
                        <a:spcBef>
                          <a:spcPts val="0"/>
                        </a:spcBef>
                        <a:spcAft>
                          <a:spcPts val="0"/>
                        </a:spcAft>
                        <a:buNone/>
                      </a:pPr>
                      <a:r>
                        <a:t/>
                      </a:r>
                      <a:endParaRPr b="1" sz="2600"/>
                    </a:p>
                  </a:txBody>
                  <a:tcPr marT="45725" marB="45725" marR="91450" marL="91450"/>
                </a:tc>
                <a:tc>
                  <a:txBody>
                    <a:bodyPr/>
                    <a:lstStyle/>
                    <a:p>
                      <a:pPr indent="0" lvl="0" marL="0" marR="0" rtl="0" algn="l">
                        <a:lnSpc>
                          <a:spcPct val="100000"/>
                        </a:lnSpc>
                        <a:spcBef>
                          <a:spcPts val="0"/>
                        </a:spcBef>
                        <a:spcAft>
                          <a:spcPts val="0"/>
                        </a:spcAft>
                        <a:buClr>
                          <a:srgbClr val="FF0000"/>
                        </a:buClr>
                        <a:buSzPts val="2600"/>
                        <a:buFont typeface="Calibri"/>
                        <a:buNone/>
                      </a:pPr>
                      <a:r>
                        <a:rPr b="1" lang="en-IN" sz="2600">
                          <a:solidFill>
                            <a:srgbClr val="FF0000"/>
                          </a:solidFill>
                        </a:rPr>
                        <a:t>Estimated savings per year:</a:t>
                      </a:r>
                      <a:endParaRPr/>
                    </a:p>
                  </a:txBody>
                  <a:tcPr marT="45725" marB="45725" marR="91450" marL="91450"/>
                </a:tc>
                <a:tc>
                  <a:txBody>
                    <a:bodyPr/>
                    <a:lstStyle/>
                    <a:p>
                      <a:pPr indent="0" lvl="0" marL="0" marR="0" rtl="0" algn="r">
                        <a:spcBef>
                          <a:spcPts val="0"/>
                        </a:spcBef>
                        <a:spcAft>
                          <a:spcPts val="0"/>
                        </a:spcAft>
                        <a:buNone/>
                      </a:pPr>
                      <a:r>
                        <a:t/>
                      </a:r>
                      <a:endParaRPr b="1" sz="2600"/>
                    </a:p>
                  </a:txBody>
                  <a:tcPr marT="45725" marB="45725" marR="91450" marL="91450"/>
                </a:tc>
                <a:tc>
                  <a:txBody>
                    <a:bodyPr/>
                    <a:lstStyle/>
                    <a:p>
                      <a:pPr indent="0" lvl="0" marL="0" marR="0" rtl="0" algn="r">
                        <a:spcBef>
                          <a:spcPts val="0"/>
                        </a:spcBef>
                        <a:spcAft>
                          <a:spcPts val="0"/>
                        </a:spcAft>
                        <a:buNone/>
                      </a:pPr>
                      <a:r>
                        <a:t/>
                      </a:r>
                      <a:endParaRPr b="1"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t>Scrap</a:t>
                      </a:r>
                      <a:endParaRPr sz="2600"/>
                    </a:p>
                  </a:txBody>
                  <a:tcPr marT="45725" marB="45725" marR="91450" marL="91450"/>
                </a:tc>
                <a:tc>
                  <a:txBody>
                    <a:bodyPr/>
                    <a:lstStyle/>
                    <a:p>
                      <a:pPr indent="0" lvl="0" marL="0" marR="0" rtl="0" algn="r">
                        <a:spcBef>
                          <a:spcPts val="0"/>
                        </a:spcBef>
                        <a:spcAft>
                          <a:spcPts val="0"/>
                        </a:spcAft>
                        <a:buNone/>
                      </a:pPr>
                      <a:r>
                        <a:rPr lang="en-IN" sz="2600"/>
                        <a:t>20,000</a:t>
                      </a:r>
                      <a:endParaRPr sz="2600"/>
                    </a:p>
                  </a:txBody>
                  <a:tcPr marT="45725" marB="45725" marR="91450" marL="91450"/>
                </a:tc>
                <a:tc>
                  <a:txBody>
                    <a:bodyPr/>
                    <a:lstStyle/>
                    <a:p>
                      <a:pPr indent="0" lvl="0" marL="0" marR="0" rtl="0" algn="r">
                        <a:spcBef>
                          <a:spcPts val="0"/>
                        </a:spcBef>
                        <a:spcAft>
                          <a:spcPts val="0"/>
                        </a:spcAft>
                        <a:buNone/>
                      </a:pPr>
                      <a:r>
                        <a:rPr lang="en-IN" sz="2600"/>
                        <a:t>32,000</a:t>
                      </a:r>
                      <a:endParaRPr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t>Wages (15×Rs. 10,000) (20×Rs.</a:t>
                      </a:r>
                      <a:r>
                        <a:rPr lang="en-IN" sz="2600"/>
                        <a:t> </a:t>
                      </a:r>
                      <a:r>
                        <a:rPr lang="en-IN" sz="2600"/>
                        <a:t>16,000)</a:t>
                      </a:r>
                      <a:endParaRPr sz="2600"/>
                    </a:p>
                  </a:txBody>
                  <a:tcPr marT="45725" marB="45725" marR="91450" marL="91450"/>
                </a:tc>
                <a:tc>
                  <a:txBody>
                    <a:bodyPr/>
                    <a:lstStyle/>
                    <a:p>
                      <a:pPr indent="0" lvl="0" marL="0" marR="0" rtl="0" algn="r">
                        <a:spcBef>
                          <a:spcPts val="0"/>
                        </a:spcBef>
                        <a:spcAft>
                          <a:spcPts val="0"/>
                        </a:spcAft>
                        <a:buNone/>
                      </a:pPr>
                      <a:r>
                        <a:rPr lang="en-IN" sz="2600"/>
                        <a:t>1,50,000</a:t>
                      </a:r>
                      <a:endParaRPr sz="2600"/>
                    </a:p>
                  </a:txBody>
                  <a:tcPr marT="45725" marB="45725" marR="91450" marL="91450"/>
                </a:tc>
                <a:tc>
                  <a:txBody>
                    <a:bodyPr/>
                    <a:lstStyle/>
                    <a:p>
                      <a:pPr indent="0" lvl="0" marL="0" marR="0" rtl="0" algn="r">
                        <a:spcBef>
                          <a:spcPts val="0"/>
                        </a:spcBef>
                        <a:spcAft>
                          <a:spcPts val="0"/>
                        </a:spcAft>
                        <a:buNone/>
                      </a:pPr>
                      <a:r>
                        <a:rPr lang="en-IN" sz="2600"/>
                        <a:t>3,20,000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Total</a:t>
                      </a:r>
                      <a:r>
                        <a:rPr b="1" lang="en-IN" sz="2600">
                          <a:solidFill>
                            <a:srgbClr val="FF0000"/>
                          </a:solidFill>
                        </a:rPr>
                        <a:t> savings (A)</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1,70,000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3,52,000</a:t>
                      </a:r>
                      <a:endParaRPr b="1" sz="26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b="1" lang="en-IN" sz="2600">
                          <a:solidFill>
                            <a:srgbClr val="FF0000"/>
                          </a:solidFill>
                        </a:rPr>
                        <a:t>Less</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Estimated additional cost</a:t>
                      </a:r>
                      <a:r>
                        <a:rPr b="1" lang="en-IN" sz="2600">
                          <a:solidFill>
                            <a:srgbClr val="FF0000"/>
                          </a:solidFill>
                        </a:rPr>
                        <a:t> per year:</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t/>
                      </a:r>
                      <a:endParaRPr b="1" sz="2600"/>
                    </a:p>
                  </a:txBody>
                  <a:tcPr marT="45725" marB="45725" marR="91450" marL="91450"/>
                </a:tc>
                <a:tc>
                  <a:txBody>
                    <a:bodyPr/>
                    <a:lstStyle/>
                    <a:p>
                      <a:pPr indent="0" lvl="0" marL="0" marR="0" rtl="0" algn="r">
                        <a:spcBef>
                          <a:spcPts val="0"/>
                        </a:spcBef>
                        <a:spcAft>
                          <a:spcPts val="0"/>
                        </a:spcAft>
                        <a:buNone/>
                      </a:pPr>
                      <a:r>
                        <a:t/>
                      </a:r>
                      <a:endParaRPr b="1"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t>Indirect materials</a:t>
                      </a:r>
                      <a:endParaRPr sz="2600"/>
                    </a:p>
                  </a:txBody>
                  <a:tcPr marT="45725" marB="45725" marR="91450" marL="91450"/>
                </a:tc>
                <a:tc>
                  <a:txBody>
                    <a:bodyPr/>
                    <a:lstStyle/>
                    <a:p>
                      <a:pPr indent="0" lvl="0" marL="0" marR="0" rtl="0" algn="r">
                        <a:spcBef>
                          <a:spcPts val="0"/>
                        </a:spcBef>
                        <a:spcAft>
                          <a:spcPts val="0"/>
                        </a:spcAft>
                        <a:buNone/>
                      </a:pPr>
                      <a:r>
                        <a:rPr lang="en-IN" sz="2600"/>
                        <a:t>10,000</a:t>
                      </a:r>
                      <a:endParaRPr sz="2600"/>
                    </a:p>
                  </a:txBody>
                  <a:tcPr marT="45725" marB="45725" marR="91450" marL="91450"/>
                </a:tc>
                <a:tc>
                  <a:txBody>
                    <a:bodyPr/>
                    <a:lstStyle/>
                    <a:p>
                      <a:pPr indent="0" lvl="0" marL="0" marR="0" rtl="0" algn="r">
                        <a:spcBef>
                          <a:spcPts val="0"/>
                        </a:spcBef>
                        <a:spcAft>
                          <a:spcPts val="0"/>
                        </a:spcAft>
                        <a:buNone/>
                      </a:pPr>
                      <a:r>
                        <a:rPr lang="en-IN" sz="2600"/>
                        <a:t>16,000</a:t>
                      </a:r>
                      <a:endParaRPr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t>Cost of maintenance </a:t>
                      </a:r>
                      <a:endParaRPr sz="2600"/>
                    </a:p>
                  </a:txBody>
                  <a:tcPr marT="45725" marB="45725" marR="91450" marL="91450"/>
                </a:tc>
                <a:tc>
                  <a:txBody>
                    <a:bodyPr/>
                    <a:lstStyle/>
                    <a:p>
                      <a:pPr indent="0" lvl="0" marL="0" marR="0" rtl="0" algn="r">
                        <a:spcBef>
                          <a:spcPts val="0"/>
                        </a:spcBef>
                        <a:spcAft>
                          <a:spcPts val="0"/>
                        </a:spcAft>
                        <a:buNone/>
                      </a:pPr>
                      <a:r>
                        <a:rPr lang="en-IN" sz="2600"/>
                        <a:t>7,200</a:t>
                      </a:r>
                      <a:endParaRPr sz="2600"/>
                    </a:p>
                  </a:txBody>
                  <a:tcPr marT="45725" marB="45725" marR="91450" marL="91450"/>
                </a:tc>
                <a:tc>
                  <a:txBody>
                    <a:bodyPr/>
                    <a:lstStyle/>
                    <a:p>
                      <a:pPr indent="0" lvl="0" marL="0" marR="0" rtl="0" algn="r">
                        <a:spcBef>
                          <a:spcPts val="0"/>
                        </a:spcBef>
                        <a:spcAft>
                          <a:spcPts val="0"/>
                        </a:spcAft>
                        <a:buNone/>
                      </a:pPr>
                      <a:r>
                        <a:rPr lang="en-IN" sz="2600"/>
                        <a:t>12,000</a:t>
                      </a:r>
                      <a:endParaRPr sz="26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t>Cost of supervision</a:t>
                      </a:r>
                      <a:endParaRPr sz="2600"/>
                    </a:p>
                  </a:txBody>
                  <a:tcPr marT="45725" marB="45725" marR="91450" marL="91450"/>
                </a:tc>
                <a:tc>
                  <a:txBody>
                    <a:bodyPr/>
                    <a:lstStyle/>
                    <a:p>
                      <a:pPr indent="0" lvl="0" marL="0" marR="0" rtl="0" algn="r">
                        <a:spcBef>
                          <a:spcPts val="0"/>
                        </a:spcBef>
                        <a:spcAft>
                          <a:spcPts val="0"/>
                        </a:spcAft>
                        <a:buNone/>
                      </a:pPr>
                      <a:r>
                        <a:rPr lang="en-IN" sz="2600"/>
                        <a:t>24,000</a:t>
                      </a:r>
                      <a:endParaRPr sz="2600"/>
                    </a:p>
                  </a:txBody>
                  <a:tcPr marT="45725" marB="45725" marR="91450" marL="91450"/>
                </a:tc>
                <a:tc>
                  <a:txBody>
                    <a:bodyPr/>
                    <a:lstStyle/>
                    <a:p>
                      <a:pPr indent="0" lvl="0" marL="0" marR="0" rtl="0" algn="r">
                        <a:spcBef>
                          <a:spcPts val="0"/>
                        </a:spcBef>
                        <a:spcAft>
                          <a:spcPts val="0"/>
                        </a:spcAft>
                        <a:buNone/>
                      </a:pPr>
                      <a:r>
                        <a:rPr lang="en-IN" sz="2600"/>
                        <a:t>36,000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Total additional costs (B)</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41,200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64,000</a:t>
                      </a:r>
                      <a:endParaRPr b="1" sz="2600">
                        <a:solidFill>
                          <a:srgbClr val="FF0000"/>
                        </a:solidFill>
                      </a:endParaRPr>
                    </a:p>
                  </a:txBody>
                  <a:tcPr marT="45725" marB="45725" marR="91450" marL="91450"/>
                </a:tc>
              </a:tr>
            </a:tbl>
          </a:graphicData>
        </a:graphic>
      </p:graphicFrame>
      <p:pic>
        <p:nvPicPr>
          <p:cNvPr descr="Image result for sastra logo" id="345" name="Google Shape;345;p53"/>
          <p:cNvPicPr preferRelativeResize="0"/>
          <p:nvPr/>
        </p:nvPicPr>
        <p:blipFill rotWithShape="1">
          <a:blip r:embed="rId3">
            <a:alphaModFix/>
          </a:blip>
          <a:srcRect b="0" l="0" r="0" t="0"/>
          <a:stretch/>
        </p:blipFill>
        <p:spPr>
          <a:xfrm>
            <a:off x="9537699" y="52388"/>
            <a:ext cx="1816100" cy="55721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graphicFrame>
        <p:nvGraphicFramePr>
          <p:cNvPr id="350" name="Google Shape;350;p54"/>
          <p:cNvGraphicFramePr/>
          <p:nvPr/>
        </p:nvGraphicFramePr>
        <p:xfrm>
          <a:off x="838200" y="900113"/>
          <a:ext cx="3000000" cy="3000000"/>
        </p:xfrm>
        <a:graphic>
          <a:graphicData uri="http://schemas.openxmlformats.org/drawingml/2006/table">
            <a:tbl>
              <a:tblPr bandRow="1" firstRow="1">
                <a:noFill/>
                <a:tableStyleId>{75140CFC-2FD2-45D3-AD89-D6322BEAE1F3}</a:tableStyleId>
              </a:tblPr>
              <a:tblGrid>
                <a:gridCol w="741225"/>
                <a:gridCol w="5791200"/>
                <a:gridCol w="2022775"/>
                <a:gridCol w="1960425"/>
              </a:tblGrid>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t>Profit before depreciation and Tax (A-B)</a:t>
                      </a:r>
                      <a:endParaRPr sz="1800"/>
                    </a:p>
                  </a:txBody>
                  <a:tcPr marT="45725" marB="45725" marR="91450" marL="91450"/>
                </a:tc>
                <a:tc>
                  <a:txBody>
                    <a:bodyPr/>
                    <a:lstStyle/>
                    <a:p>
                      <a:pPr indent="0" lvl="0" marL="0" marR="0" rtl="0" algn="r">
                        <a:spcBef>
                          <a:spcPts val="0"/>
                        </a:spcBef>
                        <a:spcAft>
                          <a:spcPts val="0"/>
                        </a:spcAft>
                        <a:buNone/>
                      </a:pPr>
                      <a:r>
                        <a:rPr lang="en-IN" sz="1800"/>
                        <a:t>1,28,800</a:t>
                      </a:r>
                      <a:endParaRPr sz="1800"/>
                    </a:p>
                  </a:txBody>
                  <a:tcPr marT="45725" marB="45725" marR="91450" marL="91450"/>
                </a:tc>
                <a:tc>
                  <a:txBody>
                    <a:bodyPr/>
                    <a:lstStyle/>
                    <a:p>
                      <a:pPr indent="0" lvl="0" marL="0" marR="0" rtl="0" algn="r">
                        <a:spcBef>
                          <a:spcPts val="0"/>
                        </a:spcBef>
                        <a:spcAft>
                          <a:spcPts val="0"/>
                        </a:spcAft>
                        <a:buNone/>
                      </a:pPr>
                      <a:r>
                        <a:rPr lang="en-IN" sz="1800"/>
                        <a:t>2,88,000</a:t>
                      </a:r>
                      <a:endParaRPr sz="1800"/>
                    </a:p>
                  </a:txBody>
                  <a:tcPr marT="45725" marB="45725" marR="91450" marL="91450"/>
                </a:tc>
              </a:tr>
              <a:tr h="370850">
                <a:tc>
                  <a:txBody>
                    <a:bodyPr/>
                    <a:lstStyle/>
                    <a:p>
                      <a:pPr indent="0" lvl="0" marL="0" marR="0" rtl="0" algn="l">
                        <a:spcBef>
                          <a:spcPts val="0"/>
                        </a:spcBef>
                        <a:spcAft>
                          <a:spcPts val="0"/>
                        </a:spcAft>
                        <a:buNone/>
                      </a:pPr>
                      <a:r>
                        <a:rPr b="1" lang="en-IN" sz="2500">
                          <a:solidFill>
                            <a:srgbClr val="FF0000"/>
                          </a:solidFill>
                        </a:rPr>
                        <a:t>Less</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Depreciation </a:t>
                      </a:r>
                      <a:endParaRPr sz="2500"/>
                    </a:p>
                  </a:txBody>
                  <a:tcPr marT="45725" marB="45725" marR="91450" marL="91450"/>
                </a:tc>
                <a:tc>
                  <a:txBody>
                    <a:bodyPr/>
                    <a:lstStyle/>
                    <a:p>
                      <a:pPr indent="0" lvl="0" marL="0" marR="0" rtl="0" algn="r">
                        <a:spcBef>
                          <a:spcPts val="0"/>
                        </a:spcBef>
                        <a:spcAft>
                          <a:spcPts val="0"/>
                        </a:spcAft>
                        <a:buNone/>
                      </a:pPr>
                      <a:r>
                        <a:rPr lang="en-IN" sz="2500"/>
                        <a:t>50,000</a:t>
                      </a:r>
                      <a:endParaRPr sz="2500"/>
                    </a:p>
                  </a:txBody>
                  <a:tcPr marT="45725" marB="45725" marR="91450" marL="91450"/>
                </a:tc>
                <a:tc>
                  <a:txBody>
                    <a:bodyPr/>
                    <a:lstStyle/>
                    <a:p>
                      <a:pPr indent="0" lvl="0" marL="0" marR="0" rtl="0" algn="r">
                        <a:spcBef>
                          <a:spcPts val="0"/>
                        </a:spcBef>
                        <a:spcAft>
                          <a:spcPts val="0"/>
                        </a:spcAft>
                        <a:buNone/>
                      </a:pPr>
                      <a:r>
                        <a:rPr lang="en-IN" sz="2500"/>
                        <a:t>63,000</a:t>
                      </a:r>
                      <a:endParaRPr sz="2500"/>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Profit before tax</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78,800</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2,25,000</a:t>
                      </a:r>
                      <a:endParaRPr sz="25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b="1" lang="en-IN" sz="2500">
                          <a:solidFill>
                            <a:srgbClr val="FF0000"/>
                          </a:solidFill>
                        </a:rPr>
                        <a:t>Less</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Tax @ 50%</a:t>
                      </a:r>
                      <a:endParaRPr sz="2500"/>
                    </a:p>
                  </a:txBody>
                  <a:tcPr marT="45725" marB="45725" marR="91450" marL="91450"/>
                </a:tc>
                <a:tc>
                  <a:txBody>
                    <a:bodyPr/>
                    <a:lstStyle/>
                    <a:p>
                      <a:pPr indent="0" lvl="0" marL="0" marR="0" rtl="0" algn="r">
                        <a:spcBef>
                          <a:spcPts val="0"/>
                        </a:spcBef>
                        <a:spcAft>
                          <a:spcPts val="0"/>
                        </a:spcAft>
                        <a:buNone/>
                      </a:pPr>
                      <a:r>
                        <a:rPr lang="en-IN" sz="2500"/>
                        <a:t>39,400</a:t>
                      </a:r>
                      <a:endParaRPr sz="2500"/>
                    </a:p>
                  </a:txBody>
                  <a:tcPr marT="45725" marB="45725" marR="91450" marL="91450"/>
                </a:tc>
                <a:tc>
                  <a:txBody>
                    <a:bodyPr/>
                    <a:lstStyle/>
                    <a:p>
                      <a:pPr indent="0" lvl="0" marL="0" marR="0" rtl="0" algn="r">
                        <a:spcBef>
                          <a:spcPts val="0"/>
                        </a:spcBef>
                        <a:spcAft>
                          <a:spcPts val="0"/>
                        </a:spcAft>
                        <a:buNone/>
                      </a:pPr>
                      <a:r>
                        <a:rPr lang="en-IN" sz="2500"/>
                        <a:t>1,12,500</a:t>
                      </a:r>
                      <a:endParaRPr sz="2500"/>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Profit after tax </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39,400</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1,12,500</a:t>
                      </a:r>
                      <a:endParaRPr sz="25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b="1" lang="en-IN" sz="2500">
                          <a:solidFill>
                            <a:srgbClr val="FF0000"/>
                          </a:solidFill>
                        </a:rPr>
                        <a:t>Add</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Depreciation</a:t>
                      </a:r>
                      <a:endParaRPr sz="2500"/>
                    </a:p>
                  </a:txBody>
                  <a:tcPr marT="45725" marB="45725" marR="91450" marL="91450"/>
                </a:tc>
                <a:tc>
                  <a:txBody>
                    <a:bodyPr/>
                    <a:lstStyle/>
                    <a:p>
                      <a:pPr indent="0" lvl="0" marL="0" marR="0" rtl="0" algn="r">
                        <a:spcBef>
                          <a:spcPts val="0"/>
                        </a:spcBef>
                        <a:spcAft>
                          <a:spcPts val="0"/>
                        </a:spcAft>
                        <a:buNone/>
                      </a:pPr>
                      <a:r>
                        <a:rPr lang="en-IN" sz="2500"/>
                        <a:t>50,000</a:t>
                      </a:r>
                      <a:endParaRPr sz="2500"/>
                    </a:p>
                  </a:txBody>
                  <a:tcPr marT="45725" marB="45725" marR="91450" marL="91450"/>
                </a:tc>
                <a:tc>
                  <a:txBody>
                    <a:bodyPr/>
                    <a:lstStyle/>
                    <a:p>
                      <a:pPr indent="0" lvl="0" marL="0" marR="0" rtl="0" algn="r">
                        <a:spcBef>
                          <a:spcPts val="0"/>
                        </a:spcBef>
                        <a:spcAft>
                          <a:spcPts val="0"/>
                        </a:spcAft>
                        <a:buNone/>
                      </a:pPr>
                      <a:r>
                        <a:rPr lang="en-IN" sz="2500"/>
                        <a:t>63,000</a:t>
                      </a:r>
                      <a:endParaRPr sz="2500"/>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500">
                          <a:solidFill>
                            <a:srgbClr val="FF0000"/>
                          </a:solidFill>
                        </a:rPr>
                        <a:t>Cash</a:t>
                      </a:r>
                      <a:r>
                        <a:rPr b="1" lang="en-IN" sz="2500">
                          <a:solidFill>
                            <a:srgbClr val="FF0000"/>
                          </a:solidFill>
                        </a:rPr>
                        <a:t> inflows flows after tax (CFAT)</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89,400</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1,75,500</a:t>
                      </a:r>
                      <a:endParaRPr b="1" sz="25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Pay back</a:t>
                      </a:r>
                      <a:r>
                        <a:rPr lang="en-IN" sz="2500"/>
                        <a:t> period = Cost of Machine/CFAT</a:t>
                      </a:r>
                      <a:endParaRPr/>
                    </a:p>
                  </a:txBody>
                  <a:tcPr marT="45725" marB="45725" marR="91450" marL="91450"/>
                </a:tc>
                <a:tc>
                  <a:txBody>
                    <a:bodyPr/>
                    <a:lstStyle/>
                    <a:p>
                      <a:pPr indent="0" lvl="0" marL="0" marR="0" rtl="0" algn="r">
                        <a:spcBef>
                          <a:spcPts val="0"/>
                        </a:spcBef>
                        <a:spcAft>
                          <a:spcPts val="0"/>
                        </a:spcAft>
                        <a:buNone/>
                      </a:pPr>
                      <a:r>
                        <a:rPr lang="en-IN" sz="2500"/>
                        <a:t>Rs. 3,50,000/</a:t>
                      </a:r>
                      <a:endParaRPr/>
                    </a:p>
                    <a:p>
                      <a:pPr indent="0" lvl="0" marL="0" marR="0" rtl="0" algn="r">
                        <a:spcBef>
                          <a:spcPts val="0"/>
                        </a:spcBef>
                        <a:spcAft>
                          <a:spcPts val="0"/>
                        </a:spcAft>
                        <a:buNone/>
                      </a:pPr>
                      <a:r>
                        <a:rPr lang="en-IN" sz="2500"/>
                        <a:t>Rs. 89,400</a:t>
                      </a:r>
                      <a:endParaRPr sz="2500"/>
                    </a:p>
                  </a:txBody>
                  <a:tcPr marT="45725" marB="45725" marR="91450" marL="91450"/>
                </a:tc>
                <a:tc>
                  <a:txBody>
                    <a:bodyPr/>
                    <a:lstStyle/>
                    <a:p>
                      <a:pPr indent="0" lvl="0" marL="0" marR="0" rtl="0" algn="r">
                        <a:spcBef>
                          <a:spcPts val="0"/>
                        </a:spcBef>
                        <a:spcAft>
                          <a:spcPts val="0"/>
                        </a:spcAft>
                        <a:buNone/>
                      </a:pPr>
                      <a:r>
                        <a:rPr lang="en-IN" sz="2500"/>
                        <a:t>Rs. 6,30,000/</a:t>
                      </a:r>
                      <a:endParaRPr/>
                    </a:p>
                    <a:p>
                      <a:pPr indent="0" lvl="0" marL="0" marR="0" rtl="0" algn="r">
                        <a:spcBef>
                          <a:spcPts val="0"/>
                        </a:spcBef>
                        <a:spcAft>
                          <a:spcPts val="0"/>
                        </a:spcAft>
                        <a:buNone/>
                      </a:pPr>
                      <a:r>
                        <a:rPr lang="en-IN" sz="2500"/>
                        <a:t>Rs. 1,75,500</a:t>
                      </a:r>
                      <a:endParaRPr sz="2500"/>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3 years and </a:t>
                      </a:r>
                      <a:endParaRPr/>
                    </a:p>
                    <a:p>
                      <a:pPr indent="0" lvl="0" marL="0" marR="0" rtl="0" algn="r">
                        <a:spcBef>
                          <a:spcPts val="0"/>
                        </a:spcBef>
                        <a:spcAft>
                          <a:spcPts val="0"/>
                        </a:spcAft>
                        <a:buNone/>
                      </a:pPr>
                      <a:r>
                        <a:rPr b="1" lang="en-IN" sz="2500">
                          <a:solidFill>
                            <a:srgbClr val="FF0000"/>
                          </a:solidFill>
                        </a:rPr>
                        <a:t>9 months</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3 years and </a:t>
                      </a:r>
                      <a:endParaRPr/>
                    </a:p>
                    <a:p>
                      <a:pPr indent="0" lvl="0" marL="0" marR="0" rtl="0" algn="r">
                        <a:spcBef>
                          <a:spcPts val="0"/>
                        </a:spcBef>
                        <a:spcAft>
                          <a:spcPts val="0"/>
                        </a:spcAft>
                        <a:buNone/>
                      </a:pPr>
                      <a:r>
                        <a:rPr b="1" lang="en-IN" sz="2500">
                          <a:solidFill>
                            <a:srgbClr val="FF0000"/>
                          </a:solidFill>
                        </a:rPr>
                        <a:t>6 months</a:t>
                      </a:r>
                      <a:endParaRPr b="1" sz="2500">
                        <a:solidFill>
                          <a:srgbClr val="FF0000"/>
                        </a:solidFill>
                      </a:endParaRPr>
                    </a:p>
                  </a:txBody>
                  <a:tcPr marT="45725" marB="45725" marR="91450" marL="91450"/>
                </a:tc>
              </a:tr>
            </a:tbl>
          </a:graphicData>
        </a:graphic>
      </p:graphicFrame>
      <p:pic>
        <p:nvPicPr>
          <p:cNvPr descr="Image result for sastra logo" id="351" name="Google Shape;351;p54"/>
          <p:cNvPicPr preferRelativeResize="0"/>
          <p:nvPr/>
        </p:nvPicPr>
        <p:blipFill rotWithShape="1">
          <a:blip r:embed="rId3">
            <a:alphaModFix/>
          </a:blip>
          <a:srcRect b="0" l="0" r="0" t="0"/>
          <a:stretch/>
        </p:blipFill>
        <p:spPr>
          <a:xfrm>
            <a:off x="9537701" y="342901"/>
            <a:ext cx="1816100" cy="55721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5"/>
          <p:cNvSpPr txBox="1"/>
          <p:nvPr>
            <p:ph idx="1" type="body"/>
          </p:nvPr>
        </p:nvSpPr>
        <p:spPr>
          <a:xfrm>
            <a:off x="838200" y="965476"/>
            <a:ext cx="10515600" cy="505795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Recommendation:</a:t>
            </a:r>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The payback period of </a:t>
            </a:r>
            <a:r>
              <a:rPr b="1" lang="en-IN" sz="2600">
                <a:solidFill>
                  <a:srgbClr val="FF0000"/>
                </a:solidFill>
              </a:rPr>
              <a:t>Machine B is lesser than Machine A</a:t>
            </a:r>
            <a:r>
              <a:rPr lang="en-IN" sz="2600">
                <a:solidFill>
                  <a:srgbClr val="FF0000"/>
                </a:solidFill>
              </a:rPr>
              <a:t>. </a:t>
            </a:r>
            <a:r>
              <a:rPr lang="en-IN" sz="2600">
                <a:solidFill>
                  <a:srgbClr val="00B050"/>
                </a:solidFill>
              </a:rPr>
              <a:t>Hence, it is recommended to purchase Machine B.</a:t>
            </a:r>
            <a:endParaRPr/>
          </a:p>
        </p:txBody>
      </p:sp>
      <p:pic>
        <p:nvPicPr>
          <p:cNvPr descr="Image result for sastra logo" id="357" name="Google Shape;357;p55"/>
          <p:cNvPicPr preferRelativeResize="0"/>
          <p:nvPr/>
        </p:nvPicPr>
        <p:blipFill rotWithShape="1">
          <a:blip r:embed="rId3">
            <a:alphaModFix/>
          </a:blip>
          <a:srcRect b="0" l="0" r="0" t="0"/>
          <a:stretch/>
        </p:blipFill>
        <p:spPr>
          <a:xfrm>
            <a:off x="9537700" y="258139"/>
            <a:ext cx="1816100" cy="5572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6"/>
          <p:cNvSpPr txBox="1"/>
          <p:nvPr>
            <p:ph idx="1" type="body"/>
          </p:nvPr>
        </p:nvSpPr>
        <p:spPr>
          <a:xfrm>
            <a:off x="838200" y="883590"/>
            <a:ext cx="10515600" cy="524143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2. Accounting </a:t>
            </a:r>
            <a:r>
              <a:rPr b="1" lang="en-IN" sz="2600">
                <a:solidFill>
                  <a:srgbClr val="00B050"/>
                </a:solidFill>
              </a:rPr>
              <a:t>or </a:t>
            </a:r>
            <a:r>
              <a:rPr b="1" lang="en-IN" sz="2600">
                <a:solidFill>
                  <a:srgbClr val="FF0000"/>
                </a:solidFill>
              </a:rPr>
              <a:t>Average Rate of Return (ARR): </a:t>
            </a:r>
            <a:endParaRPr/>
          </a:p>
          <a:p>
            <a:pPr indent="0" lvl="0" marL="0" rtl="0" algn="just">
              <a:lnSpc>
                <a:spcPct val="90000"/>
              </a:lnSpc>
              <a:spcBef>
                <a:spcPts val="1000"/>
              </a:spcBef>
              <a:spcAft>
                <a:spcPts val="0"/>
              </a:spcAft>
              <a:buClr>
                <a:schemeClr val="dk1"/>
              </a:buClr>
              <a:buSzPts val="2600"/>
              <a:buNone/>
            </a:pPr>
            <a:r>
              <a:rPr lang="en-IN" sz="2600"/>
              <a:t>This technique uses the accounting information revealed by the financial statements </a:t>
            </a:r>
            <a:r>
              <a:rPr lang="en-IN" sz="2600">
                <a:solidFill>
                  <a:srgbClr val="FF0000"/>
                </a:solidFill>
              </a:rPr>
              <a:t>to measure the profitability of an investment proposal. </a:t>
            </a:r>
            <a:r>
              <a:rPr lang="en-IN" sz="2600"/>
              <a:t>It can be determined </a:t>
            </a:r>
            <a:r>
              <a:rPr lang="en-IN" sz="2600">
                <a:solidFill>
                  <a:srgbClr val="00B050"/>
                </a:solidFill>
              </a:rPr>
              <a:t>by dividing the average income after taxes by the average investment. </a:t>
            </a:r>
            <a:endParaRPr sz="2600">
              <a:solidFill>
                <a:srgbClr val="00B05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According to Soloman, Accounting Rate of Return can be calculated as the ratio, of average net income to the initial investment.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On the basis of this method, </a:t>
            </a:r>
            <a:r>
              <a:rPr lang="en-IN" sz="2600">
                <a:solidFill>
                  <a:srgbClr val="00B050"/>
                </a:solidFill>
              </a:rPr>
              <a:t>the company can select all those projects whose </a:t>
            </a:r>
            <a:r>
              <a:rPr lang="en-IN" sz="2600">
                <a:solidFill>
                  <a:srgbClr val="FF0000"/>
                </a:solidFill>
              </a:rPr>
              <a:t>ARR is higher than the minimum rate established by the company. </a:t>
            </a:r>
            <a:r>
              <a:rPr lang="en-IN" sz="2600">
                <a:solidFill>
                  <a:srgbClr val="00B050"/>
                </a:solidFill>
              </a:rPr>
              <a:t>It can reject the projects with an ARR lower than the expected rate of return. </a:t>
            </a:r>
            <a:endParaRPr sz="2600">
              <a:solidFill>
                <a:srgbClr val="00B050"/>
              </a:solidFill>
            </a:endParaRPr>
          </a:p>
        </p:txBody>
      </p:sp>
      <p:pic>
        <p:nvPicPr>
          <p:cNvPr descr="Image result for sastra logo" id="363" name="Google Shape;363;p56"/>
          <p:cNvPicPr preferRelativeResize="0"/>
          <p:nvPr/>
        </p:nvPicPr>
        <p:blipFill rotWithShape="1">
          <a:blip r:embed="rId3">
            <a:alphaModFix/>
          </a:blip>
          <a:srcRect b="0" l="0" r="0" t="0"/>
          <a:stretch/>
        </p:blipFill>
        <p:spPr>
          <a:xfrm>
            <a:off x="9537700" y="326378"/>
            <a:ext cx="1816100" cy="5572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body"/>
          </p:nvPr>
        </p:nvSpPr>
        <p:spPr>
          <a:xfrm>
            <a:off x="838200" y="900545"/>
            <a:ext cx="10515600" cy="5282541"/>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This method also helps the management to rank the proposal on the basis of ARR. </a:t>
            </a:r>
            <a:endParaRPr sz="2600"/>
          </a:p>
          <a:p>
            <a:pPr indent="-228600" lvl="0" marL="228600" rtl="0" algn="just">
              <a:lnSpc>
                <a:spcPct val="90000"/>
              </a:lnSpc>
              <a:spcBef>
                <a:spcPts val="1000"/>
              </a:spcBef>
              <a:spcAft>
                <a:spcPts val="0"/>
              </a:spcAft>
              <a:buClr>
                <a:srgbClr val="FF0000"/>
              </a:buClr>
              <a:buSzPts val="2600"/>
              <a:buChar char="•"/>
            </a:pPr>
            <a:r>
              <a:rPr lang="en-IN" sz="2600">
                <a:solidFill>
                  <a:srgbClr val="FF0000"/>
                </a:solidFill>
              </a:rPr>
              <a:t>ARR = Average Net Income/Original Investment  </a:t>
            </a:r>
            <a:r>
              <a:rPr b="1" lang="en-IN" sz="2600">
                <a:solidFill>
                  <a:srgbClr val="00B050"/>
                </a:solidFill>
              </a:rPr>
              <a:t>Or</a:t>
            </a:r>
            <a:r>
              <a:rPr lang="en-IN" sz="2600">
                <a:solidFill>
                  <a:srgbClr val="00B050"/>
                </a:solidFill>
              </a:rPr>
              <a:t> </a:t>
            </a:r>
            <a:endParaRPr/>
          </a:p>
          <a:p>
            <a:pPr indent="-228600" lvl="0" marL="228600" rtl="0" algn="just">
              <a:lnSpc>
                <a:spcPct val="90000"/>
              </a:lnSpc>
              <a:spcBef>
                <a:spcPts val="1000"/>
              </a:spcBef>
              <a:spcAft>
                <a:spcPts val="0"/>
              </a:spcAft>
              <a:buClr>
                <a:srgbClr val="FF0000"/>
              </a:buClr>
              <a:buSzPts val="2600"/>
              <a:buChar char="•"/>
            </a:pPr>
            <a:r>
              <a:rPr lang="en-IN" sz="2600">
                <a:solidFill>
                  <a:srgbClr val="FF0000"/>
                </a:solidFill>
              </a:rPr>
              <a:t>ARR = Average Net Income/Average Investment</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Note:</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Average net income = Profit after depreciation and tax</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Average Investment = ½ (Initial Investment – Salvage Value) + Salvage Value</a:t>
            </a:r>
            <a:endParaRPr b="1" sz="2600">
              <a:solidFill>
                <a:srgbClr val="FF0000"/>
              </a:solidFill>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Acceptance Rule: </a:t>
            </a:r>
            <a:endParaRPr b="1" sz="2600">
              <a:solidFill>
                <a:srgbClr val="00B050"/>
              </a:solidFill>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The project which gives </a:t>
            </a:r>
            <a:r>
              <a:rPr b="1" lang="en-IN" sz="2600">
                <a:solidFill>
                  <a:srgbClr val="FF0000"/>
                </a:solidFill>
              </a:rPr>
              <a:t>the highest rate of return</a:t>
            </a:r>
            <a:r>
              <a:rPr b="1" lang="en-IN" sz="2600">
                <a:solidFill>
                  <a:srgbClr val="00B050"/>
                </a:solidFill>
              </a:rPr>
              <a:t> </a:t>
            </a:r>
            <a:r>
              <a:rPr lang="en-IN" sz="2600">
                <a:solidFill>
                  <a:srgbClr val="00B050"/>
                </a:solidFill>
              </a:rPr>
              <a:t>over </a:t>
            </a:r>
            <a:r>
              <a:rPr lang="en-IN" sz="2600">
                <a:solidFill>
                  <a:srgbClr val="FF0000"/>
                </a:solidFill>
              </a:rPr>
              <a:t>the</a:t>
            </a:r>
            <a:r>
              <a:rPr lang="en-IN" sz="2600">
                <a:solidFill>
                  <a:srgbClr val="00B050"/>
                </a:solidFill>
              </a:rPr>
              <a:t> </a:t>
            </a:r>
            <a:r>
              <a:rPr b="1" lang="en-IN" sz="2600">
                <a:solidFill>
                  <a:srgbClr val="FF0000"/>
                </a:solidFill>
              </a:rPr>
              <a:t>minimum required rate of return </a:t>
            </a:r>
            <a:r>
              <a:rPr b="1" lang="en-IN" sz="2600">
                <a:solidFill>
                  <a:srgbClr val="00B050"/>
                </a:solidFill>
              </a:rPr>
              <a:t>is acceptable </a:t>
            </a:r>
            <a:endParaRPr/>
          </a:p>
        </p:txBody>
      </p:sp>
      <p:pic>
        <p:nvPicPr>
          <p:cNvPr descr="Image result for sastra logo" id="369" name="Google Shape;369;p57"/>
          <p:cNvPicPr preferRelativeResize="0"/>
          <p:nvPr/>
        </p:nvPicPr>
        <p:blipFill rotWithShape="1">
          <a:blip r:embed="rId3">
            <a:alphaModFix/>
          </a:blip>
          <a:srcRect b="0" l="0" r="0" t="0"/>
          <a:stretch/>
        </p:blipFill>
        <p:spPr>
          <a:xfrm>
            <a:off x="9537700" y="343333"/>
            <a:ext cx="1816100" cy="55721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8"/>
          <p:cNvSpPr txBox="1"/>
          <p:nvPr>
            <p:ph idx="1" type="body"/>
          </p:nvPr>
        </p:nvSpPr>
        <p:spPr>
          <a:xfrm>
            <a:off x="838200" y="803564"/>
            <a:ext cx="10515600" cy="5373399"/>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rgbClr val="FF0000"/>
              </a:buClr>
              <a:buSzPct val="100000"/>
              <a:buNone/>
            </a:pPr>
            <a:r>
              <a:rPr lang="en-IN">
                <a:solidFill>
                  <a:srgbClr val="FF0000"/>
                </a:solidFill>
              </a:rPr>
              <a:t>Merits: </a:t>
            </a:r>
            <a:endParaRPr>
              <a:solidFill>
                <a:srgbClr val="FF0000"/>
              </a:solidFill>
            </a:endParaRPr>
          </a:p>
          <a:p>
            <a:pPr indent="0" lvl="0" marL="0" rtl="0" algn="just">
              <a:lnSpc>
                <a:spcPct val="90000"/>
              </a:lnSpc>
              <a:spcBef>
                <a:spcPts val="1000"/>
              </a:spcBef>
              <a:spcAft>
                <a:spcPts val="0"/>
              </a:spcAft>
              <a:buClr>
                <a:srgbClr val="FF0000"/>
              </a:buClr>
              <a:buSzPct val="100000"/>
              <a:buNone/>
            </a:pPr>
            <a:r>
              <a:rPr lang="en-IN">
                <a:solidFill>
                  <a:srgbClr val="FF0000"/>
                </a:solidFill>
              </a:rPr>
              <a:t>The following are the merits of the ARR method: </a:t>
            </a:r>
            <a:endParaRPr>
              <a:solidFill>
                <a:srgbClr val="FF0000"/>
              </a:solidFill>
            </a:endParaRPr>
          </a:p>
          <a:p>
            <a:pPr indent="0" lvl="0" marL="0" rtl="0" algn="just">
              <a:lnSpc>
                <a:spcPct val="90000"/>
              </a:lnSpc>
              <a:spcBef>
                <a:spcPts val="1000"/>
              </a:spcBef>
              <a:spcAft>
                <a:spcPts val="0"/>
              </a:spcAft>
              <a:buClr>
                <a:srgbClr val="00B050"/>
              </a:buClr>
              <a:buSzPct val="100000"/>
              <a:buNone/>
            </a:pPr>
            <a:r>
              <a:rPr lang="en-IN">
                <a:solidFill>
                  <a:srgbClr val="00B050"/>
                </a:solidFill>
              </a:rPr>
              <a:t>(i)  It is very simple to understand and calculate; </a:t>
            </a:r>
            <a:endParaRPr>
              <a:solidFill>
                <a:srgbClr val="00B050"/>
              </a:solidFill>
            </a:endParaRPr>
          </a:p>
          <a:p>
            <a:pPr indent="0" lvl="0" marL="0" rtl="0" algn="just">
              <a:lnSpc>
                <a:spcPct val="90000"/>
              </a:lnSpc>
              <a:spcBef>
                <a:spcPts val="1000"/>
              </a:spcBef>
              <a:spcAft>
                <a:spcPts val="0"/>
              </a:spcAft>
              <a:buClr>
                <a:srgbClr val="00B050"/>
              </a:buClr>
              <a:buSzPct val="100000"/>
              <a:buNone/>
            </a:pPr>
            <a:r>
              <a:rPr lang="en-IN">
                <a:solidFill>
                  <a:srgbClr val="00B050"/>
                </a:solidFill>
              </a:rPr>
              <a:t>(ii) It can be readily computed with the help of the available accounting data; </a:t>
            </a:r>
            <a:endParaRPr>
              <a:solidFill>
                <a:srgbClr val="00B050"/>
              </a:solidFill>
            </a:endParaRPr>
          </a:p>
          <a:p>
            <a:pPr indent="0" lvl="0" marL="0" rtl="0" algn="just">
              <a:lnSpc>
                <a:spcPct val="90000"/>
              </a:lnSpc>
              <a:spcBef>
                <a:spcPts val="1000"/>
              </a:spcBef>
              <a:spcAft>
                <a:spcPts val="0"/>
              </a:spcAft>
              <a:buClr>
                <a:srgbClr val="00B050"/>
              </a:buClr>
              <a:buSzPct val="100000"/>
              <a:buNone/>
            </a:pPr>
            <a:r>
              <a:rPr lang="en-IN">
                <a:solidFill>
                  <a:srgbClr val="00B050"/>
                </a:solidFill>
              </a:rPr>
              <a:t>(iii) It uses the entire stream of earnings to calculate the ARR. </a:t>
            </a:r>
            <a:endParaRPr>
              <a:solidFill>
                <a:srgbClr val="00B050"/>
              </a:solidFill>
            </a:endParaRPr>
          </a:p>
          <a:p>
            <a:pPr indent="0" lvl="0" marL="0" rtl="0" algn="just">
              <a:lnSpc>
                <a:spcPct val="90000"/>
              </a:lnSpc>
              <a:spcBef>
                <a:spcPts val="1000"/>
              </a:spcBef>
              <a:spcAft>
                <a:spcPts val="0"/>
              </a:spcAft>
              <a:buClr>
                <a:srgbClr val="FF0000"/>
              </a:buClr>
              <a:buSzPct val="100000"/>
              <a:buNone/>
            </a:pPr>
            <a:r>
              <a:rPr lang="en-IN">
                <a:solidFill>
                  <a:srgbClr val="FF0000"/>
                </a:solidFill>
              </a:rPr>
              <a:t>Demerits: </a:t>
            </a:r>
            <a:endParaRPr>
              <a:solidFill>
                <a:srgbClr val="FF0000"/>
              </a:solidFill>
            </a:endParaRPr>
          </a:p>
          <a:p>
            <a:pPr indent="0" lvl="0" marL="0" rtl="0" algn="just">
              <a:lnSpc>
                <a:spcPct val="90000"/>
              </a:lnSpc>
              <a:spcBef>
                <a:spcPts val="1000"/>
              </a:spcBef>
              <a:spcAft>
                <a:spcPts val="0"/>
              </a:spcAft>
              <a:buClr>
                <a:srgbClr val="FF0000"/>
              </a:buClr>
              <a:buSzPct val="100000"/>
              <a:buNone/>
            </a:pPr>
            <a:r>
              <a:rPr lang="en-IN">
                <a:solidFill>
                  <a:srgbClr val="FF0000"/>
                </a:solidFill>
              </a:rPr>
              <a:t>This method has the following demerits: </a:t>
            </a:r>
            <a:endParaRPr>
              <a:solidFill>
                <a:srgbClr val="FF0000"/>
              </a:solidFill>
            </a:endParaRPr>
          </a:p>
          <a:p>
            <a:pPr indent="-571500" lvl="0" marL="571500" rtl="0" algn="just">
              <a:lnSpc>
                <a:spcPct val="90000"/>
              </a:lnSpc>
              <a:spcBef>
                <a:spcPts val="1000"/>
              </a:spcBef>
              <a:spcAft>
                <a:spcPts val="0"/>
              </a:spcAft>
              <a:buClr>
                <a:srgbClr val="00B050"/>
              </a:buClr>
              <a:buSzPct val="100000"/>
              <a:buAutoNum type="romanLcParenBoth"/>
            </a:pPr>
            <a:r>
              <a:rPr lang="en-IN">
                <a:solidFill>
                  <a:srgbClr val="00B050"/>
                </a:solidFill>
              </a:rPr>
              <a:t>It is not based on cash flows generated by a project; </a:t>
            </a:r>
            <a:endParaRPr>
              <a:solidFill>
                <a:srgbClr val="00B050"/>
              </a:solidFill>
            </a:endParaRPr>
          </a:p>
          <a:p>
            <a:pPr indent="0" lvl="0" marL="0" rtl="0" algn="just">
              <a:lnSpc>
                <a:spcPct val="90000"/>
              </a:lnSpc>
              <a:spcBef>
                <a:spcPts val="1000"/>
              </a:spcBef>
              <a:spcAft>
                <a:spcPts val="0"/>
              </a:spcAft>
              <a:buClr>
                <a:srgbClr val="00B050"/>
              </a:buClr>
              <a:buSzPct val="100000"/>
              <a:buNone/>
            </a:pPr>
            <a:r>
              <a:rPr lang="en-IN">
                <a:solidFill>
                  <a:srgbClr val="00B050"/>
                </a:solidFill>
              </a:rPr>
              <a:t>(ii) This method does not consider the objective of wealth maximization; </a:t>
            </a:r>
            <a:endParaRPr>
              <a:solidFill>
                <a:srgbClr val="00B050"/>
              </a:solidFill>
            </a:endParaRPr>
          </a:p>
          <a:p>
            <a:pPr indent="0" lvl="0" marL="0" rtl="0" algn="just">
              <a:lnSpc>
                <a:spcPct val="90000"/>
              </a:lnSpc>
              <a:spcBef>
                <a:spcPts val="1000"/>
              </a:spcBef>
              <a:spcAft>
                <a:spcPts val="0"/>
              </a:spcAft>
              <a:buClr>
                <a:srgbClr val="00B050"/>
              </a:buClr>
              <a:buSzPct val="100000"/>
              <a:buNone/>
            </a:pPr>
            <a:r>
              <a:rPr lang="en-IN">
                <a:solidFill>
                  <a:srgbClr val="00B050"/>
                </a:solidFill>
              </a:rPr>
              <a:t>(iii) It ignores the length of the project’s useful life; </a:t>
            </a:r>
            <a:endParaRPr>
              <a:solidFill>
                <a:srgbClr val="00B050"/>
              </a:solidFill>
            </a:endParaRPr>
          </a:p>
          <a:p>
            <a:pPr indent="0" lvl="0" marL="0" rtl="0" algn="just">
              <a:lnSpc>
                <a:spcPct val="90000"/>
              </a:lnSpc>
              <a:spcBef>
                <a:spcPts val="1000"/>
              </a:spcBef>
              <a:spcAft>
                <a:spcPts val="0"/>
              </a:spcAft>
              <a:buClr>
                <a:srgbClr val="00B050"/>
              </a:buClr>
              <a:buSzPct val="100000"/>
              <a:buNone/>
            </a:pPr>
            <a:r>
              <a:rPr lang="en-IN">
                <a:solidFill>
                  <a:srgbClr val="00B050"/>
                </a:solidFill>
              </a:rPr>
              <a:t>(iv) If does not take into account the fact that the profile can be re-invested; </a:t>
            </a:r>
            <a:endParaRPr>
              <a:solidFill>
                <a:srgbClr val="00B050"/>
              </a:solidFill>
            </a:endParaRPr>
          </a:p>
          <a:p>
            <a:pPr indent="0" lvl="0" marL="0" rtl="0" algn="just">
              <a:lnSpc>
                <a:spcPct val="90000"/>
              </a:lnSpc>
              <a:spcBef>
                <a:spcPts val="1000"/>
              </a:spcBef>
              <a:spcAft>
                <a:spcPts val="0"/>
              </a:spcAft>
              <a:buClr>
                <a:srgbClr val="00B050"/>
              </a:buClr>
              <a:buSzPct val="100000"/>
              <a:buNone/>
            </a:pPr>
            <a:r>
              <a:rPr lang="en-IN">
                <a:solidFill>
                  <a:srgbClr val="00B050"/>
                </a:solidFill>
              </a:rPr>
              <a:t>(v) It ignores the time value of money. </a:t>
            </a:r>
            <a:endParaRPr/>
          </a:p>
        </p:txBody>
      </p:sp>
      <p:pic>
        <p:nvPicPr>
          <p:cNvPr descr="Image result for sastra logo" id="375" name="Google Shape;375;p58"/>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9"/>
          <p:cNvSpPr txBox="1"/>
          <p:nvPr>
            <p:ph idx="1" type="body"/>
          </p:nvPr>
        </p:nvSpPr>
        <p:spPr>
          <a:xfrm>
            <a:off x="838200" y="682170"/>
            <a:ext cx="10515600" cy="58347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P8. Compute ARR from the following data:</a:t>
            </a:r>
            <a:endParaRPr/>
          </a:p>
          <a:p>
            <a:pPr indent="0" lvl="0" marL="0" rtl="0" algn="l">
              <a:lnSpc>
                <a:spcPct val="90000"/>
              </a:lnSpc>
              <a:spcBef>
                <a:spcPts val="1000"/>
              </a:spcBef>
              <a:spcAft>
                <a:spcPts val="0"/>
              </a:spcAft>
              <a:buClr>
                <a:schemeClr val="dk1"/>
              </a:buClr>
              <a:buSzPts val="2600"/>
              <a:buNone/>
            </a:pPr>
            <a:r>
              <a:rPr lang="en-IN" sz="2600"/>
              <a:t>Cost of asset = Rs. 4,00,000</a:t>
            </a:r>
            <a:endParaRPr/>
          </a:p>
          <a:p>
            <a:pPr indent="0" lvl="0" marL="0" rtl="0" algn="l">
              <a:lnSpc>
                <a:spcPct val="90000"/>
              </a:lnSpc>
              <a:spcBef>
                <a:spcPts val="1000"/>
              </a:spcBef>
              <a:spcAft>
                <a:spcPts val="0"/>
              </a:spcAft>
              <a:buClr>
                <a:schemeClr val="dk1"/>
              </a:buClr>
              <a:buSzPts val="2600"/>
              <a:buNone/>
            </a:pPr>
            <a:r>
              <a:rPr lang="en-IN" sz="2600"/>
              <a:t>Estimated life = 5 years </a:t>
            </a:r>
            <a:endParaRPr/>
          </a:p>
          <a:p>
            <a:pPr indent="0" lvl="0" marL="0" rtl="0" algn="l">
              <a:lnSpc>
                <a:spcPct val="90000"/>
              </a:lnSpc>
              <a:spcBef>
                <a:spcPts val="1000"/>
              </a:spcBef>
              <a:spcAft>
                <a:spcPts val="0"/>
              </a:spcAft>
              <a:buClr>
                <a:schemeClr val="dk1"/>
              </a:buClr>
              <a:buSzPts val="2600"/>
              <a:buNone/>
            </a:pPr>
            <a:r>
              <a:rPr lang="en-IN" sz="2600"/>
              <a:t>Cash flow after tax before depreciation (CFAT) = Rs. 1,72,000</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Solution:           Calculation of profit after depreciation and tax</a:t>
            </a:r>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rPr lang="en-IN" sz="2600"/>
              <a:t>ARR = [Profit after dep. and tax/Original investment]×100</a:t>
            </a:r>
            <a:endParaRPr/>
          </a:p>
          <a:p>
            <a:pPr indent="0" lvl="0" marL="0" rtl="0" algn="l">
              <a:lnSpc>
                <a:spcPct val="90000"/>
              </a:lnSpc>
              <a:spcBef>
                <a:spcPts val="1000"/>
              </a:spcBef>
              <a:spcAft>
                <a:spcPts val="0"/>
              </a:spcAft>
              <a:buClr>
                <a:schemeClr val="dk1"/>
              </a:buClr>
              <a:buSzPts val="2600"/>
              <a:buNone/>
            </a:pPr>
            <a:r>
              <a:rPr lang="en-IN" sz="2600"/>
              <a:t>        = [Rs.92,000/Rs. 4,00,000]×100 </a:t>
            </a:r>
            <a:endParaRPr/>
          </a:p>
          <a:p>
            <a:pPr indent="0" lvl="0" marL="0" rtl="0" algn="l">
              <a:lnSpc>
                <a:spcPct val="90000"/>
              </a:lnSpc>
              <a:spcBef>
                <a:spcPts val="1000"/>
              </a:spcBef>
              <a:spcAft>
                <a:spcPts val="0"/>
              </a:spcAft>
              <a:buClr>
                <a:schemeClr val="dk1"/>
              </a:buClr>
              <a:buSzPts val="2600"/>
              <a:buNone/>
            </a:pPr>
            <a:r>
              <a:rPr lang="en-IN" sz="2600"/>
              <a:t>ARR </a:t>
            </a:r>
            <a:r>
              <a:rPr lang="en-IN" sz="2600">
                <a:solidFill>
                  <a:srgbClr val="FF0000"/>
                </a:solidFill>
              </a:rPr>
              <a:t>= 23%</a:t>
            </a:r>
            <a:endParaRPr/>
          </a:p>
          <a:p>
            <a:pPr indent="0" lvl="0" marL="0" rtl="0" algn="l">
              <a:lnSpc>
                <a:spcPct val="90000"/>
              </a:lnSpc>
              <a:spcBef>
                <a:spcPts val="1000"/>
              </a:spcBef>
              <a:spcAft>
                <a:spcPts val="0"/>
              </a:spcAft>
              <a:buClr>
                <a:schemeClr val="dk1"/>
              </a:buClr>
              <a:buSzPts val="2600"/>
              <a:buNone/>
            </a:pPr>
            <a:r>
              <a:t/>
            </a:r>
            <a:endParaRPr sz="2600"/>
          </a:p>
        </p:txBody>
      </p:sp>
      <p:graphicFrame>
        <p:nvGraphicFramePr>
          <p:cNvPr id="381" name="Google Shape;381;p59"/>
          <p:cNvGraphicFramePr/>
          <p:nvPr/>
        </p:nvGraphicFramePr>
        <p:xfrm>
          <a:off x="838200" y="3066710"/>
          <a:ext cx="3000000" cy="3000000"/>
        </p:xfrm>
        <a:graphic>
          <a:graphicData uri="http://schemas.openxmlformats.org/drawingml/2006/table">
            <a:tbl>
              <a:tblPr bandRow="1" firstRow="1">
                <a:noFill/>
                <a:tableStyleId>{75140CFC-2FD2-45D3-AD89-D6322BEAE1F3}</a:tableStyleId>
              </a:tblPr>
              <a:tblGrid>
                <a:gridCol w="729350"/>
                <a:gridCol w="8360225"/>
                <a:gridCol w="1426025"/>
              </a:tblGrid>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200"/>
                        <a:t>Particulars</a:t>
                      </a:r>
                      <a:endParaRPr sz="2200"/>
                    </a:p>
                  </a:txBody>
                  <a:tcPr marT="45725" marB="45725" marR="91450" marL="91450"/>
                </a:tc>
                <a:tc>
                  <a:txBody>
                    <a:bodyPr/>
                    <a:lstStyle/>
                    <a:p>
                      <a:pPr indent="0" lvl="0" marL="0" marR="0" rtl="0" algn="r">
                        <a:spcBef>
                          <a:spcPts val="0"/>
                        </a:spcBef>
                        <a:spcAft>
                          <a:spcPts val="0"/>
                        </a:spcAft>
                        <a:buNone/>
                      </a:pPr>
                      <a:r>
                        <a:rPr lang="en-IN" sz="2200"/>
                        <a:t>Rs.</a:t>
                      </a:r>
                      <a:endParaRPr sz="2200"/>
                    </a:p>
                  </a:txBody>
                  <a:tcPr marT="45725" marB="45725" marR="91450" marL="91450"/>
                </a:tc>
              </a:tr>
              <a:tr h="370850">
                <a:tc>
                  <a:txBody>
                    <a:bodyPr/>
                    <a:lstStyle/>
                    <a:p>
                      <a:pPr indent="0" lvl="0" marL="0" marR="0" rtl="0" algn="l">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Cash flow after tax (CFAT) </a:t>
                      </a:r>
                      <a:endParaRPr sz="2500"/>
                    </a:p>
                  </a:txBody>
                  <a:tcPr marT="45725" marB="45725" marR="91450" marL="91450"/>
                </a:tc>
                <a:tc>
                  <a:txBody>
                    <a:bodyPr/>
                    <a:lstStyle/>
                    <a:p>
                      <a:pPr indent="0" lvl="0" marL="0" marR="0" rtl="0" algn="r">
                        <a:spcBef>
                          <a:spcPts val="0"/>
                        </a:spcBef>
                        <a:spcAft>
                          <a:spcPts val="0"/>
                        </a:spcAft>
                        <a:buNone/>
                      </a:pPr>
                      <a:r>
                        <a:rPr lang="en-IN" sz="2500"/>
                        <a:t>1,72,000</a:t>
                      </a:r>
                      <a:endParaRPr sz="2500"/>
                    </a:p>
                  </a:txBody>
                  <a:tcPr marT="45725" marB="45725" marR="91450" marL="91450"/>
                </a:tc>
              </a:tr>
              <a:tr h="370850">
                <a:tc>
                  <a:txBody>
                    <a:bodyPr/>
                    <a:lstStyle/>
                    <a:p>
                      <a:pPr indent="0" lvl="0" marL="0" marR="0" rtl="0" algn="l">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Depreciation ( Rs. 4,00,000/5) </a:t>
                      </a:r>
                      <a:endParaRPr sz="2500"/>
                    </a:p>
                  </a:txBody>
                  <a:tcPr marT="45725" marB="45725" marR="91450" marL="91450"/>
                </a:tc>
                <a:tc>
                  <a:txBody>
                    <a:bodyPr/>
                    <a:lstStyle/>
                    <a:p>
                      <a:pPr indent="0" lvl="0" marL="0" marR="0" rtl="0" algn="r">
                        <a:spcBef>
                          <a:spcPts val="0"/>
                        </a:spcBef>
                        <a:spcAft>
                          <a:spcPts val="0"/>
                        </a:spcAft>
                        <a:buNone/>
                      </a:pPr>
                      <a:r>
                        <a:rPr lang="en-IN" sz="2500"/>
                        <a:t>80,000</a:t>
                      </a:r>
                      <a:endParaRPr sz="2500"/>
                    </a:p>
                  </a:txBody>
                  <a:tcPr marT="45725" marB="45725" marR="91450" marL="91450"/>
                </a:tc>
              </a:tr>
              <a:tr h="370850">
                <a:tc>
                  <a:txBody>
                    <a:bodyPr/>
                    <a:lstStyle/>
                    <a:p>
                      <a:pPr indent="0" lvl="0" marL="0" marR="0" rtl="0" algn="l">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500"/>
                        <a:buFont typeface="Calibri"/>
                        <a:buNone/>
                      </a:pPr>
                      <a:r>
                        <a:rPr lang="en-IN" sz="2500">
                          <a:solidFill>
                            <a:srgbClr val="FF0000"/>
                          </a:solidFill>
                        </a:rPr>
                        <a:t>Profit after depreciation and tax</a:t>
                      </a:r>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92,000</a:t>
                      </a:r>
                      <a:endParaRPr sz="2500">
                        <a:solidFill>
                          <a:srgbClr val="FF0000"/>
                        </a:solidFill>
                      </a:endParaRPr>
                    </a:p>
                  </a:txBody>
                  <a:tcPr marT="45725" marB="45725" marR="91450" marL="91450"/>
                </a:tc>
              </a:tr>
            </a:tbl>
          </a:graphicData>
        </a:graphic>
      </p:graphicFrame>
      <p:pic>
        <p:nvPicPr>
          <p:cNvPr descr="Image result for sastra logo" id="382" name="Google Shape;382;p59"/>
          <p:cNvPicPr preferRelativeResize="0"/>
          <p:nvPr/>
        </p:nvPicPr>
        <p:blipFill rotWithShape="1">
          <a:blip r:embed="rId3">
            <a:alphaModFix/>
          </a:blip>
          <a:srcRect b="0" l="0" r="0" t="0"/>
          <a:stretch/>
        </p:blipFill>
        <p:spPr>
          <a:xfrm>
            <a:off x="9537700" y="124958"/>
            <a:ext cx="1816100" cy="55721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0"/>
          <p:cNvSpPr txBox="1"/>
          <p:nvPr>
            <p:ph idx="1" type="body"/>
          </p:nvPr>
        </p:nvSpPr>
        <p:spPr>
          <a:xfrm>
            <a:off x="838200" y="696686"/>
            <a:ext cx="10515600" cy="548027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P9. Project K requires an investment of Rs. 20,00,000 and yields profits after tax and depreciation as follows: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At the end of 5</a:t>
            </a:r>
            <a:r>
              <a:rPr baseline="30000" lang="en-IN" sz="2600"/>
              <a:t>th</a:t>
            </a:r>
            <a:r>
              <a:rPr lang="en-IN" sz="2600"/>
              <a:t> year, the plant can be sold for Rs. 1,60,000. You are required to calculate ARR.</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388" name="Google Shape;388;p60"/>
          <p:cNvGraphicFramePr/>
          <p:nvPr/>
        </p:nvGraphicFramePr>
        <p:xfrm>
          <a:off x="838200" y="1474409"/>
          <a:ext cx="3000000" cy="3000000"/>
        </p:xfrm>
        <a:graphic>
          <a:graphicData uri="http://schemas.openxmlformats.org/drawingml/2006/table">
            <a:tbl>
              <a:tblPr bandRow="1" firstRow="1">
                <a:noFill/>
                <a:tableStyleId>{75140CFC-2FD2-45D3-AD89-D6322BEAE1F3}</a:tableStyleId>
              </a:tblPr>
              <a:tblGrid>
                <a:gridCol w="4285350"/>
                <a:gridCol w="6230250"/>
              </a:tblGrid>
              <a:tr h="370850">
                <a:tc>
                  <a:txBody>
                    <a:bodyPr/>
                    <a:lstStyle/>
                    <a:p>
                      <a:pPr indent="0" lvl="0" marL="0" marR="0" rtl="0" algn="ctr">
                        <a:spcBef>
                          <a:spcPts val="0"/>
                        </a:spcBef>
                        <a:spcAft>
                          <a:spcPts val="0"/>
                        </a:spcAft>
                        <a:buNone/>
                      </a:pPr>
                      <a:r>
                        <a:rPr lang="en-IN" sz="2000"/>
                        <a:t>Year </a:t>
                      </a:r>
                      <a:endParaRPr sz="2000"/>
                    </a:p>
                  </a:txBody>
                  <a:tcPr marT="45725" marB="45725" marR="91450" marL="91450"/>
                </a:tc>
                <a:tc>
                  <a:txBody>
                    <a:bodyPr/>
                    <a:lstStyle/>
                    <a:p>
                      <a:pPr indent="0" lvl="0" marL="0" marR="0" rtl="0" algn="ctr">
                        <a:spcBef>
                          <a:spcPts val="0"/>
                        </a:spcBef>
                        <a:spcAft>
                          <a:spcPts val="0"/>
                        </a:spcAft>
                        <a:buNone/>
                      </a:pPr>
                      <a:r>
                        <a:rPr lang="en-IN" sz="2000"/>
                        <a:t>Profits after tax and depreciation </a:t>
                      </a:r>
                      <a:endParaRPr/>
                    </a:p>
                    <a:p>
                      <a:pPr indent="0" lvl="0" marL="0" marR="0" rtl="0" algn="ct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1,00,000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1,50,000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2,50,000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2,60,000</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r>
            </a:tbl>
          </a:graphicData>
        </a:graphic>
      </p:graphicFrame>
      <p:pic>
        <p:nvPicPr>
          <p:cNvPr descr="Image result for sastra logo" id="389" name="Google Shape;389;p60"/>
          <p:cNvPicPr preferRelativeResize="0"/>
          <p:nvPr/>
        </p:nvPicPr>
        <p:blipFill rotWithShape="1">
          <a:blip r:embed="rId3">
            <a:alphaModFix/>
          </a:blip>
          <a:srcRect b="0" l="0" r="0" t="0"/>
          <a:stretch/>
        </p:blipFill>
        <p:spPr>
          <a:xfrm>
            <a:off x="9537700" y="201833"/>
            <a:ext cx="1816100" cy="55721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1"/>
          <p:cNvSpPr txBox="1"/>
          <p:nvPr>
            <p:ph idx="1" type="body"/>
          </p:nvPr>
        </p:nvSpPr>
        <p:spPr>
          <a:xfrm>
            <a:off x="838200" y="870856"/>
            <a:ext cx="10515600" cy="57331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Calculation of Average investment</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395" name="Google Shape;395;p61"/>
          <p:cNvGraphicFramePr/>
          <p:nvPr/>
        </p:nvGraphicFramePr>
        <p:xfrm>
          <a:off x="838200" y="1830010"/>
          <a:ext cx="3000000" cy="3000000"/>
        </p:xfrm>
        <a:graphic>
          <a:graphicData uri="http://schemas.openxmlformats.org/drawingml/2006/table">
            <a:tbl>
              <a:tblPr bandRow="1" firstRow="1">
                <a:noFill/>
                <a:tableStyleId>{75140CFC-2FD2-45D3-AD89-D6322BEAE1F3}</a:tableStyleId>
              </a:tblPr>
              <a:tblGrid>
                <a:gridCol w="5809350"/>
                <a:gridCol w="4706250"/>
              </a:tblGrid>
              <a:tr h="317500">
                <a:tc>
                  <a:txBody>
                    <a:bodyPr/>
                    <a:lstStyle/>
                    <a:p>
                      <a:pPr indent="0" lvl="0" marL="0" marR="0" rtl="0" algn="ctr">
                        <a:spcBef>
                          <a:spcPts val="0"/>
                        </a:spcBef>
                        <a:spcAft>
                          <a:spcPts val="0"/>
                        </a:spcAft>
                        <a:buNone/>
                      </a:pPr>
                      <a:r>
                        <a:rPr b="0" lang="en-IN" sz="2500"/>
                        <a:t>Year </a:t>
                      </a:r>
                      <a:endParaRPr b="0" sz="2500"/>
                    </a:p>
                  </a:txBody>
                  <a:tcPr marT="45725" marB="45725" marR="91450" marL="91450"/>
                </a:tc>
                <a:tc>
                  <a:txBody>
                    <a:bodyPr/>
                    <a:lstStyle/>
                    <a:p>
                      <a:pPr indent="0" lvl="0" marL="0" marR="0" rtl="0" algn="ctr">
                        <a:spcBef>
                          <a:spcPts val="0"/>
                        </a:spcBef>
                        <a:spcAft>
                          <a:spcPts val="0"/>
                        </a:spcAft>
                        <a:buNone/>
                      </a:pPr>
                      <a:r>
                        <a:rPr b="0" lang="en-IN" sz="2500"/>
                        <a:t>Profits after tax and depreciation </a:t>
                      </a:r>
                      <a:endParaRPr/>
                    </a:p>
                    <a:p>
                      <a:pPr indent="0" lvl="0" marL="0" marR="0" rtl="0" algn="ctr">
                        <a:spcBef>
                          <a:spcPts val="0"/>
                        </a:spcBef>
                        <a:spcAft>
                          <a:spcPts val="0"/>
                        </a:spcAft>
                        <a:buNone/>
                      </a:pPr>
                      <a:r>
                        <a:rPr b="0" lang="en-IN" sz="2500"/>
                        <a:t>Rs.</a:t>
                      </a:r>
                      <a:endParaRPr b="0" sz="25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1,00,000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1,50,000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2,50,000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2,60,000</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Total profit </a:t>
                      </a:r>
                      <a:endParaRPr sz="2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500">
                          <a:solidFill>
                            <a:srgbClr val="FF0000"/>
                          </a:solidFill>
                        </a:rPr>
                        <a:t>9,20,000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Average</a:t>
                      </a:r>
                      <a:r>
                        <a:rPr lang="en-IN" sz="2500">
                          <a:solidFill>
                            <a:srgbClr val="FF0000"/>
                          </a:solidFill>
                        </a:rPr>
                        <a:t> profit [Total profit/No.of years]</a:t>
                      </a:r>
                      <a:endParaRPr/>
                    </a:p>
                    <a:p>
                      <a:pPr indent="0" lvl="0" marL="0" marR="0" rtl="0" algn="ctr">
                        <a:spcBef>
                          <a:spcPts val="0"/>
                        </a:spcBef>
                        <a:spcAft>
                          <a:spcPts val="0"/>
                        </a:spcAft>
                        <a:buNone/>
                      </a:pPr>
                      <a:r>
                        <a:rPr lang="en-IN" sz="2500">
                          <a:solidFill>
                            <a:srgbClr val="FF0000"/>
                          </a:solidFill>
                        </a:rPr>
                        <a:t>[Rs. 9,20,000/5]</a:t>
                      </a:r>
                      <a:endParaRPr sz="2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500">
                          <a:solidFill>
                            <a:srgbClr val="FF0000"/>
                          </a:solidFill>
                        </a:rPr>
                        <a:t>1,84,000</a:t>
                      </a:r>
                      <a:endParaRPr sz="2500">
                        <a:solidFill>
                          <a:srgbClr val="FF0000"/>
                        </a:solidFill>
                      </a:endParaRPr>
                    </a:p>
                  </a:txBody>
                  <a:tcPr marT="45725" marB="45725" marR="91450" marL="91450"/>
                </a:tc>
              </a:tr>
            </a:tbl>
          </a:graphicData>
        </a:graphic>
      </p:graphicFrame>
      <p:pic>
        <p:nvPicPr>
          <p:cNvPr descr="Image result for sastra logo" id="396" name="Google Shape;396;p61"/>
          <p:cNvPicPr preferRelativeResize="0"/>
          <p:nvPr/>
        </p:nvPicPr>
        <p:blipFill rotWithShape="1">
          <a:blip r:embed="rId3">
            <a:alphaModFix/>
          </a:blip>
          <a:srcRect b="0" l="0" r="0" t="0"/>
          <a:stretch/>
        </p:blipFill>
        <p:spPr>
          <a:xfrm>
            <a:off x="9537700" y="313644"/>
            <a:ext cx="1816100" cy="55721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2"/>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Average investment = ½ [Original investment – Scrap value]+ Scrap Value </a:t>
            </a:r>
            <a:endParaRPr/>
          </a:p>
          <a:p>
            <a:pPr indent="0" lvl="0" marL="0" rtl="0" algn="l">
              <a:lnSpc>
                <a:spcPct val="90000"/>
              </a:lnSpc>
              <a:spcBef>
                <a:spcPts val="1000"/>
              </a:spcBef>
              <a:spcAft>
                <a:spcPts val="0"/>
              </a:spcAft>
              <a:buClr>
                <a:schemeClr val="dk1"/>
              </a:buClr>
              <a:buSzPts val="2600"/>
              <a:buNone/>
            </a:pPr>
            <a:r>
              <a:rPr lang="en-IN" sz="2600"/>
              <a:t>			= ½ [Rs. 20,00,000 – Rs. 1,60,000] +1,60,000</a:t>
            </a:r>
            <a:endParaRPr/>
          </a:p>
          <a:p>
            <a:pPr indent="0" lvl="0" marL="0" rtl="0" algn="l">
              <a:lnSpc>
                <a:spcPct val="90000"/>
              </a:lnSpc>
              <a:spcBef>
                <a:spcPts val="1000"/>
              </a:spcBef>
              <a:spcAft>
                <a:spcPts val="0"/>
              </a:spcAft>
              <a:buClr>
                <a:schemeClr val="dk1"/>
              </a:buClr>
              <a:buSzPts val="2600"/>
              <a:buNone/>
            </a:pPr>
            <a:r>
              <a:rPr lang="en-IN" sz="2600"/>
              <a:t>			= Rs. 9,20,000 + 1,60,000</a:t>
            </a:r>
            <a:endParaRPr/>
          </a:p>
          <a:p>
            <a:pPr indent="0" lvl="0" marL="0" rtl="0" algn="l">
              <a:lnSpc>
                <a:spcPct val="90000"/>
              </a:lnSpc>
              <a:spcBef>
                <a:spcPts val="1000"/>
              </a:spcBef>
              <a:spcAft>
                <a:spcPts val="0"/>
              </a:spcAft>
              <a:buClr>
                <a:schemeClr val="dk1"/>
              </a:buClr>
              <a:buSzPts val="2600"/>
              <a:buNone/>
            </a:pPr>
            <a:r>
              <a:rPr lang="en-IN" sz="2600"/>
              <a:t>Accounting Rate of Return [ARR] = [Rs. 1,84,000/Rs. 10,80,000]×100</a:t>
            </a:r>
            <a:endParaRPr/>
          </a:p>
          <a:p>
            <a:pPr indent="0" lvl="0" marL="0" rtl="0" algn="l">
              <a:lnSpc>
                <a:spcPct val="90000"/>
              </a:lnSpc>
              <a:spcBef>
                <a:spcPts val="1000"/>
              </a:spcBef>
              <a:spcAft>
                <a:spcPts val="0"/>
              </a:spcAft>
              <a:buClr>
                <a:schemeClr val="dk1"/>
              </a:buClr>
              <a:buSzPts val="2600"/>
              <a:buNone/>
            </a:pPr>
            <a:r>
              <a:rPr lang="en-IN" sz="2600"/>
              <a:t>			                      = 17.03%</a:t>
            </a:r>
            <a:endParaRPr sz="2600"/>
          </a:p>
        </p:txBody>
      </p:sp>
      <p:pic>
        <p:nvPicPr>
          <p:cNvPr descr="Image result for sastra logo" id="402" name="Google Shape;402;p6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3"/>
          <p:cNvSpPr txBox="1"/>
          <p:nvPr>
            <p:ph idx="1" type="body"/>
          </p:nvPr>
        </p:nvSpPr>
        <p:spPr>
          <a:xfrm>
            <a:off x="838200" y="711199"/>
            <a:ext cx="10515600" cy="5675087"/>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chemeClr val="dk1"/>
              </a:buClr>
              <a:buSzPct val="100000"/>
              <a:buNone/>
            </a:pPr>
            <a:r>
              <a:rPr lang="en-IN"/>
              <a:t>P10. A company has two alternative proposals. The details are as follows:</a:t>
            </a:r>
            <a:endParaRPr/>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t/>
            </a:r>
            <a:endParaRPr sz="2600"/>
          </a:p>
          <a:p>
            <a:pPr indent="0" lvl="0" marL="0" rtl="0" algn="just">
              <a:lnSpc>
                <a:spcPct val="90000"/>
              </a:lnSpc>
              <a:spcBef>
                <a:spcPts val="1000"/>
              </a:spcBef>
              <a:spcAft>
                <a:spcPts val="0"/>
              </a:spcAft>
              <a:buClr>
                <a:schemeClr val="dk1"/>
              </a:buClr>
              <a:buSzPct val="100000"/>
              <a:buNone/>
            </a:pPr>
            <a:r>
              <a:rPr lang="en-IN"/>
              <a:t>Compute the profitability of the proposals under the return on investment method. Ignore taxation.</a:t>
            </a:r>
            <a:endParaRPr/>
          </a:p>
        </p:txBody>
      </p:sp>
      <p:graphicFrame>
        <p:nvGraphicFramePr>
          <p:cNvPr id="408" name="Google Shape;408;p63"/>
          <p:cNvGraphicFramePr/>
          <p:nvPr/>
        </p:nvGraphicFramePr>
        <p:xfrm>
          <a:off x="838200" y="1045858"/>
          <a:ext cx="3000000" cy="3000000"/>
        </p:xfrm>
        <a:graphic>
          <a:graphicData uri="http://schemas.openxmlformats.org/drawingml/2006/table">
            <a:tbl>
              <a:tblPr bandRow="1" firstRow="1">
                <a:noFill/>
                <a:tableStyleId>{75140CFC-2FD2-45D3-AD89-D6322BEAE1F3}</a:tableStyleId>
              </a:tblPr>
              <a:tblGrid>
                <a:gridCol w="5083625"/>
                <a:gridCol w="2815775"/>
                <a:gridCol w="2616200"/>
              </a:tblGrid>
              <a:tr h="370850">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ctr">
                        <a:spcBef>
                          <a:spcPts val="0"/>
                        </a:spcBef>
                        <a:spcAft>
                          <a:spcPts val="0"/>
                        </a:spcAft>
                        <a:buNone/>
                      </a:pPr>
                      <a:r>
                        <a:rPr lang="en-IN" sz="2000"/>
                        <a:t>Proposal I </a:t>
                      </a:r>
                      <a:endParaRPr sz="2000"/>
                    </a:p>
                  </a:txBody>
                  <a:tcPr marT="45725" marB="45725" marR="91450" marL="91450"/>
                </a:tc>
                <a:tc>
                  <a:txBody>
                    <a:bodyPr/>
                    <a:lstStyle/>
                    <a:p>
                      <a:pPr indent="0" lvl="0" marL="0" marR="0" rtl="0" algn="ctr">
                        <a:spcBef>
                          <a:spcPts val="0"/>
                        </a:spcBef>
                        <a:spcAft>
                          <a:spcPts val="0"/>
                        </a:spcAft>
                        <a:buNone/>
                      </a:pPr>
                      <a:r>
                        <a:rPr lang="en-IN" sz="2000"/>
                        <a:t>Proposal II</a:t>
                      </a:r>
                      <a:endParaRPr sz="20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ctr">
                        <a:spcBef>
                          <a:spcPts val="0"/>
                        </a:spcBef>
                        <a:spcAft>
                          <a:spcPts val="0"/>
                        </a:spcAft>
                        <a:buNone/>
                      </a:pPr>
                      <a:r>
                        <a:rPr lang="en-IN" sz="2600"/>
                        <a:t>Automatic Machine </a:t>
                      </a:r>
                      <a:endParaRPr sz="2600"/>
                    </a:p>
                  </a:txBody>
                  <a:tcPr marT="45725" marB="45725" marR="91450" marL="91450"/>
                </a:tc>
                <a:tc>
                  <a:txBody>
                    <a:bodyPr/>
                    <a:lstStyle/>
                    <a:p>
                      <a:pPr indent="0" lvl="0" marL="0" marR="0" rtl="0" algn="ctr">
                        <a:spcBef>
                          <a:spcPts val="0"/>
                        </a:spcBef>
                        <a:spcAft>
                          <a:spcPts val="0"/>
                        </a:spcAft>
                        <a:buNone/>
                      </a:pPr>
                      <a:r>
                        <a:rPr lang="en-IN" sz="2600"/>
                        <a:t>Ordinary </a:t>
                      </a:r>
                      <a:endParaRPr/>
                    </a:p>
                    <a:p>
                      <a:pPr indent="0" lvl="0" marL="0" marR="0" rtl="0" algn="ctr">
                        <a:spcBef>
                          <a:spcPts val="0"/>
                        </a:spcBef>
                        <a:spcAft>
                          <a:spcPts val="0"/>
                        </a:spcAft>
                        <a:buNone/>
                      </a:pPr>
                      <a:r>
                        <a:rPr lang="en-IN" sz="2600"/>
                        <a:t>Machine</a:t>
                      </a:r>
                      <a:endParaRPr sz="2600"/>
                    </a:p>
                  </a:txBody>
                  <a:tcPr marT="45725" marB="45725" marR="91450" marL="91450"/>
                </a:tc>
              </a:tr>
              <a:tr h="370850">
                <a:tc>
                  <a:txBody>
                    <a:bodyPr/>
                    <a:lstStyle/>
                    <a:p>
                      <a:pPr indent="0" lvl="0" marL="0" marR="0" rtl="0" algn="l">
                        <a:spcBef>
                          <a:spcPts val="0"/>
                        </a:spcBef>
                        <a:spcAft>
                          <a:spcPts val="0"/>
                        </a:spcAft>
                        <a:buNone/>
                      </a:pPr>
                      <a:r>
                        <a:rPr lang="en-IN" sz="2600"/>
                        <a:t>Cost of the machine</a:t>
                      </a:r>
                      <a:endParaRPr sz="2600"/>
                    </a:p>
                  </a:txBody>
                  <a:tcPr marT="45725" marB="45725" marR="91450" marL="91450"/>
                </a:tc>
                <a:tc>
                  <a:txBody>
                    <a:bodyPr/>
                    <a:lstStyle/>
                    <a:p>
                      <a:pPr indent="0" lvl="0" marL="0" marR="0" rtl="0" algn="ctr">
                        <a:spcBef>
                          <a:spcPts val="0"/>
                        </a:spcBef>
                        <a:spcAft>
                          <a:spcPts val="0"/>
                        </a:spcAft>
                        <a:buNone/>
                      </a:pPr>
                      <a:r>
                        <a:rPr lang="en-IN" sz="2600"/>
                        <a:t>Rs. 2,20,000</a:t>
                      </a:r>
                      <a:endParaRPr sz="2600"/>
                    </a:p>
                  </a:txBody>
                  <a:tcPr marT="45725" marB="45725" marR="91450" marL="91450"/>
                </a:tc>
                <a:tc>
                  <a:txBody>
                    <a:bodyPr/>
                    <a:lstStyle/>
                    <a:p>
                      <a:pPr indent="0" lvl="0" marL="0" marR="0" rtl="0" algn="ctr">
                        <a:spcBef>
                          <a:spcPts val="0"/>
                        </a:spcBef>
                        <a:spcAft>
                          <a:spcPts val="0"/>
                        </a:spcAft>
                        <a:buNone/>
                      </a:pPr>
                      <a:r>
                        <a:rPr lang="en-IN" sz="2600"/>
                        <a:t>Rs. 60,000</a:t>
                      </a:r>
                      <a:endParaRPr sz="2600"/>
                    </a:p>
                  </a:txBody>
                  <a:tcPr marT="45725" marB="45725" marR="91450" marL="91450"/>
                </a:tc>
              </a:tr>
              <a:tr h="370850">
                <a:tc>
                  <a:txBody>
                    <a:bodyPr/>
                    <a:lstStyle/>
                    <a:p>
                      <a:pPr indent="0" lvl="0" marL="0" marR="0" rtl="0" algn="l">
                        <a:spcBef>
                          <a:spcPts val="0"/>
                        </a:spcBef>
                        <a:spcAft>
                          <a:spcPts val="0"/>
                        </a:spcAft>
                        <a:buNone/>
                      </a:pPr>
                      <a:r>
                        <a:rPr lang="en-IN" sz="2600"/>
                        <a:t>Estimated life</a:t>
                      </a:r>
                      <a:endParaRPr sz="2600"/>
                    </a:p>
                  </a:txBody>
                  <a:tcPr marT="45725" marB="45725" marR="91450" marL="91450"/>
                </a:tc>
                <a:tc>
                  <a:txBody>
                    <a:bodyPr/>
                    <a:lstStyle/>
                    <a:p>
                      <a:pPr indent="0" lvl="0" marL="0" marR="0" rtl="0" algn="ctr">
                        <a:spcBef>
                          <a:spcPts val="0"/>
                        </a:spcBef>
                        <a:spcAft>
                          <a:spcPts val="0"/>
                        </a:spcAft>
                        <a:buNone/>
                      </a:pPr>
                      <a:r>
                        <a:rPr lang="en-IN" sz="2600"/>
                        <a:t>5½ years</a:t>
                      </a:r>
                      <a:endParaRPr sz="2600"/>
                    </a:p>
                  </a:txBody>
                  <a:tcPr marT="45725" marB="45725" marR="91450" marL="91450"/>
                </a:tc>
                <a:tc>
                  <a:txBody>
                    <a:bodyPr/>
                    <a:lstStyle/>
                    <a:p>
                      <a:pPr indent="0" lvl="0" marL="0" marR="0" rtl="0" algn="ctr">
                        <a:spcBef>
                          <a:spcPts val="0"/>
                        </a:spcBef>
                        <a:spcAft>
                          <a:spcPts val="0"/>
                        </a:spcAft>
                        <a:buNone/>
                      </a:pPr>
                      <a:r>
                        <a:rPr lang="en-IN" sz="2600"/>
                        <a:t>8 years</a:t>
                      </a:r>
                      <a:endParaRPr sz="2600"/>
                    </a:p>
                  </a:txBody>
                  <a:tcPr marT="45725" marB="45725" marR="91450" marL="91450"/>
                </a:tc>
              </a:tr>
              <a:tr h="620375">
                <a:tc>
                  <a:txBody>
                    <a:bodyPr/>
                    <a:lstStyle/>
                    <a:p>
                      <a:pPr indent="0" lvl="0" marL="0" marR="0" rtl="0" algn="l">
                        <a:spcBef>
                          <a:spcPts val="0"/>
                        </a:spcBef>
                        <a:spcAft>
                          <a:spcPts val="0"/>
                        </a:spcAft>
                        <a:buNone/>
                      </a:pPr>
                      <a:r>
                        <a:rPr lang="en-IN" sz="2600"/>
                        <a:t>Estimated sales p.a.</a:t>
                      </a:r>
                      <a:endParaRPr sz="2600"/>
                    </a:p>
                  </a:txBody>
                  <a:tcPr marT="45725" marB="45725" marR="91450" marL="91450"/>
                </a:tc>
                <a:tc>
                  <a:txBody>
                    <a:bodyPr/>
                    <a:lstStyle/>
                    <a:p>
                      <a:pPr indent="0" lvl="0" marL="0" marR="0" rtl="0" algn="ctr">
                        <a:spcBef>
                          <a:spcPts val="0"/>
                        </a:spcBef>
                        <a:spcAft>
                          <a:spcPts val="0"/>
                        </a:spcAft>
                        <a:buNone/>
                      </a:pPr>
                      <a:r>
                        <a:rPr lang="en-IN" sz="2600"/>
                        <a:t>Rs. 1,50,000</a:t>
                      </a:r>
                      <a:endParaRPr sz="2600"/>
                    </a:p>
                  </a:txBody>
                  <a:tcPr marT="45725" marB="45725" marR="91450" marL="91450"/>
                </a:tc>
                <a:tc>
                  <a:txBody>
                    <a:bodyPr/>
                    <a:lstStyle/>
                    <a:p>
                      <a:pPr indent="0" lvl="0" marL="0" marR="0" rtl="0" algn="ctr">
                        <a:spcBef>
                          <a:spcPts val="0"/>
                        </a:spcBef>
                        <a:spcAft>
                          <a:spcPts val="0"/>
                        </a:spcAft>
                        <a:buNone/>
                      </a:pPr>
                      <a:r>
                        <a:rPr lang="en-IN" sz="2600"/>
                        <a:t>Rs. 1,50,000</a:t>
                      </a:r>
                      <a:endParaRPr sz="2600"/>
                    </a:p>
                  </a:txBody>
                  <a:tcPr marT="45725" marB="45725" marR="91450" marL="91450"/>
                </a:tc>
              </a:tr>
              <a:tr h="370850">
                <a:tc>
                  <a:txBody>
                    <a:bodyPr/>
                    <a:lstStyle/>
                    <a:p>
                      <a:pPr indent="0" lvl="0" marL="0" marR="0" rtl="0" algn="l">
                        <a:spcBef>
                          <a:spcPts val="0"/>
                        </a:spcBef>
                        <a:spcAft>
                          <a:spcPts val="0"/>
                        </a:spcAft>
                        <a:buNone/>
                      </a:pPr>
                      <a:r>
                        <a:rPr lang="en-IN" sz="2600"/>
                        <a:t>Costs : Material</a:t>
                      </a:r>
                      <a:endParaRPr sz="2600"/>
                    </a:p>
                  </a:txBody>
                  <a:tcPr marT="45725" marB="45725" marR="91450" marL="91450"/>
                </a:tc>
                <a:tc>
                  <a:txBody>
                    <a:bodyPr/>
                    <a:lstStyle/>
                    <a:p>
                      <a:pPr indent="0" lvl="0" marL="0" marR="0" rtl="0" algn="ctr">
                        <a:spcBef>
                          <a:spcPts val="0"/>
                        </a:spcBef>
                        <a:spcAft>
                          <a:spcPts val="0"/>
                        </a:spcAft>
                        <a:buNone/>
                      </a:pPr>
                      <a:r>
                        <a:rPr lang="en-IN" sz="2600"/>
                        <a:t>Rs. 50,000</a:t>
                      </a:r>
                      <a:endParaRPr sz="2600"/>
                    </a:p>
                  </a:txBody>
                  <a:tcPr marT="45725" marB="45725" marR="91450" marL="91450"/>
                </a:tc>
                <a:tc>
                  <a:txBody>
                    <a:bodyPr/>
                    <a:lstStyle/>
                    <a:p>
                      <a:pPr indent="0" lvl="0" marL="0" marR="0" rtl="0" algn="ctr">
                        <a:spcBef>
                          <a:spcPts val="0"/>
                        </a:spcBef>
                        <a:spcAft>
                          <a:spcPts val="0"/>
                        </a:spcAft>
                        <a:buNone/>
                      </a:pPr>
                      <a:r>
                        <a:rPr lang="en-IN" sz="2600"/>
                        <a:t>Rs. 50,000</a:t>
                      </a:r>
                      <a:endParaRPr sz="2600"/>
                    </a:p>
                  </a:txBody>
                  <a:tcPr marT="45725" marB="45725" marR="91450" marL="91450"/>
                </a:tc>
              </a:tr>
              <a:tr h="370850">
                <a:tc>
                  <a:txBody>
                    <a:bodyPr/>
                    <a:lstStyle/>
                    <a:p>
                      <a:pPr indent="0" lvl="0" marL="0" marR="0" rtl="0" algn="l">
                        <a:spcBef>
                          <a:spcPts val="0"/>
                        </a:spcBef>
                        <a:spcAft>
                          <a:spcPts val="0"/>
                        </a:spcAft>
                        <a:buNone/>
                      </a:pPr>
                      <a:r>
                        <a:rPr lang="en-IN" sz="2600"/>
                        <a:t>             Labour</a:t>
                      </a:r>
                      <a:endParaRPr sz="2600"/>
                    </a:p>
                  </a:txBody>
                  <a:tcPr marT="45725" marB="45725" marR="91450" marL="91450"/>
                </a:tc>
                <a:tc>
                  <a:txBody>
                    <a:bodyPr/>
                    <a:lstStyle/>
                    <a:p>
                      <a:pPr indent="0" lvl="0" marL="0" marR="0" rtl="0" algn="ctr">
                        <a:spcBef>
                          <a:spcPts val="0"/>
                        </a:spcBef>
                        <a:spcAft>
                          <a:spcPts val="0"/>
                        </a:spcAft>
                        <a:buNone/>
                      </a:pPr>
                      <a:r>
                        <a:rPr lang="en-IN" sz="2600"/>
                        <a:t>Rs. 12,000</a:t>
                      </a:r>
                      <a:endParaRPr sz="2600"/>
                    </a:p>
                  </a:txBody>
                  <a:tcPr marT="45725" marB="45725" marR="91450" marL="91450"/>
                </a:tc>
                <a:tc>
                  <a:txBody>
                    <a:bodyPr/>
                    <a:lstStyle/>
                    <a:p>
                      <a:pPr indent="0" lvl="0" marL="0" marR="0" rtl="0" algn="ctr">
                        <a:spcBef>
                          <a:spcPts val="0"/>
                        </a:spcBef>
                        <a:spcAft>
                          <a:spcPts val="0"/>
                        </a:spcAft>
                        <a:buNone/>
                      </a:pPr>
                      <a:r>
                        <a:rPr lang="en-IN" sz="2600"/>
                        <a:t>Rs. 60,000</a:t>
                      </a:r>
                      <a:endParaRPr sz="2600"/>
                    </a:p>
                  </a:txBody>
                  <a:tcPr marT="45725" marB="45725" marR="91450" marL="91450"/>
                </a:tc>
              </a:tr>
              <a:tr h="370850">
                <a:tc>
                  <a:txBody>
                    <a:bodyPr/>
                    <a:lstStyle/>
                    <a:p>
                      <a:pPr indent="0" lvl="0" marL="0" marR="0" rtl="0" algn="l">
                        <a:spcBef>
                          <a:spcPts val="0"/>
                        </a:spcBef>
                        <a:spcAft>
                          <a:spcPts val="0"/>
                        </a:spcAft>
                        <a:buNone/>
                      </a:pPr>
                      <a:r>
                        <a:rPr lang="en-IN" sz="2600"/>
                        <a:t>             Variable Overheads</a:t>
                      </a:r>
                      <a:endParaRPr sz="2600"/>
                    </a:p>
                  </a:txBody>
                  <a:tcPr marT="45725" marB="45725" marR="91450" marL="91450"/>
                </a:tc>
                <a:tc>
                  <a:txBody>
                    <a:bodyPr/>
                    <a:lstStyle/>
                    <a:p>
                      <a:pPr indent="0" lvl="0" marL="0" marR="0" rtl="0" algn="ctr">
                        <a:spcBef>
                          <a:spcPts val="0"/>
                        </a:spcBef>
                        <a:spcAft>
                          <a:spcPts val="0"/>
                        </a:spcAft>
                        <a:buNone/>
                      </a:pPr>
                      <a:r>
                        <a:rPr lang="en-IN" sz="2600"/>
                        <a:t>Rs. 24,000</a:t>
                      </a:r>
                      <a:endParaRPr sz="2600"/>
                    </a:p>
                  </a:txBody>
                  <a:tcPr marT="45725" marB="45725" marR="91450" marL="91450"/>
                </a:tc>
                <a:tc>
                  <a:txBody>
                    <a:bodyPr/>
                    <a:lstStyle/>
                    <a:p>
                      <a:pPr indent="0" lvl="0" marL="0" marR="0" rtl="0" algn="ctr">
                        <a:spcBef>
                          <a:spcPts val="0"/>
                        </a:spcBef>
                        <a:spcAft>
                          <a:spcPts val="0"/>
                        </a:spcAft>
                        <a:buNone/>
                      </a:pPr>
                      <a:r>
                        <a:rPr lang="en-IN" sz="2600"/>
                        <a:t>Rs. 20,000</a:t>
                      </a:r>
                      <a:endParaRPr sz="2600"/>
                    </a:p>
                  </a:txBody>
                  <a:tcPr marT="45725" marB="45725" marR="91450" marL="91450"/>
                </a:tc>
              </a:tr>
            </a:tbl>
          </a:graphicData>
        </a:graphic>
      </p:graphicFrame>
      <p:pic>
        <p:nvPicPr>
          <p:cNvPr descr="Image result for sastra logo" id="409" name="Google Shape;409;p63"/>
          <p:cNvPicPr preferRelativeResize="0"/>
          <p:nvPr/>
        </p:nvPicPr>
        <p:blipFill rotWithShape="1">
          <a:blip r:embed="rId3">
            <a:alphaModFix/>
          </a:blip>
          <a:srcRect b="0" l="0" r="0" t="0"/>
          <a:stretch/>
        </p:blipFill>
        <p:spPr>
          <a:xfrm>
            <a:off x="9537700" y="159792"/>
            <a:ext cx="1816100" cy="55721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4"/>
          <p:cNvSpPr txBox="1"/>
          <p:nvPr>
            <p:ph idx="1" type="body"/>
          </p:nvPr>
        </p:nvSpPr>
        <p:spPr>
          <a:xfrm>
            <a:off x="838200" y="798286"/>
            <a:ext cx="10515600" cy="53786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Working Note:</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1. Calculation of depreciation:</a:t>
            </a:r>
            <a:endParaRPr/>
          </a:p>
          <a:p>
            <a:pPr indent="0" lvl="0" marL="0" rtl="0" algn="l">
              <a:lnSpc>
                <a:spcPct val="90000"/>
              </a:lnSpc>
              <a:spcBef>
                <a:spcPts val="1000"/>
              </a:spcBef>
              <a:spcAft>
                <a:spcPts val="0"/>
              </a:spcAft>
              <a:buClr>
                <a:schemeClr val="dk1"/>
              </a:buClr>
              <a:buSzPts val="2600"/>
              <a:buNone/>
            </a:pPr>
            <a:r>
              <a:rPr lang="en-IN" sz="2600"/>
              <a:t>Dep = Original cost/Estimated life</a:t>
            </a:r>
            <a:endParaRPr/>
          </a:p>
          <a:p>
            <a:pPr indent="0" lvl="0" marL="0" rtl="0" algn="l">
              <a:lnSpc>
                <a:spcPct val="90000"/>
              </a:lnSpc>
              <a:spcBef>
                <a:spcPts val="1000"/>
              </a:spcBef>
              <a:spcAft>
                <a:spcPts val="0"/>
              </a:spcAft>
              <a:buClr>
                <a:schemeClr val="dk1"/>
              </a:buClr>
              <a:buSzPts val="2600"/>
              <a:buNone/>
            </a:pPr>
            <a:r>
              <a:rPr lang="en-IN" sz="2600"/>
              <a:t>Automatic machine = Rs. 2,20,000 ÷ 5½ = Rs. 40,000 </a:t>
            </a:r>
            <a:endParaRPr/>
          </a:p>
          <a:p>
            <a:pPr indent="0" lvl="0" marL="0" rtl="0" algn="l">
              <a:lnSpc>
                <a:spcPct val="90000"/>
              </a:lnSpc>
              <a:spcBef>
                <a:spcPts val="1000"/>
              </a:spcBef>
              <a:spcAft>
                <a:spcPts val="0"/>
              </a:spcAft>
              <a:buClr>
                <a:schemeClr val="dk1"/>
              </a:buClr>
              <a:buSzPts val="2600"/>
              <a:buNone/>
            </a:pPr>
            <a:r>
              <a:rPr lang="en-IN" sz="2600"/>
              <a:t>Ordinary machine = Rs. 60,000 ÷ 8 = Rs. 7,500</a:t>
            </a:r>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415" name="Google Shape;415;p64"/>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5"/>
          <p:cNvSpPr txBox="1"/>
          <p:nvPr>
            <p:ph idx="1" type="body"/>
          </p:nvPr>
        </p:nvSpPr>
        <p:spPr>
          <a:xfrm>
            <a:off x="838200" y="665018"/>
            <a:ext cx="10515600" cy="58522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Profitability Statement</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421" name="Google Shape;421;p65"/>
          <p:cNvGraphicFramePr/>
          <p:nvPr/>
        </p:nvGraphicFramePr>
        <p:xfrm>
          <a:off x="838200" y="1061330"/>
          <a:ext cx="3000000" cy="3000000"/>
        </p:xfrm>
        <a:graphic>
          <a:graphicData uri="http://schemas.openxmlformats.org/drawingml/2006/table">
            <a:tbl>
              <a:tblPr bandRow="1" firstRow="1">
                <a:noFill/>
                <a:tableStyleId>{75140CFC-2FD2-45D3-AD89-D6322BEAE1F3}</a:tableStyleId>
              </a:tblPr>
              <a:tblGrid>
                <a:gridCol w="772875"/>
                <a:gridCol w="6676575"/>
                <a:gridCol w="1582050"/>
                <a:gridCol w="1484075"/>
              </a:tblGrid>
              <a:tr h="370850">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r">
                        <a:spcBef>
                          <a:spcPts val="0"/>
                        </a:spcBef>
                        <a:spcAft>
                          <a:spcPts val="0"/>
                        </a:spcAft>
                        <a:buNone/>
                      </a:pPr>
                      <a:r>
                        <a:rPr lang="en-IN" sz="1800"/>
                        <a:t>Automatic Machine </a:t>
                      </a:r>
                      <a:endParaRPr sz="1800"/>
                    </a:p>
                  </a:txBody>
                  <a:tcPr marT="45725" marB="45725" marR="91450" marL="91450"/>
                </a:tc>
                <a:tc>
                  <a:txBody>
                    <a:bodyPr/>
                    <a:lstStyle/>
                    <a:p>
                      <a:pPr indent="0" lvl="0" marL="0" marR="0" rtl="0" algn="r">
                        <a:spcBef>
                          <a:spcPts val="0"/>
                        </a:spcBef>
                        <a:spcAft>
                          <a:spcPts val="0"/>
                        </a:spcAft>
                        <a:buNone/>
                      </a:pPr>
                      <a:r>
                        <a:rPr lang="en-IN" sz="1800"/>
                        <a:t> Ordinary Machine </a:t>
                      </a:r>
                      <a:endParaRPr sz="1800"/>
                    </a:p>
                  </a:txBody>
                  <a:tcPr marT="45725" marB="45725" marR="91450" marL="91450"/>
                </a:tc>
              </a:tr>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Cost of the machine</a:t>
                      </a:r>
                      <a:endParaRPr sz="2200"/>
                    </a:p>
                  </a:txBody>
                  <a:tcPr marT="45725" marB="45725" marR="91450" marL="91450"/>
                </a:tc>
                <a:tc>
                  <a:txBody>
                    <a:bodyPr/>
                    <a:lstStyle/>
                    <a:p>
                      <a:pPr indent="0" lvl="0" marL="0" marR="0" rtl="0" algn="r">
                        <a:spcBef>
                          <a:spcPts val="0"/>
                        </a:spcBef>
                        <a:spcAft>
                          <a:spcPts val="0"/>
                        </a:spcAft>
                        <a:buNone/>
                      </a:pPr>
                      <a:r>
                        <a:rPr lang="en-IN" sz="2200"/>
                        <a:t>Rs. 2,20,000</a:t>
                      </a:r>
                      <a:endParaRPr sz="2200"/>
                    </a:p>
                  </a:txBody>
                  <a:tcPr marT="45725" marB="45725" marR="91450" marL="91450"/>
                </a:tc>
                <a:tc>
                  <a:txBody>
                    <a:bodyPr/>
                    <a:lstStyle/>
                    <a:p>
                      <a:pPr indent="0" lvl="0" marL="0" marR="0" rtl="0" algn="r">
                        <a:spcBef>
                          <a:spcPts val="0"/>
                        </a:spcBef>
                        <a:spcAft>
                          <a:spcPts val="0"/>
                        </a:spcAft>
                        <a:buNone/>
                      </a:pPr>
                      <a:r>
                        <a:rPr lang="en-IN" sz="2200"/>
                        <a:t>Rs. 60,000</a:t>
                      </a:r>
                      <a:endParaRPr sz="2200"/>
                    </a:p>
                  </a:txBody>
                  <a:tcPr marT="45725" marB="45725" marR="91450" marL="91450"/>
                </a:tc>
              </a:tr>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Life of the machine</a:t>
                      </a:r>
                      <a:endParaRPr sz="2200"/>
                    </a:p>
                  </a:txBody>
                  <a:tcPr marT="45725" marB="45725" marR="91450" marL="91450"/>
                </a:tc>
                <a:tc>
                  <a:txBody>
                    <a:bodyPr/>
                    <a:lstStyle/>
                    <a:p>
                      <a:pPr indent="0" lvl="0" marL="0" marR="0" rtl="0" algn="r">
                        <a:spcBef>
                          <a:spcPts val="0"/>
                        </a:spcBef>
                        <a:spcAft>
                          <a:spcPts val="0"/>
                        </a:spcAft>
                        <a:buNone/>
                      </a:pPr>
                      <a:r>
                        <a:rPr lang="en-IN" sz="2200"/>
                        <a:t>5½ years</a:t>
                      </a:r>
                      <a:endParaRPr sz="2200"/>
                    </a:p>
                  </a:txBody>
                  <a:tcPr marT="45725" marB="45725" marR="91450" marL="91450"/>
                </a:tc>
                <a:tc>
                  <a:txBody>
                    <a:bodyPr/>
                    <a:lstStyle/>
                    <a:p>
                      <a:pPr indent="0" lvl="0" marL="0" marR="0" rtl="0" algn="r">
                        <a:spcBef>
                          <a:spcPts val="0"/>
                        </a:spcBef>
                        <a:spcAft>
                          <a:spcPts val="0"/>
                        </a:spcAft>
                        <a:buNone/>
                      </a:pPr>
                      <a:r>
                        <a:rPr lang="en-IN" sz="2200"/>
                        <a:t>8 years</a:t>
                      </a:r>
                      <a:endParaRPr sz="2200"/>
                    </a:p>
                  </a:txBody>
                  <a:tcPr marT="45725" marB="45725" marR="91450" marL="91450"/>
                </a:tc>
              </a:tr>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Rs.</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Rs.</a:t>
                      </a:r>
                      <a:endParaRPr b="1" sz="22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Estimated Sales (A)</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1,50,000</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1,50,000</a:t>
                      </a:r>
                      <a:endParaRPr b="1" sz="22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b="1" lang="en-IN" sz="2200">
                          <a:solidFill>
                            <a:srgbClr val="FF0000"/>
                          </a:solidFill>
                        </a:rPr>
                        <a:t>Less </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Estimated Cost  </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t/>
                      </a:r>
                      <a:endParaRPr b="1" sz="2200"/>
                    </a:p>
                  </a:txBody>
                  <a:tcPr marT="45725" marB="45725" marR="91450" marL="91450"/>
                </a:tc>
                <a:tc>
                  <a:txBody>
                    <a:bodyPr/>
                    <a:lstStyle/>
                    <a:p>
                      <a:pPr indent="0" lvl="0" marL="0" marR="0" rtl="0" algn="r">
                        <a:spcBef>
                          <a:spcPts val="0"/>
                        </a:spcBef>
                        <a:spcAft>
                          <a:spcPts val="0"/>
                        </a:spcAft>
                        <a:buNone/>
                      </a:pPr>
                      <a:r>
                        <a:t/>
                      </a:r>
                      <a:endParaRPr b="1" sz="2200"/>
                    </a:p>
                  </a:txBody>
                  <a:tcPr marT="45725" marB="45725" marR="91450" marL="91450"/>
                </a:tc>
              </a:tr>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Material</a:t>
                      </a:r>
                      <a:endParaRPr sz="2200"/>
                    </a:p>
                  </a:txBody>
                  <a:tcPr marT="45725" marB="45725" marR="91450" marL="91450"/>
                </a:tc>
                <a:tc>
                  <a:txBody>
                    <a:bodyPr/>
                    <a:lstStyle/>
                    <a:p>
                      <a:pPr indent="0" lvl="0" marL="0" marR="0" rtl="0" algn="r">
                        <a:spcBef>
                          <a:spcPts val="0"/>
                        </a:spcBef>
                        <a:spcAft>
                          <a:spcPts val="0"/>
                        </a:spcAft>
                        <a:buNone/>
                      </a:pPr>
                      <a:r>
                        <a:rPr lang="en-IN" sz="2200"/>
                        <a:t>50,000</a:t>
                      </a:r>
                      <a:endParaRPr sz="2200"/>
                    </a:p>
                  </a:txBody>
                  <a:tcPr marT="45725" marB="45725" marR="91450" marL="91450"/>
                </a:tc>
                <a:tc>
                  <a:txBody>
                    <a:bodyPr/>
                    <a:lstStyle/>
                    <a:p>
                      <a:pPr indent="0" lvl="0" marL="0" marR="0" rtl="0" algn="r">
                        <a:spcBef>
                          <a:spcPts val="0"/>
                        </a:spcBef>
                        <a:spcAft>
                          <a:spcPts val="0"/>
                        </a:spcAft>
                        <a:buNone/>
                      </a:pPr>
                      <a:r>
                        <a:rPr lang="en-IN" sz="2200"/>
                        <a:t>50,000</a:t>
                      </a:r>
                      <a:endParaRPr sz="2200"/>
                    </a:p>
                  </a:txBody>
                  <a:tcPr marT="45725" marB="45725" marR="91450" marL="91450"/>
                </a:tc>
              </a:tr>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Labour</a:t>
                      </a:r>
                      <a:endParaRPr sz="2200"/>
                    </a:p>
                  </a:txBody>
                  <a:tcPr marT="45725" marB="45725" marR="91450" marL="91450"/>
                </a:tc>
                <a:tc>
                  <a:txBody>
                    <a:bodyPr/>
                    <a:lstStyle/>
                    <a:p>
                      <a:pPr indent="0" lvl="0" marL="0" marR="0" rtl="0" algn="r">
                        <a:spcBef>
                          <a:spcPts val="0"/>
                        </a:spcBef>
                        <a:spcAft>
                          <a:spcPts val="0"/>
                        </a:spcAft>
                        <a:buNone/>
                      </a:pPr>
                      <a:r>
                        <a:rPr lang="en-IN" sz="2200"/>
                        <a:t>12,000</a:t>
                      </a:r>
                      <a:endParaRPr sz="2200"/>
                    </a:p>
                  </a:txBody>
                  <a:tcPr marT="45725" marB="45725" marR="91450" marL="91450"/>
                </a:tc>
                <a:tc>
                  <a:txBody>
                    <a:bodyPr/>
                    <a:lstStyle/>
                    <a:p>
                      <a:pPr indent="0" lvl="0" marL="0" marR="0" rtl="0" algn="r">
                        <a:spcBef>
                          <a:spcPts val="0"/>
                        </a:spcBef>
                        <a:spcAft>
                          <a:spcPts val="0"/>
                        </a:spcAft>
                        <a:buNone/>
                      </a:pPr>
                      <a:r>
                        <a:rPr lang="en-IN" sz="2200"/>
                        <a:t>60,000</a:t>
                      </a:r>
                      <a:endParaRPr sz="2200"/>
                    </a:p>
                  </a:txBody>
                  <a:tcPr marT="45725" marB="45725" marR="91450" marL="91450"/>
                </a:tc>
              </a:tr>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Variable overheads</a:t>
                      </a:r>
                      <a:endParaRPr sz="2200"/>
                    </a:p>
                  </a:txBody>
                  <a:tcPr marT="45725" marB="45725" marR="91450" marL="91450"/>
                </a:tc>
                <a:tc>
                  <a:txBody>
                    <a:bodyPr/>
                    <a:lstStyle/>
                    <a:p>
                      <a:pPr indent="0" lvl="0" marL="0" marR="0" rtl="0" algn="r">
                        <a:spcBef>
                          <a:spcPts val="0"/>
                        </a:spcBef>
                        <a:spcAft>
                          <a:spcPts val="0"/>
                        </a:spcAft>
                        <a:buNone/>
                      </a:pPr>
                      <a:r>
                        <a:rPr lang="en-IN" sz="2200"/>
                        <a:t>24,000</a:t>
                      </a:r>
                      <a:endParaRPr sz="2200"/>
                    </a:p>
                  </a:txBody>
                  <a:tcPr marT="45725" marB="45725" marR="91450" marL="91450"/>
                </a:tc>
                <a:tc>
                  <a:txBody>
                    <a:bodyPr/>
                    <a:lstStyle/>
                    <a:p>
                      <a:pPr indent="0" lvl="0" marL="0" marR="0" rtl="0" algn="r">
                        <a:spcBef>
                          <a:spcPts val="0"/>
                        </a:spcBef>
                        <a:spcAft>
                          <a:spcPts val="0"/>
                        </a:spcAft>
                        <a:buNone/>
                      </a:pPr>
                      <a:r>
                        <a:rPr lang="en-IN" sz="2200"/>
                        <a:t>20,000</a:t>
                      </a:r>
                      <a:endParaRPr sz="2200"/>
                    </a:p>
                  </a:txBody>
                  <a:tcPr marT="45725" marB="45725" marR="91450" marL="91450"/>
                </a:tc>
              </a:tr>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Depreciation (As per note:1)</a:t>
                      </a:r>
                      <a:endParaRPr sz="2200"/>
                    </a:p>
                  </a:txBody>
                  <a:tcPr marT="45725" marB="45725" marR="91450" marL="91450"/>
                </a:tc>
                <a:tc>
                  <a:txBody>
                    <a:bodyPr/>
                    <a:lstStyle/>
                    <a:p>
                      <a:pPr indent="0" lvl="0" marL="0" marR="0" rtl="0" algn="r">
                        <a:spcBef>
                          <a:spcPts val="0"/>
                        </a:spcBef>
                        <a:spcAft>
                          <a:spcPts val="0"/>
                        </a:spcAft>
                        <a:buNone/>
                      </a:pPr>
                      <a:r>
                        <a:rPr lang="en-IN" sz="2200"/>
                        <a:t>40,000</a:t>
                      </a:r>
                      <a:endParaRPr sz="2200"/>
                    </a:p>
                  </a:txBody>
                  <a:tcPr marT="45725" marB="45725" marR="91450" marL="91450"/>
                </a:tc>
                <a:tc>
                  <a:txBody>
                    <a:bodyPr/>
                    <a:lstStyle/>
                    <a:p>
                      <a:pPr indent="0" lvl="0" marL="0" marR="0" rtl="0" algn="r">
                        <a:spcBef>
                          <a:spcPts val="0"/>
                        </a:spcBef>
                        <a:spcAft>
                          <a:spcPts val="0"/>
                        </a:spcAft>
                        <a:buNone/>
                      </a:pPr>
                      <a:r>
                        <a:rPr lang="en-IN" sz="2200"/>
                        <a:t>7,500</a:t>
                      </a:r>
                      <a:endParaRPr sz="2200"/>
                    </a:p>
                  </a:txBody>
                  <a:tcPr marT="45725" marB="45725" marR="91450" marL="91450"/>
                </a:tc>
              </a:tr>
              <a:tr h="370850">
                <a:tc>
                  <a:txBody>
                    <a:bodyPr/>
                    <a:lstStyle/>
                    <a:p>
                      <a:pPr indent="0" lvl="0" marL="0" marR="0" rtl="0" algn="l">
                        <a:spcBef>
                          <a:spcPts val="0"/>
                        </a:spcBef>
                        <a:spcAft>
                          <a:spcPts val="0"/>
                        </a:spcAft>
                        <a:buNone/>
                      </a:pPr>
                      <a:r>
                        <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Total Cost (B)</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1,26,000</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1,37,500</a:t>
                      </a:r>
                      <a:endParaRPr b="1" sz="22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Profit (A) – (B)</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24,000</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12,500</a:t>
                      </a:r>
                      <a:endParaRPr b="1" sz="2200">
                        <a:solidFill>
                          <a:srgbClr val="FF0000"/>
                        </a:solidFill>
                      </a:endParaRPr>
                    </a:p>
                  </a:txBody>
                  <a:tcPr marT="45725" marB="45725" marR="91450" marL="91450"/>
                </a:tc>
              </a:tr>
            </a:tbl>
          </a:graphicData>
        </a:graphic>
      </p:graphicFrame>
      <p:pic>
        <p:nvPicPr>
          <p:cNvPr descr="Image result for sastra logo" id="422" name="Google Shape;422;p65"/>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6"/>
          <p:cNvSpPr txBox="1"/>
          <p:nvPr>
            <p:ph idx="1" type="body"/>
          </p:nvPr>
        </p:nvSpPr>
        <p:spPr>
          <a:xfrm>
            <a:off x="838200" y="798286"/>
            <a:ext cx="10515600" cy="53786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1"/>
          </a:p>
          <a:p>
            <a:pPr indent="0" lvl="0" marL="0" rtl="0" algn="l">
              <a:lnSpc>
                <a:spcPct val="90000"/>
              </a:lnSpc>
              <a:spcBef>
                <a:spcPts val="1000"/>
              </a:spcBef>
              <a:spcAft>
                <a:spcPts val="0"/>
              </a:spcAft>
              <a:buClr>
                <a:srgbClr val="FF0000"/>
              </a:buClr>
              <a:buSzPts val="2600"/>
              <a:buNone/>
            </a:pPr>
            <a:r>
              <a:rPr b="1" lang="en-IN" sz="2600">
                <a:solidFill>
                  <a:srgbClr val="FF0000"/>
                </a:solidFill>
              </a:rPr>
              <a:t>Comment:</a:t>
            </a:r>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Ordinary machine is more profitable than the Automatic machine.</a:t>
            </a:r>
            <a:endParaRPr sz="2600">
              <a:solidFill>
                <a:srgbClr val="00B050"/>
              </a:solidFill>
            </a:endParaRPr>
          </a:p>
        </p:txBody>
      </p:sp>
      <p:graphicFrame>
        <p:nvGraphicFramePr>
          <p:cNvPr id="428" name="Google Shape;428;p66"/>
          <p:cNvGraphicFramePr/>
          <p:nvPr/>
        </p:nvGraphicFramePr>
        <p:xfrm>
          <a:off x="838199" y="798286"/>
          <a:ext cx="3000000" cy="3000000"/>
        </p:xfrm>
        <a:graphic>
          <a:graphicData uri="http://schemas.openxmlformats.org/drawingml/2006/table">
            <a:tbl>
              <a:tblPr bandRow="1" firstRow="1">
                <a:noFill/>
                <a:tableStyleId>{75140CFC-2FD2-45D3-AD89-D6322BEAE1F3}</a:tableStyleId>
              </a:tblPr>
              <a:tblGrid>
                <a:gridCol w="772875"/>
                <a:gridCol w="5747650"/>
                <a:gridCol w="2061025"/>
                <a:gridCol w="1934025"/>
              </a:tblGrid>
              <a:tr h="370850">
                <a:tc>
                  <a:txBody>
                    <a:bodyPr/>
                    <a:lstStyle/>
                    <a:p>
                      <a:pPr indent="0" lvl="0" marL="0" marR="0" rtl="0" algn="l">
                        <a:spcBef>
                          <a:spcPts val="0"/>
                        </a:spcBef>
                        <a:spcAft>
                          <a:spcPts val="0"/>
                        </a:spcAft>
                        <a:buNone/>
                      </a:pPr>
                      <a:r>
                        <a:t/>
                      </a:r>
                      <a:endParaRPr b="0" sz="2000"/>
                    </a:p>
                  </a:txBody>
                  <a:tcPr marT="45725" marB="45725" marR="91450" marL="91450"/>
                </a:tc>
                <a:tc>
                  <a:txBody>
                    <a:bodyPr/>
                    <a:lstStyle/>
                    <a:p>
                      <a:pPr indent="0" lvl="0" marL="0" marR="0" rtl="0" algn="l">
                        <a:spcBef>
                          <a:spcPts val="0"/>
                        </a:spcBef>
                        <a:spcAft>
                          <a:spcPts val="0"/>
                        </a:spcAft>
                        <a:buNone/>
                      </a:pPr>
                      <a:r>
                        <a:rPr b="0" lang="en-IN" sz="2000"/>
                        <a:t>Return on investment or ARR =</a:t>
                      </a:r>
                      <a:endParaRPr/>
                    </a:p>
                    <a:p>
                      <a:pPr indent="0" lvl="0" marL="0" marR="0" rtl="0" algn="l">
                        <a:spcBef>
                          <a:spcPts val="0"/>
                        </a:spcBef>
                        <a:spcAft>
                          <a:spcPts val="0"/>
                        </a:spcAft>
                        <a:buNone/>
                      </a:pPr>
                      <a:r>
                        <a:rPr b="0" lang="en-IN" sz="2000"/>
                        <a:t>[Average</a:t>
                      </a:r>
                      <a:r>
                        <a:rPr b="0" lang="en-IN" sz="2000"/>
                        <a:t> Profit/Original Investment]×100</a:t>
                      </a:r>
                      <a:endParaRPr b="0" sz="2000"/>
                    </a:p>
                  </a:txBody>
                  <a:tcPr marT="45725" marB="45725" marR="91450" marL="91450"/>
                </a:tc>
                <a:tc>
                  <a:txBody>
                    <a:bodyPr/>
                    <a:lstStyle/>
                    <a:p>
                      <a:pPr indent="0" lvl="0" marL="0" marR="0" rtl="0" algn="r">
                        <a:spcBef>
                          <a:spcPts val="0"/>
                        </a:spcBef>
                        <a:spcAft>
                          <a:spcPts val="0"/>
                        </a:spcAft>
                        <a:buNone/>
                      </a:pPr>
                      <a:r>
                        <a:rPr b="0" lang="en-IN" sz="2000"/>
                        <a:t>Rs.24,000/</a:t>
                      </a:r>
                      <a:endParaRPr/>
                    </a:p>
                    <a:p>
                      <a:pPr indent="0" lvl="0" marL="0" marR="0" rtl="0" algn="r">
                        <a:spcBef>
                          <a:spcPts val="0"/>
                        </a:spcBef>
                        <a:spcAft>
                          <a:spcPts val="0"/>
                        </a:spcAft>
                        <a:buNone/>
                      </a:pPr>
                      <a:r>
                        <a:rPr b="0" lang="en-IN" sz="2000"/>
                        <a:t>Rs. 2,20,000</a:t>
                      </a:r>
                      <a:endParaRPr/>
                    </a:p>
                  </a:txBody>
                  <a:tcPr marT="45725" marB="45725" marR="91450" marL="91450"/>
                </a:tc>
                <a:tc>
                  <a:txBody>
                    <a:bodyPr/>
                    <a:lstStyle/>
                    <a:p>
                      <a:pPr indent="0" lvl="0" marL="0" marR="0" rtl="0" algn="r">
                        <a:spcBef>
                          <a:spcPts val="0"/>
                        </a:spcBef>
                        <a:spcAft>
                          <a:spcPts val="0"/>
                        </a:spcAft>
                        <a:buNone/>
                      </a:pPr>
                      <a:r>
                        <a:rPr b="0" lang="en-IN" sz="2000"/>
                        <a:t>Rs. 12,500/</a:t>
                      </a:r>
                      <a:endParaRPr/>
                    </a:p>
                    <a:p>
                      <a:pPr indent="0" lvl="0" marL="0" marR="0" rtl="0" algn="r">
                        <a:spcBef>
                          <a:spcPts val="0"/>
                        </a:spcBef>
                        <a:spcAft>
                          <a:spcPts val="0"/>
                        </a:spcAft>
                        <a:buNone/>
                      </a:pPr>
                      <a:r>
                        <a:rPr b="0" lang="en-IN" sz="2000"/>
                        <a:t>Rs. 60,000</a:t>
                      </a:r>
                      <a:endParaRPr b="0" sz="2000"/>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500">
                          <a:solidFill>
                            <a:srgbClr val="FF0000"/>
                          </a:solidFill>
                        </a:rPr>
                        <a:t>ARR</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10.9%</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20.8%</a:t>
                      </a:r>
                      <a:endParaRPr b="1" sz="2500">
                        <a:solidFill>
                          <a:srgbClr val="FF0000"/>
                        </a:solidFill>
                      </a:endParaRPr>
                    </a:p>
                  </a:txBody>
                  <a:tcPr marT="45725" marB="45725" marR="91450" marL="91450"/>
                </a:tc>
              </a:tr>
            </a:tbl>
          </a:graphicData>
        </a:graphic>
      </p:graphicFrame>
      <p:pic>
        <p:nvPicPr>
          <p:cNvPr descr="Image result for sastra logo" id="429" name="Google Shape;429;p66"/>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7"/>
          <p:cNvSpPr txBox="1"/>
          <p:nvPr>
            <p:ph idx="1" type="body"/>
          </p:nvPr>
        </p:nvSpPr>
        <p:spPr>
          <a:xfrm>
            <a:off x="838199" y="822959"/>
            <a:ext cx="10515601" cy="577717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P11.It is prepared to introduce a new machine the production capacity of department X. Two machine are available. Type A and B. The following information is available.</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35" name="Google Shape;435;p67"/>
          <p:cNvGraphicFramePr/>
          <p:nvPr/>
        </p:nvGraphicFramePr>
        <p:xfrm>
          <a:off x="838199" y="2012889"/>
          <a:ext cx="3000000" cy="3000000"/>
        </p:xfrm>
        <a:graphic>
          <a:graphicData uri="http://schemas.openxmlformats.org/drawingml/2006/table">
            <a:tbl>
              <a:tblPr bandRow="1" firstRow="1">
                <a:noFill/>
                <a:tableStyleId>{75140CFC-2FD2-45D3-AD89-D6322BEAE1F3}</a:tableStyleId>
              </a:tblPr>
              <a:tblGrid>
                <a:gridCol w="7783275"/>
                <a:gridCol w="1422400"/>
                <a:gridCol w="1309925"/>
              </a:tblGrid>
              <a:tr h="370850">
                <a:tc>
                  <a:txBody>
                    <a:bodyPr/>
                    <a:lstStyle/>
                    <a:p>
                      <a:pPr indent="0" lvl="0" marL="0" marR="0" rtl="0" algn="ctr">
                        <a:spcBef>
                          <a:spcPts val="0"/>
                        </a:spcBef>
                        <a:spcAft>
                          <a:spcPts val="0"/>
                        </a:spcAft>
                        <a:buNone/>
                      </a:pPr>
                      <a:r>
                        <a:rPr lang="en-IN" sz="2200"/>
                        <a:t>Particulars</a:t>
                      </a:r>
                      <a:endParaRPr sz="2200"/>
                    </a:p>
                  </a:txBody>
                  <a:tcPr marT="45725" marB="45725" marR="91450" marL="91450"/>
                </a:tc>
                <a:tc>
                  <a:txBody>
                    <a:bodyPr/>
                    <a:lstStyle/>
                    <a:p>
                      <a:pPr indent="0" lvl="0" marL="0" marR="0" rtl="0" algn="r">
                        <a:spcBef>
                          <a:spcPts val="0"/>
                        </a:spcBef>
                        <a:spcAft>
                          <a:spcPts val="0"/>
                        </a:spcAft>
                        <a:buNone/>
                      </a:pPr>
                      <a:r>
                        <a:rPr lang="en-IN" sz="2200"/>
                        <a:t>A (Rs.)</a:t>
                      </a:r>
                      <a:endParaRPr sz="2200"/>
                    </a:p>
                  </a:txBody>
                  <a:tcPr marT="45725" marB="45725" marR="91450" marL="91450"/>
                </a:tc>
                <a:tc>
                  <a:txBody>
                    <a:bodyPr/>
                    <a:lstStyle/>
                    <a:p>
                      <a:pPr indent="0" lvl="0" marL="0" marR="0" rtl="0" algn="r">
                        <a:spcBef>
                          <a:spcPts val="0"/>
                        </a:spcBef>
                        <a:spcAft>
                          <a:spcPts val="0"/>
                        </a:spcAft>
                        <a:buNone/>
                      </a:pPr>
                      <a:r>
                        <a:rPr lang="en-IN" sz="2200"/>
                        <a:t>B (Rs.)</a:t>
                      </a:r>
                      <a:endParaRPr sz="2200"/>
                    </a:p>
                  </a:txBody>
                  <a:tcPr marT="45725" marB="45725" marR="91450" marL="91450"/>
                </a:tc>
              </a:tr>
              <a:tr h="370850">
                <a:tc>
                  <a:txBody>
                    <a:bodyPr/>
                    <a:lstStyle/>
                    <a:p>
                      <a:pPr indent="0" lvl="0" marL="0" marR="0" rtl="0" algn="l">
                        <a:spcBef>
                          <a:spcPts val="0"/>
                        </a:spcBef>
                        <a:spcAft>
                          <a:spcPts val="0"/>
                        </a:spcAft>
                        <a:buNone/>
                      </a:pPr>
                      <a:r>
                        <a:rPr lang="en-IN" sz="2500"/>
                        <a:t>Cost of machine </a:t>
                      </a:r>
                      <a:endParaRPr sz="2500"/>
                    </a:p>
                  </a:txBody>
                  <a:tcPr marT="45725" marB="45725" marR="91450" marL="91450"/>
                </a:tc>
                <a:tc>
                  <a:txBody>
                    <a:bodyPr/>
                    <a:lstStyle/>
                    <a:p>
                      <a:pPr indent="0" lvl="0" marL="0" marR="0" rtl="0" algn="r">
                        <a:spcBef>
                          <a:spcPts val="0"/>
                        </a:spcBef>
                        <a:spcAft>
                          <a:spcPts val="0"/>
                        </a:spcAft>
                        <a:buNone/>
                      </a:pPr>
                      <a:r>
                        <a:rPr lang="en-IN" sz="2500"/>
                        <a:t>3,50,000</a:t>
                      </a:r>
                      <a:endParaRPr sz="2500"/>
                    </a:p>
                  </a:txBody>
                  <a:tcPr marT="45725" marB="45725" marR="91450" marL="91450"/>
                </a:tc>
                <a:tc>
                  <a:txBody>
                    <a:bodyPr/>
                    <a:lstStyle/>
                    <a:p>
                      <a:pPr indent="0" lvl="0" marL="0" marR="0" rtl="0" algn="r">
                        <a:spcBef>
                          <a:spcPts val="0"/>
                        </a:spcBef>
                        <a:spcAft>
                          <a:spcPts val="0"/>
                        </a:spcAft>
                        <a:buNone/>
                      </a:pPr>
                      <a:r>
                        <a:rPr lang="en-IN" sz="2500"/>
                        <a:t>6,30,000</a:t>
                      </a:r>
                      <a:endParaRPr sz="2500"/>
                    </a:p>
                  </a:txBody>
                  <a:tcPr marT="45725" marB="45725" marR="91450" marL="91450"/>
                </a:tc>
              </a:tr>
              <a:tr h="370850">
                <a:tc>
                  <a:txBody>
                    <a:bodyPr/>
                    <a:lstStyle/>
                    <a:p>
                      <a:pPr indent="0" lvl="0" marL="0" marR="0" rtl="0" algn="l">
                        <a:spcBef>
                          <a:spcPts val="0"/>
                        </a:spcBef>
                        <a:spcAft>
                          <a:spcPts val="0"/>
                        </a:spcAft>
                        <a:buNone/>
                      </a:pPr>
                      <a:r>
                        <a:rPr lang="en-IN" sz="2500"/>
                        <a:t>Estimated life (years)</a:t>
                      </a:r>
                      <a:endParaRPr sz="2500"/>
                    </a:p>
                  </a:txBody>
                  <a:tcPr marT="45725" marB="45725" marR="91450" marL="91450"/>
                </a:tc>
                <a:tc>
                  <a:txBody>
                    <a:bodyPr/>
                    <a:lstStyle/>
                    <a:p>
                      <a:pPr indent="0" lvl="0" marL="0" marR="0" rtl="0" algn="r">
                        <a:spcBef>
                          <a:spcPts val="0"/>
                        </a:spcBef>
                        <a:spcAft>
                          <a:spcPts val="0"/>
                        </a:spcAft>
                        <a:buNone/>
                      </a:pPr>
                      <a:r>
                        <a:rPr lang="en-IN" sz="2500"/>
                        <a:t>7</a:t>
                      </a:r>
                      <a:endParaRPr sz="2500"/>
                    </a:p>
                  </a:txBody>
                  <a:tcPr marT="45725" marB="45725" marR="91450" marL="91450"/>
                </a:tc>
                <a:tc>
                  <a:txBody>
                    <a:bodyPr/>
                    <a:lstStyle/>
                    <a:p>
                      <a:pPr indent="0" lvl="0" marL="0" marR="0" rtl="0" algn="r">
                        <a:spcBef>
                          <a:spcPts val="0"/>
                        </a:spcBef>
                        <a:spcAft>
                          <a:spcPts val="0"/>
                        </a:spcAft>
                        <a:buNone/>
                      </a:pPr>
                      <a:r>
                        <a:rPr lang="en-IN" sz="2500"/>
                        <a:t>10</a:t>
                      </a:r>
                      <a:endParaRPr sz="2500"/>
                    </a:p>
                  </a:txBody>
                  <a:tcPr marT="45725" marB="45725" marR="91450" marL="91450"/>
                </a:tc>
              </a:tr>
              <a:tr h="370850">
                <a:tc>
                  <a:txBody>
                    <a:bodyPr/>
                    <a:lstStyle/>
                    <a:p>
                      <a:pPr indent="0" lvl="0" marL="0" marR="0" rtl="0" algn="l">
                        <a:spcBef>
                          <a:spcPts val="0"/>
                        </a:spcBef>
                        <a:spcAft>
                          <a:spcPts val="0"/>
                        </a:spcAft>
                        <a:buNone/>
                      </a:pPr>
                      <a:r>
                        <a:rPr lang="en-IN" sz="2500"/>
                        <a:t>Estimated savings in scrap p.a.</a:t>
                      </a:r>
                      <a:endParaRPr sz="2500"/>
                    </a:p>
                  </a:txBody>
                  <a:tcPr marT="45725" marB="45725" marR="91450" marL="91450"/>
                </a:tc>
                <a:tc>
                  <a:txBody>
                    <a:bodyPr/>
                    <a:lstStyle/>
                    <a:p>
                      <a:pPr indent="0" lvl="0" marL="0" marR="0" rtl="0" algn="r">
                        <a:spcBef>
                          <a:spcPts val="0"/>
                        </a:spcBef>
                        <a:spcAft>
                          <a:spcPts val="0"/>
                        </a:spcAft>
                        <a:buNone/>
                      </a:pPr>
                      <a:r>
                        <a:rPr lang="en-IN" sz="2500"/>
                        <a:t>20,000</a:t>
                      </a:r>
                      <a:endParaRPr sz="2500"/>
                    </a:p>
                  </a:txBody>
                  <a:tcPr marT="45725" marB="45725" marR="91450" marL="91450"/>
                </a:tc>
                <a:tc>
                  <a:txBody>
                    <a:bodyPr/>
                    <a:lstStyle/>
                    <a:p>
                      <a:pPr indent="0" lvl="0" marL="0" marR="0" rtl="0" algn="r">
                        <a:spcBef>
                          <a:spcPts val="0"/>
                        </a:spcBef>
                        <a:spcAft>
                          <a:spcPts val="0"/>
                        </a:spcAft>
                        <a:buNone/>
                      </a:pPr>
                      <a:r>
                        <a:rPr lang="en-IN" sz="2500"/>
                        <a:t>32,000</a:t>
                      </a:r>
                      <a:endParaRPr sz="2500"/>
                    </a:p>
                  </a:txBody>
                  <a:tcPr marT="45725" marB="45725" marR="91450" marL="91450"/>
                </a:tc>
              </a:tr>
              <a:tr h="370850">
                <a:tc>
                  <a:txBody>
                    <a:bodyPr/>
                    <a:lstStyle/>
                    <a:p>
                      <a:pPr indent="0" lvl="0" marL="0" marR="0" rtl="0" algn="l">
                        <a:spcBef>
                          <a:spcPts val="0"/>
                        </a:spcBef>
                        <a:spcAft>
                          <a:spcPts val="0"/>
                        </a:spcAft>
                        <a:buNone/>
                      </a:pPr>
                      <a:r>
                        <a:rPr lang="en-IN" sz="2500"/>
                        <a:t>Additional cost of indirect materials</a:t>
                      </a:r>
                      <a:r>
                        <a:rPr lang="en-IN" sz="2500"/>
                        <a:t> p.a.</a:t>
                      </a:r>
                      <a:endParaRPr sz="2500"/>
                    </a:p>
                  </a:txBody>
                  <a:tcPr marT="45725" marB="45725" marR="91450" marL="91450"/>
                </a:tc>
                <a:tc>
                  <a:txBody>
                    <a:bodyPr/>
                    <a:lstStyle/>
                    <a:p>
                      <a:pPr indent="0" lvl="0" marL="0" marR="0" rtl="0" algn="r">
                        <a:spcBef>
                          <a:spcPts val="0"/>
                        </a:spcBef>
                        <a:spcAft>
                          <a:spcPts val="0"/>
                        </a:spcAft>
                        <a:buNone/>
                      </a:pPr>
                      <a:r>
                        <a:rPr lang="en-IN" sz="2500"/>
                        <a:t>10,000</a:t>
                      </a:r>
                      <a:endParaRPr sz="2500"/>
                    </a:p>
                  </a:txBody>
                  <a:tcPr marT="45725" marB="45725" marR="91450" marL="91450"/>
                </a:tc>
                <a:tc>
                  <a:txBody>
                    <a:bodyPr/>
                    <a:lstStyle/>
                    <a:p>
                      <a:pPr indent="0" lvl="0" marL="0" marR="0" rtl="0" algn="r">
                        <a:spcBef>
                          <a:spcPts val="0"/>
                        </a:spcBef>
                        <a:spcAft>
                          <a:spcPts val="0"/>
                        </a:spcAft>
                        <a:buNone/>
                      </a:pPr>
                      <a:r>
                        <a:rPr lang="en-IN" sz="2500"/>
                        <a:t>16,000</a:t>
                      </a:r>
                      <a:endParaRPr sz="2500"/>
                    </a:p>
                  </a:txBody>
                  <a:tcPr marT="45725" marB="45725" marR="91450" marL="91450"/>
                </a:tc>
              </a:tr>
              <a:tr h="370850">
                <a:tc>
                  <a:txBody>
                    <a:bodyPr/>
                    <a:lstStyle/>
                    <a:p>
                      <a:pPr indent="0" lvl="0" marL="0" marR="0" rtl="0" algn="l">
                        <a:spcBef>
                          <a:spcPts val="0"/>
                        </a:spcBef>
                        <a:spcAft>
                          <a:spcPts val="0"/>
                        </a:spcAft>
                        <a:buNone/>
                      </a:pPr>
                      <a:r>
                        <a:rPr lang="en-IN" sz="2500">
                          <a:solidFill>
                            <a:srgbClr val="FF0000"/>
                          </a:solidFill>
                        </a:rPr>
                        <a:t>Estimated savings in wages:</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t/>
                      </a:r>
                      <a:endParaRPr sz="2500"/>
                    </a:p>
                  </a:txBody>
                  <a:tcPr marT="45725" marB="45725" marR="91450" marL="91450"/>
                </a:tc>
                <a:tc>
                  <a:txBody>
                    <a:bodyPr/>
                    <a:lstStyle/>
                    <a:p>
                      <a:pPr indent="0" lvl="0" marL="0" marR="0" rtl="0" algn="r">
                        <a:spcBef>
                          <a:spcPts val="0"/>
                        </a:spcBef>
                        <a:spcAft>
                          <a:spcPts val="0"/>
                        </a:spcAft>
                        <a:buNone/>
                      </a:pPr>
                      <a:r>
                        <a:t/>
                      </a:r>
                      <a:endParaRPr sz="250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2500"/>
                        <a:buFont typeface="Calibri"/>
                        <a:buNone/>
                      </a:pPr>
                      <a:r>
                        <a:rPr lang="en-IN" sz="2500"/>
                        <a:t>Employees not</a:t>
                      </a:r>
                      <a:r>
                        <a:rPr lang="en-IN" sz="2500"/>
                        <a:t> required </a:t>
                      </a:r>
                      <a:endParaRPr sz="2500"/>
                    </a:p>
                    <a:p>
                      <a:pPr indent="0" lvl="0" marL="0" marR="0" rtl="0" algn="l">
                        <a:spcBef>
                          <a:spcPts val="0"/>
                        </a:spcBef>
                        <a:spcAft>
                          <a:spcPts val="0"/>
                        </a:spcAft>
                        <a:buNone/>
                      </a:pPr>
                      <a:r>
                        <a:rPr lang="en-IN" sz="2500"/>
                        <a:t>Wages per employees p.a.</a:t>
                      </a:r>
                      <a:endParaRPr sz="2500"/>
                    </a:p>
                  </a:txBody>
                  <a:tcPr marT="45725" marB="45725" marR="91450" marL="91450"/>
                </a:tc>
                <a:tc>
                  <a:txBody>
                    <a:bodyPr/>
                    <a:lstStyle/>
                    <a:p>
                      <a:pPr indent="0" lvl="0" marL="0" marR="0" rtl="0" algn="r">
                        <a:spcBef>
                          <a:spcPts val="0"/>
                        </a:spcBef>
                        <a:spcAft>
                          <a:spcPts val="0"/>
                        </a:spcAft>
                        <a:buNone/>
                      </a:pPr>
                      <a:r>
                        <a:rPr lang="en-IN" sz="2500"/>
                        <a:t>15</a:t>
                      </a:r>
                      <a:endParaRPr/>
                    </a:p>
                    <a:p>
                      <a:pPr indent="0" lvl="0" marL="0" marR="0" rtl="0" algn="r">
                        <a:spcBef>
                          <a:spcPts val="0"/>
                        </a:spcBef>
                        <a:spcAft>
                          <a:spcPts val="0"/>
                        </a:spcAft>
                        <a:buNone/>
                      </a:pPr>
                      <a:r>
                        <a:rPr lang="en-IN" sz="2500"/>
                        <a:t>20,000</a:t>
                      </a:r>
                      <a:endParaRPr sz="2500"/>
                    </a:p>
                  </a:txBody>
                  <a:tcPr marT="45725" marB="45725" marR="91450" marL="91450"/>
                </a:tc>
                <a:tc>
                  <a:txBody>
                    <a:bodyPr/>
                    <a:lstStyle/>
                    <a:p>
                      <a:pPr indent="0" lvl="0" marL="0" marR="0" rtl="0" algn="r">
                        <a:spcBef>
                          <a:spcPts val="0"/>
                        </a:spcBef>
                        <a:spcAft>
                          <a:spcPts val="0"/>
                        </a:spcAft>
                        <a:buNone/>
                      </a:pPr>
                      <a:r>
                        <a:rPr lang="en-IN" sz="2500"/>
                        <a:t>20</a:t>
                      </a:r>
                      <a:endParaRPr/>
                    </a:p>
                    <a:p>
                      <a:pPr indent="0" lvl="0" marL="0" marR="0" rtl="0" algn="r">
                        <a:spcBef>
                          <a:spcPts val="0"/>
                        </a:spcBef>
                        <a:spcAft>
                          <a:spcPts val="0"/>
                        </a:spcAft>
                        <a:buNone/>
                      </a:pPr>
                      <a:r>
                        <a:rPr lang="en-IN" sz="2500"/>
                        <a:t>16,000</a:t>
                      </a:r>
                      <a:endParaRPr sz="2500"/>
                    </a:p>
                  </a:txBody>
                  <a:tcPr marT="45725" marB="45725" marR="91450" marL="91450"/>
                </a:tc>
              </a:tr>
              <a:tr h="370850">
                <a:tc>
                  <a:txBody>
                    <a:bodyPr/>
                    <a:lstStyle/>
                    <a:p>
                      <a:pPr indent="0" lvl="0" marL="0" marR="0" rtl="0" algn="l">
                        <a:spcBef>
                          <a:spcPts val="0"/>
                        </a:spcBef>
                        <a:spcAft>
                          <a:spcPts val="0"/>
                        </a:spcAft>
                        <a:buNone/>
                      </a:pPr>
                      <a:r>
                        <a:rPr lang="en-IN" sz="2500"/>
                        <a:t>Additional</a:t>
                      </a:r>
                      <a:r>
                        <a:rPr lang="en-IN" sz="2500"/>
                        <a:t> cost of maintenance p.a.</a:t>
                      </a:r>
                      <a:endParaRPr sz="2500"/>
                    </a:p>
                  </a:txBody>
                  <a:tcPr marT="45725" marB="45725" marR="91450" marL="91450"/>
                </a:tc>
                <a:tc>
                  <a:txBody>
                    <a:bodyPr/>
                    <a:lstStyle/>
                    <a:p>
                      <a:pPr indent="0" lvl="0" marL="0" marR="0" rtl="0" algn="r">
                        <a:spcBef>
                          <a:spcPts val="0"/>
                        </a:spcBef>
                        <a:spcAft>
                          <a:spcPts val="0"/>
                        </a:spcAft>
                        <a:buNone/>
                      </a:pPr>
                      <a:r>
                        <a:rPr lang="en-IN" sz="2500"/>
                        <a:t>7,200</a:t>
                      </a:r>
                      <a:endParaRPr sz="2500"/>
                    </a:p>
                  </a:txBody>
                  <a:tcPr marT="45725" marB="45725" marR="91450" marL="91450"/>
                </a:tc>
                <a:tc>
                  <a:txBody>
                    <a:bodyPr/>
                    <a:lstStyle/>
                    <a:p>
                      <a:pPr indent="0" lvl="0" marL="0" marR="0" rtl="0" algn="r">
                        <a:spcBef>
                          <a:spcPts val="0"/>
                        </a:spcBef>
                        <a:spcAft>
                          <a:spcPts val="0"/>
                        </a:spcAft>
                        <a:buNone/>
                      </a:pPr>
                      <a:r>
                        <a:rPr lang="en-IN" sz="2500"/>
                        <a:t>12,000</a:t>
                      </a:r>
                      <a:endParaRPr sz="2500"/>
                    </a:p>
                  </a:txBody>
                  <a:tcPr marT="45725" marB="45725" marR="91450" marL="91450"/>
                </a:tc>
              </a:tr>
              <a:tr h="370850">
                <a:tc>
                  <a:txBody>
                    <a:bodyPr/>
                    <a:lstStyle/>
                    <a:p>
                      <a:pPr indent="0" lvl="0" marL="0" marR="0" rtl="0" algn="l">
                        <a:spcBef>
                          <a:spcPts val="0"/>
                        </a:spcBef>
                        <a:spcAft>
                          <a:spcPts val="0"/>
                        </a:spcAft>
                        <a:buNone/>
                      </a:pPr>
                      <a:r>
                        <a:rPr lang="en-IN" sz="2500"/>
                        <a:t>Additional</a:t>
                      </a:r>
                      <a:r>
                        <a:rPr lang="en-IN" sz="2500"/>
                        <a:t> cost of supervision p.a.</a:t>
                      </a:r>
                      <a:endParaRPr sz="2500"/>
                    </a:p>
                  </a:txBody>
                  <a:tcPr marT="45725" marB="45725" marR="91450" marL="91450"/>
                </a:tc>
                <a:tc>
                  <a:txBody>
                    <a:bodyPr/>
                    <a:lstStyle/>
                    <a:p>
                      <a:pPr indent="0" lvl="0" marL="0" marR="0" rtl="0" algn="r">
                        <a:spcBef>
                          <a:spcPts val="0"/>
                        </a:spcBef>
                        <a:spcAft>
                          <a:spcPts val="0"/>
                        </a:spcAft>
                        <a:buNone/>
                      </a:pPr>
                      <a:r>
                        <a:rPr lang="en-IN" sz="2500"/>
                        <a:t>24,000</a:t>
                      </a:r>
                      <a:endParaRPr sz="2500"/>
                    </a:p>
                  </a:txBody>
                  <a:tcPr marT="45725" marB="45725" marR="91450" marL="91450"/>
                </a:tc>
                <a:tc>
                  <a:txBody>
                    <a:bodyPr/>
                    <a:lstStyle/>
                    <a:p>
                      <a:pPr indent="0" lvl="0" marL="0" marR="0" rtl="0" algn="r">
                        <a:spcBef>
                          <a:spcPts val="0"/>
                        </a:spcBef>
                        <a:spcAft>
                          <a:spcPts val="0"/>
                        </a:spcAft>
                        <a:buNone/>
                      </a:pPr>
                      <a:r>
                        <a:rPr lang="en-IN" sz="2500"/>
                        <a:t>36,000</a:t>
                      </a:r>
                      <a:endParaRPr sz="2500"/>
                    </a:p>
                  </a:txBody>
                  <a:tcPr marT="45725" marB="45725" marR="91450" marL="91450"/>
                </a:tc>
              </a:tr>
            </a:tbl>
          </a:graphicData>
        </a:graphic>
      </p:graphicFrame>
      <p:pic>
        <p:nvPicPr>
          <p:cNvPr descr="Image result for sastra logo" id="436" name="Google Shape;436;p67"/>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8"/>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The rate of taxation can be regarded as 50% of profits. Which machine can be recommended for purchase?</a:t>
            </a:r>
            <a:endParaRPr/>
          </a:p>
          <a:p>
            <a:pPr indent="0" lvl="0" marL="0" rtl="0" algn="l">
              <a:lnSpc>
                <a:spcPct val="90000"/>
              </a:lnSpc>
              <a:spcBef>
                <a:spcPts val="1000"/>
              </a:spcBef>
              <a:spcAft>
                <a:spcPts val="0"/>
              </a:spcAft>
              <a:buClr>
                <a:schemeClr val="dk1"/>
              </a:buClr>
              <a:buSzPts val="2600"/>
              <a:buNone/>
            </a:pPr>
            <a:r>
              <a:rPr lang="en-IN" sz="2600"/>
              <a:t>Solution:</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Working Note:</a:t>
            </a:r>
            <a:endParaRPr/>
          </a:p>
          <a:p>
            <a:pPr indent="-514350" lvl="0" marL="514350" rtl="0" algn="l">
              <a:lnSpc>
                <a:spcPct val="90000"/>
              </a:lnSpc>
              <a:spcBef>
                <a:spcPts val="1000"/>
              </a:spcBef>
              <a:spcAft>
                <a:spcPts val="0"/>
              </a:spcAft>
              <a:buClr>
                <a:srgbClr val="FF0000"/>
              </a:buClr>
              <a:buSzPts val="2600"/>
              <a:buAutoNum type="arabicPeriod"/>
            </a:pPr>
            <a:r>
              <a:rPr lang="en-IN" sz="2600">
                <a:solidFill>
                  <a:srgbClr val="FF0000"/>
                </a:solidFill>
              </a:rPr>
              <a:t>Computation of depreciation:</a:t>
            </a:r>
            <a:endParaRPr/>
          </a:p>
          <a:p>
            <a:pPr indent="0" lvl="0" marL="0" rtl="0" algn="l">
              <a:lnSpc>
                <a:spcPct val="90000"/>
              </a:lnSpc>
              <a:spcBef>
                <a:spcPts val="1000"/>
              </a:spcBef>
              <a:spcAft>
                <a:spcPts val="0"/>
              </a:spcAft>
              <a:buClr>
                <a:schemeClr val="dk1"/>
              </a:buClr>
              <a:buSzPts val="2600"/>
              <a:buNone/>
            </a:pPr>
            <a:r>
              <a:rPr lang="en-IN" sz="2600"/>
              <a:t>       Machine A = Rs. 3,50,000/7 years  = Rs. 50,000</a:t>
            </a:r>
            <a:endParaRPr/>
          </a:p>
          <a:p>
            <a:pPr indent="0" lvl="0" marL="0" rtl="0" algn="l">
              <a:lnSpc>
                <a:spcPct val="90000"/>
              </a:lnSpc>
              <a:spcBef>
                <a:spcPts val="1000"/>
              </a:spcBef>
              <a:spcAft>
                <a:spcPts val="0"/>
              </a:spcAft>
              <a:buClr>
                <a:schemeClr val="dk1"/>
              </a:buClr>
              <a:buSzPts val="2600"/>
              <a:buNone/>
            </a:pPr>
            <a:r>
              <a:rPr lang="en-IN" sz="2600"/>
              <a:t>       Machine B = Rs. 6,30,000/10 years  = Rs. 63,000</a:t>
            </a:r>
            <a:endParaRPr sz="2600"/>
          </a:p>
        </p:txBody>
      </p:sp>
      <p:pic>
        <p:nvPicPr>
          <p:cNvPr descr="Image result for sastra logo" id="442" name="Google Shape;442;p68"/>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9"/>
          <p:cNvSpPr txBox="1"/>
          <p:nvPr>
            <p:ph idx="1" type="body"/>
          </p:nvPr>
        </p:nvSpPr>
        <p:spPr>
          <a:xfrm>
            <a:off x="838200" y="740229"/>
            <a:ext cx="10515600" cy="5436734"/>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Profitability Statement</a:t>
            </a:r>
            <a:endParaRPr/>
          </a:p>
          <a:p>
            <a:pPr indent="0" lvl="0" marL="0" rtl="0" algn="ctr">
              <a:lnSpc>
                <a:spcPct val="90000"/>
              </a:lnSpc>
              <a:spcBef>
                <a:spcPts val="1000"/>
              </a:spcBef>
              <a:spcAft>
                <a:spcPts val="0"/>
              </a:spcAft>
              <a:buClr>
                <a:srgbClr val="FF0000"/>
              </a:buClr>
              <a:buSzPts val="2800"/>
              <a:buNone/>
            </a:pPr>
            <a:r>
              <a:rPr lang="en-IN">
                <a:solidFill>
                  <a:srgbClr val="FF0000"/>
                </a:solidFill>
              </a:rPr>
              <a:t> </a:t>
            </a:r>
            <a:endParaRPr>
              <a:solidFill>
                <a:srgbClr val="FF0000"/>
              </a:solidFill>
            </a:endParaRPr>
          </a:p>
        </p:txBody>
      </p:sp>
      <p:pic>
        <p:nvPicPr>
          <p:cNvPr id="448" name="Google Shape;448;p69"/>
          <p:cNvPicPr preferRelativeResize="0"/>
          <p:nvPr/>
        </p:nvPicPr>
        <p:blipFill rotWithShape="1">
          <a:blip r:embed="rId3">
            <a:alphaModFix/>
          </a:blip>
          <a:srcRect b="0" l="0" r="0" t="0"/>
          <a:stretch/>
        </p:blipFill>
        <p:spPr>
          <a:xfrm>
            <a:off x="838200" y="1144510"/>
            <a:ext cx="10553091" cy="5352752"/>
          </a:xfrm>
          <a:prstGeom prst="rect">
            <a:avLst/>
          </a:prstGeom>
          <a:noFill/>
          <a:ln>
            <a:noFill/>
          </a:ln>
        </p:spPr>
      </p:pic>
      <p:pic>
        <p:nvPicPr>
          <p:cNvPr descr="Image result for sastra logo" id="449" name="Google Shape;449;p69"/>
          <p:cNvPicPr preferRelativeResize="0"/>
          <p:nvPr/>
        </p:nvPicPr>
        <p:blipFill rotWithShape="1">
          <a:blip r:embed="rId4">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graphicFrame>
        <p:nvGraphicFramePr>
          <p:cNvPr id="454" name="Google Shape;454;p70"/>
          <p:cNvGraphicFramePr/>
          <p:nvPr/>
        </p:nvGraphicFramePr>
        <p:xfrm>
          <a:off x="838200" y="900113"/>
          <a:ext cx="3000000" cy="3000000"/>
        </p:xfrm>
        <a:graphic>
          <a:graphicData uri="http://schemas.openxmlformats.org/drawingml/2006/table">
            <a:tbl>
              <a:tblPr bandRow="1" firstRow="1">
                <a:noFill/>
                <a:tableStyleId>{75140CFC-2FD2-45D3-AD89-D6322BEAE1F3}</a:tableStyleId>
              </a:tblPr>
              <a:tblGrid>
                <a:gridCol w="816425"/>
                <a:gridCol w="4978400"/>
                <a:gridCol w="2409375"/>
                <a:gridCol w="2311400"/>
              </a:tblGrid>
              <a:tr h="370850">
                <a:tc>
                  <a:txBody>
                    <a:bodyPr/>
                    <a:lstStyle/>
                    <a:p>
                      <a:pPr indent="0" lvl="0" marL="0" marR="0" rtl="0" algn="l">
                        <a:spcBef>
                          <a:spcPts val="0"/>
                        </a:spcBef>
                        <a:spcAft>
                          <a:spcPts val="0"/>
                        </a:spcAft>
                        <a:buNone/>
                      </a:pPr>
                      <a:r>
                        <a:t/>
                      </a:r>
                      <a:endParaRPr b="0" sz="2000">
                        <a:solidFill>
                          <a:srgbClr val="FF0000"/>
                        </a:solidFill>
                      </a:endParaRPr>
                    </a:p>
                  </a:txBody>
                  <a:tcPr marT="45725" marB="45725" marR="91450" marL="91450"/>
                </a:tc>
                <a:tc>
                  <a:txBody>
                    <a:bodyPr/>
                    <a:lstStyle/>
                    <a:p>
                      <a:pPr indent="0" lvl="0" marL="0" marR="0" rtl="0" algn="l">
                        <a:spcBef>
                          <a:spcPts val="0"/>
                        </a:spcBef>
                        <a:spcAft>
                          <a:spcPts val="0"/>
                        </a:spcAft>
                        <a:buNone/>
                      </a:pPr>
                      <a:r>
                        <a:rPr b="0" lang="en-IN" sz="2000"/>
                        <a:t>Profit before depreciation and Tax (A-B)</a:t>
                      </a:r>
                      <a:endParaRPr b="0" sz="2000"/>
                    </a:p>
                  </a:txBody>
                  <a:tcPr marT="45725" marB="45725" marR="91450" marL="91450"/>
                </a:tc>
                <a:tc>
                  <a:txBody>
                    <a:bodyPr/>
                    <a:lstStyle/>
                    <a:p>
                      <a:pPr indent="0" lvl="0" marL="0" marR="0" rtl="0" algn="r">
                        <a:spcBef>
                          <a:spcPts val="0"/>
                        </a:spcBef>
                        <a:spcAft>
                          <a:spcPts val="0"/>
                        </a:spcAft>
                        <a:buNone/>
                      </a:pPr>
                      <a:r>
                        <a:rPr b="0" lang="en-IN" sz="2000"/>
                        <a:t>1,28,800</a:t>
                      </a:r>
                      <a:endParaRPr b="0" sz="2000"/>
                    </a:p>
                  </a:txBody>
                  <a:tcPr marT="45725" marB="45725" marR="91450" marL="91450"/>
                </a:tc>
                <a:tc>
                  <a:txBody>
                    <a:bodyPr/>
                    <a:lstStyle/>
                    <a:p>
                      <a:pPr indent="0" lvl="0" marL="0" marR="0" rtl="0" algn="r">
                        <a:spcBef>
                          <a:spcPts val="0"/>
                        </a:spcBef>
                        <a:spcAft>
                          <a:spcPts val="0"/>
                        </a:spcAft>
                        <a:buNone/>
                      </a:pPr>
                      <a:r>
                        <a:rPr b="0" lang="en-IN" sz="2000"/>
                        <a:t>2,88,000</a:t>
                      </a:r>
                      <a:endParaRPr b="0" sz="2000"/>
                    </a:p>
                  </a:txBody>
                  <a:tcPr marT="45725" marB="45725" marR="91450" marL="91450"/>
                </a:tc>
              </a:tr>
              <a:tr h="370850">
                <a:tc>
                  <a:txBody>
                    <a:bodyPr/>
                    <a:lstStyle/>
                    <a:p>
                      <a:pPr indent="0" lvl="0" marL="0" marR="0" rtl="0" algn="l">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Depreciation </a:t>
                      </a:r>
                      <a:endParaRPr sz="2600"/>
                    </a:p>
                  </a:txBody>
                  <a:tcPr marT="45725" marB="45725" marR="91450" marL="91450"/>
                </a:tc>
                <a:tc>
                  <a:txBody>
                    <a:bodyPr/>
                    <a:lstStyle/>
                    <a:p>
                      <a:pPr indent="0" lvl="0" marL="0" marR="0" rtl="0" algn="r">
                        <a:spcBef>
                          <a:spcPts val="0"/>
                        </a:spcBef>
                        <a:spcAft>
                          <a:spcPts val="0"/>
                        </a:spcAft>
                        <a:buNone/>
                      </a:pPr>
                      <a:r>
                        <a:rPr lang="en-IN" sz="2600"/>
                        <a:t>50,000</a:t>
                      </a:r>
                      <a:endParaRPr sz="2600"/>
                    </a:p>
                  </a:txBody>
                  <a:tcPr marT="45725" marB="45725" marR="91450" marL="91450"/>
                </a:tc>
                <a:tc>
                  <a:txBody>
                    <a:bodyPr/>
                    <a:lstStyle/>
                    <a:p>
                      <a:pPr indent="0" lvl="0" marL="0" marR="0" rtl="0" algn="r">
                        <a:spcBef>
                          <a:spcPts val="0"/>
                        </a:spcBef>
                        <a:spcAft>
                          <a:spcPts val="0"/>
                        </a:spcAft>
                        <a:buNone/>
                      </a:pPr>
                      <a:r>
                        <a:rPr lang="en-IN" sz="2600"/>
                        <a:t>63,000</a:t>
                      </a:r>
                      <a:endParaRPr sz="2600"/>
                    </a:p>
                  </a:txBody>
                  <a:tcPr marT="45725" marB="45725" marR="91450" marL="91450"/>
                </a:tc>
              </a:tr>
              <a:tr h="370850">
                <a:tc>
                  <a:txBody>
                    <a:bodyPr/>
                    <a:lstStyle/>
                    <a:p>
                      <a:pPr indent="0" lvl="0" marL="0" marR="0" rtl="0" algn="l">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Profit before tax</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78,800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2,25,000</a:t>
                      </a:r>
                      <a:endParaRPr sz="26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Tax @ 50%</a:t>
                      </a:r>
                      <a:endParaRPr sz="2600"/>
                    </a:p>
                  </a:txBody>
                  <a:tcPr marT="45725" marB="45725" marR="91450" marL="91450"/>
                </a:tc>
                <a:tc>
                  <a:txBody>
                    <a:bodyPr/>
                    <a:lstStyle/>
                    <a:p>
                      <a:pPr indent="0" lvl="0" marL="0" marR="0" rtl="0" algn="r">
                        <a:spcBef>
                          <a:spcPts val="0"/>
                        </a:spcBef>
                        <a:spcAft>
                          <a:spcPts val="0"/>
                        </a:spcAft>
                        <a:buNone/>
                      </a:pPr>
                      <a:r>
                        <a:rPr lang="en-IN" sz="2600"/>
                        <a:t>39,400</a:t>
                      </a:r>
                      <a:endParaRPr sz="2600"/>
                    </a:p>
                  </a:txBody>
                  <a:tcPr marT="45725" marB="45725" marR="91450" marL="91450"/>
                </a:tc>
                <a:tc>
                  <a:txBody>
                    <a:bodyPr/>
                    <a:lstStyle/>
                    <a:p>
                      <a:pPr indent="0" lvl="0" marL="0" marR="0" rtl="0" algn="r">
                        <a:spcBef>
                          <a:spcPts val="0"/>
                        </a:spcBef>
                        <a:spcAft>
                          <a:spcPts val="0"/>
                        </a:spcAft>
                        <a:buNone/>
                      </a:pPr>
                      <a:r>
                        <a:rPr lang="en-IN" sz="2600"/>
                        <a:t>1,12,500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Profit after tax </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39,400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1,12,500</a:t>
                      </a:r>
                      <a:endParaRPr b="1" sz="26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b="0" lang="en-IN" sz="2600"/>
                        <a:t>Return on investment or ARR =</a:t>
                      </a:r>
                      <a:endParaRPr/>
                    </a:p>
                    <a:p>
                      <a:pPr indent="0" lvl="0" marL="0" marR="0" rtl="0" algn="l">
                        <a:spcBef>
                          <a:spcPts val="0"/>
                        </a:spcBef>
                        <a:spcAft>
                          <a:spcPts val="0"/>
                        </a:spcAft>
                        <a:buNone/>
                      </a:pPr>
                      <a:r>
                        <a:rPr b="0" lang="en-IN" sz="2600"/>
                        <a:t>[Average</a:t>
                      </a:r>
                      <a:r>
                        <a:rPr b="0" lang="en-IN" sz="2600"/>
                        <a:t> Profit/Original Investment]×100</a:t>
                      </a:r>
                      <a:endParaRPr b="0" sz="2600"/>
                    </a:p>
                  </a:txBody>
                  <a:tcPr marT="45725" marB="45725" marR="91450" marL="91450"/>
                </a:tc>
                <a:tc>
                  <a:txBody>
                    <a:bodyPr/>
                    <a:lstStyle/>
                    <a:p>
                      <a:pPr indent="0" lvl="0" marL="0" marR="0" rtl="0" algn="r">
                        <a:spcBef>
                          <a:spcPts val="0"/>
                        </a:spcBef>
                        <a:spcAft>
                          <a:spcPts val="0"/>
                        </a:spcAft>
                        <a:buNone/>
                      </a:pPr>
                      <a:r>
                        <a:rPr lang="en-IN" sz="2500"/>
                        <a:t>[Rs. 39,400/</a:t>
                      </a:r>
                      <a:r>
                        <a:rPr lang="en-IN" sz="2500"/>
                        <a:t> Rs. </a:t>
                      </a:r>
                      <a:r>
                        <a:rPr lang="en-IN" sz="2500"/>
                        <a:t>3,50,000]×100</a:t>
                      </a:r>
                      <a:endParaRPr sz="2500"/>
                    </a:p>
                  </a:txBody>
                  <a:tcPr marT="45725" marB="45725" marR="91450" marL="91450"/>
                </a:tc>
                <a:tc>
                  <a:txBody>
                    <a:bodyPr/>
                    <a:lstStyle/>
                    <a:p>
                      <a:pPr indent="0" lvl="0" marL="0" marR="0" rtl="0" algn="r">
                        <a:spcBef>
                          <a:spcPts val="0"/>
                        </a:spcBef>
                        <a:spcAft>
                          <a:spcPts val="0"/>
                        </a:spcAft>
                        <a:buNone/>
                      </a:pPr>
                      <a:r>
                        <a:rPr lang="en-IN" sz="2500"/>
                        <a:t>[Rs.1,12,500/Rs.</a:t>
                      </a:r>
                      <a:r>
                        <a:rPr lang="en-IN" sz="2500"/>
                        <a:t> </a:t>
                      </a:r>
                      <a:r>
                        <a:rPr lang="en-IN" sz="2500"/>
                        <a:t>6,30,000]×100</a:t>
                      </a:r>
                      <a:endParaRPr sz="25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ARR</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11.26%</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17.85%</a:t>
                      </a:r>
                      <a:endParaRPr b="1" sz="2600">
                        <a:solidFill>
                          <a:srgbClr val="FF0000"/>
                        </a:solidFill>
                      </a:endParaRPr>
                    </a:p>
                  </a:txBody>
                  <a:tcPr marT="45725" marB="45725" marR="91450" marL="91450"/>
                </a:tc>
              </a:tr>
              <a:tr h="370850">
                <a:tc gridSpan="4">
                  <a:txBody>
                    <a:bodyPr/>
                    <a:lstStyle/>
                    <a:p>
                      <a:pPr indent="0" lvl="0" marL="0" marR="0" rtl="0" algn="l">
                        <a:spcBef>
                          <a:spcPts val="0"/>
                        </a:spcBef>
                        <a:spcAft>
                          <a:spcPts val="0"/>
                        </a:spcAft>
                        <a:buNone/>
                      </a:pPr>
                      <a:r>
                        <a:rPr b="1" lang="en-IN" sz="2600">
                          <a:solidFill>
                            <a:srgbClr val="FF0000"/>
                          </a:solidFill>
                        </a:rPr>
                        <a:t>Comment: </a:t>
                      </a:r>
                      <a:endParaRPr/>
                    </a:p>
                    <a:p>
                      <a:pPr indent="0" lvl="0" marL="0" marR="0" rtl="0" algn="l">
                        <a:spcBef>
                          <a:spcPts val="0"/>
                        </a:spcBef>
                        <a:spcAft>
                          <a:spcPts val="0"/>
                        </a:spcAft>
                        <a:buNone/>
                      </a:pPr>
                      <a:r>
                        <a:rPr lang="en-IN" sz="2600">
                          <a:solidFill>
                            <a:srgbClr val="FF0000"/>
                          </a:solidFill>
                        </a:rPr>
                        <a:t>Machine B should be recommended.</a:t>
                      </a:r>
                      <a:endParaRPr sz="2600">
                        <a:solidFill>
                          <a:srgbClr val="FF0000"/>
                        </a:solidFill>
                      </a:endParaRPr>
                    </a:p>
                  </a:txBody>
                  <a:tcPr marT="45725" marB="45725" marR="91450" marL="91450"/>
                </a:tc>
                <a:tc hMerge="1"/>
                <a:tc hMerge="1"/>
                <a:tc hMerge="1"/>
              </a:tr>
            </a:tbl>
          </a:graphicData>
        </a:graphic>
      </p:graphicFrame>
      <p:pic>
        <p:nvPicPr>
          <p:cNvPr descr="Image result for sastra logo" id="455" name="Google Shape;455;p70"/>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1"/>
          <p:cNvSpPr txBox="1"/>
          <p:nvPr>
            <p:ph idx="1" type="body"/>
          </p:nvPr>
        </p:nvSpPr>
        <p:spPr>
          <a:xfrm>
            <a:off x="838200" y="856343"/>
            <a:ext cx="10515600" cy="543399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12. X limited is considering the purchase of a new machine to replace a machine which has been in operation in the factory for the last 5 years.</a:t>
            </a:r>
            <a:endParaRPr/>
          </a:p>
          <a:p>
            <a:pPr indent="0" lvl="0" marL="0" rtl="0" algn="just">
              <a:lnSpc>
                <a:spcPct val="90000"/>
              </a:lnSpc>
              <a:spcBef>
                <a:spcPts val="1000"/>
              </a:spcBef>
              <a:spcAft>
                <a:spcPts val="0"/>
              </a:spcAft>
              <a:buClr>
                <a:schemeClr val="dk1"/>
              </a:buClr>
              <a:buSzPts val="2600"/>
              <a:buNone/>
            </a:pPr>
            <a:r>
              <a:rPr lang="en-IN" sz="2600"/>
              <a:t>Ignoring interest but considering tax at 50% of net earnings, suggest which of the two alternatives should be preferred. The following are the details:</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61" name="Google Shape;461;p71"/>
          <p:cNvGraphicFramePr/>
          <p:nvPr/>
        </p:nvGraphicFramePr>
        <p:xfrm>
          <a:off x="838199" y="2602253"/>
          <a:ext cx="3000000" cy="3000000"/>
        </p:xfrm>
        <a:graphic>
          <a:graphicData uri="http://schemas.openxmlformats.org/drawingml/2006/table">
            <a:tbl>
              <a:tblPr bandRow="1" firstRow="1">
                <a:noFill/>
                <a:tableStyleId>{75140CFC-2FD2-45D3-AD89-D6322BEAE1F3}</a:tableStyleId>
              </a:tblPr>
              <a:tblGrid>
                <a:gridCol w="7260775"/>
                <a:gridCol w="1640125"/>
                <a:gridCol w="1614725"/>
              </a:tblGrid>
              <a:tr h="343500">
                <a:tc>
                  <a:txBody>
                    <a:bodyPr/>
                    <a:lstStyle/>
                    <a:p>
                      <a:pPr indent="0" lvl="0" marL="0" marR="0" rtl="0" algn="ctr">
                        <a:spcBef>
                          <a:spcPts val="0"/>
                        </a:spcBef>
                        <a:spcAft>
                          <a:spcPts val="0"/>
                        </a:spcAft>
                        <a:buNone/>
                      </a:pPr>
                      <a:r>
                        <a:rPr lang="en-IN" sz="2000"/>
                        <a:t>Particulars </a:t>
                      </a:r>
                      <a:endParaRPr sz="2000"/>
                    </a:p>
                  </a:txBody>
                  <a:tcPr marT="45725" marB="45725" marR="91450" marL="91450"/>
                </a:tc>
                <a:tc>
                  <a:txBody>
                    <a:bodyPr/>
                    <a:lstStyle/>
                    <a:p>
                      <a:pPr indent="0" lvl="0" marL="0" marR="0" rtl="0" algn="r">
                        <a:spcBef>
                          <a:spcPts val="0"/>
                        </a:spcBef>
                        <a:spcAft>
                          <a:spcPts val="0"/>
                        </a:spcAft>
                        <a:buNone/>
                      </a:pPr>
                      <a:r>
                        <a:rPr lang="en-IN" sz="2000"/>
                        <a:t>Old Machine </a:t>
                      </a:r>
                      <a:endParaRPr sz="2000"/>
                    </a:p>
                  </a:txBody>
                  <a:tcPr marT="45725" marB="45725" marR="91450" marL="91450"/>
                </a:tc>
                <a:tc>
                  <a:txBody>
                    <a:bodyPr/>
                    <a:lstStyle/>
                    <a:p>
                      <a:pPr indent="0" lvl="0" marL="0" marR="0" rtl="0" algn="r">
                        <a:spcBef>
                          <a:spcPts val="0"/>
                        </a:spcBef>
                        <a:spcAft>
                          <a:spcPts val="0"/>
                        </a:spcAft>
                        <a:buNone/>
                      </a:pPr>
                      <a:r>
                        <a:rPr lang="en-IN" sz="2000"/>
                        <a:t>New machine</a:t>
                      </a:r>
                      <a:endParaRPr sz="2000"/>
                    </a:p>
                  </a:txBody>
                  <a:tcPr marT="45725" marB="45725" marR="91450" marL="91450"/>
                </a:tc>
              </a:tr>
              <a:tr h="343500">
                <a:tc>
                  <a:txBody>
                    <a:bodyPr/>
                    <a:lstStyle/>
                    <a:p>
                      <a:pPr indent="0" lvl="0" marL="0" marR="0" rtl="0" algn="l">
                        <a:spcBef>
                          <a:spcPts val="0"/>
                        </a:spcBef>
                        <a:spcAft>
                          <a:spcPts val="0"/>
                        </a:spcAft>
                        <a:buNone/>
                      </a:pPr>
                      <a:r>
                        <a:rPr lang="en-IN" sz="2600"/>
                        <a:t>Purchase price </a:t>
                      </a:r>
                      <a:endParaRPr sz="2600"/>
                    </a:p>
                  </a:txBody>
                  <a:tcPr marT="45725" marB="45725" marR="91450" marL="91450"/>
                </a:tc>
                <a:tc>
                  <a:txBody>
                    <a:bodyPr/>
                    <a:lstStyle/>
                    <a:p>
                      <a:pPr indent="0" lvl="0" marL="0" marR="0" rtl="0" algn="r">
                        <a:spcBef>
                          <a:spcPts val="0"/>
                        </a:spcBef>
                        <a:spcAft>
                          <a:spcPts val="0"/>
                        </a:spcAft>
                        <a:buNone/>
                      </a:pPr>
                      <a:r>
                        <a:rPr lang="en-IN" sz="2600"/>
                        <a:t>Rs. 40,000</a:t>
                      </a:r>
                      <a:endParaRPr sz="2600"/>
                    </a:p>
                  </a:txBody>
                  <a:tcPr marT="45725" marB="45725" marR="91450" marL="91450"/>
                </a:tc>
                <a:tc>
                  <a:txBody>
                    <a:bodyPr/>
                    <a:lstStyle/>
                    <a:p>
                      <a:pPr indent="0" lvl="0" marL="0" marR="0" rtl="0" algn="r">
                        <a:spcBef>
                          <a:spcPts val="0"/>
                        </a:spcBef>
                        <a:spcAft>
                          <a:spcPts val="0"/>
                        </a:spcAft>
                        <a:buNone/>
                      </a:pPr>
                      <a:r>
                        <a:rPr lang="en-IN" sz="2600"/>
                        <a:t>Rs. 60,000</a:t>
                      </a:r>
                      <a:endParaRPr sz="2600"/>
                    </a:p>
                  </a:txBody>
                  <a:tcPr marT="45725" marB="45725" marR="91450" marL="91450"/>
                </a:tc>
              </a:tr>
              <a:tr h="343500">
                <a:tc>
                  <a:txBody>
                    <a:bodyPr/>
                    <a:lstStyle/>
                    <a:p>
                      <a:pPr indent="0" lvl="0" marL="0" marR="0" rtl="0" algn="l">
                        <a:spcBef>
                          <a:spcPts val="0"/>
                        </a:spcBef>
                        <a:spcAft>
                          <a:spcPts val="0"/>
                        </a:spcAft>
                        <a:buNone/>
                      </a:pPr>
                      <a:r>
                        <a:rPr lang="en-IN" sz="2600"/>
                        <a:t>Estimated</a:t>
                      </a:r>
                      <a:r>
                        <a:rPr lang="en-IN" sz="2600"/>
                        <a:t> life of machine</a:t>
                      </a:r>
                      <a:endParaRPr sz="2600"/>
                    </a:p>
                  </a:txBody>
                  <a:tcPr marT="45725" marB="45725" marR="91450" marL="91450"/>
                </a:tc>
                <a:tc>
                  <a:txBody>
                    <a:bodyPr/>
                    <a:lstStyle/>
                    <a:p>
                      <a:pPr indent="0" lvl="0" marL="0" marR="0" rtl="0" algn="r">
                        <a:spcBef>
                          <a:spcPts val="0"/>
                        </a:spcBef>
                        <a:spcAft>
                          <a:spcPts val="0"/>
                        </a:spcAft>
                        <a:buNone/>
                      </a:pPr>
                      <a:r>
                        <a:rPr lang="en-IN" sz="2600"/>
                        <a:t>10 years</a:t>
                      </a:r>
                      <a:endParaRPr sz="2600"/>
                    </a:p>
                  </a:txBody>
                  <a:tcPr marT="45725" marB="45725" marR="91450" marL="91450"/>
                </a:tc>
                <a:tc>
                  <a:txBody>
                    <a:bodyPr/>
                    <a:lstStyle/>
                    <a:p>
                      <a:pPr indent="0" lvl="0" marL="0" marR="0" rtl="0" algn="r">
                        <a:spcBef>
                          <a:spcPts val="0"/>
                        </a:spcBef>
                        <a:spcAft>
                          <a:spcPts val="0"/>
                        </a:spcAft>
                        <a:buNone/>
                      </a:pPr>
                      <a:r>
                        <a:rPr lang="en-IN" sz="2600"/>
                        <a:t>10 years </a:t>
                      </a:r>
                      <a:endParaRPr sz="2600"/>
                    </a:p>
                  </a:txBody>
                  <a:tcPr marT="45725" marB="45725" marR="91450" marL="91450"/>
                </a:tc>
              </a:tr>
              <a:tr h="343500">
                <a:tc>
                  <a:txBody>
                    <a:bodyPr/>
                    <a:lstStyle/>
                    <a:p>
                      <a:pPr indent="0" lvl="0" marL="0" marR="0" rtl="0" algn="l">
                        <a:spcBef>
                          <a:spcPts val="0"/>
                        </a:spcBef>
                        <a:spcAft>
                          <a:spcPts val="0"/>
                        </a:spcAft>
                        <a:buNone/>
                      </a:pPr>
                      <a:r>
                        <a:rPr lang="en-IN" sz="2600"/>
                        <a:t>Machine running hours p.a.</a:t>
                      </a:r>
                      <a:endParaRPr sz="2600"/>
                    </a:p>
                  </a:txBody>
                  <a:tcPr marT="45725" marB="45725" marR="91450" marL="91450"/>
                </a:tc>
                <a:tc>
                  <a:txBody>
                    <a:bodyPr/>
                    <a:lstStyle/>
                    <a:p>
                      <a:pPr indent="0" lvl="0" marL="0" marR="0" rtl="0" algn="r">
                        <a:spcBef>
                          <a:spcPts val="0"/>
                        </a:spcBef>
                        <a:spcAft>
                          <a:spcPts val="0"/>
                        </a:spcAft>
                        <a:buNone/>
                      </a:pPr>
                      <a:r>
                        <a:rPr lang="en-IN" sz="2600"/>
                        <a:t>2,000</a:t>
                      </a:r>
                      <a:endParaRPr sz="2600"/>
                    </a:p>
                  </a:txBody>
                  <a:tcPr marT="45725" marB="45725" marR="91450" marL="91450"/>
                </a:tc>
                <a:tc>
                  <a:txBody>
                    <a:bodyPr/>
                    <a:lstStyle/>
                    <a:p>
                      <a:pPr indent="0" lvl="0" marL="0" marR="0" rtl="0" algn="r">
                        <a:spcBef>
                          <a:spcPts val="0"/>
                        </a:spcBef>
                        <a:spcAft>
                          <a:spcPts val="0"/>
                        </a:spcAft>
                        <a:buNone/>
                      </a:pPr>
                      <a:r>
                        <a:rPr lang="en-IN" sz="2600"/>
                        <a:t>2,000</a:t>
                      </a:r>
                      <a:endParaRPr sz="2600"/>
                    </a:p>
                  </a:txBody>
                  <a:tcPr marT="45725" marB="45725" marR="91450" marL="91450"/>
                </a:tc>
              </a:tr>
              <a:tr h="343500">
                <a:tc>
                  <a:txBody>
                    <a:bodyPr/>
                    <a:lstStyle/>
                    <a:p>
                      <a:pPr indent="0" lvl="0" marL="0" marR="0" rtl="0" algn="l">
                        <a:spcBef>
                          <a:spcPts val="0"/>
                        </a:spcBef>
                        <a:spcAft>
                          <a:spcPts val="0"/>
                        </a:spcAft>
                        <a:buNone/>
                      </a:pPr>
                      <a:r>
                        <a:rPr lang="en-IN" sz="2600"/>
                        <a:t>Units per hour</a:t>
                      </a:r>
                      <a:endParaRPr sz="2600"/>
                    </a:p>
                  </a:txBody>
                  <a:tcPr marT="45725" marB="45725" marR="91450" marL="91450"/>
                </a:tc>
                <a:tc>
                  <a:txBody>
                    <a:bodyPr/>
                    <a:lstStyle/>
                    <a:p>
                      <a:pPr indent="0" lvl="0" marL="0" marR="0" rtl="0" algn="r">
                        <a:spcBef>
                          <a:spcPts val="0"/>
                        </a:spcBef>
                        <a:spcAft>
                          <a:spcPts val="0"/>
                        </a:spcAft>
                        <a:buNone/>
                      </a:pPr>
                      <a:r>
                        <a:rPr lang="en-IN" sz="2600"/>
                        <a:t>24</a:t>
                      </a:r>
                      <a:endParaRPr sz="2600"/>
                    </a:p>
                  </a:txBody>
                  <a:tcPr marT="45725" marB="45725" marR="91450" marL="91450"/>
                </a:tc>
                <a:tc>
                  <a:txBody>
                    <a:bodyPr/>
                    <a:lstStyle/>
                    <a:p>
                      <a:pPr indent="0" lvl="0" marL="0" marR="0" rtl="0" algn="r">
                        <a:spcBef>
                          <a:spcPts val="0"/>
                        </a:spcBef>
                        <a:spcAft>
                          <a:spcPts val="0"/>
                        </a:spcAft>
                        <a:buNone/>
                      </a:pPr>
                      <a:r>
                        <a:rPr lang="en-IN" sz="2600"/>
                        <a:t>36</a:t>
                      </a:r>
                      <a:endParaRPr sz="2600"/>
                    </a:p>
                  </a:txBody>
                  <a:tcPr marT="45725" marB="45725" marR="91450" marL="91450"/>
                </a:tc>
              </a:tr>
              <a:tr h="343500">
                <a:tc>
                  <a:txBody>
                    <a:bodyPr/>
                    <a:lstStyle/>
                    <a:p>
                      <a:pPr indent="0" lvl="0" marL="0" marR="0" rtl="0" algn="l">
                        <a:spcBef>
                          <a:spcPts val="0"/>
                        </a:spcBef>
                        <a:spcAft>
                          <a:spcPts val="0"/>
                        </a:spcAft>
                        <a:buNone/>
                      </a:pPr>
                      <a:r>
                        <a:rPr lang="en-IN" sz="2600"/>
                        <a:t>Wages per running hour (Rs.)</a:t>
                      </a:r>
                      <a:endParaRPr sz="2600"/>
                    </a:p>
                  </a:txBody>
                  <a:tcPr marT="45725" marB="45725" marR="91450" marL="91450"/>
                </a:tc>
                <a:tc>
                  <a:txBody>
                    <a:bodyPr/>
                    <a:lstStyle/>
                    <a:p>
                      <a:pPr indent="0" lvl="0" marL="0" marR="0" rtl="0" algn="r">
                        <a:spcBef>
                          <a:spcPts val="0"/>
                        </a:spcBef>
                        <a:spcAft>
                          <a:spcPts val="0"/>
                        </a:spcAft>
                        <a:buNone/>
                      </a:pPr>
                      <a:r>
                        <a:rPr lang="en-IN" sz="2600"/>
                        <a:t>2</a:t>
                      </a:r>
                      <a:endParaRPr sz="2600"/>
                    </a:p>
                  </a:txBody>
                  <a:tcPr marT="45725" marB="45725" marR="91450" marL="91450"/>
                </a:tc>
                <a:tc>
                  <a:txBody>
                    <a:bodyPr/>
                    <a:lstStyle/>
                    <a:p>
                      <a:pPr indent="0" lvl="0" marL="0" marR="0" rtl="0" algn="r">
                        <a:spcBef>
                          <a:spcPts val="0"/>
                        </a:spcBef>
                        <a:spcAft>
                          <a:spcPts val="0"/>
                        </a:spcAft>
                        <a:buNone/>
                      </a:pPr>
                      <a:r>
                        <a:rPr lang="en-IN" sz="2600"/>
                        <a:t>5.25</a:t>
                      </a:r>
                      <a:endParaRPr sz="2600"/>
                    </a:p>
                  </a:txBody>
                  <a:tcPr marT="45725" marB="45725" marR="91450" marL="91450"/>
                </a:tc>
              </a:tr>
              <a:tr h="343500">
                <a:tc>
                  <a:txBody>
                    <a:bodyPr/>
                    <a:lstStyle/>
                    <a:p>
                      <a:pPr indent="0" lvl="0" marL="0" marR="0" rtl="0" algn="l">
                        <a:spcBef>
                          <a:spcPts val="0"/>
                        </a:spcBef>
                        <a:spcAft>
                          <a:spcPts val="0"/>
                        </a:spcAft>
                        <a:buNone/>
                      </a:pPr>
                      <a:r>
                        <a:rPr lang="en-IN" sz="2600"/>
                        <a:t>Power p.a.</a:t>
                      </a:r>
                      <a:endParaRPr sz="2600"/>
                    </a:p>
                  </a:txBody>
                  <a:tcPr marT="45725" marB="45725" marR="91450" marL="91450"/>
                </a:tc>
                <a:tc>
                  <a:txBody>
                    <a:bodyPr/>
                    <a:lstStyle/>
                    <a:p>
                      <a:pPr indent="0" lvl="0" marL="0" marR="0" rtl="0" algn="r">
                        <a:spcBef>
                          <a:spcPts val="0"/>
                        </a:spcBef>
                        <a:spcAft>
                          <a:spcPts val="0"/>
                        </a:spcAft>
                        <a:buNone/>
                      </a:pPr>
                      <a:r>
                        <a:rPr lang="en-IN" sz="2600"/>
                        <a:t>2,000</a:t>
                      </a:r>
                      <a:endParaRPr sz="2600"/>
                    </a:p>
                  </a:txBody>
                  <a:tcPr marT="45725" marB="45725" marR="91450" marL="91450"/>
                </a:tc>
                <a:tc>
                  <a:txBody>
                    <a:bodyPr/>
                    <a:lstStyle/>
                    <a:p>
                      <a:pPr indent="0" lvl="0" marL="0" marR="0" rtl="0" algn="r">
                        <a:spcBef>
                          <a:spcPts val="0"/>
                        </a:spcBef>
                        <a:spcAft>
                          <a:spcPts val="0"/>
                        </a:spcAft>
                        <a:buNone/>
                      </a:pPr>
                      <a:r>
                        <a:rPr lang="en-IN" sz="2600"/>
                        <a:t>4,500</a:t>
                      </a:r>
                      <a:endParaRPr sz="2600"/>
                    </a:p>
                  </a:txBody>
                  <a:tcPr marT="45725" marB="45725" marR="91450" marL="91450"/>
                </a:tc>
              </a:tr>
            </a:tbl>
          </a:graphicData>
        </a:graphic>
      </p:graphicFrame>
      <p:pic>
        <p:nvPicPr>
          <p:cNvPr descr="Image result for sastra logo" id="462" name="Google Shape;462;p71"/>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2"/>
          <p:cNvSpPr txBox="1"/>
          <p:nvPr>
            <p:ph idx="1" type="body"/>
          </p:nvPr>
        </p:nvSpPr>
        <p:spPr>
          <a:xfrm>
            <a:off x="838200" y="1016000"/>
            <a:ext cx="10515600" cy="51609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600"/>
              <a:buNone/>
            </a:pPr>
            <a:r>
              <a:rPr lang="en-IN" sz="2600"/>
              <a:t>You may assume that the above information regarding sales and coat of sales will hold good throughout the economic life of the machine. Depreciation has to be charged accordingly to SLM. Calculate ARR and to give relevant comment to the management.</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68" name="Google Shape;468;p72"/>
          <p:cNvGraphicFramePr/>
          <p:nvPr/>
        </p:nvGraphicFramePr>
        <p:xfrm>
          <a:off x="838200" y="1016000"/>
          <a:ext cx="3000000" cy="3000000"/>
        </p:xfrm>
        <a:graphic>
          <a:graphicData uri="http://schemas.openxmlformats.org/drawingml/2006/table">
            <a:tbl>
              <a:tblPr bandRow="1" firstRow="1">
                <a:noFill/>
                <a:tableStyleId>{75140CFC-2FD2-45D3-AD89-D6322BEAE1F3}</a:tableStyleId>
              </a:tblPr>
              <a:tblGrid>
                <a:gridCol w="8227425"/>
                <a:gridCol w="1201775"/>
                <a:gridCol w="1086400"/>
              </a:tblGrid>
              <a:tr h="370850">
                <a:tc>
                  <a:txBody>
                    <a:bodyPr/>
                    <a:lstStyle/>
                    <a:p>
                      <a:pPr indent="0" lvl="0" marL="0" marR="0" rtl="0" algn="l">
                        <a:spcBef>
                          <a:spcPts val="0"/>
                        </a:spcBef>
                        <a:spcAft>
                          <a:spcPts val="0"/>
                        </a:spcAft>
                        <a:buNone/>
                      </a:pPr>
                      <a:r>
                        <a:rPr lang="en-IN" sz="2500"/>
                        <a:t>Consumable stores p.a.</a:t>
                      </a:r>
                      <a:endParaRPr sz="2500"/>
                    </a:p>
                  </a:txBody>
                  <a:tcPr marT="45725" marB="45725" marR="91450" marL="91450"/>
                </a:tc>
                <a:tc>
                  <a:txBody>
                    <a:bodyPr/>
                    <a:lstStyle/>
                    <a:p>
                      <a:pPr indent="0" lvl="0" marL="0" marR="0" rtl="0" algn="r">
                        <a:spcBef>
                          <a:spcPts val="0"/>
                        </a:spcBef>
                        <a:spcAft>
                          <a:spcPts val="0"/>
                        </a:spcAft>
                        <a:buNone/>
                      </a:pPr>
                      <a:r>
                        <a:rPr lang="en-IN" sz="2500"/>
                        <a:t>6,000</a:t>
                      </a:r>
                      <a:endParaRPr sz="2500"/>
                    </a:p>
                  </a:txBody>
                  <a:tcPr marT="45725" marB="45725" marR="91450" marL="91450"/>
                </a:tc>
                <a:tc>
                  <a:txBody>
                    <a:bodyPr/>
                    <a:lstStyle/>
                    <a:p>
                      <a:pPr indent="0" lvl="0" marL="0" marR="0" rtl="0" algn="r">
                        <a:spcBef>
                          <a:spcPts val="0"/>
                        </a:spcBef>
                        <a:spcAft>
                          <a:spcPts val="0"/>
                        </a:spcAft>
                        <a:buNone/>
                      </a:pPr>
                      <a:r>
                        <a:rPr lang="en-IN" sz="2500"/>
                        <a:t>7,500</a:t>
                      </a:r>
                      <a:endParaRPr sz="2500"/>
                    </a:p>
                  </a:txBody>
                  <a:tcPr marT="45725" marB="45725" marR="91450" marL="91450"/>
                </a:tc>
              </a:tr>
              <a:tr h="370850">
                <a:tc>
                  <a:txBody>
                    <a:bodyPr/>
                    <a:lstStyle/>
                    <a:p>
                      <a:pPr indent="0" lvl="0" marL="0" marR="0" rtl="0" algn="l">
                        <a:spcBef>
                          <a:spcPts val="0"/>
                        </a:spcBef>
                        <a:spcAft>
                          <a:spcPts val="0"/>
                        </a:spcAft>
                        <a:buNone/>
                      </a:pPr>
                      <a:r>
                        <a:rPr lang="en-IN" sz="2500"/>
                        <a:t>All other charges</a:t>
                      </a:r>
                      <a:r>
                        <a:rPr lang="en-IN" sz="2500"/>
                        <a:t> p.a.</a:t>
                      </a:r>
                      <a:endParaRPr sz="2500"/>
                    </a:p>
                  </a:txBody>
                  <a:tcPr marT="45725" marB="45725" marR="91450" marL="91450"/>
                </a:tc>
                <a:tc>
                  <a:txBody>
                    <a:bodyPr/>
                    <a:lstStyle/>
                    <a:p>
                      <a:pPr indent="0" lvl="0" marL="0" marR="0" rtl="0" algn="r">
                        <a:spcBef>
                          <a:spcPts val="0"/>
                        </a:spcBef>
                        <a:spcAft>
                          <a:spcPts val="0"/>
                        </a:spcAft>
                        <a:buNone/>
                      </a:pPr>
                      <a:r>
                        <a:rPr lang="en-IN" sz="2500"/>
                        <a:t>8,000</a:t>
                      </a:r>
                      <a:endParaRPr sz="2500"/>
                    </a:p>
                  </a:txBody>
                  <a:tcPr marT="45725" marB="45725" marR="91450" marL="91450"/>
                </a:tc>
                <a:tc>
                  <a:txBody>
                    <a:bodyPr/>
                    <a:lstStyle/>
                    <a:p>
                      <a:pPr indent="0" lvl="0" marL="0" marR="0" rtl="0" algn="r">
                        <a:spcBef>
                          <a:spcPts val="0"/>
                        </a:spcBef>
                        <a:spcAft>
                          <a:spcPts val="0"/>
                        </a:spcAft>
                        <a:buNone/>
                      </a:pPr>
                      <a:r>
                        <a:rPr lang="en-IN" sz="2500"/>
                        <a:t>9,000</a:t>
                      </a:r>
                      <a:endParaRPr sz="2500"/>
                    </a:p>
                  </a:txBody>
                  <a:tcPr marT="45725" marB="45725" marR="91450" marL="91450"/>
                </a:tc>
              </a:tr>
              <a:tr h="370850">
                <a:tc>
                  <a:txBody>
                    <a:bodyPr/>
                    <a:lstStyle/>
                    <a:p>
                      <a:pPr indent="0" lvl="0" marL="0" marR="0" rtl="0" algn="l">
                        <a:spcBef>
                          <a:spcPts val="0"/>
                        </a:spcBef>
                        <a:spcAft>
                          <a:spcPts val="0"/>
                        </a:spcAft>
                        <a:buNone/>
                      </a:pPr>
                      <a:r>
                        <a:rPr lang="en-IN" sz="2500"/>
                        <a:t>Material cost per unit</a:t>
                      </a:r>
                      <a:endParaRPr sz="2500"/>
                    </a:p>
                  </a:txBody>
                  <a:tcPr marT="45725" marB="45725" marR="91450" marL="91450"/>
                </a:tc>
                <a:tc>
                  <a:txBody>
                    <a:bodyPr/>
                    <a:lstStyle/>
                    <a:p>
                      <a:pPr indent="0" lvl="0" marL="0" marR="0" rtl="0" algn="r">
                        <a:spcBef>
                          <a:spcPts val="0"/>
                        </a:spcBef>
                        <a:spcAft>
                          <a:spcPts val="0"/>
                        </a:spcAft>
                        <a:buNone/>
                      </a:pPr>
                      <a:r>
                        <a:rPr lang="en-IN" sz="2500"/>
                        <a:t>0.50</a:t>
                      </a:r>
                      <a:endParaRPr sz="2500"/>
                    </a:p>
                  </a:txBody>
                  <a:tcPr marT="45725" marB="45725" marR="91450" marL="91450"/>
                </a:tc>
                <a:tc>
                  <a:txBody>
                    <a:bodyPr/>
                    <a:lstStyle/>
                    <a:p>
                      <a:pPr indent="0" lvl="0" marL="0" marR="0" rtl="0" algn="r">
                        <a:spcBef>
                          <a:spcPts val="0"/>
                        </a:spcBef>
                        <a:spcAft>
                          <a:spcPts val="0"/>
                        </a:spcAft>
                        <a:buNone/>
                      </a:pPr>
                      <a:r>
                        <a:rPr lang="en-IN" sz="2500"/>
                        <a:t>0.50</a:t>
                      </a:r>
                      <a:endParaRPr sz="2500"/>
                    </a:p>
                  </a:txBody>
                  <a:tcPr marT="45725" marB="45725" marR="91450" marL="91450"/>
                </a:tc>
              </a:tr>
              <a:tr h="370850">
                <a:tc>
                  <a:txBody>
                    <a:bodyPr/>
                    <a:lstStyle/>
                    <a:p>
                      <a:pPr indent="0" lvl="0" marL="0" marR="0" rtl="0" algn="l">
                        <a:spcBef>
                          <a:spcPts val="0"/>
                        </a:spcBef>
                        <a:spcAft>
                          <a:spcPts val="0"/>
                        </a:spcAft>
                        <a:buNone/>
                      </a:pPr>
                      <a:r>
                        <a:rPr lang="en-IN" sz="2500"/>
                        <a:t>Selling price per</a:t>
                      </a:r>
                      <a:r>
                        <a:rPr lang="en-IN" sz="2500"/>
                        <a:t> unit</a:t>
                      </a:r>
                      <a:endParaRPr sz="2500"/>
                    </a:p>
                  </a:txBody>
                  <a:tcPr marT="45725" marB="45725" marR="91450" marL="91450"/>
                </a:tc>
                <a:tc>
                  <a:txBody>
                    <a:bodyPr/>
                    <a:lstStyle/>
                    <a:p>
                      <a:pPr indent="0" lvl="0" marL="0" marR="0" rtl="0" algn="r">
                        <a:spcBef>
                          <a:spcPts val="0"/>
                        </a:spcBef>
                        <a:spcAft>
                          <a:spcPts val="0"/>
                        </a:spcAft>
                        <a:buNone/>
                      </a:pPr>
                      <a:r>
                        <a:rPr lang="en-IN" sz="2500"/>
                        <a:t>1.25</a:t>
                      </a:r>
                      <a:endParaRPr sz="2500"/>
                    </a:p>
                  </a:txBody>
                  <a:tcPr marT="45725" marB="45725" marR="91450" marL="91450"/>
                </a:tc>
                <a:tc>
                  <a:txBody>
                    <a:bodyPr/>
                    <a:lstStyle/>
                    <a:p>
                      <a:pPr indent="0" lvl="0" marL="0" marR="0" rtl="0" algn="r">
                        <a:spcBef>
                          <a:spcPts val="0"/>
                        </a:spcBef>
                        <a:spcAft>
                          <a:spcPts val="0"/>
                        </a:spcAft>
                        <a:buNone/>
                      </a:pPr>
                      <a:r>
                        <a:rPr lang="en-IN" sz="2500"/>
                        <a:t>1.25</a:t>
                      </a:r>
                      <a:endParaRPr sz="2500"/>
                    </a:p>
                  </a:txBody>
                  <a:tcPr marT="45725" marB="45725" marR="91450" marL="91450"/>
                </a:tc>
              </a:tr>
            </a:tbl>
          </a:graphicData>
        </a:graphic>
      </p:graphicFrame>
      <p:pic>
        <p:nvPicPr>
          <p:cNvPr descr="Image result for sastra logo" id="469" name="Google Shape;469;p7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3"/>
          <p:cNvSpPr txBox="1"/>
          <p:nvPr>
            <p:ph idx="1" type="body"/>
          </p:nvPr>
        </p:nvSpPr>
        <p:spPr>
          <a:xfrm>
            <a:off x="838200" y="885371"/>
            <a:ext cx="10515600" cy="5291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lang="en-IN" sz="2600">
                <a:solidFill>
                  <a:srgbClr val="FF0000"/>
                </a:solidFill>
              </a:rPr>
              <a:t>Solution:</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Working Note:</a:t>
            </a:r>
            <a:endParaRPr/>
          </a:p>
          <a:p>
            <a:pPr indent="-514350" lvl="0" marL="514350" rtl="0" algn="l">
              <a:lnSpc>
                <a:spcPct val="90000"/>
              </a:lnSpc>
              <a:spcBef>
                <a:spcPts val="1000"/>
              </a:spcBef>
              <a:spcAft>
                <a:spcPts val="0"/>
              </a:spcAft>
              <a:buClr>
                <a:srgbClr val="FF0000"/>
              </a:buClr>
              <a:buSzPts val="2600"/>
              <a:buAutoNum type="arabicPeriod"/>
            </a:pPr>
            <a:r>
              <a:rPr lang="en-IN" sz="2600">
                <a:solidFill>
                  <a:srgbClr val="FF0000"/>
                </a:solidFill>
              </a:rPr>
              <a:t>Calculation of No.of units produced:</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Units Produced = Running hours × Units per hour</a:t>
            </a:r>
            <a:endParaRPr/>
          </a:p>
          <a:p>
            <a:pPr indent="0" lvl="0" marL="0" rtl="0" algn="l">
              <a:lnSpc>
                <a:spcPct val="90000"/>
              </a:lnSpc>
              <a:spcBef>
                <a:spcPts val="1000"/>
              </a:spcBef>
              <a:spcAft>
                <a:spcPts val="0"/>
              </a:spcAft>
              <a:buClr>
                <a:schemeClr val="dk1"/>
              </a:buClr>
              <a:buSzPts val="2600"/>
              <a:buNone/>
            </a:pPr>
            <a:r>
              <a:rPr lang="en-IN" sz="2600"/>
              <a:t>       Old machine = 2,000 × 24 = 48,000 units</a:t>
            </a:r>
            <a:endParaRPr/>
          </a:p>
          <a:p>
            <a:pPr indent="0" lvl="0" marL="0" rtl="0" algn="l">
              <a:lnSpc>
                <a:spcPct val="90000"/>
              </a:lnSpc>
              <a:spcBef>
                <a:spcPts val="1000"/>
              </a:spcBef>
              <a:spcAft>
                <a:spcPts val="0"/>
              </a:spcAft>
              <a:buClr>
                <a:schemeClr val="dk1"/>
              </a:buClr>
              <a:buSzPts val="2600"/>
              <a:buNone/>
            </a:pPr>
            <a:r>
              <a:rPr lang="en-IN" sz="2600"/>
              <a:t>       New machine = 2,000 × 36 = 72,000 units</a:t>
            </a:r>
            <a:endParaRPr/>
          </a:p>
        </p:txBody>
      </p:sp>
      <p:pic>
        <p:nvPicPr>
          <p:cNvPr descr="Image result for sastra logo" id="475" name="Google Shape;475;p73"/>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4"/>
          <p:cNvSpPr txBox="1"/>
          <p:nvPr>
            <p:ph idx="1" type="body"/>
          </p:nvPr>
        </p:nvSpPr>
        <p:spPr>
          <a:xfrm>
            <a:off x="838199" y="783772"/>
            <a:ext cx="10515600" cy="540770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Profitability Statement</a:t>
            </a:r>
            <a:endParaRPr/>
          </a:p>
          <a:p>
            <a:pPr indent="0" lvl="0" marL="0" rtl="0" algn="ctr">
              <a:lnSpc>
                <a:spcPct val="90000"/>
              </a:lnSpc>
              <a:spcBef>
                <a:spcPts val="1000"/>
              </a:spcBef>
              <a:spcAft>
                <a:spcPts val="0"/>
              </a:spcAft>
              <a:buClr>
                <a:schemeClr val="dk1"/>
              </a:buClr>
              <a:buSzPts val="2800"/>
              <a:buNone/>
            </a:pPr>
            <a:r>
              <a:t/>
            </a:r>
            <a:endParaRPr/>
          </a:p>
        </p:txBody>
      </p:sp>
      <p:graphicFrame>
        <p:nvGraphicFramePr>
          <p:cNvPr id="481" name="Google Shape;481;p74"/>
          <p:cNvGraphicFramePr/>
          <p:nvPr/>
        </p:nvGraphicFramePr>
        <p:xfrm>
          <a:off x="838199" y="1238478"/>
          <a:ext cx="3000000" cy="3000000"/>
        </p:xfrm>
        <a:graphic>
          <a:graphicData uri="http://schemas.openxmlformats.org/drawingml/2006/table">
            <a:tbl>
              <a:tblPr bandRow="1" firstRow="1">
                <a:noFill/>
                <a:tableStyleId>{75140CFC-2FD2-45D3-AD89-D6322BEAE1F3}</a:tableStyleId>
              </a:tblPr>
              <a:tblGrid>
                <a:gridCol w="787400"/>
                <a:gridCol w="6923325"/>
                <a:gridCol w="1436925"/>
                <a:gridCol w="1367975"/>
              </a:tblGrid>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t/>
                      </a:r>
                      <a:endParaRPr sz="1800"/>
                    </a:p>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ctr">
                        <a:spcBef>
                          <a:spcPts val="0"/>
                        </a:spcBef>
                        <a:spcAft>
                          <a:spcPts val="0"/>
                        </a:spcAft>
                        <a:buNone/>
                      </a:pPr>
                      <a:r>
                        <a:rPr lang="en-IN" sz="1800"/>
                        <a:t>Old </a:t>
                      </a:r>
                      <a:endParaRPr/>
                    </a:p>
                    <a:p>
                      <a:pPr indent="0" lvl="0" marL="0" marR="0" rtl="0" algn="ctr">
                        <a:spcBef>
                          <a:spcPts val="0"/>
                        </a:spcBef>
                        <a:spcAft>
                          <a:spcPts val="0"/>
                        </a:spcAft>
                        <a:buNone/>
                      </a:pPr>
                      <a:r>
                        <a:rPr lang="en-IN" sz="1800"/>
                        <a:t>Machine</a:t>
                      </a:r>
                      <a:endParaRPr/>
                    </a:p>
                    <a:p>
                      <a:pPr indent="0" lvl="0" marL="0" marR="0" rtl="0" algn="ctr">
                        <a:spcBef>
                          <a:spcPts val="0"/>
                        </a:spcBef>
                        <a:spcAft>
                          <a:spcPts val="0"/>
                        </a:spcAft>
                        <a:buNone/>
                      </a:pPr>
                      <a:r>
                        <a:rPr lang="en-IN" sz="1800"/>
                        <a:t>Rs.  </a:t>
                      </a:r>
                      <a:endParaRPr sz="1800"/>
                    </a:p>
                  </a:txBody>
                  <a:tcPr marT="45725" marB="45725" marR="91450" marL="91450"/>
                </a:tc>
                <a:tc>
                  <a:txBody>
                    <a:bodyPr/>
                    <a:lstStyle/>
                    <a:p>
                      <a:pPr indent="0" lvl="0" marL="0" marR="0" rtl="0" algn="ctr">
                        <a:spcBef>
                          <a:spcPts val="0"/>
                        </a:spcBef>
                        <a:spcAft>
                          <a:spcPts val="0"/>
                        </a:spcAft>
                        <a:buNone/>
                      </a:pPr>
                      <a:r>
                        <a:rPr lang="en-IN" sz="1800"/>
                        <a:t>New Machine</a:t>
                      </a:r>
                      <a:endParaRPr/>
                    </a:p>
                    <a:p>
                      <a:pPr indent="0" lvl="0" marL="0" marR="0" rtl="0" algn="ctr">
                        <a:spcBef>
                          <a:spcPts val="0"/>
                        </a:spcBef>
                        <a:spcAft>
                          <a:spcPts val="0"/>
                        </a:spcAft>
                        <a:buNone/>
                      </a:pPr>
                      <a:r>
                        <a:rPr lang="en-IN" sz="1800"/>
                        <a:t>Rs.</a:t>
                      </a:r>
                      <a:endParaRPr sz="1800"/>
                    </a:p>
                  </a:txBody>
                  <a:tcPr marT="45725" marB="45725" marR="91450" marL="91450"/>
                </a:tc>
              </a:tr>
              <a:tr h="370850">
                <a:tc>
                  <a:txBody>
                    <a:bodyPr/>
                    <a:lstStyle/>
                    <a:p>
                      <a:pPr indent="0" lvl="0" marL="0" marR="0" rtl="0" algn="l">
                        <a:spcBef>
                          <a:spcPts val="0"/>
                        </a:spcBef>
                        <a:spcAft>
                          <a:spcPts val="0"/>
                        </a:spcAft>
                        <a:buNone/>
                      </a:pPr>
                      <a:r>
                        <a:t/>
                      </a:r>
                      <a:endParaRPr b="0" sz="2500">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500"/>
                        <a:buFont typeface="Calibri"/>
                        <a:buNone/>
                      </a:pPr>
                      <a:r>
                        <a:rPr b="0" lang="en-IN" sz="2500">
                          <a:solidFill>
                            <a:srgbClr val="FF0000"/>
                          </a:solidFill>
                        </a:rPr>
                        <a:t>Estimated</a:t>
                      </a:r>
                      <a:r>
                        <a:rPr b="0" lang="en-IN" sz="2500">
                          <a:solidFill>
                            <a:srgbClr val="FF0000"/>
                          </a:solidFill>
                        </a:rPr>
                        <a:t> Sales </a:t>
                      </a:r>
                      <a:r>
                        <a:rPr b="1" lang="en-IN" sz="2500">
                          <a:solidFill>
                            <a:srgbClr val="FF0000"/>
                          </a:solidFill>
                        </a:rPr>
                        <a:t>(A) </a:t>
                      </a:r>
                      <a:r>
                        <a:rPr b="1" lang="en-IN" sz="2000">
                          <a:solidFill>
                            <a:srgbClr val="00B050"/>
                          </a:solidFill>
                        </a:rPr>
                        <a:t>[48,000 × 1.25 and 72,000 × 1.25]</a:t>
                      </a:r>
                      <a:endParaRPr b="1" sz="2000">
                        <a:solidFill>
                          <a:srgbClr val="00B050"/>
                        </a:solidFill>
                      </a:endParaRPr>
                    </a:p>
                  </a:txBody>
                  <a:tcPr marT="45725" marB="45725" marR="91450" marL="91450"/>
                </a:tc>
                <a:tc>
                  <a:txBody>
                    <a:bodyPr/>
                    <a:lstStyle/>
                    <a:p>
                      <a:pPr indent="0" lvl="0" marL="0" marR="0" rtl="0" algn="r">
                        <a:spcBef>
                          <a:spcPts val="0"/>
                        </a:spcBef>
                        <a:spcAft>
                          <a:spcPts val="0"/>
                        </a:spcAft>
                        <a:buNone/>
                      </a:pPr>
                      <a:r>
                        <a:rPr b="0" lang="en-IN" sz="2500">
                          <a:solidFill>
                            <a:srgbClr val="FF0000"/>
                          </a:solidFill>
                        </a:rPr>
                        <a:t>60,000</a:t>
                      </a:r>
                      <a:endParaRPr b="0" sz="2500">
                        <a:solidFill>
                          <a:srgbClr val="FF0000"/>
                        </a:solidFill>
                      </a:endParaRPr>
                    </a:p>
                  </a:txBody>
                  <a:tcPr marT="45725" marB="45725" marR="91450" marL="91450"/>
                </a:tc>
                <a:tc>
                  <a:txBody>
                    <a:bodyPr/>
                    <a:lstStyle/>
                    <a:p>
                      <a:pPr indent="0" lvl="0" marL="0" marR="0" rtl="0" algn="r">
                        <a:spcBef>
                          <a:spcPts val="0"/>
                        </a:spcBef>
                        <a:spcAft>
                          <a:spcPts val="0"/>
                        </a:spcAft>
                        <a:buNone/>
                      </a:pPr>
                      <a:r>
                        <a:rPr b="0" lang="en-IN" sz="2500">
                          <a:solidFill>
                            <a:srgbClr val="FF0000"/>
                          </a:solidFill>
                        </a:rPr>
                        <a:t>90,000</a:t>
                      </a:r>
                      <a:endParaRPr b="0" sz="2500">
                        <a:solidFill>
                          <a:srgbClr val="FF0000"/>
                        </a:solidFill>
                      </a:endParaRPr>
                    </a:p>
                  </a:txBody>
                  <a:tcPr marT="45725" marB="45725" marR="91450" marL="91450"/>
                </a:tc>
              </a:tr>
              <a:tr h="419625">
                <a:tc>
                  <a:txBody>
                    <a:bodyPr/>
                    <a:lstStyle/>
                    <a:p>
                      <a:pPr indent="0" lvl="0" marL="0" marR="0" rtl="0" algn="l">
                        <a:spcBef>
                          <a:spcPts val="0"/>
                        </a:spcBef>
                        <a:spcAft>
                          <a:spcPts val="0"/>
                        </a:spcAft>
                        <a:buNone/>
                      </a:pPr>
                      <a:r>
                        <a:rPr b="1" lang="en-IN" sz="2500">
                          <a:solidFill>
                            <a:srgbClr val="FF0000"/>
                          </a:solidFill>
                        </a:rPr>
                        <a:t>Less</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500">
                          <a:solidFill>
                            <a:srgbClr val="FF0000"/>
                          </a:solidFill>
                        </a:rPr>
                        <a:t>Cost of sales:</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t/>
                      </a:r>
                      <a:endParaRPr b="1" sz="25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sz="2500"/>
                    </a:p>
                  </a:txBody>
                  <a:tcPr marT="45725" marB="45725" marR="91450" marL="91450"/>
                </a:tc>
                <a:tc>
                  <a:txBody>
                    <a:bodyPr/>
                    <a:lstStyle/>
                    <a:p>
                      <a:pPr indent="0" lvl="0" marL="0" marR="0" rtl="0" algn="l">
                        <a:spcBef>
                          <a:spcPts val="0"/>
                        </a:spcBef>
                        <a:spcAft>
                          <a:spcPts val="0"/>
                        </a:spcAft>
                        <a:buNone/>
                      </a:pPr>
                      <a:r>
                        <a:rPr lang="en-IN" sz="2500"/>
                        <a:t>Direct materials [48,000×0.50 and 72,000×0.50]</a:t>
                      </a:r>
                      <a:endParaRPr sz="2500"/>
                    </a:p>
                  </a:txBody>
                  <a:tcPr marT="45725" marB="45725" marR="91450" marL="91450"/>
                </a:tc>
                <a:tc>
                  <a:txBody>
                    <a:bodyPr/>
                    <a:lstStyle/>
                    <a:p>
                      <a:pPr indent="0" lvl="0" marL="0" marR="0" rtl="0" algn="r">
                        <a:spcBef>
                          <a:spcPts val="0"/>
                        </a:spcBef>
                        <a:spcAft>
                          <a:spcPts val="0"/>
                        </a:spcAft>
                        <a:buNone/>
                      </a:pPr>
                      <a:r>
                        <a:rPr lang="en-IN" sz="2500"/>
                        <a:t>24,000</a:t>
                      </a:r>
                      <a:endParaRPr sz="2500"/>
                    </a:p>
                  </a:txBody>
                  <a:tcPr marT="45725" marB="45725" marR="91450" marL="91450"/>
                </a:tc>
                <a:tc>
                  <a:txBody>
                    <a:bodyPr/>
                    <a:lstStyle/>
                    <a:p>
                      <a:pPr indent="0" lvl="0" marL="0" marR="0" rtl="0" algn="r">
                        <a:spcBef>
                          <a:spcPts val="0"/>
                        </a:spcBef>
                        <a:spcAft>
                          <a:spcPts val="0"/>
                        </a:spcAft>
                        <a:buNone/>
                      </a:pPr>
                      <a:r>
                        <a:rPr lang="en-IN" sz="2500"/>
                        <a:t>36,000</a:t>
                      </a:r>
                      <a:endParaRPr sz="2500"/>
                    </a:p>
                  </a:txBody>
                  <a:tcPr marT="45725" marB="45725" marR="91450" marL="91450"/>
                </a:tc>
              </a:tr>
              <a:tr h="370850">
                <a:tc>
                  <a:txBody>
                    <a:bodyPr/>
                    <a:lstStyle/>
                    <a:p>
                      <a:pPr indent="0" lvl="0" marL="0" marR="0" rtl="0" algn="l">
                        <a:spcBef>
                          <a:spcPts val="0"/>
                        </a:spcBef>
                        <a:spcAft>
                          <a:spcPts val="0"/>
                        </a:spcAft>
                        <a:buNone/>
                      </a:pPr>
                      <a:r>
                        <a:t/>
                      </a:r>
                      <a:endParaRPr sz="2500"/>
                    </a:p>
                  </a:txBody>
                  <a:tcPr marT="45725" marB="45725" marR="91450" marL="91450"/>
                </a:tc>
                <a:tc>
                  <a:txBody>
                    <a:bodyPr/>
                    <a:lstStyle/>
                    <a:p>
                      <a:pPr indent="0" lvl="0" marL="0" marR="0" rtl="0" algn="l">
                        <a:spcBef>
                          <a:spcPts val="0"/>
                        </a:spcBef>
                        <a:spcAft>
                          <a:spcPts val="0"/>
                        </a:spcAft>
                        <a:buNone/>
                      </a:pPr>
                      <a:r>
                        <a:rPr lang="en-IN" sz="2500"/>
                        <a:t>Wages [2,000×Rs. 3 and 2,000×Rs.5.25]</a:t>
                      </a:r>
                      <a:endParaRPr sz="2500"/>
                    </a:p>
                  </a:txBody>
                  <a:tcPr marT="45725" marB="45725" marR="91450" marL="91450"/>
                </a:tc>
                <a:tc>
                  <a:txBody>
                    <a:bodyPr/>
                    <a:lstStyle/>
                    <a:p>
                      <a:pPr indent="0" lvl="0" marL="0" marR="0" rtl="0" algn="r">
                        <a:spcBef>
                          <a:spcPts val="0"/>
                        </a:spcBef>
                        <a:spcAft>
                          <a:spcPts val="0"/>
                        </a:spcAft>
                        <a:buNone/>
                      </a:pPr>
                      <a:r>
                        <a:rPr lang="en-IN" sz="2500"/>
                        <a:t>6,000</a:t>
                      </a:r>
                      <a:endParaRPr sz="2500"/>
                    </a:p>
                  </a:txBody>
                  <a:tcPr marT="45725" marB="45725" marR="91450" marL="91450"/>
                </a:tc>
                <a:tc>
                  <a:txBody>
                    <a:bodyPr/>
                    <a:lstStyle/>
                    <a:p>
                      <a:pPr indent="0" lvl="0" marL="0" marR="0" rtl="0" algn="r">
                        <a:spcBef>
                          <a:spcPts val="0"/>
                        </a:spcBef>
                        <a:spcAft>
                          <a:spcPts val="0"/>
                        </a:spcAft>
                        <a:buNone/>
                      </a:pPr>
                      <a:r>
                        <a:rPr lang="en-IN" sz="2500"/>
                        <a:t>10,500</a:t>
                      </a:r>
                      <a:endParaRPr sz="2500"/>
                    </a:p>
                  </a:txBody>
                  <a:tcPr marT="45725" marB="45725" marR="91450" marL="91450"/>
                </a:tc>
              </a:tr>
              <a:tr h="370850">
                <a:tc>
                  <a:txBody>
                    <a:bodyPr/>
                    <a:lstStyle/>
                    <a:p>
                      <a:pPr indent="0" lvl="0" marL="0" marR="0" rtl="0" algn="l">
                        <a:spcBef>
                          <a:spcPts val="0"/>
                        </a:spcBef>
                        <a:spcAft>
                          <a:spcPts val="0"/>
                        </a:spcAft>
                        <a:buNone/>
                      </a:pPr>
                      <a:r>
                        <a:t/>
                      </a:r>
                      <a:endParaRPr sz="2500"/>
                    </a:p>
                  </a:txBody>
                  <a:tcPr marT="45725" marB="45725" marR="91450" marL="91450"/>
                </a:tc>
                <a:tc>
                  <a:txBody>
                    <a:bodyPr/>
                    <a:lstStyle/>
                    <a:p>
                      <a:pPr indent="0" lvl="0" marL="0" marR="0" rtl="0" algn="l">
                        <a:spcBef>
                          <a:spcPts val="0"/>
                        </a:spcBef>
                        <a:spcAft>
                          <a:spcPts val="0"/>
                        </a:spcAft>
                        <a:buNone/>
                      </a:pPr>
                      <a:r>
                        <a:rPr lang="en-IN" sz="2500"/>
                        <a:t>Power</a:t>
                      </a:r>
                      <a:endParaRPr sz="2500"/>
                    </a:p>
                  </a:txBody>
                  <a:tcPr marT="45725" marB="45725" marR="91450" marL="91450"/>
                </a:tc>
                <a:tc>
                  <a:txBody>
                    <a:bodyPr/>
                    <a:lstStyle/>
                    <a:p>
                      <a:pPr indent="0" lvl="0" marL="0" marR="0" rtl="0" algn="r">
                        <a:spcBef>
                          <a:spcPts val="0"/>
                        </a:spcBef>
                        <a:spcAft>
                          <a:spcPts val="0"/>
                        </a:spcAft>
                        <a:buNone/>
                      </a:pPr>
                      <a:r>
                        <a:rPr lang="en-IN" sz="2500"/>
                        <a:t>2,000</a:t>
                      </a:r>
                      <a:endParaRPr sz="2500"/>
                    </a:p>
                  </a:txBody>
                  <a:tcPr marT="45725" marB="45725" marR="91450" marL="91450"/>
                </a:tc>
                <a:tc>
                  <a:txBody>
                    <a:bodyPr/>
                    <a:lstStyle/>
                    <a:p>
                      <a:pPr indent="0" lvl="0" marL="0" marR="0" rtl="0" algn="r">
                        <a:spcBef>
                          <a:spcPts val="0"/>
                        </a:spcBef>
                        <a:spcAft>
                          <a:spcPts val="0"/>
                        </a:spcAft>
                        <a:buNone/>
                      </a:pPr>
                      <a:r>
                        <a:rPr lang="en-IN" sz="2500"/>
                        <a:t>4,500</a:t>
                      </a:r>
                      <a:endParaRPr sz="2500"/>
                    </a:p>
                  </a:txBody>
                  <a:tcPr marT="45725" marB="45725" marR="91450" marL="91450"/>
                </a:tc>
              </a:tr>
              <a:tr h="370850">
                <a:tc>
                  <a:txBody>
                    <a:bodyPr/>
                    <a:lstStyle/>
                    <a:p>
                      <a:pPr indent="0" lvl="0" marL="0" marR="0" rtl="0" algn="l">
                        <a:spcBef>
                          <a:spcPts val="0"/>
                        </a:spcBef>
                        <a:spcAft>
                          <a:spcPts val="0"/>
                        </a:spcAft>
                        <a:buNone/>
                      </a:pPr>
                      <a:r>
                        <a:t/>
                      </a:r>
                      <a:endParaRPr sz="2500"/>
                    </a:p>
                  </a:txBody>
                  <a:tcPr marT="45725" marB="45725" marR="91450" marL="91450"/>
                </a:tc>
                <a:tc>
                  <a:txBody>
                    <a:bodyPr/>
                    <a:lstStyle/>
                    <a:p>
                      <a:pPr indent="0" lvl="0" marL="0" marR="0" rtl="0" algn="l">
                        <a:spcBef>
                          <a:spcPts val="0"/>
                        </a:spcBef>
                        <a:spcAft>
                          <a:spcPts val="0"/>
                        </a:spcAft>
                        <a:buNone/>
                      </a:pPr>
                      <a:r>
                        <a:rPr lang="en-IN" sz="2500"/>
                        <a:t>Consumable store </a:t>
                      </a:r>
                      <a:endParaRPr sz="2500"/>
                    </a:p>
                  </a:txBody>
                  <a:tcPr marT="45725" marB="45725" marR="91450" marL="91450"/>
                </a:tc>
                <a:tc>
                  <a:txBody>
                    <a:bodyPr/>
                    <a:lstStyle/>
                    <a:p>
                      <a:pPr indent="0" lvl="0" marL="0" marR="0" rtl="0" algn="r">
                        <a:spcBef>
                          <a:spcPts val="0"/>
                        </a:spcBef>
                        <a:spcAft>
                          <a:spcPts val="0"/>
                        </a:spcAft>
                        <a:buNone/>
                      </a:pPr>
                      <a:r>
                        <a:rPr lang="en-IN" sz="2500"/>
                        <a:t>6,000</a:t>
                      </a:r>
                      <a:endParaRPr sz="2500"/>
                    </a:p>
                  </a:txBody>
                  <a:tcPr marT="45725" marB="45725" marR="91450" marL="91450"/>
                </a:tc>
                <a:tc>
                  <a:txBody>
                    <a:bodyPr/>
                    <a:lstStyle/>
                    <a:p>
                      <a:pPr indent="0" lvl="0" marL="0" marR="0" rtl="0" algn="r">
                        <a:spcBef>
                          <a:spcPts val="0"/>
                        </a:spcBef>
                        <a:spcAft>
                          <a:spcPts val="0"/>
                        </a:spcAft>
                        <a:buNone/>
                      </a:pPr>
                      <a:r>
                        <a:rPr lang="en-IN" sz="2500"/>
                        <a:t>7,500</a:t>
                      </a:r>
                      <a:endParaRPr sz="2500"/>
                    </a:p>
                  </a:txBody>
                  <a:tcPr marT="45725" marB="45725" marR="91450" marL="91450"/>
                </a:tc>
              </a:tr>
              <a:tr h="370850">
                <a:tc>
                  <a:txBody>
                    <a:bodyPr/>
                    <a:lstStyle/>
                    <a:p>
                      <a:pPr indent="0" lvl="0" marL="0" marR="0" rtl="0" algn="l">
                        <a:spcBef>
                          <a:spcPts val="0"/>
                        </a:spcBef>
                        <a:spcAft>
                          <a:spcPts val="0"/>
                        </a:spcAft>
                        <a:buNone/>
                      </a:pPr>
                      <a:r>
                        <a:t/>
                      </a:r>
                      <a:endParaRPr sz="2500"/>
                    </a:p>
                  </a:txBody>
                  <a:tcPr marT="45725" marB="45725" marR="91450" marL="91450"/>
                </a:tc>
                <a:tc>
                  <a:txBody>
                    <a:bodyPr/>
                    <a:lstStyle/>
                    <a:p>
                      <a:pPr indent="0" lvl="0" marL="0" marR="0" rtl="0" algn="l">
                        <a:spcBef>
                          <a:spcPts val="0"/>
                        </a:spcBef>
                        <a:spcAft>
                          <a:spcPts val="0"/>
                        </a:spcAft>
                        <a:buNone/>
                      </a:pPr>
                      <a:r>
                        <a:rPr lang="en-IN" sz="2500"/>
                        <a:t>Other charges </a:t>
                      </a:r>
                      <a:endParaRPr sz="2500"/>
                    </a:p>
                  </a:txBody>
                  <a:tcPr marT="45725" marB="45725" marR="91450" marL="91450"/>
                </a:tc>
                <a:tc>
                  <a:txBody>
                    <a:bodyPr/>
                    <a:lstStyle/>
                    <a:p>
                      <a:pPr indent="0" lvl="0" marL="0" marR="0" rtl="0" algn="r">
                        <a:spcBef>
                          <a:spcPts val="0"/>
                        </a:spcBef>
                        <a:spcAft>
                          <a:spcPts val="0"/>
                        </a:spcAft>
                        <a:buNone/>
                      </a:pPr>
                      <a:r>
                        <a:rPr lang="en-IN" sz="2500"/>
                        <a:t>8,000</a:t>
                      </a:r>
                      <a:endParaRPr sz="2500"/>
                    </a:p>
                  </a:txBody>
                  <a:tcPr marT="45725" marB="45725" marR="91450" marL="91450"/>
                </a:tc>
                <a:tc>
                  <a:txBody>
                    <a:bodyPr/>
                    <a:lstStyle/>
                    <a:p>
                      <a:pPr indent="0" lvl="0" marL="0" marR="0" rtl="0" algn="r">
                        <a:spcBef>
                          <a:spcPts val="0"/>
                        </a:spcBef>
                        <a:spcAft>
                          <a:spcPts val="0"/>
                        </a:spcAft>
                        <a:buNone/>
                      </a:pPr>
                      <a:r>
                        <a:rPr lang="en-IN" sz="2500"/>
                        <a:t>9,000</a:t>
                      </a:r>
                      <a:endParaRPr sz="2500"/>
                    </a:p>
                  </a:txBody>
                  <a:tcPr marT="45725" marB="45725" marR="91450" marL="91450"/>
                </a:tc>
              </a:tr>
              <a:tr h="370850">
                <a:tc>
                  <a:txBody>
                    <a:bodyPr/>
                    <a:lstStyle/>
                    <a:p>
                      <a:pPr indent="0" lvl="0" marL="0" marR="0" rtl="0" algn="l">
                        <a:spcBef>
                          <a:spcPts val="0"/>
                        </a:spcBef>
                        <a:spcAft>
                          <a:spcPts val="0"/>
                        </a:spcAft>
                        <a:buNone/>
                      </a:pPr>
                      <a:r>
                        <a:t/>
                      </a:r>
                      <a:endParaRPr sz="2500"/>
                    </a:p>
                  </a:txBody>
                  <a:tcPr marT="45725" marB="45725" marR="91450" marL="91450"/>
                </a:tc>
                <a:tc>
                  <a:txBody>
                    <a:bodyPr/>
                    <a:lstStyle/>
                    <a:p>
                      <a:pPr indent="0" lvl="0" marL="0" marR="0" rtl="0" algn="l">
                        <a:spcBef>
                          <a:spcPts val="0"/>
                        </a:spcBef>
                        <a:spcAft>
                          <a:spcPts val="0"/>
                        </a:spcAft>
                        <a:buNone/>
                      </a:pPr>
                      <a:r>
                        <a:rPr lang="en-IN" sz="2500"/>
                        <a:t>Deprecation[Rs. 40,000/10 and Rs. 60,000/10]</a:t>
                      </a:r>
                      <a:endParaRPr sz="2500"/>
                    </a:p>
                  </a:txBody>
                  <a:tcPr marT="45725" marB="45725" marR="91450" marL="91450"/>
                </a:tc>
                <a:tc>
                  <a:txBody>
                    <a:bodyPr/>
                    <a:lstStyle/>
                    <a:p>
                      <a:pPr indent="0" lvl="0" marL="0" marR="0" rtl="0" algn="r">
                        <a:spcBef>
                          <a:spcPts val="0"/>
                        </a:spcBef>
                        <a:spcAft>
                          <a:spcPts val="0"/>
                        </a:spcAft>
                        <a:buNone/>
                      </a:pPr>
                      <a:r>
                        <a:rPr lang="en-IN" sz="2500"/>
                        <a:t>4,000</a:t>
                      </a:r>
                      <a:endParaRPr sz="2500"/>
                    </a:p>
                  </a:txBody>
                  <a:tcPr marT="45725" marB="45725" marR="91450" marL="91450"/>
                </a:tc>
                <a:tc>
                  <a:txBody>
                    <a:bodyPr/>
                    <a:lstStyle/>
                    <a:p>
                      <a:pPr indent="0" lvl="0" marL="0" marR="0" rtl="0" algn="r">
                        <a:spcBef>
                          <a:spcPts val="0"/>
                        </a:spcBef>
                        <a:spcAft>
                          <a:spcPts val="0"/>
                        </a:spcAft>
                        <a:buNone/>
                      </a:pPr>
                      <a:r>
                        <a:rPr lang="en-IN" sz="2500"/>
                        <a:t>6,000</a:t>
                      </a:r>
                      <a:endParaRPr sz="2500"/>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500">
                          <a:solidFill>
                            <a:srgbClr val="FF0000"/>
                          </a:solidFill>
                        </a:rPr>
                        <a:t>Total cost of sales (B)</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50,000</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73,500</a:t>
                      </a:r>
                      <a:endParaRPr b="1" sz="2500">
                        <a:solidFill>
                          <a:srgbClr val="FF0000"/>
                        </a:solidFill>
                      </a:endParaRPr>
                    </a:p>
                  </a:txBody>
                  <a:tcPr marT="45725" marB="45725" marR="91450" marL="91450"/>
                </a:tc>
              </a:tr>
            </a:tbl>
          </a:graphicData>
        </a:graphic>
      </p:graphicFrame>
      <p:pic>
        <p:nvPicPr>
          <p:cNvPr descr="Image result for sastra logo" id="482" name="Google Shape;482;p74"/>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graphicFrame>
        <p:nvGraphicFramePr>
          <p:cNvPr id="487" name="Google Shape;487;p75"/>
          <p:cNvGraphicFramePr/>
          <p:nvPr/>
        </p:nvGraphicFramePr>
        <p:xfrm>
          <a:off x="838200" y="885825"/>
          <a:ext cx="3000000" cy="3000000"/>
        </p:xfrm>
        <a:graphic>
          <a:graphicData uri="http://schemas.openxmlformats.org/drawingml/2006/table">
            <a:tbl>
              <a:tblPr bandRow="1" firstRow="1">
                <a:noFill/>
                <a:tableStyleId>{75140CFC-2FD2-45D3-AD89-D6322BEAE1F3}</a:tableStyleId>
              </a:tblPr>
              <a:tblGrid>
                <a:gridCol w="845450"/>
                <a:gridCol w="5762175"/>
                <a:gridCol w="2061025"/>
                <a:gridCol w="1846950"/>
              </a:tblGrid>
              <a:tr h="370850">
                <a:tc>
                  <a:txBody>
                    <a:bodyPr/>
                    <a:lstStyle/>
                    <a:p>
                      <a:pPr indent="0" lvl="0" marL="0" marR="0" rtl="0" algn="l">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solidFill>
                            <a:srgbClr val="FF0000"/>
                          </a:solidFill>
                        </a:rPr>
                        <a:t>Profit before tax (A-B)</a:t>
                      </a:r>
                      <a:endParaRPr sz="22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200"/>
                        <a:t>10,000</a:t>
                      </a:r>
                      <a:endParaRPr sz="2200"/>
                    </a:p>
                  </a:txBody>
                  <a:tcPr marT="45725" marB="45725" marR="91450" marL="91450"/>
                </a:tc>
                <a:tc>
                  <a:txBody>
                    <a:bodyPr/>
                    <a:lstStyle/>
                    <a:p>
                      <a:pPr indent="0" lvl="0" marL="0" marR="0" rtl="0" algn="r">
                        <a:spcBef>
                          <a:spcPts val="0"/>
                        </a:spcBef>
                        <a:spcAft>
                          <a:spcPts val="0"/>
                        </a:spcAft>
                        <a:buNone/>
                      </a:pPr>
                      <a:r>
                        <a:rPr lang="en-IN" sz="2200"/>
                        <a:t>16,500</a:t>
                      </a:r>
                      <a:endParaRPr sz="2200"/>
                    </a:p>
                  </a:txBody>
                  <a:tcPr marT="45725" marB="45725" marR="91450" marL="91450"/>
                </a:tc>
              </a:tr>
              <a:tr h="370850">
                <a:tc>
                  <a:txBody>
                    <a:bodyPr/>
                    <a:lstStyle/>
                    <a:p>
                      <a:pPr indent="0" lvl="0" marL="0" marR="0" rtl="0" algn="l">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Tax @ 50%</a:t>
                      </a:r>
                      <a:endParaRPr sz="2500"/>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c>
                  <a:txBody>
                    <a:bodyPr/>
                    <a:lstStyle/>
                    <a:p>
                      <a:pPr indent="0" lvl="0" marL="0" marR="0" rtl="0" algn="r">
                        <a:spcBef>
                          <a:spcPts val="0"/>
                        </a:spcBef>
                        <a:spcAft>
                          <a:spcPts val="0"/>
                        </a:spcAft>
                        <a:buNone/>
                      </a:pPr>
                      <a:r>
                        <a:rPr lang="en-IN" sz="2500"/>
                        <a:t>8,250</a:t>
                      </a:r>
                      <a:endParaRPr sz="2500"/>
                    </a:p>
                  </a:txBody>
                  <a:tcPr marT="45725" marB="45725" marR="91450" marL="91450"/>
                </a:tc>
              </a:tr>
              <a:tr h="370850">
                <a:tc>
                  <a:txBody>
                    <a:bodyPr/>
                    <a:lstStyle/>
                    <a:p>
                      <a:pPr indent="0" lvl="0" marL="0" marR="0" rtl="0" algn="l">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Profit after tax </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c>
                  <a:txBody>
                    <a:bodyPr/>
                    <a:lstStyle/>
                    <a:p>
                      <a:pPr indent="0" lvl="0" marL="0" marR="0" rtl="0" algn="r">
                        <a:spcBef>
                          <a:spcPts val="0"/>
                        </a:spcBef>
                        <a:spcAft>
                          <a:spcPts val="0"/>
                        </a:spcAft>
                        <a:buNone/>
                      </a:pPr>
                      <a:r>
                        <a:rPr lang="en-IN" sz="2500"/>
                        <a:t>8,250</a:t>
                      </a:r>
                      <a:endParaRPr sz="2500"/>
                    </a:p>
                  </a:txBody>
                  <a:tcPr marT="45725" marB="45725" marR="91450" marL="91450"/>
                </a:tc>
              </a:tr>
              <a:tr h="370850">
                <a:tc>
                  <a:txBody>
                    <a:bodyPr/>
                    <a:lstStyle/>
                    <a:p>
                      <a:pPr indent="0" lvl="0" marL="0" marR="0" rtl="0" algn="l">
                        <a:spcBef>
                          <a:spcPts val="0"/>
                        </a:spcBef>
                        <a:spcAft>
                          <a:spcPts val="0"/>
                        </a:spcAft>
                        <a:buNone/>
                      </a:pPr>
                      <a:r>
                        <a:t/>
                      </a:r>
                      <a:endParaRPr sz="2500"/>
                    </a:p>
                  </a:txBody>
                  <a:tcPr marT="45725" marB="45725" marR="91450" marL="91450"/>
                </a:tc>
                <a:tc>
                  <a:txBody>
                    <a:bodyPr/>
                    <a:lstStyle/>
                    <a:p>
                      <a:pPr indent="0" lvl="0" marL="0" marR="0" rtl="0" algn="l">
                        <a:spcBef>
                          <a:spcPts val="0"/>
                        </a:spcBef>
                        <a:spcAft>
                          <a:spcPts val="0"/>
                        </a:spcAft>
                        <a:buNone/>
                      </a:pPr>
                      <a:r>
                        <a:rPr b="0" lang="en-IN" sz="2500"/>
                        <a:t>Return on investment or ARR =</a:t>
                      </a:r>
                      <a:endParaRPr/>
                    </a:p>
                    <a:p>
                      <a:pPr indent="0" lvl="0" marL="0" marR="0" rtl="0" algn="l">
                        <a:spcBef>
                          <a:spcPts val="0"/>
                        </a:spcBef>
                        <a:spcAft>
                          <a:spcPts val="0"/>
                        </a:spcAft>
                        <a:buNone/>
                      </a:pPr>
                      <a:r>
                        <a:rPr b="0" lang="en-IN" sz="2500"/>
                        <a:t>[Average</a:t>
                      </a:r>
                      <a:r>
                        <a:rPr b="0" lang="en-IN" sz="2500"/>
                        <a:t> Profit/Original Investment]×100</a:t>
                      </a:r>
                      <a:endParaRPr b="0" sz="2500"/>
                    </a:p>
                  </a:txBody>
                  <a:tcPr marT="45725" marB="45725" marR="91450" marL="91450"/>
                </a:tc>
                <a:tc>
                  <a:txBody>
                    <a:bodyPr/>
                    <a:lstStyle/>
                    <a:p>
                      <a:pPr indent="0" lvl="0" marL="0" marR="0" rtl="0" algn="r">
                        <a:spcBef>
                          <a:spcPts val="0"/>
                        </a:spcBef>
                        <a:spcAft>
                          <a:spcPts val="0"/>
                        </a:spcAft>
                        <a:buNone/>
                      </a:pPr>
                      <a:r>
                        <a:rPr lang="en-IN" sz="2500"/>
                        <a:t>[5,000/</a:t>
                      </a:r>
                      <a:endParaRPr/>
                    </a:p>
                    <a:p>
                      <a:pPr indent="0" lvl="0" marL="0" marR="0" rtl="0" algn="r">
                        <a:spcBef>
                          <a:spcPts val="0"/>
                        </a:spcBef>
                        <a:spcAft>
                          <a:spcPts val="0"/>
                        </a:spcAft>
                        <a:buNone/>
                      </a:pPr>
                      <a:r>
                        <a:rPr lang="en-IN" sz="2500"/>
                        <a:t>40,000]×100</a:t>
                      </a:r>
                      <a:endParaRPr sz="2500"/>
                    </a:p>
                  </a:txBody>
                  <a:tcPr marT="45725" marB="45725" marR="91450" marL="91450"/>
                </a:tc>
                <a:tc>
                  <a:txBody>
                    <a:bodyPr/>
                    <a:lstStyle/>
                    <a:p>
                      <a:pPr indent="0" lvl="0" marL="0" marR="0" rtl="0" algn="r">
                        <a:spcBef>
                          <a:spcPts val="0"/>
                        </a:spcBef>
                        <a:spcAft>
                          <a:spcPts val="0"/>
                        </a:spcAft>
                        <a:buNone/>
                      </a:pPr>
                      <a:r>
                        <a:rPr lang="en-IN" sz="2500"/>
                        <a:t>[8,250/</a:t>
                      </a:r>
                      <a:endParaRPr/>
                    </a:p>
                    <a:p>
                      <a:pPr indent="0" lvl="0" marL="0" marR="0" rtl="0" algn="r">
                        <a:spcBef>
                          <a:spcPts val="0"/>
                        </a:spcBef>
                        <a:spcAft>
                          <a:spcPts val="0"/>
                        </a:spcAft>
                        <a:buNone/>
                      </a:pPr>
                      <a:r>
                        <a:rPr lang="en-IN" sz="2500"/>
                        <a:t>60,000]×100</a:t>
                      </a:r>
                      <a:endParaRPr sz="2500"/>
                    </a:p>
                  </a:txBody>
                  <a:tcPr marT="45725" marB="45725" marR="91450" marL="91450"/>
                </a:tc>
              </a:tr>
              <a:tr h="370850">
                <a:tc>
                  <a:txBody>
                    <a:bodyPr/>
                    <a:lstStyle/>
                    <a:p>
                      <a:pPr indent="0" lvl="0" marL="0" marR="0" rtl="0" algn="l">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500">
                          <a:solidFill>
                            <a:srgbClr val="FF0000"/>
                          </a:solidFill>
                        </a:rPr>
                        <a:t>ARR</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12.5%</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13.75%</a:t>
                      </a:r>
                      <a:endParaRPr b="1" sz="2500">
                        <a:solidFill>
                          <a:srgbClr val="FF0000"/>
                        </a:solidFill>
                      </a:endParaRPr>
                    </a:p>
                  </a:txBody>
                  <a:tcPr marT="45725" marB="45725" marR="91450" marL="91450"/>
                </a:tc>
              </a:tr>
              <a:tr h="370850">
                <a:tc gridSpan="4">
                  <a:txBody>
                    <a:bodyPr/>
                    <a:lstStyle/>
                    <a:p>
                      <a:pPr indent="0" lvl="0" marL="0" marR="0" rtl="0" algn="l">
                        <a:spcBef>
                          <a:spcPts val="0"/>
                        </a:spcBef>
                        <a:spcAft>
                          <a:spcPts val="0"/>
                        </a:spcAft>
                        <a:buNone/>
                      </a:pPr>
                      <a:r>
                        <a:rPr b="1" lang="en-IN" sz="2500">
                          <a:solidFill>
                            <a:srgbClr val="FF0000"/>
                          </a:solidFill>
                        </a:rPr>
                        <a:t>Comment: </a:t>
                      </a:r>
                      <a:endParaRPr/>
                    </a:p>
                    <a:p>
                      <a:pPr indent="0" lvl="0" marL="0" marR="0" rtl="0" algn="l">
                        <a:spcBef>
                          <a:spcPts val="0"/>
                        </a:spcBef>
                        <a:spcAft>
                          <a:spcPts val="0"/>
                        </a:spcAft>
                        <a:buNone/>
                      </a:pPr>
                      <a:r>
                        <a:rPr lang="en-IN" sz="2500">
                          <a:solidFill>
                            <a:srgbClr val="FF0000"/>
                          </a:solidFill>
                        </a:rPr>
                        <a:t>New machine  should be recommended.</a:t>
                      </a:r>
                      <a:endParaRPr sz="2500">
                        <a:solidFill>
                          <a:srgbClr val="FF0000"/>
                        </a:solidFill>
                      </a:endParaRPr>
                    </a:p>
                  </a:txBody>
                  <a:tcPr marT="45725" marB="45725" marR="91450" marL="91450"/>
                </a:tc>
                <a:tc hMerge="1"/>
                <a:tc hMerge="1"/>
                <a:tc hMerge="1"/>
              </a:tr>
            </a:tbl>
          </a:graphicData>
        </a:graphic>
      </p:graphicFrame>
      <p:pic>
        <p:nvPicPr>
          <p:cNvPr descr="Image result for sastra logo" id="488" name="Google Shape;488;p75"/>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6"/>
          <p:cNvSpPr txBox="1"/>
          <p:nvPr>
            <p:ph idx="1" type="body"/>
          </p:nvPr>
        </p:nvSpPr>
        <p:spPr>
          <a:xfrm>
            <a:off x="838200" y="885371"/>
            <a:ext cx="10515600" cy="54864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Discounted Cash flow Techniques:</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1. Net Present Value: </a:t>
            </a:r>
            <a:endParaRPr/>
          </a:p>
          <a:p>
            <a:pPr indent="0" lvl="0" marL="0" rtl="0" algn="just">
              <a:lnSpc>
                <a:spcPct val="90000"/>
              </a:lnSpc>
              <a:spcBef>
                <a:spcPts val="1000"/>
              </a:spcBef>
              <a:spcAft>
                <a:spcPts val="0"/>
              </a:spcAft>
              <a:buClr>
                <a:schemeClr val="dk1"/>
              </a:buClr>
              <a:buSzPts val="2600"/>
              <a:buNone/>
            </a:pPr>
            <a:r>
              <a:rPr lang="en-IN" sz="2600"/>
              <a:t>The net present value method is one of the modern methods for evaluating project proposals.</a:t>
            </a:r>
            <a:r>
              <a:rPr lang="en-IN" sz="2600">
                <a:solidFill>
                  <a:srgbClr val="FF0000"/>
                </a:solidFill>
              </a:rPr>
              <a:t> </a:t>
            </a:r>
            <a:r>
              <a:rPr lang="en-IN" sz="2600"/>
              <a:t>In this method, </a:t>
            </a:r>
            <a:r>
              <a:rPr b="1" lang="en-IN" sz="2600">
                <a:solidFill>
                  <a:srgbClr val="00B050"/>
                </a:solidFill>
              </a:rPr>
              <a:t>cash inflows are considered with the time value of the money.</a:t>
            </a:r>
            <a:r>
              <a:rPr lang="en-IN" sz="2600"/>
              <a:t> Net present value is described as the summation of the present value of cash inflow and present value of cash outflow</a:t>
            </a:r>
            <a:r>
              <a:rPr lang="en-IN" sz="2600">
                <a:solidFill>
                  <a:srgbClr val="FF0000"/>
                </a:solidFill>
              </a:rPr>
              <a:t>. </a:t>
            </a:r>
            <a:r>
              <a:rPr lang="en-IN" sz="2600"/>
              <a:t>Net present value </a:t>
            </a:r>
            <a:r>
              <a:rPr lang="en-IN" sz="2600">
                <a:solidFill>
                  <a:srgbClr val="00B050"/>
                </a:solidFill>
              </a:rPr>
              <a:t>is the di</a:t>
            </a:r>
            <a:r>
              <a:rPr b="1" lang="en-IN" sz="2600">
                <a:solidFill>
                  <a:srgbClr val="00B050"/>
                </a:solidFill>
              </a:rPr>
              <a:t>fference between the total present value of future cash inflows and the total present value of future cash outflows.</a:t>
            </a:r>
            <a:r>
              <a:rPr b="1" lang="en-IN" sz="2600"/>
              <a:t> </a:t>
            </a:r>
            <a:endParaRPr b="1"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NPV = Present value of net cash inflow - Total net initial investment</a:t>
            </a:r>
            <a:endParaRPr b="1" sz="2600">
              <a:solidFill>
                <a:srgbClr val="FF0000"/>
              </a:solidFill>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Determining Discount Rate:</a:t>
            </a:r>
            <a:endParaRPr/>
          </a:p>
          <a:p>
            <a:pPr indent="0" lvl="0" marL="0" rtl="0" algn="just">
              <a:lnSpc>
                <a:spcPct val="90000"/>
              </a:lnSpc>
              <a:spcBef>
                <a:spcPts val="1000"/>
              </a:spcBef>
              <a:spcAft>
                <a:spcPts val="0"/>
              </a:spcAft>
              <a:buClr>
                <a:schemeClr val="dk1"/>
              </a:buClr>
              <a:buSzPts val="2600"/>
              <a:buNone/>
            </a:pPr>
            <a:r>
              <a:rPr lang="en-IN" sz="2600"/>
              <a:t>Theoretically, the discount rate or desired rate of return on an investment is </a:t>
            </a:r>
            <a:r>
              <a:rPr b="1" lang="en-IN" sz="2600">
                <a:solidFill>
                  <a:srgbClr val="FF0000"/>
                </a:solidFill>
              </a:rPr>
              <a:t>the rate of return the firm would have earned by investing the same funds in the best available alternative investment</a:t>
            </a:r>
            <a:r>
              <a:rPr lang="en-IN" sz="2600"/>
              <a:t> that has the same risk. </a:t>
            </a:r>
            <a:endParaRPr sz="2600"/>
          </a:p>
        </p:txBody>
      </p:sp>
      <p:pic>
        <p:nvPicPr>
          <p:cNvPr descr="Image result for sastra logo" id="494" name="Google Shape;494;p76"/>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7"/>
          <p:cNvSpPr txBox="1"/>
          <p:nvPr>
            <p:ph idx="1" type="body"/>
          </p:nvPr>
        </p:nvSpPr>
        <p:spPr>
          <a:xfrm>
            <a:off x="838200" y="1016000"/>
            <a:ext cx="10515600" cy="5160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Many organizations choose to use </a:t>
            </a:r>
            <a:r>
              <a:rPr b="1" lang="en-IN" sz="2600">
                <a:solidFill>
                  <a:srgbClr val="FF0000"/>
                </a:solidFill>
              </a:rPr>
              <a:t>the overall cost of capital or Weighted Average Cost of Capital (WACC) that an organization has incurred in raising funds </a:t>
            </a:r>
            <a:r>
              <a:rPr lang="en-IN" sz="2600"/>
              <a:t>or expects to incur in raising the funds needed for an investment.</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Merits: </a:t>
            </a:r>
            <a:endParaRPr/>
          </a:p>
          <a:p>
            <a:pPr indent="0" lvl="0" marL="0" rtl="0" algn="just">
              <a:lnSpc>
                <a:spcPct val="90000"/>
              </a:lnSpc>
              <a:spcBef>
                <a:spcPts val="1000"/>
              </a:spcBef>
              <a:spcAft>
                <a:spcPts val="0"/>
              </a:spcAft>
              <a:buClr>
                <a:schemeClr val="dk1"/>
              </a:buClr>
              <a:buSzPts val="2600"/>
              <a:buNone/>
            </a:pPr>
            <a:r>
              <a:rPr lang="en-IN" sz="2600"/>
              <a:t>1. It recognizes the time value of money. </a:t>
            </a:r>
            <a:endParaRPr/>
          </a:p>
          <a:p>
            <a:pPr indent="0" lvl="0" marL="0" rtl="0" algn="just">
              <a:lnSpc>
                <a:spcPct val="90000"/>
              </a:lnSpc>
              <a:spcBef>
                <a:spcPts val="1000"/>
              </a:spcBef>
              <a:spcAft>
                <a:spcPts val="0"/>
              </a:spcAft>
              <a:buClr>
                <a:schemeClr val="dk1"/>
              </a:buClr>
              <a:buSzPts val="2600"/>
              <a:buNone/>
            </a:pPr>
            <a:r>
              <a:rPr lang="en-IN" sz="2600"/>
              <a:t>2. It considers the total benefits arising out of the proposal. </a:t>
            </a:r>
            <a:endParaRPr/>
          </a:p>
          <a:p>
            <a:pPr indent="0" lvl="0" marL="0" rtl="0" algn="just">
              <a:lnSpc>
                <a:spcPct val="90000"/>
              </a:lnSpc>
              <a:spcBef>
                <a:spcPts val="1000"/>
              </a:spcBef>
              <a:spcAft>
                <a:spcPts val="0"/>
              </a:spcAft>
              <a:buClr>
                <a:schemeClr val="dk1"/>
              </a:buClr>
              <a:buSzPts val="2600"/>
              <a:buNone/>
            </a:pPr>
            <a:r>
              <a:rPr lang="en-IN" sz="2600"/>
              <a:t>3. It is the best method for the selection of mutually exclusive projects.</a:t>
            </a:r>
            <a:endParaRPr/>
          </a:p>
          <a:p>
            <a:pPr indent="0" lvl="0" marL="0" rtl="0" algn="just">
              <a:lnSpc>
                <a:spcPct val="90000"/>
              </a:lnSpc>
              <a:spcBef>
                <a:spcPts val="1000"/>
              </a:spcBef>
              <a:spcAft>
                <a:spcPts val="0"/>
              </a:spcAft>
              <a:buClr>
                <a:schemeClr val="dk1"/>
              </a:buClr>
              <a:buSzPts val="2600"/>
              <a:buNone/>
            </a:pPr>
            <a:r>
              <a:rPr lang="en-IN" sz="2600"/>
              <a:t> 4. It helps to achieve the maximization of shareholders’ wealth.</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500" name="Google Shape;500;p77"/>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8"/>
          <p:cNvSpPr txBox="1"/>
          <p:nvPr>
            <p:ph idx="1" type="body"/>
          </p:nvPr>
        </p:nvSpPr>
        <p:spPr>
          <a:xfrm>
            <a:off x="838200" y="885370"/>
            <a:ext cx="10515600" cy="543922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Demerits: </a:t>
            </a:r>
            <a:endParaRPr/>
          </a:p>
          <a:p>
            <a:pPr indent="0" lvl="0" marL="0" rtl="0" algn="just">
              <a:lnSpc>
                <a:spcPct val="90000"/>
              </a:lnSpc>
              <a:spcBef>
                <a:spcPts val="1000"/>
              </a:spcBef>
              <a:spcAft>
                <a:spcPts val="0"/>
              </a:spcAft>
              <a:buClr>
                <a:schemeClr val="dk1"/>
              </a:buClr>
              <a:buSzPts val="2600"/>
              <a:buNone/>
            </a:pPr>
            <a:r>
              <a:rPr lang="en-IN" sz="2600"/>
              <a:t>1. It is difficult to understand and calculate. </a:t>
            </a:r>
            <a:endParaRPr/>
          </a:p>
          <a:p>
            <a:pPr indent="0" lvl="0" marL="0" rtl="0" algn="just">
              <a:lnSpc>
                <a:spcPct val="90000"/>
              </a:lnSpc>
              <a:spcBef>
                <a:spcPts val="1000"/>
              </a:spcBef>
              <a:spcAft>
                <a:spcPts val="0"/>
              </a:spcAft>
              <a:buClr>
                <a:schemeClr val="dk1"/>
              </a:buClr>
              <a:buSzPts val="2600"/>
              <a:buNone/>
            </a:pPr>
            <a:r>
              <a:rPr lang="en-IN" sz="2600"/>
              <a:t>2. It needs the discount factors for the calculation of present values. </a:t>
            </a:r>
            <a:endParaRPr/>
          </a:p>
          <a:p>
            <a:pPr indent="0" lvl="0" marL="0" rtl="0" algn="just">
              <a:lnSpc>
                <a:spcPct val="90000"/>
              </a:lnSpc>
              <a:spcBef>
                <a:spcPts val="1000"/>
              </a:spcBef>
              <a:spcAft>
                <a:spcPts val="0"/>
              </a:spcAft>
              <a:buClr>
                <a:schemeClr val="dk1"/>
              </a:buClr>
              <a:buSzPts val="2600"/>
              <a:buNone/>
            </a:pPr>
            <a:r>
              <a:rPr lang="en-IN" sz="2600"/>
              <a:t>3. It is not suitable for projects having different effective lives. </a:t>
            </a:r>
            <a:endParaRPr sz="2600"/>
          </a:p>
          <a:p>
            <a:pPr indent="0" lvl="0" marL="0" rtl="0" algn="just">
              <a:lnSpc>
                <a:spcPct val="90000"/>
              </a:lnSpc>
              <a:spcBef>
                <a:spcPts val="1000"/>
              </a:spcBef>
              <a:spcAft>
                <a:spcPts val="0"/>
              </a:spcAft>
              <a:buClr>
                <a:srgbClr val="FF0000"/>
              </a:buClr>
              <a:buSzPts val="2600"/>
              <a:buNone/>
            </a:pPr>
            <a:r>
              <a:rPr b="1" lang="en-IN" sz="2600">
                <a:solidFill>
                  <a:srgbClr val="FF0000"/>
                </a:solidFill>
              </a:rPr>
              <a:t>Accept/Reject criteria: </a:t>
            </a:r>
            <a:endParaRPr/>
          </a:p>
          <a:p>
            <a:pPr indent="0" lvl="0" marL="0" rtl="0" algn="just">
              <a:lnSpc>
                <a:spcPct val="90000"/>
              </a:lnSpc>
              <a:spcBef>
                <a:spcPts val="1000"/>
              </a:spcBef>
              <a:spcAft>
                <a:spcPts val="0"/>
              </a:spcAft>
              <a:buClr>
                <a:schemeClr val="dk1"/>
              </a:buClr>
              <a:buSzPts val="2600"/>
              <a:buNone/>
            </a:pPr>
            <a:r>
              <a:rPr lang="en-IN" sz="2600"/>
              <a:t>If the present value of cash inflows is more than the present value of cash outflows, it would be accepted. If not, it would be rejected.</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Note:  </a:t>
            </a:r>
            <a:r>
              <a:rPr b="1" lang="en-IN" sz="2600">
                <a:solidFill>
                  <a:srgbClr val="00B050"/>
                </a:solidFill>
              </a:rPr>
              <a:t>Cash inflow = Net profit after tax + depreciation</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506" name="Google Shape;506;p78"/>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pic>
        <p:nvPicPr>
          <p:cNvPr id="507" name="Google Shape;507;p78"/>
          <p:cNvPicPr preferRelativeResize="0"/>
          <p:nvPr/>
        </p:nvPicPr>
        <p:blipFill rotWithShape="1">
          <a:blip r:embed="rId4">
            <a:alphaModFix/>
          </a:blip>
          <a:srcRect b="47867" l="32486" r="33489" t="38045"/>
          <a:stretch/>
        </p:blipFill>
        <p:spPr>
          <a:xfrm>
            <a:off x="2628900" y="4148364"/>
            <a:ext cx="6908800" cy="129177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9"/>
          <p:cNvSpPr txBox="1"/>
          <p:nvPr>
            <p:ph idx="1" type="body"/>
          </p:nvPr>
        </p:nvSpPr>
        <p:spPr>
          <a:xfrm>
            <a:off x="838200" y="827314"/>
            <a:ext cx="10515600" cy="5349649"/>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rgbClr val="FF0000"/>
              </a:buClr>
              <a:buSzPct val="100000"/>
              <a:buNone/>
            </a:pPr>
            <a:r>
              <a:rPr lang="en-IN">
                <a:solidFill>
                  <a:srgbClr val="FF0000"/>
                </a:solidFill>
              </a:rPr>
              <a:t>Merits: </a:t>
            </a:r>
            <a:r>
              <a:rPr lang="en-IN"/>
              <a:t>The merits of this method are: </a:t>
            </a:r>
            <a:endParaRPr/>
          </a:p>
          <a:p>
            <a:pPr indent="0" lvl="0" marL="0" rtl="0" algn="just">
              <a:lnSpc>
                <a:spcPct val="90000"/>
              </a:lnSpc>
              <a:spcBef>
                <a:spcPts val="1000"/>
              </a:spcBef>
              <a:spcAft>
                <a:spcPts val="0"/>
              </a:spcAft>
              <a:buClr>
                <a:schemeClr val="dk1"/>
              </a:buClr>
              <a:buSzPct val="100000"/>
              <a:buNone/>
            </a:pPr>
            <a:r>
              <a:rPr lang="en-IN"/>
              <a:t>(i) It takes into account the time value of money </a:t>
            </a:r>
            <a:endParaRPr/>
          </a:p>
          <a:p>
            <a:pPr indent="0" lvl="0" marL="0" rtl="0" algn="just">
              <a:lnSpc>
                <a:spcPct val="90000"/>
              </a:lnSpc>
              <a:spcBef>
                <a:spcPts val="1000"/>
              </a:spcBef>
              <a:spcAft>
                <a:spcPts val="0"/>
              </a:spcAft>
              <a:buClr>
                <a:schemeClr val="dk1"/>
              </a:buClr>
              <a:buSzPct val="100000"/>
              <a:buNone/>
            </a:pPr>
            <a:r>
              <a:rPr lang="en-IN"/>
              <a:t>(ii) It helps to accept / reject investment proposal on the basis of value of the index. </a:t>
            </a:r>
            <a:endParaRPr/>
          </a:p>
          <a:p>
            <a:pPr indent="0" lvl="0" marL="0" rtl="0" algn="just">
              <a:lnSpc>
                <a:spcPct val="90000"/>
              </a:lnSpc>
              <a:spcBef>
                <a:spcPts val="1000"/>
              </a:spcBef>
              <a:spcAft>
                <a:spcPts val="0"/>
              </a:spcAft>
              <a:buClr>
                <a:schemeClr val="dk1"/>
              </a:buClr>
              <a:buSzPct val="100000"/>
              <a:buNone/>
            </a:pPr>
            <a:r>
              <a:rPr lang="en-IN"/>
              <a:t>(iii) It is useful to rank the proposals on the basis of the highest /lowest value of the index. </a:t>
            </a:r>
            <a:endParaRPr/>
          </a:p>
          <a:p>
            <a:pPr indent="0" lvl="0" marL="0" rtl="0" algn="just">
              <a:lnSpc>
                <a:spcPct val="90000"/>
              </a:lnSpc>
              <a:spcBef>
                <a:spcPts val="1000"/>
              </a:spcBef>
              <a:spcAft>
                <a:spcPts val="0"/>
              </a:spcAft>
              <a:buClr>
                <a:schemeClr val="dk1"/>
              </a:buClr>
              <a:buSzPct val="100000"/>
              <a:buNone/>
            </a:pPr>
            <a:r>
              <a:rPr lang="en-IN"/>
              <a:t>(iv) It takes into consideration the entire stream of cash flows generated during the life of the asset. </a:t>
            </a:r>
            <a:endParaRPr/>
          </a:p>
          <a:p>
            <a:pPr indent="0" lvl="0" marL="0" rtl="0" algn="just">
              <a:lnSpc>
                <a:spcPct val="90000"/>
              </a:lnSpc>
              <a:spcBef>
                <a:spcPts val="1000"/>
              </a:spcBef>
              <a:spcAft>
                <a:spcPts val="0"/>
              </a:spcAft>
              <a:buClr>
                <a:srgbClr val="FF0000"/>
              </a:buClr>
              <a:buSzPct val="100000"/>
              <a:buNone/>
            </a:pPr>
            <a:r>
              <a:rPr lang="en-IN">
                <a:solidFill>
                  <a:srgbClr val="FF0000"/>
                </a:solidFill>
              </a:rPr>
              <a:t>Demerits</a:t>
            </a:r>
            <a:r>
              <a:rPr lang="en-IN"/>
              <a:t>: However, this technique suffers from the following limitations: </a:t>
            </a:r>
            <a:endParaRPr/>
          </a:p>
          <a:p>
            <a:pPr indent="0" lvl="0" marL="0" rtl="0" algn="just">
              <a:lnSpc>
                <a:spcPct val="90000"/>
              </a:lnSpc>
              <a:spcBef>
                <a:spcPts val="1000"/>
              </a:spcBef>
              <a:spcAft>
                <a:spcPts val="0"/>
              </a:spcAft>
              <a:buClr>
                <a:schemeClr val="dk1"/>
              </a:buClr>
              <a:buSzPct val="100000"/>
              <a:buNone/>
            </a:pPr>
            <a:r>
              <a:rPr lang="en-IN"/>
              <a:t>(i) It is somewhat difficult to compute. </a:t>
            </a:r>
            <a:endParaRPr/>
          </a:p>
          <a:p>
            <a:pPr indent="0" lvl="0" marL="0" rtl="0" algn="just">
              <a:lnSpc>
                <a:spcPct val="90000"/>
              </a:lnSpc>
              <a:spcBef>
                <a:spcPts val="1000"/>
              </a:spcBef>
              <a:spcAft>
                <a:spcPts val="0"/>
              </a:spcAft>
              <a:buClr>
                <a:schemeClr val="dk1"/>
              </a:buClr>
              <a:buSzPct val="100000"/>
              <a:buNone/>
            </a:pPr>
            <a:r>
              <a:rPr lang="en-IN"/>
              <a:t>(ii) It is difficult to understand the analytical of the decision on the basis of profitability index. </a:t>
            </a:r>
            <a:endParaRPr/>
          </a:p>
        </p:txBody>
      </p:sp>
      <p:pic>
        <p:nvPicPr>
          <p:cNvPr descr="Image result for sastra logo" id="513" name="Google Shape;513;p79"/>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0"/>
          <p:cNvSpPr txBox="1"/>
          <p:nvPr>
            <p:ph idx="1" type="body"/>
          </p:nvPr>
        </p:nvSpPr>
        <p:spPr>
          <a:xfrm>
            <a:off x="838200" y="836023"/>
            <a:ext cx="10515600" cy="534094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13. An investment of Rs. 10,000 (having scrap value of Rs. 500) yields the following returns: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The cost of capital is 10%. Is the investment desirable? Discuss it according to NPV method.</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519" name="Google Shape;519;p80"/>
          <p:cNvGraphicFramePr/>
          <p:nvPr/>
        </p:nvGraphicFramePr>
        <p:xfrm>
          <a:off x="838200" y="1652293"/>
          <a:ext cx="3000000" cy="3000000"/>
        </p:xfrm>
        <a:graphic>
          <a:graphicData uri="http://schemas.openxmlformats.org/drawingml/2006/table">
            <a:tbl>
              <a:tblPr bandRow="1" firstRow="1">
                <a:noFill/>
                <a:tableStyleId>{75140CFC-2FD2-45D3-AD89-D6322BEAE1F3}</a:tableStyleId>
              </a:tblPr>
              <a:tblGrid>
                <a:gridCol w="5257800"/>
                <a:gridCol w="5257800"/>
              </a:tblGrid>
              <a:tr h="370850">
                <a:tc>
                  <a:txBody>
                    <a:bodyPr/>
                    <a:lstStyle/>
                    <a:p>
                      <a:pPr indent="0" lvl="0" marL="0" marR="0" rtl="0" algn="ctr">
                        <a:spcBef>
                          <a:spcPts val="0"/>
                        </a:spcBef>
                        <a:spcAft>
                          <a:spcPts val="0"/>
                        </a:spcAft>
                        <a:buNone/>
                      </a:pPr>
                      <a:r>
                        <a:rPr b="0" lang="en-IN" sz="2200"/>
                        <a:t>Year </a:t>
                      </a:r>
                      <a:endParaRPr b="0" sz="2200"/>
                    </a:p>
                  </a:txBody>
                  <a:tcPr marT="45725" marB="45725" marR="91450" marL="91450"/>
                </a:tc>
                <a:tc>
                  <a:txBody>
                    <a:bodyPr/>
                    <a:lstStyle/>
                    <a:p>
                      <a:pPr indent="0" lvl="0" marL="0" marR="0" rtl="0" algn="ctr">
                        <a:spcBef>
                          <a:spcPts val="0"/>
                        </a:spcBef>
                        <a:spcAft>
                          <a:spcPts val="0"/>
                        </a:spcAft>
                        <a:buNone/>
                      </a:pPr>
                      <a:r>
                        <a:rPr b="0" lang="en-IN" sz="2200"/>
                        <a:t>Cash flows</a:t>
                      </a:r>
                      <a:r>
                        <a:rPr b="0" lang="en-IN" sz="2200"/>
                        <a:t> after tax</a:t>
                      </a:r>
                      <a:endParaRPr/>
                    </a:p>
                    <a:p>
                      <a:pPr indent="0" lvl="0" marL="0" marR="0" rtl="0" algn="ctr">
                        <a:spcBef>
                          <a:spcPts val="0"/>
                        </a:spcBef>
                        <a:spcAft>
                          <a:spcPts val="0"/>
                        </a:spcAft>
                        <a:buNone/>
                      </a:pPr>
                      <a:r>
                        <a:rPr b="0" lang="en-IN" sz="2200"/>
                        <a:t>Rs.</a:t>
                      </a:r>
                      <a:endParaRPr b="0" sz="2200"/>
                    </a:p>
                  </a:txBody>
                  <a:tcPr marT="45725" marB="45725" marR="91450" marL="91450"/>
                </a:tc>
              </a:tr>
              <a:tr h="590175">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4,000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4,000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3,000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3,000</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2,500</a:t>
                      </a:r>
                      <a:endParaRPr sz="2500"/>
                    </a:p>
                  </a:txBody>
                  <a:tcPr marT="45725" marB="45725" marR="91450" marL="91450"/>
                </a:tc>
              </a:tr>
            </a:tbl>
          </a:graphicData>
        </a:graphic>
      </p:graphicFrame>
      <p:pic>
        <p:nvPicPr>
          <p:cNvPr descr="Image result for sastra logo" id="520" name="Google Shape;520;p80"/>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81"/>
          <p:cNvSpPr txBox="1"/>
          <p:nvPr>
            <p:ph idx="1" type="body"/>
          </p:nvPr>
        </p:nvSpPr>
        <p:spPr>
          <a:xfrm>
            <a:off x="838200" y="705394"/>
            <a:ext cx="10515600" cy="547156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Statement showing NPV</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526" name="Google Shape;526;p81"/>
          <p:cNvGraphicFramePr/>
          <p:nvPr/>
        </p:nvGraphicFramePr>
        <p:xfrm>
          <a:off x="838200" y="1137676"/>
          <a:ext cx="3000000" cy="3000000"/>
        </p:xfrm>
        <a:graphic>
          <a:graphicData uri="http://schemas.openxmlformats.org/drawingml/2006/table">
            <a:tbl>
              <a:tblPr bandRow="1" firstRow="1">
                <a:noFill/>
                <a:tableStyleId>{75140CFC-2FD2-45D3-AD89-D6322BEAE1F3}</a:tableStyleId>
              </a:tblPr>
              <a:tblGrid>
                <a:gridCol w="1565375"/>
                <a:gridCol w="4049475"/>
                <a:gridCol w="2011675"/>
                <a:gridCol w="2889075"/>
              </a:tblGrid>
              <a:tr h="370850">
                <a:tc>
                  <a:txBody>
                    <a:bodyPr/>
                    <a:lstStyle/>
                    <a:p>
                      <a:pPr indent="0" lvl="0" marL="0" marR="0" rtl="0" algn="ctr">
                        <a:spcBef>
                          <a:spcPts val="0"/>
                        </a:spcBef>
                        <a:spcAft>
                          <a:spcPts val="0"/>
                        </a:spcAft>
                        <a:buNone/>
                      </a:pPr>
                      <a:r>
                        <a:rPr lang="en-IN" sz="2000"/>
                        <a:t>Year</a:t>
                      </a:r>
                      <a:endParaRPr sz="2000"/>
                    </a:p>
                  </a:txBody>
                  <a:tcPr marT="45725" marB="45725" marR="91450" marL="91450"/>
                </a:tc>
                <a:tc>
                  <a:txBody>
                    <a:bodyPr/>
                    <a:lstStyle/>
                    <a:p>
                      <a:pPr indent="0" lvl="0" marL="0" marR="0" rtl="0" algn="ctr">
                        <a:spcBef>
                          <a:spcPts val="0"/>
                        </a:spcBef>
                        <a:spcAft>
                          <a:spcPts val="0"/>
                        </a:spcAft>
                        <a:buNone/>
                      </a:pPr>
                      <a:r>
                        <a:rPr lang="en-IN" sz="2000"/>
                        <a:t> CFAT</a:t>
                      </a:r>
                      <a:endParaRPr/>
                    </a:p>
                    <a:p>
                      <a:pPr indent="0" lvl="0" marL="0" marR="0" rtl="0" algn="ctr">
                        <a:spcBef>
                          <a:spcPts val="0"/>
                        </a:spcBef>
                        <a:spcAft>
                          <a:spcPts val="0"/>
                        </a:spcAft>
                        <a:buNone/>
                      </a:pPr>
                      <a:r>
                        <a:rPr lang="en-IN" sz="2000"/>
                        <a:t>Rs.</a:t>
                      </a:r>
                      <a:endParaRPr sz="2000"/>
                    </a:p>
                  </a:txBody>
                  <a:tcPr marT="45725" marB="45725" marR="91450" marL="91450"/>
                </a:tc>
                <a:tc>
                  <a:txBody>
                    <a:bodyPr/>
                    <a:lstStyle/>
                    <a:p>
                      <a:pPr indent="0" lvl="0" marL="0" marR="0" rtl="0" algn="ctr">
                        <a:spcBef>
                          <a:spcPts val="0"/>
                        </a:spcBef>
                        <a:spcAft>
                          <a:spcPts val="0"/>
                        </a:spcAft>
                        <a:buNone/>
                      </a:pPr>
                      <a:r>
                        <a:rPr lang="en-IN" sz="2000"/>
                        <a:t>PV factor</a:t>
                      </a:r>
                      <a:r>
                        <a:rPr lang="en-IN" sz="2000"/>
                        <a:t> at 10%</a:t>
                      </a:r>
                      <a:endParaRPr sz="2000"/>
                    </a:p>
                  </a:txBody>
                  <a:tcPr marT="45725" marB="45725" marR="91450" marL="91450"/>
                </a:tc>
                <a:tc>
                  <a:txBody>
                    <a:bodyPr/>
                    <a:lstStyle/>
                    <a:p>
                      <a:pPr indent="0" lvl="0" marL="0" marR="0" rtl="0" algn="ctr">
                        <a:spcBef>
                          <a:spcPts val="0"/>
                        </a:spcBef>
                        <a:spcAft>
                          <a:spcPts val="0"/>
                        </a:spcAft>
                        <a:buNone/>
                      </a:pPr>
                      <a:r>
                        <a:rPr lang="en-IN" sz="2000"/>
                        <a:t>Present value of cash inflows</a:t>
                      </a:r>
                      <a:r>
                        <a:rPr lang="en-IN" sz="2000"/>
                        <a:t> (</a:t>
                      </a: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4,000</a:t>
                      </a:r>
                      <a:endParaRPr sz="2500"/>
                    </a:p>
                  </a:txBody>
                  <a:tcPr marT="45725" marB="45725" marR="91450" marL="91450"/>
                </a:tc>
                <a:tc>
                  <a:txBody>
                    <a:bodyPr/>
                    <a:lstStyle/>
                    <a:p>
                      <a:pPr indent="0" lvl="0" marL="0" marR="0" rtl="0" algn="ctr">
                        <a:spcBef>
                          <a:spcPts val="0"/>
                        </a:spcBef>
                        <a:spcAft>
                          <a:spcPts val="0"/>
                        </a:spcAft>
                        <a:buNone/>
                      </a:pPr>
                      <a:r>
                        <a:rPr lang="en-IN" sz="2500"/>
                        <a:t>0.909</a:t>
                      </a:r>
                      <a:endParaRPr sz="2500"/>
                    </a:p>
                  </a:txBody>
                  <a:tcPr marT="45725" marB="45725" marR="91450" marL="91450"/>
                </a:tc>
                <a:tc>
                  <a:txBody>
                    <a:bodyPr/>
                    <a:lstStyle/>
                    <a:p>
                      <a:pPr indent="0" lvl="0" marL="0" marR="0" rtl="0" algn="ctr">
                        <a:spcBef>
                          <a:spcPts val="0"/>
                        </a:spcBef>
                        <a:spcAft>
                          <a:spcPts val="0"/>
                        </a:spcAft>
                        <a:buNone/>
                      </a:pPr>
                      <a:r>
                        <a:rPr lang="en-IN" sz="2500"/>
                        <a:t>3,636</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4,000</a:t>
                      </a:r>
                      <a:endParaRPr sz="2500"/>
                    </a:p>
                  </a:txBody>
                  <a:tcPr marT="45725" marB="45725" marR="91450" marL="91450"/>
                </a:tc>
                <a:tc>
                  <a:txBody>
                    <a:bodyPr/>
                    <a:lstStyle/>
                    <a:p>
                      <a:pPr indent="0" lvl="0" marL="0" marR="0" rtl="0" algn="ctr">
                        <a:spcBef>
                          <a:spcPts val="0"/>
                        </a:spcBef>
                        <a:spcAft>
                          <a:spcPts val="0"/>
                        </a:spcAft>
                        <a:buNone/>
                      </a:pPr>
                      <a:r>
                        <a:rPr lang="en-IN" sz="2500"/>
                        <a:t>0.826</a:t>
                      </a:r>
                      <a:endParaRPr sz="2500"/>
                    </a:p>
                  </a:txBody>
                  <a:tcPr marT="45725" marB="45725" marR="91450" marL="91450"/>
                </a:tc>
                <a:tc>
                  <a:txBody>
                    <a:bodyPr/>
                    <a:lstStyle/>
                    <a:p>
                      <a:pPr indent="0" lvl="0" marL="0" marR="0" rtl="0" algn="ctr">
                        <a:spcBef>
                          <a:spcPts val="0"/>
                        </a:spcBef>
                        <a:spcAft>
                          <a:spcPts val="0"/>
                        </a:spcAft>
                        <a:buNone/>
                      </a:pPr>
                      <a:r>
                        <a:rPr lang="en-IN" sz="2500"/>
                        <a:t>3,304</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3,000</a:t>
                      </a:r>
                      <a:endParaRPr sz="2500"/>
                    </a:p>
                  </a:txBody>
                  <a:tcPr marT="45725" marB="45725" marR="91450" marL="91450"/>
                </a:tc>
                <a:tc>
                  <a:txBody>
                    <a:bodyPr/>
                    <a:lstStyle/>
                    <a:p>
                      <a:pPr indent="0" lvl="0" marL="0" marR="0" rtl="0" algn="ctr">
                        <a:spcBef>
                          <a:spcPts val="0"/>
                        </a:spcBef>
                        <a:spcAft>
                          <a:spcPts val="0"/>
                        </a:spcAft>
                        <a:buNone/>
                      </a:pPr>
                      <a:r>
                        <a:rPr lang="en-IN" sz="2500"/>
                        <a:t>0.751</a:t>
                      </a:r>
                      <a:endParaRPr sz="2500"/>
                    </a:p>
                  </a:txBody>
                  <a:tcPr marT="45725" marB="45725" marR="91450" marL="91450"/>
                </a:tc>
                <a:tc>
                  <a:txBody>
                    <a:bodyPr/>
                    <a:lstStyle/>
                    <a:p>
                      <a:pPr indent="0" lvl="0" marL="0" marR="0" rtl="0" algn="ctr">
                        <a:spcBef>
                          <a:spcPts val="0"/>
                        </a:spcBef>
                        <a:spcAft>
                          <a:spcPts val="0"/>
                        </a:spcAft>
                        <a:buNone/>
                      </a:pPr>
                      <a:r>
                        <a:rPr lang="en-IN" sz="2500"/>
                        <a:t>2,253</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3,000</a:t>
                      </a:r>
                      <a:endParaRPr sz="2500"/>
                    </a:p>
                  </a:txBody>
                  <a:tcPr marT="45725" marB="45725" marR="91450" marL="91450"/>
                </a:tc>
                <a:tc>
                  <a:txBody>
                    <a:bodyPr/>
                    <a:lstStyle/>
                    <a:p>
                      <a:pPr indent="0" lvl="0" marL="0" marR="0" rtl="0" algn="ctr">
                        <a:spcBef>
                          <a:spcPts val="0"/>
                        </a:spcBef>
                        <a:spcAft>
                          <a:spcPts val="0"/>
                        </a:spcAft>
                        <a:buNone/>
                      </a:pPr>
                      <a:r>
                        <a:rPr lang="en-IN" sz="2500"/>
                        <a:t>0.683</a:t>
                      </a:r>
                      <a:endParaRPr sz="2500"/>
                    </a:p>
                  </a:txBody>
                  <a:tcPr marT="45725" marB="45725" marR="91450" marL="91450"/>
                </a:tc>
                <a:tc>
                  <a:txBody>
                    <a:bodyPr/>
                    <a:lstStyle/>
                    <a:p>
                      <a:pPr indent="0" lvl="0" marL="0" marR="0" rtl="0" algn="ctr">
                        <a:spcBef>
                          <a:spcPts val="0"/>
                        </a:spcBef>
                        <a:spcAft>
                          <a:spcPts val="0"/>
                        </a:spcAft>
                        <a:buNone/>
                      </a:pPr>
                      <a:r>
                        <a:rPr lang="en-IN" sz="2500"/>
                        <a:t>2,049</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2,500</a:t>
                      </a:r>
                      <a:endParaRPr sz="2500"/>
                    </a:p>
                  </a:txBody>
                  <a:tcPr marT="45725" marB="45725" marR="91450" marL="91450"/>
                </a:tc>
                <a:tc>
                  <a:txBody>
                    <a:bodyPr/>
                    <a:lstStyle/>
                    <a:p>
                      <a:pPr indent="0" lvl="0" marL="0" marR="0" rtl="0" algn="ctr">
                        <a:spcBef>
                          <a:spcPts val="0"/>
                        </a:spcBef>
                        <a:spcAft>
                          <a:spcPts val="0"/>
                        </a:spcAft>
                        <a:buNone/>
                      </a:pPr>
                      <a:r>
                        <a:rPr lang="en-IN" sz="2500"/>
                        <a:t>0.620</a:t>
                      </a:r>
                      <a:endParaRPr sz="2500"/>
                    </a:p>
                  </a:txBody>
                  <a:tcPr marT="45725" marB="45725" marR="91450" marL="91450"/>
                </a:tc>
                <a:tc>
                  <a:txBody>
                    <a:bodyPr/>
                    <a:lstStyle/>
                    <a:p>
                      <a:pPr indent="0" lvl="0" marL="0" marR="0" rtl="0" algn="ctr">
                        <a:spcBef>
                          <a:spcPts val="0"/>
                        </a:spcBef>
                        <a:spcAft>
                          <a:spcPts val="0"/>
                        </a:spcAft>
                        <a:buNone/>
                      </a:pPr>
                      <a:r>
                        <a:rPr lang="en-IN" sz="2500"/>
                        <a:t>1,550</a:t>
                      </a:r>
                      <a:endParaRPr sz="2500"/>
                    </a:p>
                  </a:txBody>
                  <a:tcPr marT="45725" marB="45725" marR="91450" marL="91450"/>
                </a:tc>
              </a:tr>
              <a:tr h="370850">
                <a:tc>
                  <a:txBody>
                    <a:bodyPr/>
                    <a:lstStyle/>
                    <a:p>
                      <a:pPr indent="0" lvl="0" marL="0" marR="0" rtl="0" algn="ctr">
                        <a:spcBef>
                          <a:spcPts val="0"/>
                        </a:spcBef>
                        <a:spcAft>
                          <a:spcPts val="0"/>
                        </a:spcAft>
                        <a:buNone/>
                      </a:pPr>
                      <a:r>
                        <a:rPr lang="en-IN" sz="2500"/>
                        <a:t>5. (Scrap) </a:t>
                      </a:r>
                      <a:endParaRPr sz="2500"/>
                    </a:p>
                  </a:txBody>
                  <a:tcPr marT="45725" marB="45725" marR="91450" marL="91450"/>
                </a:tc>
                <a:tc>
                  <a:txBody>
                    <a:bodyPr/>
                    <a:lstStyle/>
                    <a:p>
                      <a:pPr indent="0" lvl="0" marL="0" marR="0" rtl="0" algn="ctr">
                        <a:spcBef>
                          <a:spcPts val="0"/>
                        </a:spcBef>
                        <a:spcAft>
                          <a:spcPts val="0"/>
                        </a:spcAft>
                        <a:buNone/>
                      </a:pPr>
                      <a:r>
                        <a:rPr lang="en-IN" sz="2500"/>
                        <a:t>500</a:t>
                      </a:r>
                      <a:endParaRPr sz="2500"/>
                    </a:p>
                  </a:txBody>
                  <a:tcPr marT="45725" marB="45725" marR="91450" marL="91450"/>
                </a:tc>
                <a:tc>
                  <a:txBody>
                    <a:bodyPr/>
                    <a:lstStyle/>
                    <a:p>
                      <a:pPr indent="0" lvl="0" marL="0" marR="0" rtl="0" algn="ctr">
                        <a:spcBef>
                          <a:spcPts val="0"/>
                        </a:spcBef>
                        <a:spcAft>
                          <a:spcPts val="0"/>
                        </a:spcAft>
                        <a:buNone/>
                      </a:pPr>
                      <a:r>
                        <a:rPr lang="en-IN" sz="2500"/>
                        <a:t>0.620</a:t>
                      </a:r>
                      <a:endParaRPr sz="2500"/>
                    </a:p>
                  </a:txBody>
                  <a:tcPr marT="45725" marB="45725" marR="91450" marL="91450"/>
                </a:tc>
                <a:tc>
                  <a:txBody>
                    <a:bodyPr/>
                    <a:lstStyle/>
                    <a:p>
                      <a:pPr indent="0" lvl="0" marL="0" marR="0" rtl="0" algn="ctr">
                        <a:spcBef>
                          <a:spcPts val="0"/>
                        </a:spcBef>
                        <a:spcAft>
                          <a:spcPts val="0"/>
                        </a:spcAft>
                        <a:buNone/>
                      </a:pPr>
                      <a:r>
                        <a:rPr lang="en-IN" sz="2500"/>
                        <a:t>310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lang="en-IN" sz="2500">
                          <a:solidFill>
                            <a:srgbClr val="FF0000"/>
                          </a:solidFill>
                        </a:rPr>
                        <a:t>Total Present Value of Cash inflows</a:t>
                      </a:r>
                      <a:endParaRPr sz="2500">
                        <a:solidFill>
                          <a:srgbClr val="FF0000"/>
                        </a:solidFill>
                      </a:endParaRPr>
                    </a:p>
                  </a:txBody>
                  <a:tcPr marT="45725" marB="45725" marR="91450" marL="91450"/>
                </a:tc>
                <a:tc hMerge="1"/>
                <a:tc>
                  <a:txBody>
                    <a:bodyPr/>
                    <a:lstStyle/>
                    <a:p>
                      <a:pPr indent="0" lvl="0" marL="0" marR="0" rtl="0" algn="ctr">
                        <a:spcBef>
                          <a:spcPts val="0"/>
                        </a:spcBef>
                        <a:spcAft>
                          <a:spcPts val="0"/>
                        </a:spcAft>
                        <a:buNone/>
                      </a:pPr>
                      <a:r>
                        <a:rPr lang="en-IN" sz="2500">
                          <a:solidFill>
                            <a:srgbClr val="FF0000"/>
                          </a:solidFill>
                        </a:rPr>
                        <a:t>13,102</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lang="en-IN" sz="2500"/>
                        <a:t>Present value of cash outflow</a:t>
                      </a:r>
                      <a:endParaRPr sz="2500"/>
                    </a:p>
                  </a:txBody>
                  <a:tcPr marT="45725" marB="45725" marR="91450" marL="91450"/>
                </a:tc>
                <a:tc hMerge="1"/>
                <a:tc>
                  <a:txBody>
                    <a:bodyPr/>
                    <a:lstStyle/>
                    <a:p>
                      <a:pPr indent="0" lvl="0" marL="0" marR="0" rtl="0" algn="ctr">
                        <a:spcBef>
                          <a:spcPts val="0"/>
                        </a:spcBef>
                        <a:spcAft>
                          <a:spcPts val="0"/>
                        </a:spcAft>
                        <a:buNone/>
                      </a:pPr>
                      <a:r>
                        <a:rPr lang="en-IN" sz="2500"/>
                        <a:t>10,000</a:t>
                      </a:r>
                      <a:endParaRPr sz="25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ctr">
                        <a:spcBef>
                          <a:spcPts val="0"/>
                        </a:spcBef>
                        <a:spcAft>
                          <a:spcPts val="0"/>
                        </a:spcAft>
                        <a:buNone/>
                      </a:pPr>
                      <a:r>
                        <a:rPr b="1" lang="en-IN" sz="2500">
                          <a:solidFill>
                            <a:srgbClr val="FF0000"/>
                          </a:solidFill>
                        </a:rPr>
                        <a:t>3,102</a:t>
                      </a:r>
                      <a:endParaRPr b="1" sz="2500">
                        <a:solidFill>
                          <a:srgbClr val="FF0000"/>
                        </a:solidFill>
                      </a:endParaRPr>
                    </a:p>
                  </a:txBody>
                  <a:tcPr marT="45725" marB="45725" marR="91450" marL="91450"/>
                </a:tc>
              </a:tr>
              <a:tr h="370850">
                <a:tc gridSpan="4">
                  <a:txBody>
                    <a:bodyPr/>
                    <a:lstStyle/>
                    <a:p>
                      <a:pPr indent="0" lvl="0" marL="0" marR="0" rtl="0" algn="ctr">
                        <a:spcBef>
                          <a:spcPts val="0"/>
                        </a:spcBef>
                        <a:spcAft>
                          <a:spcPts val="0"/>
                        </a:spcAft>
                        <a:buNone/>
                      </a:pPr>
                      <a:r>
                        <a:rPr b="1" lang="en-IN" sz="2500">
                          <a:solidFill>
                            <a:srgbClr val="FF0000"/>
                          </a:solidFill>
                        </a:rPr>
                        <a:t>Comment</a:t>
                      </a:r>
                      <a:r>
                        <a:rPr lang="en-IN" sz="2500">
                          <a:solidFill>
                            <a:srgbClr val="FF0000"/>
                          </a:solidFill>
                        </a:rPr>
                        <a:t>: Since the NPV is positive. Therefore, the investment is positive.</a:t>
                      </a:r>
                      <a:endParaRPr sz="2500">
                        <a:solidFill>
                          <a:srgbClr val="FF0000"/>
                        </a:solidFill>
                      </a:endParaRPr>
                    </a:p>
                  </a:txBody>
                  <a:tcPr marT="45725" marB="45725" marR="91450" marL="91450"/>
                </a:tc>
                <a:tc hMerge="1"/>
                <a:tc hMerge="1"/>
                <a:tc hMerge="1"/>
              </a:tr>
            </a:tbl>
          </a:graphicData>
        </a:graphic>
      </p:graphicFrame>
      <p:pic>
        <p:nvPicPr>
          <p:cNvPr descr="Image result for sastra logo" id="527" name="Google Shape;527;p81"/>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2"/>
          <p:cNvSpPr txBox="1"/>
          <p:nvPr>
            <p:ph idx="1" type="body"/>
          </p:nvPr>
        </p:nvSpPr>
        <p:spPr>
          <a:xfrm>
            <a:off x="838200" y="783771"/>
            <a:ext cx="10515600" cy="587828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500"/>
              <a:buNone/>
            </a:pPr>
            <a:r>
              <a:rPr lang="en-IN" sz="2500"/>
              <a:t>P14. From the following information, calculate the net present value of the two project and suggest which of the two projects should be accepted at the  discount rate of 10%.</a:t>
            </a:r>
            <a:endParaRPr/>
          </a:p>
          <a:p>
            <a:pPr indent="0" lvl="0" marL="0" rtl="0" algn="just">
              <a:lnSpc>
                <a:spcPct val="90000"/>
              </a:lnSpc>
              <a:spcBef>
                <a:spcPts val="1000"/>
              </a:spcBef>
              <a:spcAft>
                <a:spcPts val="0"/>
              </a:spcAft>
              <a:buClr>
                <a:schemeClr val="dk1"/>
              </a:buClr>
              <a:buSzPts val="2500"/>
              <a:buNone/>
            </a:pPr>
            <a:r>
              <a:t/>
            </a:r>
            <a:endParaRPr sz="2500"/>
          </a:p>
        </p:txBody>
      </p:sp>
      <p:graphicFrame>
        <p:nvGraphicFramePr>
          <p:cNvPr id="533" name="Google Shape;533;p82"/>
          <p:cNvGraphicFramePr/>
          <p:nvPr/>
        </p:nvGraphicFramePr>
        <p:xfrm>
          <a:off x="838200" y="1839686"/>
          <a:ext cx="3000000" cy="3000000"/>
        </p:xfrm>
        <a:graphic>
          <a:graphicData uri="http://schemas.openxmlformats.org/drawingml/2006/table">
            <a:tbl>
              <a:tblPr bandRow="1" firstRow="1">
                <a:noFill/>
                <a:tableStyleId>{75140CFC-2FD2-45D3-AD89-D6322BEAE1F3}</a:tableStyleId>
              </a:tblPr>
              <a:tblGrid>
                <a:gridCol w="7434950"/>
                <a:gridCol w="1567550"/>
                <a:gridCol w="1513125"/>
              </a:tblGrid>
              <a:tr h="440875">
                <a:tc>
                  <a:txBody>
                    <a:bodyPr/>
                    <a:lstStyle/>
                    <a:p>
                      <a:pPr indent="0" lvl="0" marL="0" marR="0" rtl="0" algn="ctr">
                        <a:spcBef>
                          <a:spcPts val="0"/>
                        </a:spcBef>
                        <a:spcAft>
                          <a:spcPts val="0"/>
                        </a:spcAft>
                        <a:buNone/>
                      </a:pPr>
                      <a:r>
                        <a:rPr lang="en-IN" sz="2200"/>
                        <a:t>Particulars</a:t>
                      </a:r>
                      <a:endParaRPr sz="2200"/>
                    </a:p>
                  </a:txBody>
                  <a:tcPr marT="45725" marB="45725" marR="91450" marL="91450"/>
                </a:tc>
                <a:tc>
                  <a:txBody>
                    <a:bodyPr/>
                    <a:lstStyle/>
                    <a:p>
                      <a:pPr indent="0" lvl="0" marL="0" marR="0" rtl="0" algn="r">
                        <a:spcBef>
                          <a:spcPts val="0"/>
                        </a:spcBef>
                        <a:spcAft>
                          <a:spcPts val="0"/>
                        </a:spcAft>
                        <a:buNone/>
                      </a:pPr>
                      <a:r>
                        <a:rPr lang="en-IN" sz="2200"/>
                        <a:t>Project X</a:t>
                      </a:r>
                      <a:endParaRPr sz="2200"/>
                    </a:p>
                  </a:txBody>
                  <a:tcPr marT="45725" marB="45725" marR="91450" marL="91450"/>
                </a:tc>
                <a:tc>
                  <a:txBody>
                    <a:bodyPr/>
                    <a:lstStyle/>
                    <a:p>
                      <a:pPr indent="0" lvl="0" marL="0" marR="0" rtl="0" algn="r">
                        <a:spcBef>
                          <a:spcPts val="0"/>
                        </a:spcBef>
                        <a:spcAft>
                          <a:spcPts val="0"/>
                        </a:spcAft>
                        <a:buNone/>
                      </a:pPr>
                      <a:r>
                        <a:rPr lang="en-IN" sz="2200"/>
                        <a:t>Project Y</a:t>
                      </a:r>
                      <a:endParaRPr sz="2200"/>
                    </a:p>
                  </a:txBody>
                  <a:tcPr marT="45725" marB="45725" marR="91450" marL="91450"/>
                </a:tc>
              </a:tr>
              <a:tr h="433600">
                <a:tc>
                  <a:txBody>
                    <a:bodyPr/>
                    <a:lstStyle/>
                    <a:p>
                      <a:pPr indent="0" lvl="0" marL="0" marR="0" rtl="0" algn="l">
                        <a:spcBef>
                          <a:spcPts val="0"/>
                        </a:spcBef>
                        <a:spcAft>
                          <a:spcPts val="0"/>
                        </a:spcAft>
                        <a:buNone/>
                      </a:pPr>
                      <a:r>
                        <a:rPr lang="en-IN" sz="2500"/>
                        <a:t>Initial Investment</a:t>
                      </a:r>
                      <a:endParaRPr sz="2500"/>
                    </a:p>
                  </a:txBody>
                  <a:tcPr marT="45725" marB="45725" marR="91450" marL="91450"/>
                </a:tc>
                <a:tc>
                  <a:txBody>
                    <a:bodyPr/>
                    <a:lstStyle/>
                    <a:p>
                      <a:pPr indent="0" lvl="0" marL="0" marR="0" rtl="0" algn="r">
                        <a:spcBef>
                          <a:spcPts val="0"/>
                        </a:spcBef>
                        <a:spcAft>
                          <a:spcPts val="0"/>
                        </a:spcAft>
                        <a:buNone/>
                      </a:pPr>
                      <a:r>
                        <a:rPr lang="en-IN" sz="2500"/>
                        <a:t>Rs. 20,000</a:t>
                      </a:r>
                      <a:endParaRPr sz="2500"/>
                    </a:p>
                  </a:txBody>
                  <a:tcPr marT="45725" marB="45725" marR="91450" marL="91450"/>
                </a:tc>
                <a:tc>
                  <a:txBody>
                    <a:bodyPr/>
                    <a:lstStyle/>
                    <a:p>
                      <a:pPr indent="0" lvl="0" marL="0" marR="0" rtl="0" algn="r">
                        <a:spcBef>
                          <a:spcPts val="0"/>
                        </a:spcBef>
                        <a:spcAft>
                          <a:spcPts val="0"/>
                        </a:spcAft>
                        <a:buNone/>
                      </a:pPr>
                      <a:r>
                        <a:rPr lang="en-IN" sz="2500"/>
                        <a:t>Rs. 30,000</a:t>
                      </a:r>
                      <a:endParaRPr sz="2500"/>
                    </a:p>
                  </a:txBody>
                  <a:tcPr marT="45725" marB="45725" marR="91450" marL="91450"/>
                </a:tc>
              </a:tr>
              <a:tr h="440875">
                <a:tc>
                  <a:txBody>
                    <a:bodyPr/>
                    <a:lstStyle/>
                    <a:p>
                      <a:pPr indent="0" lvl="0" marL="0" marR="0" rtl="0" algn="l">
                        <a:spcBef>
                          <a:spcPts val="0"/>
                        </a:spcBef>
                        <a:spcAft>
                          <a:spcPts val="0"/>
                        </a:spcAft>
                        <a:buNone/>
                      </a:pPr>
                      <a:r>
                        <a:rPr lang="en-IN" sz="2500"/>
                        <a:t>Estimated Life</a:t>
                      </a:r>
                      <a:endParaRPr sz="2500"/>
                    </a:p>
                  </a:txBody>
                  <a:tcPr marT="45725" marB="45725" marR="91450" marL="91450"/>
                </a:tc>
                <a:tc>
                  <a:txBody>
                    <a:bodyPr/>
                    <a:lstStyle/>
                    <a:p>
                      <a:pPr indent="0" lvl="0" marL="0" marR="0" rtl="0" algn="r">
                        <a:spcBef>
                          <a:spcPts val="0"/>
                        </a:spcBef>
                        <a:spcAft>
                          <a:spcPts val="0"/>
                        </a:spcAft>
                        <a:buNone/>
                      </a:pPr>
                      <a:r>
                        <a:rPr lang="en-IN" sz="2500"/>
                        <a:t>5 </a:t>
                      </a:r>
                      <a:r>
                        <a:rPr lang="en-IN" sz="2500"/>
                        <a:t>  Y</a:t>
                      </a:r>
                      <a:r>
                        <a:rPr lang="en-IN" sz="2500"/>
                        <a:t>ears</a:t>
                      </a:r>
                      <a:endParaRPr sz="2500"/>
                    </a:p>
                  </a:txBody>
                  <a:tcPr marT="45725" marB="45725" marR="91450" marL="91450"/>
                </a:tc>
                <a:tc>
                  <a:txBody>
                    <a:bodyPr/>
                    <a:lstStyle/>
                    <a:p>
                      <a:pPr indent="0" lvl="0" marL="0" marR="0" rtl="0" algn="r">
                        <a:spcBef>
                          <a:spcPts val="0"/>
                        </a:spcBef>
                        <a:spcAft>
                          <a:spcPts val="0"/>
                        </a:spcAft>
                        <a:buNone/>
                      </a:pPr>
                      <a:r>
                        <a:rPr lang="en-IN" sz="2500"/>
                        <a:t>5 Years</a:t>
                      </a:r>
                      <a:endParaRPr sz="2500"/>
                    </a:p>
                  </a:txBody>
                  <a:tcPr marT="45725" marB="45725" marR="91450" marL="91450"/>
                </a:tc>
              </a:tr>
              <a:tr h="440875">
                <a:tc>
                  <a:txBody>
                    <a:bodyPr/>
                    <a:lstStyle/>
                    <a:p>
                      <a:pPr indent="0" lvl="0" marL="0" marR="0" rtl="0" algn="l">
                        <a:spcBef>
                          <a:spcPts val="0"/>
                        </a:spcBef>
                        <a:spcAft>
                          <a:spcPts val="0"/>
                        </a:spcAft>
                        <a:buNone/>
                      </a:pPr>
                      <a:r>
                        <a:rPr lang="en-IN" sz="2500"/>
                        <a:t>Scrap Value</a:t>
                      </a:r>
                      <a:endParaRPr sz="2500"/>
                    </a:p>
                  </a:txBody>
                  <a:tcPr marT="45725" marB="45725" marR="91450" marL="91450"/>
                </a:tc>
                <a:tc>
                  <a:txBody>
                    <a:bodyPr/>
                    <a:lstStyle/>
                    <a:p>
                      <a:pPr indent="0" lvl="0" marL="0" marR="0" rtl="0" algn="r">
                        <a:spcBef>
                          <a:spcPts val="0"/>
                        </a:spcBef>
                        <a:spcAft>
                          <a:spcPts val="0"/>
                        </a:spcAft>
                        <a:buNone/>
                      </a:pPr>
                      <a:r>
                        <a:rPr lang="en-IN" sz="2500"/>
                        <a:t>Rs. 1,000</a:t>
                      </a:r>
                      <a:endParaRPr sz="2500"/>
                    </a:p>
                  </a:txBody>
                  <a:tcPr marT="45725" marB="45725" marR="91450" marL="91450"/>
                </a:tc>
                <a:tc>
                  <a:txBody>
                    <a:bodyPr/>
                    <a:lstStyle/>
                    <a:p>
                      <a:pPr indent="0" lvl="0" marL="0" marR="0" rtl="0" algn="r">
                        <a:spcBef>
                          <a:spcPts val="0"/>
                        </a:spcBef>
                        <a:spcAft>
                          <a:spcPts val="0"/>
                        </a:spcAft>
                        <a:buNone/>
                      </a:pPr>
                      <a:r>
                        <a:rPr lang="en-IN" sz="2500"/>
                        <a:t>Rs. 2,000</a:t>
                      </a:r>
                      <a:endParaRPr sz="2500"/>
                    </a:p>
                  </a:txBody>
                  <a:tcPr marT="45725" marB="45725" marR="91450" marL="91450"/>
                </a:tc>
              </a:tr>
              <a:tr h="440875">
                <a:tc>
                  <a:txBody>
                    <a:bodyPr/>
                    <a:lstStyle/>
                    <a:p>
                      <a:pPr indent="0" lvl="0" marL="0" marR="0" rtl="0" algn="l">
                        <a:spcBef>
                          <a:spcPts val="0"/>
                        </a:spcBef>
                        <a:spcAft>
                          <a:spcPts val="0"/>
                        </a:spcAft>
                        <a:buNone/>
                      </a:pPr>
                      <a:r>
                        <a:rPr lang="en-IN" sz="2500"/>
                        <a:t>Profits before dep. and after taxation (cash inflows)</a:t>
                      </a:r>
                      <a:endParaRPr sz="2500"/>
                    </a:p>
                  </a:txBody>
                  <a:tcPr marT="45725" marB="45725" marR="91450" marL="91450"/>
                </a:tc>
                <a:tc>
                  <a:txBody>
                    <a:bodyPr/>
                    <a:lstStyle/>
                    <a:p>
                      <a:pPr indent="0" lvl="0" marL="0" marR="0" rtl="0" algn="r">
                        <a:spcBef>
                          <a:spcPts val="0"/>
                        </a:spcBef>
                        <a:spcAft>
                          <a:spcPts val="0"/>
                        </a:spcAft>
                        <a:buNone/>
                      </a:pPr>
                      <a:r>
                        <a:rPr lang="en-IN" sz="2500"/>
                        <a:t>Rs.</a:t>
                      </a:r>
                      <a:endParaRPr sz="2500"/>
                    </a:p>
                  </a:txBody>
                  <a:tcPr marT="45725" marB="45725" marR="91450" marL="91450"/>
                </a:tc>
                <a:tc>
                  <a:txBody>
                    <a:bodyPr/>
                    <a:lstStyle/>
                    <a:p>
                      <a:pPr indent="0" lvl="0" marL="0" marR="0" rtl="0" algn="r">
                        <a:spcBef>
                          <a:spcPts val="0"/>
                        </a:spcBef>
                        <a:spcAft>
                          <a:spcPts val="0"/>
                        </a:spcAft>
                        <a:buNone/>
                      </a:pPr>
                      <a:r>
                        <a:rPr lang="en-IN" sz="2500"/>
                        <a:t>Rs.</a:t>
                      </a:r>
                      <a:endParaRPr sz="2500"/>
                    </a:p>
                  </a:txBody>
                  <a:tcPr marT="45725" marB="45725" marR="91450" marL="91450"/>
                </a:tc>
              </a:tr>
              <a:tr h="440875">
                <a:tc>
                  <a:txBody>
                    <a:bodyPr/>
                    <a:lstStyle/>
                    <a:p>
                      <a:pPr indent="0" lvl="0" marL="0" marR="0" rtl="0" algn="l">
                        <a:spcBef>
                          <a:spcPts val="0"/>
                        </a:spcBef>
                        <a:spcAft>
                          <a:spcPts val="0"/>
                        </a:spcAft>
                        <a:buNone/>
                      </a:pPr>
                      <a:r>
                        <a:rPr lang="en-IN" sz="2500"/>
                        <a:t>Year 1.</a:t>
                      </a:r>
                      <a:endParaRPr sz="2500"/>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c>
                  <a:txBody>
                    <a:bodyPr/>
                    <a:lstStyle/>
                    <a:p>
                      <a:pPr indent="0" lvl="0" marL="0" marR="0" rtl="0" algn="r">
                        <a:spcBef>
                          <a:spcPts val="0"/>
                        </a:spcBef>
                        <a:spcAft>
                          <a:spcPts val="0"/>
                        </a:spcAft>
                        <a:buNone/>
                      </a:pPr>
                      <a:r>
                        <a:rPr lang="en-IN" sz="2500"/>
                        <a:t>20,000</a:t>
                      </a:r>
                      <a:endParaRPr sz="2500"/>
                    </a:p>
                  </a:txBody>
                  <a:tcPr marT="45725" marB="45725" marR="91450" marL="91450"/>
                </a:tc>
              </a:tr>
              <a:tr h="440875">
                <a:tc>
                  <a:txBody>
                    <a:bodyPr/>
                    <a:lstStyle/>
                    <a:p>
                      <a:pPr indent="0" lvl="0" marL="0" marR="0" rtl="0" algn="l">
                        <a:spcBef>
                          <a:spcPts val="0"/>
                        </a:spcBef>
                        <a:spcAft>
                          <a:spcPts val="0"/>
                        </a:spcAft>
                        <a:buNone/>
                      </a:pPr>
                      <a:r>
                        <a:rPr lang="en-IN" sz="2500"/>
                        <a:t>        2.</a:t>
                      </a:r>
                      <a:endParaRPr sz="2500"/>
                    </a:p>
                  </a:txBody>
                  <a:tcPr marT="45725" marB="45725" marR="91450" marL="91450"/>
                </a:tc>
                <a:tc>
                  <a:txBody>
                    <a:bodyPr/>
                    <a:lstStyle/>
                    <a:p>
                      <a:pPr indent="0" lvl="0" marL="0" marR="0" rtl="0" algn="r">
                        <a:spcBef>
                          <a:spcPts val="0"/>
                        </a:spcBef>
                        <a:spcAft>
                          <a:spcPts val="0"/>
                        </a:spcAft>
                        <a:buNone/>
                      </a:pPr>
                      <a:r>
                        <a:rPr lang="en-IN" sz="2500"/>
                        <a:t>10,000</a:t>
                      </a:r>
                      <a:endParaRPr sz="2500"/>
                    </a:p>
                  </a:txBody>
                  <a:tcPr marT="45725" marB="45725" marR="91450" marL="91450"/>
                </a:tc>
                <a:tc>
                  <a:txBody>
                    <a:bodyPr/>
                    <a:lstStyle/>
                    <a:p>
                      <a:pPr indent="0" lvl="0" marL="0" marR="0" rtl="0" algn="r">
                        <a:spcBef>
                          <a:spcPts val="0"/>
                        </a:spcBef>
                        <a:spcAft>
                          <a:spcPts val="0"/>
                        </a:spcAft>
                        <a:buNone/>
                      </a:pPr>
                      <a:r>
                        <a:rPr lang="en-IN" sz="2500"/>
                        <a:t>10,000</a:t>
                      </a:r>
                      <a:endParaRPr sz="2500"/>
                    </a:p>
                  </a:txBody>
                  <a:tcPr marT="45725" marB="45725" marR="91450" marL="91450"/>
                </a:tc>
              </a:tr>
              <a:tr h="440875">
                <a:tc>
                  <a:txBody>
                    <a:bodyPr/>
                    <a:lstStyle/>
                    <a:p>
                      <a:pPr indent="0" lvl="0" marL="0" marR="0" rtl="0" algn="l">
                        <a:spcBef>
                          <a:spcPts val="0"/>
                        </a:spcBef>
                        <a:spcAft>
                          <a:spcPts val="0"/>
                        </a:spcAft>
                        <a:buNone/>
                      </a:pPr>
                      <a:r>
                        <a:rPr lang="en-IN" sz="2500"/>
                        <a:t>        3.</a:t>
                      </a:r>
                      <a:endParaRPr sz="2500"/>
                    </a:p>
                  </a:txBody>
                  <a:tcPr marT="45725" marB="45725" marR="91450" marL="91450"/>
                </a:tc>
                <a:tc>
                  <a:txBody>
                    <a:bodyPr/>
                    <a:lstStyle/>
                    <a:p>
                      <a:pPr indent="0" lvl="0" marL="0" marR="0" rtl="0" algn="r">
                        <a:spcBef>
                          <a:spcPts val="0"/>
                        </a:spcBef>
                        <a:spcAft>
                          <a:spcPts val="0"/>
                        </a:spcAft>
                        <a:buNone/>
                      </a:pPr>
                      <a:r>
                        <a:rPr lang="en-IN" sz="2500"/>
                        <a:t>10,000</a:t>
                      </a:r>
                      <a:endParaRPr sz="2500"/>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r>
              <a:tr h="440875">
                <a:tc>
                  <a:txBody>
                    <a:bodyPr/>
                    <a:lstStyle/>
                    <a:p>
                      <a:pPr indent="0" lvl="0" marL="0" marR="0" rtl="0" algn="l">
                        <a:spcBef>
                          <a:spcPts val="0"/>
                        </a:spcBef>
                        <a:spcAft>
                          <a:spcPts val="0"/>
                        </a:spcAft>
                        <a:buNone/>
                      </a:pPr>
                      <a:r>
                        <a:rPr lang="en-IN" sz="2500"/>
                        <a:t>        4.</a:t>
                      </a:r>
                      <a:endParaRPr sz="2500"/>
                    </a:p>
                  </a:txBody>
                  <a:tcPr marT="45725" marB="45725" marR="91450" marL="91450"/>
                </a:tc>
                <a:tc>
                  <a:txBody>
                    <a:bodyPr/>
                    <a:lstStyle/>
                    <a:p>
                      <a:pPr indent="0" lvl="0" marL="0" marR="0" rtl="0" algn="r">
                        <a:spcBef>
                          <a:spcPts val="0"/>
                        </a:spcBef>
                        <a:spcAft>
                          <a:spcPts val="0"/>
                        </a:spcAft>
                        <a:buNone/>
                      </a:pPr>
                      <a:r>
                        <a:rPr lang="en-IN" sz="2500"/>
                        <a:t>3,000</a:t>
                      </a:r>
                      <a:endParaRPr sz="2500"/>
                    </a:p>
                  </a:txBody>
                  <a:tcPr marT="45725" marB="45725" marR="91450" marL="91450"/>
                </a:tc>
                <a:tc>
                  <a:txBody>
                    <a:bodyPr/>
                    <a:lstStyle/>
                    <a:p>
                      <a:pPr indent="0" lvl="0" marL="0" marR="0" rtl="0" algn="r">
                        <a:spcBef>
                          <a:spcPts val="0"/>
                        </a:spcBef>
                        <a:spcAft>
                          <a:spcPts val="0"/>
                        </a:spcAft>
                        <a:buNone/>
                      </a:pPr>
                      <a:r>
                        <a:rPr lang="en-IN" sz="2500"/>
                        <a:t>3,000</a:t>
                      </a:r>
                      <a:endParaRPr sz="2500"/>
                    </a:p>
                  </a:txBody>
                  <a:tcPr marT="45725" marB="45725" marR="91450" marL="91450"/>
                </a:tc>
              </a:tr>
              <a:tr h="440875">
                <a:tc>
                  <a:txBody>
                    <a:bodyPr/>
                    <a:lstStyle/>
                    <a:p>
                      <a:pPr indent="0" lvl="0" marL="0" marR="0" rtl="0" algn="l">
                        <a:spcBef>
                          <a:spcPts val="0"/>
                        </a:spcBef>
                        <a:spcAft>
                          <a:spcPts val="0"/>
                        </a:spcAft>
                        <a:buNone/>
                      </a:pPr>
                      <a:r>
                        <a:rPr lang="en-IN" sz="2500"/>
                        <a:t>        5.</a:t>
                      </a:r>
                      <a:endParaRPr sz="2500"/>
                    </a:p>
                  </a:txBody>
                  <a:tcPr marT="45725" marB="45725" marR="91450" marL="91450"/>
                </a:tc>
                <a:tc>
                  <a:txBody>
                    <a:bodyPr/>
                    <a:lstStyle/>
                    <a:p>
                      <a:pPr indent="0" lvl="0" marL="0" marR="0" rtl="0" algn="r">
                        <a:spcBef>
                          <a:spcPts val="0"/>
                        </a:spcBef>
                        <a:spcAft>
                          <a:spcPts val="0"/>
                        </a:spcAft>
                        <a:buNone/>
                      </a:pPr>
                      <a:r>
                        <a:rPr lang="en-IN" sz="2500"/>
                        <a:t>2,000</a:t>
                      </a:r>
                      <a:endParaRPr sz="2500"/>
                    </a:p>
                  </a:txBody>
                  <a:tcPr marT="45725" marB="45725" marR="91450" marL="91450"/>
                </a:tc>
                <a:tc>
                  <a:txBody>
                    <a:bodyPr/>
                    <a:lstStyle/>
                    <a:p>
                      <a:pPr indent="0" lvl="0" marL="0" marR="0" rtl="0" algn="r">
                        <a:spcBef>
                          <a:spcPts val="0"/>
                        </a:spcBef>
                        <a:spcAft>
                          <a:spcPts val="0"/>
                        </a:spcAft>
                        <a:buNone/>
                      </a:pPr>
                      <a:r>
                        <a:rPr lang="en-IN" sz="2500"/>
                        <a:t>2,000</a:t>
                      </a:r>
                      <a:endParaRPr sz="2500"/>
                    </a:p>
                  </a:txBody>
                  <a:tcPr marT="45725" marB="45725" marR="91450" marL="91450"/>
                </a:tc>
              </a:tr>
            </a:tbl>
          </a:graphicData>
        </a:graphic>
      </p:graphicFrame>
      <p:pic>
        <p:nvPicPr>
          <p:cNvPr descr="Image result for sastra logo" id="534" name="Google Shape;534;p8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3"/>
          <p:cNvSpPr txBox="1"/>
          <p:nvPr>
            <p:ph idx="1" type="body"/>
          </p:nvPr>
        </p:nvSpPr>
        <p:spPr>
          <a:xfrm>
            <a:off x="838200" y="885371"/>
            <a:ext cx="10515600" cy="52915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lang="en-IN" sz="2600">
                <a:solidFill>
                  <a:srgbClr val="FF0000"/>
                </a:solidFill>
              </a:rPr>
              <a:t>Note : </a:t>
            </a:r>
            <a:r>
              <a:rPr lang="en-IN" sz="2600"/>
              <a:t>The following are the present value factors @ 10% p.a.</a:t>
            </a:r>
            <a:endParaRPr/>
          </a:p>
          <a:p>
            <a:pPr indent="0" lvl="0" marL="0" rtl="0" algn="l">
              <a:lnSpc>
                <a:spcPct val="90000"/>
              </a:lnSpc>
              <a:spcBef>
                <a:spcPts val="1000"/>
              </a:spcBef>
              <a:spcAft>
                <a:spcPts val="0"/>
              </a:spcAft>
              <a:buClr>
                <a:schemeClr val="dk1"/>
              </a:buClr>
              <a:buSzPts val="2600"/>
              <a:buNone/>
            </a:pPr>
            <a:r>
              <a:t/>
            </a:r>
            <a:endParaRPr sz="2600"/>
          </a:p>
        </p:txBody>
      </p:sp>
      <p:graphicFrame>
        <p:nvGraphicFramePr>
          <p:cNvPr id="540" name="Google Shape;540;p83"/>
          <p:cNvGraphicFramePr/>
          <p:nvPr/>
        </p:nvGraphicFramePr>
        <p:xfrm>
          <a:off x="838199" y="1372808"/>
          <a:ext cx="3000000" cy="3000000"/>
        </p:xfrm>
        <a:graphic>
          <a:graphicData uri="http://schemas.openxmlformats.org/drawingml/2006/table">
            <a:tbl>
              <a:tblPr bandRow="1" firstRow="1">
                <a:noFill/>
                <a:tableStyleId>{75140CFC-2FD2-45D3-AD89-D6322BEAE1F3}</a:tableStyleId>
              </a:tblPr>
              <a:tblGrid>
                <a:gridCol w="1919525"/>
                <a:gridCol w="8596075"/>
              </a:tblGrid>
              <a:tr h="368900">
                <a:tc>
                  <a:txBody>
                    <a:bodyPr/>
                    <a:lstStyle/>
                    <a:p>
                      <a:pPr indent="0" lvl="0" marL="0" marR="0" rtl="0" algn="ctr">
                        <a:spcBef>
                          <a:spcPts val="0"/>
                        </a:spcBef>
                        <a:spcAft>
                          <a:spcPts val="0"/>
                        </a:spcAft>
                        <a:buNone/>
                      </a:pPr>
                      <a:r>
                        <a:rPr lang="en-IN" sz="2200"/>
                        <a:t>Year</a:t>
                      </a:r>
                      <a:endParaRPr sz="2200"/>
                    </a:p>
                  </a:txBody>
                  <a:tcPr marT="45725" marB="45725" marR="91450" marL="91450"/>
                </a:tc>
                <a:tc>
                  <a:txBody>
                    <a:bodyPr/>
                    <a:lstStyle/>
                    <a:p>
                      <a:pPr indent="0" lvl="0" marL="0" marR="0" rtl="0" algn="ctr">
                        <a:lnSpc>
                          <a:spcPct val="100000"/>
                        </a:lnSpc>
                        <a:spcBef>
                          <a:spcPts val="0"/>
                        </a:spcBef>
                        <a:spcAft>
                          <a:spcPts val="0"/>
                        </a:spcAft>
                        <a:buClr>
                          <a:schemeClr val="dk1"/>
                        </a:buClr>
                        <a:buSzPts val="2200"/>
                        <a:buFont typeface="Calibri"/>
                        <a:buNone/>
                      </a:pPr>
                      <a:r>
                        <a:rPr lang="en-IN" sz="2200"/>
                        <a:t>Present value factors @ 10% p.a.</a:t>
                      </a:r>
                      <a:endParaRPr/>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0.909 </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0.826 </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 0.751 </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 0.683</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0.621 </a:t>
                      </a:r>
                      <a:endParaRPr sz="2500"/>
                    </a:p>
                  </a:txBody>
                  <a:tcPr marT="45725" marB="45725" marR="91450" marL="91450"/>
                </a:tc>
              </a:tr>
              <a:tr h="370850">
                <a:tc>
                  <a:txBody>
                    <a:bodyPr/>
                    <a:lstStyle/>
                    <a:p>
                      <a:pPr indent="0" lvl="0" marL="0" marR="0" rtl="0" algn="ctr">
                        <a:spcBef>
                          <a:spcPts val="0"/>
                        </a:spcBef>
                        <a:spcAft>
                          <a:spcPts val="0"/>
                        </a:spcAft>
                        <a:buNone/>
                      </a:pPr>
                      <a:r>
                        <a:rPr lang="en-IN" sz="2500"/>
                        <a:t>6.</a:t>
                      </a:r>
                      <a:endParaRPr sz="2500"/>
                    </a:p>
                  </a:txBody>
                  <a:tcPr marT="45725" marB="45725" marR="91450" marL="91450"/>
                </a:tc>
                <a:tc>
                  <a:txBody>
                    <a:bodyPr/>
                    <a:lstStyle/>
                    <a:p>
                      <a:pPr indent="0" lvl="0" marL="0" marR="0" rtl="0" algn="ctr">
                        <a:spcBef>
                          <a:spcPts val="0"/>
                        </a:spcBef>
                        <a:spcAft>
                          <a:spcPts val="0"/>
                        </a:spcAft>
                        <a:buNone/>
                      </a:pPr>
                      <a:r>
                        <a:rPr lang="en-IN" sz="2500"/>
                        <a:t>0.564</a:t>
                      </a:r>
                      <a:endParaRPr sz="2500"/>
                    </a:p>
                  </a:txBody>
                  <a:tcPr marT="45725" marB="45725" marR="91450" marL="91450"/>
                </a:tc>
              </a:tr>
            </a:tbl>
          </a:graphicData>
        </a:graphic>
      </p:graphicFrame>
      <p:pic>
        <p:nvPicPr>
          <p:cNvPr descr="Image result for sastra logo" id="541" name="Google Shape;541;p83"/>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84"/>
          <p:cNvSpPr txBox="1"/>
          <p:nvPr>
            <p:ph idx="1" type="body"/>
          </p:nvPr>
        </p:nvSpPr>
        <p:spPr>
          <a:xfrm>
            <a:off x="838200" y="464456"/>
            <a:ext cx="10675258" cy="608148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0000"/>
              </a:buClr>
              <a:buSzPts val="2500"/>
              <a:buNone/>
            </a:pPr>
            <a:r>
              <a:rPr b="1" lang="en-IN" sz="2500">
                <a:solidFill>
                  <a:srgbClr val="FF0000"/>
                </a:solidFill>
              </a:rPr>
              <a:t>Solution:                                      Computation of NPV</a:t>
            </a:r>
            <a:endParaRPr/>
          </a:p>
          <a:p>
            <a:pPr indent="0" lvl="0" marL="0" rtl="0" algn="l">
              <a:lnSpc>
                <a:spcPct val="90000"/>
              </a:lnSpc>
              <a:spcBef>
                <a:spcPts val="1000"/>
              </a:spcBef>
              <a:spcAft>
                <a:spcPts val="0"/>
              </a:spcAft>
              <a:buClr>
                <a:schemeClr val="dk1"/>
              </a:buClr>
              <a:buSzPts val="2500"/>
              <a:buNone/>
            </a:pPr>
            <a:r>
              <a:t/>
            </a:r>
            <a:endParaRPr sz="2500">
              <a:solidFill>
                <a:srgbClr val="FF0000"/>
              </a:solidFill>
            </a:endParaRPr>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rgbClr val="00B050"/>
              </a:buClr>
              <a:buSzPts val="2500"/>
              <a:buNone/>
            </a:pPr>
            <a:r>
              <a:rPr b="1" lang="en-IN" sz="2500">
                <a:solidFill>
                  <a:srgbClr val="00B050"/>
                </a:solidFill>
              </a:rPr>
              <a:t>Comment: Project Y should be selected.</a:t>
            </a:r>
            <a:endParaRPr/>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t/>
            </a:r>
            <a:endParaRPr sz="2500"/>
          </a:p>
          <a:p>
            <a:pPr indent="0" lvl="0" marL="0" rtl="0" algn="l">
              <a:lnSpc>
                <a:spcPct val="90000"/>
              </a:lnSpc>
              <a:spcBef>
                <a:spcPts val="1000"/>
              </a:spcBef>
              <a:spcAft>
                <a:spcPts val="0"/>
              </a:spcAft>
              <a:buClr>
                <a:schemeClr val="dk1"/>
              </a:buClr>
              <a:buSzPts val="2500"/>
              <a:buNone/>
            </a:pPr>
            <a:r>
              <a:rPr lang="en-IN" sz="2500"/>
              <a:t>Project Y should be selected. </a:t>
            </a:r>
            <a:endParaRPr/>
          </a:p>
          <a:p>
            <a:pPr indent="0" lvl="0" marL="0" rtl="0" algn="l">
              <a:lnSpc>
                <a:spcPct val="90000"/>
              </a:lnSpc>
              <a:spcBef>
                <a:spcPts val="1000"/>
              </a:spcBef>
              <a:spcAft>
                <a:spcPts val="0"/>
              </a:spcAft>
              <a:buClr>
                <a:schemeClr val="dk1"/>
              </a:buClr>
              <a:buSzPts val="2500"/>
              <a:buNone/>
            </a:pPr>
            <a:r>
              <a:t/>
            </a:r>
            <a:endParaRPr sz="2500"/>
          </a:p>
        </p:txBody>
      </p:sp>
      <p:graphicFrame>
        <p:nvGraphicFramePr>
          <p:cNvPr id="547" name="Google Shape;547;p84"/>
          <p:cNvGraphicFramePr/>
          <p:nvPr/>
        </p:nvGraphicFramePr>
        <p:xfrm>
          <a:off x="838200" y="815339"/>
          <a:ext cx="3000000" cy="3000000"/>
        </p:xfrm>
        <a:graphic>
          <a:graphicData uri="http://schemas.openxmlformats.org/drawingml/2006/table">
            <a:tbl>
              <a:tblPr bandRow="1" firstRow="1">
                <a:noFill/>
                <a:tableStyleId>{75140CFC-2FD2-45D3-AD89-D6322BEAE1F3}</a:tableStyleId>
              </a:tblPr>
              <a:tblGrid>
                <a:gridCol w="867775"/>
                <a:gridCol w="1773425"/>
                <a:gridCol w="1900775"/>
                <a:gridCol w="2268875"/>
                <a:gridCol w="1886550"/>
                <a:gridCol w="1977875"/>
              </a:tblGrid>
              <a:tr h="347775">
                <a:tc rowSpan="2">
                  <a:txBody>
                    <a:bodyPr/>
                    <a:lstStyle/>
                    <a:p>
                      <a:pPr indent="0" lvl="0" marL="0" marR="0" rtl="0" algn="ctr">
                        <a:spcBef>
                          <a:spcPts val="0"/>
                        </a:spcBef>
                        <a:spcAft>
                          <a:spcPts val="0"/>
                        </a:spcAft>
                        <a:buNone/>
                      </a:pPr>
                      <a:r>
                        <a:t/>
                      </a:r>
                      <a:endParaRPr sz="1800"/>
                    </a:p>
                    <a:p>
                      <a:pPr indent="0" lvl="0" marL="0" marR="0" rtl="0" algn="ctr">
                        <a:spcBef>
                          <a:spcPts val="0"/>
                        </a:spcBef>
                        <a:spcAft>
                          <a:spcPts val="0"/>
                        </a:spcAft>
                        <a:buNone/>
                      </a:pPr>
                      <a:r>
                        <a:rPr lang="en-IN" sz="1800"/>
                        <a:t>Year </a:t>
                      </a:r>
                      <a:endParaRPr sz="1800"/>
                    </a:p>
                  </a:txBody>
                  <a:tcPr marT="45725" marB="45725" marR="91450" marL="91450"/>
                </a:tc>
                <a:tc gridSpan="2">
                  <a:txBody>
                    <a:bodyPr/>
                    <a:lstStyle/>
                    <a:p>
                      <a:pPr indent="0" lvl="0" marL="0" marR="0" rtl="0" algn="ctr">
                        <a:spcBef>
                          <a:spcPts val="0"/>
                        </a:spcBef>
                        <a:spcAft>
                          <a:spcPts val="0"/>
                        </a:spcAft>
                        <a:buNone/>
                      </a:pPr>
                      <a:r>
                        <a:rPr lang="en-IN" sz="1800"/>
                        <a:t>Cash Inflows</a:t>
                      </a:r>
                      <a:endParaRPr sz="1800"/>
                    </a:p>
                  </a:txBody>
                  <a:tcPr marT="45725" marB="45725" marR="91450" marL="91450"/>
                </a:tc>
                <a:tc hMerge="1"/>
                <a:tc rowSpan="2">
                  <a:txBody>
                    <a:bodyPr/>
                    <a:lstStyle/>
                    <a:p>
                      <a:pPr indent="0" lvl="0" marL="0" marR="0" rtl="0" algn="ctr">
                        <a:lnSpc>
                          <a:spcPct val="100000"/>
                        </a:lnSpc>
                        <a:spcBef>
                          <a:spcPts val="0"/>
                        </a:spcBef>
                        <a:spcAft>
                          <a:spcPts val="0"/>
                        </a:spcAft>
                        <a:buClr>
                          <a:schemeClr val="dk1"/>
                        </a:buClr>
                        <a:buSzPts val="1800"/>
                        <a:buFont typeface="Calibri"/>
                        <a:buNone/>
                      </a:pPr>
                      <a:r>
                        <a:t/>
                      </a:r>
                      <a:endParaRPr sz="1800"/>
                    </a:p>
                    <a:p>
                      <a:pPr indent="0" lvl="0" marL="0" marR="0" rtl="0" algn="ctr">
                        <a:lnSpc>
                          <a:spcPct val="100000"/>
                        </a:lnSpc>
                        <a:spcBef>
                          <a:spcPts val="0"/>
                        </a:spcBef>
                        <a:spcAft>
                          <a:spcPts val="0"/>
                        </a:spcAft>
                        <a:buClr>
                          <a:schemeClr val="dk1"/>
                        </a:buClr>
                        <a:buSzPts val="1800"/>
                        <a:buFont typeface="Calibri"/>
                        <a:buNone/>
                      </a:pPr>
                      <a:r>
                        <a:rPr lang="en-IN" sz="1800"/>
                        <a:t>PV factors @ 10% p.a.</a:t>
                      </a:r>
                      <a:endParaRPr/>
                    </a:p>
                  </a:txBody>
                  <a:tcPr marT="45725" marB="45725" marR="91450" marL="91450"/>
                </a:tc>
                <a:tc gridSpan="2">
                  <a:txBody>
                    <a:bodyPr/>
                    <a:lstStyle/>
                    <a:p>
                      <a:pPr indent="0" lvl="0" marL="0" marR="0" rtl="0" algn="ctr">
                        <a:spcBef>
                          <a:spcPts val="0"/>
                        </a:spcBef>
                        <a:spcAft>
                          <a:spcPts val="0"/>
                        </a:spcAft>
                        <a:buNone/>
                      </a:pPr>
                      <a:r>
                        <a:rPr lang="en-IN" sz="1800"/>
                        <a:t>Present Value of Net Cash Inflows</a:t>
                      </a:r>
                      <a:endParaRPr sz="1800"/>
                    </a:p>
                  </a:txBody>
                  <a:tcPr marT="45725" marB="45725" marR="91450" marL="91450"/>
                </a:tc>
                <a:tc hMerge="1"/>
              </a:tr>
              <a:tr h="288475">
                <a:tc vMerge="1"/>
                <a:tc>
                  <a:txBody>
                    <a:bodyPr/>
                    <a:lstStyle/>
                    <a:p>
                      <a:pPr indent="0" lvl="0" marL="0" marR="0" rtl="0" algn="ctr">
                        <a:spcBef>
                          <a:spcPts val="0"/>
                        </a:spcBef>
                        <a:spcAft>
                          <a:spcPts val="0"/>
                        </a:spcAft>
                        <a:buNone/>
                      </a:pPr>
                      <a:r>
                        <a:rPr b="1" lang="en-IN" sz="2200">
                          <a:solidFill>
                            <a:srgbClr val="FF0000"/>
                          </a:solidFill>
                        </a:rPr>
                        <a:t>Project</a:t>
                      </a:r>
                      <a:r>
                        <a:rPr b="1" lang="en-IN" sz="2200">
                          <a:solidFill>
                            <a:srgbClr val="FF0000"/>
                          </a:solidFill>
                        </a:rPr>
                        <a:t> X (Rs.)</a:t>
                      </a:r>
                      <a:endParaRPr b="1" sz="22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200">
                          <a:solidFill>
                            <a:srgbClr val="FF0000"/>
                          </a:solidFill>
                        </a:rPr>
                        <a:t>Project Y (Rs.)</a:t>
                      </a:r>
                      <a:endParaRPr b="1" sz="2200">
                        <a:solidFill>
                          <a:srgbClr val="FF0000"/>
                        </a:solidFill>
                      </a:endParaRPr>
                    </a:p>
                  </a:txBody>
                  <a:tcPr marT="45725" marB="45725" marR="91450" marL="91450"/>
                </a:tc>
                <a:tc vMerge="1"/>
                <a:tc>
                  <a:txBody>
                    <a:bodyPr/>
                    <a:lstStyle/>
                    <a:p>
                      <a:pPr indent="0" lvl="0" marL="0" marR="0" rtl="0" algn="ctr">
                        <a:spcBef>
                          <a:spcPts val="0"/>
                        </a:spcBef>
                        <a:spcAft>
                          <a:spcPts val="0"/>
                        </a:spcAft>
                        <a:buNone/>
                      </a:pPr>
                      <a:r>
                        <a:rPr b="1" lang="en-IN" sz="2200">
                          <a:solidFill>
                            <a:srgbClr val="FF0000"/>
                          </a:solidFill>
                        </a:rPr>
                        <a:t>Project X (Rs.)</a:t>
                      </a:r>
                      <a:endParaRPr b="1" sz="22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200">
                          <a:solidFill>
                            <a:srgbClr val="FF0000"/>
                          </a:solidFill>
                        </a:rPr>
                        <a:t>Project Y (Rs.)</a:t>
                      </a:r>
                      <a:endParaRPr b="1" sz="2200">
                        <a:solidFill>
                          <a:srgbClr val="FF0000"/>
                        </a:solidFill>
                      </a:endParaRPr>
                    </a:p>
                  </a:txBody>
                  <a:tcPr marT="45725" marB="45725" marR="91450" marL="91450"/>
                </a:tc>
              </a:tr>
              <a:tr h="471925">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c>
                  <a:txBody>
                    <a:bodyPr/>
                    <a:lstStyle/>
                    <a:p>
                      <a:pPr indent="0" lvl="0" marL="0" marR="0" rtl="0" algn="r">
                        <a:spcBef>
                          <a:spcPts val="0"/>
                        </a:spcBef>
                        <a:spcAft>
                          <a:spcPts val="0"/>
                        </a:spcAft>
                        <a:buNone/>
                      </a:pPr>
                      <a:r>
                        <a:rPr lang="en-IN" sz="2500"/>
                        <a:t>20,000</a:t>
                      </a:r>
                      <a:endParaRPr sz="2500"/>
                    </a:p>
                  </a:txBody>
                  <a:tcPr marT="45725" marB="45725" marR="91450" marL="91450"/>
                </a:tc>
                <a:tc>
                  <a:txBody>
                    <a:bodyPr/>
                    <a:lstStyle/>
                    <a:p>
                      <a:pPr indent="0" lvl="0" marL="0" marR="0" rtl="0" algn="ctr">
                        <a:spcBef>
                          <a:spcPts val="0"/>
                        </a:spcBef>
                        <a:spcAft>
                          <a:spcPts val="0"/>
                        </a:spcAft>
                        <a:buNone/>
                      </a:pPr>
                      <a:r>
                        <a:rPr lang="en-IN" sz="2500"/>
                        <a:t>0.909 </a:t>
                      </a:r>
                      <a:endParaRPr sz="2500"/>
                    </a:p>
                  </a:txBody>
                  <a:tcPr marT="45725" marB="45725" marR="91450" marL="91450"/>
                </a:tc>
                <a:tc>
                  <a:txBody>
                    <a:bodyPr/>
                    <a:lstStyle/>
                    <a:p>
                      <a:pPr indent="0" lvl="0" marL="0" marR="0" rtl="0" algn="r">
                        <a:spcBef>
                          <a:spcPts val="0"/>
                        </a:spcBef>
                        <a:spcAft>
                          <a:spcPts val="0"/>
                        </a:spcAft>
                        <a:buNone/>
                      </a:pPr>
                      <a:r>
                        <a:rPr lang="en-IN" sz="2500"/>
                        <a:t>4,545</a:t>
                      </a:r>
                      <a:endParaRPr sz="2500"/>
                    </a:p>
                  </a:txBody>
                  <a:tcPr marT="45725" marB="45725" marR="91450" marL="91450"/>
                </a:tc>
                <a:tc>
                  <a:txBody>
                    <a:bodyPr/>
                    <a:lstStyle/>
                    <a:p>
                      <a:pPr indent="0" lvl="0" marL="0" marR="0" rtl="0" algn="r">
                        <a:spcBef>
                          <a:spcPts val="0"/>
                        </a:spcBef>
                        <a:spcAft>
                          <a:spcPts val="0"/>
                        </a:spcAft>
                        <a:buNone/>
                      </a:pPr>
                      <a:r>
                        <a:rPr lang="en-IN" sz="2500"/>
                        <a:t>18,180</a:t>
                      </a:r>
                      <a:endParaRPr sz="2500"/>
                    </a:p>
                  </a:txBody>
                  <a:tcPr marT="45725" marB="45725" marR="91450" marL="91450"/>
                </a:tc>
              </a:tr>
              <a:tr h="471925">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r">
                        <a:spcBef>
                          <a:spcPts val="0"/>
                        </a:spcBef>
                        <a:spcAft>
                          <a:spcPts val="0"/>
                        </a:spcAft>
                        <a:buNone/>
                      </a:pPr>
                      <a:r>
                        <a:rPr lang="en-IN" sz="2500"/>
                        <a:t>10,000</a:t>
                      </a:r>
                      <a:endParaRPr sz="2500"/>
                    </a:p>
                  </a:txBody>
                  <a:tcPr marT="45725" marB="45725" marR="91450" marL="91450"/>
                </a:tc>
                <a:tc>
                  <a:txBody>
                    <a:bodyPr/>
                    <a:lstStyle/>
                    <a:p>
                      <a:pPr indent="0" lvl="0" marL="0" marR="0" rtl="0" algn="r">
                        <a:spcBef>
                          <a:spcPts val="0"/>
                        </a:spcBef>
                        <a:spcAft>
                          <a:spcPts val="0"/>
                        </a:spcAft>
                        <a:buNone/>
                      </a:pPr>
                      <a:r>
                        <a:rPr lang="en-IN" sz="2500"/>
                        <a:t>10,000</a:t>
                      </a:r>
                      <a:endParaRPr sz="2500"/>
                    </a:p>
                  </a:txBody>
                  <a:tcPr marT="45725" marB="45725" marR="91450" marL="91450"/>
                </a:tc>
                <a:tc>
                  <a:txBody>
                    <a:bodyPr/>
                    <a:lstStyle/>
                    <a:p>
                      <a:pPr indent="0" lvl="0" marL="0" marR="0" rtl="0" algn="ctr">
                        <a:spcBef>
                          <a:spcPts val="0"/>
                        </a:spcBef>
                        <a:spcAft>
                          <a:spcPts val="0"/>
                        </a:spcAft>
                        <a:buNone/>
                      </a:pPr>
                      <a:r>
                        <a:rPr lang="en-IN" sz="2500"/>
                        <a:t>0.826 </a:t>
                      </a:r>
                      <a:endParaRPr sz="2500"/>
                    </a:p>
                  </a:txBody>
                  <a:tcPr marT="45725" marB="45725" marR="91450" marL="91450"/>
                </a:tc>
                <a:tc>
                  <a:txBody>
                    <a:bodyPr/>
                    <a:lstStyle/>
                    <a:p>
                      <a:pPr indent="0" lvl="0" marL="0" marR="0" rtl="0" algn="r">
                        <a:spcBef>
                          <a:spcPts val="0"/>
                        </a:spcBef>
                        <a:spcAft>
                          <a:spcPts val="0"/>
                        </a:spcAft>
                        <a:buNone/>
                      </a:pPr>
                      <a:r>
                        <a:rPr lang="en-IN" sz="2500"/>
                        <a:t>8,260</a:t>
                      </a:r>
                      <a:endParaRPr sz="2500"/>
                    </a:p>
                  </a:txBody>
                  <a:tcPr marT="45725" marB="45725" marR="91450" marL="91450"/>
                </a:tc>
                <a:tc>
                  <a:txBody>
                    <a:bodyPr/>
                    <a:lstStyle/>
                    <a:p>
                      <a:pPr indent="0" lvl="0" marL="0" marR="0" rtl="0" algn="r">
                        <a:spcBef>
                          <a:spcPts val="0"/>
                        </a:spcBef>
                        <a:spcAft>
                          <a:spcPts val="0"/>
                        </a:spcAft>
                        <a:buNone/>
                      </a:pPr>
                      <a:r>
                        <a:rPr lang="en-IN" sz="2500"/>
                        <a:t>8,260</a:t>
                      </a:r>
                      <a:endParaRPr sz="2500"/>
                    </a:p>
                  </a:txBody>
                  <a:tcPr marT="45725" marB="45725" marR="91450" marL="91450"/>
                </a:tc>
              </a:tr>
              <a:tr h="471925">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r">
                        <a:spcBef>
                          <a:spcPts val="0"/>
                        </a:spcBef>
                        <a:spcAft>
                          <a:spcPts val="0"/>
                        </a:spcAft>
                        <a:buNone/>
                      </a:pPr>
                      <a:r>
                        <a:rPr lang="en-IN" sz="2500"/>
                        <a:t>10,000</a:t>
                      </a:r>
                      <a:endParaRPr sz="2500"/>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c>
                  <a:txBody>
                    <a:bodyPr/>
                    <a:lstStyle/>
                    <a:p>
                      <a:pPr indent="0" lvl="0" marL="0" marR="0" rtl="0" algn="ctr">
                        <a:spcBef>
                          <a:spcPts val="0"/>
                        </a:spcBef>
                        <a:spcAft>
                          <a:spcPts val="0"/>
                        </a:spcAft>
                        <a:buNone/>
                      </a:pPr>
                      <a:r>
                        <a:rPr lang="en-IN" sz="2500"/>
                        <a:t> 0.751 </a:t>
                      </a:r>
                      <a:endParaRPr sz="2500"/>
                    </a:p>
                  </a:txBody>
                  <a:tcPr marT="45725" marB="45725" marR="91450" marL="91450"/>
                </a:tc>
                <a:tc>
                  <a:txBody>
                    <a:bodyPr/>
                    <a:lstStyle/>
                    <a:p>
                      <a:pPr indent="0" lvl="0" marL="0" marR="0" rtl="0" algn="r">
                        <a:spcBef>
                          <a:spcPts val="0"/>
                        </a:spcBef>
                        <a:spcAft>
                          <a:spcPts val="0"/>
                        </a:spcAft>
                        <a:buNone/>
                      </a:pPr>
                      <a:r>
                        <a:rPr lang="en-IN" sz="2500"/>
                        <a:t>7,510</a:t>
                      </a:r>
                      <a:endParaRPr sz="2500"/>
                    </a:p>
                  </a:txBody>
                  <a:tcPr marT="45725" marB="45725" marR="91450" marL="91450"/>
                </a:tc>
                <a:tc>
                  <a:txBody>
                    <a:bodyPr/>
                    <a:lstStyle/>
                    <a:p>
                      <a:pPr indent="0" lvl="0" marL="0" marR="0" rtl="0" algn="r">
                        <a:spcBef>
                          <a:spcPts val="0"/>
                        </a:spcBef>
                        <a:spcAft>
                          <a:spcPts val="0"/>
                        </a:spcAft>
                        <a:buNone/>
                      </a:pPr>
                      <a:r>
                        <a:rPr lang="en-IN" sz="2500"/>
                        <a:t>3,755</a:t>
                      </a:r>
                      <a:endParaRPr sz="2500"/>
                    </a:p>
                  </a:txBody>
                  <a:tcPr marT="45725" marB="45725" marR="91450" marL="91450"/>
                </a:tc>
              </a:tr>
              <a:tr h="471925">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r">
                        <a:spcBef>
                          <a:spcPts val="0"/>
                        </a:spcBef>
                        <a:spcAft>
                          <a:spcPts val="0"/>
                        </a:spcAft>
                        <a:buNone/>
                      </a:pPr>
                      <a:r>
                        <a:rPr lang="en-IN" sz="2500"/>
                        <a:t>3,000</a:t>
                      </a:r>
                      <a:endParaRPr sz="2500"/>
                    </a:p>
                  </a:txBody>
                  <a:tcPr marT="45725" marB="45725" marR="91450" marL="91450"/>
                </a:tc>
                <a:tc>
                  <a:txBody>
                    <a:bodyPr/>
                    <a:lstStyle/>
                    <a:p>
                      <a:pPr indent="0" lvl="0" marL="0" marR="0" rtl="0" algn="r">
                        <a:spcBef>
                          <a:spcPts val="0"/>
                        </a:spcBef>
                        <a:spcAft>
                          <a:spcPts val="0"/>
                        </a:spcAft>
                        <a:buNone/>
                      </a:pPr>
                      <a:r>
                        <a:rPr lang="en-IN" sz="2500"/>
                        <a:t>3,000</a:t>
                      </a:r>
                      <a:endParaRPr sz="2500"/>
                    </a:p>
                  </a:txBody>
                  <a:tcPr marT="45725" marB="45725" marR="91450" marL="91450"/>
                </a:tc>
                <a:tc>
                  <a:txBody>
                    <a:bodyPr/>
                    <a:lstStyle/>
                    <a:p>
                      <a:pPr indent="0" lvl="0" marL="0" marR="0" rtl="0" algn="ctr">
                        <a:spcBef>
                          <a:spcPts val="0"/>
                        </a:spcBef>
                        <a:spcAft>
                          <a:spcPts val="0"/>
                        </a:spcAft>
                        <a:buNone/>
                      </a:pPr>
                      <a:r>
                        <a:rPr lang="en-IN" sz="2500"/>
                        <a:t> 0.683</a:t>
                      </a:r>
                      <a:endParaRPr sz="2500"/>
                    </a:p>
                  </a:txBody>
                  <a:tcPr marT="45725" marB="45725" marR="91450" marL="91450"/>
                </a:tc>
                <a:tc>
                  <a:txBody>
                    <a:bodyPr/>
                    <a:lstStyle/>
                    <a:p>
                      <a:pPr indent="0" lvl="0" marL="0" marR="0" rtl="0" algn="r">
                        <a:spcBef>
                          <a:spcPts val="0"/>
                        </a:spcBef>
                        <a:spcAft>
                          <a:spcPts val="0"/>
                        </a:spcAft>
                        <a:buNone/>
                      </a:pPr>
                      <a:r>
                        <a:rPr lang="en-IN" sz="2500"/>
                        <a:t>2,049</a:t>
                      </a:r>
                      <a:endParaRPr sz="2500"/>
                    </a:p>
                  </a:txBody>
                  <a:tcPr marT="45725" marB="45725" marR="91450" marL="91450"/>
                </a:tc>
                <a:tc>
                  <a:txBody>
                    <a:bodyPr/>
                    <a:lstStyle/>
                    <a:p>
                      <a:pPr indent="0" lvl="0" marL="0" marR="0" rtl="0" algn="r">
                        <a:spcBef>
                          <a:spcPts val="0"/>
                        </a:spcBef>
                        <a:spcAft>
                          <a:spcPts val="0"/>
                        </a:spcAft>
                        <a:buNone/>
                      </a:pPr>
                      <a:r>
                        <a:rPr lang="en-IN" sz="2500"/>
                        <a:t>2,049</a:t>
                      </a:r>
                      <a:endParaRPr sz="2500"/>
                    </a:p>
                  </a:txBody>
                  <a:tcPr marT="45725" marB="45725" marR="91450" marL="91450"/>
                </a:tc>
              </a:tr>
              <a:tr h="471925">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r">
                        <a:spcBef>
                          <a:spcPts val="0"/>
                        </a:spcBef>
                        <a:spcAft>
                          <a:spcPts val="0"/>
                        </a:spcAft>
                        <a:buNone/>
                      </a:pPr>
                      <a:r>
                        <a:rPr lang="en-IN" sz="2500"/>
                        <a:t>2,000</a:t>
                      </a:r>
                      <a:endParaRPr sz="2500"/>
                    </a:p>
                  </a:txBody>
                  <a:tcPr marT="45725" marB="45725" marR="91450" marL="91450"/>
                </a:tc>
                <a:tc>
                  <a:txBody>
                    <a:bodyPr/>
                    <a:lstStyle/>
                    <a:p>
                      <a:pPr indent="0" lvl="0" marL="0" marR="0" rtl="0" algn="r">
                        <a:spcBef>
                          <a:spcPts val="0"/>
                        </a:spcBef>
                        <a:spcAft>
                          <a:spcPts val="0"/>
                        </a:spcAft>
                        <a:buNone/>
                      </a:pPr>
                      <a:r>
                        <a:rPr lang="en-IN" sz="2500"/>
                        <a:t>2,000</a:t>
                      </a:r>
                      <a:endParaRPr sz="2500"/>
                    </a:p>
                  </a:txBody>
                  <a:tcPr marT="45725" marB="45725" marR="91450" marL="91450"/>
                </a:tc>
                <a:tc>
                  <a:txBody>
                    <a:bodyPr/>
                    <a:lstStyle/>
                    <a:p>
                      <a:pPr indent="0" lvl="0" marL="0" marR="0" rtl="0" algn="ctr">
                        <a:spcBef>
                          <a:spcPts val="0"/>
                        </a:spcBef>
                        <a:spcAft>
                          <a:spcPts val="0"/>
                        </a:spcAft>
                        <a:buNone/>
                      </a:pPr>
                      <a:r>
                        <a:rPr lang="en-IN" sz="2500"/>
                        <a:t>0.621 </a:t>
                      </a:r>
                      <a:endParaRPr sz="2500"/>
                    </a:p>
                  </a:txBody>
                  <a:tcPr marT="45725" marB="45725" marR="91450" marL="91450"/>
                </a:tc>
                <a:tc>
                  <a:txBody>
                    <a:bodyPr/>
                    <a:lstStyle/>
                    <a:p>
                      <a:pPr indent="0" lvl="0" marL="0" marR="0" rtl="0" algn="r">
                        <a:spcBef>
                          <a:spcPts val="0"/>
                        </a:spcBef>
                        <a:spcAft>
                          <a:spcPts val="0"/>
                        </a:spcAft>
                        <a:buNone/>
                      </a:pPr>
                      <a:r>
                        <a:rPr lang="en-IN" sz="2500"/>
                        <a:t>1,242</a:t>
                      </a:r>
                      <a:endParaRPr sz="2500"/>
                    </a:p>
                  </a:txBody>
                  <a:tcPr marT="45725" marB="45725" marR="91450" marL="91450"/>
                </a:tc>
                <a:tc>
                  <a:txBody>
                    <a:bodyPr/>
                    <a:lstStyle/>
                    <a:p>
                      <a:pPr indent="0" lvl="0" marL="0" marR="0" rtl="0" algn="r">
                        <a:spcBef>
                          <a:spcPts val="0"/>
                        </a:spcBef>
                        <a:spcAft>
                          <a:spcPts val="0"/>
                        </a:spcAft>
                        <a:buNone/>
                      </a:pPr>
                      <a:r>
                        <a:rPr lang="en-IN" sz="2500"/>
                        <a:t>1,242</a:t>
                      </a:r>
                      <a:endParaRPr sz="2500"/>
                    </a:p>
                  </a:txBody>
                  <a:tcPr marT="45725" marB="45725" marR="91450" marL="91450"/>
                </a:tc>
              </a:tr>
              <a:tr h="471925">
                <a:tc>
                  <a:txBody>
                    <a:bodyPr/>
                    <a:lstStyle/>
                    <a:p>
                      <a:pPr indent="0" lvl="0" marL="0" marR="0" rtl="0" algn="ctr">
                        <a:spcBef>
                          <a:spcPts val="0"/>
                        </a:spcBef>
                        <a:spcAft>
                          <a:spcPts val="0"/>
                        </a:spcAft>
                        <a:buNone/>
                      </a:pPr>
                      <a:r>
                        <a:rPr lang="en-IN" sz="2500"/>
                        <a:t>5. </a:t>
                      </a:r>
                      <a:r>
                        <a:rPr b="1" lang="en-IN" sz="1000">
                          <a:solidFill>
                            <a:srgbClr val="FF0000"/>
                          </a:solidFill>
                        </a:rPr>
                        <a:t>Scrap</a:t>
                      </a:r>
                      <a:endParaRPr b="1" sz="10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t>1,000</a:t>
                      </a:r>
                      <a:endParaRPr sz="2500"/>
                    </a:p>
                  </a:txBody>
                  <a:tcPr marT="45725" marB="45725" marR="91450" marL="91450"/>
                </a:tc>
                <a:tc>
                  <a:txBody>
                    <a:bodyPr/>
                    <a:lstStyle/>
                    <a:p>
                      <a:pPr indent="0" lvl="0" marL="0" marR="0" rtl="0" algn="r">
                        <a:spcBef>
                          <a:spcPts val="0"/>
                        </a:spcBef>
                        <a:spcAft>
                          <a:spcPts val="0"/>
                        </a:spcAft>
                        <a:buNone/>
                      </a:pPr>
                      <a:r>
                        <a:rPr lang="en-IN" sz="2500"/>
                        <a:t>2,000</a:t>
                      </a:r>
                      <a:endParaRPr sz="2500"/>
                    </a:p>
                  </a:txBody>
                  <a:tcPr marT="45725" marB="45725" marR="91450" marL="91450"/>
                </a:tc>
                <a:tc>
                  <a:txBody>
                    <a:bodyPr/>
                    <a:lstStyle/>
                    <a:p>
                      <a:pPr indent="0" lvl="0" marL="0" marR="0" rtl="0" algn="ctr">
                        <a:spcBef>
                          <a:spcPts val="0"/>
                        </a:spcBef>
                        <a:spcAft>
                          <a:spcPts val="0"/>
                        </a:spcAft>
                        <a:buNone/>
                      </a:pPr>
                      <a:r>
                        <a:rPr lang="en-IN" sz="2500"/>
                        <a:t>0.621</a:t>
                      </a:r>
                      <a:endParaRPr sz="2500"/>
                    </a:p>
                  </a:txBody>
                  <a:tcPr marT="45725" marB="45725" marR="91450" marL="91450"/>
                </a:tc>
                <a:tc>
                  <a:txBody>
                    <a:bodyPr/>
                    <a:lstStyle/>
                    <a:p>
                      <a:pPr indent="0" lvl="0" marL="0" marR="0" rtl="0" algn="r">
                        <a:spcBef>
                          <a:spcPts val="0"/>
                        </a:spcBef>
                        <a:spcAft>
                          <a:spcPts val="0"/>
                        </a:spcAft>
                        <a:buNone/>
                      </a:pPr>
                      <a:r>
                        <a:rPr lang="en-IN" sz="2500"/>
                        <a:t>621</a:t>
                      </a:r>
                      <a:endParaRPr sz="2500"/>
                    </a:p>
                  </a:txBody>
                  <a:tcPr marT="45725" marB="45725" marR="91450" marL="91450"/>
                </a:tc>
                <a:tc>
                  <a:txBody>
                    <a:bodyPr/>
                    <a:lstStyle/>
                    <a:p>
                      <a:pPr indent="0" lvl="0" marL="0" marR="0" rtl="0" algn="r">
                        <a:spcBef>
                          <a:spcPts val="0"/>
                        </a:spcBef>
                        <a:spcAft>
                          <a:spcPts val="0"/>
                        </a:spcAft>
                        <a:buNone/>
                      </a:pPr>
                      <a:r>
                        <a:rPr lang="en-IN" sz="2500"/>
                        <a:t>1,242</a:t>
                      </a:r>
                      <a:endParaRPr sz="2500"/>
                    </a:p>
                  </a:txBody>
                  <a:tcPr marT="45725" marB="45725" marR="91450" marL="91450"/>
                </a:tc>
              </a:tr>
              <a:tr h="471925">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3">
                  <a:txBody>
                    <a:bodyPr/>
                    <a:lstStyle/>
                    <a:p>
                      <a:pPr indent="0" lvl="0" marL="0" marR="0" rtl="0" algn="l">
                        <a:spcBef>
                          <a:spcPts val="0"/>
                        </a:spcBef>
                        <a:spcAft>
                          <a:spcPts val="0"/>
                        </a:spcAft>
                        <a:buNone/>
                      </a:pPr>
                      <a:r>
                        <a:rPr lang="en-IN" sz="2500">
                          <a:solidFill>
                            <a:srgbClr val="FF0000"/>
                          </a:solidFill>
                        </a:rPr>
                        <a:t>Total present value of cash inflows</a:t>
                      </a:r>
                      <a:endParaRPr sz="2500">
                        <a:solidFill>
                          <a:srgbClr val="FF0000"/>
                        </a:solidFill>
                      </a:endParaRPr>
                    </a:p>
                  </a:txBody>
                  <a:tcPr marT="45725" marB="45725" marR="91450" marL="91450"/>
                </a:tc>
                <a:tc hMerge="1"/>
                <a:tc hMerge="1"/>
                <a:tc>
                  <a:txBody>
                    <a:bodyPr/>
                    <a:lstStyle/>
                    <a:p>
                      <a:pPr indent="0" lvl="0" marL="0" marR="0" rtl="0" algn="r">
                        <a:spcBef>
                          <a:spcPts val="0"/>
                        </a:spcBef>
                        <a:spcAft>
                          <a:spcPts val="0"/>
                        </a:spcAft>
                        <a:buNone/>
                      </a:pPr>
                      <a:r>
                        <a:rPr lang="en-IN" sz="2500">
                          <a:solidFill>
                            <a:srgbClr val="FF0000"/>
                          </a:solidFill>
                        </a:rPr>
                        <a:t>24,227</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34,728</a:t>
                      </a:r>
                      <a:endParaRPr sz="2500">
                        <a:solidFill>
                          <a:srgbClr val="FF0000"/>
                        </a:solidFill>
                      </a:endParaRPr>
                    </a:p>
                  </a:txBody>
                  <a:tcPr marT="45725" marB="45725" marR="91450" marL="91450"/>
                </a:tc>
              </a:tr>
              <a:tr h="471925">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gridSpan="3">
                  <a:txBody>
                    <a:bodyPr/>
                    <a:lstStyle/>
                    <a:p>
                      <a:pPr indent="0" lvl="0" marL="0" marR="0" rtl="0" algn="l">
                        <a:spcBef>
                          <a:spcPts val="0"/>
                        </a:spcBef>
                        <a:spcAft>
                          <a:spcPts val="0"/>
                        </a:spcAft>
                        <a:buNone/>
                      </a:pPr>
                      <a:r>
                        <a:rPr lang="en-IN" sz="2500"/>
                        <a:t>Initial Investment</a:t>
                      </a:r>
                      <a:endParaRPr sz="2500"/>
                    </a:p>
                  </a:txBody>
                  <a:tcPr marT="45725" marB="45725" marR="91450" marL="91450"/>
                </a:tc>
                <a:tc hMerge="1"/>
                <a:tc hMerge="1"/>
                <a:tc>
                  <a:txBody>
                    <a:bodyPr/>
                    <a:lstStyle/>
                    <a:p>
                      <a:pPr indent="0" lvl="0" marL="0" marR="0" rtl="0" algn="r">
                        <a:spcBef>
                          <a:spcPts val="0"/>
                        </a:spcBef>
                        <a:spcAft>
                          <a:spcPts val="0"/>
                        </a:spcAft>
                        <a:buNone/>
                      </a:pPr>
                      <a:r>
                        <a:rPr lang="en-IN" sz="2500"/>
                        <a:t>20,000</a:t>
                      </a:r>
                      <a:endParaRPr sz="2500"/>
                    </a:p>
                  </a:txBody>
                  <a:tcPr marT="45725" marB="45725" marR="91450" marL="91450"/>
                </a:tc>
                <a:tc>
                  <a:txBody>
                    <a:bodyPr/>
                    <a:lstStyle/>
                    <a:p>
                      <a:pPr indent="0" lvl="0" marL="0" marR="0" rtl="0" algn="r">
                        <a:spcBef>
                          <a:spcPts val="0"/>
                        </a:spcBef>
                        <a:spcAft>
                          <a:spcPts val="0"/>
                        </a:spcAft>
                        <a:buNone/>
                      </a:pPr>
                      <a:r>
                        <a:rPr lang="en-IN" sz="2500"/>
                        <a:t>30,000</a:t>
                      </a:r>
                      <a:endParaRPr sz="2500"/>
                    </a:p>
                  </a:txBody>
                  <a:tcPr marT="45725" marB="45725" marR="91450" marL="91450"/>
                </a:tc>
              </a:tr>
              <a:tr h="471925">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3">
                  <a:txBody>
                    <a:bodyPr/>
                    <a:lstStyle/>
                    <a:p>
                      <a:pPr indent="0" lvl="0" marL="0" marR="0" rtl="0" algn="l">
                        <a:spcBef>
                          <a:spcPts val="0"/>
                        </a:spcBef>
                        <a:spcAft>
                          <a:spcPts val="0"/>
                        </a:spcAft>
                        <a:buNone/>
                      </a:pPr>
                      <a:r>
                        <a:rPr b="1" lang="en-IN" sz="2500">
                          <a:solidFill>
                            <a:srgbClr val="FF0000"/>
                          </a:solidFill>
                        </a:rPr>
                        <a:t>Net Present Value [NPV]</a:t>
                      </a:r>
                      <a:endParaRPr b="1" sz="2500">
                        <a:solidFill>
                          <a:srgbClr val="FF0000"/>
                        </a:solidFill>
                      </a:endParaRPr>
                    </a:p>
                  </a:txBody>
                  <a:tcPr marT="45725" marB="45725" marR="91450" marL="91450"/>
                </a:tc>
                <a:tc hMerge="1"/>
                <a:tc hMerge="1"/>
                <a:tc>
                  <a:txBody>
                    <a:bodyPr/>
                    <a:lstStyle/>
                    <a:p>
                      <a:pPr indent="0" lvl="0" marL="0" marR="0" rtl="0" algn="r">
                        <a:spcBef>
                          <a:spcPts val="0"/>
                        </a:spcBef>
                        <a:spcAft>
                          <a:spcPts val="0"/>
                        </a:spcAft>
                        <a:buNone/>
                      </a:pPr>
                      <a:r>
                        <a:rPr b="1" lang="en-IN" sz="2500">
                          <a:solidFill>
                            <a:srgbClr val="FF0000"/>
                          </a:solidFill>
                        </a:rPr>
                        <a:t>4,227</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4,728</a:t>
                      </a:r>
                      <a:endParaRPr b="1" sz="2500">
                        <a:solidFill>
                          <a:srgbClr val="FF0000"/>
                        </a:solidFill>
                      </a:endParaRPr>
                    </a:p>
                  </a:txBody>
                  <a:tcPr marT="45725" marB="45725" marR="91450" marL="91450"/>
                </a:tc>
              </a:tr>
            </a:tbl>
          </a:graphicData>
        </a:graphic>
      </p:graphicFrame>
      <p:pic>
        <p:nvPicPr>
          <p:cNvPr descr="Image result for sastra logo" id="548" name="Google Shape;548;p84"/>
          <p:cNvPicPr preferRelativeResize="0"/>
          <p:nvPr/>
        </p:nvPicPr>
        <p:blipFill rotWithShape="1">
          <a:blip r:embed="rId3">
            <a:alphaModFix/>
          </a:blip>
          <a:srcRect b="0" l="0" r="0" t="0"/>
          <a:stretch/>
        </p:blipFill>
        <p:spPr>
          <a:xfrm>
            <a:off x="9697358" y="185850"/>
            <a:ext cx="1816100" cy="55721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85"/>
          <p:cNvSpPr txBox="1"/>
          <p:nvPr>
            <p:ph idx="1" type="body"/>
          </p:nvPr>
        </p:nvSpPr>
        <p:spPr>
          <a:xfrm>
            <a:off x="838200" y="783771"/>
            <a:ext cx="10515600" cy="539319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P15. The following are the cash inflows and outflows of a certain project.</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500"/>
              <a:buNone/>
            </a:pPr>
            <a:r>
              <a:rPr lang="en-IN" sz="2500"/>
              <a:t>The salvage value at the end of 5 years is Rs. 50,000. Taking the cut-off rate as 10%, calculate net present value.</a:t>
            </a:r>
            <a:endParaRPr sz="25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554" name="Google Shape;554;p85"/>
          <p:cNvGraphicFramePr/>
          <p:nvPr/>
        </p:nvGraphicFramePr>
        <p:xfrm>
          <a:off x="838200" y="1197271"/>
          <a:ext cx="3000000" cy="3000000"/>
        </p:xfrm>
        <a:graphic>
          <a:graphicData uri="http://schemas.openxmlformats.org/drawingml/2006/table">
            <a:tbl>
              <a:tblPr bandRow="1" firstRow="1">
                <a:noFill/>
                <a:tableStyleId>{75140CFC-2FD2-45D3-AD89-D6322BEAE1F3}</a:tableStyleId>
              </a:tblPr>
              <a:tblGrid>
                <a:gridCol w="2616200"/>
                <a:gridCol w="4717150"/>
                <a:gridCol w="3182250"/>
              </a:tblGrid>
              <a:tr h="370850">
                <a:tc>
                  <a:txBody>
                    <a:bodyPr/>
                    <a:lstStyle/>
                    <a:p>
                      <a:pPr indent="0" lvl="0" marL="0" marR="0" rtl="0" algn="ctr">
                        <a:spcBef>
                          <a:spcPts val="0"/>
                        </a:spcBef>
                        <a:spcAft>
                          <a:spcPts val="0"/>
                        </a:spcAft>
                        <a:buNone/>
                      </a:pPr>
                      <a:r>
                        <a:rPr lang="en-IN" sz="2200"/>
                        <a:t>Years </a:t>
                      </a:r>
                      <a:endParaRPr sz="2200"/>
                    </a:p>
                  </a:txBody>
                  <a:tcPr marT="45725" marB="45725" marR="91450" marL="91450"/>
                </a:tc>
                <a:tc>
                  <a:txBody>
                    <a:bodyPr/>
                    <a:lstStyle/>
                    <a:p>
                      <a:pPr indent="0" lvl="0" marL="0" marR="0" rtl="0" algn="ctr">
                        <a:spcBef>
                          <a:spcPts val="0"/>
                        </a:spcBef>
                        <a:spcAft>
                          <a:spcPts val="0"/>
                        </a:spcAft>
                        <a:buNone/>
                      </a:pPr>
                      <a:r>
                        <a:rPr lang="en-IN" sz="2200"/>
                        <a:t>Outflows</a:t>
                      </a:r>
                      <a:r>
                        <a:rPr lang="en-IN" sz="2200"/>
                        <a:t> (Rs.) </a:t>
                      </a:r>
                      <a:endParaRPr sz="2200"/>
                    </a:p>
                  </a:txBody>
                  <a:tcPr marT="45725" marB="45725" marR="91450" marL="91450"/>
                </a:tc>
                <a:tc>
                  <a:txBody>
                    <a:bodyPr/>
                    <a:lstStyle/>
                    <a:p>
                      <a:pPr indent="0" lvl="0" marL="0" marR="0" rtl="0" algn="ctr">
                        <a:spcBef>
                          <a:spcPts val="0"/>
                        </a:spcBef>
                        <a:spcAft>
                          <a:spcPts val="0"/>
                        </a:spcAft>
                        <a:buNone/>
                      </a:pPr>
                      <a:r>
                        <a:rPr lang="en-IN" sz="2200"/>
                        <a:t>Inflows (Rs.)</a:t>
                      </a:r>
                      <a:endParaRPr sz="2200"/>
                    </a:p>
                  </a:txBody>
                  <a:tcPr marT="45725" marB="45725" marR="91450" marL="91450"/>
                </a:tc>
              </a:tr>
              <a:tr h="370850">
                <a:tc>
                  <a:txBody>
                    <a:bodyPr/>
                    <a:lstStyle/>
                    <a:p>
                      <a:pPr indent="0" lvl="0" marL="0" marR="0" rtl="0" algn="ctr">
                        <a:spcBef>
                          <a:spcPts val="0"/>
                        </a:spcBef>
                        <a:spcAft>
                          <a:spcPts val="0"/>
                        </a:spcAft>
                        <a:buNone/>
                      </a:pPr>
                      <a:r>
                        <a:rPr lang="en-IN" sz="2500"/>
                        <a:t>0</a:t>
                      </a:r>
                      <a:endParaRPr sz="2500"/>
                    </a:p>
                  </a:txBody>
                  <a:tcPr marT="45725" marB="45725" marR="91450" marL="91450"/>
                </a:tc>
                <a:tc>
                  <a:txBody>
                    <a:bodyPr/>
                    <a:lstStyle/>
                    <a:p>
                      <a:pPr indent="0" lvl="0" marL="0" marR="0" rtl="0" algn="ctr">
                        <a:spcBef>
                          <a:spcPts val="0"/>
                        </a:spcBef>
                        <a:spcAft>
                          <a:spcPts val="0"/>
                        </a:spcAft>
                        <a:buNone/>
                      </a:pPr>
                      <a:r>
                        <a:rPr lang="en-IN" sz="2500"/>
                        <a:t>1,75,000</a:t>
                      </a:r>
                      <a:endParaRPr sz="2500"/>
                    </a:p>
                  </a:txBody>
                  <a:tcPr marT="45725" marB="45725" marR="91450" marL="91450"/>
                </a:tc>
                <a:tc>
                  <a:txBody>
                    <a:bodyPr/>
                    <a:lstStyle/>
                    <a:p>
                      <a:pPr indent="0" lvl="0" marL="0" marR="0" rtl="0" algn="ctr">
                        <a:spcBef>
                          <a:spcPts val="0"/>
                        </a:spcBef>
                        <a:spcAft>
                          <a:spcPts val="0"/>
                        </a:spcAft>
                        <a:buNone/>
                      </a:pPr>
                      <a:r>
                        <a:rPr lang="en-IN" sz="2500"/>
                        <a:t>--</a:t>
                      </a:r>
                      <a:endParaRPr sz="25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50,000</a:t>
                      </a:r>
                      <a:endParaRPr sz="2500"/>
                    </a:p>
                  </a:txBody>
                  <a:tcPr marT="45725" marB="45725" marR="91450" marL="91450"/>
                </a:tc>
                <a:tc>
                  <a:txBody>
                    <a:bodyPr/>
                    <a:lstStyle/>
                    <a:p>
                      <a:pPr indent="0" lvl="0" marL="0" marR="0" rtl="0" algn="ctr">
                        <a:spcBef>
                          <a:spcPts val="0"/>
                        </a:spcBef>
                        <a:spcAft>
                          <a:spcPts val="0"/>
                        </a:spcAft>
                        <a:buNone/>
                      </a:pPr>
                      <a:r>
                        <a:rPr lang="en-IN" sz="2500"/>
                        <a:t>35,000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t/>
                      </a:r>
                      <a:endParaRPr sz="2500"/>
                    </a:p>
                  </a:txBody>
                  <a:tcPr marT="45725" marB="45725" marR="91450" marL="91450"/>
                </a:tc>
                <a:tc>
                  <a:txBody>
                    <a:bodyPr/>
                    <a:lstStyle/>
                    <a:p>
                      <a:pPr indent="0" lvl="0" marL="0" marR="0" rtl="0" algn="ctr">
                        <a:spcBef>
                          <a:spcPts val="0"/>
                        </a:spcBef>
                        <a:spcAft>
                          <a:spcPts val="0"/>
                        </a:spcAft>
                        <a:buNone/>
                      </a:pPr>
                      <a:r>
                        <a:rPr lang="en-IN" sz="2500"/>
                        <a:t>45,000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t/>
                      </a:r>
                      <a:endParaRPr sz="2500"/>
                    </a:p>
                  </a:txBody>
                  <a:tcPr marT="45725" marB="45725" marR="91450" marL="91450"/>
                </a:tc>
                <a:tc>
                  <a:txBody>
                    <a:bodyPr/>
                    <a:lstStyle/>
                    <a:p>
                      <a:pPr indent="0" lvl="0" marL="0" marR="0" rtl="0" algn="ctr">
                        <a:spcBef>
                          <a:spcPts val="0"/>
                        </a:spcBef>
                        <a:spcAft>
                          <a:spcPts val="0"/>
                        </a:spcAft>
                        <a:buNone/>
                      </a:pPr>
                      <a:r>
                        <a:rPr lang="en-IN" sz="2500"/>
                        <a:t>65,000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t/>
                      </a:r>
                      <a:endParaRPr sz="2500"/>
                    </a:p>
                  </a:txBody>
                  <a:tcPr marT="45725" marB="45725" marR="91450" marL="91450"/>
                </a:tc>
                <a:tc>
                  <a:txBody>
                    <a:bodyPr/>
                    <a:lstStyle/>
                    <a:p>
                      <a:pPr indent="0" lvl="0" marL="0" marR="0" rtl="0" algn="ctr">
                        <a:spcBef>
                          <a:spcPts val="0"/>
                        </a:spcBef>
                        <a:spcAft>
                          <a:spcPts val="0"/>
                        </a:spcAft>
                        <a:buNone/>
                      </a:pPr>
                      <a:r>
                        <a:rPr lang="en-IN" sz="2500"/>
                        <a:t>85,000</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t/>
                      </a:r>
                      <a:endParaRPr sz="2500"/>
                    </a:p>
                  </a:txBody>
                  <a:tcPr marT="45725" marB="45725" marR="91450" marL="91450"/>
                </a:tc>
                <a:tc>
                  <a:txBody>
                    <a:bodyPr/>
                    <a:lstStyle/>
                    <a:p>
                      <a:pPr indent="0" lvl="0" marL="0" marR="0" rtl="0" algn="ctr">
                        <a:spcBef>
                          <a:spcPts val="0"/>
                        </a:spcBef>
                        <a:spcAft>
                          <a:spcPts val="0"/>
                        </a:spcAft>
                        <a:buNone/>
                      </a:pPr>
                      <a:r>
                        <a:rPr lang="en-IN" sz="2500"/>
                        <a:t>50,000</a:t>
                      </a:r>
                      <a:endParaRPr sz="2500"/>
                    </a:p>
                  </a:txBody>
                  <a:tcPr marT="45725" marB="45725" marR="91450" marL="91450"/>
                </a:tc>
              </a:tr>
            </a:tbl>
          </a:graphicData>
        </a:graphic>
      </p:graphicFrame>
      <p:pic>
        <p:nvPicPr>
          <p:cNvPr descr="Image result for sastra logo" id="555" name="Google Shape;555;p85"/>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86"/>
          <p:cNvSpPr txBox="1"/>
          <p:nvPr>
            <p:ph idx="1" type="body"/>
          </p:nvPr>
        </p:nvSpPr>
        <p:spPr>
          <a:xfrm>
            <a:off x="838200" y="769257"/>
            <a:ext cx="10515600" cy="54077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lang="en-IN" sz="2600">
                <a:solidFill>
                  <a:srgbClr val="FF0000"/>
                </a:solidFill>
              </a:rPr>
              <a:t>Solution:                                   Computation of NPV </a:t>
            </a:r>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800"/>
              <a:buNone/>
            </a:pPr>
            <a:r>
              <a:t/>
            </a:r>
            <a:endParaRPr/>
          </a:p>
        </p:txBody>
      </p:sp>
      <p:graphicFrame>
        <p:nvGraphicFramePr>
          <p:cNvPr id="562" name="Google Shape;562;p86"/>
          <p:cNvGraphicFramePr/>
          <p:nvPr/>
        </p:nvGraphicFramePr>
        <p:xfrm>
          <a:off x="838200" y="1198637"/>
          <a:ext cx="3000000" cy="3000000"/>
        </p:xfrm>
        <a:graphic>
          <a:graphicData uri="http://schemas.openxmlformats.org/drawingml/2006/table">
            <a:tbl>
              <a:tblPr bandRow="1" firstRow="1">
                <a:noFill/>
                <a:tableStyleId>{75140CFC-2FD2-45D3-AD89-D6322BEAE1F3}</a:tableStyleId>
              </a:tblPr>
              <a:tblGrid>
                <a:gridCol w="1788875"/>
                <a:gridCol w="3207650"/>
                <a:gridCol w="3686625"/>
                <a:gridCol w="1832425"/>
              </a:tblGrid>
              <a:tr h="572100">
                <a:tc>
                  <a:txBody>
                    <a:bodyPr/>
                    <a:lstStyle/>
                    <a:p>
                      <a:pPr indent="0" lvl="0" marL="0" marR="0" rtl="0" algn="ctr">
                        <a:spcBef>
                          <a:spcPts val="0"/>
                        </a:spcBef>
                        <a:spcAft>
                          <a:spcPts val="0"/>
                        </a:spcAft>
                        <a:buNone/>
                      </a:pPr>
                      <a:r>
                        <a:rPr lang="en-IN" sz="1800"/>
                        <a:t>Year</a:t>
                      </a:r>
                      <a:endParaRPr sz="1800"/>
                    </a:p>
                  </a:txBody>
                  <a:tcPr marT="45725" marB="45725" marR="91450" marL="91450"/>
                </a:tc>
                <a:tc>
                  <a:txBody>
                    <a:bodyPr/>
                    <a:lstStyle/>
                    <a:p>
                      <a:pPr indent="0" lvl="0" marL="0" marR="0" rtl="0" algn="ctr">
                        <a:spcBef>
                          <a:spcPts val="0"/>
                        </a:spcBef>
                        <a:spcAft>
                          <a:spcPts val="0"/>
                        </a:spcAft>
                        <a:buNone/>
                      </a:pPr>
                      <a:r>
                        <a:rPr lang="en-IN" sz="1800"/>
                        <a:t>Cash Inflows</a:t>
                      </a:r>
                      <a:endParaRPr/>
                    </a:p>
                    <a:p>
                      <a:pPr indent="0" lvl="0" marL="0" marR="0" rtl="0" algn="ctr">
                        <a:spcBef>
                          <a:spcPts val="0"/>
                        </a:spcBef>
                        <a:spcAft>
                          <a:spcPts val="0"/>
                        </a:spcAft>
                        <a:buNone/>
                      </a:pPr>
                      <a:r>
                        <a:rPr lang="en-IN" sz="1800"/>
                        <a:t>Rs. </a:t>
                      </a:r>
                      <a:endParaRPr sz="1800"/>
                    </a:p>
                  </a:txBody>
                  <a:tcPr marT="45725" marB="45725" marR="91450" marL="91450"/>
                </a:tc>
                <a:tc>
                  <a:txBody>
                    <a:bodyPr/>
                    <a:lstStyle/>
                    <a:p>
                      <a:pPr indent="0" lvl="0" marL="0" marR="0" rtl="0" algn="ctr">
                        <a:spcBef>
                          <a:spcPts val="0"/>
                        </a:spcBef>
                        <a:spcAft>
                          <a:spcPts val="0"/>
                        </a:spcAft>
                        <a:buNone/>
                      </a:pPr>
                      <a:r>
                        <a:rPr lang="en-IN" sz="1800"/>
                        <a:t> Present Value @ 10% of Cash Inflows</a:t>
                      </a:r>
                      <a:endParaRPr sz="1800"/>
                    </a:p>
                  </a:txBody>
                  <a:tcPr marT="45725" marB="45725" marR="91450" marL="91450"/>
                </a:tc>
                <a:tc>
                  <a:txBody>
                    <a:bodyPr/>
                    <a:lstStyle/>
                    <a:p>
                      <a:pPr indent="0" lvl="0" marL="0" marR="0" rtl="0" algn="r">
                        <a:spcBef>
                          <a:spcPts val="0"/>
                        </a:spcBef>
                        <a:spcAft>
                          <a:spcPts val="0"/>
                        </a:spcAft>
                        <a:buNone/>
                      </a:pPr>
                      <a:r>
                        <a:rPr lang="en-IN" sz="1800"/>
                        <a:t>Present Value of Cash Inflows</a:t>
                      </a:r>
                      <a:r>
                        <a:rPr lang="en-IN" sz="1800"/>
                        <a:t> (</a:t>
                      </a:r>
                      <a:r>
                        <a:rPr lang="en-IN" sz="1800"/>
                        <a:t>Rs)</a:t>
                      </a:r>
                      <a:endParaRPr sz="18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35,000</a:t>
                      </a:r>
                      <a:endParaRPr sz="2500"/>
                    </a:p>
                  </a:txBody>
                  <a:tcPr marT="45725" marB="45725" marR="91450" marL="91450"/>
                </a:tc>
                <a:tc>
                  <a:txBody>
                    <a:bodyPr/>
                    <a:lstStyle/>
                    <a:p>
                      <a:pPr indent="0" lvl="0" marL="0" marR="0" rtl="0" algn="ctr">
                        <a:spcBef>
                          <a:spcPts val="0"/>
                        </a:spcBef>
                        <a:spcAft>
                          <a:spcPts val="0"/>
                        </a:spcAft>
                        <a:buNone/>
                      </a:pPr>
                      <a:r>
                        <a:rPr lang="en-IN" sz="2500"/>
                        <a:t>0.909 </a:t>
                      </a:r>
                      <a:endParaRPr sz="2500"/>
                    </a:p>
                  </a:txBody>
                  <a:tcPr marT="45725" marB="45725" marR="91450" marL="91450"/>
                </a:tc>
                <a:tc>
                  <a:txBody>
                    <a:bodyPr/>
                    <a:lstStyle/>
                    <a:p>
                      <a:pPr indent="0" lvl="0" marL="0" marR="0" rtl="0" algn="r">
                        <a:spcBef>
                          <a:spcPts val="0"/>
                        </a:spcBef>
                        <a:spcAft>
                          <a:spcPts val="0"/>
                        </a:spcAft>
                        <a:buNone/>
                      </a:pPr>
                      <a:r>
                        <a:rPr lang="en-IN" sz="2500"/>
                        <a:t>31,815</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45,000</a:t>
                      </a:r>
                      <a:endParaRPr sz="2500"/>
                    </a:p>
                  </a:txBody>
                  <a:tcPr marT="45725" marB="45725" marR="91450" marL="91450"/>
                </a:tc>
                <a:tc>
                  <a:txBody>
                    <a:bodyPr/>
                    <a:lstStyle/>
                    <a:p>
                      <a:pPr indent="0" lvl="0" marL="0" marR="0" rtl="0" algn="ctr">
                        <a:spcBef>
                          <a:spcPts val="0"/>
                        </a:spcBef>
                        <a:spcAft>
                          <a:spcPts val="0"/>
                        </a:spcAft>
                        <a:buNone/>
                      </a:pPr>
                      <a:r>
                        <a:rPr lang="en-IN" sz="2500"/>
                        <a:t>0.826 </a:t>
                      </a:r>
                      <a:endParaRPr sz="2500"/>
                    </a:p>
                  </a:txBody>
                  <a:tcPr marT="45725" marB="45725" marR="91450" marL="91450"/>
                </a:tc>
                <a:tc>
                  <a:txBody>
                    <a:bodyPr/>
                    <a:lstStyle/>
                    <a:p>
                      <a:pPr indent="0" lvl="0" marL="0" marR="0" rtl="0" algn="r">
                        <a:spcBef>
                          <a:spcPts val="0"/>
                        </a:spcBef>
                        <a:spcAft>
                          <a:spcPts val="0"/>
                        </a:spcAft>
                        <a:buNone/>
                      </a:pPr>
                      <a:r>
                        <a:rPr lang="en-IN" sz="2500"/>
                        <a:t>37,170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65,000</a:t>
                      </a:r>
                      <a:endParaRPr sz="2500"/>
                    </a:p>
                  </a:txBody>
                  <a:tcPr marT="45725" marB="45725" marR="91450" marL="91450"/>
                </a:tc>
                <a:tc>
                  <a:txBody>
                    <a:bodyPr/>
                    <a:lstStyle/>
                    <a:p>
                      <a:pPr indent="0" lvl="0" marL="0" marR="0" rtl="0" algn="ctr">
                        <a:spcBef>
                          <a:spcPts val="0"/>
                        </a:spcBef>
                        <a:spcAft>
                          <a:spcPts val="0"/>
                        </a:spcAft>
                        <a:buNone/>
                      </a:pPr>
                      <a:r>
                        <a:rPr lang="en-IN" sz="2500"/>
                        <a:t> 0.751 </a:t>
                      </a:r>
                      <a:endParaRPr sz="2500"/>
                    </a:p>
                  </a:txBody>
                  <a:tcPr marT="45725" marB="45725" marR="91450" marL="91450"/>
                </a:tc>
                <a:tc>
                  <a:txBody>
                    <a:bodyPr/>
                    <a:lstStyle/>
                    <a:p>
                      <a:pPr indent="0" lvl="0" marL="0" marR="0" rtl="0" algn="r">
                        <a:spcBef>
                          <a:spcPts val="0"/>
                        </a:spcBef>
                        <a:spcAft>
                          <a:spcPts val="0"/>
                        </a:spcAft>
                        <a:buNone/>
                      </a:pPr>
                      <a:r>
                        <a:rPr lang="en-IN" sz="2500"/>
                        <a:t>48,815</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85,000</a:t>
                      </a:r>
                      <a:endParaRPr sz="2500"/>
                    </a:p>
                  </a:txBody>
                  <a:tcPr marT="45725" marB="45725" marR="91450" marL="91450"/>
                </a:tc>
                <a:tc>
                  <a:txBody>
                    <a:bodyPr/>
                    <a:lstStyle/>
                    <a:p>
                      <a:pPr indent="0" lvl="0" marL="0" marR="0" rtl="0" algn="ctr">
                        <a:spcBef>
                          <a:spcPts val="0"/>
                        </a:spcBef>
                        <a:spcAft>
                          <a:spcPts val="0"/>
                        </a:spcAft>
                        <a:buNone/>
                      </a:pPr>
                      <a:r>
                        <a:rPr lang="en-IN" sz="2500"/>
                        <a:t> 0.683</a:t>
                      </a:r>
                      <a:endParaRPr sz="2500"/>
                    </a:p>
                  </a:txBody>
                  <a:tcPr marT="45725" marB="45725" marR="91450" marL="91450"/>
                </a:tc>
                <a:tc>
                  <a:txBody>
                    <a:bodyPr/>
                    <a:lstStyle/>
                    <a:p>
                      <a:pPr indent="0" lvl="0" marL="0" marR="0" rtl="0" algn="r">
                        <a:spcBef>
                          <a:spcPts val="0"/>
                        </a:spcBef>
                        <a:spcAft>
                          <a:spcPts val="0"/>
                        </a:spcAft>
                        <a:buNone/>
                      </a:pPr>
                      <a:r>
                        <a:rPr lang="en-IN" sz="2500"/>
                        <a:t>58,055</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50,000</a:t>
                      </a:r>
                      <a:endParaRPr sz="2500"/>
                    </a:p>
                  </a:txBody>
                  <a:tcPr marT="45725" marB="45725" marR="91450" marL="91450"/>
                </a:tc>
                <a:tc>
                  <a:txBody>
                    <a:bodyPr/>
                    <a:lstStyle/>
                    <a:p>
                      <a:pPr indent="0" lvl="0" marL="0" marR="0" rtl="0" algn="ctr">
                        <a:spcBef>
                          <a:spcPts val="0"/>
                        </a:spcBef>
                        <a:spcAft>
                          <a:spcPts val="0"/>
                        </a:spcAft>
                        <a:buNone/>
                      </a:pPr>
                      <a:r>
                        <a:rPr lang="en-IN" sz="2500"/>
                        <a:t>0.621 </a:t>
                      </a:r>
                      <a:endParaRPr sz="2500"/>
                    </a:p>
                  </a:txBody>
                  <a:tcPr marT="45725" marB="45725" marR="91450" marL="91450"/>
                </a:tc>
                <a:tc>
                  <a:txBody>
                    <a:bodyPr/>
                    <a:lstStyle/>
                    <a:p>
                      <a:pPr indent="0" lvl="0" marL="0" marR="0" rtl="0" algn="r">
                        <a:spcBef>
                          <a:spcPts val="0"/>
                        </a:spcBef>
                        <a:spcAft>
                          <a:spcPts val="0"/>
                        </a:spcAft>
                        <a:buNone/>
                      </a:pPr>
                      <a:r>
                        <a:rPr lang="en-IN" sz="2500"/>
                        <a:t>31,050</a:t>
                      </a:r>
                      <a:endParaRPr sz="2500"/>
                    </a:p>
                  </a:txBody>
                  <a:tcPr marT="45725" marB="45725" marR="91450" marL="91450"/>
                </a:tc>
              </a:tr>
              <a:tr h="370850">
                <a:tc>
                  <a:txBody>
                    <a:bodyPr/>
                    <a:lstStyle/>
                    <a:p>
                      <a:pPr indent="0" lvl="0" marL="0" marR="0" rtl="0" algn="ctr">
                        <a:spcBef>
                          <a:spcPts val="0"/>
                        </a:spcBef>
                        <a:spcAft>
                          <a:spcPts val="0"/>
                        </a:spcAft>
                        <a:buNone/>
                      </a:pPr>
                      <a:r>
                        <a:rPr lang="en-IN" sz="2500"/>
                        <a:t>5. (Salvage)</a:t>
                      </a:r>
                      <a:r>
                        <a:rPr lang="en-IN" sz="2500"/>
                        <a:t> </a:t>
                      </a:r>
                      <a:endParaRPr sz="2500"/>
                    </a:p>
                  </a:txBody>
                  <a:tcPr marT="45725" marB="45725" marR="91450" marL="91450"/>
                </a:tc>
                <a:tc>
                  <a:txBody>
                    <a:bodyPr/>
                    <a:lstStyle/>
                    <a:p>
                      <a:pPr indent="0" lvl="0" marL="0" marR="0" rtl="0" algn="ctr">
                        <a:spcBef>
                          <a:spcPts val="0"/>
                        </a:spcBef>
                        <a:spcAft>
                          <a:spcPts val="0"/>
                        </a:spcAft>
                        <a:buNone/>
                      </a:pPr>
                      <a:r>
                        <a:rPr lang="en-IN" sz="2500"/>
                        <a:t>50,000</a:t>
                      </a:r>
                      <a:endParaRPr sz="2500"/>
                    </a:p>
                  </a:txBody>
                  <a:tcPr marT="45725" marB="45725" marR="91450" marL="91450"/>
                </a:tc>
                <a:tc>
                  <a:txBody>
                    <a:bodyPr/>
                    <a:lstStyle/>
                    <a:p>
                      <a:pPr indent="0" lvl="0" marL="0" marR="0" rtl="0" algn="ctr">
                        <a:spcBef>
                          <a:spcPts val="0"/>
                        </a:spcBef>
                        <a:spcAft>
                          <a:spcPts val="0"/>
                        </a:spcAft>
                        <a:buNone/>
                      </a:pPr>
                      <a:r>
                        <a:rPr lang="en-IN" sz="2500"/>
                        <a:t>0.621</a:t>
                      </a:r>
                      <a:endParaRPr sz="2500"/>
                    </a:p>
                  </a:txBody>
                  <a:tcPr marT="45725" marB="45725" marR="91450" marL="91450"/>
                </a:tc>
                <a:tc>
                  <a:txBody>
                    <a:bodyPr/>
                    <a:lstStyle/>
                    <a:p>
                      <a:pPr indent="0" lvl="0" marL="0" marR="0" rtl="0" algn="r">
                        <a:spcBef>
                          <a:spcPts val="0"/>
                        </a:spcBef>
                        <a:spcAft>
                          <a:spcPts val="0"/>
                        </a:spcAft>
                        <a:buNone/>
                      </a:pPr>
                      <a:r>
                        <a:rPr lang="en-IN" sz="2500"/>
                        <a:t>31,050</a:t>
                      </a:r>
                      <a:endParaRPr sz="25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b="1" lang="en-IN" sz="2500">
                          <a:solidFill>
                            <a:srgbClr val="FF0000"/>
                          </a:solidFill>
                        </a:rPr>
                        <a:t>Total present value of cash inflows</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500">
                          <a:solidFill>
                            <a:srgbClr val="FF0000"/>
                          </a:solidFill>
                        </a:rPr>
                        <a:t>2,37,955</a:t>
                      </a:r>
                      <a:endParaRPr b="1"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lang="en-IN" sz="2500"/>
                        <a:t>Cash outflow beginning [Rs. 1,75,000 + Rs. 45,450]</a:t>
                      </a:r>
                      <a:endParaRPr/>
                    </a:p>
                    <a:p>
                      <a:pPr indent="0" lvl="0" marL="0" marR="0" rtl="0" algn="l">
                        <a:spcBef>
                          <a:spcPts val="0"/>
                        </a:spcBef>
                        <a:spcAft>
                          <a:spcPts val="0"/>
                        </a:spcAft>
                        <a:buNone/>
                      </a:pPr>
                      <a:r>
                        <a:rPr lang="en-IN" sz="2500">
                          <a:solidFill>
                            <a:srgbClr val="FF0000"/>
                          </a:solidFill>
                        </a:rPr>
                        <a:t>Plus</a:t>
                      </a:r>
                      <a:r>
                        <a:rPr lang="en-IN" sz="2500"/>
                        <a:t> Additional capital </a:t>
                      </a:r>
                      <a:r>
                        <a:rPr lang="en-IN" sz="2500"/>
                        <a:t>[Rs. 50,000 × 0.909 = 45,450]</a:t>
                      </a:r>
                      <a:endParaRPr sz="2500"/>
                    </a:p>
                  </a:txBody>
                  <a:tcPr marT="45725" marB="45725" marR="91450" marL="91450"/>
                </a:tc>
                <a:tc hMerge="1"/>
                <a:tc>
                  <a:txBody>
                    <a:bodyPr/>
                    <a:lstStyle/>
                    <a:p>
                      <a:pPr indent="0" lvl="0" marL="0" marR="0" rtl="0" algn="r">
                        <a:spcBef>
                          <a:spcPts val="0"/>
                        </a:spcBef>
                        <a:spcAft>
                          <a:spcPts val="0"/>
                        </a:spcAft>
                        <a:buNone/>
                      </a:pPr>
                      <a:r>
                        <a:rPr lang="en-IN" sz="2500"/>
                        <a:t>2,20,450</a:t>
                      </a:r>
                      <a:endParaRPr sz="25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b="1" lang="en-IN" sz="2500">
                          <a:solidFill>
                            <a:srgbClr val="FF0000"/>
                          </a:solidFill>
                        </a:rPr>
                        <a:t>Net Present Value</a:t>
                      </a:r>
                      <a:r>
                        <a:rPr b="1" lang="en-IN" sz="2500">
                          <a:solidFill>
                            <a:srgbClr val="FF0000"/>
                          </a:solidFill>
                        </a:rPr>
                        <a:t> [NPV]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500">
                          <a:solidFill>
                            <a:srgbClr val="FF0000"/>
                          </a:solidFill>
                        </a:rPr>
                        <a:t>17,505</a:t>
                      </a:r>
                      <a:endParaRPr b="1" sz="2500">
                        <a:solidFill>
                          <a:srgbClr val="FF0000"/>
                        </a:solidFill>
                      </a:endParaRPr>
                    </a:p>
                  </a:txBody>
                  <a:tcPr marT="45725" marB="45725" marR="91450" marL="91450"/>
                </a:tc>
              </a:tr>
            </a:tbl>
          </a:graphicData>
        </a:graphic>
      </p:graphicFrame>
      <p:pic>
        <p:nvPicPr>
          <p:cNvPr descr="Image result for sastra logo" id="563" name="Google Shape;563;p86"/>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7"/>
          <p:cNvSpPr txBox="1"/>
          <p:nvPr>
            <p:ph idx="1" type="body"/>
          </p:nvPr>
        </p:nvSpPr>
        <p:spPr>
          <a:xfrm>
            <a:off x="838200" y="901338"/>
            <a:ext cx="10515600" cy="512063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P16. National steel company is considering to invest in a project which cost Rs. 2,50,000 and will require an increase in the level of investment and working capital of Rs. 1,25,000 over its life. The project will generate additional sales of Rs. 2,50,000 and will require additional expenses of Rs. 75,000 every year. The project has five years life. The firms cost of capital is 10% and is in the tax bracket of 50%. Assuming straight line method of depreciation, should the project be accepted? Present value of an annuity of Re. 1 at 10% for 5 years is 3.7908.</a:t>
            </a:r>
            <a:endParaRPr sz="2600"/>
          </a:p>
        </p:txBody>
      </p:sp>
      <p:pic>
        <p:nvPicPr>
          <p:cNvPr descr="Image result for sastra logo" id="569" name="Google Shape;569;p87"/>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88"/>
          <p:cNvSpPr txBox="1"/>
          <p:nvPr>
            <p:ph idx="1" type="body"/>
          </p:nvPr>
        </p:nvSpPr>
        <p:spPr>
          <a:xfrm>
            <a:off x="838199" y="718458"/>
            <a:ext cx="10515600" cy="541931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lang="en-IN" sz="2600">
                <a:solidFill>
                  <a:srgbClr val="FF0000"/>
                </a:solidFill>
              </a:rPr>
              <a:t>Solution:</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1. Computation of total cash outflow:</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2. Computation of annual cash inflow:</a:t>
            </a:r>
            <a:endParaRPr/>
          </a:p>
        </p:txBody>
      </p:sp>
      <p:graphicFrame>
        <p:nvGraphicFramePr>
          <p:cNvPr id="575" name="Google Shape;575;p88"/>
          <p:cNvGraphicFramePr/>
          <p:nvPr/>
        </p:nvGraphicFramePr>
        <p:xfrm>
          <a:off x="838199" y="1712443"/>
          <a:ext cx="3000000" cy="3000000"/>
        </p:xfrm>
        <a:graphic>
          <a:graphicData uri="http://schemas.openxmlformats.org/drawingml/2006/table">
            <a:tbl>
              <a:tblPr bandRow="1" firstRow="1">
                <a:noFill/>
                <a:tableStyleId>{75140CFC-2FD2-45D3-AD89-D6322BEAE1F3}</a:tableStyleId>
              </a:tblPr>
              <a:tblGrid>
                <a:gridCol w="846900"/>
                <a:gridCol w="8242650"/>
                <a:gridCol w="1426025"/>
              </a:tblGrid>
              <a:tr h="370850">
                <a:tc>
                  <a:txBody>
                    <a:bodyPr/>
                    <a:lstStyle/>
                    <a:p>
                      <a:pPr indent="0" lvl="0" marL="0" marR="0" rtl="0" algn="ctr">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200"/>
                        <a:t>Particulars</a:t>
                      </a:r>
                      <a:endParaRPr sz="2200"/>
                    </a:p>
                  </a:txBody>
                  <a:tcPr marT="45725" marB="45725" marR="91450" marL="91450"/>
                </a:tc>
                <a:tc>
                  <a:txBody>
                    <a:bodyPr/>
                    <a:lstStyle/>
                    <a:p>
                      <a:pPr indent="0" lvl="0" marL="0" marR="0" rtl="0" algn="r">
                        <a:spcBef>
                          <a:spcPts val="0"/>
                        </a:spcBef>
                        <a:spcAft>
                          <a:spcPts val="0"/>
                        </a:spcAft>
                        <a:buNone/>
                      </a:pPr>
                      <a:r>
                        <a:rPr lang="en-IN" sz="2200"/>
                        <a:t>Rs.</a:t>
                      </a:r>
                      <a:endParaRPr sz="22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Cost of new project </a:t>
                      </a:r>
                      <a:endParaRPr sz="2500"/>
                    </a:p>
                  </a:txBody>
                  <a:tcPr marT="45725" marB="45725" marR="91450" marL="91450"/>
                </a:tc>
                <a:tc>
                  <a:txBody>
                    <a:bodyPr/>
                    <a:lstStyle/>
                    <a:p>
                      <a:pPr indent="0" lvl="0" marL="0" marR="0" rtl="0" algn="r">
                        <a:spcBef>
                          <a:spcPts val="0"/>
                        </a:spcBef>
                        <a:spcAft>
                          <a:spcPts val="0"/>
                        </a:spcAft>
                        <a:buNone/>
                      </a:pPr>
                      <a:r>
                        <a:rPr lang="en-IN" sz="2500"/>
                        <a:t>2,50,000</a:t>
                      </a:r>
                      <a:endParaRPr sz="2500"/>
                    </a:p>
                  </a:txBody>
                  <a:tcPr marT="45725" marB="45725" marR="91450" marL="91450"/>
                </a:tc>
              </a:tr>
              <a:tr h="367450">
                <a:tc>
                  <a:txBody>
                    <a:bodyPr/>
                    <a:lstStyle/>
                    <a:p>
                      <a:pPr indent="0" lvl="0" marL="0" marR="0" rtl="0" algn="ctr">
                        <a:spcBef>
                          <a:spcPts val="0"/>
                        </a:spcBef>
                        <a:spcAft>
                          <a:spcPts val="0"/>
                        </a:spcAft>
                        <a:buNone/>
                      </a:pPr>
                      <a:r>
                        <a:rPr lang="en-IN" sz="2500">
                          <a:solidFill>
                            <a:srgbClr val="FF0000"/>
                          </a:solidFill>
                        </a:rPr>
                        <a:t>Add</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Additional working capital </a:t>
                      </a:r>
                      <a:endParaRPr sz="2500"/>
                    </a:p>
                  </a:txBody>
                  <a:tcPr marT="45725" marB="45725" marR="91450" marL="91450"/>
                </a:tc>
                <a:tc>
                  <a:txBody>
                    <a:bodyPr/>
                    <a:lstStyle/>
                    <a:p>
                      <a:pPr indent="0" lvl="0" marL="0" marR="0" rtl="0" algn="r">
                        <a:spcBef>
                          <a:spcPts val="0"/>
                        </a:spcBef>
                        <a:spcAft>
                          <a:spcPts val="0"/>
                        </a:spcAft>
                        <a:buNone/>
                      </a:pPr>
                      <a:r>
                        <a:rPr lang="en-IN" sz="2500"/>
                        <a:t>1,25,000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Total cash outflow</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3,75,000</a:t>
                      </a:r>
                      <a:endParaRPr sz="2500">
                        <a:solidFill>
                          <a:srgbClr val="FF0000"/>
                        </a:solidFill>
                      </a:endParaRPr>
                    </a:p>
                  </a:txBody>
                  <a:tcPr marT="45725" marB="45725" marR="91450" marL="91450"/>
                </a:tc>
              </a:tr>
            </a:tbl>
          </a:graphicData>
        </a:graphic>
      </p:graphicFrame>
      <p:graphicFrame>
        <p:nvGraphicFramePr>
          <p:cNvPr id="576" name="Google Shape;576;p88"/>
          <p:cNvGraphicFramePr/>
          <p:nvPr/>
        </p:nvGraphicFramePr>
        <p:xfrm>
          <a:off x="838198" y="4090861"/>
          <a:ext cx="3000000" cy="3000000"/>
        </p:xfrm>
        <a:graphic>
          <a:graphicData uri="http://schemas.openxmlformats.org/drawingml/2006/table">
            <a:tbl>
              <a:tblPr bandRow="1" firstRow="1">
                <a:noFill/>
                <a:tableStyleId>{75140CFC-2FD2-45D3-AD89-D6322BEAE1F3}</a:tableStyleId>
              </a:tblPr>
              <a:tblGrid>
                <a:gridCol w="820775"/>
                <a:gridCol w="8347175"/>
                <a:gridCol w="1347650"/>
              </a:tblGrid>
              <a:tr h="370850">
                <a:tc>
                  <a:txBody>
                    <a:bodyPr/>
                    <a:lstStyle/>
                    <a:p>
                      <a:pPr indent="0" lvl="0" marL="0" marR="0" rtl="0" algn="ctr">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200"/>
                        <a:t>Particulars</a:t>
                      </a:r>
                      <a:endParaRPr sz="2200"/>
                    </a:p>
                  </a:txBody>
                  <a:tcPr marT="45725" marB="45725" marR="91450" marL="91450"/>
                </a:tc>
                <a:tc>
                  <a:txBody>
                    <a:bodyPr/>
                    <a:lstStyle/>
                    <a:p>
                      <a:pPr indent="0" lvl="0" marL="0" marR="0" rtl="0" algn="r">
                        <a:spcBef>
                          <a:spcPts val="0"/>
                        </a:spcBef>
                        <a:spcAft>
                          <a:spcPts val="0"/>
                        </a:spcAft>
                        <a:buNone/>
                      </a:pPr>
                      <a:r>
                        <a:rPr lang="en-IN" sz="2200"/>
                        <a:t>Rs.</a:t>
                      </a:r>
                      <a:endParaRPr sz="22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Additional sales</a:t>
                      </a:r>
                      <a:endParaRPr sz="2500"/>
                    </a:p>
                  </a:txBody>
                  <a:tcPr marT="45725" marB="45725" marR="91450" marL="91450"/>
                </a:tc>
                <a:tc>
                  <a:txBody>
                    <a:bodyPr/>
                    <a:lstStyle/>
                    <a:p>
                      <a:pPr indent="0" lvl="0" marL="0" marR="0" rtl="0" algn="r">
                        <a:spcBef>
                          <a:spcPts val="0"/>
                        </a:spcBef>
                        <a:spcAft>
                          <a:spcPts val="0"/>
                        </a:spcAft>
                        <a:buNone/>
                      </a:pPr>
                      <a:r>
                        <a:rPr lang="en-IN" sz="2500"/>
                        <a:t>2,50,000</a:t>
                      </a:r>
                      <a:endParaRPr sz="2500"/>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Additional expenses </a:t>
                      </a:r>
                      <a:endParaRPr sz="2500"/>
                    </a:p>
                  </a:txBody>
                  <a:tcPr marT="45725" marB="45725" marR="91450" marL="91450"/>
                </a:tc>
                <a:tc>
                  <a:txBody>
                    <a:bodyPr/>
                    <a:lstStyle/>
                    <a:p>
                      <a:pPr indent="0" lvl="0" marL="0" marR="0" rtl="0" algn="r">
                        <a:spcBef>
                          <a:spcPts val="0"/>
                        </a:spcBef>
                        <a:spcAft>
                          <a:spcPts val="0"/>
                        </a:spcAft>
                        <a:buNone/>
                      </a:pPr>
                      <a:r>
                        <a:rPr lang="en-IN" sz="2500"/>
                        <a:t>75,000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1,75,000</a:t>
                      </a:r>
                      <a:endParaRPr sz="2500">
                        <a:solidFill>
                          <a:srgbClr val="FF0000"/>
                        </a:solidFill>
                      </a:endParaRPr>
                    </a:p>
                  </a:txBody>
                  <a:tcPr marT="45725" marB="45725" marR="91450" marL="91450"/>
                </a:tc>
              </a:tr>
            </a:tbl>
          </a:graphicData>
        </a:graphic>
      </p:graphicFrame>
      <p:pic>
        <p:nvPicPr>
          <p:cNvPr descr="Image result for sastra logo" id="577" name="Google Shape;577;p88"/>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9"/>
          <p:cNvSpPr txBox="1"/>
          <p:nvPr>
            <p:ph idx="1" type="body"/>
          </p:nvPr>
        </p:nvSpPr>
        <p:spPr>
          <a:xfrm>
            <a:off x="838200" y="796834"/>
            <a:ext cx="10515600" cy="5380129"/>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3. Computation of NPV:</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a:p>
            <a:pPr indent="0" lvl="0" marL="0" rtl="0" algn="l">
              <a:lnSpc>
                <a:spcPct val="90000"/>
              </a:lnSpc>
              <a:spcBef>
                <a:spcPts val="1000"/>
              </a:spcBef>
              <a:spcAft>
                <a:spcPts val="0"/>
              </a:spcAft>
              <a:buClr>
                <a:schemeClr val="dk1"/>
              </a:buClr>
              <a:buSzPts val="2800"/>
              <a:buNone/>
            </a:pPr>
            <a:r>
              <a:t/>
            </a:r>
            <a:endParaRPr/>
          </a:p>
        </p:txBody>
      </p:sp>
      <p:pic>
        <p:nvPicPr>
          <p:cNvPr id="583" name="Google Shape;583;p89"/>
          <p:cNvPicPr preferRelativeResize="0"/>
          <p:nvPr/>
        </p:nvPicPr>
        <p:blipFill rotWithShape="1">
          <a:blip r:embed="rId3">
            <a:alphaModFix/>
          </a:blip>
          <a:srcRect b="0" l="0" r="0" t="0"/>
          <a:stretch/>
        </p:blipFill>
        <p:spPr>
          <a:xfrm>
            <a:off x="800709" y="692332"/>
            <a:ext cx="10553091" cy="3029975"/>
          </a:xfrm>
          <a:prstGeom prst="rect">
            <a:avLst/>
          </a:prstGeom>
          <a:noFill/>
          <a:ln>
            <a:noFill/>
          </a:ln>
        </p:spPr>
      </p:pic>
      <p:graphicFrame>
        <p:nvGraphicFramePr>
          <p:cNvPr id="584" name="Google Shape;584;p89"/>
          <p:cNvGraphicFramePr/>
          <p:nvPr/>
        </p:nvGraphicFramePr>
        <p:xfrm>
          <a:off x="800709" y="4283575"/>
          <a:ext cx="3000000" cy="3000000"/>
        </p:xfrm>
        <a:graphic>
          <a:graphicData uri="http://schemas.openxmlformats.org/drawingml/2006/table">
            <a:tbl>
              <a:tblPr bandRow="1" firstRow="1">
                <a:noFill/>
                <a:tableStyleId>{75140CFC-2FD2-45D3-AD89-D6322BEAE1F3}</a:tableStyleId>
              </a:tblPr>
              <a:tblGrid>
                <a:gridCol w="792950"/>
                <a:gridCol w="8229600"/>
                <a:gridCol w="1371600"/>
              </a:tblGrid>
              <a:tr h="370850">
                <a:tc>
                  <a:txBody>
                    <a:bodyPr/>
                    <a:lstStyle/>
                    <a:p>
                      <a:pPr indent="0" lvl="0" marL="0" marR="0" rtl="0" algn="ctr">
                        <a:spcBef>
                          <a:spcPts val="0"/>
                        </a:spcBef>
                        <a:spcAft>
                          <a:spcPts val="0"/>
                        </a:spcAft>
                        <a:buNone/>
                      </a:pPr>
                      <a:r>
                        <a:t/>
                      </a:r>
                      <a:endParaRPr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Particulars</a:t>
                      </a:r>
                      <a:endParaRPr sz="2200"/>
                    </a:p>
                  </a:txBody>
                  <a:tcPr marT="45725" marB="45725" marR="91450" marL="91450"/>
                </a:tc>
                <a:tc>
                  <a:txBody>
                    <a:bodyPr/>
                    <a:lstStyle/>
                    <a:p>
                      <a:pPr indent="0" lvl="0" marL="0" marR="0" rtl="0" algn="r">
                        <a:spcBef>
                          <a:spcPts val="0"/>
                        </a:spcBef>
                        <a:spcAft>
                          <a:spcPts val="0"/>
                        </a:spcAft>
                        <a:buNone/>
                      </a:pPr>
                      <a:r>
                        <a:rPr lang="en-IN" sz="2200"/>
                        <a:t>Rs. </a:t>
                      </a:r>
                      <a:endParaRPr sz="22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400"/>
                        <a:t>Present value of cash inflows for 5 years [</a:t>
                      </a:r>
                      <a:r>
                        <a:rPr lang="en-IN" sz="2400"/>
                        <a:t>Rs. 1,12,500 × 3.7908]</a:t>
                      </a:r>
                      <a:endParaRPr sz="2400"/>
                    </a:p>
                  </a:txBody>
                  <a:tcPr marT="45725" marB="45725" marR="91450" marL="91450"/>
                </a:tc>
                <a:tc>
                  <a:txBody>
                    <a:bodyPr/>
                    <a:lstStyle/>
                    <a:p>
                      <a:pPr indent="0" lvl="0" marL="0" marR="0" rtl="0" algn="r">
                        <a:spcBef>
                          <a:spcPts val="0"/>
                        </a:spcBef>
                        <a:spcAft>
                          <a:spcPts val="0"/>
                        </a:spcAft>
                        <a:buNone/>
                      </a:pPr>
                      <a:r>
                        <a:rPr lang="en-IN" sz="2500"/>
                        <a:t>4,26,090</a:t>
                      </a:r>
                      <a:endParaRPr sz="2500"/>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Present value</a:t>
                      </a:r>
                      <a:r>
                        <a:rPr lang="en-IN" sz="2500"/>
                        <a:t> of cash outflow</a:t>
                      </a:r>
                      <a:endParaRPr sz="2500"/>
                    </a:p>
                  </a:txBody>
                  <a:tcPr marT="45725" marB="45725" marR="91450" marL="91450"/>
                </a:tc>
                <a:tc>
                  <a:txBody>
                    <a:bodyPr/>
                    <a:lstStyle/>
                    <a:p>
                      <a:pPr indent="0" lvl="0" marL="0" marR="0" rtl="0" algn="r">
                        <a:spcBef>
                          <a:spcPts val="0"/>
                        </a:spcBef>
                        <a:spcAft>
                          <a:spcPts val="0"/>
                        </a:spcAft>
                        <a:buNone/>
                      </a:pPr>
                      <a:r>
                        <a:rPr lang="en-IN" sz="2500"/>
                        <a:t>3,75,000</a:t>
                      </a:r>
                      <a:endParaRPr sz="2500"/>
                    </a:p>
                  </a:txBody>
                  <a:tcPr marT="45725" marB="45725" marR="91450" marL="91450"/>
                </a:tc>
              </a:tr>
              <a:tr h="370850">
                <a:tc>
                  <a:txBody>
                    <a:bodyPr/>
                    <a:lstStyle/>
                    <a:p>
                      <a:pPr indent="0" lvl="0" marL="0" marR="0" rtl="0" algn="ctr">
                        <a:spcBef>
                          <a:spcPts val="0"/>
                        </a:spcBef>
                        <a:spcAft>
                          <a:spcPts val="0"/>
                        </a:spcAft>
                        <a:buNone/>
                      </a:pPr>
                      <a:r>
                        <a:t/>
                      </a:r>
                      <a:endParaRPr b="1" sz="24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400">
                          <a:solidFill>
                            <a:srgbClr val="FF0000"/>
                          </a:solidFill>
                        </a:rPr>
                        <a:t>NPV</a:t>
                      </a:r>
                      <a:endParaRPr b="1" sz="24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400">
                          <a:solidFill>
                            <a:srgbClr val="FF0000"/>
                          </a:solidFill>
                        </a:rPr>
                        <a:t>51,090</a:t>
                      </a:r>
                      <a:endParaRPr b="1" sz="2400">
                        <a:solidFill>
                          <a:srgbClr val="FF0000"/>
                        </a:solidFill>
                      </a:endParaRPr>
                    </a:p>
                  </a:txBody>
                  <a:tcPr marT="45725" marB="45725" marR="91450" marL="91450"/>
                </a:tc>
              </a:tr>
              <a:tr h="370850">
                <a:tc gridSpan="3">
                  <a:txBody>
                    <a:bodyPr/>
                    <a:lstStyle/>
                    <a:p>
                      <a:pPr indent="0" lvl="0" marL="0" marR="0" rtl="0" algn="l">
                        <a:spcBef>
                          <a:spcPts val="0"/>
                        </a:spcBef>
                        <a:spcAft>
                          <a:spcPts val="0"/>
                        </a:spcAft>
                        <a:buNone/>
                      </a:pPr>
                      <a:r>
                        <a:rPr b="1" lang="en-IN" sz="2500">
                          <a:solidFill>
                            <a:srgbClr val="FF0000"/>
                          </a:solidFill>
                        </a:rPr>
                        <a:t>Comment:</a:t>
                      </a:r>
                      <a:r>
                        <a:rPr b="1" lang="en-IN" sz="2500">
                          <a:solidFill>
                            <a:srgbClr val="FF0000"/>
                          </a:solidFill>
                        </a:rPr>
                        <a:t> </a:t>
                      </a:r>
                      <a:r>
                        <a:rPr lang="en-IN" sz="2500">
                          <a:solidFill>
                            <a:srgbClr val="00B050"/>
                          </a:solidFill>
                        </a:rPr>
                        <a:t>The project should be accepted as its NPV is positive.</a:t>
                      </a:r>
                      <a:endParaRPr sz="2500">
                        <a:solidFill>
                          <a:srgbClr val="00B050"/>
                        </a:solidFill>
                      </a:endParaRPr>
                    </a:p>
                  </a:txBody>
                  <a:tcPr marT="45725" marB="45725" marR="91450" marL="91450"/>
                </a:tc>
                <a:tc hMerge="1"/>
                <a:tc hMerge="1"/>
              </a:tr>
            </a:tbl>
          </a:graphicData>
        </a:graphic>
      </p:graphicFrame>
      <p:pic>
        <p:nvPicPr>
          <p:cNvPr descr="Image result for sastra logo" id="585" name="Google Shape;585;p89"/>
          <p:cNvPicPr preferRelativeResize="0"/>
          <p:nvPr/>
        </p:nvPicPr>
        <p:blipFill rotWithShape="1">
          <a:blip r:embed="rId4">
            <a:alphaModFix/>
          </a:blip>
          <a:srcRect b="0" l="0" r="0" t="0"/>
          <a:stretch/>
        </p:blipFill>
        <p:spPr>
          <a:xfrm>
            <a:off x="9537700" y="246352"/>
            <a:ext cx="1816100" cy="44598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90"/>
          <p:cNvSpPr txBox="1"/>
          <p:nvPr>
            <p:ph idx="1" type="body"/>
          </p:nvPr>
        </p:nvSpPr>
        <p:spPr>
          <a:xfrm>
            <a:off x="838200" y="966651"/>
            <a:ext cx="10515600" cy="521031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17. XYZ Ltd. has decided to diversify its production and wants to invest its surplus funds on the most profitable project. It has under consideration only two products A and B. The cost of project A is Rs. 100 lakhs and that of B is Rs. 150 Lakh. Both project are expected to have a life of 8 years only  and end of this period, A will have a salvage value of Rs. 4 lakh and B Rs. 14 lakh. The running expenses of A will be Rs. 35 lakh per year and that of B Rs. 20 lakh per year. In either case, the company expects a rate of return of 10%. The company’s tax rate is 50%. Depreciation is charged on straight line basis. Which project should  the company take up?</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Comment:</a:t>
            </a:r>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Project B should be recommended.</a:t>
            </a:r>
            <a:endParaRPr sz="2600">
              <a:solidFill>
                <a:srgbClr val="00B050"/>
              </a:solidFill>
            </a:endParaRPr>
          </a:p>
        </p:txBody>
      </p:sp>
      <p:pic>
        <p:nvPicPr>
          <p:cNvPr descr="Image result for sastra logo" id="591" name="Google Shape;591;p90"/>
          <p:cNvPicPr preferRelativeResize="0"/>
          <p:nvPr/>
        </p:nvPicPr>
        <p:blipFill rotWithShape="1">
          <a:blip r:embed="rId3">
            <a:alphaModFix/>
          </a:blip>
          <a:srcRect b="0" l="0" r="0" t="0"/>
          <a:stretch/>
        </p:blipFill>
        <p:spPr>
          <a:xfrm>
            <a:off x="9537700" y="300446"/>
            <a:ext cx="1816100" cy="54864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91"/>
          <p:cNvSpPr txBox="1"/>
          <p:nvPr>
            <p:ph idx="1" type="body"/>
          </p:nvPr>
        </p:nvSpPr>
        <p:spPr>
          <a:xfrm>
            <a:off x="838200" y="705393"/>
            <a:ext cx="10515600" cy="57706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500"/>
              <a:buNone/>
            </a:pPr>
            <a:r>
              <a:rPr b="1" lang="en-IN" sz="2500">
                <a:solidFill>
                  <a:srgbClr val="FF0000"/>
                </a:solidFill>
              </a:rPr>
              <a:t>Solution:                                    Statement showing NPV</a:t>
            </a:r>
            <a:endParaRPr/>
          </a:p>
          <a:p>
            <a:pPr indent="0" lvl="0" marL="0" rtl="0" algn="ctr">
              <a:lnSpc>
                <a:spcPct val="90000"/>
              </a:lnSpc>
              <a:spcBef>
                <a:spcPts val="1000"/>
              </a:spcBef>
              <a:spcAft>
                <a:spcPts val="0"/>
              </a:spcAft>
              <a:buClr>
                <a:srgbClr val="FF0000"/>
              </a:buClr>
              <a:buSzPts val="2600"/>
              <a:buNone/>
            </a:pPr>
            <a:r>
              <a:rPr lang="en-IN" sz="2600">
                <a:solidFill>
                  <a:srgbClr val="FF0000"/>
                </a:solidFill>
              </a:rPr>
              <a:t> </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597" name="Google Shape;597;p91"/>
          <p:cNvGraphicFramePr/>
          <p:nvPr/>
        </p:nvGraphicFramePr>
        <p:xfrm>
          <a:off x="838200" y="1202991"/>
          <a:ext cx="3000000" cy="3000000"/>
        </p:xfrm>
        <a:graphic>
          <a:graphicData uri="http://schemas.openxmlformats.org/drawingml/2006/table">
            <a:tbl>
              <a:tblPr bandRow="1" firstRow="1">
                <a:noFill/>
                <a:tableStyleId>{75140CFC-2FD2-45D3-AD89-D6322BEAE1F3}</a:tableStyleId>
              </a:tblPr>
              <a:tblGrid>
                <a:gridCol w="768525"/>
                <a:gridCol w="6178725"/>
                <a:gridCol w="1828800"/>
                <a:gridCol w="1739525"/>
              </a:tblGrid>
              <a:tr h="429875">
                <a:tc>
                  <a:txBody>
                    <a:bodyPr/>
                    <a:lstStyle/>
                    <a:p>
                      <a:pPr indent="0" lvl="0" marL="0" marR="0" rtl="0" algn="ctr">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r">
                        <a:spcBef>
                          <a:spcPts val="0"/>
                        </a:spcBef>
                        <a:spcAft>
                          <a:spcPts val="0"/>
                        </a:spcAft>
                        <a:buNone/>
                      </a:pPr>
                      <a:r>
                        <a:rPr lang="en-IN" sz="1800"/>
                        <a:t>Project A</a:t>
                      </a:r>
                      <a:endParaRPr/>
                    </a:p>
                    <a:p>
                      <a:pPr indent="0" lvl="0" marL="0" marR="0" rtl="0" algn="r">
                        <a:spcBef>
                          <a:spcPts val="0"/>
                        </a:spcBef>
                        <a:spcAft>
                          <a:spcPts val="0"/>
                        </a:spcAft>
                        <a:buNone/>
                      </a:pPr>
                      <a:r>
                        <a:rPr lang="en-IN" sz="1800"/>
                        <a:t>Rs.</a:t>
                      </a:r>
                      <a:endParaRPr sz="1800"/>
                    </a:p>
                  </a:txBody>
                  <a:tcPr marT="45725" marB="45725" marR="91450" marL="91450"/>
                </a:tc>
                <a:tc>
                  <a:txBody>
                    <a:bodyPr/>
                    <a:lstStyle/>
                    <a:p>
                      <a:pPr indent="0" lvl="0" marL="0" marR="0" rtl="0" algn="r">
                        <a:spcBef>
                          <a:spcPts val="0"/>
                        </a:spcBef>
                        <a:spcAft>
                          <a:spcPts val="0"/>
                        </a:spcAft>
                        <a:buNone/>
                      </a:pPr>
                      <a:r>
                        <a:rPr lang="en-IN" sz="1800"/>
                        <a:t>Project B</a:t>
                      </a:r>
                      <a:endParaRPr/>
                    </a:p>
                    <a:p>
                      <a:pPr indent="0" lvl="0" marL="0" marR="0" rtl="0" algn="r">
                        <a:spcBef>
                          <a:spcPts val="0"/>
                        </a:spcBef>
                        <a:spcAft>
                          <a:spcPts val="0"/>
                        </a:spcAft>
                        <a:buNone/>
                      </a:pPr>
                      <a:r>
                        <a:rPr lang="en-IN" sz="1800"/>
                        <a:t>Rs. </a:t>
                      </a:r>
                      <a:endParaRPr sz="18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Profit after tax @10% of project cost</a:t>
                      </a:r>
                      <a:endParaRPr sz="2500"/>
                    </a:p>
                  </a:txBody>
                  <a:tcPr marT="45725" marB="45725" marR="91450" marL="91450"/>
                </a:tc>
                <a:tc>
                  <a:txBody>
                    <a:bodyPr/>
                    <a:lstStyle/>
                    <a:p>
                      <a:pPr indent="0" lvl="0" marL="0" marR="0" rtl="0" algn="r">
                        <a:spcBef>
                          <a:spcPts val="0"/>
                        </a:spcBef>
                        <a:spcAft>
                          <a:spcPts val="0"/>
                        </a:spcAft>
                        <a:buNone/>
                      </a:pPr>
                      <a:r>
                        <a:rPr lang="en-IN" sz="2500"/>
                        <a:t>10,00,000</a:t>
                      </a:r>
                      <a:endParaRPr sz="2500"/>
                    </a:p>
                  </a:txBody>
                  <a:tcPr marT="45725" marB="45725" marR="91450" marL="91450"/>
                </a:tc>
                <a:tc>
                  <a:txBody>
                    <a:bodyPr/>
                    <a:lstStyle/>
                    <a:p>
                      <a:pPr indent="0" lvl="0" marL="0" marR="0" rtl="0" algn="r">
                        <a:spcBef>
                          <a:spcPts val="0"/>
                        </a:spcBef>
                        <a:spcAft>
                          <a:spcPts val="0"/>
                        </a:spcAft>
                        <a:buNone/>
                      </a:pPr>
                      <a:r>
                        <a:rPr lang="en-IN" sz="2500"/>
                        <a:t>15,00,000</a:t>
                      </a:r>
                      <a:endParaRPr sz="2500"/>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Add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Depreciation {[</a:t>
                      </a:r>
                      <a:r>
                        <a:rPr lang="en-IN" sz="2500"/>
                        <a:t>Original cost-Scarp value]/No. of years}</a:t>
                      </a:r>
                      <a:endParaRPr sz="2500"/>
                    </a:p>
                  </a:txBody>
                  <a:tcPr marT="45725" marB="45725" marR="91450" marL="91450"/>
                </a:tc>
                <a:tc>
                  <a:txBody>
                    <a:bodyPr/>
                    <a:lstStyle/>
                    <a:p>
                      <a:pPr indent="0" lvl="0" marL="0" marR="0" rtl="0" algn="r">
                        <a:spcBef>
                          <a:spcPts val="0"/>
                        </a:spcBef>
                        <a:spcAft>
                          <a:spcPts val="0"/>
                        </a:spcAft>
                        <a:buNone/>
                      </a:pPr>
                      <a:r>
                        <a:rPr lang="en-IN" sz="2500"/>
                        <a:t>12,00,000</a:t>
                      </a:r>
                      <a:endParaRPr sz="2500"/>
                    </a:p>
                  </a:txBody>
                  <a:tcPr marT="45725" marB="45725" marR="91450" marL="91450"/>
                </a:tc>
                <a:tc>
                  <a:txBody>
                    <a:bodyPr/>
                    <a:lstStyle/>
                    <a:p>
                      <a:pPr indent="0" lvl="0" marL="0" marR="0" rtl="0" algn="r">
                        <a:spcBef>
                          <a:spcPts val="0"/>
                        </a:spcBef>
                        <a:spcAft>
                          <a:spcPts val="0"/>
                        </a:spcAft>
                        <a:buNone/>
                      </a:pPr>
                      <a:r>
                        <a:rPr lang="en-IN" sz="2500"/>
                        <a:t>17,00,000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Cash inflows </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22,00,000</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32,00,000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PV Factor @</a:t>
                      </a:r>
                      <a:r>
                        <a:rPr lang="en-IN" sz="2500"/>
                        <a:t> 10% for 8 years (refer table)</a:t>
                      </a:r>
                      <a:endParaRPr sz="2500"/>
                    </a:p>
                  </a:txBody>
                  <a:tcPr marT="45725" marB="45725" marR="91450" marL="91450"/>
                </a:tc>
                <a:tc>
                  <a:txBody>
                    <a:bodyPr/>
                    <a:lstStyle/>
                    <a:p>
                      <a:pPr indent="0" lvl="0" marL="0" marR="0" rtl="0" algn="r">
                        <a:spcBef>
                          <a:spcPts val="0"/>
                        </a:spcBef>
                        <a:spcAft>
                          <a:spcPts val="0"/>
                        </a:spcAft>
                        <a:buNone/>
                      </a:pPr>
                      <a:r>
                        <a:rPr lang="en-IN" sz="2500"/>
                        <a:t>5.335</a:t>
                      </a:r>
                      <a:endParaRPr sz="2500"/>
                    </a:p>
                  </a:txBody>
                  <a:tcPr marT="45725" marB="45725" marR="91450" marL="91450"/>
                </a:tc>
                <a:tc>
                  <a:txBody>
                    <a:bodyPr/>
                    <a:lstStyle/>
                    <a:p>
                      <a:pPr indent="0" lvl="0" marL="0" marR="0" rtl="0" algn="r">
                        <a:spcBef>
                          <a:spcPts val="0"/>
                        </a:spcBef>
                        <a:spcAft>
                          <a:spcPts val="0"/>
                        </a:spcAft>
                        <a:buNone/>
                      </a:pPr>
                      <a:r>
                        <a:rPr lang="en-IN" sz="2500"/>
                        <a:t>5.335</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PV of</a:t>
                      </a:r>
                      <a:r>
                        <a:rPr lang="en-IN" sz="2500">
                          <a:solidFill>
                            <a:srgbClr val="FF0000"/>
                          </a:solidFill>
                        </a:rPr>
                        <a:t> value of cash inflows</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1,17,37,000</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1,70,72,000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Add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PV</a:t>
                      </a:r>
                      <a:r>
                        <a:rPr lang="en-IN" sz="2500"/>
                        <a:t> of salvage @ 10% in 8</a:t>
                      </a:r>
                      <a:r>
                        <a:rPr baseline="30000" lang="en-IN" sz="2500"/>
                        <a:t>th</a:t>
                      </a:r>
                      <a:r>
                        <a:rPr lang="en-IN" sz="2500"/>
                        <a:t> year (0.467)</a:t>
                      </a:r>
                      <a:endParaRPr sz="2500"/>
                    </a:p>
                  </a:txBody>
                  <a:tcPr marT="45725" marB="45725" marR="91450" marL="91450"/>
                </a:tc>
                <a:tc>
                  <a:txBody>
                    <a:bodyPr/>
                    <a:lstStyle/>
                    <a:p>
                      <a:pPr indent="0" lvl="0" marL="0" marR="0" rtl="0" algn="r">
                        <a:spcBef>
                          <a:spcPts val="0"/>
                        </a:spcBef>
                        <a:spcAft>
                          <a:spcPts val="0"/>
                        </a:spcAft>
                        <a:buNone/>
                      </a:pPr>
                      <a:r>
                        <a:rPr lang="en-IN" sz="2500"/>
                        <a:t>1,86,800</a:t>
                      </a:r>
                      <a:endParaRPr sz="2500"/>
                    </a:p>
                  </a:txBody>
                  <a:tcPr marT="45725" marB="45725" marR="91450" marL="91450"/>
                </a:tc>
                <a:tc>
                  <a:txBody>
                    <a:bodyPr/>
                    <a:lstStyle/>
                    <a:p>
                      <a:pPr indent="0" lvl="0" marL="0" marR="0" rtl="0" algn="r">
                        <a:spcBef>
                          <a:spcPts val="0"/>
                        </a:spcBef>
                        <a:spcAft>
                          <a:spcPts val="0"/>
                        </a:spcAft>
                        <a:buNone/>
                      </a:pPr>
                      <a:r>
                        <a:rPr lang="en-IN" sz="2500"/>
                        <a:t>6,53,800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Total PV for cash inflows </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1,19,23,800</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1,77,25,800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PV of cash outflow </a:t>
                      </a:r>
                      <a:endParaRPr sz="2500"/>
                    </a:p>
                  </a:txBody>
                  <a:tcPr marT="45725" marB="45725" marR="91450" marL="91450"/>
                </a:tc>
                <a:tc>
                  <a:txBody>
                    <a:bodyPr/>
                    <a:lstStyle/>
                    <a:p>
                      <a:pPr indent="0" lvl="0" marL="0" marR="0" rtl="0" algn="r">
                        <a:spcBef>
                          <a:spcPts val="0"/>
                        </a:spcBef>
                        <a:spcAft>
                          <a:spcPts val="0"/>
                        </a:spcAft>
                        <a:buNone/>
                      </a:pPr>
                      <a:r>
                        <a:rPr lang="en-IN" sz="2500"/>
                        <a:t>1,00,00,000</a:t>
                      </a:r>
                      <a:endParaRPr sz="2500"/>
                    </a:p>
                  </a:txBody>
                  <a:tcPr marT="45725" marB="45725" marR="91450" marL="91450"/>
                </a:tc>
                <a:tc>
                  <a:txBody>
                    <a:bodyPr/>
                    <a:lstStyle/>
                    <a:p>
                      <a:pPr indent="0" lvl="0" marL="0" marR="0" rtl="0" algn="r">
                        <a:spcBef>
                          <a:spcPts val="0"/>
                        </a:spcBef>
                        <a:spcAft>
                          <a:spcPts val="0"/>
                        </a:spcAft>
                        <a:buNone/>
                      </a:pPr>
                      <a:r>
                        <a:rPr lang="en-IN" sz="2500"/>
                        <a:t>1,50,00,000</a:t>
                      </a:r>
                      <a:endParaRPr sz="25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400">
                          <a:solidFill>
                            <a:srgbClr val="FF0000"/>
                          </a:solidFill>
                        </a:rPr>
                        <a:t>NPV</a:t>
                      </a:r>
                      <a:endParaRPr b="1" sz="24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400">
                          <a:solidFill>
                            <a:srgbClr val="FF0000"/>
                          </a:solidFill>
                        </a:rPr>
                        <a:t>19,23,800</a:t>
                      </a:r>
                      <a:endParaRPr b="1" sz="24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400">
                          <a:solidFill>
                            <a:srgbClr val="FF0000"/>
                          </a:solidFill>
                        </a:rPr>
                        <a:t>27,25,800</a:t>
                      </a:r>
                      <a:endParaRPr b="1" sz="2400">
                        <a:solidFill>
                          <a:srgbClr val="FF0000"/>
                        </a:solidFill>
                      </a:endParaRPr>
                    </a:p>
                  </a:txBody>
                  <a:tcPr marT="45725" marB="45725" marR="91450" marL="91450"/>
                </a:tc>
              </a:tr>
            </a:tbl>
          </a:graphicData>
        </a:graphic>
      </p:graphicFrame>
      <p:pic>
        <p:nvPicPr>
          <p:cNvPr descr="Image result for sastra logo" id="598" name="Google Shape;598;p91"/>
          <p:cNvPicPr preferRelativeResize="0"/>
          <p:nvPr/>
        </p:nvPicPr>
        <p:blipFill rotWithShape="1">
          <a:blip r:embed="rId3">
            <a:alphaModFix/>
          </a:blip>
          <a:srcRect b="0" l="0" r="0" t="0"/>
          <a:stretch/>
        </p:blipFill>
        <p:spPr>
          <a:xfrm>
            <a:off x="9537700" y="182880"/>
            <a:ext cx="1816100" cy="52251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92"/>
          <p:cNvSpPr txBox="1"/>
          <p:nvPr>
            <p:ph idx="1" type="body"/>
          </p:nvPr>
        </p:nvSpPr>
        <p:spPr>
          <a:xfrm>
            <a:off x="838200" y="798287"/>
            <a:ext cx="10515600" cy="567508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2. Excess Present Value Index Method: </a:t>
            </a:r>
            <a:endParaRPr/>
          </a:p>
          <a:p>
            <a:pPr indent="0" lvl="0" marL="0" rtl="0" algn="just">
              <a:lnSpc>
                <a:spcPct val="90000"/>
              </a:lnSpc>
              <a:spcBef>
                <a:spcPts val="1000"/>
              </a:spcBef>
              <a:spcAft>
                <a:spcPts val="0"/>
              </a:spcAft>
              <a:buClr>
                <a:schemeClr val="dk1"/>
              </a:buClr>
              <a:buSzPts val="2600"/>
              <a:buNone/>
            </a:pPr>
            <a:r>
              <a:rPr lang="en-IN" sz="2600"/>
              <a:t>Index Excess present value is calculated on the basis of net present value. It gives the results in percentage. It is calculated as follows:</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Excess present value index =  </a:t>
            </a:r>
            <a:endParaRPr/>
          </a:p>
          <a:p>
            <a:pPr indent="0" lvl="0" marL="0" rtl="0" algn="just">
              <a:lnSpc>
                <a:spcPct val="90000"/>
              </a:lnSpc>
              <a:spcBef>
                <a:spcPts val="1000"/>
              </a:spcBef>
              <a:spcAft>
                <a:spcPts val="0"/>
              </a:spcAft>
              <a:buClr>
                <a:srgbClr val="FF0000"/>
              </a:buClr>
              <a:buSzPts val="2500"/>
              <a:buNone/>
            </a:pPr>
            <a:r>
              <a:rPr b="1" lang="en-IN" sz="2500">
                <a:solidFill>
                  <a:srgbClr val="FF0000"/>
                </a:solidFill>
              </a:rPr>
              <a:t>[Total present value of cash inflows/Total present value of cash outflows] × 100</a:t>
            </a:r>
            <a:endParaRPr/>
          </a:p>
          <a:p>
            <a:pPr indent="0" lvl="0" marL="0" rtl="0" algn="just">
              <a:lnSpc>
                <a:spcPct val="90000"/>
              </a:lnSpc>
              <a:spcBef>
                <a:spcPts val="1000"/>
              </a:spcBef>
              <a:spcAft>
                <a:spcPts val="0"/>
              </a:spcAft>
              <a:buClr>
                <a:srgbClr val="FF0000"/>
              </a:buClr>
              <a:buSzPts val="2500"/>
              <a:buNone/>
            </a:pPr>
            <a:r>
              <a:rPr b="1" lang="en-IN" sz="2500">
                <a:solidFill>
                  <a:srgbClr val="FF0000"/>
                </a:solidFill>
              </a:rPr>
              <a:t>Decision criteria: </a:t>
            </a:r>
            <a:endParaRPr b="1" sz="2500">
              <a:solidFill>
                <a:srgbClr val="FF0000"/>
              </a:solidFill>
            </a:endParaRPr>
          </a:p>
          <a:p>
            <a:pPr indent="0" lvl="0" marL="0" rtl="0" algn="just">
              <a:lnSpc>
                <a:spcPct val="90000"/>
              </a:lnSpc>
              <a:spcBef>
                <a:spcPts val="1000"/>
              </a:spcBef>
              <a:spcAft>
                <a:spcPts val="0"/>
              </a:spcAft>
              <a:buClr>
                <a:schemeClr val="dk1"/>
              </a:buClr>
              <a:buSzPts val="2500"/>
              <a:buNone/>
            </a:pPr>
            <a:r>
              <a:rPr lang="en-IN" sz="2500"/>
              <a:t>If the Profitability Index is greater than or </a:t>
            </a:r>
            <a:r>
              <a:rPr lang="en-IN" sz="2500">
                <a:solidFill>
                  <a:srgbClr val="FF0000"/>
                </a:solidFill>
              </a:rPr>
              <a:t>equal to one or 100%</a:t>
            </a:r>
            <a:r>
              <a:rPr lang="en-IN" sz="2500"/>
              <a:t>, the project should be accepted otherwise reject. </a:t>
            </a:r>
            <a:endParaRPr sz="2500">
              <a:solidFill>
                <a:srgbClr val="FF0000"/>
              </a:solidFill>
            </a:endParaRPr>
          </a:p>
          <a:p>
            <a:pPr indent="0" lvl="0" marL="0" rtl="0" algn="just">
              <a:lnSpc>
                <a:spcPct val="90000"/>
              </a:lnSpc>
              <a:spcBef>
                <a:spcPts val="1000"/>
              </a:spcBef>
              <a:spcAft>
                <a:spcPts val="0"/>
              </a:spcAft>
              <a:buClr>
                <a:schemeClr val="dk1"/>
              </a:buClr>
              <a:buSzPts val="2500"/>
              <a:buNone/>
            </a:pPr>
            <a:r>
              <a:t/>
            </a:r>
            <a:endParaRPr sz="2500"/>
          </a:p>
        </p:txBody>
      </p:sp>
      <p:pic>
        <p:nvPicPr>
          <p:cNvPr descr="Image result for sastra logo" id="604" name="Google Shape;604;p9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pic>
        <p:nvPicPr>
          <p:cNvPr id="605" name="Google Shape;605;p92"/>
          <p:cNvPicPr preferRelativeResize="0"/>
          <p:nvPr/>
        </p:nvPicPr>
        <p:blipFill rotWithShape="1">
          <a:blip r:embed="rId4">
            <a:alphaModFix/>
          </a:blip>
          <a:srcRect b="55406" l="33044" r="34047" t="35069"/>
          <a:stretch/>
        </p:blipFill>
        <p:spPr>
          <a:xfrm>
            <a:off x="3391807" y="4714421"/>
            <a:ext cx="5965372" cy="110308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93"/>
          <p:cNvSpPr txBox="1"/>
          <p:nvPr>
            <p:ph idx="1" type="body"/>
          </p:nvPr>
        </p:nvSpPr>
        <p:spPr>
          <a:xfrm>
            <a:off x="838200" y="898814"/>
            <a:ext cx="10515600" cy="508839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For Problem 14.</a:t>
            </a:r>
            <a:endParaRPr/>
          </a:p>
          <a:p>
            <a:pPr indent="0" lvl="0" marL="0" rtl="0" algn="just">
              <a:lnSpc>
                <a:spcPct val="90000"/>
              </a:lnSpc>
              <a:spcBef>
                <a:spcPts val="1000"/>
              </a:spcBef>
              <a:spcAft>
                <a:spcPts val="0"/>
              </a:spcAft>
              <a:buClr>
                <a:schemeClr val="dk1"/>
              </a:buClr>
              <a:buSzPts val="2600"/>
              <a:buNone/>
            </a:pPr>
            <a:r>
              <a:rPr lang="en-IN" sz="2600"/>
              <a:t>Project X = [Rs. 24,277/Rs. 20,000] × 100</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 121.385%</a:t>
            </a:r>
            <a:endParaRPr/>
          </a:p>
          <a:p>
            <a:pPr indent="0" lvl="0" marL="0" rtl="0" algn="just">
              <a:lnSpc>
                <a:spcPct val="90000"/>
              </a:lnSpc>
              <a:spcBef>
                <a:spcPts val="1000"/>
              </a:spcBef>
              <a:spcAft>
                <a:spcPts val="0"/>
              </a:spcAft>
              <a:buClr>
                <a:schemeClr val="dk1"/>
              </a:buClr>
              <a:buSzPts val="2600"/>
              <a:buNone/>
            </a:pPr>
            <a:r>
              <a:rPr lang="en-IN" sz="2600"/>
              <a:t>Project Y = [Rs. 34,728/Rs. 30,000] × 100</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                 = 115.76%</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Note: </a:t>
            </a:r>
            <a:endParaRPr/>
          </a:p>
          <a:p>
            <a:pPr indent="0" lvl="0" marL="0" rtl="0" algn="just">
              <a:lnSpc>
                <a:spcPct val="90000"/>
              </a:lnSpc>
              <a:spcBef>
                <a:spcPts val="1000"/>
              </a:spcBef>
              <a:spcAft>
                <a:spcPts val="0"/>
              </a:spcAft>
              <a:buClr>
                <a:schemeClr val="dk1"/>
              </a:buClr>
              <a:buSzPts val="2600"/>
              <a:buNone/>
            </a:pPr>
            <a:r>
              <a:rPr lang="en-IN" sz="2600"/>
              <a:t>The desirability/ Profitability Index factor helps us in ranking various projects.</a:t>
            </a:r>
            <a:endParaRPr/>
          </a:p>
        </p:txBody>
      </p:sp>
      <p:pic>
        <p:nvPicPr>
          <p:cNvPr descr="Image result for sastra logo" id="611" name="Google Shape;611;p93"/>
          <p:cNvPicPr preferRelativeResize="0"/>
          <p:nvPr/>
        </p:nvPicPr>
        <p:blipFill rotWithShape="1">
          <a:blip r:embed="rId3">
            <a:alphaModFix/>
          </a:blip>
          <a:srcRect b="0" l="0" r="0" t="0"/>
          <a:stretch/>
        </p:blipFill>
        <p:spPr>
          <a:xfrm>
            <a:off x="9537700" y="341602"/>
            <a:ext cx="1816100" cy="557212"/>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94"/>
          <p:cNvSpPr txBox="1"/>
          <p:nvPr>
            <p:ph idx="1" type="body"/>
          </p:nvPr>
        </p:nvSpPr>
        <p:spPr>
          <a:xfrm>
            <a:off x="838200" y="822960"/>
            <a:ext cx="10515600" cy="535400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3. Internal Rate of Return (IRR):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IRR method follows </a:t>
            </a:r>
            <a:r>
              <a:rPr lang="en-IN" sz="2600">
                <a:solidFill>
                  <a:srgbClr val="FF0000"/>
                </a:solidFill>
              </a:rPr>
              <a:t>discounted cash flow technique which takes into account the time value of money. </a:t>
            </a:r>
            <a:r>
              <a:rPr b="1" lang="en-IN" sz="2600">
                <a:solidFill>
                  <a:srgbClr val="00B050"/>
                </a:solidFill>
              </a:rPr>
              <a:t>The internal rate of return is the interest rate which equates the present value of expected future cash inflows with the initial capital outlay</a:t>
            </a:r>
            <a:r>
              <a:rPr lang="en-IN" sz="2600"/>
              <a:t>. </a:t>
            </a:r>
            <a:r>
              <a:rPr lang="en-IN" sz="2600">
                <a:solidFill>
                  <a:srgbClr val="FF0000"/>
                </a:solidFill>
              </a:rPr>
              <a:t>In other words, it is the rate at which NPV is equal zero.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Whenever a project report is prepared, IRR is to be worked out in order to ascertain the viability of the project. This is also an important guiding factor to financial institutions and investors. </a:t>
            </a:r>
            <a:endParaRPr/>
          </a:p>
        </p:txBody>
      </p:sp>
      <p:pic>
        <p:nvPicPr>
          <p:cNvPr descr="Image result for sastra logo" id="617" name="Google Shape;617;p94"/>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95"/>
          <p:cNvSpPr txBox="1"/>
          <p:nvPr>
            <p:ph idx="1" type="body"/>
          </p:nvPr>
        </p:nvSpPr>
        <p:spPr>
          <a:xfrm>
            <a:off x="838200" y="901337"/>
            <a:ext cx="10515600" cy="52756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Steps to be followed: </a:t>
            </a:r>
            <a:endParaRPr b="1" sz="2600">
              <a:solidFill>
                <a:srgbClr val="FF0000"/>
              </a:solidFill>
            </a:endParaRPr>
          </a:p>
          <a:p>
            <a:pPr indent="0" lvl="0" marL="0" rtl="0" algn="l">
              <a:lnSpc>
                <a:spcPct val="90000"/>
              </a:lnSpc>
              <a:spcBef>
                <a:spcPts val="1000"/>
              </a:spcBef>
              <a:spcAft>
                <a:spcPts val="0"/>
              </a:spcAft>
              <a:buClr>
                <a:schemeClr val="dk1"/>
              </a:buClr>
              <a:buSzPts val="2600"/>
              <a:buNone/>
            </a:pPr>
            <a:r>
              <a:rPr lang="en-IN" sz="2600"/>
              <a:t>Step1. find out factor is calculated as follows: </a:t>
            </a:r>
            <a:endParaRPr sz="2600"/>
          </a:p>
          <a:p>
            <a:pPr indent="0" lvl="0" marL="0" rtl="0" algn="l">
              <a:lnSpc>
                <a:spcPct val="90000"/>
              </a:lnSpc>
              <a:spcBef>
                <a:spcPts val="1000"/>
              </a:spcBef>
              <a:spcAft>
                <a:spcPts val="0"/>
              </a:spcAft>
              <a:buClr>
                <a:srgbClr val="FF0000"/>
              </a:buClr>
              <a:buSzPts val="2600"/>
              <a:buNone/>
            </a:pPr>
            <a:r>
              <a:rPr lang="en-IN" sz="2600">
                <a:solidFill>
                  <a:srgbClr val="FF0000"/>
                </a:solidFill>
              </a:rPr>
              <a:t>F= Cash outlay (or) initial investment/Cash inflow </a:t>
            </a:r>
            <a:endParaRPr sz="2600">
              <a:solidFill>
                <a:srgbClr val="FF0000"/>
              </a:solidFill>
            </a:endParaRPr>
          </a:p>
          <a:p>
            <a:pPr indent="0" lvl="0" marL="0" rtl="0" algn="l">
              <a:lnSpc>
                <a:spcPct val="90000"/>
              </a:lnSpc>
              <a:spcBef>
                <a:spcPts val="1000"/>
              </a:spcBef>
              <a:spcAft>
                <a:spcPts val="0"/>
              </a:spcAft>
              <a:buClr>
                <a:schemeClr val="dk1"/>
              </a:buClr>
              <a:buSzPts val="2600"/>
              <a:buNone/>
            </a:pPr>
            <a:r>
              <a:rPr lang="en-IN" sz="2600"/>
              <a:t>Step 2. Find out the positive net present value </a:t>
            </a:r>
            <a:endParaRPr sz="2600"/>
          </a:p>
          <a:p>
            <a:pPr indent="0" lvl="0" marL="0" rtl="0" algn="l">
              <a:lnSpc>
                <a:spcPct val="90000"/>
              </a:lnSpc>
              <a:spcBef>
                <a:spcPts val="1000"/>
              </a:spcBef>
              <a:spcAft>
                <a:spcPts val="0"/>
              </a:spcAft>
              <a:buClr>
                <a:schemeClr val="dk1"/>
              </a:buClr>
              <a:buSzPts val="2600"/>
              <a:buNone/>
            </a:pPr>
            <a:r>
              <a:rPr lang="en-IN" sz="2600"/>
              <a:t>Step 3. Find out the negative net present value  </a:t>
            </a:r>
            <a:endParaRPr/>
          </a:p>
          <a:p>
            <a:pPr indent="0" lvl="0" marL="0" rtl="0" algn="l">
              <a:lnSpc>
                <a:spcPct val="90000"/>
              </a:lnSpc>
              <a:spcBef>
                <a:spcPts val="1000"/>
              </a:spcBef>
              <a:spcAft>
                <a:spcPts val="0"/>
              </a:spcAft>
              <a:buClr>
                <a:schemeClr val="dk1"/>
              </a:buClr>
              <a:buSzPts val="2600"/>
              <a:buNone/>
            </a:pPr>
            <a:r>
              <a:rPr lang="en-IN" sz="2600"/>
              <a:t>Step 4. Find out the net IRR</a:t>
            </a:r>
            <a:endParaRPr sz="2600"/>
          </a:p>
          <a:p>
            <a:pPr indent="0" lvl="0" marL="0" rtl="0" algn="l">
              <a:lnSpc>
                <a:spcPct val="90000"/>
              </a:lnSpc>
              <a:spcBef>
                <a:spcPts val="1000"/>
              </a:spcBef>
              <a:spcAft>
                <a:spcPts val="0"/>
              </a:spcAft>
              <a:buClr>
                <a:srgbClr val="F2F2F2"/>
              </a:buClr>
              <a:buSzPts val="2600"/>
              <a:buNone/>
            </a:pPr>
            <a:r>
              <a:rPr lang="en-IN" sz="2600">
                <a:solidFill>
                  <a:srgbClr val="F2F2F2"/>
                </a:solidFill>
              </a:rPr>
              <a:t>Formula: </a:t>
            </a:r>
            <a:endParaRPr/>
          </a:p>
          <a:p>
            <a:pPr indent="0" lvl="0" marL="0" rtl="0" algn="just">
              <a:lnSpc>
                <a:spcPct val="90000"/>
              </a:lnSpc>
              <a:spcBef>
                <a:spcPts val="1000"/>
              </a:spcBef>
              <a:spcAft>
                <a:spcPts val="0"/>
              </a:spcAft>
              <a:buClr>
                <a:srgbClr val="F2F2F2"/>
              </a:buClr>
              <a:buSzPts val="2600"/>
              <a:buNone/>
            </a:pPr>
            <a:r>
              <a:rPr lang="en-IN" sz="2600">
                <a:solidFill>
                  <a:srgbClr val="F2F2F2"/>
                </a:solidFill>
              </a:rPr>
              <a:t>IRR =  Lower rate + [Positive NPV/Difference in calculated present value] </a:t>
            </a:r>
            <a:endParaRPr/>
          </a:p>
          <a:p>
            <a:pPr indent="0" lvl="0" marL="0" rtl="0" algn="just">
              <a:lnSpc>
                <a:spcPct val="90000"/>
              </a:lnSpc>
              <a:spcBef>
                <a:spcPts val="1000"/>
              </a:spcBef>
              <a:spcAft>
                <a:spcPts val="0"/>
              </a:spcAft>
              <a:buClr>
                <a:srgbClr val="F2F2F2"/>
              </a:buClr>
              <a:buSzPts val="2600"/>
              <a:buNone/>
            </a:pPr>
            <a:r>
              <a:rPr lang="en-IN" sz="2600">
                <a:solidFill>
                  <a:srgbClr val="F2F2F2"/>
                </a:solidFill>
              </a:rPr>
              <a:t>× Difference in rate</a:t>
            </a:r>
            <a:endParaRPr sz="2600">
              <a:solidFill>
                <a:srgbClr val="F2F2F2"/>
              </a:solidFill>
            </a:endParaRPr>
          </a:p>
        </p:txBody>
      </p:sp>
      <p:pic>
        <p:nvPicPr>
          <p:cNvPr descr="Image result for sastra logo" id="623" name="Google Shape;623;p95"/>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96"/>
          <p:cNvSpPr txBox="1"/>
          <p:nvPr>
            <p:ph idx="1" type="body"/>
          </p:nvPr>
        </p:nvSpPr>
        <p:spPr>
          <a:xfrm>
            <a:off x="838200" y="1143000"/>
            <a:ext cx="10515600" cy="50339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Formula: </a:t>
            </a:r>
            <a:endParaRPr/>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rgbClr val="FF0000"/>
              </a:buClr>
              <a:buSzPts val="2600"/>
              <a:buNone/>
            </a:pPr>
            <a:r>
              <a:rPr b="1" lang="en-IN" sz="2600">
                <a:solidFill>
                  <a:srgbClr val="FF0000"/>
                </a:solidFill>
              </a:rPr>
              <a:t>Where: </a:t>
            </a:r>
            <a:endParaRPr/>
          </a:p>
          <a:p>
            <a:pPr indent="0" lvl="0" marL="0" rtl="0" algn="l">
              <a:lnSpc>
                <a:spcPct val="90000"/>
              </a:lnSpc>
              <a:spcBef>
                <a:spcPts val="1000"/>
              </a:spcBef>
              <a:spcAft>
                <a:spcPts val="0"/>
              </a:spcAft>
              <a:buClr>
                <a:schemeClr val="dk1"/>
              </a:buClr>
              <a:buSzPts val="2600"/>
              <a:buNone/>
            </a:pPr>
            <a:r>
              <a:rPr lang="en-IN" sz="2600"/>
              <a:t>LR = Lower Rate</a:t>
            </a:r>
            <a:endParaRPr/>
          </a:p>
          <a:p>
            <a:pPr indent="0" lvl="0" marL="0" rtl="0" algn="l">
              <a:lnSpc>
                <a:spcPct val="90000"/>
              </a:lnSpc>
              <a:spcBef>
                <a:spcPts val="1000"/>
              </a:spcBef>
              <a:spcAft>
                <a:spcPts val="0"/>
              </a:spcAft>
              <a:buClr>
                <a:schemeClr val="dk1"/>
              </a:buClr>
              <a:buSzPts val="2600"/>
              <a:buNone/>
            </a:pPr>
            <a:r>
              <a:rPr lang="en-IN" sz="2600"/>
              <a:t>HR = Higher Rate</a:t>
            </a:r>
            <a:endParaRPr/>
          </a:p>
          <a:p>
            <a:pPr indent="0" lvl="0" marL="0" rtl="0" algn="l">
              <a:lnSpc>
                <a:spcPct val="90000"/>
              </a:lnSpc>
              <a:spcBef>
                <a:spcPts val="1000"/>
              </a:spcBef>
              <a:spcAft>
                <a:spcPts val="0"/>
              </a:spcAft>
              <a:buClr>
                <a:schemeClr val="dk1"/>
              </a:buClr>
              <a:buSzPts val="2600"/>
              <a:buNone/>
            </a:pPr>
            <a:r>
              <a:rPr lang="en-IN" sz="2600"/>
              <a:t>CI = Capital Investment</a:t>
            </a:r>
            <a:endParaRPr sz="2600"/>
          </a:p>
          <a:p>
            <a:pPr indent="0" lvl="0" marL="0" rtl="0" algn="l">
              <a:lnSpc>
                <a:spcPct val="90000"/>
              </a:lnSpc>
              <a:spcBef>
                <a:spcPts val="1000"/>
              </a:spcBef>
              <a:spcAft>
                <a:spcPts val="0"/>
              </a:spcAft>
              <a:buClr>
                <a:schemeClr val="dk1"/>
              </a:buClr>
              <a:buSzPts val="2600"/>
              <a:buNone/>
            </a:pPr>
            <a:r>
              <a:t/>
            </a:r>
            <a:endParaRPr sz="2600"/>
          </a:p>
        </p:txBody>
      </p:sp>
      <p:pic>
        <p:nvPicPr>
          <p:cNvPr id="629" name="Google Shape;629;p96"/>
          <p:cNvPicPr preferRelativeResize="0"/>
          <p:nvPr/>
        </p:nvPicPr>
        <p:blipFill rotWithShape="1">
          <a:blip r:embed="rId3">
            <a:alphaModFix/>
          </a:blip>
          <a:srcRect b="34896" l="23792" r="24378" t="45573"/>
          <a:stretch/>
        </p:blipFill>
        <p:spPr>
          <a:xfrm>
            <a:off x="1676400" y="1638300"/>
            <a:ext cx="9010649" cy="2019300"/>
          </a:xfrm>
          <a:prstGeom prst="rect">
            <a:avLst/>
          </a:prstGeom>
          <a:noFill/>
          <a:ln>
            <a:noFill/>
          </a:ln>
        </p:spPr>
      </p:pic>
      <p:pic>
        <p:nvPicPr>
          <p:cNvPr descr="Image result for sastra logo" id="630" name="Google Shape;630;p96"/>
          <p:cNvPicPr preferRelativeResize="0"/>
          <p:nvPr/>
        </p:nvPicPr>
        <p:blipFill rotWithShape="1">
          <a:blip r:embed="rId4">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97"/>
          <p:cNvSpPr txBox="1"/>
          <p:nvPr>
            <p:ph idx="1" type="body"/>
          </p:nvPr>
        </p:nvSpPr>
        <p:spPr>
          <a:xfrm>
            <a:off x="838200" y="809897"/>
            <a:ext cx="10515600" cy="544721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Computation of IRR: </a:t>
            </a:r>
            <a:endParaRPr/>
          </a:p>
          <a:p>
            <a:pPr indent="0" lvl="0" marL="0" rtl="0" algn="just">
              <a:lnSpc>
                <a:spcPct val="90000"/>
              </a:lnSpc>
              <a:spcBef>
                <a:spcPts val="1000"/>
              </a:spcBef>
              <a:spcAft>
                <a:spcPts val="0"/>
              </a:spcAft>
              <a:buClr>
                <a:schemeClr val="dk1"/>
              </a:buClr>
              <a:buSzPts val="2600"/>
              <a:buNone/>
            </a:pPr>
            <a:r>
              <a:rPr lang="en-IN" sz="2600"/>
              <a:t>The Internal rate of return is to be determined by trial and error method. The following steps can be used for its computation. </a:t>
            </a:r>
            <a:endParaRPr sz="2600"/>
          </a:p>
          <a:p>
            <a:pPr indent="0" lvl="0" marL="0" rtl="0" algn="just">
              <a:lnSpc>
                <a:spcPct val="90000"/>
              </a:lnSpc>
              <a:spcBef>
                <a:spcPts val="1000"/>
              </a:spcBef>
              <a:spcAft>
                <a:spcPts val="0"/>
              </a:spcAft>
              <a:buClr>
                <a:schemeClr val="dk1"/>
              </a:buClr>
              <a:buSzPts val="2600"/>
              <a:buNone/>
            </a:pPr>
            <a:r>
              <a:rPr lang="en-IN" sz="2600"/>
              <a:t>(i) Compute the present value of the cash flows from an investment, by using arbitrary by selected interest rate. </a:t>
            </a:r>
            <a:endParaRPr sz="2600"/>
          </a:p>
          <a:p>
            <a:pPr indent="0" lvl="0" marL="0" rtl="0" algn="just">
              <a:lnSpc>
                <a:spcPct val="90000"/>
              </a:lnSpc>
              <a:spcBef>
                <a:spcPts val="1000"/>
              </a:spcBef>
              <a:spcAft>
                <a:spcPts val="0"/>
              </a:spcAft>
              <a:buClr>
                <a:schemeClr val="dk1"/>
              </a:buClr>
              <a:buSzPts val="2600"/>
              <a:buNone/>
            </a:pPr>
            <a:r>
              <a:rPr lang="en-IN" sz="2600"/>
              <a:t>(ii) Then compare the present value so obtained with capital outlay. </a:t>
            </a:r>
            <a:endParaRPr sz="2600"/>
          </a:p>
          <a:p>
            <a:pPr indent="0" lvl="0" marL="0" rtl="0" algn="just">
              <a:lnSpc>
                <a:spcPct val="90000"/>
              </a:lnSpc>
              <a:spcBef>
                <a:spcPts val="1000"/>
              </a:spcBef>
              <a:spcAft>
                <a:spcPts val="0"/>
              </a:spcAft>
              <a:buClr>
                <a:schemeClr val="dk1"/>
              </a:buClr>
              <a:buSzPts val="2600"/>
              <a:buNone/>
            </a:pPr>
            <a:r>
              <a:rPr lang="en-IN" sz="2600"/>
              <a:t>(iii) If the present value is higher than the cost, then the present value of inflows is to be determined by using higher rate. </a:t>
            </a:r>
            <a:endParaRPr sz="2600"/>
          </a:p>
          <a:p>
            <a:pPr indent="0" lvl="0" marL="0" rtl="0" algn="just">
              <a:lnSpc>
                <a:spcPct val="90000"/>
              </a:lnSpc>
              <a:spcBef>
                <a:spcPts val="1000"/>
              </a:spcBef>
              <a:spcAft>
                <a:spcPts val="0"/>
              </a:spcAft>
              <a:buClr>
                <a:schemeClr val="dk1"/>
              </a:buClr>
              <a:buSzPts val="2600"/>
              <a:buNone/>
            </a:pPr>
            <a:r>
              <a:rPr lang="en-IN" sz="2600"/>
              <a:t>(iv) This procedure is to be continued until the present value of the inflows from the investment are approximately equal to its outflow. </a:t>
            </a:r>
            <a:endParaRPr sz="2600"/>
          </a:p>
          <a:p>
            <a:pPr indent="0" lvl="0" marL="0" rtl="0" algn="just">
              <a:lnSpc>
                <a:spcPct val="90000"/>
              </a:lnSpc>
              <a:spcBef>
                <a:spcPts val="1000"/>
              </a:spcBef>
              <a:spcAft>
                <a:spcPts val="0"/>
              </a:spcAft>
              <a:buClr>
                <a:schemeClr val="dk1"/>
              </a:buClr>
              <a:buSzPts val="2600"/>
              <a:buNone/>
            </a:pPr>
            <a:r>
              <a:rPr lang="en-IN" sz="2600"/>
              <a:t>(v) The interest rate that bring about equality is the internal rate if return. </a:t>
            </a:r>
            <a:endParaRPr/>
          </a:p>
        </p:txBody>
      </p:sp>
      <p:pic>
        <p:nvPicPr>
          <p:cNvPr descr="Image result for sastra logo" id="636" name="Google Shape;636;p97"/>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98"/>
          <p:cNvSpPr txBox="1"/>
          <p:nvPr>
            <p:ph idx="1" type="body"/>
          </p:nvPr>
        </p:nvSpPr>
        <p:spPr>
          <a:xfrm>
            <a:off x="785948" y="796834"/>
            <a:ext cx="10515600" cy="515806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Acceptance Rule:</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If the internal rate of return exceeds the required rate of return, then the project will be accepted. </a:t>
            </a:r>
            <a:r>
              <a:rPr lang="en-IN" sz="2600"/>
              <a:t>If the project‘s IRR </a:t>
            </a:r>
            <a:r>
              <a:rPr lang="en-IN" sz="2600">
                <a:solidFill>
                  <a:srgbClr val="FF0000"/>
                </a:solidFill>
              </a:rPr>
              <a:t>is less than the required rate of return, it should be rejected.</a:t>
            </a:r>
            <a:r>
              <a:rPr lang="en-IN" sz="2600"/>
              <a:t> In case </a:t>
            </a:r>
            <a:r>
              <a:rPr lang="en-IN" sz="2600">
                <a:solidFill>
                  <a:srgbClr val="FF0000"/>
                </a:solidFill>
              </a:rPr>
              <a:t>of ranking the proposals the technique of IRR is significantly used. </a:t>
            </a:r>
            <a:r>
              <a:rPr lang="en-IN" sz="2600"/>
              <a:t>The projects with highest rate of return will be ranked as first compared to the lowest rate of return projects. </a:t>
            </a:r>
            <a:endParaRPr sz="2600"/>
          </a:p>
          <a:p>
            <a:pPr indent="0" lvl="0" marL="0" rtl="0" algn="just">
              <a:lnSpc>
                <a:spcPct val="90000"/>
              </a:lnSpc>
              <a:spcBef>
                <a:spcPts val="1000"/>
              </a:spcBef>
              <a:spcAft>
                <a:spcPts val="0"/>
              </a:spcAft>
              <a:buClr>
                <a:srgbClr val="00B050"/>
              </a:buClr>
              <a:buSzPts val="2600"/>
              <a:buNone/>
            </a:pPr>
            <a:r>
              <a:rPr lang="en-IN" sz="2600">
                <a:solidFill>
                  <a:srgbClr val="00B050"/>
                </a:solidFill>
              </a:rPr>
              <a:t>Thus, the IRR acceptance rules are:</a:t>
            </a:r>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Accept                               if IRR &gt; k </a:t>
            </a:r>
            <a:endParaRPr sz="2600">
              <a:solidFill>
                <a:srgbClr val="00B050"/>
              </a:solidFill>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Reject                                if IRR &lt; k </a:t>
            </a:r>
            <a:endParaRPr sz="2600">
              <a:solidFill>
                <a:srgbClr val="00B050"/>
              </a:solidFill>
            </a:endParaRPr>
          </a:p>
          <a:p>
            <a:pPr indent="0" lvl="0" marL="0" rtl="0" algn="just">
              <a:lnSpc>
                <a:spcPct val="90000"/>
              </a:lnSpc>
              <a:spcBef>
                <a:spcPts val="1000"/>
              </a:spcBef>
              <a:spcAft>
                <a:spcPts val="0"/>
              </a:spcAft>
              <a:buClr>
                <a:srgbClr val="00B050"/>
              </a:buClr>
              <a:buSzPts val="2600"/>
              <a:buNone/>
            </a:pPr>
            <a:r>
              <a:rPr lang="en-IN" sz="2600">
                <a:solidFill>
                  <a:srgbClr val="00B050"/>
                </a:solidFill>
              </a:rPr>
              <a:t>May accept or reject      if IRR = k </a:t>
            </a:r>
            <a:endParaRPr sz="2600">
              <a:solidFill>
                <a:srgbClr val="00B050"/>
              </a:solidFill>
            </a:endParaRPr>
          </a:p>
          <a:p>
            <a:pPr indent="0" lvl="0" marL="0" rtl="0" algn="just">
              <a:lnSpc>
                <a:spcPct val="90000"/>
              </a:lnSpc>
              <a:spcBef>
                <a:spcPts val="1000"/>
              </a:spcBef>
              <a:spcAft>
                <a:spcPts val="0"/>
              </a:spcAft>
              <a:buClr>
                <a:schemeClr val="dk1"/>
              </a:buClr>
              <a:buSzPts val="2600"/>
              <a:buNone/>
            </a:pPr>
            <a:r>
              <a:rPr lang="en-IN" sz="2600"/>
              <a:t>Where K is the cost of capital. </a:t>
            </a:r>
            <a:endParaRPr/>
          </a:p>
        </p:txBody>
      </p:sp>
      <p:pic>
        <p:nvPicPr>
          <p:cNvPr descr="Image result for sastra logo" id="642" name="Google Shape;642;p98"/>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99"/>
          <p:cNvSpPr txBox="1"/>
          <p:nvPr>
            <p:ph idx="1" type="body"/>
          </p:nvPr>
        </p:nvSpPr>
        <p:spPr>
          <a:xfrm>
            <a:off x="838200" y="875211"/>
            <a:ext cx="10515600" cy="530175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IRR vs. NPV: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Comparison of both the techniques: </a:t>
            </a:r>
            <a:endParaRPr/>
          </a:p>
          <a:p>
            <a:pPr indent="0" lvl="0" marL="0" rtl="0" algn="just">
              <a:lnSpc>
                <a:spcPct val="90000"/>
              </a:lnSpc>
              <a:spcBef>
                <a:spcPts val="1000"/>
              </a:spcBef>
              <a:spcAft>
                <a:spcPts val="0"/>
              </a:spcAft>
              <a:buClr>
                <a:schemeClr val="dk1"/>
              </a:buClr>
              <a:buSzPts val="2600"/>
              <a:buNone/>
            </a:pPr>
            <a:r>
              <a:rPr lang="en-IN" sz="2600"/>
              <a:t>(i) Both techniques use Discounted Cash Flow (DCF) method. </a:t>
            </a:r>
            <a:endParaRPr sz="2600"/>
          </a:p>
          <a:p>
            <a:pPr indent="0" lvl="0" marL="0" rtl="0" algn="just">
              <a:lnSpc>
                <a:spcPct val="90000"/>
              </a:lnSpc>
              <a:spcBef>
                <a:spcPts val="1000"/>
              </a:spcBef>
              <a:spcAft>
                <a:spcPts val="0"/>
              </a:spcAft>
              <a:buClr>
                <a:schemeClr val="dk1"/>
              </a:buClr>
              <a:buSzPts val="2600"/>
              <a:buNone/>
            </a:pPr>
            <a:r>
              <a:rPr lang="en-IN" sz="2600"/>
              <a:t>(ii) Both recognize the time value of money. </a:t>
            </a:r>
            <a:endParaRPr sz="2600"/>
          </a:p>
          <a:p>
            <a:pPr indent="0" lvl="0" marL="0" rtl="0" algn="just">
              <a:lnSpc>
                <a:spcPct val="90000"/>
              </a:lnSpc>
              <a:spcBef>
                <a:spcPts val="1000"/>
              </a:spcBef>
              <a:spcAft>
                <a:spcPts val="0"/>
              </a:spcAft>
              <a:buClr>
                <a:schemeClr val="dk1"/>
              </a:buClr>
              <a:buSzPts val="2600"/>
              <a:buNone/>
            </a:pPr>
            <a:r>
              <a:rPr lang="en-IN" sz="2600"/>
              <a:t>(iii) Both take into account the cash flows over the entire life of the project.</a:t>
            </a:r>
            <a:endParaRPr/>
          </a:p>
          <a:p>
            <a:pPr indent="0" lvl="0" marL="0" rtl="0" algn="just">
              <a:lnSpc>
                <a:spcPct val="90000"/>
              </a:lnSpc>
              <a:spcBef>
                <a:spcPts val="1000"/>
              </a:spcBef>
              <a:spcAft>
                <a:spcPts val="0"/>
              </a:spcAft>
              <a:buClr>
                <a:schemeClr val="dk1"/>
              </a:buClr>
              <a:buSzPts val="2600"/>
              <a:buNone/>
            </a:pPr>
            <a:r>
              <a:rPr lang="en-IN" sz="2600"/>
              <a:t>(iv) Both are consistent with the objective of maximizing the wealth of shareholders. </a:t>
            </a:r>
            <a:endParaRPr sz="2600"/>
          </a:p>
          <a:p>
            <a:pPr indent="0" lvl="0" marL="0" rtl="0" algn="just">
              <a:lnSpc>
                <a:spcPct val="90000"/>
              </a:lnSpc>
              <a:spcBef>
                <a:spcPts val="1000"/>
              </a:spcBef>
              <a:spcAft>
                <a:spcPts val="0"/>
              </a:spcAft>
              <a:buClr>
                <a:schemeClr val="dk1"/>
              </a:buClr>
              <a:buSzPts val="2600"/>
              <a:buNone/>
            </a:pPr>
            <a:r>
              <a:rPr lang="en-IN" sz="2600"/>
              <a:t>(v) Both are difficult to calculate. </a:t>
            </a:r>
            <a:endParaRPr sz="2600"/>
          </a:p>
          <a:p>
            <a:pPr indent="0" lvl="0" marL="0" rtl="0" algn="just">
              <a:lnSpc>
                <a:spcPct val="90000"/>
              </a:lnSpc>
              <a:spcBef>
                <a:spcPts val="1000"/>
              </a:spcBef>
              <a:spcAft>
                <a:spcPts val="0"/>
              </a:spcAft>
              <a:buClr>
                <a:schemeClr val="dk1"/>
              </a:buClr>
              <a:buSzPts val="2600"/>
              <a:buNone/>
            </a:pPr>
            <a:r>
              <a:rPr lang="en-IN" sz="2600"/>
              <a:t>(vi) Both techniques may often give contradictory result in the case of alternative proposals which are mutually exclusive. </a:t>
            </a:r>
            <a:endParaRPr/>
          </a:p>
        </p:txBody>
      </p:sp>
      <p:pic>
        <p:nvPicPr>
          <p:cNvPr descr="Image result for sastra logo" id="648" name="Google Shape;648;p99"/>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00"/>
          <p:cNvSpPr txBox="1"/>
          <p:nvPr>
            <p:ph idx="1" type="body"/>
          </p:nvPr>
        </p:nvSpPr>
        <p:spPr>
          <a:xfrm>
            <a:off x="838200" y="977736"/>
            <a:ext cx="10515600" cy="523438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FF0000"/>
              </a:buClr>
              <a:buSzPts val="2400"/>
              <a:buNone/>
            </a:pPr>
            <a:r>
              <a:rPr b="1" lang="en-IN" sz="2400">
                <a:solidFill>
                  <a:srgbClr val="FF0000"/>
                </a:solidFill>
              </a:rPr>
              <a:t>Recommendation:  </a:t>
            </a:r>
            <a:endParaRPr/>
          </a:p>
          <a:p>
            <a:pPr indent="0" lvl="0" marL="0" rtl="0" algn="just">
              <a:lnSpc>
                <a:spcPct val="90000"/>
              </a:lnSpc>
              <a:spcBef>
                <a:spcPts val="1000"/>
              </a:spcBef>
              <a:spcAft>
                <a:spcPts val="0"/>
              </a:spcAft>
              <a:buClr>
                <a:schemeClr val="dk1"/>
              </a:buClr>
              <a:buSzPts val="2600"/>
              <a:buNone/>
            </a:pPr>
            <a:r>
              <a:rPr lang="en-IN" sz="2600"/>
              <a:t>The NPV method is generally considered to be superior theoretically because: </a:t>
            </a:r>
            <a:endParaRPr sz="2600"/>
          </a:p>
          <a:p>
            <a:pPr indent="0" lvl="0" marL="0" rtl="0" algn="just">
              <a:lnSpc>
                <a:spcPct val="90000"/>
              </a:lnSpc>
              <a:spcBef>
                <a:spcPts val="1000"/>
              </a:spcBef>
              <a:spcAft>
                <a:spcPts val="0"/>
              </a:spcAft>
              <a:buClr>
                <a:schemeClr val="dk1"/>
              </a:buClr>
              <a:buSzPts val="2600"/>
              <a:buNone/>
            </a:pPr>
            <a:r>
              <a:rPr lang="en-IN" sz="2600"/>
              <a:t>(i) It is simple to calculate as compared to IRR. </a:t>
            </a:r>
            <a:endParaRPr sz="2600"/>
          </a:p>
          <a:p>
            <a:pPr indent="0" lvl="0" marL="0" rtl="0" algn="just">
              <a:lnSpc>
                <a:spcPct val="90000"/>
              </a:lnSpc>
              <a:spcBef>
                <a:spcPts val="1000"/>
              </a:spcBef>
              <a:spcAft>
                <a:spcPts val="0"/>
              </a:spcAft>
              <a:buClr>
                <a:schemeClr val="dk1"/>
              </a:buClr>
              <a:buSzPts val="2600"/>
              <a:buNone/>
            </a:pPr>
            <a:r>
              <a:rPr lang="en-IN" sz="2600"/>
              <a:t>(ii) It does not suffer from the limitation of multiple rates. </a:t>
            </a:r>
            <a:endParaRPr sz="2600"/>
          </a:p>
          <a:p>
            <a:pPr indent="0" lvl="0" marL="0" rtl="0" algn="just">
              <a:lnSpc>
                <a:spcPct val="90000"/>
              </a:lnSpc>
              <a:spcBef>
                <a:spcPts val="1000"/>
              </a:spcBef>
              <a:spcAft>
                <a:spcPts val="0"/>
              </a:spcAft>
              <a:buClr>
                <a:schemeClr val="dk1"/>
              </a:buClr>
              <a:buSzPts val="2600"/>
              <a:buNone/>
            </a:pPr>
            <a:r>
              <a:rPr lang="en-IN" sz="2600"/>
              <a:t>(iii) NPV assumes that intermediate cash flows are reinvested at firm‘s cost of</a:t>
            </a:r>
            <a:endParaRPr/>
          </a:p>
          <a:p>
            <a:pPr indent="0" lvl="0" marL="0" rtl="0" algn="just">
              <a:lnSpc>
                <a:spcPct val="90000"/>
              </a:lnSpc>
              <a:spcBef>
                <a:spcPts val="1000"/>
              </a:spcBef>
              <a:spcAft>
                <a:spcPts val="0"/>
              </a:spcAft>
              <a:buClr>
                <a:schemeClr val="dk1"/>
              </a:buClr>
              <a:buSzPts val="2600"/>
              <a:buNone/>
            </a:pPr>
            <a:r>
              <a:rPr lang="en-IN" sz="2600"/>
              <a:t> capital. </a:t>
            </a:r>
            <a:endParaRPr/>
          </a:p>
        </p:txBody>
      </p:sp>
      <p:pic>
        <p:nvPicPr>
          <p:cNvPr descr="Image result for sastra logo" id="654" name="Google Shape;654;p100"/>
          <p:cNvPicPr preferRelativeResize="0"/>
          <p:nvPr/>
        </p:nvPicPr>
        <p:blipFill rotWithShape="1">
          <a:blip r:embed="rId3">
            <a:alphaModFix/>
          </a:blip>
          <a:srcRect b="0" l="0" r="0" t="0"/>
          <a:stretch/>
        </p:blipFill>
        <p:spPr>
          <a:xfrm>
            <a:off x="9537700" y="420524"/>
            <a:ext cx="1816100" cy="557212"/>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101"/>
          <p:cNvSpPr txBox="1"/>
          <p:nvPr>
            <p:ph idx="1" type="body"/>
          </p:nvPr>
        </p:nvSpPr>
        <p:spPr>
          <a:xfrm>
            <a:off x="838200" y="1117600"/>
            <a:ext cx="10515600" cy="50593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lang="en-IN" sz="2600">
                <a:solidFill>
                  <a:srgbClr val="FF0000"/>
                </a:solidFill>
              </a:rPr>
              <a:t>The reinvestment assumption of NPV is more realistic than IRR method. But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IRR method is favoured by some scholars because: </a:t>
            </a:r>
            <a:endParaRPr/>
          </a:p>
          <a:p>
            <a:pPr indent="-571500" lvl="0" marL="571500" rtl="0" algn="just">
              <a:lnSpc>
                <a:spcPct val="90000"/>
              </a:lnSpc>
              <a:spcBef>
                <a:spcPts val="1000"/>
              </a:spcBef>
              <a:spcAft>
                <a:spcPts val="0"/>
              </a:spcAft>
              <a:buClr>
                <a:schemeClr val="dk1"/>
              </a:buClr>
              <a:buSzPts val="2600"/>
              <a:buAutoNum type="romanLcParenBoth"/>
            </a:pPr>
            <a:r>
              <a:rPr lang="en-IN" sz="2600"/>
              <a:t>It is easier to visualize and to interpret as compared to NPV. </a:t>
            </a:r>
            <a:endParaRPr/>
          </a:p>
          <a:p>
            <a:pPr indent="0" lvl="0" marL="0" rtl="0" algn="just">
              <a:lnSpc>
                <a:spcPct val="90000"/>
              </a:lnSpc>
              <a:spcBef>
                <a:spcPts val="1000"/>
              </a:spcBef>
              <a:spcAft>
                <a:spcPts val="0"/>
              </a:spcAft>
              <a:buClr>
                <a:schemeClr val="dk1"/>
              </a:buClr>
              <a:buSzPts val="2600"/>
              <a:buNone/>
            </a:pPr>
            <a:r>
              <a:rPr lang="en-IN" sz="2600"/>
              <a:t>(ii) Even in the absence of cost of capital, IRR gives an idea of project‘s</a:t>
            </a:r>
            <a:endParaRPr/>
          </a:p>
          <a:p>
            <a:pPr indent="0" lvl="0" marL="0" rtl="0" algn="just">
              <a:lnSpc>
                <a:spcPct val="90000"/>
              </a:lnSpc>
              <a:spcBef>
                <a:spcPts val="1000"/>
              </a:spcBef>
              <a:spcAft>
                <a:spcPts val="0"/>
              </a:spcAft>
              <a:buClr>
                <a:schemeClr val="dk1"/>
              </a:buClr>
              <a:buSzPts val="2600"/>
              <a:buNone/>
            </a:pPr>
            <a:r>
              <a:rPr lang="en-IN" sz="2600"/>
              <a:t> profitability.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Note: Unless the cost of capital is known, NPV cannot be used. </a:t>
            </a:r>
            <a:endParaRPr/>
          </a:p>
          <a:p>
            <a:pPr indent="0" lvl="0" marL="0" rtl="0" algn="just">
              <a:lnSpc>
                <a:spcPct val="90000"/>
              </a:lnSpc>
              <a:spcBef>
                <a:spcPts val="1000"/>
              </a:spcBef>
              <a:spcAft>
                <a:spcPts val="0"/>
              </a:spcAft>
              <a:buClr>
                <a:schemeClr val="dk1"/>
              </a:buClr>
              <a:buSzPts val="2600"/>
              <a:buNone/>
            </a:pPr>
            <a:r>
              <a:rPr lang="en-IN" sz="2600"/>
              <a:t>(iii) IRR method is preferable to NPV in the evaluation of risky projects. </a:t>
            </a:r>
            <a:endParaRPr/>
          </a:p>
          <a:p>
            <a:pPr indent="-63500" lvl="0" marL="228600" rtl="0" algn="l">
              <a:lnSpc>
                <a:spcPct val="90000"/>
              </a:lnSpc>
              <a:spcBef>
                <a:spcPts val="1000"/>
              </a:spcBef>
              <a:spcAft>
                <a:spcPts val="0"/>
              </a:spcAft>
              <a:buClr>
                <a:schemeClr val="dk1"/>
              </a:buClr>
              <a:buSzPts val="2600"/>
              <a:buNone/>
            </a:pPr>
            <a:r>
              <a:t/>
            </a:r>
            <a:endParaRPr sz="2600"/>
          </a:p>
        </p:txBody>
      </p:sp>
      <p:pic>
        <p:nvPicPr>
          <p:cNvPr descr="Image result for sastra logo" id="660" name="Google Shape;660;p101"/>
          <p:cNvPicPr preferRelativeResize="0"/>
          <p:nvPr/>
        </p:nvPicPr>
        <p:blipFill rotWithShape="1">
          <a:blip r:embed="rId3">
            <a:alphaModFix/>
          </a:blip>
          <a:srcRect b="0" l="0" r="0" t="0"/>
          <a:stretch/>
        </p:blipFill>
        <p:spPr>
          <a:xfrm>
            <a:off x="9537700" y="444273"/>
            <a:ext cx="1816100" cy="557212"/>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02"/>
          <p:cNvSpPr txBox="1"/>
          <p:nvPr>
            <p:ph idx="1" type="body"/>
          </p:nvPr>
        </p:nvSpPr>
        <p:spPr>
          <a:xfrm>
            <a:off x="838200" y="1066800"/>
            <a:ext cx="10515600" cy="51101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P18. Calculate IRR from the following:</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666" name="Google Shape;666;p102"/>
          <p:cNvGraphicFramePr/>
          <p:nvPr/>
        </p:nvGraphicFramePr>
        <p:xfrm>
          <a:off x="838199" y="1576916"/>
          <a:ext cx="3000000" cy="3000000"/>
        </p:xfrm>
        <a:graphic>
          <a:graphicData uri="http://schemas.openxmlformats.org/drawingml/2006/table">
            <a:tbl>
              <a:tblPr bandRow="1" firstRow="1">
                <a:noFill/>
                <a:tableStyleId>{75140CFC-2FD2-45D3-AD89-D6322BEAE1F3}</a:tableStyleId>
              </a:tblPr>
              <a:tblGrid>
                <a:gridCol w="8743950"/>
                <a:gridCol w="1771650"/>
              </a:tblGrid>
              <a:tr h="370850">
                <a:tc>
                  <a:txBody>
                    <a:bodyPr/>
                    <a:lstStyle/>
                    <a:p>
                      <a:pPr indent="0" lvl="0" marL="0" marR="0" rtl="0" algn="l">
                        <a:spcBef>
                          <a:spcPts val="0"/>
                        </a:spcBef>
                        <a:spcAft>
                          <a:spcPts val="0"/>
                        </a:spcAft>
                        <a:buNone/>
                      </a:pPr>
                      <a:r>
                        <a:t/>
                      </a:r>
                      <a:endParaRPr sz="2200"/>
                    </a:p>
                  </a:txBody>
                  <a:tcPr marT="45725" marB="45725" marR="91450" marL="91450"/>
                </a:tc>
                <a:tc>
                  <a:txBody>
                    <a:bodyPr/>
                    <a:lstStyle/>
                    <a:p>
                      <a:pPr indent="0" lvl="0" marL="0" marR="0" rtl="0" algn="ctr">
                        <a:spcBef>
                          <a:spcPts val="0"/>
                        </a:spcBef>
                        <a:spcAft>
                          <a:spcPts val="0"/>
                        </a:spcAft>
                        <a:buNone/>
                      </a:pPr>
                      <a:r>
                        <a:rPr lang="en-IN" sz="2200"/>
                        <a:t>Rs.</a:t>
                      </a:r>
                      <a:endParaRPr sz="2200"/>
                    </a:p>
                  </a:txBody>
                  <a:tcPr marT="45725" marB="45725" marR="91450" marL="91450"/>
                </a:tc>
              </a:tr>
              <a:tr h="370850">
                <a:tc>
                  <a:txBody>
                    <a:bodyPr/>
                    <a:lstStyle/>
                    <a:p>
                      <a:pPr indent="0" lvl="0" marL="0" marR="0" rtl="0" algn="l">
                        <a:spcBef>
                          <a:spcPts val="0"/>
                        </a:spcBef>
                        <a:spcAft>
                          <a:spcPts val="0"/>
                        </a:spcAft>
                        <a:buNone/>
                      </a:pPr>
                      <a:r>
                        <a:rPr lang="en-IN" sz="2500"/>
                        <a:t>Initial investment</a:t>
                      </a:r>
                      <a:endParaRPr sz="2500"/>
                    </a:p>
                  </a:txBody>
                  <a:tcPr marT="45725" marB="45725" marR="91450" marL="91450"/>
                </a:tc>
                <a:tc>
                  <a:txBody>
                    <a:bodyPr/>
                    <a:lstStyle/>
                    <a:p>
                      <a:pPr indent="0" lvl="0" marL="0" marR="0" rtl="0" algn="ctr">
                        <a:spcBef>
                          <a:spcPts val="0"/>
                        </a:spcBef>
                        <a:spcAft>
                          <a:spcPts val="0"/>
                        </a:spcAft>
                        <a:buNone/>
                      </a:pPr>
                      <a:r>
                        <a:rPr lang="en-IN" sz="2500"/>
                        <a:t>1,20,000</a:t>
                      </a:r>
                      <a:endParaRPr sz="2500"/>
                    </a:p>
                  </a:txBody>
                  <a:tcPr marT="45725" marB="45725" marR="91450" marL="91450"/>
                </a:tc>
              </a:tr>
              <a:tr h="370850">
                <a:tc>
                  <a:txBody>
                    <a:bodyPr/>
                    <a:lstStyle/>
                    <a:p>
                      <a:pPr indent="0" lvl="0" marL="0" marR="0" rtl="0" algn="l">
                        <a:spcBef>
                          <a:spcPts val="0"/>
                        </a:spcBef>
                        <a:spcAft>
                          <a:spcPts val="0"/>
                        </a:spcAft>
                        <a:buNone/>
                      </a:pPr>
                      <a:r>
                        <a:rPr lang="en-IN" sz="2500"/>
                        <a:t>Life of the assets </a:t>
                      </a:r>
                      <a:endParaRPr sz="2500"/>
                    </a:p>
                  </a:txBody>
                  <a:tcPr marT="45725" marB="45725" marR="91450" marL="91450"/>
                </a:tc>
                <a:tc>
                  <a:txBody>
                    <a:bodyPr/>
                    <a:lstStyle/>
                    <a:p>
                      <a:pPr indent="0" lvl="0" marL="0" marR="0" rtl="0" algn="ctr">
                        <a:spcBef>
                          <a:spcPts val="0"/>
                        </a:spcBef>
                        <a:spcAft>
                          <a:spcPts val="0"/>
                        </a:spcAft>
                        <a:buNone/>
                      </a:pPr>
                      <a:r>
                        <a:rPr lang="en-IN" sz="2500"/>
                        <a:t>4 years</a:t>
                      </a:r>
                      <a:endParaRPr sz="2500"/>
                    </a:p>
                  </a:txBody>
                  <a:tcPr marT="45725" marB="45725" marR="91450" marL="91450"/>
                </a:tc>
              </a:tr>
              <a:tr h="370850">
                <a:tc>
                  <a:txBody>
                    <a:bodyPr/>
                    <a:lstStyle/>
                    <a:p>
                      <a:pPr indent="0" lvl="0" marL="0" marR="0" rtl="0" algn="l">
                        <a:spcBef>
                          <a:spcPts val="0"/>
                        </a:spcBef>
                        <a:spcAft>
                          <a:spcPts val="0"/>
                        </a:spcAft>
                        <a:buNone/>
                      </a:pPr>
                      <a:r>
                        <a:rPr lang="en-IN" sz="2500"/>
                        <a:t>Estimated net annual cash flows:</a:t>
                      </a:r>
                      <a:endParaRPr sz="2500"/>
                    </a:p>
                  </a:txBody>
                  <a:tcPr marT="45725" marB="45725" marR="91450" marL="91450"/>
                </a:tc>
                <a:tc>
                  <a:txBody>
                    <a:bodyPr/>
                    <a:lstStyle/>
                    <a:p>
                      <a:pPr indent="0" lvl="0" marL="0" marR="0" rtl="0" algn="ctr">
                        <a:spcBef>
                          <a:spcPts val="0"/>
                        </a:spcBef>
                        <a:spcAft>
                          <a:spcPts val="0"/>
                        </a:spcAft>
                        <a:buNone/>
                      </a:pPr>
                      <a:r>
                        <a:rPr lang="en-IN" sz="2500"/>
                        <a:t>Rs. </a:t>
                      </a:r>
                      <a:endParaRPr sz="2500"/>
                    </a:p>
                  </a:txBody>
                  <a:tcPr marT="45725" marB="45725" marR="91450" marL="91450"/>
                </a:tc>
              </a:tr>
              <a:tr h="370850">
                <a:tc>
                  <a:txBody>
                    <a:bodyPr/>
                    <a:lstStyle/>
                    <a:p>
                      <a:pPr indent="0" lvl="0" marL="0" marR="0" rtl="0" algn="l">
                        <a:spcBef>
                          <a:spcPts val="0"/>
                        </a:spcBef>
                        <a:spcAft>
                          <a:spcPts val="0"/>
                        </a:spcAft>
                        <a:buNone/>
                      </a:pPr>
                      <a:r>
                        <a:rPr lang="en-IN" sz="2500"/>
                        <a:t>1</a:t>
                      </a:r>
                      <a:r>
                        <a:rPr baseline="30000" lang="en-IN" sz="2500"/>
                        <a:t>st</a:t>
                      </a:r>
                      <a:r>
                        <a:rPr lang="en-IN" sz="2500"/>
                        <a:t> </a:t>
                      </a:r>
                      <a:r>
                        <a:rPr lang="en-IN" sz="2500"/>
                        <a:t> year </a:t>
                      </a:r>
                      <a:endParaRPr sz="2500"/>
                    </a:p>
                  </a:txBody>
                  <a:tcPr marT="45725" marB="45725" marR="91450" marL="91450"/>
                </a:tc>
                <a:tc>
                  <a:txBody>
                    <a:bodyPr/>
                    <a:lstStyle/>
                    <a:p>
                      <a:pPr indent="0" lvl="0" marL="0" marR="0" rtl="0" algn="ctr">
                        <a:spcBef>
                          <a:spcPts val="0"/>
                        </a:spcBef>
                        <a:spcAft>
                          <a:spcPts val="0"/>
                        </a:spcAft>
                        <a:buNone/>
                      </a:pPr>
                      <a:r>
                        <a:rPr lang="en-IN" sz="2500"/>
                        <a:t>30,000</a:t>
                      </a:r>
                      <a:endParaRPr sz="2500"/>
                    </a:p>
                  </a:txBody>
                  <a:tcPr marT="45725" marB="45725" marR="91450" marL="91450"/>
                </a:tc>
              </a:tr>
              <a:tr h="370850">
                <a:tc>
                  <a:txBody>
                    <a:bodyPr/>
                    <a:lstStyle/>
                    <a:p>
                      <a:pPr indent="0" lvl="0" marL="0" marR="0" rtl="0" algn="l">
                        <a:spcBef>
                          <a:spcPts val="0"/>
                        </a:spcBef>
                        <a:spcAft>
                          <a:spcPts val="0"/>
                        </a:spcAft>
                        <a:buNone/>
                      </a:pPr>
                      <a:r>
                        <a:rPr lang="en-IN" sz="2500"/>
                        <a:t>2</a:t>
                      </a:r>
                      <a:r>
                        <a:rPr baseline="30000" lang="en-IN" sz="2500"/>
                        <a:t>nd</a:t>
                      </a:r>
                      <a:r>
                        <a:rPr lang="en-IN" sz="2500"/>
                        <a:t> Year</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r>
              <a:tr h="370850">
                <a:tc>
                  <a:txBody>
                    <a:bodyPr/>
                    <a:lstStyle/>
                    <a:p>
                      <a:pPr indent="0" lvl="0" marL="0" marR="0" rtl="0" algn="l">
                        <a:spcBef>
                          <a:spcPts val="0"/>
                        </a:spcBef>
                        <a:spcAft>
                          <a:spcPts val="0"/>
                        </a:spcAft>
                        <a:buNone/>
                      </a:pPr>
                      <a:r>
                        <a:rPr lang="en-IN" sz="2500"/>
                        <a:t>3</a:t>
                      </a:r>
                      <a:r>
                        <a:rPr baseline="30000" lang="en-IN" sz="2500"/>
                        <a:t>rd</a:t>
                      </a:r>
                      <a:r>
                        <a:rPr lang="en-IN" sz="2500"/>
                        <a:t> year</a:t>
                      </a:r>
                      <a:endParaRPr sz="2500"/>
                    </a:p>
                  </a:txBody>
                  <a:tcPr marT="45725" marB="45725" marR="91450" marL="91450"/>
                </a:tc>
                <a:tc>
                  <a:txBody>
                    <a:bodyPr/>
                    <a:lstStyle/>
                    <a:p>
                      <a:pPr indent="0" lvl="0" marL="0" marR="0" rtl="0" algn="ctr">
                        <a:spcBef>
                          <a:spcPts val="0"/>
                        </a:spcBef>
                        <a:spcAft>
                          <a:spcPts val="0"/>
                        </a:spcAft>
                        <a:buNone/>
                      </a:pPr>
                      <a:r>
                        <a:rPr lang="en-IN" sz="2500"/>
                        <a:t>60,000</a:t>
                      </a:r>
                      <a:endParaRPr sz="2500"/>
                    </a:p>
                  </a:txBody>
                  <a:tcPr marT="45725" marB="45725" marR="91450" marL="91450"/>
                </a:tc>
              </a:tr>
              <a:tr h="370850">
                <a:tc>
                  <a:txBody>
                    <a:bodyPr/>
                    <a:lstStyle/>
                    <a:p>
                      <a:pPr indent="0" lvl="0" marL="0" marR="0" rtl="0" algn="l">
                        <a:spcBef>
                          <a:spcPts val="0"/>
                        </a:spcBef>
                        <a:spcAft>
                          <a:spcPts val="0"/>
                        </a:spcAft>
                        <a:buNone/>
                      </a:pPr>
                      <a:r>
                        <a:rPr lang="en-IN" sz="2500"/>
                        <a:t>4</a:t>
                      </a:r>
                      <a:r>
                        <a:rPr baseline="30000" lang="en-IN" sz="2500"/>
                        <a:t>th</a:t>
                      </a:r>
                      <a:r>
                        <a:rPr lang="en-IN" sz="2500"/>
                        <a:t> year</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r>
            </a:tbl>
          </a:graphicData>
        </a:graphic>
      </p:graphicFrame>
      <p:pic>
        <p:nvPicPr>
          <p:cNvPr descr="Image result for sastra logo" id="667" name="Google Shape;667;p10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03"/>
          <p:cNvSpPr txBox="1"/>
          <p:nvPr>
            <p:ph idx="1" type="body"/>
          </p:nvPr>
        </p:nvSpPr>
        <p:spPr>
          <a:xfrm>
            <a:off x="838200" y="875211"/>
            <a:ext cx="10515600" cy="530175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a) PV factor = Initial investment/Average cash inflows</a:t>
            </a:r>
            <a:endParaRPr/>
          </a:p>
          <a:p>
            <a:pPr indent="0" lvl="0" marL="0" rtl="0" algn="just">
              <a:lnSpc>
                <a:spcPct val="90000"/>
              </a:lnSpc>
              <a:spcBef>
                <a:spcPts val="1000"/>
              </a:spcBef>
              <a:spcAft>
                <a:spcPts val="0"/>
              </a:spcAft>
              <a:buClr>
                <a:schemeClr val="dk1"/>
              </a:buClr>
              <a:buSzPts val="2600"/>
              <a:buNone/>
            </a:pPr>
            <a:r>
              <a:rPr lang="en-IN" sz="2600"/>
              <a:t>= Rs. 1,20,000 / Rs.42,500</a:t>
            </a:r>
            <a:endParaRPr/>
          </a:p>
          <a:p>
            <a:pPr indent="0" lvl="0" marL="0" rtl="0" algn="just">
              <a:lnSpc>
                <a:spcPct val="90000"/>
              </a:lnSpc>
              <a:spcBef>
                <a:spcPts val="1000"/>
              </a:spcBef>
              <a:spcAft>
                <a:spcPts val="0"/>
              </a:spcAft>
              <a:buClr>
                <a:schemeClr val="dk1"/>
              </a:buClr>
              <a:buSzPts val="2600"/>
              <a:buNone/>
            </a:pPr>
            <a:r>
              <a:rPr lang="en-IN" sz="2600"/>
              <a:t>= 2.8235</a:t>
            </a:r>
            <a:endParaRPr/>
          </a:p>
          <a:p>
            <a:pPr indent="0" lvl="0" marL="0" rtl="0" algn="just">
              <a:lnSpc>
                <a:spcPct val="90000"/>
              </a:lnSpc>
              <a:spcBef>
                <a:spcPts val="1000"/>
              </a:spcBef>
              <a:spcAft>
                <a:spcPts val="0"/>
              </a:spcAft>
              <a:buClr>
                <a:schemeClr val="dk1"/>
              </a:buClr>
              <a:buSzPts val="2600"/>
              <a:buNone/>
            </a:pPr>
            <a:r>
              <a:rPr lang="en-IN" sz="2600"/>
              <a:t>Calculate present values to 2.8235 from the Annuity Table for 4 years are 2.914 at 14% and 2.855 at 15%. So, IRR can be interpolated by trial and error method using discounted rate of 14% and 15%.</a:t>
            </a:r>
            <a:endParaRPr sz="2600"/>
          </a:p>
        </p:txBody>
      </p:sp>
      <p:pic>
        <p:nvPicPr>
          <p:cNvPr descr="Image result for sastra logo" id="673" name="Google Shape;673;p103"/>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04"/>
          <p:cNvSpPr txBox="1"/>
          <p:nvPr>
            <p:ph idx="1" type="body"/>
          </p:nvPr>
        </p:nvSpPr>
        <p:spPr>
          <a:xfrm>
            <a:off x="838194" y="856343"/>
            <a:ext cx="10515600" cy="532062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Statement showing NPV:</a:t>
            </a:r>
            <a:endParaRPr/>
          </a:p>
          <a:p>
            <a:pPr indent="0" lvl="0" marL="0" rtl="0" algn="l">
              <a:lnSpc>
                <a:spcPct val="90000"/>
              </a:lnSpc>
              <a:spcBef>
                <a:spcPts val="1000"/>
              </a:spcBef>
              <a:spcAft>
                <a:spcPts val="0"/>
              </a:spcAft>
              <a:buClr>
                <a:schemeClr val="dk1"/>
              </a:buClr>
              <a:buSzPts val="2800"/>
              <a:buNone/>
            </a:pPr>
            <a:r>
              <a:t/>
            </a:r>
            <a:endParaRPr>
              <a:solidFill>
                <a:srgbClr val="FF0000"/>
              </a:solidFill>
            </a:endParaRPr>
          </a:p>
        </p:txBody>
      </p:sp>
      <p:graphicFrame>
        <p:nvGraphicFramePr>
          <p:cNvPr id="679" name="Google Shape;679;p104"/>
          <p:cNvGraphicFramePr/>
          <p:nvPr/>
        </p:nvGraphicFramePr>
        <p:xfrm>
          <a:off x="838194" y="1291613"/>
          <a:ext cx="3000000" cy="3000000"/>
        </p:xfrm>
        <a:graphic>
          <a:graphicData uri="http://schemas.openxmlformats.org/drawingml/2006/table">
            <a:tbl>
              <a:tblPr bandRow="1" firstRow="1">
                <a:noFill/>
                <a:tableStyleId>{75140CFC-2FD2-45D3-AD89-D6322BEAE1F3}</a:tableStyleId>
              </a:tblPr>
              <a:tblGrid>
                <a:gridCol w="1005125"/>
                <a:gridCol w="3106050"/>
                <a:gridCol w="1553025"/>
                <a:gridCol w="1799775"/>
                <a:gridCol w="1260925"/>
                <a:gridCol w="1790700"/>
              </a:tblGrid>
              <a:tr h="856500">
                <a:tc>
                  <a:txBody>
                    <a:bodyPr/>
                    <a:lstStyle/>
                    <a:p>
                      <a:pPr indent="0" lvl="0" marL="0" marR="0" rtl="0" algn="ctr">
                        <a:spcBef>
                          <a:spcPts val="0"/>
                        </a:spcBef>
                        <a:spcAft>
                          <a:spcPts val="0"/>
                        </a:spcAft>
                        <a:buNone/>
                      </a:pPr>
                      <a:r>
                        <a:rPr lang="en-IN" sz="2000"/>
                        <a:t>Year</a:t>
                      </a:r>
                      <a:endParaRPr sz="2000"/>
                    </a:p>
                  </a:txBody>
                  <a:tcPr marT="45725" marB="45725" marR="91450" marL="91450"/>
                </a:tc>
                <a:tc>
                  <a:txBody>
                    <a:bodyPr/>
                    <a:lstStyle/>
                    <a:p>
                      <a:pPr indent="0" lvl="0" marL="0" marR="0" rtl="0" algn="ctr">
                        <a:spcBef>
                          <a:spcPts val="0"/>
                        </a:spcBef>
                        <a:spcAft>
                          <a:spcPts val="0"/>
                        </a:spcAft>
                        <a:buNone/>
                      </a:pPr>
                      <a:r>
                        <a:rPr lang="en-IN" sz="2000"/>
                        <a:t>CFAT</a:t>
                      </a:r>
                      <a:endParaRPr/>
                    </a:p>
                    <a:p>
                      <a:pPr indent="0" lvl="0" marL="0" marR="0" rtl="0" algn="ctr">
                        <a:spcBef>
                          <a:spcPts val="0"/>
                        </a:spcBef>
                        <a:spcAft>
                          <a:spcPts val="0"/>
                        </a:spcAft>
                        <a:buNone/>
                      </a:pPr>
                      <a:r>
                        <a:rPr lang="en-IN" sz="2000"/>
                        <a:t>Rs.</a:t>
                      </a:r>
                      <a:endParaRPr sz="2000"/>
                    </a:p>
                  </a:txBody>
                  <a:tcPr marT="45725" marB="45725" marR="91450" marL="91450"/>
                </a:tc>
                <a:tc>
                  <a:txBody>
                    <a:bodyPr/>
                    <a:lstStyle/>
                    <a:p>
                      <a:pPr indent="0" lvl="0" marL="0" marR="0" rtl="0" algn="ctr">
                        <a:spcBef>
                          <a:spcPts val="0"/>
                        </a:spcBef>
                        <a:spcAft>
                          <a:spcPts val="0"/>
                        </a:spcAft>
                        <a:buNone/>
                      </a:pPr>
                      <a:r>
                        <a:rPr lang="en-IN" sz="2000"/>
                        <a:t>PV factor </a:t>
                      </a:r>
                      <a:endParaRPr/>
                    </a:p>
                    <a:p>
                      <a:pPr indent="0" lvl="0" marL="0" marR="0" rtl="0" algn="ctr">
                        <a:spcBef>
                          <a:spcPts val="0"/>
                        </a:spcBef>
                        <a:spcAft>
                          <a:spcPts val="0"/>
                        </a:spcAft>
                        <a:buNone/>
                      </a:pPr>
                      <a:r>
                        <a:rPr lang="en-IN" sz="2000"/>
                        <a:t>@ 14% </a:t>
                      </a:r>
                      <a:endParaRPr sz="2000"/>
                    </a:p>
                  </a:txBody>
                  <a:tcPr marT="45725" marB="45725" marR="91450" marL="91450"/>
                </a:tc>
                <a:tc>
                  <a:txBody>
                    <a:bodyPr/>
                    <a:lstStyle/>
                    <a:p>
                      <a:pPr indent="0" lvl="0" marL="0" marR="0" rtl="0" algn="r">
                        <a:spcBef>
                          <a:spcPts val="0"/>
                        </a:spcBef>
                        <a:spcAft>
                          <a:spcPts val="0"/>
                        </a:spcAft>
                        <a:buNone/>
                      </a:pPr>
                      <a:r>
                        <a:rPr lang="en-IN" sz="2000"/>
                        <a:t>Present value of cash</a:t>
                      </a:r>
                      <a:r>
                        <a:rPr lang="en-IN" sz="2000"/>
                        <a:t> inflows</a:t>
                      </a:r>
                      <a:endParaRPr/>
                    </a:p>
                    <a:p>
                      <a:pPr indent="0" lvl="0" marL="0" marR="0" rtl="0" algn="r">
                        <a:spcBef>
                          <a:spcPts val="0"/>
                        </a:spcBef>
                        <a:spcAft>
                          <a:spcPts val="0"/>
                        </a:spcAft>
                        <a:buNone/>
                      </a:pPr>
                      <a:r>
                        <a:rPr lang="en-IN" sz="2000"/>
                        <a:t>Rs.</a:t>
                      </a:r>
                      <a:endParaRPr sz="2000"/>
                    </a:p>
                  </a:txBody>
                  <a:tcPr marT="45725" marB="45725" marR="91450" marL="91450"/>
                </a:tc>
                <a:tc>
                  <a:txBody>
                    <a:bodyPr/>
                    <a:lstStyle/>
                    <a:p>
                      <a:pPr indent="0" lvl="0" marL="0" marR="0" rtl="0" algn="ctr">
                        <a:spcBef>
                          <a:spcPts val="0"/>
                        </a:spcBef>
                        <a:spcAft>
                          <a:spcPts val="0"/>
                        </a:spcAft>
                        <a:buNone/>
                      </a:pPr>
                      <a:r>
                        <a:rPr lang="en-IN" sz="2000"/>
                        <a:t>PV factor </a:t>
                      </a:r>
                      <a:endParaRPr/>
                    </a:p>
                    <a:p>
                      <a:pPr indent="0" lvl="0" marL="0" marR="0" rtl="0" algn="ctr">
                        <a:spcBef>
                          <a:spcPts val="0"/>
                        </a:spcBef>
                        <a:spcAft>
                          <a:spcPts val="0"/>
                        </a:spcAft>
                        <a:buNone/>
                      </a:pPr>
                      <a:r>
                        <a:rPr lang="en-IN" sz="2000"/>
                        <a:t>@15% </a:t>
                      </a:r>
                      <a:endParaRPr sz="2000"/>
                    </a:p>
                  </a:txBody>
                  <a:tcPr marT="45725" marB="45725" marR="91450" marL="91450"/>
                </a:tc>
                <a:tc>
                  <a:txBody>
                    <a:bodyPr/>
                    <a:lstStyle/>
                    <a:p>
                      <a:pPr indent="0" lvl="0" marL="0" marR="0" rtl="0" algn="r">
                        <a:spcBef>
                          <a:spcPts val="0"/>
                        </a:spcBef>
                        <a:spcAft>
                          <a:spcPts val="0"/>
                        </a:spcAft>
                        <a:buNone/>
                      </a:pPr>
                      <a:r>
                        <a:rPr lang="en-IN" sz="2000"/>
                        <a:t>Present value of cash inflows</a:t>
                      </a:r>
                      <a:endParaRPr/>
                    </a:p>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30,000</a:t>
                      </a:r>
                      <a:endParaRPr sz="2500"/>
                    </a:p>
                  </a:txBody>
                  <a:tcPr marT="45725" marB="45725" marR="91450" marL="91450"/>
                </a:tc>
                <a:tc>
                  <a:txBody>
                    <a:bodyPr/>
                    <a:lstStyle/>
                    <a:p>
                      <a:pPr indent="0" lvl="0" marL="0" marR="0" rtl="0" algn="ctr">
                        <a:spcBef>
                          <a:spcPts val="0"/>
                        </a:spcBef>
                        <a:spcAft>
                          <a:spcPts val="0"/>
                        </a:spcAft>
                        <a:buNone/>
                      </a:pPr>
                      <a:r>
                        <a:rPr lang="en-IN" sz="2500"/>
                        <a:t>0.877</a:t>
                      </a:r>
                      <a:endParaRPr sz="2500"/>
                    </a:p>
                  </a:txBody>
                  <a:tcPr marT="45725" marB="45725" marR="91450" marL="91450"/>
                </a:tc>
                <a:tc>
                  <a:txBody>
                    <a:bodyPr/>
                    <a:lstStyle/>
                    <a:p>
                      <a:pPr indent="0" lvl="0" marL="0" marR="0" rtl="0" algn="r">
                        <a:spcBef>
                          <a:spcPts val="0"/>
                        </a:spcBef>
                        <a:spcAft>
                          <a:spcPts val="0"/>
                        </a:spcAft>
                        <a:buNone/>
                      </a:pPr>
                      <a:r>
                        <a:rPr lang="en-IN" sz="2500"/>
                        <a:t>26,310</a:t>
                      </a:r>
                      <a:endParaRPr sz="2500"/>
                    </a:p>
                  </a:txBody>
                  <a:tcPr marT="45725" marB="45725" marR="91450" marL="91450"/>
                </a:tc>
                <a:tc>
                  <a:txBody>
                    <a:bodyPr/>
                    <a:lstStyle/>
                    <a:p>
                      <a:pPr indent="0" lvl="0" marL="0" marR="0" rtl="0" algn="ctr">
                        <a:spcBef>
                          <a:spcPts val="0"/>
                        </a:spcBef>
                        <a:spcAft>
                          <a:spcPts val="0"/>
                        </a:spcAft>
                        <a:buNone/>
                      </a:pPr>
                      <a:r>
                        <a:rPr lang="en-IN" sz="2500"/>
                        <a:t>0.869</a:t>
                      </a:r>
                      <a:endParaRPr sz="2500"/>
                    </a:p>
                  </a:txBody>
                  <a:tcPr marT="45725" marB="45725" marR="91450" marL="91450"/>
                </a:tc>
                <a:tc>
                  <a:txBody>
                    <a:bodyPr/>
                    <a:lstStyle/>
                    <a:p>
                      <a:pPr indent="0" lvl="0" marL="0" marR="0" rtl="0" algn="r">
                        <a:spcBef>
                          <a:spcPts val="0"/>
                        </a:spcBef>
                        <a:spcAft>
                          <a:spcPts val="0"/>
                        </a:spcAft>
                        <a:buNone/>
                      </a:pPr>
                      <a:r>
                        <a:rPr lang="en-IN" sz="2500"/>
                        <a:t>26,070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c>
                  <a:txBody>
                    <a:bodyPr/>
                    <a:lstStyle/>
                    <a:p>
                      <a:pPr indent="0" lvl="0" marL="0" marR="0" rtl="0" algn="ctr">
                        <a:spcBef>
                          <a:spcPts val="0"/>
                        </a:spcBef>
                        <a:spcAft>
                          <a:spcPts val="0"/>
                        </a:spcAft>
                        <a:buNone/>
                      </a:pPr>
                      <a:r>
                        <a:rPr lang="en-IN" sz="2500"/>
                        <a:t>0.769</a:t>
                      </a:r>
                      <a:endParaRPr sz="2500"/>
                    </a:p>
                  </a:txBody>
                  <a:tcPr marT="45725" marB="45725" marR="91450" marL="91450"/>
                </a:tc>
                <a:tc>
                  <a:txBody>
                    <a:bodyPr/>
                    <a:lstStyle/>
                    <a:p>
                      <a:pPr indent="0" lvl="0" marL="0" marR="0" rtl="0" algn="r">
                        <a:spcBef>
                          <a:spcPts val="0"/>
                        </a:spcBef>
                        <a:spcAft>
                          <a:spcPts val="0"/>
                        </a:spcAft>
                        <a:buNone/>
                      </a:pPr>
                      <a:r>
                        <a:rPr lang="en-IN" sz="2500"/>
                        <a:t>30,760</a:t>
                      </a:r>
                      <a:endParaRPr sz="2500"/>
                    </a:p>
                  </a:txBody>
                  <a:tcPr marT="45725" marB="45725" marR="91450" marL="91450"/>
                </a:tc>
                <a:tc>
                  <a:txBody>
                    <a:bodyPr/>
                    <a:lstStyle/>
                    <a:p>
                      <a:pPr indent="0" lvl="0" marL="0" marR="0" rtl="0" algn="ctr">
                        <a:spcBef>
                          <a:spcPts val="0"/>
                        </a:spcBef>
                        <a:spcAft>
                          <a:spcPts val="0"/>
                        </a:spcAft>
                        <a:buNone/>
                      </a:pPr>
                      <a:r>
                        <a:rPr lang="en-IN" sz="2500"/>
                        <a:t>0.756</a:t>
                      </a:r>
                      <a:endParaRPr sz="2500"/>
                    </a:p>
                  </a:txBody>
                  <a:tcPr marT="45725" marB="45725" marR="91450" marL="91450"/>
                </a:tc>
                <a:tc>
                  <a:txBody>
                    <a:bodyPr/>
                    <a:lstStyle/>
                    <a:p>
                      <a:pPr indent="0" lvl="0" marL="0" marR="0" rtl="0" algn="r">
                        <a:spcBef>
                          <a:spcPts val="0"/>
                        </a:spcBef>
                        <a:spcAft>
                          <a:spcPts val="0"/>
                        </a:spcAft>
                        <a:buNone/>
                      </a:pPr>
                      <a:r>
                        <a:rPr lang="en-IN" sz="2500"/>
                        <a:t>30,240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60,000</a:t>
                      </a:r>
                      <a:endParaRPr sz="2500"/>
                    </a:p>
                  </a:txBody>
                  <a:tcPr marT="45725" marB="45725" marR="91450" marL="91450"/>
                </a:tc>
                <a:tc>
                  <a:txBody>
                    <a:bodyPr/>
                    <a:lstStyle/>
                    <a:p>
                      <a:pPr indent="0" lvl="0" marL="0" marR="0" rtl="0" algn="ctr">
                        <a:spcBef>
                          <a:spcPts val="0"/>
                        </a:spcBef>
                        <a:spcAft>
                          <a:spcPts val="0"/>
                        </a:spcAft>
                        <a:buNone/>
                      </a:pPr>
                      <a:r>
                        <a:rPr lang="en-IN" sz="2500"/>
                        <a:t>0.674</a:t>
                      </a:r>
                      <a:endParaRPr sz="2500"/>
                    </a:p>
                  </a:txBody>
                  <a:tcPr marT="45725" marB="45725" marR="91450" marL="91450"/>
                </a:tc>
                <a:tc>
                  <a:txBody>
                    <a:bodyPr/>
                    <a:lstStyle/>
                    <a:p>
                      <a:pPr indent="0" lvl="0" marL="0" marR="0" rtl="0" algn="r">
                        <a:spcBef>
                          <a:spcPts val="0"/>
                        </a:spcBef>
                        <a:spcAft>
                          <a:spcPts val="0"/>
                        </a:spcAft>
                        <a:buNone/>
                      </a:pPr>
                      <a:r>
                        <a:rPr lang="en-IN" sz="2500"/>
                        <a:t>40,440</a:t>
                      </a:r>
                      <a:endParaRPr sz="2500"/>
                    </a:p>
                  </a:txBody>
                  <a:tcPr marT="45725" marB="45725" marR="91450" marL="91450"/>
                </a:tc>
                <a:tc>
                  <a:txBody>
                    <a:bodyPr/>
                    <a:lstStyle/>
                    <a:p>
                      <a:pPr indent="0" lvl="0" marL="0" marR="0" rtl="0" algn="ctr">
                        <a:spcBef>
                          <a:spcPts val="0"/>
                        </a:spcBef>
                        <a:spcAft>
                          <a:spcPts val="0"/>
                        </a:spcAft>
                        <a:buNone/>
                      </a:pPr>
                      <a:r>
                        <a:rPr lang="en-IN" sz="2500"/>
                        <a:t>0.657</a:t>
                      </a:r>
                      <a:endParaRPr sz="2500"/>
                    </a:p>
                  </a:txBody>
                  <a:tcPr marT="45725" marB="45725" marR="91450" marL="91450"/>
                </a:tc>
                <a:tc>
                  <a:txBody>
                    <a:bodyPr/>
                    <a:lstStyle/>
                    <a:p>
                      <a:pPr indent="0" lvl="0" marL="0" marR="0" rtl="0" algn="r">
                        <a:spcBef>
                          <a:spcPts val="0"/>
                        </a:spcBef>
                        <a:spcAft>
                          <a:spcPts val="0"/>
                        </a:spcAft>
                        <a:buNone/>
                      </a:pPr>
                      <a:r>
                        <a:rPr lang="en-IN" sz="2500"/>
                        <a:t>39,420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c>
                  <a:txBody>
                    <a:bodyPr/>
                    <a:lstStyle/>
                    <a:p>
                      <a:pPr indent="0" lvl="0" marL="0" marR="0" rtl="0" algn="ctr">
                        <a:spcBef>
                          <a:spcPts val="0"/>
                        </a:spcBef>
                        <a:spcAft>
                          <a:spcPts val="0"/>
                        </a:spcAft>
                        <a:buNone/>
                      </a:pPr>
                      <a:r>
                        <a:rPr lang="en-IN" sz="2500"/>
                        <a:t>0.592</a:t>
                      </a:r>
                      <a:endParaRPr sz="2500"/>
                    </a:p>
                  </a:txBody>
                  <a:tcPr marT="45725" marB="45725" marR="91450" marL="91450"/>
                </a:tc>
                <a:tc>
                  <a:txBody>
                    <a:bodyPr/>
                    <a:lstStyle/>
                    <a:p>
                      <a:pPr indent="0" lvl="0" marL="0" marR="0" rtl="0" algn="r">
                        <a:spcBef>
                          <a:spcPts val="0"/>
                        </a:spcBef>
                        <a:spcAft>
                          <a:spcPts val="0"/>
                        </a:spcAft>
                        <a:buNone/>
                      </a:pPr>
                      <a:r>
                        <a:rPr lang="en-IN" sz="2500"/>
                        <a:t>23,680</a:t>
                      </a:r>
                      <a:endParaRPr sz="2500"/>
                    </a:p>
                  </a:txBody>
                  <a:tcPr marT="45725" marB="45725" marR="91450" marL="91450"/>
                </a:tc>
                <a:tc>
                  <a:txBody>
                    <a:bodyPr/>
                    <a:lstStyle/>
                    <a:p>
                      <a:pPr indent="0" lvl="0" marL="0" marR="0" rtl="0" algn="ctr">
                        <a:spcBef>
                          <a:spcPts val="0"/>
                        </a:spcBef>
                        <a:spcAft>
                          <a:spcPts val="0"/>
                        </a:spcAft>
                        <a:buNone/>
                      </a:pPr>
                      <a:r>
                        <a:rPr lang="en-IN" sz="2500"/>
                        <a:t>0.571</a:t>
                      </a:r>
                      <a:endParaRPr sz="2500"/>
                    </a:p>
                  </a:txBody>
                  <a:tcPr marT="45725" marB="45725" marR="91450" marL="91450"/>
                </a:tc>
                <a:tc>
                  <a:txBody>
                    <a:bodyPr/>
                    <a:lstStyle/>
                    <a:p>
                      <a:pPr indent="0" lvl="0" marL="0" marR="0" rtl="0" algn="r">
                        <a:spcBef>
                          <a:spcPts val="0"/>
                        </a:spcBef>
                        <a:spcAft>
                          <a:spcPts val="0"/>
                        </a:spcAft>
                        <a:buNone/>
                      </a:pPr>
                      <a:r>
                        <a:rPr lang="en-IN" sz="2500"/>
                        <a:t>22,840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lang="en-IN" sz="2500">
                          <a:solidFill>
                            <a:srgbClr val="FF0000"/>
                          </a:solidFill>
                        </a:rPr>
                        <a:t>Total present value of cash inflows</a:t>
                      </a:r>
                      <a:endParaRPr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lang="en-IN" sz="2500">
                          <a:solidFill>
                            <a:srgbClr val="FF0000"/>
                          </a:solidFill>
                        </a:rPr>
                        <a:t>1,21,190</a:t>
                      </a:r>
                      <a:endParaRPr sz="25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1,18,570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lang="en-IN" sz="2500"/>
                        <a:t>Present</a:t>
                      </a:r>
                      <a:r>
                        <a:rPr lang="en-IN" sz="2500"/>
                        <a:t> value of cash outflow</a:t>
                      </a:r>
                      <a:endParaRPr sz="2500"/>
                    </a:p>
                  </a:txBody>
                  <a:tcPr marT="45725" marB="45725" marR="91450" marL="91450"/>
                </a:tc>
                <a:tc hMerge="1"/>
                <a:tc>
                  <a:txBody>
                    <a:bodyPr/>
                    <a:lstStyle/>
                    <a:p>
                      <a:pPr indent="0" lvl="0" marL="0" marR="0" rtl="0" algn="r">
                        <a:spcBef>
                          <a:spcPts val="0"/>
                        </a:spcBef>
                        <a:spcAft>
                          <a:spcPts val="0"/>
                        </a:spcAft>
                        <a:buNone/>
                      </a:pPr>
                      <a:r>
                        <a:rPr lang="en-IN" sz="2500"/>
                        <a:t>1,20,000</a:t>
                      </a:r>
                      <a:endParaRPr sz="2500"/>
                    </a:p>
                  </a:txBody>
                  <a:tcPr marT="45725" marB="45725" marR="91450" marL="91450"/>
                </a:tc>
                <a:tc>
                  <a:txBody>
                    <a:bodyPr/>
                    <a:lstStyle/>
                    <a:p>
                      <a:pPr indent="0" lvl="0" marL="0" marR="0" rtl="0" algn="ctr">
                        <a:spcBef>
                          <a:spcPts val="0"/>
                        </a:spcBef>
                        <a:spcAft>
                          <a:spcPts val="0"/>
                        </a:spcAft>
                        <a:buNone/>
                      </a:pPr>
                      <a:r>
                        <a:t/>
                      </a:r>
                      <a:endParaRPr sz="2500"/>
                    </a:p>
                  </a:txBody>
                  <a:tcPr marT="45725" marB="45725" marR="91450" marL="91450"/>
                </a:tc>
                <a:tc>
                  <a:txBody>
                    <a:bodyPr/>
                    <a:lstStyle/>
                    <a:p>
                      <a:pPr indent="0" lvl="0" marL="0" marR="0" rtl="0" algn="r">
                        <a:spcBef>
                          <a:spcPts val="0"/>
                        </a:spcBef>
                        <a:spcAft>
                          <a:spcPts val="0"/>
                        </a:spcAft>
                        <a:buNone/>
                      </a:pPr>
                      <a:r>
                        <a:rPr lang="en-IN" sz="2500"/>
                        <a:t>1,20,000</a:t>
                      </a:r>
                      <a:endParaRPr sz="25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500">
                          <a:solidFill>
                            <a:srgbClr val="FF0000"/>
                          </a:solidFill>
                        </a:rPr>
                        <a:t>1,190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500">
                          <a:solidFill>
                            <a:srgbClr val="FF0000"/>
                          </a:solidFill>
                        </a:rPr>
                        <a:t>(- 1,430)</a:t>
                      </a:r>
                      <a:endParaRPr b="1" sz="2500">
                        <a:solidFill>
                          <a:srgbClr val="FF0000"/>
                        </a:solidFill>
                      </a:endParaRPr>
                    </a:p>
                  </a:txBody>
                  <a:tcPr marT="45725" marB="45725" marR="91450" marL="91450"/>
                </a:tc>
              </a:tr>
            </a:tbl>
          </a:graphicData>
        </a:graphic>
      </p:graphicFrame>
      <p:pic>
        <p:nvPicPr>
          <p:cNvPr descr="Image result for sastra logo" id="680" name="Google Shape;680;p104"/>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05"/>
          <p:cNvSpPr txBox="1"/>
          <p:nvPr>
            <p:ph idx="1" type="body"/>
          </p:nvPr>
        </p:nvSpPr>
        <p:spPr>
          <a:xfrm>
            <a:off x="852714" y="812800"/>
            <a:ext cx="10515600" cy="517547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In IRR total present value of cash inflows should be equal to present value of cash outflow. Initial investment is Rs. 1,20,000. Hence the IRR must be in between 14% and 15%.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The exact IRR is calculated as  follows:,</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IRR =  Lower rate + [Positive NPV/Difference in calculated present value]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Difference in rate</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14% + {1,190/[Rs. 1,21,190 – Rs. 1,18,570]×[15% - 14%]}</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14% + [Rs. 1,190/Rs. 2,620] × 1%</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14% + 0.45 × 1%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 14.45%</a:t>
            </a:r>
            <a:endParaRPr sz="2600">
              <a:solidFill>
                <a:srgbClr val="FF0000"/>
              </a:solidFill>
            </a:endParaRPr>
          </a:p>
        </p:txBody>
      </p:sp>
      <p:pic>
        <p:nvPicPr>
          <p:cNvPr descr="Image result for sastra logo" id="686" name="Google Shape;686;p105"/>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06"/>
          <p:cNvSpPr txBox="1"/>
          <p:nvPr>
            <p:ph idx="1" type="body"/>
          </p:nvPr>
        </p:nvSpPr>
        <p:spPr>
          <a:xfrm>
            <a:off x="838200" y="901337"/>
            <a:ext cx="10515600" cy="527562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4. Modified Internal Rate of Returns (MIRR):</a:t>
            </a:r>
            <a:endParaRPr/>
          </a:p>
          <a:p>
            <a:pPr indent="0" lvl="0" marL="0" rtl="0" algn="just">
              <a:lnSpc>
                <a:spcPct val="90000"/>
              </a:lnSpc>
              <a:spcBef>
                <a:spcPts val="1000"/>
              </a:spcBef>
              <a:spcAft>
                <a:spcPts val="0"/>
              </a:spcAft>
              <a:buClr>
                <a:schemeClr val="dk1"/>
              </a:buClr>
              <a:buSzPts val="2600"/>
              <a:buNone/>
            </a:pPr>
            <a:r>
              <a:rPr lang="en-IN" sz="2600"/>
              <a:t> IRR assumes that interim positives cash flows are reinvested at the rate of returns as that of the project that generated them. This is usually an unrealistic scenario. </a:t>
            </a:r>
            <a:r>
              <a:rPr lang="en-IN" sz="2600">
                <a:solidFill>
                  <a:srgbClr val="FF0000"/>
                </a:solidFill>
              </a:rPr>
              <a:t>To overcome this draw back a new technique emerges. Under MIRR the earlier cash flows are reinvested at firm‘s rate of return and finding out the terminal value. MIRR is the rate at which present value of terminal values equal to outflow (Investment). </a:t>
            </a:r>
            <a:endParaRPr/>
          </a:p>
        </p:txBody>
      </p:sp>
      <p:pic>
        <p:nvPicPr>
          <p:cNvPr descr="Image result for sastra logo" id="692" name="Google Shape;692;p106"/>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07"/>
          <p:cNvSpPr txBox="1"/>
          <p:nvPr>
            <p:ph idx="1" type="body"/>
          </p:nvPr>
        </p:nvSpPr>
        <p:spPr>
          <a:xfrm>
            <a:off x="838200" y="803564"/>
            <a:ext cx="10515600" cy="529159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5. Discounted Pay Back Method: </a:t>
            </a:r>
            <a:endParaRPr b="1"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Under this method </a:t>
            </a:r>
            <a:r>
              <a:rPr lang="en-IN" sz="2600">
                <a:solidFill>
                  <a:srgbClr val="FF0000"/>
                </a:solidFill>
              </a:rPr>
              <a:t>the discounted cash inflows are calculated and where the </a:t>
            </a:r>
            <a:r>
              <a:rPr b="1" lang="en-IN" sz="2600">
                <a:solidFill>
                  <a:srgbClr val="00B050"/>
                </a:solidFill>
              </a:rPr>
              <a:t>discounted cash flows are equal to original investment </a:t>
            </a:r>
            <a:r>
              <a:rPr lang="en-IN" sz="2600">
                <a:solidFill>
                  <a:srgbClr val="FF0000"/>
                </a:solidFill>
              </a:rPr>
              <a:t>then the period which is required is called discounting payback period. </a:t>
            </a:r>
            <a:r>
              <a:rPr lang="en-IN" sz="2600"/>
              <a:t>While calculating discounting cash inflows the firm‘s cost of capital has been used.</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Formula: </a:t>
            </a:r>
            <a:endParaRPr b="1" sz="2600">
              <a:solidFill>
                <a:srgbClr val="00B05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Discounted payback period (DPP) = </a:t>
            </a:r>
            <a:r>
              <a:rPr lang="en-IN" sz="2400">
                <a:solidFill>
                  <a:srgbClr val="FF0000"/>
                </a:solidFill>
              </a:rPr>
              <a:t>Investment / Discounted Annual cash in flow</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Decision Criteria: </a:t>
            </a:r>
            <a:endParaRPr/>
          </a:p>
          <a:p>
            <a:pPr indent="0" lvl="0" marL="0" rtl="0" algn="just">
              <a:lnSpc>
                <a:spcPct val="90000"/>
              </a:lnSpc>
              <a:spcBef>
                <a:spcPts val="1000"/>
              </a:spcBef>
              <a:spcAft>
                <a:spcPts val="0"/>
              </a:spcAft>
              <a:buClr>
                <a:schemeClr val="dk1"/>
              </a:buClr>
              <a:buSzPts val="2600"/>
              <a:buNone/>
            </a:pPr>
            <a:r>
              <a:rPr lang="en-IN" sz="2600"/>
              <a:t>Out of two projects, selection should be based on the period of discounting payback period </a:t>
            </a:r>
            <a:r>
              <a:rPr lang="en-IN" sz="2600">
                <a:solidFill>
                  <a:srgbClr val="FF0000"/>
                </a:solidFill>
              </a:rPr>
              <a:t>(Lesser payback period should be preferred.) </a:t>
            </a:r>
            <a:endParaRPr/>
          </a:p>
        </p:txBody>
      </p:sp>
      <p:pic>
        <p:nvPicPr>
          <p:cNvPr descr="Image result for sastra logo" id="698" name="Google Shape;698;p107"/>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08"/>
          <p:cNvSpPr txBox="1"/>
          <p:nvPr>
            <p:ph idx="1" type="body"/>
          </p:nvPr>
        </p:nvSpPr>
        <p:spPr>
          <a:xfrm>
            <a:off x="838200" y="856342"/>
            <a:ext cx="10515600" cy="568093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P19. Project A has an initial investment of Rs. 5,00,000. It’s cash inflows for 5 years are Rs. 1,50,000, Rs. 1,80,000, Rs. 1,50,000, Rs. 1,32,000 and Rs. 1,20,000. The cost of capital is 10%. Calculate the Discounted Pay back period. </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Solution: </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Calculation of Discounted pay back period</a:t>
            </a:r>
            <a:endParaRPr/>
          </a:p>
          <a:p>
            <a:pPr indent="0" lvl="0" marL="0" rtl="0" algn="ctr">
              <a:lnSpc>
                <a:spcPct val="90000"/>
              </a:lnSpc>
              <a:spcBef>
                <a:spcPts val="1000"/>
              </a:spcBef>
              <a:spcAft>
                <a:spcPts val="0"/>
              </a:spcAft>
              <a:buClr>
                <a:schemeClr val="dk1"/>
              </a:buClr>
              <a:buSzPts val="2600"/>
              <a:buNone/>
            </a:pPr>
            <a:r>
              <a:t/>
            </a:r>
            <a:endParaRPr b="1" sz="2600">
              <a:solidFill>
                <a:srgbClr val="FF0000"/>
              </a:solidFill>
            </a:endParaRPr>
          </a:p>
        </p:txBody>
      </p:sp>
      <p:graphicFrame>
        <p:nvGraphicFramePr>
          <p:cNvPr id="704" name="Google Shape;704;p108"/>
          <p:cNvGraphicFramePr/>
          <p:nvPr/>
        </p:nvGraphicFramePr>
        <p:xfrm>
          <a:off x="838199" y="2808923"/>
          <a:ext cx="3000000" cy="3000000"/>
        </p:xfrm>
        <a:graphic>
          <a:graphicData uri="http://schemas.openxmlformats.org/drawingml/2006/table">
            <a:tbl>
              <a:tblPr bandRow="1" firstRow="1">
                <a:noFill/>
                <a:tableStyleId>{75140CFC-2FD2-45D3-AD89-D6322BEAE1F3}</a:tableStyleId>
              </a:tblPr>
              <a:tblGrid>
                <a:gridCol w="1034150"/>
                <a:gridCol w="2177150"/>
                <a:gridCol w="1349825"/>
                <a:gridCol w="2815775"/>
                <a:gridCol w="3138725"/>
              </a:tblGrid>
              <a:tr h="397925">
                <a:tc>
                  <a:txBody>
                    <a:bodyPr/>
                    <a:lstStyle/>
                    <a:p>
                      <a:pPr indent="0" lvl="0" marL="0" marR="0" rtl="0" algn="ctr">
                        <a:spcBef>
                          <a:spcPts val="0"/>
                        </a:spcBef>
                        <a:spcAft>
                          <a:spcPts val="0"/>
                        </a:spcAft>
                        <a:buNone/>
                      </a:pPr>
                      <a:r>
                        <a:rPr lang="en-IN" sz="2000"/>
                        <a:t>Year </a:t>
                      </a:r>
                      <a:endParaRPr sz="2000"/>
                    </a:p>
                  </a:txBody>
                  <a:tcPr marT="45725" marB="45725" marR="91450" marL="91450"/>
                </a:tc>
                <a:tc>
                  <a:txBody>
                    <a:bodyPr/>
                    <a:lstStyle/>
                    <a:p>
                      <a:pPr indent="0" lvl="0" marL="0" marR="0" rtl="0" algn="ctr">
                        <a:spcBef>
                          <a:spcPts val="0"/>
                        </a:spcBef>
                        <a:spcAft>
                          <a:spcPts val="0"/>
                        </a:spcAft>
                        <a:buNone/>
                      </a:pPr>
                      <a:r>
                        <a:rPr lang="en-IN" sz="2000"/>
                        <a:t>Cash inflow</a:t>
                      </a:r>
                      <a:endParaRPr/>
                    </a:p>
                    <a:p>
                      <a:pPr indent="0" lvl="0" marL="0" marR="0" rtl="0" algn="ctr">
                        <a:spcBef>
                          <a:spcPts val="0"/>
                        </a:spcBef>
                        <a:spcAft>
                          <a:spcPts val="0"/>
                        </a:spcAft>
                        <a:buNone/>
                      </a:pPr>
                      <a:r>
                        <a:rPr lang="en-IN" sz="2000"/>
                        <a:t>Rs.</a:t>
                      </a:r>
                      <a:endParaRPr sz="2000"/>
                    </a:p>
                  </a:txBody>
                  <a:tcPr marT="45725" marB="45725" marR="91450" marL="91450"/>
                </a:tc>
                <a:tc>
                  <a:txBody>
                    <a:bodyPr/>
                    <a:lstStyle/>
                    <a:p>
                      <a:pPr indent="0" lvl="0" marL="0" marR="0" rtl="0" algn="ctr">
                        <a:spcBef>
                          <a:spcPts val="0"/>
                        </a:spcBef>
                        <a:spcAft>
                          <a:spcPts val="0"/>
                        </a:spcAft>
                        <a:buNone/>
                      </a:pPr>
                      <a:r>
                        <a:rPr lang="en-IN" sz="2000"/>
                        <a:t>PV factor</a:t>
                      </a:r>
                      <a:r>
                        <a:rPr lang="en-IN" sz="2000"/>
                        <a:t> @10% </a:t>
                      </a:r>
                      <a:endParaRPr sz="2000"/>
                    </a:p>
                  </a:txBody>
                  <a:tcPr marT="45725" marB="45725" marR="91450" marL="91450"/>
                </a:tc>
                <a:tc>
                  <a:txBody>
                    <a:bodyPr/>
                    <a:lstStyle/>
                    <a:p>
                      <a:pPr indent="0" lvl="0" marL="0" marR="0" rtl="0" algn="ctr">
                        <a:spcBef>
                          <a:spcPts val="0"/>
                        </a:spcBef>
                        <a:spcAft>
                          <a:spcPts val="0"/>
                        </a:spcAft>
                        <a:buNone/>
                      </a:pPr>
                      <a:r>
                        <a:rPr lang="en-IN" sz="2000"/>
                        <a:t>Present value of cash inflow</a:t>
                      </a:r>
                      <a:endParaRPr/>
                    </a:p>
                    <a:p>
                      <a:pPr indent="0" lvl="0" marL="0" marR="0" rtl="0" algn="ctr">
                        <a:spcBef>
                          <a:spcPts val="0"/>
                        </a:spcBef>
                        <a:spcAft>
                          <a:spcPts val="0"/>
                        </a:spcAft>
                        <a:buNone/>
                      </a:pPr>
                      <a:r>
                        <a:rPr lang="en-IN" sz="2000"/>
                        <a:t>Rs.</a:t>
                      </a:r>
                      <a:endParaRPr sz="2000"/>
                    </a:p>
                  </a:txBody>
                  <a:tcPr marT="45725" marB="45725" marR="91450" marL="91450"/>
                </a:tc>
                <a:tc>
                  <a:txBody>
                    <a:bodyPr/>
                    <a:lstStyle/>
                    <a:p>
                      <a:pPr indent="0" lvl="0" marL="0" marR="0" rtl="0" algn="ctr">
                        <a:spcBef>
                          <a:spcPts val="0"/>
                        </a:spcBef>
                        <a:spcAft>
                          <a:spcPts val="0"/>
                        </a:spcAft>
                        <a:buNone/>
                      </a:pPr>
                      <a:r>
                        <a:rPr lang="en-IN" sz="2000"/>
                        <a:t>Cumulative present value of cash inflows</a:t>
                      </a:r>
                      <a:endParaRPr/>
                    </a:p>
                    <a:p>
                      <a:pPr indent="0" lvl="0" marL="0" marR="0" rtl="0" algn="ct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1,50,000</a:t>
                      </a:r>
                      <a:endParaRPr sz="2500"/>
                    </a:p>
                  </a:txBody>
                  <a:tcPr marT="45725" marB="45725" marR="91450" marL="91450"/>
                </a:tc>
                <a:tc>
                  <a:txBody>
                    <a:bodyPr/>
                    <a:lstStyle/>
                    <a:p>
                      <a:pPr indent="0" lvl="0" marL="0" marR="0" rtl="0" algn="ctr">
                        <a:spcBef>
                          <a:spcPts val="0"/>
                        </a:spcBef>
                        <a:spcAft>
                          <a:spcPts val="0"/>
                        </a:spcAft>
                        <a:buNone/>
                      </a:pPr>
                      <a:r>
                        <a:rPr lang="en-IN" sz="2500"/>
                        <a:t>0.909 </a:t>
                      </a:r>
                      <a:endParaRPr sz="2500"/>
                    </a:p>
                  </a:txBody>
                  <a:tcPr marT="45725" marB="45725" marR="91450" marL="91450"/>
                </a:tc>
                <a:tc>
                  <a:txBody>
                    <a:bodyPr/>
                    <a:lstStyle/>
                    <a:p>
                      <a:pPr indent="0" lvl="0" marL="0" marR="0" rtl="0" algn="ctr">
                        <a:spcBef>
                          <a:spcPts val="0"/>
                        </a:spcBef>
                        <a:spcAft>
                          <a:spcPts val="0"/>
                        </a:spcAft>
                        <a:buNone/>
                      </a:pPr>
                      <a:r>
                        <a:rPr lang="en-IN" sz="2500"/>
                        <a:t>1,36,350</a:t>
                      </a:r>
                      <a:endParaRPr sz="2500"/>
                    </a:p>
                  </a:txBody>
                  <a:tcPr marT="45725" marB="45725" marR="91450" marL="91450"/>
                </a:tc>
                <a:tc>
                  <a:txBody>
                    <a:bodyPr/>
                    <a:lstStyle/>
                    <a:p>
                      <a:pPr indent="0" lvl="0" marL="0" marR="0" rtl="0" algn="ctr">
                        <a:spcBef>
                          <a:spcPts val="0"/>
                        </a:spcBef>
                        <a:spcAft>
                          <a:spcPts val="0"/>
                        </a:spcAft>
                        <a:buNone/>
                      </a:pPr>
                      <a:r>
                        <a:rPr lang="en-IN" sz="2500"/>
                        <a:t>1,36,350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1,80,000</a:t>
                      </a:r>
                      <a:endParaRPr sz="2500"/>
                    </a:p>
                  </a:txBody>
                  <a:tcPr marT="45725" marB="45725" marR="91450" marL="91450"/>
                </a:tc>
                <a:tc>
                  <a:txBody>
                    <a:bodyPr/>
                    <a:lstStyle/>
                    <a:p>
                      <a:pPr indent="0" lvl="0" marL="0" marR="0" rtl="0" algn="ctr">
                        <a:spcBef>
                          <a:spcPts val="0"/>
                        </a:spcBef>
                        <a:spcAft>
                          <a:spcPts val="0"/>
                        </a:spcAft>
                        <a:buNone/>
                      </a:pPr>
                      <a:r>
                        <a:rPr lang="en-IN" sz="2500"/>
                        <a:t>0.826 </a:t>
                      </a:r>
                      <a:endParaRPr sz="2500"/>
                    </a:p>
                  </a:txBody>
                  <a:tcPr marT="45725" marB="45725" marR="91450" marL="91450"/>
                </a:tc>
                <a:tc>
                  <a:txBody>
                    <a:bodyPr/>
                    <a:lstStyle/>
                    <a:p>
                      <a:pPr indent="0" lvl="0" marL="0" marR="0" rtl="0" algn="ctr">
                        <a:spcBef>
                          <a:spcPts val="0"/>
                        </a:spcBef>
                        <a:spcAft>
                          <a:spcPts val="0"/>
                        </a:spcAft>
                        <a:buNone/>
                      </a:pPr>
                      <a:r>
                        <a:rPr lang="en-IN" sz="2500"/>
                        <a:t>1,48,680</a:t>
                      </a:r>
                      <a:endParaRPr sz="2500"/>
                    </a:p>
                  </a:txBody>
                  <a:tcPr marT="45725" marB="45725" marR="91450" marL="91450"/>
                </a:tc>
                <a:tc>
                  <a:txBody>
                    <a:bodyPr/>
                    <a:lstStyle/>
                    <a:p>
                      <a:pPr indent="0" lvl="0" marL="0" marR="0" rtl="0" algn="ctr">
                        <a:spcBef>
                          <a:spcPts val="0"/>
                        </a:spcBef>
                        <a:spcAft>
                          <a:spcPts val="0"/>
                        </a:spcAft>
                        <a:buNone/>
                      </a:pPr>
                      <a:r>
                        <a:rPr lang="en-IN" sz="2500"/>
                        <a:t>2,85,030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1,50,000</a:t>
                      </a:r>
                      <a:endParaRPr sz="2500"/>
                    </a:p>
                  </a:txBody>
                  <a:tcPr marT="45725" marB="45725" marR="91450" marL="91450"/>
                </a:tc>
                <a:tc>
                  <a:txBody>
                    <a:bodyPr/>
                    <a:lstStyle/>
                    <a:p>
                      <a:pPr indent="0" lvl="0" marL="0" marR="0" rtl="0" algn="ctr">
                        <a:spcBef>
                          <a:spcPts val="0"/>
                        </a:spcBef>
                        <a:spcAft>
                          <a:spcPts val="0"/>
                        </a:spcAft>
                        <a:buNone/>
                      </a:pPr>
                      <a:r>
                        <a:rPr lang="en-IN" sz="2500"/>
                        <a:t> 0.751 </a:t>
                      </a:r>
                      <a:endParaRPr sz="2500"/>
                    </a:p>
                  </a:txBody>
                  <a:tcPr marT="45725" marB="45725" marR="91450" marL="91450"/>
                </a:tc>
                <a:tc>
                  <a:txBody>
                    <a:bodyPr/>
                    <a:lstStyle/>
                    <a:p>
                      <a:pPr indent="0" lvl="0" marL="0" marR="0" rtl="0" algn="ctr">
                        <a:spcBef>
                          <a:spcPts val="0"/>
                        </a:spcBef>
                        <a:spcAft>
                          <a:spcPts val="0"/>
                        </a:spcAft>
                        <a:buNone/>
                      </a:pPr>
                      <a:r>
                        <a:rPr lang="en-IN" sz="2500"/>
                        <a:t>1,12,650</a:t>
                      </a:r>
                      <a:endParaRPr sz="2500"/>
                    </a:p>
                  </a:txBody>
                  <a:tcPr marT="45725" marB="45725" marR="91450" marL="91450"/>
                </a:tc>
                <a:tc>
                  <a:txBody>
                    <a:bodyPr/>
                    <a:lstStyle/>
                    <a:p>
                      <a:pPr indent="0" lvl="0" marL="0" marR="0" rtl="0" algn="ctr">
                        <a:spcBef>
                          <a:spcPts val="0"/>
                        </a:spcBef>
                        <a:spcAft>
                          <a:spcPts val="0"/>
                        </a:spcAft>
                        <a:buNone/>
                      </a:pPr>
                      <a:r>
                        <a:rPr lang="en-IN" sz="2500"/>
                        <a:t>3,97,680</a:t>
                      </a:r>
                      <a:endParaRPr sz="2500"/>
                    </a:p>
                  </a:txBody>
                  <a:tcPr marT="45725" marB="45725" marR="91450" marL="91450"/>
                </a:tc>
              </a:tr>
              <a:tr h="370850">
                <a:tc>
                  <a:txBody>
                    <a:bodyPr/>
                    <a:lstStyle/>
                    <a:p>
                      <a:pPr indent="0" lvl="0" marL="0" marR="0" rtl="0" algn="ctr">
                        <a:spcBef>
                          <a:spcPts val="0"/>
                        </a:spcBef>
                        <a:spcAft>
                          <a:spcPts val="0"/>
                        </a:spcAft>
                        <a:buNone/>
                      </a:pPr>
                      <a:r>
                        <a:rPr b="1" lang="en-IN" sz="2500">
                          <a:solidFill>
                            <a:srgbClr val="FF0000"/>
                          </a:solidFill>
                        </a:rPr>
                        <a:t>4.</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1,32,000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 0.683</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90,156</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4,87,836</a:t>
                      </a:r>
                      <a:endParaRPr b="1"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1,20,000</a:t>
                      </a:r>
                      <a:endParaRPr sz="2500"/>
                    </a:p>
                  </a:txBody>
                  <a:tcPr marT="45725" marB="45725" marR="91450" marL="91450"/>
                </a:tc>
                <a:tc>
                  <a:txBody>
                    <a:bodyPr/>
                    <a:lstStyle/>
                    <a:p>
                      <a:pPr indent="0" lvl="0" marL="0" marR="0" rtl="0" algn="ctr">
                        <a:spcBef>
                          <a:spcPts val="0"/>
                        </a:spcBef>
                        <a:spcAft>
                          <a:spcPts val="0"/>
                        </a:spcAft>
                        <a:buNone/>
                      </a:pPr>
                      <a:r>
                        <a:rPr lang="en-IN" sz="2500"/>
                        <a:t>0.621 </a:t>
                      </a:r>
                      <a:endParaRPr sz="2500"/>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74,520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500"/>
                        <a:t>5,62356</a:t>
                      </a:r>
                      <a:endParaRPr sz="2500"/>
                    </a:p>
                  </a:txBody>
                  <a:tcPr marT="45725" marB="45725" marR="91450" marL="91450"/>
                </a:tc>
              </a:tr>
            </a:tbl>
          </a:graphicData>
        </a:graphic>
      </p:graphicFrame>
      <p:cxnSp>
        <p:nvCxnSpPr>
          <p:cNvPr id="705" name="Google Shape;705;p108"/>
          <p:cNvCxnSpPr/>
          <p:nvPr/>
        </p:nvCxnSpPr>
        <p:spPr>
          <a:xfrm flipH="1" rot="10800000">
            <a:off x="7239000" y="5704119"/>
            <a:ext cx="1992086" cy="472844"/>
          </a:xfrm>
          <a:prstGeom prst="straightConnector1">
            <a:avLst/>
          </a:prstGeom>
          <a:noFill/>
          <a:ln cap="flat" cmpd="sng" w="9525">
            <a:solidFill>
              <a:schemeClr val="accent1"/>
            </a:solidFill>
            <a:prstDash val="solid"/>
            <a:miter lim="800000"/>
            <a:headEnd len="sm" w="sm" type="none"/>
            <a:tailEnd len="sm" w="sm" type="none"/>
          </a:ln>
        </p:spPr>
      </p:cxnSp>
      <p:pic>
        <p:nvPicPr>
          <p:cNvPr descr="Image result for sastra logo" id="706" name="Google Shape;706;p108"/>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9"/>
          <p:cNvSpPr txBox="1"/>
          <p:nvPr>
            <p:ph idx="1" type="body"/>
          </p:nvPr>
        </p:nvSpPr>
        <p:spPr>
          <a:xfrm>
            <a:off x="838200" y="899886"/>
            <a:ext cx="10515600" cy="52770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Pay back period = 4 years + {[Rs. 12,164/Rs.74,520 ] × 12}</a:t>
            </a:r>
            <a:endParaRPr sz="2600"/>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4 years + 2 months </a:t>
            </a:r>
            <a:r>
              <a:rPr lang="en-IN" sz="2600"/>
              <a:t>or </a:t>
            </a:r>
            <a:endParaRPr sz="2600"/>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4 years and 61 days </a:t>
            </a:r>
            <a:endParaRPr sz="2600">
              <a:solidFill>
                <a:srgbClr val="FF0000"/>
              </a:solidFill>
            </a:endParaRPr>
          </a:p>
          <a:p>
            <a:pPr indent="0" lvl="0" marL="0" rtl="0" algn="l">
              <a:lnSpc>
                <a:spcPct val="90000"/>
              </a:lnSpc>
              <a:spcBef>
                <a:spcPts val="1000"/>
              </a:spcBef>
              <a:spcAft>
                <a:spcPts val="0"/>
              </a:spcAft>
              <a:buClr>
                <a:schemeClr val="dk1"/>
              </a:buClr>
              <a:buSzPts val="2600"/>
              <a:buNone/>
            </a:pPr>
            <a:r>
              <a:t/>
            </a:r>
            <a:endParaRPr sz="2600"/>
          </a:p>
        </p:txBody>
      </p:sp>
      <p:pic>
        <p:nvPicPr>
          <p:cNvPr descr="Image result for sastra logo" id="712" name="Google Shape;712;p109"/>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10"/>
          <p:cNvSpPr txBox="1"/>
          <p:nvPr>
            <p:ph idx="1" type="body"/>
          </p:nvPr>
        </p:nvSpPr>
        <p:spPr>
          <a:xfrm>
            <a:off x="838200" y="701808"/>
            <a:ext cx="10515600" cy="50883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Summary of Decision Criteria of Capital Budgeting Techniques: </a:t>
            </a:r>
            <a:endParaRPr/>
          </a:p>
          <a:p>
            <a:pPr indent="0" lvl="0" marL="0" rtl="0" algn="l">
              <a:lnSpc>
                <a:spcPct val="90000"/>
              </a:lnSpc>
              <a:spcBef>
                <a:spcPts val="1000"/>
              </a:spcBef>
              <a:spcAft>
                <a:spcPts val="0"/>
              </a:spcAft>
              <a:buClr>
                <a:schemeClr val="dk1"/>
              </a:buClr>
              <a:buSzPts val="2600"/>
              <a:buNone/>
            </a:pPr>
            <a:r>
              <a:t/>
            </a:r>
            <a:endParaRPr b="1" sz="2600">
              <a:solidFill>
                <a:srgbClr val="FF0000"/>
              </a:solidFill>
            </a:endParaRPr>
          </a:p>
        </p:txBody>
      </p:sp>
      <p:pic>
        <p:nvPicPr>
          <p:cNvPr id="718" name="Google Shape;718;p110"/>
          <p:cNvPicPr preferRelativeResize="0"/>
          <p:nvPr/>
        </p:nvPicPr>
        <p:blipFill rotWithShape="1">
          <a:blip r:embed="rId3">
            <a:alphaModFix/>
          </a:blip>
          <a:srcRect b="30008" l="30813" r="32263" t="32292"/>
          <a:stretch/>
        </p:blipFill>
        <p:spPr>
          <a:xfrm>
            <a:off x="838200" y="1059623"/>
            <a:ext cx="10515600" cy="5586837"/>
          </a:xfrm>
          <a:prstGeom prst="rect">
            <a:avLst/>
          </a:prstGeom>
          <a:noFill/>
          <a:ln>
            <a:noFill/>
          </a:ln>
        </p:spPr>
      </p:pic>
      <p:pic>
        <p:nvPicPr>
          <p:cNvPr descr="Image result for sastra logo" id="719" name="Google Shape;719;p110"/>
          <p:cNvPicPr preferRelativeResize="0"/>
          <p:nvPr/>
        </p:nvPicPr>
        <p:blipFill rotWithShape="1">
          <a:blip r:embed="rId4">
            <a:alphaModFix/>
          </a:blip>
          <a:srcRect b="0" l="0" r="0" t="0"/>
          <a:stretch/>
        </p:blipFill>
        <p:spPr>
          <a:xfrm>
            <a:off x="9537700" y="144596"/>
            <a:ext cx="1816100" cy="557212"/>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111"/>
          <p:cNvPicPr preferRelativeResize="0"/>
          <p:nvPr>
            <p:ph idx="1" type="body"/>
          </p:nvPr>
        </p:nvPicPr>
        <p:blipFill rotWithShape="1">
          <a:blip r:embed="rId3">
            <a:alphaModFix/>
          </a:blip>
          <a:srcRect b="29344" l="30806" r="31934" t="30322"/>
          <a:stretch/>
        </p:blipFill>
        <p:spPr>
          <a:xfrm>
            <a:off x="1037230" y="803564"/>
            <a:ext cx="10316570" cy="573371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descr="Image result for sastra logo" id="725" name="Google Shape;725;p111"/>
          <p:cNvPicPr preferRelativeResize="0"/>
          <p:nvPr/>
        </p:nvPicPr>
        <p:blipFill rotWithShape="1">
          <a:blip r:embed="rId4">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12"/>
          <p:cNvSpPr txBox="1"/>
          <p:nvPr>
            <p:ph idx="1" type="body"/>
          </p:nvPr>
        </p:nvSpPr>
        <p:spPr>
          <a:xfrm>
            <a:off x="838200" y="885371"/>
            <a:ext cx="10515600" cy="5573486"/>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Comprehensive Problem:</a:t>
            </a:r>
            <a:endParaRPr/>
          </a:p>
          <a:p>
            <a:pPr indent="0" lvl="0" marL="0" rtl="0" algn="just">
              <a:lnSpc>
                <a:spcPct val="90000"/>
              </a:lnSpc>
              <a:spcBef>
                <a:spcPts val="1000"/>
              </a:spcBef>
              <a:spcAft>
                <a:spcPts val="0"/>
              </a:spcAft>
              <a:buClr>
                <a:schemeClr val="dk1"/>
              </a:buClr>
              <a:buSzPts val="2600"/>
              <a:buNone/>
            </a:pPr>
            <a:r>
              <a:rPr lang="en-IN" sz="2600"/>
              <a:t>P20. X ltd. is considering investing in a project requiring a capital outlay of Rs. 8,00,000. Forecast the annual net income after depreciation before tax are as follows: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Depreciation may be taken as 20% on original investment and taxation at 50%  of net income.</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731" name="Google Shape;731;p112"/>
          <p:cNvGraphicFramePr/>
          <p:nvPr/>
        </p:nvGraphicFramePr>
        <p:xfrm>
          <a:off x="838200" y="2331924"/>
          <a:ext cx="3000000" cy="3000000"/>
        </p:xfrm>
        <a:graphic>
          <a:graphicData uri="http://schemas.openxmlformats.org/drawingml/2006/table">
            <a:tbl>
              <a:tblPr bandRow="1" firstRow="1">
                <a:noFill/>
                <a:tableStyleId>{75140CFC-2FD2-45D3-AD89-D6322BEAE1F3}</a:tableStyleId>
              </a:tblPr>
              <a:tblGrid>
                <a:gridCol w="1092200"/>
                <a:gridCol w="9423400"/>
              </a:tblGrid>
              <a:tr h="754750">
                <a:tc>
                  <a:txBody>
                    <a:bodyPr/>
                    <a:lstStyle/>
                    <a:p>
                      <a:pPr indent="0" lvl="0" marL="0" marR="0" rtl="0" algn="ctr">
                        <a:spcBef>
                          <a:spcPts val="0"/>
                        </a:spcBef>
                        <a:spcAft>
                          <a:spcPts val="0"/>
                        </a:spcAft>
                        <a:buNone/>
                      </a:pPr>
                      <a:r>
                        <a:rPr lang="en-IN" sz="2200"/>
                        <a:t>Year </a:t>
                      </a:r>
                      <a:endParaRPr sz="2200"/>
                    </a:p>
                  </a:txBody>
                  <a:tcPr marT="45725" marB="45725" marR="91450" marL="91450"/>
                </a:tc>
                <a:tc>
                  <a:txBody>
                    <a:bodyPr/>
                    <a:lstStyle/>
                    <a:p>
                      <a:pPr indent="0" lvl="0" marL="0" marR="0" rtl="0" algn="ctr">
                        <a:spcBef>
                          <a:spcPts val="0"/>
                        </a:spcBef>
                        <a:spcAft>
                          <a:spcPts val="0"/>
                        </a:spcAft>
                        <a:buNone/>
                      </a:pPr>
                      <a:r>
                        <a:rPr lang="en-IN" sz="2200"/>
                        <a:t>Annual net income after depreciation before tax</a:t>
                      </a:r>
                      <a:endParaRPr/>
                    </a:p>
                    <a:p>
                      <a:pPr indent="0" lvl="0" marL="0" marR="0" rtl="0" algn="ctr">
                        <a:spcBef>
                          <a:spcPts val="0"/>
                        </a:spcBef>
                        <a:spcAft>
                          <a:spcPts val="0"/>
                        </a:spcAft>
                        <a:buNone/>
                      </a:pPr>
                      <a:r>
                        <a:rPr lang="en-IN" sz="2200"/>
                        <a:t>Rs.  </a:t>
                      </a:r>
                      <a:endParaRPr sz="22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4,00,000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4,00,000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3,20,000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3,20,000</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r>
            </a:tbl>
          </a:graphicData>
        </a:graphic>
      </p:graphicFrame>
      <p:pic>
        <p:nvPicPr>
          <p:cNvPr descr="Image result for sastra logo" id="732" name="Google Shape;732;p11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13"/>
          <p:cNvSpPr txBox="1"/>
          <p:nvPr>
            <p:ph idx="1" type="body"/>
          </p:nvPr>
        </p:nvSpPr>
        <p:spPr>
          <a:xfrm>
            <a:off x="794657" y="838654"/>
            <a:ext cx="10515600" cy="495254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You are required to evaluate the project according to each of the following methods:</a:t>
            </a:r>
            <a:endParaRPr/>
          </a:p>
          <a:p>
            <a:pPr indent="-514350" lvl="0" marL="514350" rtl="0" algn="just">
              <a:lnSpc>
                <a:spcPct val="90000"/>
              </a:lnSpc>
              <a:spcBef>
                <a:spcPts val="1000"/>
              </a:spcBef>
              <a:spcAft>
                <a:spcPts val="0"/>
              </a:spcAft>
              <a:buClr>
                <a:schemeClr val="dk1"/>
              </a:buClr>
              <a:buSzPts val="2600"/>
              <a:buAutoNum type="alphaLcParenR"/>
            </a:pPr>
            <a:r>
              <a:rPr lang="en-IN" sz="2600"/>
              <a:t>Payback period method,</a:t>
            </a:r>
            <a:endParaRPr/>
          </a:p>
          <a:p>
            <a:pPr indent="-514350" lvl="0" marL="514350" rtl="0" algn="just">
              <a:lnSpc>
                <a:spcPct val="90000"/>
              </a:lnSpc>
              <a:spcBef>
                <a:spcPts val="1000"/>
              </a:spcBef>
              <a:spcAft>
                <a:spcPts val="0"/>
              </a:spcAft>
              <a:buClr>
                <a:schemeClr val="dk1"/>
              </a:buClr>
              <a:buSzPts val="2600"/>
              <a:buAutoNum type="alphaLcParenR"/>
            </a:pPr>
            <a:r>
              <a:rPr lang="en-IN" sz="2600"/>
              <a:t>Return on original investment method,</a:t>
            </a:r>
            <a:endParaRPr/>
          </a:p>
          <a:p>
            <a:pPr indent="-514350" lvl="0" marL="514350" rtl="0" algn="just">
              <a:lnSpc>
                <a:spcPct val="90000"/>
              </a:lnSpc>
              <a:spcBef>
                <a:spcPts val="1000"/>
              </a:spcBef>
              <a:spcAft>
                <a:spcPts val="0"/>
              </a:spcAft>
              <a:buClr>
                <a:schemeClr val="dk1"/>
              </a:buClr>
              <a:buSzPts val="2600"/>
              <a:buAutoNum type="alphaLcParenR"/>
            </a:pPr>
            <a:r>
              <a:rPr lang="en-IN" sz="2600"/>
              <a:t>Return on average investment method,</a:t>
            </a:r>
            <a:endParaRPr/>
          </a:p>
          <a:p>
            <a:pPr indent="-514350" lvl="0" marL="514350" rtl="0" algn="just">
              <a:lnSpc>
                <a:spcPct val="90000"/>
              </a:lnSpc>
              <a:spcBef>
                <a:spcPts val="1000"/>
              </a:spcBef>
              <a:spcAft>
                <a:spcPts val="0"/>
              </a:spcAft>
              <a:buClr>
                <a:schemeClr val="dk1"/>
              </a:buClr>
              <a:buSzPts val="2600"/>
              <a:buAutoNum type="alphaLcParenR"/>
            </a:pPr>
            <a:r>
              <a:rPr lang="en-IN" sz="2600"/>
              <a:t>NPV method @10%,</a:t>
            </a:r>
            <a:endParaRPr/>
          </a:p>
          <a:p>
            <a:pPr indent="-514350" lvl="0" marL="514350" rtl="0" algn="just">
              <a:lnSpc>
                <a:spcPct val="90000"/>
              </a:lnSpc>
              <a:spcBef>
                <a:spcPts val="1000"/>
              </a:spcBef>
              <a:spcAft>
                <a:spcPts val="0"/>
              </a:spcAft>
              <a:buClr>
                <a:schemeClr val="dk1"/>
              </a:buClr>
              <a:buSzPts val="2600"/>
              <a:buAutoNum type="alphaLcParenR"/>
            </a:pPr>
            <a:r>
              <a:rPr lang="en-IN" sz="2600"/>
              <a:t>PI method,</a:t>
            </a:r>
            <a:endParaRPr/>
          </a:p>
          <a:p>
            <a:pPr indent="-514350" lvl="0" marL="514350" rtl="0" algn="just">
              <a:lnSpc>
                <a:spcPct val="90000"/>
              </a:lnSpc>
              <a:spcBef>
                <a:spcPts val="1000"/>
              </a:spcBef>
              <a:spcAft>
                <a:spcPts val="0"/>
              </a:spcAft>
              <a:buClr>
                <a:schemeClr val="dk1"/>
              </a:buClr>
              <a:buSzPts val="2600"/>
              <a:buAutoNum type="alphaLcParenR"/>
            </a:pPr>
            <a:r>
              <a:rPr lang="en-IN" sz="2600"/>
              <a:t>IRR method.</a:t>
            </a:r>
            <a:endParaRPr sz="2600"/>
          </a:p>
        </p:txBody>
      </p:sp>
      <p:pic>
        <p:nvPicPr>
          <p:cNvPr descr="Image result for sastra logo" id="738" name="Google Shape;738;p113"/>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14"/>
          <p:cNvSpPr txBox="1"/>
          <p:nvPr>
            <p:ph idx="1" type="body"/>
          </p:nvPr>
        </p:nvSpPr>
        <p:spPr>
          <a:xfrm>
            <a:off x="838200" y="827314"/>
            <a:ext cx="10515600" cy="534964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500"/>
              <a:buNone/>
            </a:pPr>
            <a:r>
              <a:rPr b="1" lang="en-IN" sz="2500">
                <a:solidFill>
                  <a:srgbClr val="FF0000"/>
                </a:solidFill>
              </a:rPr>
              <a:t>Solution:</a:t>
            </a:r>
            <a:endParaRPr/>
          </a:p>
          <a:p>
            <a:pPr indent="-514350" lvl="0" marL="514350" rtl="0" algn="l">
              <a:lnSpc>
                <a:spcPct val="90000"/>
              </a:lnSpc>
              <a:spcBef>
                <a:spcPts val="1000"/>
              </a:spcBef>
              <a:spcAft>
                <a:spcPts val="0"/>
              </a:spcAft>
              <a:buClr>
                <a:srgbClr val="FF0000"/>
              </a:buClr>
              <a:buSzPts val="2500"/>
              <a:buAutoNum type="alphaLcParenR"/>
            </a:pPr>
            <a:r>
              <a:rPr b="1" lang="en-IN" sz="2500">
                <a:solidFill>
                  <a:srgbClr val="FF0000"/>
                </a:solidFill>
              </a:rPr>
              <a:t>Payback period method:</a:t>
            </a:r>
            <a:endParaRPr/>
          </a:p>
          <a:p>
            <a:pPr indent="0" lvl="0" marL="0" rtl="0" algn="ctr">
              <a:lnSpc>
                <a:spcPct val="90000"/>
              </a:lnSpc>
              <a:spcBef>
                <a:spcPts val="1000"/>
              </a:spcBef>
              <a:spcAft>
                <a:spcPts val="0"/>
              </a:spcAft>
              <a:buClr>
                <a:srgbClr val="FF0000"/>
              </a:buClr>
              <a:buSzPts val="2500"/>
              <a:buNone/>
            </a:pPr>
            <a:r>
              <a:rPr b="1" lang="en-IN" sz="2500">
                <a:solidFill>
                  <a:srgbClr val="FF0000"/>
                </a:solidFill>
              </a:rPr>
              <a:t>Statement showing Cumulative cash inflow</a:t>
            </a:r>
            <a:endParaRPr/>
          </a:p>
          <a:p>
            <a:pPr indent="0" lvl="0" marL="0" rtl="0" algn="ctr">
              <a:lnSpc>
                <a:spcPct val="90000"/>
              </a:lnSpc>
              <a:spcBef>
                <a:spcPts val="1000"/>
              </a:spcBef>
              <a:spcAft>
                <a:spcPts val="0"/>
              </a:spcAft>
              <a:buClr>
                <a:schemeClr val="dk1"/>
              </a:buClr>
              <a:buSzPts val="2500"/>
              <a:buNone/>
            </a:pPr>
            <a:r>
              <a:t/>
            </a:r>
            <a:endParaRPr b="1"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l">
              <a:lnSpc>
                <a:spcPct val="90000"/>
              </a:lnSpc>
              <a:spcBef>
                <a:spcPts val="1000"/>
              </a:spcBef>
              <a:spcAft>
                <a:spcPts val="0"/>
              </a:spcAft>
              <a:buClr>
                <a:srgbClr val="FF0000"/>
              </a:buClr>
              <a:buSzPts val="2500"/>
              <a:buNone/>
            </a:pPr>
            <a:r>
              <a:rPr b="1" lang="en-IN" sz="2500">
                <a:solidFill>
                  <a:srgbClr val="FF0000"/>
                </a:solidFill>
              </a:rPr>
              <a:t>Note: Depreciation = 8,00,000/5 Years = 1,60,000</a:t>
            </a:r>
            <a:endParaRPr/>
          </a:p>
          <a:p>
            <a:pPr indent="0" lvl="0" marL="0" rtl="0" algn="ctr">
              <a:lnSpc>
                <a:spcPct val="90000"/>
              </a:lnSpc>
              <a:spcBef>
                <a:spcPts val="1000"/>
              </a:spcBef>
              <a:spcAft>
                <a:spcPts val="0"/>
              </a:spcAft>
              <a:buClr>
                <a:schemeClr val="dk1"/>
              </a:buClr>
              <a:buSzPts val="2500"/>
              <a:buNone/>
            </a:pPr>
            <a:r>
              <a:t/>
            </a:r>
            <a:endParaRPr sz="2500"/>
          </a:p>
        </p:txBody>
      </p:sp>
      <p:graphicFrame>
        <p:nvGraphicFramePr>
          <p:cNvPr id="744" name="Google Shape;744;p114"/>
          <p:cNvGraphicFramePr/>
          <p:nvPr/>
        </p:nvGraphicFramePr>
        <p:xfrm>
          <a:off x="838204" y="2330752"/>
          <a:ext cx="3000000" cy="3000000"/>
        </p:xfrm>
        <a:graphic>
          <a:graphicData uri="http://schemas.openxmlformats.org/drawingml/2006/table">
            <a:tbl>
              <a:tblPr bandRow="1" firstRow="1">
                <a:noFill/>
                <a:tableStyleId>{75140CFC-2FD2-45D3-AD89-D6322BEAE1F3}</a:tableStyleId>
              </a:tblPr>
              <a:tblGrid>
                <a:gridCol w="685800"/>
                <a:gridCol w="1915875"/>
                <a:gridCol w="1741725"/>
                <a:gridCol w="1393375"/>
                <a:gridCol w="1393375"/>
                <a:gridCol w="1465950"/>
                <a:gridCol w="1919525"/>
              </a:tblGrid>
              <a:tr h="370850">
                <a:tc>
                  <a:txBody>
                    <a:bodyPr/>
                    <a:lstStyle/>
                    <a:p>
                      <a:pPr indent="0" lvl="0" marL="0" marR="0" rtl="0" algn="l">
                        <a:spcBef>
                          <a:spcPts val="0"/>
                        </a:spcBef>
                        <a:spcAft>
                          <a:spcPts val="0"/>
                        </a:spcAft>
                        <a:buNone/>
                      </a:pPr>
                      <a:r>
                        <a:rPr lang="en-IN" sz="1800"/>
                        <a:t>Year</a:t>
                      </a:r>
                      <a:endParaRPr sz="1800"/>
                    </a:p>
                  </a:txBody>
                  <a:tcPr marT="45725" marB="45725" marR="91450" marL="91450"/>
                </a:tc>
                <a:tc>
                  <a:txBody>
                    <a:bodyPr/>
                    <a:lstStyle/>
                    <a:p>
                      <a:pPr indent="0" lvl="0" marL="0" marR="0" rtl="0" algn="ctr">
                        <a:spcBef>
                          <a:spcPts val="0"/>
                        </a:spcBef>
                        <a:spcAft>
                          <a:spcPts val="0"/>
                        </a:spcAft>
                        <a:buNone/>
                      </a:pPr>
                      <a:r>
                        <a:rPr lang="en-IN" sz="1800"/>
                        <a:t>Profit</a:t>
                      </a:r>
                      <a:r>
                        <a:rPr lang="en-IN" sz="1800"/>
                        <a:t> before tax</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Less:</a:t>
                      </a:r>
                      <a:r>
                        <a:rPr lang="en-IN" sz="1800"/>
                        <a:t> Tax @50%</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PAT</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Add: Dep</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CFAT</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Cumulative CFAT</a:t>
                      </a:r>
                      <a:endParaRPr/>
                    </a:p>
                    <a:p>
                      <a:pPr indent="0" lvl="0" marL="0" marR="0" rtl="0" algn="ctr">
                        <a:spcBef>
                          <a:spcPts val="0"/>
                        </a:spcBef>
                        <a:spcAft>
                          <a:spcPts val="0"/>
                        </a:spcAft>
                        <a:buNone/>
                      </a:pPr>
                      <a:r>
                        <a:rPr lang="en-IN" sz="1800"/>
                        <a:t>Rs.</a:t>
                      </a:r>
                      <a:endParaRPr sz="1800"/>
                    </a:p>
                  </a:txBody>
                  <a:tcPr marT="45725" marB="45725" marR="91450" marL="91450"/>
                </a:tc>
              </a:tr>
              <a:tr h="370850">
                <a:tc>
                  <a:txBody>
                    <a:bodyPr/>
                    <a:lstStyle/>
                    <a:p>
                      <a:pPr indent="0" lvl="0" marL="0" marR="0" rtl="0" algn="l">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4,00,000</a:t>
                      </a:r>
                      <a:endParaRPr sz="2500"/>
                    </a:p>
                  </a:txBody>
                  <a:tcPr marT="45725" marB="45725" marR="91450" marL="91450"/>
                </a:tc>
                <a:tc>
                  <a:txBody>
                    <a:bodyPr/>
                    <a:lstStyle/>
                    <a:p>
                      <a:pPr indent="0" lvl="0" marL="0" marR="0" rtl="0" algn="ctr">
                        <a:spcBef>
                          <a:spcPts val="0"/>
                        </a:spcBef>
                        <a:spcAft>
                          <a:spcPts val="0"/>
                        </a:spcAft>
                        <a:buNone/>
                      </a:pPr>
                      <a:r>
                        <a:rPr lang="en-IN" sz="2500"/>
                        <a:t>2,00,000</a:t>
                      </a:r>
                      <a:endParaRPr sz="2500"/>
                    </a:p>
                  </a:txBody>
                  <a:tcPr marT="45725" marB="45725" marR="91450" marL="91450"/>
                </a:tc>
                <a:tc>
                  <a:txBody>
                    <a:bodyPr/>
                    <a:lstStyle/>
                    <a:p>
                      <a:pPr indent="0" lvl="0" marL="0" marR="0" rtl="0" algn="ctr">
                        <a:spcBef>
                          <a:spcPts val="0"/>
                        </a:spcBef>
                        <a:spcAft>
                          <a:spcPts val="0"/>
                        </a:spcAft>
                        <a:buNone/>
                      </a:pPr>
                      <a:r>
                        <a:rPr lang="en-IN" sz="2500"/>
                        <a:t>2,00,000</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c>
                  <a:txBody>
                    <a:bodyPr/>
                    <a:lstStyle/>
                    <a:p>
                      <a:pPr indent="0" lvl="0" marL="0" marR="0" rtl="0" algn="ctr">
                        <a:spcBef>
                          <a:spcPts val="0"/>
                        </a:spcBef>
                        <a:spcAft>
                          <a:spcPts val="0"/>
                        </a:spcAft>
                        <a:buNone/>
                      </a:pPr>
                      <a:r>
                        <a:rPr lang="en-IN" sz="2500"/>
                        <a:t>3,60,000</a:t>
                      </a:r>
                      <a:endParaRPr sz="2500"/>
                    </a:p>
                  </a:txBody>
                  <a:tcPr marT="45725" marB="45725" marR="91450" marL="91450"/>
                </a:tc>
                <a:tc>
                  <a:txBody>
                    <a:bodyPr/>
                    <a:lstStyle/>
                    <a:p>
                      <a:pPr indent="0" lvl="0" marL="0" marR="0" rtl="0" algn="ctr">
                        <a:spcBef>
                          <a:spcPts val="0"/>
                        </a:spcBef>
                        <a:spcAft>
                          <a:spcPts val="0"/>
                        </a:spcAft>
                        <a:buNone/>
                      </a:pPr>
                      <a:r>
                        <a:rPr lang="en-IN" sz="2500"/>
                        <a:t>3,60,000</a:t>
                      </a:r>
                      <a:endParaRPr sz="2500"/>
                    </a:p>
                  </a:txBody>
                  <a:tcPr marT="45725" marB="45725" marR="91450" marL="91450"/>
                </a:tc>
              </a:tr>
              <a:tr h="370850">
                <a:tc>
                  <a:txBody>
                    <a:bodyPr/>
                    <a:lstStyle/>
                    <a:p>
                      <a:pPr indent="0" lvl="0" marL="0" marR="0" rtl="0" algn="l">
                        <a:spcBef>
                          <a:spcPts val="0"/>
                        </a:spcBef>
                        <a:spcAft>
                          <a:spcPts val="0"/>
                        </a:spcAft>
                        <a:buNone/>
                      </a:pPr>
                      <a:r>
                        <a:rPr b="1" lang="en-IN" sz="2500">
                          <a:solidFill>
                            <a:srgbClr val="FF0000"/>
                          </a:solidFill>
                        </a:rPr>
                        <a:t>2.</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4,00,000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2,00,000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2,00,000</a:t>
                      </a:r>
                      <a:endParaRPr b="1" sz="25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500"/>
                        <a:buFont typeface="Calibri"/>
                        <a:buNone/>
                      </a:pPr>
                      <a:r>
                        <a:rPr b="1" i="0" lang="en-IN" sz="2500" u="none" cap="none" strike="noStrike">
                          <a:solidFill>
                            <a:srgbClr val="FF0000"/>
                          </a:solidFill>
                          <a:latin typeface="Calibri"/>
                          <a:ea typeface="Calibri"/>
                          <a:cs typeface="Calibri"/>
                          <a:sym typeface="Calibri"/>
                        </a:rPr>
                        <a:t>1,60,000</a:t>
                      </a:r>
                      <a:endParaRPr b="1" i="0" sz="2500" u="none" cap="none" strike="noStrike">
                        <a:solidFill>
                          <a:srgbClr val="FF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3,60,000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7,20,000</a:t>
                      </a:r>
                      <a:endParaRPr b="1" sz="25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3,20,000</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c>
                  <a:txBody>
                    <a:bodyPr/>
                    <a:lstStyle/>
                    <a:p>
                      <a:pPr indent="0" lvl="0" marL="0" marR="0" rtl="0" algn="ct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1,60,000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3,20,000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500"/>
                        <a:t>10,40,000</a:t>
                      </a:r>
                      <a:endParaRPr sz="2500"/>
                    </a:p>
                  </a:txBody>
                  <a:tcPr marT="45725" marB="45725" marR="91450" marL="91450"/>
                </a:tc>
              </a:tr>
              <a:tr h="370850">
                <a:tc>
                  <a:txBody>
                    <a:bodyPr/>
                    <a:lstStyle/>
                    <a:p>
                      <a:pPr indent="0" lvl="0" marL="0" marR="0" rtl="0" algn="l">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3,20,000</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c>
                  <a:txBody>
                    <a:bodyPr/>
                    <a:lstStyle/>
                    <a:p>
                      <a:pPr indent="0" lvl="0" marL="0" marR="0" rtl="0" algn="ct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1,60,000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IN" sz="2500"/>
                        <a:t>3,20,000</a:t>
                      </a:r>
                      <a:endParaRPr sz="2500"/>
                    </a:p>
                  </a:txBody>
                  <a:tcPr marT="45725" marB="45725" marR="91450" marL="91450"/>
                </a:tc>
                <a:tc>
                  <a:txBody>
                    <a:bodyPr/>
                    <a:lstStyle/>
                    <a:p>
                      <a:pPr indent="0" lvl="0" marL="0" marR="0" rtl="0" algn="ctr">
                        <a:spcBef>
                          <a:spcPts val="0"/>
                        </a:spcBef>
                        <a:spcAft>
                          <a:spcPts val="0"/>
                        </a:spcAft>
                        <a:buNone/>
                      </a:pPr>
                      <a:r>
                        <a:rPr lang="en-IN" sz="2500"/>
                        <a:t>13,60,000</a:t>
                      </a:r>
                      <a:endParaRPr sz="2500"/>
                    </a:p>
                  </a:txBody>
                  <a:tcPr marT="45725" marB="45725" marR="91450" marL="91450"/>
                </a:tc>
              </a:tr>
              <a:tr h="370850">
                <a:tc>
                  <a:txBody>
                    <a:bodyPr/>
                    <a:lstStyle/>
                    <a:p>
                      <a:pPr indent="0" lvl="0" marL="0" marR="0" rtl="0" algn="l">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c>
                  <a:txBody>
                    <a:bodyPr/>
                    <a:lstStyle/>
                    <a:p>
                      <a:pPr indent="0" lvl="0" marL="0" marR="0" rtl="0" algn="ctr">
                        <a:spcBef>
                          <a:spcPts val="0"/>
                        </a:spcBef>
                        <a:spcAft>
                          <a:spcPts val="0"/>
                        </a:spcAft>
                        <a:buNone/>
                      </a:pPr>
                      <a:r>
                        <a:rPr lang="en-IN" sz="2500"/>
                        <a:t>80,000</a:t>
                      </a:r>
                      <a:endParaRPr sz="2500"/>
                    </a:p>
                  </a:txBody>
                  <a:tcPr marT="45725" marB="45725" marR="91450" marL="91450"/>
                </a:tc>
                <a:tc>
                  <a:txBody>
                    <a:bodyPr/>
                    <a:lstStyle/>
                    <a:p>
                      <a:pPr indent="0" lvl="0" marL="0" marR="0" rtl="0" algn="ctr">
                        <a:spcBef>
                          <a:spcPts val="0"/>
                        </a:spcBef>
                        <a:spcAft>
                          <a:spcPts val="0"/>
                        </a:spcAft>
                        <a:buNone/>
                      </a:pPr>
                      <a:r>
                        <a:rPr lang="en-IN" sz="2500"/>
                        <a:t>80,000</a:t>
                      </a:r>
                      <a:endParaRPr sz="2500"/>
                    </a:p>
                  </a:txBody>
                  <a:tcPr marT="45725" marB="45725" marR="91450" marL="91450"/>
                </a:tc>
                <a:tc>
                  <a:txBody>
                    <a:bodyPr/>
                    <a:lstStyle/>
                    <a:p>
                      <a:pPr indent="0" lvl="0" marL="0" marR="0" rtl="0" algn="ctr">
                        <a:spcBef>
                          <a:spcPts val="0"/>
                        </a:spcBef>
                        <a:spcAft>
                          <a:spcPts val="0"/>
                        </a:spcAft>
                        <a:buNone/>
                      </a:pPr>
                      <a:r>
                        <a:rPr lang="en-IN" sz="2500"/>
                        <a:t>1,60,000</a:t>
                      </a:r>
                      <a:endParaRPr sz="2500"/>
                    </a:p>
                  </a:txBody>
                  <a:tcPr marT="45725" marB="45725" marR="91450" marL="91450"/>
                </a:tc>
                <a:tc>
                  <a:txBody>
                    <a:bodyPr/>
                    <a:lstStyle/>
                    <a:p>
                      <a:pPr indent="0" lvl="0" marL="0" marR="0" rtl="0" algn="ctr">
                        <a:spcBef>
                          <a:spcPts val="0"/>
                        </a:spcBef>
                        <a:spcAft>
                          <a:spcPts val="0"/>
                        </a:spcAft>
                        <a:buNone/>
                      </a:pPr>
                      <a:r>
                        <a:rPr lang="en-IN" sz="2500"/>
                        <a:t>2,40,000</a:t>
                      </a:r>
                      <a:endParaRPr sz="2500"/>
                    </a:p>
                  </a:txBody>
                  <a:tcPr marT="45725" marB="45725" marR="91450" marL="91450"/>
                </a:tc>
                <a:tc>
                  <a:txBody>
                    <a:bodyPr/>
                    <a:lstStyle/>
                    <a:p>
                      <a:pPr indent="0" lvl="0" marL="0" marR="0" rtl="0" algn="ctr">
                        <a:spcBef>
                          <a:spcPts val="0"/>
                        </a:spcBef>
                        <a:spcAft>
                          <a:spcPts val="0"/>
                        </a:spcAft>
                        <a:buNone/>
                      </a:pPr>
                      <a:r>
                        <a:rPr lang="en-IN" sz="2500"/>
                        <a:t>16,00,000</a:t>
                      </a:r>
                      <a:endParaRPr sz="2500"/>
                    </a:p>
                  </a:txBody>
                  <a:tcPr marT="45725" marB="45725" marR="91450" marL="91450"/>
                </a:tc>
              </a:tr>
            </a:tbl>
          </a:graphicData>
        </a:graphic>
      </p:graphicFrame>
      <p:cxnSp>
        <p:nvCxnSpPr>
          <p:cNvPr id="745" name="Google Shape;745;p114"/>
          <p:cNvCxnSpPr/>
          <p:nvPr/>
        </p:nvCxnSpPr>
        <p:spPr>
          <a:xfrm flipH="1">
            <a:off x="9245600" y="3715657"/>
            <a:ext cx="624115" cy="391886"/>
          </a:xfrm>
          <a:prstGeom prst="straightConnector1">
            <a:avLst/>
          </a:prstGeom>
          <a:noFill/>
          <a:ln cap="flat" cmpd="sng" w="9525">
            <a:solidFill>
              <a:schemeClr val="accent1"/>
            </a:solidFill>
            <a:prstDash val="solid"/>
            <a:miter lim="800000"/>
            <a:headEnd len="sm" w="sm" type="none"/>
            <a:tailEnd len="sm" w="sm" type="none"/>
          </a:ln>
        </p:spPr>
      </p:cxnSp>
      <p:pic>
        <p:nvPicPr>
          <p:cNvPr descr="Image result for sastra logo" id="746" name="Google Shape;746;p114"/>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15"/>
          <p:cNvSpPr txBox="1"/>
          <p:nvPr>
            <p:ph idx="1" type="body"/>
          </p:nvPr>
        </p:nvSpPr>
        <p:spPr>
          <a:xfrm>
            <a:off x="838200" y="870857"/>
            <a:ext cx="10515600" cy="53061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Pay back period = 2 years + {[Rs. 80,000/Rs. 3,20,000] × 12}</a:t>
            </a:r>
            <a:endParaRPr/>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2 years + 3 months</a:t>
            </a:r>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b) Return on original investment method:</a:t>
            </a:r>
            <a:endParaRPr/>
          </a:p>
          <a:p>
            <a:pPr indent="0" lvl="0" marL="0" rtl="0" algn="l">
              <a:lnSpc>
                <a:spcPct val="90000"/>
              </a:lnSpc>
              <a:spcBef>
                <a:spcPts val="1000"/>
              </a:spcBef>
              <a:spcAft>
                <a:spcPts val="0"/>
              </a:spcAft>
              <a:buClr>
                <a:schemeClr val="dk1"/>
              </a:buClr>
              <a:buSzPts val="2600"/>
              <a:buNone/>
            </a:pPr>
            <a:r>
              <a:rPr lang="en-IN" sz="2600"/>
              <a:t>ROI = [Average profit after tax / Original Investment] × 100</a:t>
            </a:r>
            <a:endParaRPr/>
          </a:p>
          <a:p>
            <a:pPr indent="0" lvl="0" marL="0" rtl="0" algn="l">
              <a:lnSpc>
                <a:spcPct val="90000"/>
              </a:lnSpc>
              <a:spcBef>
                <a:spcPts val="1000"/>
              </a:spcBef>
              <a:spcAft>
                <a:spcPts val="0"/>
              </a:spcAft>
              <a:buClr>
                <a:schemeClr val="dk1"/>
              </a:buClr>
              <a:buSzPts val="2600"/>
              <a:buNone/>
            </a:pPr>
            <a:r>
              <a:rPr lang="en-IN" sz="2600"/>
              <a:t>= [Rs. 1,60,000/Rs. 8,00,000] × 100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20%</a:t>
            </a:r>
            <a:endParaRPr sz="2600">
              <a:solidFill>
                <a:srgbClr val="FF0000"/>
              </a:solidFill>
            </a:endParaRPr>
          </a:p>
          <a:p>
            <a:pPr indent="0" lvl="0" marL="0" rtl="0" algn="l">
              <a:lnSpc>
                <a:spcPct val="90000"/>
              </a:lnSpc>
              <a:spcBef>
                <a:spcPts val="1000"/>
              </a:spcBef>
              <a:spcAft>
                <a:spcPts val="0"/>
              </a:spcAft>
              <a:buClr>
                <a:srgbClr val="FF0000"/>
              </a:buClr>
              <a:buSzPts val="2600"/>
              <a:buNone/>
            </a:pPr>
            <a:r>
              <a:rPr b="1" lang="en-IN" sz="2600">
                <a:solidFill>
                  <a:srgbClr val="FF0000"/>
                </a:solidFill>
              </a:rPr>
              <a:t>c) Return on average investment method:</a:t>
            </a:r>
            <a:endParaRPr b="1" sz="2600"/>
          </a:p>
          <a:p>
            <a:pPr indent="0" lvl="0" marL="0" rtl="0" algn="l">
              <a:lnSpc>
                <a:spcPct val="90000"/>
              </a:lnSpc>
              <a:spcBef>
                <a:spcPts val="1000"/>
              </a:spcBef>
              <a:spcAft>
                <a:spcPts val="0"/>
              </a:spcAft>
              <a:buClr>
                <a:schemeClr val="dk1"/>
              </a:buClr>
              <a:buSzPts val="2600"/>
              <a:buNone/>
            </a:pPr>
            <a:r>
              <a:rPr lang="en-IN" sz="2600"/>
              <a:t>ROI = [Average profit after tax / Average investment]</a:t>
            </a:r>
            <a:endParaRPr/>
          </a:p>
          <a:p>
            <a:pPr indent="0" lvl="0" marL="0" rtl="0" algn="l">
              <a:lnSpc>
                <a:spcPct val="90000"/>
              </a:lnSpc>
              <a:spcBef>
                <a:spcPts val="1000"/>
              </a:spcBef>
              <a:spcAft>
                <a:spcPts val="0"/>
              </a:spcAft>
              <a:buClr>
                <a:schemeClr val="dk1"/>
              </a:buClr>
              <a:buSzPts val="2600"/>
              <a:buNone/>
            </a:pPr>
            <a:r>
              <a:rPr lang="en-IN" sz="2600"/>
              <a:t>= [Rs. 1,60,000 / Rs. 4,00,000] × 100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40%  </a:t>
            </a:r>
            <a:endParaRPr sz="2600">
              <a:solidFill>
                <a:srgbClr val="FF0000"/>
              </a:solidFill>
            </a:endParaRPr>
          </a:p>
        </p:txBody>
      </p:sp>
      <p:pic>
        <p:nvPicPr>
          <p:cNvPr descr="Image result for sastra logo" id="752" name="Google Shape;752;p115"/>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16"/>
          <p:cNvSpPr txBox="1"/>
          <p:nvPr>
            <p:ph idx="1" type="body"/>
          </p:nvPr>
        </p:nvSpPr>
        <p:spPr>
          <a:xfrm>
            <a:off x="838200" y="841828"/>
            <a:ext cx="10515600" cy="538891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d) Net present value method [NPV]:</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Computation of NPV</a:t>
            </a:r>
            <a:endParaRPr/>
          </a:p>
          <a:p>
            <a:pPr indent="0" lvl="0" marL="0" rtl="0" algn="ctr">
              <a:lnSpc>
                <a:spcPct val="90000"/>
              </a:lnSpc>
              <a:spcBef>
                <a:spcPts val="1000"/>
              </a:spcBef>
              <a:spcAft>
                <a:spcPts val="0"/>
              </a:spcAft>
              <a:buClr>
                <a:schemeClr val="dk1"/>
              </a:buClr>
              <a:buSzPts val="2800"/>
              <a:buNone/>
            </a:pPr>
            <a:r>
              <a:t/>
            </a:r>
            <a:endParaRPr>
              <a:solidFill>
                <a:srgbClr val="FF0000"/>
              </a:solidFill>
            </a:endParaRPr>
          </a:p>
        </p:txBody>
      </p:sp>
      <p:graphicFrame>
        <p:nvGraphicFramePr>
          <p:cNvPr id="758" name="Google Shape;758;p116"/>
          <p:cNvGraphicFramePr/>
          <p:nvPr/>
        </p:nvGraphicFramePr>
        <p:xfrm>
          <a:off x="838200" y="1750180"/>
          <a:ext cx="3000000" cy="3000000"/>
        </p:xfrm>
        <a:graphic>
          <a:graphicData uri="http://schemas.openxmlformats.org/drawingml/2006/table">
            <a:tbl>
              <a:tblPr bandRow="1" firstRow="1">
                <a:noFill/>
                <a:tableStyleId>{75140CFC-2FD2-45D3-AD89-D6322BEAE1F3}</a:tableStyleId>
              </a:tblPr>
              <a:tblGrid>
                <a:gridCol w="961575"/>
                <a:gridCol w="2772225"/>
                <a:gridCol w="2612575"/>
                <a:gridCol w="4169225"/>
              </a:tblGrid>
              <a:tr h="614200">
                <a:tc>
                  <a:txBody>
                    <a:bodyPr/>
                    <a:lstStyle/>
                    <a:p>
                      <a:pPr indent="0" lvl="0" marL="0" marR="0" rtl="0" algn="ctr">
                        <a:spcBef>
                          <a:spcPts val="0"/>
                        </a:spcBef>
                        <a:spcAft>
                          <a:spcPts val="0"/>
                        </a:spcAft>
                        <a:buNone/>
                      </a:pPr>
                      <a:r>
                        <a:rPr b="1" lang="en-IN" sz="2000"/>
                        <a:t>Year </a:t>
                      </a:r>
                      <a:endParaRPr b="1" sz="2000"/>
                    </a:p>
                  </a:txBody>
                  <a:tcPr marT="45725" marB="45725" marR="91450" marL="91450"/>
                </a:tc>
                <a:tc>
                  <a:txBody>
                    <a:bodyPr/>
                    <a:lstStyle/>
                    <a:p>
                      <a:pPr indent="0" lvl="0" marL="0" marR="0" rtl="0" algn="ctr">
                        <a:spcBef>
                          <a:spcPts val="0"/>
                        </a:spcBef>
                        <a:spcAft>
                          <a:spcPts val="0"/>
                        </a:spcAft>
                        <a:buNone/>
                      </a:pPr>
                      <a:r>
                        <a:rPr b="1" lang="en-IN" sz="2000"/>
                        <a:t>Cash inflows </a:t>
                      </a:r>
                      <a:endParaRPr/>
                    </a:p>
                    <a:p>
                      <a:pPr indent="0" lvl="0" marL="0" marR="0" rtl="0" algn="ctr">
                        <a:spcBef>
                          <a:spcPts val="0"/>
                        </a:spcBef>
                        <a:spcAft>
                          <a:spcPts val="0"/>
                        </a:spcAft>
                        <a:buNone/>
                      </a:pPr>
                      <a:r>
                        <a:rPr b="1" lang="en-IN" sz="2000"/>
                        <a:t>Rs. </a:t>
                      </a:r>
                      <a:endParaRPr/>
                    </a:p>
                  </a:txBody>
                  <a:tcPr marT="45725" marB="45725" marR="91450" marL="91450"/>
                </a:tc>
                <a:tc>
                  <a:txBody>
                    <a:bodyPr/>
                    <a:lstStyle/>
                    <a:p>
                      <a:pPr indent="0" lvl="0" marL="0" marR="0" rtl="0" algn="ctr">
                        <a:spcBef>
                          <a:spcPts val="0"/>
                        </a:spcBef>
                        <a:spcAft>
                          <a:spcPts val="0"/>
                        </a:spcAft>
                        <a:buNone/>
                      </a:pPr>
                      <a:r>
                        <a:rPr b="1" lang="en-IN" sz="2000"/>
                        <a:t>Discount factor @10% </a:t>
                      </a:r>
                      <a:endParaRPr b="1" sz="2000"/>
                    </a:p>
                  </a:txBody>
                  <a:tcPr marT="45725" marB="45725" marR="91450" marL="91450"/>
                </a:tc>
                <a:tc>
                  <a:txBody>
                    <a:bodyPr/>
                    <a:lstStyle/>
                    <a:p>
                      <a:pPr indent="0" lvl="0" marL="0" marR="0" rtl="0" algn="r">
                        <a:spcBef>
                          <a:spcPts val="0"/>
                        </a:spcBef>
                        <a:spcAft>
                          <a:spcPts val="0"/>
                        </a:spcAft>
                        <a:buNone/>
                      </a:pPr>
                      <a:r>
                        <a:rPr b="1" lang="en-IN" sz="2000"/>
                        <a:t>Present value of cash inflows</a:t>
                      </a:r>
                      <a:endParaRPr/>
                    </a:p>
                    <a:p>
                      <a:pPr indent="0" lvl="0" marL="0" marR="0" rtl="0" algn="r">
                        <a:spcBef>
                          <a:spcPts val="0"/>
                        </a:spcBef>
                        <a:spcAft>
                          <a:spcPts val="0"/>
                        </a:spcAft>
                        <a:buNone/>
                      </a:pPr>
                      <a:r>
                        <a:rPr b="1" lang="en-IN" sz="2000"/>
                        <a:t>Rs. </a:t>
                      </a:r>
                      <a:endParaRPr b="1" sz="20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b="0" lang="en-IN" sz="2500"/>
                        <a:t>3,60,000</a:t>
                      </a:r>
                      <a:endParaRPr b="0" sz="2500"/>
                    </a:p>
                  </a:txBody>
                  <a:tcPr marT="45725" marB="45725" marR="91450" marL="91450"/>
                </a:tc>
                <a:tc>
                  <a:txBody>
                    <a:bodyPr/>
                    <a:lstStyle/>
                    <a:p>
                      <a:pPr indent="0" lvl="0" marL="0" marR="0" rtl="0" algn="ctr">
                        <a:spcBef>
                          <a:spcPts val="0"/>
                        </a:spcBef>
                        <a:spcAft>
                          <a:spcPts val="0"/>
                        </a:spcAft>
                        <a:buNone/>
                      </a:pPr>
                      <a:r>
                        <a:rPr lang="en-IN" sz="2500"/>
                        <a:t>0.909</a:t>
                      </a:r>
                      <a:endParaRPr sz="2500"/>
                    </a:p>
                  </a:txBody>
                  <a:tcPr marT="45725" marB="45725" marR="91450" marL="91450"/>
                </a:tc>
                <a:tc>
                  <a:txBody>
                    <a:bodyPr/>
                    <a:lstStyle/>
                    <a:p>
                      <a:pPr indent="0" lvl="0" marL="0" marR="0" rtl="0" algn="r">
                        <a:spcBef>
                          <a:spcPts val="0"/>
                        </a:spcBef>
                        <a:spcAft>
                          <a:spcPts val="0"/>
                        </a:spcAft>
                        <a:buNone/>
                      </a:pPr>
                      <a:r>
                        <a:rPr lang="en-IN" sz="2500"/>
                        <a:t>3,27,240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3,60,000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500"/>
                        <a:t>0.826</a:t>
                      </a:r>
                      <a:endParaRPr sz="2500"/>
                    </a:p>
                  </a:txBody>
                  <a:tcPr marT="45725" marB="45725" marR="91450" marL="91450"/>
                </a:tc>
                <a:tc>
                  <a:txBody>
                    <a:bodyPr/>
                    <a:lstStyle/>
                    <a:p>
                      <a:pPr indent="0" lvl="0" marL="0" marR="0" rtl="0" algn="r">
                        <a:spcBef>
                          <a:spcPts val="0"/>
                        </a:spcBef>
                        <a:spcAft>
                          <a:spcPts val="0"/>
                        </a:spcAft>
                        <a:buNone/>
                      </a:pPr>
                      <a:r>
                        <a:rPr lang="en-IN" sz="2500"/>
                        <a:t>2,97,360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3,20,000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500"/>
                        <a:t>0.751</a:t>
                      </a:r>
                      <a:endParaRPr sz="2500"/>
                    </a:p>
                  </a:txBody>
                  <a:tcPr marT="45725" marB="45725" marR="91450" marL="91450"/>
                </a:tc>
                <a:tc>
                  <a:txBody>
                    <a:bodyPr/>
                    <a:lstStyle/>
                    <a:p>
                      <a:pPr indent="0" lvl="0" marL="0" marR="0" rtl="0" algn="r">
                        <a:spcBef>
                          <a:spcPts val="0"/>
                        </a:spcBef>
                        <a:spcAft>
                          <a:spcPts val="0"/>
                        </a:spcAft>
                        <a:buNone/>
                      </a:pPr>
                      <a:r>
                        <a:rPr lang="en-IN" sz="2500"/>
                        <a:t>2,40,320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b="0" lang="en-IN" sz="2500"/>
                        <a:t>3,20,000</a:t>
                      </a:r>
                      <a:endParaRPr b="0" sz="2500"/>
                    </a:p>
                  </a:txBody>
                  <a:tcPr marT="45725" marB="45725" marR="91450" marL="91450"/>
                </a:tc>
                <a:tc>
                  <a:txBody>
                    <a:bodyPr/>
                    <a:lstStyle/>
                    <a:p>
                      <a:pPr indent="0" lvl="0" marL="0" marR="0" rtl="0" algn="ctr">
                        <a:spcBef>
                          <a:spcPts val="0"/>
                        </a:spcBef>
                        <a:spcAft>
                          <a:spcPts val="0"/>
                        </a:spcAft>
                        <a:buNone/>
                      </a:pPr>
                      <a:r>
                        <a:rPr lang="en-IN" sz="2500"/>
                        <a:t>0.683</a:t>
                      </a:r>
                      <a:endParaRPr sz="2500"/>
                    </a:p>
                  </a:txBody>
                  <a:tcPr marT="45725" marB="45725" marR="91450" marL="91450"/>
                </a:tc>
                <a:tc>
                  <a:txBody>
                    <a:bodyPr/>
                    <a:lstStyle/>
                    <a:p>
                      <a:pPr indent="0" lvl="0" marL="0" marR="0" rtl="0" algn="r">
                        <a:spcBef>
                          <a:spcPts val="0"/>
                        </a:spcBef>
                        <a:spcAft>
                          <a:spcPts val="0"/>
                        </a:spcAft>
                        <a:buNone/>
                      </a:pPr>
                      <a:r>
                        <a:rPr lang="en-IN" sz="2500"/>
                        <a:t>2,18,560</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b="0" lang="en-IN" sz="2500"/>
                        <a:t>2,40,000</a:t>
                      </a:r>
                      <a:endParaRPr b="0" sz="2500"/>
                    </a:p>
                  </a:txBody>
                  <a:tcPr marT="45725" marB="45725" marR="91450" marL="91450"/>
                </a:tc>
                <a:tc>
                  <a:txBody>
                    <a:bodyPr/>
                    <a:lstStyle/>
                    <a:p>
                      <a:pPr indent="0" lvl="0" marL="0" marR="0" rtl="0" algn="ctr">
                        <a:spcBef>
                          <a:spcPts val="0"/>
                        </a:spcBef>
                        <a:spcAft>
                          <a:spcPts val="0"/>
                        </a:spcAft>
                        <a:buNone/>
                      </a:pPr>
                      <a:r>
                        <a:rPr lang="en-IN" sz="2500"/>
                        <a:t>0.621</a:t>
                      </a:r>
                      <a:endParaRPr sz="2500"/>
                    </a:p>
                  </a:txBody>
                  <a:tcPr marT="45725" marB="45725" marR="91450" marL="91450"/>
                </a:tc>
                <a:tc>
                  <a:txBody>
                    <a:bodyPr/>
                    <a:lstStyle/>
                    <a:p>
                      <a:pPr indent="0" lvl="0" marL="0" marR="0" rtl="0" algn="r">
                        <a:spcBef>
                          <a:spcPts val="0"/>
                        </a:spcBef>
                        <a:spcAft>
                          <a:spcPts val="0"/>
                        </a:spcAft>
                        <a:buNone/>
                      </a:pPr>
                      <a:r>
                        <a:rPr lang="en-IN" sz="2500"/>
                        <a:t>1,49,040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b="0" lang="en-IN" sz="2500">
                          <a:solidFill>
                            <a:srgbClr val="FF0000"/>
                          </a:solidFill>
                        </a:rPr>
                        <a:t>Total present</a:t>
                      </a:r>
                      <a:r>
                        <a:rPr b="0" lang="en-IN" sz="2500">
                          <a:solidFill>
                            <a:srgbClr val="FF0000"/>
                          </a:solidFill>
                        </a:rPr>
                        <a:t> value of cash inflows</a:t>
                      </a:r>
                      <a:endParaRPr b="0"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lang="en-IN" sz="2500">
                          <a:solidFill>
                            <a:srgbClr val="FF0000"/>
                          </a:solidFill>
                        </a:rPr>
                        <a:t>12,32,520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 </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b="0" lang="en-IN" sz="2500"/>
                        <a:t>Present value of cash out flow</a:t>
                      </a:r>
                      <a:endParaRPr b="0" sz="2500"/>
                    </a:p>
                  </a:txBody>
                  <a:tcPr marT="45725" marB="45725" marR="91450" marL="91450"/>
                </a:tc>
                <a:tc hMerge="1"/>
                <a:tc>
                  <a:txBody>
                    <a:bodyPr/>
                    <a:lstStyle/>
                    <a:p>
                      <a:pPr indent="0" lvl="0" marL="0" marR="0" rtl="0" algn="r">
                        <a:spcBef>
                          <a:spcPts val="0"/>
                        </a:spcBef>
                        <a:spcAft>
                          <a:spcPts val="0"/>
                        </a:spcAft>
                        <a:buNone/>
                      </a:pPr>
                      <a:r>
                        <a:rPr lang="en-IN" sz="2500"/>
                        <a:t>8,00,000</a:t>
                      </a:r>
                      <a:endParaRPr sz="25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500">
                          <a:solidFill>
                            <a:srgbClr val="FF0000"/>
                          </a:solidFill>
                        </a:rPr>
                        <a:t>4,32,520</a:t>
                      </a:r>
                      <a:endParaRPr b="1" sz="2500">
                        <a:solidFill>
                          <a:srgbClr val="FF0000"/>
                        </a:solidFill>
                      </a:endParaRPr>
                    </a:p>
                  </a:txBody>
                  <a:tcPr marT="45725" marB="45725" marR="91450" marL="91450"/>
                </a:tc>
              </a:tr>
            </a:tbl>
          </a:graphicData>
        </a:graphic>
      </p:graphicFrame>
      <p:pic>
        <p:nvPicPr>
          <p:cNvPr descr="Image result for sastra logo" id="759" name="Google Shape;759;p116"/>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17"/>
          <p:cNvSpPr txBox="1"/>
          <p:nvPr>
            <p:ph idx="1" type="body"/>
          </p:nvPr>
        </p:nvSpPr>
        <p:spPr>
          <a:xfrm>
            <a:off x="838200" y="928914"/>
            <a:ext cx="10515600" cy="524804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e) PI Method: </a:t>
            </a:r>
            <a:endParaRPr/>
          </a:p>
          <a:p>
            <a:pPr indent="0" lvl="0" marL="0" rtl="0" algn="just">
              <a:lnSpc>
                <a:spcPct val="90000"/>
              </a:lnSpc>
              <a:spcBef>
                <a:spcPts val="1000"/>
              </a:spcBef>
              <a:spcAft>
                <a:spcPts val="0"/>
              </a:spcAft>
              <a:buClr>
                <a:schemeClr val="dk1"/>
              </a:buClr>
              <a:buSzPts val="2600"/>
              <a:buNone/>
            </a:pPr>
            <a:r>
              <a:rPr lang="en-IN" sz="2600"/>
              <a:t>PI = [Total present value of cash inflows/Total present value of cash out flow] × 100</a:t>
            </a:r>
            <a:endParaRPr/>
          </a:p>
          <a:p>
            <a:pPr indent="0" lvl="0" marL="0" rtl="0" algn="just">
              <a:lnSpc>
                <a:spcPct val="90000"/>
              </a:lnSpc>
              <a:spcBef>
                <a:spcPts val="1000"/>
              </a:spcBef>
              <a:spcAft>
                <a:spcPts val="0"/>
              </a:spcAft>
              <a:buClr>
                <a:schemeClr val="dk1"/>
              </a:buClr>
              <a:buSzPts val="2600"/>
              <a:buNone/>
            </a:pPr>
            <a:r>
              <a:rPr lang="en-IN" sz="2600"/>
              <a:t>= [Rs. 12,32,520 / Rs. 8,00,000]×100</a:t>
            </a:r>
            <a:endParaRPr/>
          </a:p>
          <a:p>
            <a:pPr indent="0" lvl="0" marL="0" rtl="0" algn="just">
              <a:lnSpc>
                <a:spcPct val="90000"/>
              </a:lnSpc>
              <a:spcBef>
                <a:spcPts val="1000"/>
              </a:spcBef>
              <a:spcAft>
                <a:spcPts val="0"/>
              </a:spcAft>
              <a:buClr>
                <a:schemeClr val="dk1"/>
              </a:buClr>
              <a:buSzPts val="2600"/>
              <a:buNone/>
            </a:pPr>
            <a:r>
              <a:rPr lang="en-IN" sz="2600"/>
              <a:t>= 154%</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Comment: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The PI of the project is more than that of 100%, and therefore the project can be implemented.</a:t>
            </a:r>
            <a:endParaRPr sz="2600">
              <a:solidFill>
                <a:srgbClr val="FF0000"/>
              </a:solidFill>
            </a:endParaRPr>
          </a:p>
        </p:txBody>
      </p:sp>
      <p:pic>
        <p:nvPicPr>
          <p:cNvPr descr="Image result for sastra logo" id="765" name="Google Shape;765;p117"/>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18"/>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f) IRR Method: </a:t>
            </a:r>
            <a:endParaRPr/>
          </a:p>
          <a:p>
            <a:pPr indent="0" lvl="0" marL="0" rtl="0" algn="just">
              <a:lnSpc>
                <a:spcPct val="90000"/>
              </a:lnSpc>
              <a:spcBef>
                <a:spcPts val="1000"/>
              </a:spcBef>
              <a:spcAft>
                <a:spcPts val="0"/>
              </a:spcAft>
              <a:buClr>
                <a:schemeClr val="dk1"/>
              </a:buClr>
              <a:buSzPts val="2600"/>
              <a:buNone/>
            </a:pPr>
            <a:r>
              <a:rPr lang="en-IN" sz="2600"/>
              <a:t>Since the annual cash inflows are not uniform, the factor will have to be located to determine the approximate rate of return.</a:t>
            </a:r>
            <a:endParaRPr/>
          </a:p>
          <a:p>
            <a:pPr indent="0" lvl="0" marL="0" rtl="0" algn="just">
              <a:lnSpc>
                <a:spcPct val="90000"/>
              </a:lnSpc>
              <a:spcBef>
                <a:spcPts val="1000"/>
              </a:spcBef>
              <a:spcAft>
                <a:spcPts val="0"/>
              </a:spcAft>
              <a:buClr>
                <a:schemeClr val="dk1"/>
              </a:buClr>
              <a:buSzPts val="2600"/>
              <a:buNone/>
            </a:pPr>
            <a:r>
              <a:rPr lang="en-IN" sz="2600"/>
              <a:t>F = Initial Investment/Average Cash Inflows </a:t>
            </a:r>
            <a:endParaRPr/>
          </a:p>
          <a:p>
            <a:pPr indent="0" lvl="0" marL="0" rtl="0" algn="just">
              <a:lnSpc>
                <a:spcPct val="90000"/>
              </a:lnSpc>
              <a:spcBef>
                <a:spcPts val="1000"/>
              </a:spcBef>
              <a:spcAft>
                <a:spcPts val="0"/>
              </a:spcAft>
              <a:buClr>
                <a:schemeClr val="dk1"/>
              </a:buClr>
              <a:buSzPts val="2600"/>
              <a:buNone/>
            </a:pPr>
            <a:r>
              <a:rPr lang="en-IN" sz="2600"/>
              <a:t> = Rs. 8,00,000/Rs. 3,20,000</a:t>
            </a:r>
            <a:endParaRPr/>
          </a:p>
          <a:p>
            <a:pPr indent="0" lvl="0" marL="0" rtl="0" algn="just">
              <a:lnSpc>
                <a:spcPct val="90000"/>
              </a:lnSpc>
              <a:spcBef>
                <a:spcPts val="1000"/>
              </a:spcBef>
              <a:spcAft>
                <a:spcPts val="0"/>
              </a:spcAft>
              <a:buClr>
                <a:schemeClr val="dk1"/>
              </a:buClr>
              <a:buSzPts val="2600"/>
              <a:buNone/>
            </a:pPr>
            <a:r>
              <a:rPr lang="en-IN" sz="2600"/>
              <a:t> = 2.5</a:t>
            </a:r>
            <a:endParaRPr/>
          </a:p>
          <a:p>
            <a:pPr indent="0" lvl="0" marL="0" rtl="0" algn="just">
              <a:lnSpc>
                <a:spcPct val="90000"/>
              </a:lnSpc>
              <a:spcBef>
                <a:spcPts val="1000"/>
              </a:spcBef>
              <a:spcAft>
                <a:spcPts val="0"/>
              </a:spcAft>
              <a:buClr>
                <a:schemeClr val="dk1"/>
              </a:buClr>
              <a:buSzPts val="2600"/>
              <a:buNone/>
            </a:pPr>
            <a:r>
              <a:rPr lang="en-IN" sz="2600"/>
              <a:t>Table Two discloses this factor rate of return in the column for 5 years as 28%.</a:t>
            </a:r>
            <a:endParaRPr/>
          </a:p>
        </p:txBody>
      </p:sp>
      <p:pic>
        <p:nvPicPr>
          <p:cNvPr descr="Image result for sastra logo" id="771" name="Google Shape;771;p118"/>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19"/>
          <p:cNvSpPr txBox="1"/>
          <p:nvPr>
            <p:ph idx="1" type="body"/>
          </p:nvPr>
        </p:nvSpPr>
        <p:spPr>
          <a:xfrm>
            <a:off x="838200" y="769257"/>
            <a:ext cx="10515600" cy="563784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500"/>
              <a:buNone/>
            </a:pPr>
            <a:r>
              <a:rPr lang="en-IN" sz="2500"/>
              <a:t>The Present value 28% rate.</a:t>
            </a:r>
            <a:endParaRPr/>
          </a:p>
          <a:p>
            <a:pPr indent="0" lvl="0" marL="0" rtl="0" algn="ctr">
              <a:lnSpc>
                <a:spcPct val="90000"/>
              </a:lnSpc>
              <a:spcBef>
                <a:spcPts val="1000"/>
              </a:spcBef>
              <a:spcAft>
                <a:spcPts val="0"/>
              </a:spcAft>
              <a:buClr>
                <a:srgbClr val="FF0000"/>
              </a:buClr>
              <a:buSzPts val="2500"/>
              <a:buNone/>
            </a:pPr>
            <a:r>
              <a:rPr b="1" lang="en-IN" sz="2500">
                <a:solidFill>
                  <a:srgbClr val="FF0000"/>
                </a:solidFill>
              </a:rPr>
              <a:t>Computation of NPV</a:t>
            </a:r>
            <a:endParaRPr/>
          </a:p>
          <a:p>
            <a:pPr indent="0" lvl="0" marL="0" rtl="0" algn="just">
              <a:lnSpc>
                <a:spcPct val="90000"/>
              </a:lnSpc>
              <a:spcBef>
                <a:spcPts val="1000"/>
              </a:spcBef>
              <a:spcAft>
                <a:spcPts val="0"/>
              </a:spcAft>
              <a:buClr>
                <a:schemeClr val="dk1"/>
              </a:buClr>
              <a:buSzPts val="2500"/>
              <a:buNone/>
            </a:pPr>
            <a:r>
              <a:t/>
            </a:r>
            <a:endParaRPr b="1" sz="2500"/>
          </a:p>
        </p:txBody>
      </p:sp>
      <p:graphicFrame>
        <p:nvGraphicFramePr>
          <p:cNvPr id="777" name="Google Shape;777;p119"/>
          <p:cNvGraphicFramePr/>
          <p:nvPr/>
        </p:nvGraphicFramePr>
        <p:xfrm>
          <a:off x="838200" y="1743663"/>
          <a:ext cx="3000000" cy="3000000"/>
        </p:xfrm>
        <a:graphic>
          <a:graphicData uri="http://schemas.openxmlformats.org/drawingml/2006/table">
            <a:tbl>
              <a:tblPr bandRow="1" firstRow="1">
                <a:noFill/>
                <a:tableStyleId>{75140CFC-2FD2-45D3-AD89-D6322BEAE1F3}</a:tableStyleId>
              </a:tblPr>
              <a:tblGrid>
                <a:gridCol w="1106725"/>
                <a:gridCol w="2989950"/>
                <a:gridCol w="2844800"/>
                <a:gridCol w="3574150"/>
              </a:tblGrid>
              <a:tr h="248675">
                <a:tc>
                  <a:txBody>
                    <a:bodyPr/>
                    <a:lstStyle/>
                    <a:p>
                      <a:pPr indent="0" lvl="0" marL="0" marR="0" rtl="0" algn="ctr">
                        <a:spcBef>
                          <a:spcPts val="0"/>
                        </a:spcBef>
                        <a:spcAft>
                          <a:spcPts val="0"/>
                        </a:spcAft>
                        <a:buNone/>
                      </a:pPr>
                      <a:r>
                        <a:rPr b="0" lang="en-IN" sz="2200"/>
                        <a:t>Year </a:t>
                      </a:r>
                      <a:endParaRPr b="0" sz="2200"/>
                    </a:p>
                  </a:txBody>
                  <a:tcPr marT="45725" marB="45725" marR="91450" marL="91450"/>
                </a:tc>
                <a:tc>
                  <a:txBody>
                    <a:bodyPr/>
                    <a:lstStyle/>
                    <a:p>
                      <a:pPr indent="0" lvl="0" marL="0" marR="0" rtl="0" algn="ctr">
                        <a:spcBef>
                          <a:spcPts val="0"/>
                        </a:spcBef>
                        <a:spcAft>
                          <a:spcPts val="0"/>
                        </a:spcAft>
                        <a:buNone/>
                      </a:pPr>
                      <a:r>
                        <a:rPr b="0" lang="en-IN" sz="2200"/>
                        <a:t>Cash inflows </a:t>
                      </a:r>
                      <a:endParaRPr/>
                    </a:p>
                    <a:p>
                      <a:pPr indent="0" lvl="0" marL="0" marR="0" rtl="0" algn="ctr">
                        <a:spcBef>
                          <a:spcPts val="0"/>
                        </a:spcBef>
                        <a:spcAft>
                          <a:spcPts val="0"/>
                        </a:spcAft>
                        <a:buNone/>
                      </a:pPr>
                      <a:r>
                        <a:rPr b="0" lang="en-IN" sz="2200"/>
                        <a:t>Rs. </a:t>
                      </a:r>
                      <a:endParaRPr/>
                    </a:p>
                  </a:txBody>
                  <a:tcPr marT="45725" marB="45725" marR="91450" marL="91450"/>
                </a:tc>
                <a:tc>
                  <a:txBody>
                    <a:bodyPr/>
                    <a:lstStyle/>
                    <a:p>
                      <a:pPr indent="0" lvl="0" marL="0" marR="0" rtl="0" algn="ctr">
                        <a:spcBef>
                          <a:spcPts val="0"/>
                        </a:spcBef>
                        <a:spcAft>
                          <a:spcPts val="0"/>
                        </a:spcAft>
                        <a:buNone/>
                      </a:pPr>
                      <a:r>
                        <a:rPr b="0" lang="en-IN" sz="2200"/>
                        <a:t>Discount factor @28% </a:t>
                      </a:r>
                      <a:endParaRPr b="0" sz="2200"/>
                    </a:p>
                  </a:txBody>
                  <a:tcPr marT="45725" marB="45725" marR="91450" marL="91450"/>
                </a:tc>
                <a:tc>
                  <a:txBody>
                    <a:bodyPr/>
                    <a:lstStyle/>
                    <a:p>
                      <a:pPr indent="0" lvl="0" marL="0" marR="0" rtl="0" algn="r">
                        <a:spcBef>
                          <a:spcPts val="0"/>
                        </a:spcBef>
                        <a:spcAft>
                          <a:spcPts val="0"/>
                        </a:spcAft>
                        <a:buNone/>
                      </a:pPr>
                      <a:r>
                        <a:rPr b="0" lang="en-IN" sz="2200"/>
                        <a:t>Present value of cash in flows</a:t>
                      </a:r>
                      <a:endParaRPr/>
                    </a:p>
                    <a:p>
                      <a:pPr indent="0" lvl="0" marL="0" marR="0" rtl="0" algn="r">
                        <a:spcBef>
                          <a:spcPts val="0"/>
                        </a:spcBef>
                        <a:spcAft>
                          <a:spcPts val="0"/>
                        </a:spcAft>
                        <a:buNone/>
                      </a:pPr>
                      <a:r>
                        <a:rPr b="0" lang="en-IN" sz="2200"/>
                        <a:t>Rs. </a:t>
                      </a:r>
                      <a:endParaRPr b="0" sz="22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b="0" lang="en-IN" sz="2500"/>
                        <a:t>3,60,000</a:t>
                      </a:r>
                      <a:endParaRPr b="0" sz="2500"/>
                    </a:p>
                  </a:txBody>
                  <a:tcPr marT="45725" marB="45725" marR="91450" marL="91450"/>
                </a:tc>
                <a:tc>
                  <a:txBody>
                    <a:bodyPr/>
                    <a:lstStyle/>
                    <a:p>
                      <a:pPr indent="0" lvl="0" marL="0" marR="0" rtl="0" algn="ctr">
                        <a:spcBef>
                          <a:spcPts val="0"/>
                        </a:spcBef>
                        <a:spcAft>
                          <a:spcPts val="0"/>
                        </a:spcAft>
                        <a:buNone/>
                      </a:pPr>
                      <a:r>
                        <a:rPr lang="en-IN" sz="2600"/>
                        <a:t>0.781</a:t>
                      </a:r>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2,81,160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3,60,000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0.610</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2,19,600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3,20,000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0.477</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1,52,640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b="0" lang="en-IN" sz="2500"/>
                        <a:t>3,20,000</a:t>
                      </a:r>
                      <a:endParaRPr b="0" sz="2500"/>
                    </a:p>
                  </a:txBody>
                  <a:tcPr marT="45725" marB="45725" marR="91450" marL="91450"/>
                </a:tc>
                <a:tc>
                  <a:txBody>
                    <a:bodyPr/>
                    <a:lstStyle/>
                    <a:p>
                      <a:pPr indent="0" lvl="0" marL="0" marR="0" rtl="0" algn="ctr">
                        <a:spcBef>
                          <a:spcPts val="0"/>
                        </a:spcBef>
                        <a:spcAft>
                          <a:spcPts val="0"/>
                        </a:spcAft>
                        <a:buNone/>
                      </a:pPr>
                      <a:r>
                        <a:rPr lang="en-IN" sz="2600"/>
                        <a:t>0.373</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1,19,360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b="0" lang="en-IN" sz="2500"/>
                        <a:t>2,40,000</a:t>
                      </a:r>
                      <a:endParaRPr b="0" sz="2500"/>
                    </a:p>
                  </a:txBody>
                  <a:tcPr marT="45725" marB="45725" marR="91450" marL="91450"/>
                </a:tc>
                <a:tc>
                  <a:txBody>
                    <a:bodyPr/>
                    <a:lstStyle/>
                    <a:p>
                      <a:pPr indent="0" lvl="0" marL="0" marR="0" rtl="0" algn="ctr">
                        <a:spcBef>
                          <a:spcPts val="0"/>
                        </a:spcBef>
                        <a:spcAft>
                          <a:spcPts val="0"/>
                        </a:spcAft>
                        <a:buNone/>
                      </a:pPr>
                      <a:r>
                        <a:rPr lang="en-IN" sz="2600"/>
                        <a:t>0.291</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    69,840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solidFill>
                            <a:srgbClr val="FF0000"/>
                          </a:solidFill>
                        </a:rPr>
                        <a:t>Total present</a:t>
                      </a:r>
                      <a:r>
                        <a:rPr b="0" lang="en-IN" sz="2500">
                          <a:solidFill>
                            <a:srgbClr val="FF0000"/>
                          </a:solidFill>
                        </a:rPr>
                        <a:t> value of cash inflows</a:t>
                      </a:r>
                      <a:endParaRPr b="0"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lang="en-IN" sz="2600">
                          <a:solidFill>
                            <a:srgbClr val="FF0000"/>
                          </a:solidFill>
                        </a:rPr>
                        <a:t>8,42,600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 </a:t>
                      </a:r>
                      <a:endParaRPr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t>Present value of cash out flow</a:t>
                      </a:r>
                      <a:endParaRPr b="0" sz="2500"/>
                    </a:p>
                  </a:txBody>
                  <a:tcPr marT="45725" marB="45725" marR="91450" marL="91450"/>
                </a:tc>
                <a:tc hMerge="1"/>
                <a:tc>
                  <a:txBody>
                    <a:bodyPr/>
                    <a:lstStyle/>
                    <a:p>
                      <a:pPr indent="0" lvl="0" marL="0" marR="0" rtl="0" algn="r">
                        <a:spcBef>
                          <a:spcPts val="0"/>
                        </a:spcBef>
                        <a:spcAft>
                          <a:spcPts val="0"/>
                        </a:spcAft>
                        <a:buNone/>
                      </a:pPr>
                      <a:r>
                        <a:rPr lang="en-IN" sz="2600"/>
                        <a:t>8,00,000</a:t>
                      </a:r>
                      <a:endParaRPr sz="26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600">
                          <a:solidFill>
                            <a:srgbClr val="FF0000"/>
                          </a:solidFill>
                        </a:rPr>
                        <a:t>42,600</a:t>
                      </a:r>
                      <a:endParaRPr b="1" sz="2600">
                        <a:solidFill>
                          <a:srgbClr val="FF0000"/>
                        </a:solidFill>
                      </a:endParaRPr>
                    </a:p>
                  </a:txBody>
                  <a:tcPr marT="45725" marB="45725" marR="91450" marL="91450"/>
                </a:tc>
              </a:tr>
            </a:tbl>
          </a:graphicData>
        </a:graphic>
      </p:graphicFrame>
      <p:pic>
        <p:nvPicPr>
          <p:cNvPr descr="Image result for sastra logo" id="778" name="Google Shape;778;p119"/>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20"/>
          <p:cNvSpPr txBox="1"/>
          <p:nvPr>
            <p:ph idx="1" type="body"/>
          </p:nvPr>
        </p:nvSpPr>
        <p:spPr>
          <a:xfrm>
            <a:off x="838200" y="769256"/>
            <a:ext cx="10515600" cy="591405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At 28% discounting rate, the present value is higher by Rs. 42,600. Hence higher discount rate should be taken. Taking it at 30%.</a:t>
            </a:r>
            <a:endParaRPr/>
          </a:p>
          <a:p>
            <a:pPr indent="0" lvl="0" marL="0" rtl="0" algn="ctr">
              <a:lnSpc>
                <a:spcPct val="90000"/>
              </a:lnSpc>
              <a:spcBef>
                <a:spcPts val="1000"/>
              </a:spcBef>
              <a:spcAft>
                <a:spcPts val="0"/>
              </a:spcAft>
              <a:buClr>
                <a:srgbClr val="FF0000"/>
              </a:buClr>
              <a:buSzPts val="2500"/>
              <a:buNone/>
            </a:pPr>
            <a:r>
              <a:rPr b="1" lang="en-IN" sz="2500">
                <a:solidFill>
                  <a:srgbClr val="FF0000"/>
                </a:solidFill>
              </a:rPr>
              <a:t>Computation of NPV</a:t>
            </a:r>
            <a:endParaRPr/>
          </a:p>
          <a:p>
            <a:pPr indent="0" lvl="0" marL="0" rtl="0" algn="just">
              <a:lnSpc>
                <a:spcPct val="90000"/>
              </a:lnSpc>
              <a:spcBef>
                <a:spcPts val="1000"/>
              </a:spcBef>
              <a:spcAft>
                <a:spcPts val="0"/>
              </a:spcAft>
              <a:buClr>
                <a:schemeClr val="dk1"/>
              </a:buClr>
              <a:buSzPts val="2500"/>
              <a:buNone/>
            </a:pPr>
            <a:r>
              <a:t/>
            </a:r>
            <a:endParaRPr sz="2500"/>
          </a:p>
        </p:txBody>
      </p:sp>
      <p:graphicFrame>
        <p:nvGraphicFramePr>
          <p:cNvPr id="784" name="Google Shape;784;p120"/>
          <p:cNvGraphicFramePr/>
          <p:nvPr/>
        </p:nvGraphicFramePr>
        <p:xfrm>
          <a:off x="838200" y="2019868"/>
          <a:ext cx="3000000" cy="3000000"/>
        </p:xfrm>
        <a:graphic>
          <a:graphicData uri="http://schemas.openxmlformats.org/drawingml/2006/table">
            <a:tbl>
              <a:tblPr bandRow="1" firstRow="1">
                <a:noFill/>
                <a:tableStyleId>{75140CFC-2FD2-45D3-AD89-D6322BEAE1F3}</a:tableStyleId>
              </a:tblPr>
              <a:tblGrid>
                <a:gridCol w="1106725"/>
                <a:gridCol w="2989950"/>
                <a:gridCol w="2844800"/>
                <a:gridCol w="3574150"/>
              </a:tblGrid>
              <a:tr h="663225">
                <a:tc>
                  <a:txBody>
                    <a:bodyPr/>
                    <a:lstStyle/>
                    <a:p>
                      <a:pPr indent="0" lvl="0" marL="0" marR="0" rtl="0" algn="ctr">
                        <a:spcBef>
                          <a:spcPts val="0"/>
                        </a:spcBef>
                        <a:spcAft>
                          <a:spcPts val="0"/>
                        </a:spcAft>
                        <a:buNone/>
                      </a:pPr>
                      <a:r>
                        <a:rPr b="0" lang="en-IN" sz="2200"/>
                        <a:t>Year </a:t>
                      </a:r>
                      <a:endParaRPr b="0" sz="2200"/>
                    </a:p>
                  </a:txBody>
                  <a:tcPr marT="45725" marB="45725" marR="91450" marL="91450"/>
                </a:tc>
                <a:tc>
                  <a:txBody>
                    <a:bodyPr/>
                    <a:lstStyle/>
                    <a:p>
                      <a:pPr indent="0" lvl="0" marL="0" marR="0" rtl="0" algn="ctr">
                        <a:spcBef>
                          <a:spcPts val="0"/>
                        </a:spcBef>
                        <a:spcAft>
                          <a:spcPts val="0"/>
                        </a:spcAft>
                        <a:buNone/>
                      </a:pPr>
                      <a:r>
                        <a:rPr b="0" lang="en-IN" sz="2200"/>
                        <a:t>Cash inflows </a:t>
                      </a:r>
                      <a:endParaRPr/>
                    </a:p>
                    <a:p>
                      <a:pPr indent="0" lvl="0" marL="0" marR="0" rtl="0" algn="ctr">
                        <a:spcBef>
                          <a:spcPts val="0"/>
                        </a:spcBef>
                        <a:spcAft>
                          <a:spcPts val="0"/>
                        </a:spcAft>
                        <a:buNone/>
                      </a:pPr>
                      <a:r>
                        <a:rPr b="0" lang="en-IN" sz="2200"/>
                        <a:t>Rs. </a:t>
                      </a:r>
                      <a:endParaRPr/>
                    </a:p>
                  </a:txBody>
                  <a:tcPr marT="45725" marB="45725" marR="91450" marL="91450"/>
                </a:tc>
                <a:tc>
                  <a:txBody>
                    <a:bodyPr/>
                    <a:lstStyle/>
                    <a:p>
                      <a:pPr indent="0" lvl="0" marL="0" marR="0" rtl="0" algn="ctr">
                        <a:spcBef>
                          <a:spcPts val="0"/>
                        </a:spcBef>
                        <a:spcAft>
                          <a:spcPts val="0"/>
                        </a:spcAft>
                        <a:buNone/>
                      </a:pPr>
                      <a:r>
                        <a:rPr b="0" lang="en-IN" sz="2200"/>
                        <a:t>Discount factor @30% </a:t>
                      </a:r>
                      <a:endParaRPr b="0" sz="2200"/>
                    </a:p>
                  </a:txBody>
                  <a:tcPr marT="45725" marB="45725" marR="91450" marL="91450"/>
                </a:tc>
                <a:tc>
                  <a:txBody>
                    <a:bodyPr/>
                    <a:lstStyle/>
                    <a:p>
                      <a:pPr indent="0" lvl="0" marL="0" marR="0" rtl="0" algn="r">
                        <a:spcBef>
                          <a:spcPts val="0"/>
                        </a:spcBef>
                        <a:spcAft>
                          <a:spcPts val="0"/>
                        </a:spcAft>
                        <a:buNone/>
                      </a:pPr>
                      <a:r>
                        <a:rPr b="0" lang="en-IN" sz="2200"/>
                        <a:t>Present value of cash in flows</a:t>
                      </a:r>
                      <a:endParaRPr/>
                    </a:p>
                    <a:p>
                      <a:pPr indent="0" lvl="0" marL="0" marR="0" rtl="0" algn="r">
                        <a:spcBef>
                          <a:spcPts val="0"/>
                        </a:spcBef>
                        <a:spcAft>
                          <a:spcPts val="0"/>
                        </a:spcAft>
                        <a:buNone/>
                      </a:pPr>
                      <a:r>
                        <a:rPr b="0" lang="en-IN" sz="2200"/>
                        <a:t>Rs. </a:t>
                      </a:r>
                      <a:endParaRPr b="0" sz="22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b="0" lang="en-IN" sz="2500"/>
                        <a:t>3,60,000</a:t>
                      </a:r>
                      <a:endParaRPr b="0" sz="2500"/>
                    </a:p>
                  </a:txBody>
                  <a:tcPr marT="45725" marB="45725" marR="91450" marL="91450"/>
                </a:tc>
                <a:tc>
                  <a:txBody>
                    <a:bodyPr/>
                    <a:lstStyle/>
                    <a:p>
                      <a:pPr indent="0" lvl="0" marL="0" marR="0" rtl="0" algn="ctr">
                        <a:spcBef>
                          <a:spcPts val="0"/>
                        </a:spcBef>
                        <a:spcAft>
                          <a:spcPts val="0"/>
                        </a:spcAft>
                        <a:buNone/>
                      </a:pPr>
                      <a:r>
                        <a:rPr lang="en-IN" sz="2600"/>
                        <a:t>0.769</a:t>
                      </a:r>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2,76,840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3,60,000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0.592</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2,13,120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3,20,000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0.455</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1,45,600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b="0" lang="en-IN" sz="2500"/>
                        <a:t>3,20,000</a:t>
                      </a:r>
                      <a:endParaRPr b="0" sz="2500"/>
                    </a:p>
                  </a:txBody>
                  <a:tcPr marT="45725" marB="45725" marR="91450" marL="91450"/>
                </a:tc>
                <a:tc>
                  <a:txBody>
                    <a:bodyPr/>
                    <a:lstStyle/>
                    <a:p>
                      <a:pPr indent="0" lvl="0" marL="0" marR="0" rtl="0" algn="ctr">
                        <a:spcBef>
                          <a:spcPts val="0"/>
                        </a:spcBef>
                        <a:spcAft>
                          <a:spcPts val="0"/>
                        </a:spcAft>
                        <a:buNone/>
                      </a:pPr>
                      <a:r>
                        <a:rPr lang="en-IN" sz="2600"/>
                        <a:t>0.350</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1,12,000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b="0" lang="en-IN" sz="2500"/>
                        <a:t>2,40,000</a:t>
                      </a:r>
                      <a:endParaRPr b="0" sz="2500"/>
                    </a:p>
                  </a:txBody>
                  <a:tcPr marT="45725" marB="45725" marR="91450" marL="91450"/>
                </a:tc>
                <a:tc>
                  <a:txBody>
                    <a:bodyPr/>
                    <a:lstStyle/>
                    <a:p>
                      <a:pPr indent="0" lvl="0" marL="0" marR="0" rtl="0" algn="ctr">
                        <a:spcBef>
                          <a:spcPts val="0"/>
                        </a:spcBef>
                        <a:spcAft>
                          <a:spcPts val="0"/>
                        </a:spcAft>
                        <a:buNone/>
                      </a:pPr>
                      <a:r>
                        <a:rPr lang="en-IN" sz="2600"/>
                        <a:t>0.269</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latin typeface="Calibri"/>
                          <a:ea typeface="Calibri"/>
                          <a:cs typeface="Calibri"/>
                          <a:sym typeface="Calibri"/>
                        </a:rPr>
                        <a:t>    64,560</a:t>
                      </a:r>
                      <a:endParaRPr sz="2600">
                        <a:solidFill>
                          <a:schemeClr val="dk1"/>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solidFill>
                            <a:srgbClr val="FF0000"/>
                          </a:solidFill>
                        </a:rPr>
                        <a:t>Total present</a:t>
                      </a:r>
                      <a:r>
                        <a:rPr b="0" lang="en-IN" sz="2500">
                          <a:solidFill>
                            <a:srgbClr val="FF0000"/>
                          </a:solidFill>
                        </a:rPr>
                        <a:t> value of cash inflows</a:t>
                      </a:r>
                      <a:endParaRPr b="0"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lang="en-IN" sz="2600">
                          <a:solidFill>
                            <a:srgbClr val="FF0000"/>
                          </a:solidFill>
                        </a:rPr>
                        <a:t>8,12,120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 </a:t>
                      </a:r>
                      <a:endParaRPr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t>Present value of cash out flow</a:t>
                      </a:r>
                      <a:endParaRPr b="0" sz="2500"/>
                    </a:p>
                  </a:txBody>
                  <a:tcPr marT="45725" marB="45725" marR="91450" marL="91450"/>
                </a:tc>
                <a:tc hMerge="1"/>
                <a:tc>
                  <a:txBody>
                    <a:bodyPr/>
                    <a:lstStyle/>
                    <a:p>
                      <a:pPr indent="0" lvl="0" marL="0" marR="0" rtl="0" algn="r">
                        <a:spcBef>
                          <a:spcPts val="0"/>
                        </a:spcBef>
                        <a:spcAft>
                          <a:spcPts val="0"/>
                        </a:spcAft>
                        <a:buNone/>
                      </a:pPr>
                      <a:r>
                        <a:rPr lang="en-IN" sz="2600"/>
                        <a:t>8,00,000</a:t>
                      </a:r>
                      <a:endParaRPr sz="26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600">
                          <a:solidFill>
                            <a:srgbClr val="FF0000"/>
                          </a:solidFill>
                        </a:rPr>
                        <a:t>12,120</a:t>
                      </a:r>
                      <a:endParaRPr b="1" sz="2600">
                        <a:solidFill>
                          <a:srgbClr val="FF0000"/>
                        </a:solidFill>
                      </a:endParaRPr>
                    </a:p>
                  </a:txBody>
                  <a:tcPr marT="45725" marB="45725" marR="91450" marL="91450"/>
                </a:tc>
              </a:tr>
            </a:tbl>
          </a:graphicData>
        </a:graphic>
      </p:graphicFrame>
      <p:pic>
        <p:nvPicPr>
          <p:cNvPr descr="Image result for sastra logo" id="785" name="Google Shape;785;p120"/>
          <p:cNvPicPr preferRelativeResize="0"/>
          <p:nvPr/>
        </p:nvPicPr>
        <p:blipFill rotWithShape="1">
          <a:blip r:embed="rId3">
            <a:alphaModFix/>
          </a:blip>
          <a:srcRect b="0" l="0" r="0" t="0"/>
          <a:stretch/>
        </p:blipFill>
        <p:spPr>
          <a:xfrm>
            <a:off x="9537700" y="212045"/>
            <a:ext cx="1816100" cy="557212"/>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21"/>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lang="en-IN" sz="2600">
                <a:solidFill>
                  <a:srgbClr val="FF0000"/>
                </a:solidFill>
              </a:rPr>
              <a:t>The present value at 30%is higher by Rs. 3,030. The IRR will therefore by slightly higher than 30%. Hence the rate may be taken as 30%.</a:t>
            </a:r>
            <a:endParaRPr sz="2600">
              <a:solidFill>
                <a:srgbClr val="FF0000"/>
              </a:solidFill>
            </a:endParaRPr>
          </a:p>
        </p:txBody>
      </p:sp>
      <p:pic>
        <p:nvPicPr>
          <p:cNvPr descr="Image result for sastra logo" id="791" name="Google Shape;791;p121"/>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22"/>
          <p:cNvSpPr txBox="1"/>
          <p:nvPr>
            <p:ph idx="1" type="body"/>
          </p:nvPr>
        </p:nvSpPr>
        <p:spPr>
          <a:xfrm>
            <a:off x="838200" y="885371"/>
            <a:ext cx="10515600" cy="557348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P21. X ltd. Is considering investing in a project requiring a capital outlay of Rs. 2,00,000. Forecast the annual net income after depreciation before tax are as follows: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Depreciation may be taken as 20% on original investment and taxation at 50%  of net income.</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797" name="Google Shape;797;p122"/>
          <p:cNvGraphicFramePr/>
          <p:nvPr/>
        </p:nvGraphicFramePr>
        <p:xfrm>
          <a:off x="838200" y="2110014"/>
          <a:ext cx="3000000" cy="3000000"/>
        </p:xfrm>
        <a:graphic>
          <a:graphicData uri="http://schemas.openxmlformats.org/drawingml/2006/table">
            <a:tbl>
              <a:tblPr bandRow="1" firstRow="1">
                <a:noFill/>
                <a:tableStyleId>{75140CFC-2FD2-45D3-AD89-D6322BEAE1F3}</a:tableStyleId>
              </a:tblPr>
              <a:tblGrid>
                <a:gridCol w="1092200"/>
                <a:gridCol w="9423400"/>
              </a:tblGrid>
              <a:tr h="754750">
                <a:tc>
                  <a:txBody>
                    <a:bodyPr/>
                    <a:lstStyle/>
                    <a:p>
                      <a:pPr indent="0" lvl="0" marL="0" marR="0" rtl="0" algn="ctr">
                        <a:spcBef>
                          <a:spcPts val="0"/>
                        </a:spcBef>
                        <a:spcAft>
                          <a:spcPts val="0"/>
                        </a:spcAft>
                        <a:buNone/>
                      </a:pPr>
                      <a:r>
                        <a:rPr lang="en-IN" sz="2200"/>
                        <a:t>Year </a:t>
                      </a:r>
                      <a:endParaRPr sz="2200"/>
                    </a:p>
                  </a:txBody>
                  <a:tcPr marT="45725" marB="45725" marR="91450" marL="91450"/>
                </a:tc>
                <a:tc>
                  <a:txBody>
                    <a:bodyPr/>
                    <a:lstStyle/>
                    <a:p>
                      <a:pPr indent="0" lvl="0" marL="0" marR="0" rtl="0" algn="ctr">
                        <a:spcBef>
                          <a:spcPts val="0"/>
                        </a:spcBef>
                        <a:spcAft>
                          <a:spcPts val="0"/>
                        </a:spcAft>
                        <a:buNone/>
                      </a:pPr>
                      <a:r>
                        <a:rPr lang="en-IN" sz="2200"/>
                        <a:t>Annual net income after depreciation before tax</a:t>
                      </a:r>
                      <a:endParaRPr/>
                    </a:p>
                    <a:p>
                      <a:pPr indent="0" lvl="0" marL="0" marR="0" rtl="0" algn="ctr">
                        <a:spcBef>
                          <a:spcPts val="0"/>
                        </a:spcBef>
                        <a:spcAft>
                          <a:spcPts val="0"/>
                        </a:spcAft>
                        <a:buNone/>
                      </a:pPr>
                      <a:r>
                        <a:rPr lang="en-IN" sz="2200"/>
                        <a:t>Rs.  </a:t>
                      </a:r>
                      <a:endParaRPr sz="22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1,00,000</a:t>
                      </a:r>
                      <a:endParaRPr sz="25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lang="en-IN" sz="2500"/>
                        <a:t>1,00,000</a:t>
                      </a:r>
                      <a:endParaRPr sz="25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   80,000</a:t>
                      </a:r>
                      <a:endParaRPr sz="25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   80,000</a:t>
                      </a:r>
                      <a:endParaRPr sz="25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   40,000</a:t>
                      </a:r>
                      <a:endParaRPr sz="2500"/>
                    </a:p>
                  </a:txBody>
                  <a:tcPr marT="45725" marB="45725" marR="91450" marL="91450"/>
                </a:tc>
              </a:tr>
            </a:tbl>
          </a:graphicData>
        </a:graphic>
      </p:graphicFrame>
      <p:pic>
        <p:nvPicPr>
          <p:cNvPr descr="Image result for sastra logo" id="798" name="Google Shape;798;p12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23"/>
          <p:cNvSpPr txBox="1"/>
          <p:nvPr>
            <p:ph idx="1" type="body"/>
          </p:nvPr>
        </p:nvSpPr>
        <p:spPr>
          <a:xfrm>
            <a:off x="794657" y="838654"/>
            <a:ext cx="10515600" cy="495254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You are required to evaluate the project according to each of the following methods:</a:t>
            </a:r>
            <a:endParaRPr/>
          </a:p>
          <a:p>
            <a:pPr indent="-514350" lvl="0" marL="514350" rtl="0" algn="l">
              <a:lnSpc>
                <a:spcPct val="90000"/>
              </a:lnSpc>
              <a:spcBef>
                <a:spcPts val="1000"/>
              </a:spcBef>
              <a:spcAft>
                <a:spcPts val="0"/>
              </a:spcAft>
              <a:buClr>
                <a:schemeClr val="dk1"/>
              </a:buClr>
              <a:buSzPts val="2600"/>
              <a:buAutoNum type="alphaLcParenR"/>
            </a:pPr>
            <a:r>
              <a:rPr lang="en-IN" sz="2600"/>
              <a:t>Payback period method,</a:t>
            </a:r>
            <a:endParaRPr/>
          </a:p>
          <a:p>
            <a:pPr indent="-514350" lvl="0" marL="514350" rtl="0" algn="l">
              <a:lnSpc>
                <a:spcPct val="90000"/>
              </a:lnSpc>
              <a:spcBef>
                <a:spcPts val="1000"/>
              </a:spcBef>
              <a:spcAft>
                <a:spcPts val="0"/>
              </a:spcAft>
              <a:buClr>
                <a:schemeClr val="dk1"/>
              </a:buClr>
              <a:buSzPts val="2600"/>
              <a:buAutoNum type="alphaLcParenR"/>
            </a:pPr>
            <a:r>
              <a:rPr lang="en-IN" sz="2600"/>
              <a:t>Return on original investment method,</a:t>
            </a:r>
            <a:endParaRPr/>
          </a:p>
          <a:p>
            <a:pPr indent="-514350" lvl="0" marL="514350" rtl="0" algn="l">
              <a:lnSpc>
                <a:spcPct val="90000"/>
              </a:lnSpc>
              <a:spcBef>
                <a:spcPts val="1000"/>
              </a:spcBef>
              <a:spcAft>
                <a:spcPts val="0"/>
              </a:spcAft>
              <a:buClr>
                <a:schemeClr val="dk1"/>
              </a:buClr>
              <a:buSzPts val="2600"/>
              <a:buAutoNum type="alphaLcParenR"/>
            </a:pPr>
            <a:r>
              <a:rPr lang="en-IN" sz="2600"/>
              <a:t>Return on average investment method,</a:t>
            </a:r>
            <a:endParaRPr/>
          </a:p>
          <a:p>
            <a:pPr indent="-514350" lvl="0" marL="514350" rtl="0" algn="l">
              <a:lnSpc>
                <a:spcPct val="90000"/>
              </a:lnSpc>
              <a:spcBef>
                <a:spcPts val="1000"/>
              </a:spcBef>
              <a:spcAft>
                <a:spcPts val="0"/>
              </a:spcAft>
              <a:buClr>
                <a:schemeClr val="dk1"/>
              </a:buClr>
              <a:buSzPts val="2600"/>
              <a:buAutoNum type="alphaLcParenR"/>
            </a:pPr>
            <a:r>
              <a:rPr lang="en-IN" sz="2600"/>
              <a:t>NPV method @10%,</a:t>
            </a:r>
            <a:endParaRPr/>
          </a:p>
          <a:p>
            <a:pPr indent="-514350" lvl="0" marL="514350" rtl="0" algn="l">
              <a:lnSpc>
                <a:spcPct val="90000"/>
              </a:lnSpc>
              <a:spcBef>
                <a:spcPts val="1000"/>
              </a:spcBef>
              <a:spcAft>
                <a:spcPts val="0"/>
              </a:spcAft>
              <a:buClr>
                <a:schemeClr val="dk1"/>
              </a:buClr>
              <a:buSzPts val="2600"/>
              <a:buAutoNum type="alphaLcParenR"/>
            </a:pPr>
            <a:r>
              <a:rPr lang="en-IN" sz="2600"/>
              <a:t>Present Value Index method,</a:t>
            </a:r>
            <a:endParaRPr/>
          </a:p>
          <a:p>
            <a:pPr indent="-514350" lvl="0" marL="514350" rtl="0" algn="l">
              <a:lnSpc>
                <a:spcPct val="90000"/>
              </a:lnSpc>
              <a:spcBef>
                <a:spcPts val="1000"/>
              </a:spcBef>
              <a:spcAft>
                <a:spcPts val="0"/>
              </a:spcAft>
              <a:buClr>
                <a:schemeClr val="dk1"/>
              </a:buClr>
              <a:buSzPts val="2600"/>
              <a:buAutoNum type="alphaLcParenR"/>
            </a:pPr>
            <a:r>
              <a:rPr lang="en-IN" sz="2600"/>
              <a:t>IRR method.</a:t>
            </a:r>
            <a:endParaRPr sz="2600"/>
          </a:p>
        </p:txBody>
      </p:sp>
      <p:pic>
        <p:nvPicPr>
          <p:cNvPr descr="Image result for sastra logo" id="804" name="Google Shape;804;p123"/>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24"/>
          <p:cNvSpPr txBox="1"/>
          <p:nvPr>
            <p:ph idx="1" type="body"/>
          </p:nvPr>
        </p:nvSpPr>
        <p:spPr>
          <a:xfrm>
            <a:off x="838200" y="827314"/>
            <a:ext cx="10515600" cy="534964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500"/>
              <a:buNone/>
            </a:pPr>
            <a:r>
              <a:rPr b="1" lang="en-IN" sz="2500">
                <a:solidFill>
                  <a:srgbClr val="FF0000"/>
                </a:solidFill>
              </a:rPr>
              <a:t>Solution:</a:t>
            </a:r>
            <a:endParaRPr/>
          </a:p>
          <a:p>
            <a:pPr indent="-514350" lvl="0" marL="514350" rtl="0" algn="l">
              <a:lnSpc>
                <a:spcPct val="90000"/>
              </a:lnSpc>
              <a:spcBef>
                <a:spcPts val="1000"/>
              </a:spcBef>
              <a:spcAft>
                <a:spcPts val="0"/>
              </a:spcAft>
              <a:buClr>
                <a:srgbClr val="00B050"/>
              </a:buClr>
              <a:buSzPts val="2500"/>
              <a:buAutoNum type="alphaLcParenR"/>
            </a:pPr>
            <a:r>
              <a:rPr b="1" lang="en-IN" sz="2500">
                <a:solidFill>
                  <a:srgbClr val="00B050"/>
                </a:solidFill>
              </a:rPr>
              <a:t>Payback period method:</a:t>
            </a:r>
            <a:endParaRPr/>
          </a:p>
          <a:p>
            <a:pPr indent="0" lvl="0" marL="0" rtl="0" algn="ctr">
              <a:lnSpc>
                <a:spcPct val="90000"/>
              </a:lnSpc>
              <a:spcBef>
                <a:spcPts val="1000"/>
              </a:spcBef>
              <a:spcAft>
                <a:spcPts val="0"/>
              </a:spcAft>
              <a:buClr>
                <a:srgbClr val="FF0000"/>
              </a:buClr>
              <a:buSzPts val="2500"/>
              <a:buNone/>
            </a:pPr>
            <a:r>
              <a:rPr b="1" lang="en-IN" sz="2500">
                <a:solidFill>
                  <a:srgbClr val="FF0000"/>
                </a:solidFill>
              </a:rPr>
              <a:t>Statement showing Cumulative cash inflow</a:t>
            </a:r>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ctr">
              <a:lnSpc>
                <a:spcPct val="90000"/>
              </a:lnSpc>
              <a:spcBef>
                <a:spcPts val="1000"/>
              </a:spcBef>
              <a:spcAft>
                <a:spcPts val="0"/>
              </a:spcAft>
              <a:buClr>
                <a:schemeClr val="dk1"/>
              </a:buClr>
              <a:buSzPts val="2500"/>
              <a:buNone/>
            </a:pPr>
            <a:r>
              <a:t/>
            </a:r>
            <a:endParaRPr sz="2500">
              <a:solidFill>
                <a:srgbClr val="FF0000"/>
              </a:solidFill>
            </a:endParaRPr>
          </a:p>
          <a:p>
            <a:pPr indent="0" lvl="0" marL="0" rtl="0" algn="l">
              <a:lnSpc>
                <a:spcPct val="90000"/>
              </a:lnSpc>
              <a:spcBef>
                <a:spcPts val="1000"/>
              </a:spcBef>
              <a:spcAft>
                <a:spcPts val="0"/>
              </a:spcAft>
              <a:buClr>
                <a:srgbClr val="FF0000"/>
              </a:buClr>
              <a:buSzPts val="2500"/>
              <a:buNone/>
            </a:pPr>
            <a:r>
              <a:rPr b="1" lang="en-IN" sz="2500">
                <a:solidFill>
                  <a:srgbClr val="FF0000"/>
                </a:solidFill>
              </a:rPr>
              <a:t>Note: Depreciation = 2,00,000/5 Years = 40,000</a:t>
            </a:r>
            <a:endParaRPr/>
          </a:p>
          <a:p>
            <a:pPr indent="0" lvl="0" marL="0" rtl="0" algn="ctr">
              <a:lnSpc>
                <a:spcPct val="90000"/>
              </a:lnSpc>
              <a:spcBef>
                <a:spcPts val="1000"/>
              </a:spcBef>
              <a:spcAft>
                <a:spcPts val="0"/>
              </a:spcAft>
              <a:buClr>
                <a:schemeClr val="dk1"/>
              </a:buClr>
              <a:buSzPts val="2500"/>
              <a:buNone/>
            </a:pPr>
            <a:r>
              <a:t/>
            </a:r>
            <a:endParaRPr sz="2500"/>
          </a:p>
        </p:txBody>
      </p:sp>
      <p:graphicFrame>
        <p:nvGraphicFramePr>
          <p:cNvPr id="810" name="Google Shape;810;p124"/>
          <p:cNvGraphicFramePr/>
          <p:nvPr/>
        </p:nvGraphicFramePr>
        <p:xfrm>
          <a:off x="838204" y="2330752"/>
          <a:ext cx="3000000" cy="3000000"/>
        </p:xfrm>
        <a:graphic>
          <a:graphicData uri="http://schemas.openxmlformats.org/drawingml/2006/table">
            <a:tbl>
              <a:tblPr bandRow="1" firstRow="1">
                <a:noFill/>
                <a:tableStyleId>{75140CFC-2FD2-45D3-AD89-D6322BEAE1F3}</a:tableStyleId>
              </a:tblPr>
              <a:tblGrid>
                <a:gridCol w="685800"/>
                <a:gridCol w="1915875"/>
                <a:gridCol w="1741725"/>
                <a:gridCol w="1393375"/>
                <a:gridCol w="1393375"/>
                <a:gridCol w="1465950"/>
                <a:gridCol w="1919525"/>
              </a:tblGrid>
              <a:tr h="370850">
                <a:tc>
                  <a:txBody>
                    <a:bodyPr/>
                    <a:lstStyle/>
                    <a:p>
                      <a:pPr indent="0" lvl="0" marL="0" marR="0" rtl="0" algn="l">
                        <a:spcBef>
                          <a:spcPts val="0"/>
                        </a:spcBef>
                        <a:spcAft>
                          <a:spcPts val="0"/>
                        </a:spcAft>
                        <a:buNone/>
                      </a:pPr>
                      <a:r>
                        <a:rPr lang="en-IN" sz="1800"/>
                        <a:t>Year</a:t>
                      </a:r>
                      <a:endParaRPr sz="1800"/>
                    </a:p>
                  </a:txBody>
                  <a:tcPr marT="45725" marB="45725" marR="91450" marL="91450"/>
                </a:tc>
                <a:tc>
                  <a:txBody>
                    <a:bodyPr/>
                    <a:lstStyle/>
                    <a:p>
                      <a:pPr indent="0" lvl="0" marL="0" marR="0" rtl="0" algn="ctr">
                        <a:spcBef>
                          <a:spcPts val="0"/>
                        </a:spcBef>
                        <a:spcAft>
                          <a:spcPts val="0"/>
                        </a:spcAft>
                        <a:buNone/>
                      </a:pPr>
                      <a:r>
                        <a:rPr lang="en-IN" sz="1800"/>
                        <a:t>Profit</a:t>
                      </a:r>
                      <a:r>
                        <a:rPr lang="en-IN" sz="1800"/>
                        <a:t> before tax</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Less:</a:t>
                      </a:r>
                      <a:r>
                        <a:rPr lang="en-IN" sz="1800"/>
                        <a:t> Tax @50%</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PAT</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Add: Dep</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CFAT</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Cumulative CFAT</a:t>
                      </a:r>
                      <a:endParaRPr/>
                    </a:p>
                    <a:p>
                      <a:pPr indent="0" lvl="0" marL="0" marR="0" rtl="0" algn="ctr">
                        <a:spcBef>
                          <a:spcPts val="0"/>
                        </a:spcBef>
                        <a:spcAft>
                          <a:spcPts val="0"/>
                        </a:spcAft>
                        <a:buNone/>
                      </a:pPr>
                      <a:r>
                        <a:rPr lang="en-IN" sz="1800"/>
                        <a:t>Rs.</a:t>
                      </a:r>
                      <a:endParaRPr sz="1800"/>
                    </a:p>
                  </a:txBody>
                  <a:tcPr marT="45725" marB="45725" marR="91450" marL="91450"/>
                </a:tc>
              </a:tr>
              <a:tr h="370850">
                <a:tc>
                  <a:txBody>
                    <a:bodyPr/>
                    <a:lstStyle/>
                    <a:p>
                      <a:pPr indent="0" lvl="0" marL="0" marR="0" rtl="0" algn="l">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1,00,000</a:t>
                      </a:r>
                      <a:endParaRPr sz="2500"/>
                    </a:p>
                  </a:txBody>
                  <a:tcPr marT="45725" marB="45725" marR="91450" marL="91450"/>
                </a:tc>
                <a:tc>
                  <a:txBody>
                    <a:bodyPr/>
                    <a:lstStyle/>
                    <a:p>
                      <a:pPr indent="0" lvl="0" marL="0" marR="0" rtl="0" algn="ctr">
                        <a:spcBef>
                          <a:spcPts val="0"/>
                        </a:spcBef>
                        <a:spcAft>
                          <a:spcPts val="0"/>
                        </a:spcAft>
                        <a:buNone/>
                      </a:pPr>
                      <a:r>
                        <a:rPr lang="en-IN" sz="2500"/>
                        <a:t>50,000</a:t>
                      </a:r>
                      <a:endParaRPr sz="2500"/>
                    </a:p>
                  </a:txBody>
                  <a:tcPr marT="45725" marB="45725" marR="91450" marL="91450"/>
                </a:tc>
                <a:tc>
                  <a:txBody>
                    <a:bodyPr/>
                    <a:lstStyle/>
                    <a:p>
                      <a:pPr indent="0" lvl="0" marL="0" marR="0" rtl="0" algn="ctr">
                        <a:spcBef>
                          <a:spcPts val="0"/>
                        </a:spcBef>
                        <a:spcAft>
                          <a:spcPts val="0"/>
                        </a:spcAft>
                        <a:buNone/>
                      </a:pPr>
                      <a:r>
                        <a:rPr lang="en-IN" sz="2500"/>
                        <a:t>50,000</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c>
                  <a:txBody>
                    <a:bodyPr/>
                    <a:lstStyle/>
                    <a:p>
                      <a:pPr indent="0" lvl="0" marL="0" marR="0" rtl="0" algn="ctr">
                        <a:spcBef>
                          <a:spcPts val="0"/>
                        </a:spcBef>
                        <a:spcAft>
                          <a:spcPts val="0"/>
                        </a:spcAft>
                        <a:buNone/>
                      </a:pPr>
                      <a:r>
                        <a:rPr lang="en-IN" sz="2500"/>
                        <a:t>90,000</a:t>
                      </a:r>
                      <a:endParaRPr sz="2500"/>
                    </a:p>
                  </a:txBody>
                  <a:tcPr marT="45725" marB="45725" marR="91450" marL="91450"/>
                </a:tc>
                <a:tc>
                  <a:txBody>
                    <a:bodyPr/>
                    <a:lstStyle/>
                    <a:p>
                      <a:pPr indent="0" lvl="0" marL="0" marR="0" rtl="0" algn="ctr">
                        <a:spcBef>
                          <a:spcPts val="0"/>
                        </a:spcBef>
                        <a:spcAft>
                          <a:spcPts val="0"/>
                        </a:spcAft>
                        <a:buNone/>
                      </a:pPr>
                      <a:r>
                        <a:rPr lang="en-IN" sz="2500"/>
                        <a:t>    90,000</a:t>
                      </a:r>
                      <a:endParaRPr sz="2500"/>
                    </a:p>
                  </a:txBody>
                  <a:tcPr marT="45725" marB="45725" marR="91450" marL="91450"/>
                </a:tc>
              </a:tr>
              <a:tr h="370850">
                <a:tc>
                  <a:txBody>
                    <a:bodyPr/>
                    <a:lstStyle/>
                    <a:p>
                      <a:pPr indent="0" lvl="0" marL="0" marR="0" rtl="0" algn="l">
                        <a:spcBef>
                          <a:spcPts val="0"/>
                        </a:spcBef>
                        <a:spcAft>
                          <a:spcPts val="0"/>
                        </a:spcAft>
                        <a:buNone/>
                      </a:pPr>
                      <a:r>
                        <a:rPr b="1" lang="en-IN" sz="2500">
                          <a:solidFill>
                            <a:srgbClr val="FF0000"/>
                          </a:solidFill>
                        </a:rPr>
                        <a:t>2.</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500"/>
                        <a:t>1,00,000</a:t>
                      </a:r>
                      <a:endParaRPr sz="2500"/>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50,000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50,000</a:t>
                      </a:r>
                      <a:endParaRPr b="1" sz="25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40,000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90,000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1,80,000</a:t>
                      </a:r>
                      <a:endParaRPr b="1" sz="25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lang="en-IN" sz="2500"/>
                        <a:t>   80,000</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c>
                  <a:txBody>
                    <a:bodyPr/>
                    <a:lstStyle/>
                    <a:p>
                      <a:pPr indent="0" lvl="0" marL="0" marR="0" rtl="0" algn="ct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40,000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1" lang="en-IN" sz="2500">
                          <a:solidFill>
                            <a:srgbClr val="FF0000"/>
                          </a:solidFill>
                        </a:rPr>
                        <a:t>80,000</a:t>
                      </a:r>
                      <a:endParaRPr b="1" sz="2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500"/>
                        <a:t>2,60,000</a:t>
                      </a:r>
                      <a:endParaRPr sz="2500"/>
                    </a:p>
                  </a:txBody>
                  <a:tcPr marT="45725" marB="45725" marR="91450" marL="91450"/>
                </a:tc>
              </a:tr>
              <a:tr h="370850">
                <a:tc>
                  <a:txBody>
                    <a:bodyPr/>
                    <a:lstStyle/>
                    <a:p>
                      <a:pPr indent="0" lvl="0" marL="0" marR="0" rtl="0" algn="l">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   80,000</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c>
                  <a:txBody>
                    <a:bodyPr/>
                    <a:lstStyle/>
                    <a:p>
                      <a:pPr indent="0" lvl="0" marL="0" marR="0" rtl="0" algn="ctr">
                        <a:spcBef>
                          <a:spcPts val="0"/>
                        </a:spcBef>
                        <a:spcAft>
                          <a:spcPts val="0"/>
                        </a:spcAft>
                        <a:buNone/>
                      </a:pPr>
                      <a:r>
                        <a:rPr lang="en-IN" sz="2500"/>
                        <a:t>40,000</a:t>
                      </a:r>
                      <a:endParaRPr sz="2500"/>
                    </a:p>
                  </a:txBody>
                  <a:tcPr marT="45725" marB="45725" marR="91450" marL="91450"/>
                </a:tc>
                <a:tc>
                  <a:txBody>
                    <a:bodyPr/>
                    <a:lstStyle/>
                    <a:p>
                      <a:pPr indent="0" lvl="0" marL="0" marR="0" rtl="0" algn="ct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40,000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IN" sz="2500"/>
                        <a:t>80,000</a:t>
                      </a:r>
                      <a:endParaRPr sz="2500"/>
                    </a:p>
                  </a:txBody>
                  <a:tcPr marT="45725" marB="45725" marR="91450" marL="91450"/>
                </a:tc>
                <a:tc>
                  <a:txBody>
                    <a:bodyPr/>
                    <a:lstStyle/>
                    <a:p>
                      <a:pPr indent="0" lvl="0" marL="0" marR="0" rtl="0" algn="ctr">
                        <a:spcBef>
                          <a:spcPts val="0"/>
                        </a:spcBef>
                        <a:spcAft>
                          <a:spcPts val="0"/>
                        </a:spcAft>
                        <a:buNone/>
                      </a:pPr>
                      <a:r>
                        <a:rPr lang="en-IN" sz="2500"/>
                        <a:t>3,40,000</a:t>
                      </a:r>
                      <a:endParaRPr sz="2500"/>
                    </a:p>
                  </a:txBody>
                  <a:tcPr marT="45725" marB="45725" marR="91450" marL="91450"/>
                </a:tc>
              </a:tr>
              <a:tr h="370850">
                <a:tc>
                  <a:txBody>
                    <a:bodyPr/>
                    <a:lstStyle/>
                    <a:p>
                      <a:pPr indent="0" lvl="0" marL="0" marR="0" rtl="0" algn="l">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   40,000</a:t>
                      </a:r>
                      <a:endParaRPr sz="2500"/>
                    </a:p>
                  </a:txBody>
                  <a:tcPr marT="45725" marB="45725" marR="91450" marL="91450"/>
                </a:tc>
                <a:tc>
                  <a:txBody>
                    <a:bodyPr/>
                    <a:lstStyle/>
                    <a:p>
                      <a:pPr indent="0" lvl="0" marL="0" marR="0" rtl="0" algn="ctr">
                        <a:spcBef>
                          <a:spcPts val="0"/>
                        </a:spcBef>
                        <a:spcAft>
                          <a:spcPts val="0"/>
                        </a:spcAft>
                        <a:buNone/>
                      </a:pPr>
                      <a:r>
                        <a:rPr lang="en-IN" sz="2500"/>
                        <a:t>20,000</a:t>
                      </a:r>
                      <a:endParaRPr sz="2500"/>
                    </a:p>
                  </a:txBody>
                  <a:tcPr marT="45725" marB="45725" marR="91450" marL="91450"/>
                </a:tc>
                <a:tc>
                  <a:txBody>
                    <a:bodyPr/>
                    <a:lstStyle/>
                    <a:p>
                      <a:pPr indent="0" lvl="0" marL="0" marR="0" rtl="0" algn="ctr">
                        <a:spcBef>
                          <a:spcPts val="0"/>
                        </a:spcBef>
                        <a:spcAft>
                          <a:spcPts val="0"/>
                        </a:spcAft>
                        <a:buNone/>
                      </a:pPr>
                      <a:r>
                        <a:rPr lang="en-IN" sz="2500"/>
                        <a:t>20,000</a:t>
                      </a:r>
                      <a:endParaRPr sz="2500"/>
                    </a:p>
                  </a:txBody>
                  <a:tcPr marT="45725" marB="45725" marR="91450" marL="91450"/>
                </a:tc>
                <a:tc>
                  <a:txBody>
                    <a:bodyPr/>
                    <a:lstStyle/>
                    <a:p>
                      <a:pPr indent="0" lvl="0" marL="0" marR="0" rtl="0" algn="ctr">
                        <a:lnSpc>
                          <a:spcPct val="100000"/>
                        </a:lnSpc>
                        <a:spcBef>
                          <a:spcPts val="0"/>
                        </a:spcBef>
                        <a:spcAft>
                          <a:spcPts val="0"/>
                        </a:spcAft>
                        <a:buClr>
                          <a:srgbClr val="000000"/>
                        </a:buClr>
                        <a:buSzPts val="2500"/>
                        <a:buFont typeface="Calibri"/>
                        <a:buNone/>
                      </a:pPr>
                      <a:r>
                        <a:rPr b="0" i="0" lang="en-IN" sz="2500" u="none" cap="none" strike="noStrike">
                          <a:solidFill>
                            <a:srgbClr val="000000"/>
                          </a:solidFill>
                          <a:latin typeface="Calibri"/>
                          <a:ea typeface="Calibri"/>
                          <a:cs typeface="Calibri"/>
                          <a:sym typeface="Calibri"/>
                        </a:rPr>
                        <a:t>40,000</a:t>
                      </a:r>
                      <a:endParaRPr b="0" i="0" sz="2500" u="none" cap="none" strike="noStrike">
                        <a:solidFill>
                          <a:srgbClr val="00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IN" sz="2500"/>
                        <a:t>60,000</a:t>
                      </a:r>
                      <a:endParaRPr sz="2500"/>
                    </a:p>
                  </a:txBody>
                  <a:tcPr marT="45725" marB="45725" marR="91450" marL="91450"/>
                </a:tc>
                <a:tc>
                  <a:txBody>
                    <a:bodyPr/>
                    <a:lstStyle/>
                    <a:p>
                      <a:pPr indent="0" lvl="0" marL="0" marR="0" rtl="0" algn="ctr">
                        <a:spcBef>
                          <a:spcPts val="0"/>
                        </a:spcBef>
                        <a:spcAft>
                          <a:spcPts val="0"/>
                        </a:spcAft>
                        <a:buNone/>
                      </a:pPr>
                      <a:r>
                        <a:rPr lang="en-IN" sz="2500"/>
                        <a:t>4,00,000</a:t>
                      </a:r>
                      <a:endParaRPr sz="2500"/>
                    </a:p>
                  </a:txBody>
                  <a:tcPr marT="45725" marB="45725" marR="91450" marL="91450"/>
                </a:tc>
              </a:tr>
            </a:tbl>
          </a:graphicData>
        </a:graphic>
      </p:graphicFrame>
      <p:cxnSp>
        <p:nvCxnSpPr>
          <p:cNvPr id="811" name="Google Shape;811;p124"/>
          <p:cNvCxnSpPr/>
          <p:nvPr/>
        </p:nvCxnSpPr>
        <p:spPr>
          <a:xfrm flipH="1">
            <a:off x="9202057" y="3715657"/>
            <a:ext cx="667660" cy="377372"/>
          </a:xfrm>
          <a:prstGeom prst="straightConnector1">
            <a:avLst/>
          </a:prstGeom>
          <a:noFill/>
          <a:ln cap="flat" cmpd="sng" w="9525">
            <a:solidFill>
              <a:schemeClr val="accent1"/>
            </a:solidFill>
            <a:prstDash val="solid"/>
            <a:miter lim="800000"/>
            <a:headEnd len="sm" w="sm" type="none"/>
            <a:tailEnd len="sm" w="sm" type="none"/>
          </a:ln>
        </p:spPr>
      </p:cxnSp>
      <p:pic>
        <p:nvPicPr>
          <p:cNvPr descr="Image result for sastra logo" id="812" name="Google Shape;812;p124"/>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25"/>
          <p:cNvSpPr txBox="1"/>
          <p:nvPr>
            <p:ph idx="1" type="body"/>
          </p:nvPr>
        </p:nvSpPr>
        <p:spPr>
          <a:xfrm>
            <a:off x="838200" y="870857"/>
            <a:ext cx="10515600" cy="53557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Payback period = 2 years + {[Rs. 20,000/Rs. 80,000] × 12}</a:t>
            </a:r>
            <a:endParaRPr/>
          </a:p>
          <a:p>
            <a:pPr indent="0" lvl="0" marL="0" rtl="0" algn="l">
              <a:lnSpc>
                <a:spcPct val="90000"/>
              </a:lnSpc>
              <a:spcBef>
                <a:spcPts val="1000"/>
              </a:spcBef>
              <a:spcAft>
                <a:spcPts val="0"/>
              </a:spcAft>
              <a:buClr>
                <a:schemeClr val="dk1"/>
              </a:buClr>
              <a:buSzPts val="2600"/>
              <a:buNone/>
            </a:pPr>
            <a:r>
              <a:rPr lang="en-IN" sz="2600"/>
              <a:t>		</a:t>
            </a:r>
            <a:r>
              <a:rPr lang="en-IN" sz="2600">
                <a:solidFill>
                  <a:srgbClr val="FF0000"/>
                </a:solidFill>
              </a:rPr>
              <a:t>= 2 years + 3 months</a:t>
            </a:r>
            <a:endParaRPr/>
          </a:p>
          <a:p>
            <a:pPr indent="0" lvl="0" marL="0" rtl="0" algn="l">
              <a:lnSpc>
                <a:spcPct val="90000"/>
              </a:lnSpc>
              <a:spcBef>
                <a:spcPts val="1000"/>
              </a:spcBef>
              <a:spcAft>
                <a:spcPts val="0"/>
              </a:spcAft>
              <a:buClr>
                <a:srgbClr val="00B050"/>
              </a:buClr>
              <a:buSzPts val="2600"/>
              <a:buNone/>
            </a:pPr>
            <a:r>
              <a:rPr b="1" lang="en-IN" sz="2600">
                <a:solidFill>
                  <a:srgbClr val="00B050"/>
                </a:solidFill>
              </a:rPr>
              <a:t>b) Return on original investment method:</a:t>
            </a:r>
            <a:endParaRPr/>
          </a:p>
          <a:p>
            <a:pPr indent="0" lvl="0" marL="0" rtl="0" algn="l">
              <a:lnSpc>
                <a:spcPct val="90000"/>
              </a:lnSpc>
              <a:spcBef>
                <a:spcPts val="1000"/>
              </a:spcBef>
              <a:spcAft>
                <a:spcPts val="0"/>
              </a:spcAft>
              <a:buClr>
                <a:schemeClr val="dk1"/>
              </a:buClr>
              <a:buSzPts val="2600"/>
              <a:buNone/>
            </a:pPr>
            <a:r>
              <a:rPr lang="en-IN" sz="2600"/>
              <a:t>ROI = [Average profit after tax / Original Investment] × 100</a:t>
            </a:r>
            <a:endParaRPr/>
          </a:p>
          <a:p>
            <a:pPr indent="0" lvl="0" marL="0" rtl="0" algn="l">
              <a:lnSpc>
                <a:spcPct val="90000"/>
              </a:lnSpc>
              <a:spcBef>
                <a:spcPts val="1000"/>
              </a:spcBef>
              <a:spcAft>
                <a:spcPts val="0"/>
              </a:spcAft>
              <a:buClr>
                <a:schemeClr val="dk1"/>
              </a:buClr>
              <a:buSzPts val="2600"/>
              <a:buNone/>
            </a:pPr>
            <a:r>
              <a:rPr lang="en-IN" sz="2600"/>
              <a:t>= [Rs. 40,000/Rs. 2,00,000] × 100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20%</a:t>
            </a:r>
            <a:endParaRPr sz="2600">
              <a:solidFill>
                <a:srgbClr val="FF0000"/>
              </a:solidFill>
            </a:endParaRPr>
          </a:p>
          <a:p>
            <a:pPr indent="0" lvl="0" marL="0" rtl="0" algn="l">
              <a:lnSpc>
                <a:spcPct val="90000"/>
              </a:lnSpc>
              <a:spcBef>
                <a:spcPts val="1000"/>
              </a:spcBef>
              <a:spcAft>
                <a:spcPts val="0"/>
              </a:spcAft>
              <a:buClr>
                <a:srgbClr val="00B050"/>
              </a:buClr>
              <a:buSzPts val="2600"/>
              <a:buNone/>
            </a:pPr>
            <a:r>
              <a:rPr b="1" lang="en-IN" sz="2600">
                <a:solidFill>
                  <a:srgbClr val="00B050"/>
                </a:solidFill>
              </a:rPr>
              <a:t>c) Return on average investment method:</a:t>
            </a:r>
            <a:endParaRPr b="1" sz="2600">
              <a:solidFill>
                <a:srgbClr val="00B050"/>
              </a:solidFill>
            </a:endParaRPr>
          </a:p>
          <a:p>
            <a:pPr indent="0" lvl="0" marL="0" rtl="0" algn="l">
              <a:lnSpc>
                <a:spcPct val="90000"/>
              </a:lnSpc>
              <a:spcBef>
                <a:spcPts val="1000"/>
              </a:spcBef>
              <a:spcAft>
                <a:spcPts val="0"/>
              </a:spcAft>
              <a:buClr>
                <a:schemeClr val="dk1"/>
              </a:buClr>
              <a:buSzPts val="2600"/>
              <a:buNone/>
            </a:pPr>
            <a:r>
              <a:rPr lang="en-IN" sz="2600"/>
              <a:t>ROI = [Average profit after tax / Average investment]</a:t>
            </a:r>
            <a:endParaRPr/>
          </a:p>
          <a:p>
            <a:pPr indent="0" lvl="0" marL="0" rtl="0" algn="l">
              <a:lnSpc>
                <a:spcPct val="90000"/>
              </a:lnSpc>
              <a:spcBef>
                <a:spcPts val="1000"/>
              </a:spcBef>
              <a:spcAft>
                <a:spcPts val="0"/>
              </a:spcAft>
              <a:buClr>
                <a:schemeClr val="dk1"/>
              </a:buClr>
              <a:buSzPts val="2600"/>
              <a:buNone/>
            </a:pPr>
            <a:r>
              <a:rPr lang="en-IN" sz="2600"/>
              <a:t>= [Rs. 40,000 / Rs. 1,00,000] × 100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40%  </a:t>
            </a:r>
            <a:endParaRPr sz="2600">
              <a:solidFill>
                <a:srgbClr val="FF0000"/>
              </a:solidFill>
            </a:endParaRPr>
          </a:p>
        </p:txBody>
      </p:sp>
      <p:pic>
        <p:nvPicPr>
          <p:cNvPr descr="Image result for sastra logo" id="818" name="Google Shape;818;p125"/>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26"/>
          <p:cNvSpPr txBox="1"/>
          <p:nvPr>
            <p:ph idx="1" type="body"/>
          </p:nvPr>
        </p:nvSpPr>
        <p:spPr>
          <a:xfrm>
            <a:off x="838200" y="841828"/>
            <a:ext cx="10515600" cy="546511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d) Net present value method [NPV]:</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Computation of NPV</a:t>
            </a:r>
            <a:endParaRPr/>
          </a:p>
          <a:p>
            <a:pPr indent="0" lvl="0" marL="0" rtl="0" algn="ctr">
              <a:lnSpc>
                <a:spcPct val="90000"/>
              </a:lnSpc>
              <a:spcBef>
                <a:spcPts val="1000"/>
              </a:spcBef>
              <a:spcAft>
                <a:spcPts val="0"/>
              </a:spcAft>
              <a:buClr>
                <a:schemeClr val="dk1"/>
              </a:buClr>
              <a:buSzPts val="2800"/>
              <a:buNone/>
            </a:pPr>
            <a:r>
              <a:t/>
            </a:r>
            <a:endParaRPr>
              <a:solidFill>
                <a:srgbClr val="FF0000"/>
              </a:solidFill>
            </a:endParaRPr>
          </a:p>
        </p:txBody>
      </p:sp>
      <p:graphicFrame>
        <p:nvGraphicFramePr>
          <p:cNvPr id="824" name="Google Shape;824;p126"/>
          <p:cNvGraphicFramePr/>
          <p:nvPr/>
        </p:nvGraphicFramePr>
        <p:xfrm>
          <a:off x="838200" y="1750180"/>
          <a:ext cx="3000000" cy="3000000"/>
        </p:xfrm>
        <a:graphic>
          <a:graphicData uri="http://schemas.openxmlformats.org/drawingml/2006/table">
            <a:tbl>
              <a:tblPr bandRow="1" firstRow="1">
                <a:noFill/>
                <a:tableStyleId>{75140CFC-2FD2-45D3-AD89-D6322BEAE1F3}</a:tableStyleId>
              </a:tblPr>
              <a:tblGrid>
                <a:gridCol w="961575"/>
                <a:gridCol w="2772225"/>
                <a:gridCol w="2612575"/>
                <a:gridCol w="4169225"/>
              </a:tblGrid>
              <a:tr h="614200">
                <a:tc>
                  <a:txBody>
                    <a:bodyPr/>
                    <a:lstStyle/>
                    <a:p>
                      <a:pPr indent="0" lvl="0" marL="0" marR="0" rtl="0" algn="ctr">
                        <a:spcBef>
                          <a:spcPts val="0"/>
                        </a:spcBef>
                        <a:spcAft>
                          <a:spcPts val="0"/>
                        </a:spcAft>
                        <a:buNone/>
                      </a:pPr>
                      <a:r>
                        <a:rPr b="1" lang="en-IN" sz="2000"/>
                        <a:t>Year </a:t>
                      </a:r>
                      <a:endParaRPr b="1" sz="2000"/>
                    </a:p>
                  </a:txBody>
                  <a:tcPr marT="45725" marB="45725" marR="91450" marL="91450"/>
                </a:tc>
                <a:tc>
                  <a:txBody>
                    <a:bodyPr/>
                    <a:lstStyle/>
                    <a:p>
                      <a:pPr indent="0" lvl="0" marL="0" marR="0" rtl="0" algn="ctr">
                        <a:spcBef>
                          <a:spcPts val="0"/>
                        </a:spcBef>
                        <a:spcAft>
                          <a:spcPts val="0"/>
                        </a:spcAft>
                        <a:buNone/>
                      </a:pPr>
                      <a:r>
                        <a:rPr b="1" lang="en-IN" sz="2000"/>
                        <a:t>Cash inflows </a:t>
                      </a:r>
                      <a:endParaRPr/>
                    </a:p>
                    <a:p>
                      <a:pPr indent="0" lvl="0" marL="0" marR="0" rtl="0" algn="ctr">
                        <a:spcBef>
                          <a:spcPts val="0"/>
                        </a:spcBef>
                        <a:spcAft>
                          <a:spcPts val="0"/>
                        </a:spcAft>
                        <a:buNone/>
                      </a:pPr>
                      <a:r>
                        <a:rPr b="1" lang="en-IN" sz="2000"/>
                        <a:t>Rs. </a:t>
                      </a:r>
                      <a:endParaRPr/>
                    </a:p>
                  </a:txBody>
                  <a:tcPr marT="45725" marB="45725" marR="91450" marL="91450"/>
                </a:tc>
                <a:tc>
                  <a:txBody>
                    <a:bodyPr/>
                    <a:lstStyle/>
                    <a:p>
                      <a:pPr indent="0" lvl="0" marL="0" marR="0" rtl="0" algn="ctr">
                        <a:spcBef>
                          <a:spcPts val="0"/>
                        </a:spcBef>
                        <a:spcAft>
                          <a:spcPts val="0"/>
                        </a:spcAft>
                        <a:buNone/>
                      </a:pPr>
                      <a:r>
                        <a:rPr b="1" lang="en-IN" sz="2000"/>
                        <a:t>Discount factor @10% </a:t>
                      </a:r>
                      <a:endParaRPr b="1" sz="2000"/>
                    </a:p>
                  </a:txBody>
                  <a:tcPr marT="45725" marB="45725" marR="91450" marL="91450"/>
                </a:tc>
                <a:tc>
                  <a:txBody>
                    <a:bodyPr/>
                    <a:lstStyle/>
                    <a:p>
                      <a:pPr indent="0" lvl="0" marL="0" marR="0" rtl="0" algn="r">
                        <a:spcBef>
                          <a:spcPts val="0"/>
                        </a:spcBef>
                        <a:spcAft>
                          <a:spcPts val="0"/>
                        </a:spcAft>
                        <a:buNone/>
                      </a:pPr>
                      <a:r>
                        <a:rPr b="1" lang="en-IN" sz="2000"/>
                        <a:t>Present value of cash inflows</a:t>
                      </a:r>
                      <a:endParaRPr/>
                    </a:p>
                    <a:p>
                      <a:pPr indent="0" lvl="0" marL="0" marR="0" rtl="0" algn="r">
                        <a:spcBef>
                          <a:spcPts val="0"/>
                        </a:spcBef>
                        <a:spcAft>
                          <a:spcPts val="0"/>
                        </a:spcAft>
                        <a:buNone/>
                      </a:pPr>
                      <a:r>
                        <a:rPr b="1" lang="en-IN" sz="2000"/>
                        <a:t>Rs. </a:t>
                      </a:r>
                      <a:endParaRPr b="1" sz="20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90,000</a:t>
                      </a:r>
                      <a:endParaRPr sz="2500"/>
                    </a:p>
                  </a:txBody>
                  <a:tcPr marT="45725" marB="45725" marR="91450" marL="91450"/>
                </a:tc>
                <a:tc>
                  <a:txBody>
                    <a:bodyPr/>
                    <a:lstStyle/>
                    <a:p>
                      <a:pPr indent="0" lvl="0" marL="0" marR="0" rtl="0" algn="ctr">
                        <a:spcBef>
                          <a:spcPts val="0"/>
                        </a:spcBef>
                        <a:spcAft>
                          <a:spcPts val="0"/>
                        </a:spcAft>
                        <a:buNone/>
                      </a:pPr>
                      <a:r>
                        <a:rPr lang="en-IN" sz="2500"/>
                        <a:t>0.909</a:t>
                      </a:r>
                      <a:endParaRPr sz="2500"/>
                    </a:p>
                  </a:txBody>
                  <a:tcPr marT="45725" marB="45725" marR="91450" marL="91450"/>
                </a:tc>
                <a:tc>
                  <a:txBody>
                    <a:bodyPr/>
                    <a:lstStyle/>
                    <a:p>
                      <a:pPr indent="0" lvl="0" marL="0" marR="0" rtl="0" algn="r">
                        <a:spcBef>
                          <a:spcPts val="0"/>
                        </a:spcBef>
                        <a:spcAft>
                          <a:spcPts val="0"/>
                        </a:spcAft>
                        <a:buNone/>
                      </a:pPr>
                      <a:r>
                        <a:rPr lang="en-IN" sz="2600"/>
                        <a:t>81,810</a:t>
                      </a:r>
                      <a:endParaRPr sz="26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90,000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500"/>
                        <a:t>0.826</a:t>
                      </a:r>
                      <a:endParaRPr sz="2500"/>
                    </a:p>
                  </a:txBody>
                  <a:tcPr marT="45725" marB="45725" marR="91450" marL="91450"/>
                </a:tc>
                <a:tc>
                  <a:txBody>
                    <a:bodyPr/>
                    <a:lstStyle/>
                    <a:p>
                      <a:pPr indent="0" lvl="0" marL="0" marR="0" rtl="0" algn="r">
                        <a:spcBef>
                          <a:spcPts val="0"/>
                        </a:spcBef>
                        <a:spcAft>
                          <a:spcPts val="0"/>
                        </a:spcAft>
                        <a:buNone/>
                      </a:pPr>
                      <a:r>
                        <a:rPr lang="en-IN" sz="2600"/>
                        <a:t>74,340</a:t>
                      </a:r>
                      <a:endParaRPr sz="26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80,000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500"/>
                        <a:t>0.751</a:t>
                      </a:r>
                      <a:endParaRPr sz="2500"/>
                    </a:p>
                  </a:txBody>
                  <a:tcPr marT="45725" marB="45725" marR="91450" marL="91450"/>
                </a:tc>
                <a:tc>
                  <a:txBody>
                    <a:bodyPr/>
                    <a:lstStyle/>
                    <a:p>
                      <a:pPr indent="0" lvl="0" marL="0" marR="0" rtl="0" algn="r">
                        <a:spcBef>
                          <a:spcPts val="0"/>
                        </a:spcBef>
                        <a:spcAft>
                          <a:spcPts val="0"/>
                        </a:spcAft>
                        <a:buNone/>
                      </a:pPr>
                      <a:r>
                        <a:rPr lang="en-IN" sz="2600"/>
                        <a:t>60,080</a:t>
                      </a:r>
                      <a:endParaRPr sz="26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80,000</a:t>
                      </a:r>
                      <a:endParaRPr sz="2500"/>
                    </a:p>
                  </a:txBody>
                  <a:tcPr marT="45725" marB="45725" marR="91450" marL="91450"/>
                </a:tc>
                <a:tc>
                  <a:txBody>
                    <a:bodyPr/>
                    <a:lstStyle/>
                    <a:p>
                      <a:pPr indent="0" lvl="0" marL="0" marR="0" rtl="0" algn="ctr">
                        <a:spcBef>
                          <a:spcPts val="0"/>
                        </a:spcBef>
                        <a:spcAft>
                          <a:spcPts val="0"/>
                        </a:spcAft>
                        <a:buNone/>
                      </a:pPr>
                      <a:r>
                        <a:rPr lang="en-IN" sz="2500"/>
                        <a:t>0.683</a:t>
                      </a:r>
                      <a:endParaRPr sz="2500"/>
                    </a:p>
                  </a:txBody>
                  <a:tcPr marT="45725" marB="45725" marR="91450" marL="91450"/>
                </a:tc>
                <a:tc>
                  <a:txBody>
                    <a:bodyPr/>
                    <a:lstStyle/>
                    <a:p>
                      <a:pPr indent="0" lvl="0" marL="0" marR="0" rtl="0" algn="r">
                        <a:spcBef>
                          <a:spcPts val="0"/>
                        </a:spcBef>
                        <a:spcAft>
                          <a:spcPts val="0"/>
                        </a:spcAft>
                        <a:buNone/>
                      </a:pPr>
                      <a:r>
                        <a:rPr lang="en-IN" sz="2600"/>
                        <a:t>54,640</a:t>
                      </a:r>
                      <a:endParaRPr sz="26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60,000</a:t>
                      </a:r>
                      <a:endParaRPr sz="2500"/>
                    </a:p>
                  </a:txBody>
                  <a:tcPr marT="45725" marB="45725" marR="91450" marL="91450"/>
                </a:tc>
                <a:tc>
                  <a:txBody>
                    <a:bodyPr/>
                    <a:lstStyle/>
                    <a:p>
                      <a:pPr indent="0" lvl="0" marL="0" marR="0" rtl="0" algn="ctr">
                        <a:spcBef>
                          <a:spcPts val="0"/>
                        </a:spcBef>
                        <a:spcAft>
                          <a:spcPts val="0"/>
                        </a:spcAft>
                        <a:buNone/>
                      </a:pPr>
                      <a:r>
                        <a:rPr lang="en-IN" sz="2500"/>
                        <a:t>0.621</a:t>
                      </a:r>
                      <a:endParaRPr sz="2500"/>
                    </a:p>
                  </a:txBody>
                  <a:tcPr marT="45725" marB="45725" marR="91450" marL="91450"/>
                </a:tc>
                <a:tc>
                  <a:txBody>
                    <a:bodyPr/>
                    <a:lstStyle/>
                    <a:p>
                      <a:pPr indent="0" lvl="0" marL="0" marR="0" rtl="0" algn="r">
                        <a:spcBef>
                          <a:spcPts val="0"/>
                        </a:spcBef>
                        <a:spcAft>
                          <a:spcPts val="0"/>
                        </a:spcAft>
                        <a:buNone/>
                      </a:pPr>
                      <a:r>
                        <a:rPr lang="en-IN" sz="2600"/>
                        <a:t>37,260</a:t>
                      </a:r>
                      <a:endParaRPr sz="26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b="0" lang="en-IN" sz="2500">
                          <a:solidFill>
                            <a:srgbClr val="FF0000"/>
                          </a:solidFill>
                        </a:rPr>
                        <a:t>Total present</a:t>
                      </a:r>
                      <a:r>
                        <a:rPr b="0" lang="en-IN" sz="2500">
                          <a:solidFill>
                            <a:srgbClr val="FF0000"/>
                          </a:solidFill>
                        </a:rPr>
                        <a:t> value of cash inflows</a:t>
                      </a:r>
                      <a:endParaRPr b="0"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lang="en-IN" sz="2500">
                          <a:solidFill>
                            <a:srgbClr val="FF0000"/>
                          </a:solidFill>
                        </a:rPr>
                        <a:t>3,08,130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 </a:t>
                      </a:r>
                      <a:endParaRPr sz="2500">
                        <a:solidFill>
                          <a:srgbClr val="FF0000"/>
                        </a:solidFill>
                      </a:endParaRPr>
                    </a:p>
                  </a:txBody>
                  <a:tcPr marT="45725" marB="45725" marR="91450" marL="91450"/>
                </a:tc>
                <a:tc gridSpan="2">
                  <a:txBody>
                    <a:bodyPr/>
                    <a:lstStyle/>
                    <a:p>
                      <a:pPr indent="0" lvl="0" marL="0" marR="0" rtl="0" algn="l">
                        <a:spcBef>
                          <a:spcPts val="0"/>
                        </a:spcBef>
                        <a:spcAft>
                          <a:spcPts val="0"/>
                        </a:spcAft>
                        <a:buNone/>
                      </a:pPr>
                      <a:r>
                        <a:rPr b="0" lang="en-IN" sz="2500"/>
                        <a:t>Present value of cash out flow</a:t>
                      </a:r>
                      <a:endParaRPr b="0" sz="2500"/>
                    </a:p>
                  </a:txBody>
                  <a:tcPr marT="45725" marB="45725" marR="91450" marL="91450"/>
                </a:tc>
                <a:tc hMerge="1"/>
                <a:tc>
                  <a:txBody>
                    <a:bodyPr/>
                    <a:lstStyle/>
                    <a:p>
                      <a:pPr indent="0" lvl="0" marL="0" marR="0" rtl="0" algn="r">
                        <a:spcBef>
                          <a:spcPts val="0"/>
                        </a:spcBef>
                        <a:spcAft>
                          <a:spcPts val="0"/>
                        </a:spcAft>
                        <a:buNone/>
                      </a:pPr>
                      <a:r>
                        <a:rPr lang="en-IN" sz="2500"/>
                        <a:t>2,00,000</a:t>
                      </a:r>
                      <a:endParaRPr sz="25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500">
                          <a:solidFill>
                            <a:srgbClr val="FF0000"/>
                          </a:solidFill>
                        </a:rPr>
                        <a:t>1,08,130</a:t>
                      </a:r>
                      <a:endParaRPr b="1" sz="2500">
                        <a:solidFill>
                          <a:srgbClr val="FF0000"/>
                        </a:solidFill>
                      </a:endParaRPr>
                    </a:p>
                  </a:txBody>
                  <a:tcPr marT="45725" marB="45725" marR="91450" marL="91450"/>
                </a:tc>
              </a:tr>
            </a:tbl>
          </a:graphicData>
        </a:graphic>
      </p:graphicFrame>
      <p:pic>
        <p:nvPicPr>
          <p:cNvPr descr="Image result for sastra logo" id="825" name="Google Shape;825;p126"/>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27"/>
          <p:cNvSpPr txBox="1"/>
          <p:nvPr>
            <p:ph idx="1" type="body"/>
          </p:nvPr>
        </p:nvSpPr>
        <p:spPr>
          <a:xfrm>
            <a:off x="838200" y="928914"/>
            <a:ext cx="10515600" cy="529771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00B050"/>
              </a:buClr>
              <a:buSzPts val="2600"/>
              <a:buNone/>
            </a:pPr>
            <a:r>
              <a:rPr b="1" lang="en-IN" sz="2600">
                <a:solidFill>
                  <a:srgbClr val="00B050"/>
                </a:solidFill>
              </a:rPr>
              <a:t>e) PI Method: </a:t>
            </a:r>
            <a:endParaRPr/>
          </a:p>
          <a:p>
            <a:pPr indent="0" lvl="0" marL="0" rtl="0" algn="just">
              <a:lnSpc>
                <a:spcPct val="90000"/>
              </a:lnSpc>
              <a:spcBef>
                <a:spcPts val="1000"/>
              </a:spcBef>
              <a:spcAft>
                <a:spcPts val="0"/>
              </a:spcAft>
              <a:buClr>
                <a:schemeClr val="dk1"/>
              </a:buClr>
              <a:buSzPts val="2600"/>
              <a:buNone/>
            </a:pPr>
            <a:r>
              <a:rPr lang="en-IN" sz="2600"/>
              <a:t>PI = [Total present value of cash inflows/Total present value of cash outflow] × 100</a:t>
            </a:r>
            <a:endParaRPr/>
          </a:p>
          <a:p>
            <a:pPr indent="0" lvl="0" marL="0" rtl="0" algn="just">
              <a:lnSpc>
                <a:spcPct val="90000"/>
              </a:lnSpc>
              <a:spcBef>
                <a:spcPts val="1000"/>
              </a:spcBef>
              <a:spcAft>
                <a:spcPts val="0"/>
              </a:spcAft>
              <a:buClr>
                <a:schemeClr val="dk1"/>
              </a:buClr>
              <a:buSzPts val="2600"/>
              <a:buNone/>
            </a:pPr>
            <a:r>
              <a:rPr lang="en-IN" sz="2600"/>
              <a:t>= [Rs. 3,08,130 / Rs. 2,00,000]×100</a:t>
            </a:r>
            <a:endParaRPr/>
          </a:p>
          <a:p>
            <a:pPr indent="0" lvl="0" marL="0" rtl="0" algn="just">
              <a:lnSpc>
                <a:spcPct val="90000"/>
              </a:lnSpc>
              <a:spcBef>
                <a:spcPts val="1000"/>
              </a:spcBef>
              <a:spcAft>
                <a:spcPts val="0"/>
              </a:spcAft>
              <a:buClr>
                <a:schemeClr val="dk1"/>
              </a:buClr>
              <a:buSzPts val="2600"/>
              <a:buNone/>
            </a:pPr>
            <a:r>
              <a:rPr lang="en-IN" sz="2600"/>
              <a:t>= 154%</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Comment: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The PI of the project is more than 100%, and therefore the project can be implemented.</a:t>
            </a:r>
            <a:endParaRPr sz="2600">
              <a:solidFill>
                <a:srgbClr val="FF0000"/>
              </a:solidFill>
            </a:endParaRPr>
          </a:p>
        </p:txBody>
      </p:sp>
      <p:pic>
        <p:nvPicPr>
          <p:cNvPr descr="Image result for sastra logo" id="831" name="Google Shape;831;p127"/>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28"/>
          <p:cNvSpPr txBox="1"/>
          <p:nvPr>
            <p:ph idx="1" type="body"/>
          </p:nvPr>
        </p:nvSpPr>
        <p:spPr>
          <a:xfrm>
            <a:off x="838200" y="1016000"/>
            <a:ext cx="10515600" cy="51609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f) IRR Method: </a:t>
            </a:r>
            <a:endParaRPr/>
          </a:p>
          <a:p>
            <a:pPr indent="0" lvl="0" marL="0" rtl="0" algn="just">
              <a:lnSpc>
                <a:spcPct val="90000"/>
              </a:lnSpc>
              <a:spcBef>
                <a:spcPts val="1000"/>
              </a:spcBef>
              <a:spcAft>
                <a:spcPts val="0"/>
              </a:spcAft>
              <a:buClr>
                <a:schemeClr val="dk1"/>
              </a:buClr>
              <a:buSzPts val="2600"/>
              <a:buNone/>
            </a:pPr>
            <a:r>
              <a:rPr lang="en-IN" sz="2600"/>
              <a:t>Since the annual cash inflows are not uniform, the factor will have to be located for determining the approximate rate of return.</a:t>
            </a:r>
            <a:endParaRPr/>
          </a:p>
          <a:p>
            <a:pPr indent="0" lvl="0" marL="0" rtl="0" algn="just">
              <a:lnSpc>
                <a:spcPct val="90000"/>
              </a:lnSpc>
              <a:spcBef>
                <a:spcPts val="1000"/>
              </a:spcBef>
              <a:spcAft>
                <a:spcPts val="0"/>
              </a:spcAft>
              <a:buClr>
                <a:schemeClr val="dk1"/>
              </a:buClr>
              <a:buSzPts val="2600"/>
              <a:buNone/>
            </a:pPr>
            <a:r>
              <a:rPr lang="en-IN" sz="2600"/>
              <a:t>F = Initial Investment/Average Cash Inflows </a:t>
            </a:r>
            <a:endParaRPr/>
          </a:p>
          <a:p>
            <a:pPr indent="0" lvl="0" marL="0" rtl="0" algn="just">
              <a:lnSpc>
                <a:spcPct val="90000"/>
              </a:lnSpc>
              <a:spcBef>
                <a:spcPts val="1000"/>
              </a:spcBef>
              <a:spcAft>
                <a:spcPts val="0"/>
              </a:spcAft>
              <a:buClr>
                <a:schemeClr val="dk1"/>
              </a:buClr>
              <a:buSzPts val="2600"/>
              <a:buNone/>
            </a:pPr>
            <a:r>
              <a:rPr lang="en-IN" sz="2600"/>
              <a:t> = Rs. 2,00,000/Rs. 80,000</a:t>
            </a:r>
            <a:endParaRPr/>
          </a:p>
          <a:p>
            <a:pPr indent="0" lvl="0" marL="0" rtl="0" algn="just">
              <a:lnSpc>
                <a:spcPct val="90000"/>
              </a:lnSpc>
              <a:spcBef>
                <a:spcPts val="1000"/>
              </a:spcBef>
              <a:spcAft>
                <a:spcPts val="0"/>
              </a:spcAft>
              <a:buClr>
                <a:schemeClr val="dk1"/>
              </a:buClr>
              <a:buSzPts val="2600"/>
              <a:buNone/>
            </a:pPr>
            <a:r>
              <a:rPr lang="en-IN" sz="2600"/>
              <a:t> = 2.5</a:t>
            </a:r>
            <a:endParaRPr/>
          </a:p>
          <a:p>
            <a:pPr indent="0" lvl="0" marL="0" rtl="0" algn="just">
              <a:lnSpc>
                <a:spcPct val="90000"/>
              </a:lnSpc>
              <a:spcBef>
                <a:spcPts val="1000"/>
              </a:spcBef>
              <a:spcAft>
                <a:spcPts val="0"/>
              </a:spcAft>
              <a:buClr>
                <a:schemeClr val="dk1"/>
              </a:buClr>
              <a:buSzPts val="2600"/>
              <a:buNone/>
            </a:pPr>
            <a:r>
              <a:rPr lang="en-IN" sz="2600"/>
              <a:t>Table Two discloses at this factor rate of return in the column for 5 years as 28%.</a:t>
            </a:r>
            <a:endParaRPr/>
          </a:p>
        </p:txBody>
      </p:sp>
      <p:pic>
        <p:nvPicPr>
          <p:cNvPr descr="Image result for sastra logo" id="837" name="Google Shape;837;p128"/>
          <p:cNvPicPr preferRelativeResize="0"/>
          <p:nvPr/>
        </p:nvPicPr>
        <p:blipFill rotWithShape="1">
          <a:blip r:embed="rId3">
            <a:alphaModFix/>
          </a:blip>
          <a:srcRect b="0" l="0" r="0" t="0"/>
          <a:stretch/>
        </p:blipFill>
        <p:spPr>
          <a:xfrm>
            <a:off x="9537700" y="318923"/>
            <a:ext cx="1816100" cy="557212"/>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29"/>
          <p:cNvSpPr txBox="1"/>
          <p:nvPr>
            <p:ph idx="1" type="body"/>
          </p:nvPr>
        </p:nvSpPr>
        <p:spPr>
          <a:xfrm>
            <a:off x="838200" y="769257"/>
            <a:ext cx="10515600" cy="563784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500"/>
              <a:buNone/>
            </a:pPr>
            <a:r>
              <a:rPr lang="en-IN" sz="2500"/>
              <a:t>The Present value 28% rate.</a:t>
            </a:r>
            <a:endParaRPr/>
          </a:p>
          <a:p>
            <a:pPr indent="0" lvl="0" marL="0" rtl="0" algn="ctr">
              <a:lnSpc>
                <a:spcPct val="90000"/>
              </a:lnSpc>
              <a:spcBef>
                <a:spcPts val="1000"/>
              </a:spcBef>
              <a:spcAft>
                <a:spcPts val="0"/>
              </a:spcAft>
              <a:buClr>
                <a:srgbClr val="FF0000"/>
              </a:buClr>
              <a:buSzPts val="2500"/>
              <a:buNone/>
            </a:pPr>
            <a:r>
              <a:rPr b="1" lang="en-IN" sz="2500">
                <a:solidFill>
                  <a:srgbClr val="FF0000"/>
                </a:solidFill>
              </a:rPr>
              <a:t>Computation of NPV</a:t>
            </a:r>
            <a:endParaRPr/>
          </a:p>
          <a:p>
            <a:pPr indent="0" lvl="0" marL="0" rtl="0" algn="just">
              <a:lnSpc>
                <a:spcPct val="90000"/>
              </a:lnSpc>
              <a:spcBef>
                <a:spcPts val="1000"/>
              </a:spcBef>
              <a:spcAft>
                <a:spcPts val="0"/>
              </a:spcAft>
              <a:buClr>
                <a:schemeClr val="dk1"/>
              </a:buClr>
              <a:buSzPts val="2500"/>
              <a:buNone/>
            </a:pPr>
            <a:r>
              <a:t/>
            </a:r>
            <a:endParaRPr sz="2500"/>
          </a:p>
        </p:txBody>
      </p:sp>
      <p:graphicFrame>
        <p:nvGraphicFramePr>
          <p:cNvPr id="843" name="Google Shape;843;p129"/>
          <p:cNvGraphicFramePr/>
          <p:nvPr/>
        </p:nvGraphicFramePr>
        <p:xfrm>
          <a:off x="838200" y="1743663"/>
          <a:ext cx="3000000" cy="3000000"/>
        </p:xfrm>
        <a:graphic>
          <a:graphicData uri="http://schemas.openxmlformats.org/drawingml/2006/table">
            <a:tbl>
              <a:tblPr bandRow="1" firstRow="1">
                <a:noFill/>
                <a:tableStyleId>{75140CFC-2FD2-45D3-AD89-D6322BEAE1F3}</a:tableStyleId>
              </a:tblPr>
              <a:tblGrid>
                <a:gridCol w="1106725"/>
                <a:gridCol w="2627075"/>
                <a:gridCol w="3098050"/>
                <a:gridCol w="3683750"/>
              </a:tblGrid>
              <a:tr h="248675">
                <a:tc>
                  <a:txBody>
                    <a:bodyPr/>
                    <a:lstStyle/>
                    <a:p>
                      <a:pPr indent="0" lvl="0" marL="0" marR="0" rtl="0" algn="ctr">
                        <a:spcBef>
                          <a:spcPts val="0"/>
                        </a:spcBef>
                        <a:spcAft>
                          <a:spcPts val="0"/>
                        </a:spcAft>
                        <a:buNone/>
                      </a:pPr>
                      <a:r>
                        <a:rPr b="1" lang="en-IN" sz="2200"/>
                        <a:t>Year </a:t>
                      </a:r>
                      <a:endParaRPr b="1" sz="2200"/>
                    </a:p>
                  </a:txBody>
                  <a:tcPr marT="45725" marB="45725" marR="91450" marL="91450"/>
                </a:tc>
                <a:tc>
                  <a:txBody>
                    <a:bodyPr/>
                    <a:lstStyle/>
                    <a:p>
                      <a:pPr indent="0" lvl="0" marL="0" marR="0" rtl="0" algn="ctr">
                        <a:spcBef>
                          <a:spcPts val="0"/>
                        </a:spcBef>
                        <a:spcAft>
                          <a:spcPts val="0"/>
                        </a:spcAft>
                        <a:buNone/>
                      </a:pPr>
                      <a:r>
                        <a:rPr b="1" lang="en-IN" sz="2200"/>
                        <a:t>Cash inflows </a:t>
                      </a:r>
                      <a:endParaRPr/>
                    </a:p>
                    <a:p>
                      <a:pPr indent="0" lvl="0" marL="0" marR="0" rtl="0" algn="ctr">
                        <a:spcBef>
                          <a:spcPts val="0"/>
                        </a:spcBef>
                        <a:spcAft>
                          <a:spcPts val="0"/>
                        </a:spcAft>
                        <a:buNone/>
                      </a:pPr>
                      <a:r>
                        <a:rPr b="1" lang="en-IN" sz="2200"/>
                        <a:t>Rs. </a:t>
                      </a:r>
                      <a:endParaRPr/>
                    </a:p>
                  </a:txBody>
                  <a:tcPr marT="45725" marB="45725" marR="91450" marL="91450"/>
                </a:tc>
                <a:tc>
                  <a:txBody>
                    <a:bodyPr/>
                    <a:lstStyle/>
                    <a:p>
                      <a:pPr indent="0" lvl="0" marL="0" marR="0" rtl="0" algn="ctr">
                        <a:spcBef>
                          <a:spcPts val="0"/>
                        </a:spcBef>
                        <a:spcAft>
                          <a:spcPts val="0"/>
                        </a:spcAft>
                        <a:buNone/>
                      </a:pPr>
                      <a:r>
                        <a:rPr b="1" lang="en-IN" sz="2200"/>
                        <a:t>Discount factor @28% </a:t>
                      </a:r>
                      <a:endParaRPr b="1" sz="2200"/>
                    </a:p>
                  </a:txBody>
                  <a:tcPr marT="45725" marB="45725" marR="91450" marL="91450"/>
                </a:tc>
                <a:tc>
                  <a:txBody>
                    <a:bodyPr/>
                    <a:lstStyle/>
                    <a:p>
                      <a:pPr indent="0" lvl="0" marL="0" marR="0" rtl="0" algn="r">
                        <a:spcBef>
                          <a:spcPts val="0"/>
                        </a:spcBef>
                        <a:spcAft>
                          <a:spcPts val="0"/>
                        </a:spcAft>
                        <a:buNone/>
                      </a:pPr>
                      <a:r>
                        <a:rPr b="1" lang="en-IN" sz="2200"/>
                        <a:t>Present value of cash in flows</a:t>
                      </a:r>
                      <a:endParaRPr/>
                    </a:p>
                    <a:p>
                      <a:pPr indent="0" lvl="0" marL="0" marR="0" rtl="0" algn="r">
                        <a:spcBef>
                          <a:spcPts val="0"/>
                        </a:spcBef>
                        <a:spcAft>
                          <a:spcPts val="0"/>
                        </a:spcAft>
                        <a:buNone/>
                      </a:pPr>
                      <a:r>
                        <a:rPr b="1" lang="en-IN" sz="2200"/>
                        <a:t>Rs. </a:t>
                      </a:r>
                      <a:endParaRPr b="1" sz="22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90,000</a:t>
                      </a:r>
                      <a:endParaRPr sz="2500"/>
                    </a:p>
                  </a:txBody>
                  <a:tcPr marT="45725" marB="45725" marR="91450" marL="91450"/>
                </a:tc>
                <a:tc>
                  <a:txBody>
                    <a:bodyPr/>
                    <a:lstStyle/>
                    <a:p>
                      <a:pPr indent="0" lvl="0" marL="0" marR="0" rtl="0" algn="ctr">
                        <a:spcBef>
                          <a:spcPts val="0"/>
                        </a:spcBef>
                        <a:spcAft>
                          <a:spcPts val="0"/>
                        </a:spcAft>
                        <a:buNone/>
                      </a:pPr>
                      <a:r>
                        <a:rPr lang="en-IN" sz="2600"/>
                        <a:t>0.781</a:t>
                      </a:r>
                      <a:endParaRPr/>
                    </a:p>
                  </a:txBody>
                  <a:tcPr marT="45725" marB="45725" marR="91450" marL="91450"/>
                </a:tc>
                <a:tc>
                  <a:txBody>
                    <a:bodyPr/>
                    <a:lstStyle/>
                    <a:p>
                      <a:pPr indent="0" lvl="0" marL="0" marR="0" rtl="0" algn="r">
                        <a:spcBef>
                          <a:spcPts val="0"/>
                        </a:spcBef>
                        <a:spcAft>
                          <a:spcPts val="0"/>
                        </a:spcAft>
                        <a:buNone/>
                      </a:pPr>
                      <a:r>
                        <a:rPr lang="en-IN" sz="2600"/>
                        <a:t>70,290</a:t>
                      </a:r>
                      <a:endParaRPr sz="26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90,000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0.610</a:t>
                      </a:r>
                      <a:endParaRPr sz="2600"/>
                    </a:p>
                  </a:txBody>
                  <a:tcPr marT="45725" marB="45725" marR="91450" marL="91450"/>
                </a:tc>
                <a:tc>
                  <a:txBody>
                    <a:bodyPr/>
                    <a:lstStyle/>
                    <a:p>
                      <a:pPr indent="0" lvl="0" marL="0" marR="0" rtl="0" algn="r">
                        <a:spcBef>
                          <a:spcPts val="0"/>
                        </a:spcBef>
                        <a:spcAft>
                          <a:spcPts val="0"/>
                        </a:spcAft>
                        <a:buNone/>
                      </a:pPr>
                      <a:r>
                        <a:rPr lang="en-IN" sz="2600"/>
                        <a:t>54,900</a:t>
                      </a:r>
                      <a:endParaRPr sz="26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80,000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0.477</a:t>
                      </a:r>
                      <a:endParaRPr sz="2600"/>
                    </a:p>
                  </a:txBody>
                  <a:tcPr marT="45725" marB="45725" marR="91450" marL="91450"/>
                </a:tc>
                <a:tc>
                  <a:txBody>
                    <a:bodyPr/>
                    <a:lstStyle/>
                    <a:p>
                      <a:pPr indent="0" lvl="0" marL="0" marR="0" rtl="0" algn="r">
                        <a:spcBef>
                          <a:spcPts val="0"/>
                        </a:spcBef>
                        <a:spcAft>
                          <a:spcPts val="0"/>
                        </a:spcAft>
                        <a:buNone/>
                      </a:pPr>
                      <a:r>
                        <a:rPr lang="en-IN" sz="2600"/>
                        <a:t>38,160</a:t>
                      </a:r>
                      <a:endParaRPr sz="26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80,000</a:t>
                      </a:r>
                      <a:endParaRPr sz="2500"/>
                    </a:p>
                  </a:txBody>
                  <a:tcPr marT="45725" marB="45725" marR="91450" marL="91450"/>
                </a:tc>
                <a:tc>
                  <a:txBody>
                    <a:bodyPr/>
                    <a:lstStyle/>
                    <a:p>
                      <a:pPr indent="0" lvl="0" marL="0" marR="0" rtl="0" algn="ctr">
                        <a:spcBef>
                          <a:spcPts val="0"/>
                        </a:spcBef>
                        <a:spcAft>
                          <a:spcPts val="0"/>
                        </a:spcAft>
                        <a:buNone/>
                      </a:pPr>
                      <a:r>
                        <a:rPr lang="en-IN" sz="2600"/>
                        <a:t>0.373</a:t>
                      </a:r>
                      <a:endParaRPr sz="2600"/>
                    </a:p>
                  </a:txBody>
                  <a:tcPr marT="45725" marB="45725" marR="91450" marL="91450"/>
                </a:tc>
                <a:tc>
                  <a:txBody>
                    <a:bodyPr/>
                    <a:lstStyle/>
                    <a:p>
                      <a:pPr indent="0" lvl="0" marL="0" marR="0" rtl="0" algn="r">
                        <a:spcBef>
                          <a:spcPts val="0"/>
                        </a:spcBef>
                        <a:spcAft>
                          <a:spcPts val="0"/>
                        </a:spcAft>
                        <a:buNone/>
                      </a:pPr>
                      <a:r>
                        <a:rPr lang="en-IN" sz="2600"/>
                        <a:t>29,840</a:t>
                      </a:r>
                      <a:endParaRPr sz="26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60,000</a:t>
                      </a:r>
                      <a:endParaRPr sz="2500"/>
                    </a:p>
                  </a:txBody>
                  <a:tcPr marT="45725" marB="45725" marR="91450" marL="91450"/>
                </a:tc>
                <a:tc>
                  <a:txBody>
                    <a:bodyPr/>
                    <a:lstStyle/>
                    <a:p>
                      <a:pPr indent="0" lvl="0" marL="0" marR="0" rtl="0" algn="ctr">
                        <a:spcBef>
                          <a:spcPts val="0"/>
                        </a:spcBef>
                        <a:spcAft>
                          <a:spcPts val="0"/>
                        </a:spcAft>
                        <a:buNone/>
                      </a:pPr>
                      <a:r>
                        <a:rPr lang="en-IN" sz="2600"/>
                        <a:t>0.291</a:t>
                      </a:r>
                      <a:endParaRPr sz="2600"/>
                    </a:p>
                  </a:txBody>
                  <a:tcPr marT="45725" marB="45725" marR="91450" marL="91450"/>
                </a:tc>
                <a:tc>
                  <a:txBody>
                    <a:bodyPr/>
                    <a:lstStyle/>
                    <a:p>
                      <a:pPr indent="0" lvl="0" marL="0" marR="0" rtl="0" algn="r">
                        <a:spcBef>
                          <a:spcPts val="0"/>
                        </a:spcBef>
                        <a:spcAft>
                          <a:spcPts val="0"/>
                        </a:spcAft>
                        <a:buNone/>
                      </a:pPr>
                      <a:r>
                        <a:rPr lang="en-IN" sz="2600"/>
                        <a:t>17,460</a:t>
                      </a:r>
                      <a:endParaRPr sz="26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solidFill>
                            <a:srgbClr val="FF0000"/>
                          </a:solidFill>
                        </a:rPr>
                        <a:t>Total present</a:t>
                      </a:r>
                      <a:r>
                        <a:rPr b="0" lang="en-IN" sz="2500">
                          <a:solidFill>
                            <a:srgbClr val="FF0000"/>
                          </a:solidFill>
                        </a:rPr>
                        <a:t> value of cash inflows</a:t>
                      </a:r>
                      <a:endParaRPr b="0"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lang="en-IN" sz="2600">
                          <a:solidFill>
                            <a:srgbClr val="FF0000"/>
                          </a:solidFill>
                        </a:rPr>
                        <a:t>2,10,650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 </a:t>
                      </a:r>
                      <a:endParaRPr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t>Present value of cash out flow</a:t>
                      </a:r>
                      <a:endParaRPr b="0" sz="2500"/>
                    </a:p>
                  </a:txBody>
                  <a:tcPr marT="45725" marB="45725" marR="91450" marL="91450"/>
                </a:tc>
                <a:tc hMerge="1"/>
                <a:tc>
                  <a:txBody>
                    <a:bodyPr/>
                    <a:lstStyle/>
                    <a:p>
                      <a:pPr indent="0" lvl="0" marL="0" marR="0" rtl="0" algn="r">
                        <a:spcBef>
                          <a:spcPts val="0"/>
                        </a:spcBef>
                        <a:spcAft>
                          <a:spcPts val="0"/>
                        </a:spcAft>
                        <a:buNone/>
                      </a:pPr>
                      <a:r>
                        <a:rPr lang="en-IN" sz="2600"/>
                        <a:t>2,00,000</a:t>
                      </a:r>
                      <a:endParaRPr sz="26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600">
                          <a:solidFill>
                            <a:srgbClr val="FF0000"/>
                          </a:solidFill>
                        </a:rPr>
                        <a:t>10,650</a:t>
                      </a:r>
                      <a:endParaRPr b="1" sz="2600">
                        <a:solidFill>
                          <a:srgbClr val="FF0000"/>
                        </a:solidFill>
                      </a:endParaRPr>
                    </a:p>
                  </a:txBody>
                  <a:tcPr marT="45725" marB="45725" marR="91450" marL="91450"/>
                </a:tc>
              </a:tr>
            </a:tbl>
          </a:graphicData>
        </a:graphic>
      </p:graphicFrame>
      <p:pic>
        <p:nvPicPr>
          <p:cNvPr descr="Image result for sastra logo" id="844" name="Google Shape;844;p129"/>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30"/>
          <p:cNvSpPr txBox="1"/>
          <p:nvPr>
            <p:ph idx="1" type="body"/>
          </p:nvPr>
        </p:nvSpPr>
        <p:spPr>
          <a:xfrm>
            <a:off x="838200" y="769256"/>
            <a:ext cx="10515600" cy="591405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At 28% discounting rate, the present value is higher by Rs. 10,650. Hence higher discount rate should be taken. Taking it at 30%.</a:t>
            </a:r>
            <a:endParaRPr/>
          </a:p>
          <a:p>
            <a:pPr indent="0" lvl="0" marL="0" rtl="0" algn="ctr">
              <a:lnSpc>
                <a:spcPct val="90000"/>
              </a:lnSpc>
              <a:spcBef>
                <a:spcPts val="1000"/>
              </a:spcBef>
              <a:spcAft>
                <a:spcPts val="0"/>
              </a:spcAft>
              <a:buClr>
                <a:srgbClr val="FF0000"/>
              </a:buClr>
              <a:buSzPts val="2500"/>
              <a:buNone/>
            </a:pPr>
            <a:r>
              <a:rPr b="1" lang="en-IN" sz="2500">
                <a:solidFill>
                  <a:srgbClr val="FF0000"/>
                </a:solidFill>
              </a:rPr>
              <a:t>Computation of NPV</a:t>
            </a:r>
            <a:endParaRPr/>
          </a:p>
          <a:p>
            <a:pPr indent="0" lvl="0" marL="0" rtl="0" algn="just">
              <a:lnSpc>
                <a:spcPct val="90000"/>
              </a:lnSpc>
              <a:spcBef>
                <a:spcPts val="1000"/>
              </a:spcBef>
              <a:spcAft>
                <a:spcPts val="0"/>
              </a:spcAft>
              <a:buClr>
                <a:schemeClr val="dk1"/>
              </a:buClr>
              <a:buSzPts val="2500"/>
              <a:buNone/>
            </a:pPr>
            <a:r>
              <a:t/>
            </a:r>
            <a:endParaRPr sz="2500"/>
          </a:p>
        </p:txBody>
      </p:sp>
      <p:graphicFrame>
        <p:nvGraphicFramePr>
          <p:cNvPr id="850" name="Google Shape;850;p130"/>
          <p:cNvGraphicFramePr/>
          <p:nvPr/>
        </p:nvGraphicFramePr>
        <p:xfrm>
          <a:off x="838200" y="2019868"/>
          <a:ext cx="3000000" cy="3000000"/>
        </p:xfrm>
        <a:graphic>
          <a:graphicData uri="http://schemas.openxmlformats.org/drawingml/2006/table">
            <a:tbl>
              <a:tblPr bandRow="1" firstRow="1">
                <a:noFill/>
                <a:tableStyleId>{75140CFC-2FD2-45D3-AD89-D6322BEAE1F3}</a:tableStyleId>
              </a:tblPr>
              <a:tblGrid>
                <a:gridCol w="1106725"/>
                <a:gridCol w="2722625"/>
                <a:gridCol w="2920625"/>
                <a:gridCol w="3765650"/>
              </a:tblGrid>
              <a:tr h="663225">
                <a:tc>
                  <a:txBody>
                    <a:bodyPr/>
                    <a:lstStyle/>
                    <a:p>
                      <a:pPr indent="0" lvl="0" marL="0" marR="0" rtl="0" algn="ctr">
                        <a:spcBef>
                          <a:spcPts val="0"/>
                        </a:spcBef>
                        <a:spcAft>
                          <a:spcPts val="0"/>
                        </a:spcAft>
                        <a:buNone/>
                      </a:pPr>
                      <a:r>
                        <a:rPr b="1" lang="en-IN" sz="2200"/>
                        <a:t>Year </a:t>
                      </a:r>
                      <a:endParaRPr b="1" sz="2200"/>
                    </a:p>
                  </a:txBody>
                  <a:tcPr marT="45725" marB="45725" marR="91450" marL="91450"/>
                </a:tc>
                <a:tc>
                  <a:txBody>
                    <a:bodyPr/>
                    <a:lstStyle/>
                    <a:p>
                      <a:pPr indent="0" lvl="0" marL="0" marR="0" rtl="0" algn="ctr">
                        <a:spcBef>
                          <a:spcPts val="0"/>
                        </a:spcBef>
                        <a:spcAft>
                          <a:spcPts val="0"/>
                        </a:spcAft>
                        <a:buNone/>
                      </a:pPr>
                      <a:r>
                        <a:rPr b="1" lang="en-IN" sz="2200"/>
                        <a:t>Cash inflows </a:t>
                      </a:r>
                      <a:endParaRPr/>
                    </a:p>
                    <a:p>
                      <a:pPr indent="0" lvl="0" marL="0" marR="0" rtl="0" algn="ctr">
                        <a:spcBef>
                          <a:spcPts val="0"/>
                        </a:spcBef>
                        <a:spcAft>
                          <a:spcPts val="0"/>
                        </a:spcAft>
                        <a:buNone/>
                      </a:pPr>
                      <a:r>
                        <a:rPr b="1" lang="en-IN" sz="2200"/>
                        <a:t>Rs. </a:t>
                      </a:r>
                      <a:endParaRPr/>
                    </a:p>
                  </a:txBody>
                  <a:tcPr marT="45725" marB="45725" marR="91450" marL="91450"/>
                </a:tc>
                <a:tc>
                  <a:txBody>
                    <a:bodyPr/>
                    <a:lstStyle/>
                    <a:p>
                      <a:pPr indent="0" lvl="0" marL="0" marR="0" rtl="0" algn="ctr">
                        <a:spcBef>
                          <a:spcPts val="0"/>
                        </a:spcBef>
                        <a:spcAft>
                          <a:spcPts val="0"/>
                        </a:spcAft>
                        <a:buNone/>
                      </a:pPr>
                      <a:r>
                        <a:rPr b="1" lang="en-IN" sz="2200"/>
                        <a:t>Discount factor @30% </a:t>
                      </a:r>
                      <a:endParaRPr b="1" sz="2200"/>
                    </a:p>
                  </a:txBody>
                  <a:tcPr marT="45725" marB="45725" marR="91450" marL="91450"/>
                </a:tc>
                <a:tc>
                  <a:txBody>
                    <a:bodyPr/>
                    <a:lstStyle/>
                    <a:p>
                      <a:pPr indent="0" lvl="0" marL="0" marR="0" rtl="0" algn="r">
                        <a:spcBef>
                          <a:spcPts val="0"/>
                        </a:spcBef>
                        <a:spcAft>
                          <a:spcPts val="0"/>
                        </a:spcAft>
                        <a:buNone/>
                      </a:pPr>
                      <a:r>
                        <a:rPr b="1" lang="en-IN" sz="2200"/>
                        <a:t>Present value of cash in flows</a:t>
                      </a:r>
                      <a:endParaRPr/>
                    </a:p>
                    <a:p>
                      <a:pPr indent="0" lvl="0" marL="0" marR="0" rtl="0" algn="r">
                        <a:spcBef>
                          <a:spcPts val="0"/>
                        </a:spcBef>
                        <a:spcAft>
                          <a:spcPts val="0"/>
                        </a:spcAft>
                        <a:buNone/>
                      </a:pPr>
                      <a:r>
                        <a:rPr b="1" lang="en-IN" sz="2200"/>
                        <a:t>Rs. </a:t>
                      </a:r>
                      <a:endParaRPr b="1" sz="2200"/>
                    </a:p>
                  </a:txBody>
                  <a:tcPr marT="45725" marB="45725" marR="91450" marL="91450"/>
                </a:tc>
              </a:tr>
              <a:tr h="370850">
                <a:tc>
                  <a:txBody>
                    <a:bodyPr/>
                    <a:lstStyle/>
                    <a:p>
                      <a:pPr indent="0" lvl="0" marL="0" marR="0" rtl="0" algn="ctr">
                        <a:spcBef>
                          <a:spcPts val="0"/>
                        </a:spcBef>
                        <a:spcAft>
                          <a:spcPts val="0"/>
                        </a:spcAft>
                        <a:buNone/>
                      </a:pPr>
                      <a:r>
                        <a:rPr lang="en-IN" sz="2500"/>
                        <a:t>1.</a:t>
                      </a:r>
                      <a:endParaRPr sz="2500"/>
                    </a:p>
                  </a:txBody>
                  <a:tcPr marT="45725" marB="45725" marR="91450" marL="91450"/>
                </a:tc>
                <a:tc>
                  <a:txBody>
                    <a:bodyPr/>
                    <a:lstStyle/>
                    <a:p>
                      <a:pPr indent="0" lvl="0" marL="0" marR="0" rtl="0" algn="ctr">
                        <a:spcBef>
                          <a:spcPts val="0"/>
                        </a:spcBef>
                        <a:spcAft>
                          <a:spcPts val="0"/>
                        </a:spcAft>
                        <a:buNone/>
                      </a:pPr>
                      <a:r>
                        <a:rPr lang="en-IN" sz="2500"/>
                        <a:t>90,000</a:t>
                      </a:r>
                      <a:endParaRPr sz="2500"/>
                    </a:p>
                  </a:txBody>
                  <a:tcPr marT="45725" marB="45725" marR="91450" marL="91450"/>
                </a:tc>
                <a:tc>
                  <a:txBody>
                    <a:bodyPr/>
                    <a:lstStyle/>
                    <a:p>
                      <a:pPr indent="0" lvl="0" marL="0" marR="0" rtl="0" algn="ctr">
                        <a:spcBef>
                          <a:spcPts val="0"/>
                        </a:spcBef>
                        <a:spcAft>
                          <a:spcPts val="0"/>
                        </a:spcAft>
                        <a:buNone/>
                      </a:pPr>
                      <a:r>
                        <a:rPr lang="en-IN" sz="2600"/>
                        <a:t>0.769</a:t>
                      </a:r>
                      <a:endParaRPr/>
                    </a:p>
                  </a:txBody>
                  <a:tcPr marT="45725" marB="45725" marR="91450" marL="91450"/>
                </a:tc>
                <a:tc>
                  <a:txBody>
                    <a:bodyPr/>
                    <a:lstStyle/>
                    <a:p>
                      <a:pPr indent="0" lvl="0" marL="0" marR="0" rtl="0" algn="r">
                        <a:spcBef>
                          <a:spcPts val="0"/>
                        </a:spcBef>
                        <a:spcAft>
                          <a:spcPts val="0"/>
                        </a:spcAft>
                        <a:buNone/>
                      </a:pPr>
                      <a:r>
                        <a:rPr lang="en-IN" sz="2600"/>
                        <a:t>69,210</a:t>
                      </a:r>
                      <a:endParaRPr sz="2600"/>
                    </a:p>
                  </a:txBody>
                  <a:tcPr marT="45725" marB="45725" marR="91450" marL="91450"/>
                </a:tc>
              </a:tr>
              <a:tr h="370850">
                <a:tc>
                  <a:txBody>
                    <a:bodyPr/>
                    <a:lstStyle/>
                    <a:p>
                      <a:pPr indent="0" lvl="0" marL="0" marR="0" rtl="0" algn="ctr">
                        <a:spcBef>
                          <a:spcPts val="0"/>
                        </a:spcBef>
                        <a:spcAft>
                          <a:spcPts val="0"/>
                        </a:spcAft>
                        <a:buNone/>
                      </a:pPr>
                      <a:r>
                        <a:rPr lang="en-IN" sz="2500"/>
                        <a:t>2.</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90,000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0.592</a:t>
                      </a:r>
                      <a:endParaRPr sz="2600"/>
                    </a:p>
                  </a:txBody>
                  <a:tcPr marT="45725" marB="45725" marR="91450" marL="91450"/>
                </a:tc>
                <a:tc>
                  <a:txBody>
                    <a:bodyPr/>
                    <a:lstStyle/>
                    <a:p>
                      <a:pPr indent="0" lvl="0" marL="0" marR="0" rtl="0" algn="r">
                        <a:spcBef>
                          <a:spcPts val="0"/>
                        </a:spcBef>
                        <a:spcAft>
                          <a:spcPts val="0"/>
                        </a:spcAft>
                        <a:buNone/>
                      </a:pPr>
                      <a:r>
                        <a:rPr lang="en-IN" sz="2600"/>
                        <a:t>53,280</a:t>
                      </a:r>
                      <a:endParaRPr sz="2600"/>
                    </a:p>
                  </a:txBody>
                  <a:tcPr marT="45725" marB="45725" marR="91450" marL="91450"/>
                </a:tc>
              </a:tr>
              <a:tr h="370850">
                <a:tc>
                  <a:txBody>
                    <a:bodyPr/>
                    <a:lstStyle/>
                    <a:p>
                      <a:pPr indent="0" lvl="0" marL="0" marR="0" rtl="0" algn="ctr">
                        <a:spcBef>
                          <a:spcPts val="0"/>
                        </a:spcBef>
                        <a:spcAft>
                          <a:spcPts val="0"/>
                        </a:spcAft>
                        <a:buNone/>
                      </a:pPr>
                      <a:r>
                        <a:rPr lang="en-IN" sz="2500"/>
                        <a:t>3.</a:t>
                      </a:r>
                      <a:endParaRPr sz="2500"/>
                    </a:p>
                  </a:txBody>
                  <a:tcPr marT="45725" marB="45725" marR="91450" marL="91450"/>
                </a:tc>
                <a:tc>
                  <a:txBody>
                    <a:bodyPr/>
                    <a:lstStyle/>
                    <a:p>
                      <a:pPr indent="0" lvl="0" marL="0" marR="0" rtl="0" algn="ctr">
                        <a:spcBef>
                          <a:spcPts val="0"/>
                        </a:spcBef>
                        <a:spcAft>
                          <a:spcPts val="0"/>
                        </a:spcAft>
                        <a:buNone/>
                      </a:pPr>
                      <a:r>
                        <a:rPr b="0" lang="en-IN" sz="2500">
                          <a:solidFill>
                            <a:schemeClr val="dk1"/>
                          </a:solidFill>
                        </a:rPr>
                        <a:t>80,000</a:t>
                      </a:r>
                      <a:endParaRPr b="0"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600"/>
                        <a:t>0.455</a:t>
                      </a:r>
                      <a:endParaRPr sz="2600"/>
                    </a:p>
                  </a:txBody>
                  <a:tcPr marT="45725" marB="45725" marR="91450" marL="91450"/>
                </a:tc>
                <a:tc>
                  <a:txBody>
                    <a:bodyPr/>
                    <a:lstStyle/>
                    <a:p>
                      <a:pPr indent="0" lvl="0" marL="0" marR="0" rtl="0" algn="r">
                        <a:spcBef>
                          <a:spcPts val="0"/>
                        </a:spcBef>
                        <a:spcAft>
                          <a:spcPts val="0"/>
                        </a:spcAft>
                        <a:buNone/>
                      </a:pPr>
                      <a:r>
                        <a:rPr lang="en-IN" sz="2600"/>
                        <a:t>36,400</a:t>
                      </a:r>
                      <a:endParaRPr sz="2600"/>
                    </a:p>
                  </a:txBody>
                  <a:tcPr marT="45725" marB="45725" marR="91450" marL="91450"/>
                </a:tc>
              </a:tr>
              <a:tr h="370850">
                <a:tc>
                  <a:txBody>
                    <a:bodyPr/>
                    <a:lstStyle/>
                    <a:p>
                      <a:pPr indent="0" lvl="0" marL="0" marR="0" rtl="0" algn="ctr">
                        <a:spcBef>
                          <a:spcPts val="0"/>
                        </a:spcBef>
                        <a:spcAft>
                          <a:spcPts val="0"/>
                        </a:spcAft>
                        <a:buNone/>
                      </a:pPr>
                      <a:r>
                        <a:rPr lang="en-IN" sz="2500"/>
                        <a:t>4.</a:t>
                      </a:r>
                      <a:endParaRPr sz="2500"/>
                    </a:p>
                  </a:txBody>
                  <a:tcPr marT="45725" marB="45725" marR="91450" marL="91450"/>
                </a:tc>
                <a:tc>
                  <a:txBody>
                    <a:bodyPr/>
                    <a:lstStyle/>
                    <a:p>
                      <a:pPr indent="0" lvl="0" marL="0" marR="0" rtl="0" algn="ctr">
                        <a:spcBef>
                          <a:spcPts val="0"/>
                        </a:spcBef>
                        <a:spcAft>
                          <a:spcPts val="0"/>
                        </a:spcAft>
                        <a:buNone/>
                      </a:pPr>
                      <a:r>
                        <a:rPr lang="en-IN" sz="2500"/>
                        <a:t>80,000</a:t>
                      </a:r>
                      <a:endParaRPr sz="2500"/>
                    </a:p>
                  </a:txBody>
                  <a:tcPr marT="45725" marB="45725" marR="91450" marL="91450"/>
                </a:tc>
                <a:tc>
                  <a:txBody>
                    <a:bodyPr/>
                    <a:lstStyle/>
                    <a:p>
                      <a:pPr indent="0" lvl="0" marL="0" marR="0" rtl="0" algn="ctr">
                        <a:spcBef>
                          <a:spcPts val="0"/>
                        </a:spcBef>
                        <a:spcAft>
                          <a:spcPts val="0"/>
                        </a:spcAft>
                        <a:buNone/>
                      </a:pPr>
                      <a:r>
                        <a:rPr lang="en-IN" sz="2600"/>
                        <a:t>0.350</a:t>
                      </a:r>
                      <a:endParaRPr sz="2600"/>
                    </a:p>
                  </a:txBody>
                  <a:tcPr marT="45725" marB="45725" marR="91450" marL="91450"/>
                </a:tc>
                <a:tc>
                  <a:txBody>
                    <a:bodyPr/>
                    <a:lstStyle/>
                    <a:p>
                      <a:pPr indent="0" lvl="0" marL="0" marR="0" rtl="0" algn="r">
                        <a:spcBef>
                          <a:spcPts val="0"/>
                        </a:spcBef>
                        <a:spcAft>
                          <a:spcPts val="0"/>
                        </a:spcAft>
                        <a:buNone/>
                      </a:pPr>
                      <a:r>
                        <a:rPr lang="en-IN" sz="2600"/>
                        <a:t>28,000</a:t>
                      </a:r>
                      <a:endParaRPr sz="2600"/>
                    </a:p>
                  </a:txBody>
                  <a:tcPr marT="45725" marB="45725" marR="91450" marL="91450"/>
                </a:tc>
              </a:tr>
              <a:tr h="370850">
                <a:tc>
                  <a:txBody>
                    <a:bodyPr/>
                    <a:lstStyle/>
                    <a:p>
                      <a:pPr indent="0" lvl="0" marL="0" marR="0" rtl="0" algn="ctr">
                        <a:spcBef>
                          <a:spcPts val="0"/>
                        </a:spcBef>
                        <a:spcAft>
                          <a:spcPts val="0"/>
                        </a:spcAft>
                        <a:buNone/>
                      </a:pPr>
                      <a:r>
                        <a:rPr lang="en-IN" sz="2500"/>
                        <a:t>5.</a:t>
                      </a:r>
                      <a:endParaRPr sz="2500"/>
                    </a:p>
                  </a:txBody>
                  <a:tcPr marT="45725" marB="45725" marR="91450" marL="91450"/>
                </a:tc>
                <a:tc>
                  <a:txBody>
                    <a:bodyPr/>
                    <a:lstStyle/>
                    <a:p>
                      <a:pPr indent="0" lvl="0" marL="0" marR="0" rtl="0" algn="ctr">
                        <a:spcBef>
                          <a:spcPts val="0"/>
                        </a:spcBef>
                        <a:spcAft>
                          <a:spcPts val="0"/>
                        </a:spcAft>
                        <a:buNone/>
                      </a:pPr>
                      <a:r>
                        <a:rPr lang="en-IN" sz="2500"/>
                        <a:t>60,000</a:t>
                      </a:r>
                      <a:endParaRPr sz="2500"/>
                    </a:p>
                  </a:txBody>
                  <a:tcPr marT="45725" marB="45725" marR="91450" marL="91450"/>
                </a:tc>
                <a:tc>
                  <a:txBody>
                    <a:bodyPr/>
                    <a:lstStyle/>
                    <a:p>
                      <a:pPr indent="0" lvl="0" marL="0" marR="0" rtl="0" algn="ctr">
                        <a:spcBef>
                          <a:spcPts val="0"/>
                        </a:spcBef>
                        <a:spcAft>
                          <a:spcPts val="0"/>
                        </a:spcAft>
                        <a:buNone/>
                      </a:pPr>
                      <a:r>
                        <a:rPr lang="en-IN" sz="2600"/>
                        <a:t>0.269</a:t>
                      </a:r>
                      <a:endParaRPr sz="2600"/>
                    </a:p>
                  </a:txBody>
                  <a:tcPr marT="45725" marB="45725" marR="91450" marL="91450"/>
                </a:tc>
                <a:tc>
                  <a:txBody>
                    <a:bodyPr/>
                    <a:lstStyle/>
                    <a:p>
                      <a:pPr indent="0" lvl="0" marL="0" marR="0" rtl="0" algn="r">
                        <a:spcBef>
                          <a:spcPts val="0"/>
                        </a:spcBef>
                        <a:spcAft>
                          <a:spcPts val="0"/>
                        </a:spcAft>
                        <a:buNone/>
                      </a:pPr>
                      <a:r>
                        <a:rPr lang="en-IN" sz="2600"/>
                        <a:t>16,140</a:t>
                      </a:r>
                      <a:endParaRPr sz="26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solidFill>
                            <a:srgbClr val="FF0000"/>
                          </a:solidFill>
                        </a:rPr>
                        <a:t>Total present</a:t>
                      </a:r>
                      <a:r>
                        <a:rPr b="0" lang="en-IN" sz="2500">
                          <a:solidFill>
                            <a:srgbClr val="FF0000"/>
                          </a:solidFill>
                        </a:rPr>
                        <a:t> value of cash inflows</a:t>
                      </a:r>
                      <a:endParaRPr b="0"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lang="en-IN" sz="2600">
                          <a:solidFill>
                            <a:srgbClr val="FF0000"/>
                          </a:solidFill>
                        </a:rPr>
                        <a:t>2,03,030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b="1" lang="en-IN" sz="2500">
                          <a:solidFill>
                            <a:srgbClr val="FF0000"/>
                          </a:solidFill>
                        </a:rPr>
                        <a:t>Less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0" lang="en-IN" sz="2500"/>
                        <a:t>Present value of cash out flow</a:t>
                      </a:r>
                      <a:endParaRPr b="0" sz="2500"/>
                    </a:p>
                  </a:txBody>
                  <a:tcPr marT="45725" marB="45725" marR="91450" marL="91450"/>
                </a:tc>
                <a:tc hMerge="1"/>
                <a:tc>
                  <a:txBody>
                    <a:bodyPr/>
                    <a:lstStyle/>
                    <a:p>
                      <a:pPr indent="0" lvl="0" marL="0" marR="0" rtl="0" algn="r">
                        <a:spcBef>
                          <a:spcPts val="0"/>
                        </a:spcBef>
                        <a:spcAft>
                          <a:spcPts val="0"/>
                        </a:spcAft>
                        <a:buNone/>
                      </a:pPr>
                      <a:r>
                        <a:rPr lang="en-IN" sz="2600"/>
                        <a:t>2,00,000</a:t>
                      </a:r>
                      <a:endParaRPr sz="2600"/>
                    </a:p>
                  </a:txBody>
                  <a:tcPr marT="45725" marB="45725" marR="91450" marL="91450"/>
                </a:tc>
              </a:tr>
              <a:tr h="370850">
                <a:tc>
                  <a:txBody>
                    <a:bodyPr/>
                    <a:lstStyle/>
                    <a:p>
                      <a:pPr indent="0" lvl="0" marL="0" marR="0" rtl="0" algn="ctr">
                        <a:spcBef>
                          <a:spcPts val="0"/>
                        </a:spcBef>
                        <a:spcAft>
                          <a:spcPts val="0"/>
                        </a:spcAft>
                        <a:buNone/>
                      </a:pPr>
                      <a:r>
                        <a:t/>
                      </a:r>
                      <a:endParaRPr b="1" sz="2500">
                        <a:solidFill>
                          <a:srgbClr val="FF0000"/>
                        </a:solidFill>
                      </a:endParaRPr>
                    </a:p>
                  </a:txBody>
                  <a:tcPr marT="45725" marB="45725" marR="91450" marL="91450"/>
                </a:tc>
                <a:tc gridSpan="2">
                  <a:txBody>
                    <a:bodyPr/>
                    <a:lstStyle/>
                    <a:p>
                      <a:pPr indent="0" lvl="0" marL="0" marR="0" rtl="0" algn="ctr">
                        <a:spcBef>
                          <a:spcPts val="0"/>
                        </a:spcBef>
                        <a:spcAft>
                          <a:spcPts val="0"/>
                        </a:spcAft>
                        <a:buNone/>
                      </a:pPr>
                      <a:r>
                        <a:rPr b="1" lang="en-IN" sz="2500">
                          <a:solidFill>
                            <a:srgbClr val="FF0000"/>
                          </a:solidFill>
                        </a:rPr>
                        <a:t>NPV</a:t>
                      </a:r>
                      <a:endParaRPr b="1" sz="2500">
                        <a:solidFill>
                          <a:srgbClr val="FF0000"/>
                        </a:solidFill>
                      </a:endParaRPr>
                    </a:p>
                  </a:txBody>
                  <a:tcPr marT="45725" marB="45725" marR="91450" marL="91450"/>
                </a:tc>
                <a:tc hMerge="1"/>
                <a:tc>
                  <a:txBody>
                    <a:bodyPr/>
                    <a:lstStyle/>
                    <a:p>
                      <a:pPr indent="0" lvl="0" marL="0" marR="0" rtl="0" algn="r">
                        <a:spcBef>
                          <a:spcPts val="0"/>
                        </a:spcBef>
                        <a:spcAft>
                          <a:spcPts val="0"/>
                        </a:spcAft>
                        <a:buNone/>
                      </a:pPr>
                      <a:r>
                        <a:rPr b="1" lang="en-IN" sz="2600">
                          <a:solidFill>
                            <a:srgbClr val="FF0000"/>
                          </a:solidFill>
                        </a:rPr>
                        <a:t>3,030</a:t>
                      </a:r>
                      <a:endParaRPr b="1" sz="2600">
                        <a:solidFill>
                          <a:srgbClr val="FF0000"/>
                        </a:solidFill>
                      </a:endParaRPr>
                    </a:p>
                  </a:txBody>
                  <a:tcPr marT="45725" marB="45725" marR="91450" marL="91450"/>
                </a:tc>
              </a:tr>
            </a:tbl>
          </a:graphicData>
        </a:graphic>
      </p:graphicFrame>
      <p:pic>
        <p:nvPicPr>
          <p:cNvPr descr="Image result for sastra logo" id="851" name="Google Shape;851;p130"/>
          <p:cNvPicPr preferRelativeResize="0"/>
          <p:nvPr/>
        </p:nvPicPr>
        <p:blipFill rotWithShape="1">
          <a:blip r:embed="rId3">
            <a:alphaModFix/>
          </a:blip>
          <a:srcRect b="0" l="0" r="0" t="0"/>
          <a:stretch/>
        </p:blipFill>
        <p:spPr>
          <a:xfrm>
            <a:off x="9537700" y="212045"/>
            <a:ext cx="1816100" cy="557212"/>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31"/>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present value at 30% is higher by Rs. 3,030. The IRR will therefore by slightly higher than 30%. Hence the rate may be taken as 30%.</a:t>
            </a:r>
            <a:endParaRPr sz="2600"/>
          </a:p>
        </p:txBody>
      </p:sp>
      <p:pic>
        <p:nvPicPr>
          <p:cNvPr descr="Image result for sastra logo" id="857" name="Google Shape;857;p131"/>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32"/>
          <p:cNvSpPr txBox="1"/>
          <p:nvPr>
            <p:ph idx="1" type="body"/>
          </p:nvPr>
        </p:nvSpPr>
        <p:spPr>
          <a:xfrm>
            <a:off x="838200" y="838200"/>
            <a:ext cx="10515600" cy="53387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None/>
            </a:pPr>
            <a:r>
              <a:t/>
            </a:r>
            <a:endParaRPr sz="4400">
              <a:solidFill>
                <a:srgbClr val="FF0000"/>
              </a:solidFill>
              <a:latin typeface="Bell MT"/>
              <a:ea typeface="Bell MT"/>
              <a:cs typeface="Bell MT"/>
              <a:sym typeface="Bell MT"/>
            </a:endParaRPr>
          </a:p>
          <a:p>
            <a:pPr indent="0" lvl="0" marL="0" rtl="0" algn="ctr">
              <a:lnSpc>
                <a:spcPct val="90000"/>
              </a:lnSpc>
              <a:spcBef>
                <a:spcPts val="1000"/>
              </a:spcBef>
              <a:spcAft>
                <a:spcPts val="0"/>
              </a:spcAft>
              <a:buClr>
                <a:schemeClr val="dk1"/>
              </a:buClr>
              <a:buSzPts val="4400"/>
              <a:buNone/>
            </a:pPr>
            <a:r>
              <a:t/>
            </a:r>
            <a:endParaRPr sz="4400">
              <a:solidFill>
                <a:srgbClr val="FF0000"/>
              </a:solidFill>
              <a:latin typeface="Bell MT"/>
              <a:ea typeface="Bell MT"/>
              <a:cs typeface="Bell MT"/>
              <a:sym typeface="Bell MT"/>
            </a:endParaRPr>
          </a:p>
          <a:p>
            <a:pPr indent="0" lvl="0" marL="0" rtl="0" algn="ctr">
              <a:lnSpc>
                <a:spcPct val="90000"/>
              </a:lnSpc>
              <a:spcBef>
                <a:spcPts val="1000"/>
              </a:spcBef>
              <a:spcAft>
                <a:spcPts val="0"/>
              </a:spcAft>
              <a:buClr>
                <a:schemeClr val="dk1"/>
              </a:buClr>
              <a:buSzPts val="4400"/>
              <a:buNone/>
            </a:pPr>
            <a:r>
              <a:t/>
            </a:r>
            <a:endParaRPr sz="4400">
              <a:solidFill>
                <a:srgbClr val="FF0000"/>
              </a:solidFill>
              <a:latin typeface="Bell MT"/>
              <a:ea typeface="Bell MT"/>
              <a:cs typeface="Bell MT"/>
              <a:sym typeface="Bell MT"/>
            </a:endParaRPr>
          </a:p>
          <a:p>
            <a:pPr indent="0" lvl="0" marL="0" rtl="0" algn="ctr">
              <a:lnSpc>
                <a:spcPct val="90000"/>
              </a:lnSpc>
              <a:spcBef>
                <a:spcPts val="1000"/>
              </a:spcBef>
              <a:spcAft>
                <a:spcPts val="0"/>
              </a:spcAft>
              <a:buClr>
                <a:srgbClr val="FF0000"/>
              </a:buClr>
              <a:buSzPts val="4400"/>
              <a:buNone/>
            </a:pPr>
            <a:r>
              <a:rPr b="1" lang="en-IN" sz="4400">
                <a:solidFill>
                  <a:srgbClr val="FF0000"/>
                </a:solidFill>
                <a:latin typeface="Bell MT"/>
                <a:ea typeface="Bell MT"/>
                <a:cs typeface="Bell MT"/>
                <a:sym typeface="Bell MT"/>
              </a:rPr>
              <a:t>Thank You</a:t>
            </a:r>
            <a:endParaRPr b="1" sz="4400">
              <a:solidFill>
                <a:srgbClr val="FF0000"/>
              </a:solidFill>
              <a:latin typeface="Bell MT"/>
              <a:ea typeface="Bell MT"/>
              <a:cs typeface="Bell MT"/>
              <a:sym typeface="Bell MT"/>
            </a:endParaRPr>
          </a:p>
        </p:txBody>
      </p:sp>
      <p:pic>
        <p:nvPicPr>
          <p:cNvPr descr="Image result for sastra logo" id="863" name="Google Shape;863;p132"/>
          <p:cNvPicPr preferRelativeResize="0"/>
          <p:nvPr/>
        </p:nvPicPr>
        <p:blipFill rotWithShape="1">
          <a:blip r:embed="rId3">
            <a:alphaModFix/>
          </a:blip>
          <a:srcRect b="0" l="0" r="0" t="0"/>
          <a:stretch/>
        </p:blipFill>
        <p:spPr>
          <a:xfrm>
            <a:off x="9537700" y="246352"/>
            <a:ext cx="1816100" cy="5572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