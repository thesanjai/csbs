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y="6858000" cx="12192000"/>
  <p:notesSz cx="6858000" cy="9144000"/>
  <p:embeddedFontLst>
    <p:embeddedFont>
      <p:font typeface="Bodoni"/>
      <p:regular r:id="rId61"/>
      <p:bold r:id="rId62"/>
      <p:italic r:id="rId63"/>
      <p:boldItalic r:id="rId64"/>
    </p:embeddedFont>
    <p:embeddedFont>
      <p:font typeface="Bell MT"/>
      <p:regular r:id="rId65"/>
      <p:bold r:id="rId66"/>
      <p:italic r:id="rId67"/>
      <p:boldItalic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3EBC90-8482-44D1-B74C-96AE8BA04B85}">
  <a:tblStyle styleId="{F13EBC90-8482-44D1-B74C-96AE8BA04B8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Bodoni-bold.fntdata"/><Relationship Id="rId61" Type="http://schemas.openxmlformats.org/officeDocument/2006/relationships/font" Target="fonts/Bodoni-regular.fntdata"/><Relationship Id="rId20" Type="http://schemas.openxmlformats.org/officeDocument/2006/relationships/slide" Target="slides/slide15.xml"/><Relationship Id="rId64" Type="http://schemas.openxmlformats.org/officeDocument/2006/relationships/font" Target="fonts/Bodoni-boldItalic.fntdata"/><Relationship Id="rId63" Type="http://schemas.openxmlformats.org/officeDocument/2006/relationships/font" Target="fonts/Bodoni-italic.fntdata"/><Relationship Id="rId22" Type="http://schemas.openxmlformats.org/officeDocument/2006/relationships/slide" Target="slides/slide17.xml"/><Relationship Id="rId66" Type="http://schemas.openxmlformats.org/officeDocument/2006/relationships/font" Target="fonts/BellMT-bold.fntdata"/><Relationship Id="rId21" Type="http://schemas.openxmlformats.org/officeDocument/2006/relationships/slide" Target="slides/slide16.xml"/><Relationship Id="rId65" Type="http://schemas.openxmlformats.org/officeDocument/2006/relationships/font" Target="fonts/BellMT-regular.fntdata"/><Relationship Id="rId24" Type="http://schemas.openxmlformats.org/officeDocument/2006/relationships/slide" Target="slides/slide19.xml"/><Relationship Id="rId68" Type="http://schemas.openxmlformats.org/officeDocument/2006/relationships/font" Target="fonts/BellMT-boldItalic.fntdata"/><Relationship Id="rId23" Type="http://schemas.openxmlformats.org/officeDocument/2006/relationships/slide" Target="slides/slide18.xml"/><Relationship Id="rId67" Type="http://schemas.openxmlformats.org/officeDocument/2006/relationships/font" Target="fonts/BellMT-italic.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jp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6.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6.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6.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6.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6.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6.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6.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6.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6.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6.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6.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6.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6.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title"/>
          </p:nvPr>
        </p:nvSpPr>
        <p:spPr>
          <a:xfrm>
            <a:off x="838200" y="974292"/>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Bell MT"/>
              <a:buNone/>
            </a:pPr>
            <a:r>
              <a:rPr b="1" lang="en-IN">
                <a:solidFill>
                  <a:srgbClr val="FF0000"/>
                </a:solidFill>
                <a:latin typeface="Bell MT"/>
                <a:ea typeface="Bell MT"/>
                <a:cs typeface="Bell MT"/>
                <a:sym typeface="Bell MT"/>
              </a:rPr>
              <a:t>Leverages</a:t>
            </a:r>
            <a:br>
              <a:rPr b="1" lang="en-IN">
                <a:solidFill>
                  <a:srgbClr val="FF0000"/>
                </a:solidFill>
                <a:latin typeface="Bell MT"/>
                <a:ea typeface="Bell MT"/>
                <a:cs typeface="Bell MT"/>
                <a:sym typeface="Bell MT"/>
              </a:rPr>
            </a:br>
            <a:r>
              <a:rPr b="1" lang="en-IN" sz="2000">
                <a:solidFill>
                  <a:srgbClr val="FF0000"/>
                </a:solidFill>
                <a:latin typeface="Bell MT"/>
                <a:ea typeface="Bell MT"/>
                <a:cs typeface="Bell MT"/>
                <a:sym typeface="Bell MT"/>
              </a:rPr>
              <a:t>(Unit II)</a:t>
            </a:r>
            <a:endParaRPr b="1" sz="2000">
              <a:solidFill>
                <a:srgbClr val="FF0000"/>
              </a:solidFill>
              <a:latin typeface="Bell MT"/>
              <a:ea typeface="Bell MT"/>
              <a:cs typeface="Bell MT"/>
              <a:sym typeface="Bell MT"/>
            </a:endParaRPr>
          </a:p>
        </p:txBody>
      </p:sp>
      <p:sp>
        <p:nvSpPr>
          <p:cNvPr id="85" name="Google Shape;85;p13"/>
          <p:cNvSpPr txBox="1"/>
          <p:nvPr>
            <p:ph idx="1" type="body"/>
          </p:nvPr>
        </p:nvSpPr>
        <p:spPr>
          <a:xfrm>
            <a:off x="838200" y="2452255"/>
            <a:ext cx="10515600" cy="3519054"/>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None/>
            </a:pPr>
            <a:r>
              <a:t/>
            </a:r>
            <a:endParaRPr sz="3600">
              <a:solidFill>
                <a:srgbClr val="1F3864"/>
              </a:solidFill>
              <a:latin typeface="Bodoni"/>
              <a:ea typeface="Bodoni"/>
              <a:cs typeface="Bodoni"/>
              <a:sym typeface="Bodoni"/>
            </a:endParaRPr>
          </a:p>
          <a:p>
            <a:pPr indent="0" lvl="0" marL="0" rtl="0" algn="ctr">
              <a:lnSpc>
                <a:spcPct val="90000"/>
              </a:lnSpc>
              <a:spcBef>
                <a:spcPts val="1000"/>
              </a:spcBef>
              <a:spcAft>
                <a:spcPts val="0"/>
              </a:spcAft>
              <a:buClr>
                <a:srgbClr val="1F3864"/>
              </a:buClr>
              <a:buSzPts val="3600"/>
              <a:buNone/>
            </a:pPr>
            <a:r>
              <a:rPr b="1" lang="en-IN" sz="3600">
                <a:solidFill>
                  <a:srgbClr val="1F3864"/>
                </a:solidFill>
                <a:latin typeface="Bodoni"/>
                <a:ea typeface="Bodoni"/>
                <a:cs typeface="Bodoni"/>
                <a:sym typeface="Bodoni"/>
              </a:rPr>
              <a:t>Dr.M.Velavan</a:t>
            </a:r>
            <a:endParaRPr b="1" sz="3600">
              <a:solidFill>
                <a:srgbClr val="1F3864"/>
              </a:solidFill>
              <a:latin typeface="Bodoni"/>
              <a:ea typeface="Bodoni"/>
              <a:cs typeface="Bodoni"/>
              <a:sym typeface="Bodoni"/>
            </a:endParaRPr>
          </a:p>
          <a:p>
            <a:pPr indent="0" lvl="0" marL="0" rtl="0" algn="ctr">
              <a:lnSpc>
                <a:spcPct val="90000"/>
              </a:lnSpc>
              <a:spcBef>
                <a:spcPts val="1000"/>
              </a:spcBef>
              <a:spcAft>
                <a:spcPts val="0"/>
              </a:spcAft>
              <a:buClr>
                <a:srgbClr val="1F3864"/>
              </a:buClr>
              <a:buSzPts val="2800"/>
              <a:buNone/>
            </a:pPr>
            <a:r>
              <a:rPr b="1" lang="en-IN">
                <a:solidFill>
                  <a:srgbClr val="1F3864"/>
                </a:solidFill>
                <a:latin typeface="Bodoni"/>
                <a:ea typeface="Bodoni"/>
                <a:cs typeface="Bodoni"/>
                <a:sym typeface="Bodoni"/>
              </a:rPr>
              <a:t>Faculty</a:t>
            </a:r>
            <a:endParaRPr/>
          </a:p>
          <a:p>
            <a:pPr indent="0" lvl="0" marL="0" rtl="0" algn="ctr">
              <a:lnSpc>
                <a:spcPct val="90000"/>
              </a:lnSpc>
              <a:spcBef>
                <a:spcPts val="1000"/>
              </a:spcBef>
              <a:spcAft>
                <a:spcPts val="0"/>
              </a:spcAft>
              <a:buClr>
                <a:srgbClr val="1F3864"/>
              </a:buClr>
              <a:buSzPts val="2800"/>
              <a:buNone/>
            </a:pPr>
            <a:r>
              <a:rPr b="1" lang="en-IN">
                <a:solidFill>
                  <a:srgbClr val="1F3864"/>
                </a:solidFill>
                <a:latin typeface="Bodoni"/>
                <a:ea typeface="Bodoni"/>
                <a:cs typeface="Bodoni"/>
                <a:sym typeface="Bodoni"/>
              </a:rPr>
              <a:t>School of Management</a:t>
            </a:r>
            <a:endParaRPr/>
          </a:p>
          <a:p>
            <a:pPr indent="0" lvl="0" marL="0" rtl="0" algn="ctr">
              <a:lnSpc>
                <a:spcPct val="90000"/>
              </a:lnSpc>
              <a:spcBef>
                <a:spcPts val="1000"/>
              </a:spcBef>
              <a:spcAft>
                <a:spcPts val="0"/>
              </a:spcAft>
              <a:buClr>
                <a:srgbClr val="1F3864"/>
              </a:buClr>
              <a:buSzPts val="2800"/>
              <a:buNone/>
            </a:pPr>
            <a:r>
              <a:rPr b="1" lang="en-IN">
                <a:solidFill>
                  <a:srgbClr val="1F3864"/>
                </a:solidFill>
                <a:latin typeface="Bodoni"/>
                <a:ea typeface="Bodoni"/>
                <a:cs typeface="Bodoni"/>
                <a:sym typeface="Bodoni"/>
              </a:rPr>
              <a:t>SASTRA Deemed University</a:t>
            </a:r>
            <a:endParaRPr/>
          </a:p>
          <a:p>
            <a:pPr indent="0" lvl="0" marL="0" rtl="0" algn="ctr">
              <a:lnSpc>
                <a:spcPct val="90000"/>
              </a:lnSpc>
              <a:spcBef>
                <a:spcPts val="1000"/>
              </a:spcBef>
              <a:spcAft>
                <a:spcPts val="0"/>
              </a:spcAft>
              <a:buClr>
                <a:srgbClr val="1F3864"/>
              </a:buClr>
              <a:buSzPts val="2800"/>
              <a:buNone/>
            </a:pPr>
            <a:r>
              <a:rPr b="1" lang="en-IN">
                <a:solidFill>
                  <a:srgbClr val="1F3864"/>
                </a:solidFill>
                <a:latin typeface="Bodoni"/>
                <a:ea typeface="Bodoni"/>
                <a:cs typeface="Bodoni"/>
                <a:sym typeface="Bodoni"/>
              </a:rPr>
              <a:t>Thanjavur – 613 401</a:t>
            </a:r>
            <a:endParaRPr b="1">
              <a:solidFill>
                <a:srgbClr val="1F3864"/>
              </a:solidFill>
              <a:latin typeface="Bodoni"/>
              <a:ea typeface="Bodoni"/>
              <a:cs typeface="Bodoni"/>
              <a:sym typeface="Bodoni"/>
            </a:endParaRPr>
          </a:p>
          <a:p>
            <a:pPr indent="-50800" lvl="0" marL="228600" rtl="0" algn="ctr">
              <a:lnSpc>
                <a:spcPct val="90000"/>
              </a:lnSpc>
              <a:spcBef>
                <a:spcPts val="1000"/>
              </a:spcBef>
              <a:spcAft>
                <a:spcPts val="0"/>
              </a:spcAft>
              <a:buClr>
                <a:schemeClr val="dk1"/>
              </a:buClr>
              <a:buSzPts val="2800"/>
              <a:buNone/>
            </a:pPr>
            <a:r>
              <a:t/>
            </a:r>
            <a:endParaRPr/>
          </a:p>
        </p:txBody>
      </p:sp>
      <p:pic>
        <p:nvPicPr>
          <p:cNvPr descr="Image result for sastra logo" id="86" name="Google Shape;86;p13"/>
          <p:cNvPicPr preferRelativeResize="0"/>
          <p:nvPr/>
        </p:nvPicPr>
        <p:blipFill rotWithShape="1">
          <a:blip r:embed="rId3">
            <a:alphaModFix/>
          </a:blip>
          <a:srcRect b="0" l="0" r="0" t="0"/>
          <a:stretch/>
        </p:blipFill>
        <p:spPr>
          <a:xfrm>
            <a:off x="9537700" y="360218"/>
            <a:ext cx="1816100" cy="60021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idx="1" type="body"/>
          </p:nvPr>
        </p:nvSpPr>
        <p:spPr>
          <a:xfrm>
            <a:off x="838200" y="1025236"/>
            <a:ext cx="10515600" cy="5151727"/>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1. Introduction:</a:t>
            </a:r>
            <a:endParaRPr/>
          </a:p>
          <a:p>
            <a:pPr indent="0" lvl="0" marL="0" rtl="0" algn="just">
              <a:lnSpc>
                <a:spcPct val="90000"/>
              </a:lnSpc>
              <a:spcBef>
                <a:spcPts val="1000"/>
              </a:spcBef>
              <a:spcAft>
                <a:spcPts val="0"/>
              </a:spcAft>
              <a:buClr>
                <a:schemeClr val="dk1"/>
              </a:buClr>
              <a:buSzPts val="2600"/>
              <a:buNone/>
            </a:pPr>
            <a:r>
              <a:rPr lang="en-IN" sz="2600"/>
              <a:t>The concept of leverage has its origin in science</a:t>
            </a:r>
            <a:r>
              <a:rPr lang="en-IN" sz="2600">
                <a:solidFill>
                  <a:srgbClr val="FF0000"/>
                </a:solidFill>
              </a:rPr>
              <a:t>. It means influence of one force over another. </a:t>
            </a:r>
            <a:r>
              <a:rPr lang="en-IN" sz="2600"/>
              <a:t>Since financial items are inter-related, change in one, causes change in profit. In the context of financial management, </a:t>
            </a:r>
            <a:r>
              <a:rPr lang="en-IN" sz="2600">
                <a:solidFill>
                  <a:srgbClr val="FF0000"/>
                </a:solidFill>
              </a:rPr>
              <a:t>the term ‘leverage’ means sensitiveness of one financial variable to change in another. </a:t>
            </a:r>
            <a:r>
              <a:rPr lang="en-IN" sz="2600"/>
              <a:t>The measure of this sensitiveness is expressed as a ratio and is called degree of leverage.</a:t>
            </a:r>
            <a:endParaRPr/>
          </a:p>
          <a:p>
            <a:pPr indent="0" lvl="0" marL="0" rtl="0" algn="just">
              <a:lnSpc>
                <a:spcPct val="90000"/>
              </a:lnSpc>
              <a:spcBef>
                <a:spcPts val="1000"/>
              </a:spcBef>
              <a:spcAft>
                <a:spcPts val="0"/>
              </a:spcAft>
              <a:buClr>
                <a:schemeClr val="dk1"/>
              </a:buClr>
              <a:buSzPts val="2600"/>
              <a:buNone/>
            </a:pPr>
            <a:r>
              <a:rPr lang="en-IN" sz="2600"/>
              <a:t>Algebraically, the leverage may be defined as,</a:t>
            </a:r>
            <a:endParaRPr/>
          </a:p>
          <a:p>
            <a:pPr indent="0" lvl="0" marL="0" rtl="0" algn="just">
              <a:lnSpc>
                <a:spcPct val="90000"/>
              </a:lnSpc>
              <a:spcBef>
                <a:spcPts val="1000"/>
              </a:spcBef>
              <a:spcAft>
                <a:spcPts val="0"/>
              </a:spcAft>
              <a:buClr>
                <a:schemeClr val="dk1"/>
              </a:buClr>
              <a:buSzPts val="2600"/>
              <a:buNone/>
            </a:pPr>
            <a:r>
              <a:t/>
            </a:r>
            <a:endParaRPr sz="2600"/>
          </a:p>
        </p:txBody>
      </p:sp>
      <p:pic>
        <p:nvPicPr>
          <p:cNvPr id="92" name="Google Shape;92;p14"/>
          <p:cNvPicPr preferRelativeResize="0"/>
          <p:nvPr/>
        </p:nvPicPr>
        <p:blipFill rotWithShape="1">
          <a:blip r:embed="rId3">
            <a:alphaModFix/>
          </a:blip>
          <a:srcRect b="53454" l="27957" r="47658" t="39924"/>
          <a:stretch/>
        </p:blipFill>
        <p:spPr>
          <a:xfrm>
            <a:off x="838200" y="4281055"/>
            <a:ext cx="6192982" cy="914400"/>
          </a:xfrm>
          <a:prstGeom prst="rect">
            <a:avLst/>
          </a:prstGeom>
          <a:noFill/>
          <a:ln>
            <a:noFill/>
          </a:ln>
        </p:spPr>
      </p:pic>
      <p:pic>
        <p:nvPicPr>
          <p:cNvPr descr="Image result for sastra logo" id="93" name="Google Shape;93;p14"/>
          <p:cNvPicPr preferRelativeResize="0"/>
          <p:nvPr/>
        </p:nvPicPr>
        <p:blipFill rotWithShape="1">
          <a:blip r:embed="rId4">
            <a:alphaModFix/>
          </a:blip>
          <a:srcRect b="0" l="0" r="0" t="0"/>
          <a:stretch/>
        </p:blipFill>
        <p:spPr>
          <a:xfrm>
            <a:off x="9537700" y="360218"/>
            <a:ext cx="1816100" cy="6002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idx="1" type="body"/>
          </p:nvPr>
        </p:nvSpPr>
        <p:spPr>
          <a:xfrm>
            <a:off x="838200" y="1011382"/>
            <a:ext cx="10515600" cy="53340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2. Meaning of Leverage: </a:t>
            </a:r>
            <a:endParaRPr/>
          </a:p>
          <a:p>
            <a:pPr indent="0" lvl="0" marL="0" rtl="0" algn="just">
              <a:lnSpc>
                <a:spcPct val="90000"/>
              </a:lnSpc>
              <a:spcBef>
                <a:spcPts val="1000"/>
              </a:spcBef>
              <a:spcAft>
                <a:spcPts val="0"/>
              </a:spcAft>
              <a:buClr>
                <a:schemeClr val="dk1"/>
              </a:buClr>
              <a:buSzPts val="2600"/>
              <a:buNone/>
            </a:pPr>
            <a:r>
              <a:rPr lang="en-IN" sz="2600"/>
              <a:t>The term leverage refers </a:t>
            </a:r>
            <a:r>
              <a:rPr b="1" lang="en-IN" sz="2600">
                <a:solidFill>
                  <a:srgbClr val="FF0000"/>
                </a:solidFill>
              </a:rPr>
              <a:t>to an increased means of accomplishing some purpose.</a:t>
            </a:r>
            <a:r>
              <a:rPr b="1" lang="en-IN" sz="2600"/>
              <a:t> </a:t>
            </a:r>
            <a:r>
              <a:rPr b="1" lang="en-IN" sz="2600">
                <a:solidFill>
                  <a:srgbClr val="FF0000"/>
                </a:solidFill>
              </a:rPr>
              <a:t>Leverage is used to lift heavy objects, which may not be otherwise possible.</a:t>
            </a:r>
            <a:r>
              <a:rPr lang="en-IN" sz="2600"/>
              <a:t> From a financial point of view, leverage refers to </a:t>
            </a:r>
            <a:r>
              <a:rPr b="1" lang="en-IN" sz="2600">
                <a:solidFill>
                  <a:srgbClr val="00B050"/>
                </a:solidFill>
              </a:rPr>
              <a:t>furnishing the ability to use fixed-cost assets or funds to increase the return to its shareholders.</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3. Definition of Leverage: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James Horne </a:t>
            </a:r>
            <a:r>
              <a:rPr lang="en-IN" sz="2600"/>
              <a:t>has defined leverage as, </a:t>
            </a:r>
            <a:r>
              <a:rPr b="1" lang="en-IN" sz="2600">
                <a:solidFill>
                  <a:srgbClr val="FF0000"/>
                </a:solidFill>
              </a:rPr>
              <a:t>“the employment of an asset or fund for which the firm pays a fixed cost or fixed return.</a:t>
            </a:r>
            <a:r>
              <a:rPr b="1" lang="en-IN" sz="2600"/>
              <a:t> </a:t>
            </a:r>
            <a:endParaRPr/>
          </a:p>
          <a:p>
            <a:pPr indent="0" lvl="0" marL="0" rtl="0" algn="just">
              <a:lnSpc>
                <a:spcPct val="90000"/>
              </a:lnSpc>
              <a:spcBef>
                <a:spcPts val="1000"/>
              </a:spcBef>
              <a:spcAft>
                <a:spcPts val="0"/>
              </a:spcAft>
              <a:buClr>
                <a:schemeClr val="dk1"/>
              </a:buClr>
              <a:buSzPts val="2600"/>
              <a:buNone/>
            </a:pPr>
            <a:r>
              <a:rPr lang="en-IN" sz="2600"/>
              <a:t>Thus according to him leverage </a:t>
            </a:r>
            <a:r>
              <a:rPr lang="en-IN" sz="2600">
                <a:solidFill>
                  <a:srgbClr val="FF0000"/>
                </a:solidFill>
              </a:rPr>
              <a:t>results as a result of the firm employing an assets or source of funds which has a fixed cost (or return).</a:t>
            </a:r>
            <a:r>
              <a:rPr lang="en-IN" sz="2600"/>
              <a:t> The former may be termed as “fixed operating cost” while the latter may be termed as “ fixed financial cost.</a:t>
            </a:r>
            <a:endParaRPr sz="2600"/>
          </a:p>
        </p:txBody>
      </p:sp>
      <p:pic>
        <p:nvPicPr>
          <p:cNvPr descr="Image result for sastra logo" id="99" name="Google Shape;99;p15"/>
          <p:cNvPicPr preferRelativeResize="0"/>
          <p:nvPr/>
        </p:nvPicPr>
        <p:blipFill rotWithShape="1">
          <a:blip r:embed="rId3">
            <a:alphaModFix/>
          </a:blip>
          <a:srcRect b="0" l="0" r="0" t="0"/>
          <a:stretch/>
        </p:blipFill>
        <p:spPr>
          <a:xfrm>
            <a:off x="9537700" y="360218"/>
            <a:ext cx="1816100" cy="60021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idx="1" type="body"/>
          </p:nvPr>
        </p:nvSpPr>
        <p:spPr>
          <a:xfrm>
            <a:off x="824345" y="836963"/>
            <a:ext cx="10515600" cy="54149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4. Concept of leverage:</a:t>
            </a:r>
            <a:endParaRPr b="1" sz="2600">
              <a:solidFill>
                <a:srgbClr val="FF0000"/>
              </a:solidFill>
            </a:endParaRPr>
          </a:p>
        </p:txBody>
      </p:sp>
      <p:sp>
        <p:nvSpPr>
          <p:cNvPr id="105" name="Google Shape;105;p16"/>
          <p:cNvSpPr/>
          <p:nvPr/>
        </p:nvSpPr>
        <p:spPr>
          <a:xfrm>
            <a:off x="4164576" y="1309924"/>
            <a:ext cx="3262075" cy="3636149"/>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2200" u="none" cap="none" strike="noStrike">
                <a:solidFill>
                  <a:schemeClr val="lt1"/>
                </a:solidFill>
                <a:latin typeface="Calibri"/>
                <a:ea typeface="Calibri"/>
                <a:cs typeface="Calibri"/>
                <a:sym typeface="Calibri"/>
              </a:rPr>
              <a:t>Profitability </a:t>
            </a:r>
            <a:endParaRPr/>
          </a:p>
          <a:p>
            <a:pPr indent="0" lvl="0" marL="0" marR="0" rtl="0" algn="ctr">
              <a:spcBef>
                <a:spcPts val="0"/>
              </a:spcBef>
              <a:spcAft>
                <a:spcPts val="0"/>
              </a:spcAft>
              <a:buNone/>
            </a:pPr>
            <a:r>
              <a:rPr b="1" i="0" lang="en-IN" sz="2200" u="none" cap="none" strike="noStrike">
                <a:solidFill>
                  <a:schemeClr val="lt1"/>
                </a:solidFill>
                <a:latin typeface="Calibri"/>
                <a:ea typeface="Calibri"/>
                <a:cs typeface="Calibri"/>
                <a:sym typeface="Calibri"/>
              </a:rPr>
              <a:t>of the firm</a:t>
            </a:r>
            <a:endParaRPr b="1" i="0" sz="2200" u="none" cap="none" strike="noStrike">
              <a:solidFill>
                <a:schemeClr val="lt1"/>
              </a:solidFill>
              <a:latin typeface="Calibri"/>
              <a:ea typeface="Calibri"/>
              <a:cs typeface="Calibri"/>
              <a:sym typeface="Calibri"/>
            </a:endParaRPr>
          </a:p>
        </p:txBody>
      </p:sp>
      <p:sp>
        <p:nvSpPr>
          <p:cNvPr id="106" name="Google Shape;106;p16"/>
          <p:cNvSpPr/>
          <p:nvPr/>
        </p:nvSpPr>
        <p:spPr>
          <a:xfrm>
            <a:off x="5405137" y="4743714"/>
            <a:ext cx="3918113" cy="1478555"/>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1800" u="none" cap="none" strike="noStrike">
                <a:solidFill>
                  <a:schemeClr val="lt1"/>
                </a:solidFill>
                <a:latin typeface="Calibri"/>
                <a:ea typeface="Calibri"/>
                <a:cs typeface="Calibri"/>
                <a:sym typeface="Calibri"/>
              </a:rPr>
              <a:t>Fixed overhead cost and Fixed interest securities or funds</a:t>
            </a:r>
            <a:endParaRPr/>
          </a:p>
          <a:p>
            <a:pPr indent="0" lvl="0" marL="0" marR="0" rtl="0" algn="ctr">
              <a:spcBef>
                <a:spcPts val="0"/>
              </a:spcBef>
              <a:spcAft>
                <a:spcPts val="0"/>
              </a:spcAft>
              <a:buNone/>
            </a:pPr>
            <a:r>
              <a:rPr b="1" i="0" lang="en-IN" sz="1800" u="none" cap="none" strike="noStrike">
                <a:solidFill>
                  <a:schemeClr val="lt1"/>
                </a:solidFill>
                <a:latin typeface="Calibri"/>
                <a:ea typeface="Calibri"/>
                <a:cs typeface="Calibri"/>
                <a:sym typeface="Calibri"/>
              </a:rPr>
              <a:t>[Need to use effectively]</a:t>
            </a:r>
            <a:endParaRPr b="1" i="0" sz="1800" u="none" cap="none" strike="noStrike">
              <a:solidFill>
                <a:schemeClr val="lt1"/>
              </a:solidFill>
              <a:latin typeface="Calibri"/>
              <a:ea typeface="Calibri"/>
              <a:cs typeface="Calibri"/>
              <a:sym typeface="Calibri"/>
            </a:endParaRPr>
          </a:p>
        </p:txBody>
      </p:sp>
      <p:cxnSp>
        <p:nvCxnSpPr>
          <p:cNvPr id="107" name="Google Shape;107;p16"/>
          <p:cNvCxnSpPr/>
          <p:nvPr/>
        </p:nvCxnSpPr>
        <p:spPr>
          <a:xfrm flipH="1" rot="10800000">
            <a:off x="6411790" y="3271347"/>
            <a:ext cx="2911461" cy="1561338"/>
          </a:xfrm>
          <a:prstGeom prst="straightConnector1">
            <a:avLst/>
          </a:prstGeom>
          <a:noFill/>
          <a:ln cap="flat" cmpd="sng" w="9525">
            <a:solidFill>
              <a:schemeClr val="accent1"/>
            </a:solidFill>
            <a:prstDash val="solid"/>
            <a:miter lim="800000"/>
            <a:headEnd len="sm" w="sm" type="none"/>
            <a:tailEnd len="sm" w="sm" type="none"/>
          </a:ln>
        </p:spPr>
      </p:cxnSp>
      <p:cxnSp>
        <p:nvCxnSpPr>
          <p:cNvPr id="108" name="Google Shape;108;p16"/>
          <p:cNvCxnSpPr/>
          <p:nvPr/>
        </p:nvCxnSpPr>
        <p:spPr>
          <a:xfrm flipH="1">
            <a:off x="6268469" y="3544444"/>
            <a:ext cx="3124986" cy="1363585"/>
          </a:xfrm>
          <a:prstGeom prst="straightConnector1">
            <a:avLst/>
          </a:prstGeom>
          <a:noFill/>
          <a:ln cap="flat" cmpd="sng" w="9525">
            <a:solidFill>
              <a:schemeClr val="accent1"/>
            </a:solidFill>
            <a:prstDash val="solid"/>
            <a:miter lim="800000"/>
            <a:headEnd len="sm" w="sm" type="none"/>
            <a:tailEnd len="sm" w="sm" type="none"/>
          </a:ln>
        </p:spPr>
      </p:cxnSp>
      <p:cxnSp>
        <p:nvCxnSpPr>
          <p:cNvPr id="109" name="Google Shape;109;p16"/>
          <p:cNvCxnSpPr/>
          <p:nvPr/>
        </p:nvCxnSpPr>
        <p:spPr>
          <a:xfrm>
            <a:off x="9323250" y="3265887"/>
            <a:ext cx="103637" cy="278557"/>
          </a:xfrm>
          <a:prstGeom prst="straightConnector1">
            <a:avLst/>
          </a:prstGeom>
          <a:noFill/>
          <a:ln cap="flat" cmpd="sng" w="9525">
            <a:solidFill>
              <a:schemeClr val="accent1"/>
            </a:solidFill>
            <a:prstDash val="solid"/>
            <a:miter lim="800000"/>
            <a:headEnd len="sm" w="sm" type="none"/>
            <a:tailEnd len="sm" w="sm" type="none"/>
          </a:ln>
        </p:spPr>
      </p:cxnSp>
      <p:sp>
        <p:nvSpPr>
          <p:cNvPr id="110" name="Google Shape;110;p16"/>
          <p:cNvSpPr/>
          <p:nvPr/>
        </p:nvSpPr>
        <p:spPr>
          <a:xfrm>
            <a:off x="824345" y="2576944"/>
            <a:ext cx="2140528" cy="688943"/>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1800" u="none" cap="none" strike="noStrike">
                <a:solidFill>
                  <a:schemeClr val="lt1"/>
                </a:solidFill>
                <a:latin typeface="Calibri"/>
                <a:ea typeface="Calibri"/>
                <a:cs typeface="Calibri"/>
                <a:sym typeface="Calibri"/>
              </a:rPr>
              <a:t>Heavy object</a:t>
            </a:r>
            <a:endParaRPr b="1" i="0" sz="1800" u="none" cap="none" strike="noStrike">
              <a:solidFill>
                <a:schemeClr val="lt1"/>
              </a:solidFill>
              <a:latin typeface="Calibri"/>
              <a:ea typeface="Calibri"/>
              <a:cs typeface="Calibri"/>
              <a:sym typeface="Calibri"/>
            </a:endParaRPr>
          </a:p>
        </p:txBody>
      </p:sp>
      <p:cxnSp>
        <p:nvCxnSpPr>
          <p:cNvPr id="111" name="Google Shape;111;p16"/>
          <p:cNvCxnSpPr>
            <a:stCxn id="110" idx="6"/>
          </p:cNvCxnSpPr>
          <p:nvPr/>
        </p:nvCxnSpPr>
        <p:spPr>
          <a:xfrm>
            <a:off x="2964873" y="2921416"/>
            <a:ext cx="1191600" cy="1800"/>
          </a:xfrm>
          <a:prstGeom prst="straightConnector1">
            <a:avLst/>
          </a:prstGeom>
          <a:noFill/>
          <a:ln cap="flat" cmpd="sng" w="9525">
            <a:solidFill>
              <a:schemeClr val="accent1"/>
            </a:solidFill>
            <a:prstDash val="solid"/>
            <a:miter lim="800000"/>
            <a:headEnd len="sm" w="sm" type="none"/>
            <a:tailEnd len="med" w="med" type="triangle"/>
          </a:ln>
        </p:spPr>
      </p:cxnSp>
      <p:sp>
        <p:nvSpPr>
          <p:cNvPr id="112" name="Google Shape;112;p16"/>
          <p:cNvSpPr/>
          <p:nvPr/>
        </p:nvSpPr>
        <p:spPr>
          <a:xfrm>
            <a:off x="8368145" y="1661791"/>
            <a:ext cx="2971800" cy="1525233"/>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1800" u="none" cap="none" strike="noStrike">
                <a:solidFill>
                  <a:schemeClr val="lt1"/>
                </a:solidFill>
                <a:latin typeface="Calibri"/>
                <a:ea typeface="Calibri"/>
                <a:cs typeface="Calibri"/>
                <a:sym typeface="Calibri"/>
              </a:rPr>
              <a:t>Leverage = Lifting heavy object, which may not be otherwise possible</a:t>
            </a:r>
            <a:endParaRPr b="1" i="0" sz="1800" u="none" cap="none" strike="noStrike">
              <a:solidFill>
                <a:schemeClr val="lt1"/>
              </a:solidFill>
              <a:latin typeface="Calibri"/>
              <a:ea typeface="Calibri"/>
              <a:cs typeface="Calibri"/>
              <a:sym typeface="Calibri"/>
            </a:endParaRPr>
          </a:p>
        </p:txBody>
      </p:sp>
      <p:sp>
        <p:nvSpPr>
          <p:cNvPr id="113" name="Google Shape;113;p16"/>
          <p:cNvSpPr/>
          <p:nvPr/>
        </p:nvSpPr>
        <p:spPr>
          <a:xfrm>
            <a:off x="9809018" y="4263909"/>
            <a:ext cx="1385455" cy="682164"/>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1800" u="none" cap="none" strike="noStrike">
                <a:solidFill>
                  <a:schemeClr val="lt1"/>
                </a:solidFill>
                <a:latin typeface="Calibri"/>
                <a:ea typeface="Calibri"/>
                <a:cs typeface="Calibri"/>
                <a:sym typeface="Calibri"/>
              </a:rPr>
              <a:t>Fulcrum</a:t>
            </a:r>
            <a:endParaRPr b="1" i="0" sz="1800" u="none" cap="none" strike="noStrike">
              <a:solidFill>
                <a:schemeClr val="lt1"/>
              </a:solidFill>
              <a:latin typeface="Calibri"/>
              <a:ea typeface="Calibri"/>
              <a:cs typeface="Calibri"/>
              <a:sym typeface="Calibri"/>
            </a:endParaRPr>
          </a:p>
        </p:txBody>
      </p:sp>
      <p:cxnSp>
        <p:nvCxnSpPr>
          <p:cNvPr id="114" name="Google Shape;114;p16"/>
          <p:cNvCxnSpPr>
            <a:endCxn id="113" idx="0"/>
          </p:cNvCxnSpPr>
          <p:nvPr/>
        </p:nvCxnSpPr>
        <p:spPr>
          <a:xfrm>
            <a:off x="8603646" y="3901809"/>
            <a:ext cx="1898100" cy="362100"/>
          </a:xfrm>
          <a:prstGeom prst="straightConnector1">
            <a:avLst/>
          </a:prstGeom>
          <a:noFill/>
          <a:ln cap="flat" cmpd="sng" w="9525">
            <a:solidFill>
              <a:schemeClr val="accent1"/>
            </a:solidFill>
            <a:prstDash val="solid"/>
            <a:miter lim="800000"/>
            <a:headEnd len="sm" w="sm" type="none"/>
            <a:tailEnd len="med" w="med" type="triangle"/>
          </a:ln>
        </p:spPr>
      </p:cxnSp>
      <p:sp>
        <p:nvSpPr>
          <p:cNvPr id="115" name="Google Shape;115;p16"/>
          <p:cNvSpPr/>
          <p:nvPr/>
        </p:nvSpPr>
        <p:spPr>
          <a:xfrm>
            <a:off x="824345" y="4369272"/>
            <a:ext cx="2499014" cy="720458"/>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1800" u="none" cap="none" strike="noStrike">
                <a:solidFill>
                  <a:schemeClr val="lt1"/>
                </a:solidFill>
                <a:latin typeface="Calibri"/>
                <a:ea typeface="Calibri"/>
                <a:cs typeface="Calibri"/>
                <a:sym typeface="Calibri"/>
              </a:rPr>
              <a:t>Fixed operating cost </a:t>
            </a:r>
            <a:endParaRPr b="1" i="0" sz="1800" u="none" cap="none" strike="noStrike">
              <a:solidFill>
                <a:schemeClr val="lt1"/>
              </a:solidFill>
              <a:latin typeface="Calibri"/>
              <a:ea typeface="Calibri"/>
              <a:cs typeface="Calibri"/>
              <a:sym typeface="Calibri"/>
            </a:endParaRPr>
          </a:p>
        </p:txBody>
      </p:sp>
      <p:sp>
        <p:nvSpPr>
          <p:cNvPr id="116" name="Google Shape;116;p16"/>
          <p:cNvSpPr/>
          <p:nvPr/>
        </p:nvSpPr>
        <p:spPr>
          <a:xfrm>
            <a:off x="824345" y="5531549"/>
            <a:ext cx="2459182" cy="720377"/>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1800" u="none" cap="none" strike="noStrike">
                <a:solidFill>
                  <a:schemeClr val="lt1"/>
                </a:solidFill>
                <a:latin typeface="Calibri"/>
                <a:ea typeface="Calibri"/>
                <a:cs typeface="Calibri"/>
                <a:sym typeface="Calibri"/>
              </a:rPr>
              <a:t>Fixed financial cost</a:t>
            </a:r>
            <a:endParaRPr b="1" i="0" sz="1800" u="none" cap="none" strike="noStrike">
              <a:solidFill>
                <a:schemeClr val="lt1"/>
              </a:solidFill>
              <a:latin typeface="Calibri"/>
              <a:ea typeface="Calibri"/>
              <a:cs typeface="Calibri"/>
              <a:sym typeface="Calibri"/>
            </a:endParaRPr>
          </a:p>
        </p:txBody>
      </p:sp>
      <p:cxnSp>
        <p:nvCxnSpPr>
          <p:cNvPr id="117" name="Google Shape;117;p16"/>
          <p:cNvCxnSpPr/>
          <p:nvPr/>
        </p:nvCxnSpPr>
        <p:spPr>
          <a:xfrm rot="10800000">
            <a:off x="3323359" y="4773371"/>
            <a:ext cx="2103893" cy="719039"/>
          </a:xfrm>
          <a:prstGeom prst="straightConnector1">
            <a:avLst/>
          </a:prstGeom>
          <a:noFill/>
          <a:ln cap="flat" cmpd="sng" w="9525">
            <a:solidFill>
              <a:schemeClr val="accent1"/>
            </a:solidFill>
            <a:prstDash val="solid"/>
            <a:miter lim="800000"/>
            <a:headEnd len="sm" w="sm" type="none"/>
            <a:tailEnd len="med" w="med" type="triangle"/>
          </a:ln>
        </p:spPr>
      </p:cxnSp>
      <p:cxnSp>
        <p:nvCxnSpPr>
          <p:cNvPr id="118" name="Google Shape;118;p16"/>
          <p:cNvCxnSpPr>
            <a:stCxn id="116" idx="6"/>
          </p:cNvCxnSpPr>
          <p:nvPr/>
        </p:nvCxnSpPr>
        <p:spPr>
          <a:xfrm flipH="1" rot="10800000">
            <a:off x="3283527" y="5531438"/>
            <a:ext cx="2143800" cy="360300"/>
          </a:xfrm>
          <a:prstGeom prst="straightConnector1">
            <a:avLst/>
          </a:prstGeom>
          <a:noFill/>
          <a:ln cap="flat" cmpd="sng" w="9525">
            <a:solidFill>
              <a:schemeClr val="accent1"/>
            </a:solidFill>
            <a:prstDash val="solid"/>
            <a:miter lim="800000"/>
            <a:headEnd len="sm" w="sm" type="none"/>
            <a:tailEnd len="med" w="med" type="triangle"/>
          </a:ln>
        </p:spPr>
      </p:cxnSp>
      <p:sp>
        <p:nvSpPr>
          <p:cNvPr id="119" name="Google Shape;119;p16"/>
          <p:cNvSpPr/>
          <p:nvPr/>
        </p:nvSpPr>
        <p:spPr>
          <a:xfrm>
            <a:off x="3922570" y="4734229"/>
            <a:ext cx="787976" cy="355500"/>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1800" u="none" cap="none" strike="noStrike">
                <a:solidFill>
                  <a:schemeClr val="lt1"/>
                </a:solidFill>
                <a:latin typeface="Calibri"/>
                <a:ea typeface="Calibri"/>
                <a:cs typeface="Calibri"/>
                <a:sym typeface="Calibri"/>
              </a:rPr>
              <a:t>OL</a:t>
            </a:r>
            <a:endParaRPr b="1" i="0" sz="1800" u="none" cap="none" strike="noStrike">
              <a:solidFill>
                <a:schemeClr val="lt1"/>
              </a:solidFill>
              <a:latin typeface="Calibri"/>
              <a:ea typeface="Calibri"/>
              <a:cs typeface="Calibri"/>
              <a:sym typeface="Calibri"/>
            </a:endParaRPr>
          </a:p>
        </p:txBody>
      </p:sp>
      <p:sp>
        <p:nvSpPr>
          <p:cNvPr id="120" name="Google Shape;120;p16"/>
          <p:cNvSpPr/>
          <p:nvPr/>
        </p:nvSpPr>
        <p:spPr>
          <a:xfrm>
            <a:off x="3882737" y="5763520"/>
            <a:ext cx="827809" cy="360188"/>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N" sz="1800" u="none" cap="none" strike="noStrike">
                <a:solidFill>
                  <a:schemeClr val="lt1"/>
                </a:solidFill>
                <a:latin typeface="Calibri"/>
                <a:ea typeface="Calibri"/>
                <a:cs typeface="Calibri"/>
                <a:sym typeface="Calibri"/>
              </a:rPr>
              <a:t>FL</a:t>
            </a:r>
            <a:endParaRPr b="1" i="0" sz="1800" u="none" cap="none" strike="noStrike">
              <a:solidFill>
                <a:schemeClr val="lt1"/>
              </a:solidFill>
              <a:latin typeface="Calibri"/>
              <a:ea typeface="Calibri"/>
              <a:cs typeface="Calibri"/>
              <a:sym typeface="Calibri"/>
            </a:endParaRPr>
          </a:p>
        </p:txBody>
      </p:sp>
      <p:pic>
        <p:nvPicPr>
          <p:cNvPr descr="Image result for sastra logo" id="121" name="Google Shape;121;p16"/>
          <p:cNvPicPr preferRelativeResize="0"/>
          <p:nvPr/>
        </p:nvPicPr>
        <p:blipFill rotWithShape="1">
          <a:blip r:embed="rId3">
            <a:alphaModFix/>
          </a:blip>
          <a:srcRect b="0" l="0" r="0" t="0"/>
          <a:stretch/>
        </p:blipFill>
        <p:spPr>
          <a:xfrm>
            <a:off x="9537700" y="360218"/>
            <a:ext cx="1816100" cy="600219"/>
          </a:xfrm>
          <a:prstGeom prst="rect">
            <a:avLst/>
          </a:prstGeom>
          <a:noFill/>
          <a:ln>
            <a:noFill/>
          </a:ln>
        </p:spPr>
      </p:pic>
      <p:sp>
        <p:nvSpPr>
          <p:cNvPr id="122" name="Google Shape;122;p16"/>
          <p:cNvSpPr/>
          <p:nvPr/>
        </p:nvSpPr>
        <p:spPr>
          <a:xfrm>
            <a:off x="5540953" y="3525404"/>
            <a:ext cx="484632" cy="978408"/>
          </a:xfrm>
          <a:prstGeom prst="up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7"/>
          <p:cNvSpPr txBox="1"/>
          <p:nvPr>
            <p:ph idx="1" type="body"/>
          </p:nvPr>
        </p:nvSpPr>
        <p:spPr>
          <a:xfrm>
            <a:off x="852054" y="914400"/>
            <a:ext cx="10515600" cy="5151727"/>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5. Measures of Leverage:</a:t>
            </a:r>
            <a:endParaRPr/>
          </a:p>
          <a:p>
            <a:pPr indent="0" lvl="0" marL="0" rtl="0" algn="just">
              <a:lnSpc>
                <a:spcPct val="90000"/>
              </a:lnSpc>
              <a:spcBef>
                <a:spcPts val="1000"/>
              </a:spcBef>
              <a:spcAft>
                <a:spcPts val="0"/>
              </a:spcAft>
              <a:buClr>
                <a:schemeClr val="dk1"/>
              </a:buClr>
              <a:buSzPts val="2600"/>
              <a:buNone/>
            </a:pPr>
            <a:r>
              <a:rPr lang="en-IN" sz="2600"/>
              <a:t>To understand the concept of leverage, it is imperative to understand the three measures of leverage: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(i) Operating Leverage [Business risk]</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(ii) Financial Leverage [Financial risk]</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(iii) Combined Leverage [Both Business risk and Financial risk]</a:t>
            </a:r>
            <a:endParaRPr/>
          </a:p>
          <a:p>
            <a:pPr indent="0" lvl="0" marL="0" rtl="0" algn="just">
              <a:lnSpc>
                <a:spcPct val="90000"/>
              </a:lnSpc>
              <a:spcBef>
                <a:spcPts val="1000"/>
              </a:spcBef>
              <a:spcAft>
                <a:spcPts val="0"/>
              </a:spcAft>
              <a:buClr>
                <a:srgbClr val="00B050"/>
              </a:buClr>
              <a:buSzPts val="2600"/>
              <a:buNone/>
            </a:pPr>
            <a:r>
              <a:rPr b="1" lang="en-IN" sz="2600">
                <a:solidFill>
                  <a:srgbClr val="00B050"/>
                </a:solidFill>
              </a:rPr>
              <a:t>Business Risk: </a:t>
            </a:r>
            <a:endParaRPr/>
          </a:p>
          <a:p>
            <a:pPr indent="0" lvl="0" marL="0" rtl="0" algn="just">
              <a:lnSpc>
                <a:spcPct val="90000"/>
              </a:lnSpc>
              <a:spcBef>
                <a:spcPts val="1000"/>
              </a:spcBef>
              <a:spcAft>
                <a:spcPts val="0"/>
              </a:spcAft>
              <a:buClr>
                <a:schemeClr val="dk1"/>
              </a:buClr>
              <a:buSzPts val="2600"/>
              <a:buNone/>
            </a:pPr>
            <a:r>
              <a:rPr lang="en-IN" sz="2600"/>
              <a:t>It arises due to </a:t>
            </a:r>
            <a:r>
              <a:rPr b="1" lang="en-IN" sz="2600">
                <a:solidFill>
                  <a:srgbClr val="FF0000"/>
                </a:solidFill>
              </a:rPr>
              <a:t>high amount of fixed overheads in cost structure.</a:t>
            </a:r>
            <a:endParaRPr/>
          </a:p>
          <a:p>
            <a:pPr indent="0" lvl="0" marL="0" rtl="0" algn="just">
              <a:lnSpc>
                <a:spcPct val="90000"/>
              </a:lnSpc>
              <a:spcBef>
                <a:spcPts val="1000"/>
              </a:spcBef>
              <a:spcAft>
                <a:spcPts val="0"/>
              </a:spcAft>
              <a:buClr>
                <a:srgbClr val="00B050"/>
              </a:buClr>
              <a:buSzPts val="2600"/>
              <a:buNone/>
            </a:pPr>
            <a:r>
              <a:rPr b="1" lang="en-IN" sz="2600">
                <a:solidFill>
                  <a:srgbClr val="00B050"/>
                </a:solidFill>
              </a:rPr>
              <a:t>Financial Risk:</a:t>
            </a:r>
            <a:endParaRPr/>
          </a:p>
          <a:p>
            <a:pPr indent="0" lvl="0" marL="0" rtl="0" algn="just">
              <a:lnSpc>
                <a:spcPct val="90000"/>
              </a:lnSpc>
              <a:spcBef>
                <a:spcPts val="1000"/>
              </a:spcBef>
              <a:spcAft>
                <a:spcPts val="0"/>
              </a:spcAft>
              <a:buClr>
                <a:schemeClr val="dk1"/>
              </a:buClr>
              <a:buSzPts val="2600"/>
              <a:buNone/>
            </a:pPr>
            <a:r>
              <a:rPr lang="en-IN" sz="2600"/>
              <a:t>It arises due to </a:t>
            </a:r>
            <a:r>
              <a:rPr b="1" lang="en-IN" sz="2600">
                <a:solidFill>
                  <a:srgbClr val="FF0000"/>
                </a:solidFill>
              </a:rPr>
              <a:t>a high charge of interest due </a:t>
            </a:r>
            <a:r>
              <a:rPr lang="en-IN" sz="2600"/>
              <a:t>to </a:t>
            </a:r>
            <a:r>
              <a:rPr b="1" lang="en-IN" sz="2600">
                <a:solidFill>
                  <a:srgbClr val="00B050"/>
                </a:solidFill>
              </a:rPr>
              <a:t>excessive use of debt components.</a:t>
            </a:r>
            <a:endParaRPr b="1" sz="2600">
              <a:solidFill>
                <a:srgbClr val="00B050"/>
              </a:solidFill>
            </a:endParaRPr>
          </a:p>
        </p:txBody>
      </p:sp>
      <p:pic>
        <p:nvPicPr>
          <p:cNvPr descr="Image result for sastra logo" id="128" name="Google Shape;128;p17"/>
          <p:cNvPicPr preferRelativeResize="0"/>
          <p:nvPr/>
        </p:nvPicPr>
        <p:blipFill rotWithShape="1">
          <a:blip r:embed="rId3">
            <a:alphaModFix/>
          </a:blip>
          <a:srcRect b="0" l="0" r="0" t="0"/>
          <a:stretch/>
        </p:blipFill>
        <p:spPr>
          <a:xfrm>
            <a:off x="9537700" y="360218"/>
            <a:ext cx="1816100" cy="60021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txBox="1"/>
          <p:nvPr>
            <p:ph idx="1" type="body"/>
          </p:nvPr>
        </p:nvSpPr>
        <p:spPr>
          <a:xfrm>
            <a:off x="838200" y="928255"/>
            <a:ext cx="10515600" cy="524870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(i) Operating Leverage:  </a:t>
            </a:r>
            <a:endParaRPr/>
          </a:p>
          <a:p>
            <a:pPr indent="0" lvl="0" marL="0" rtl="0" algn="just">
              <a:lnSpc>
                <a:spcPct val="90000"/>
              </a:lnSpc>
              <a:spcBef>
                <a:spcPts val="1000"/>
              </a:spcBef>
              <a:spcAft>
                <a:spcPts val="0"/>
              </a:spcAft>
              <a:buClr>
                <a:schemeClr val="dk1"/>
              </a:buClr>
              <a:buSzPts val="2600"/>
              <a:buNone/>
            </a:pPr>
            <a:r>
              <a:rPr lang="en-IN" sz="2600"/>
              <a:t>Operating leverage reflects the impact of change in sales on the level of operating profits of the firm</a:t>
            </a:r>
            <a:r>
              <a:rPr lang="en-IN" sz="2600">
                <a:solidFill>
                  <a:srgbClr val="FF0000"/>
                </a:solidFill>
              </a:rPr>
              <a:t>. </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a) The significance of DOL may be interpreted as follows: </a:t>
            </a:r>
            <a:endParaRPr/>
          </a:p>
          <a:p>
            <a:pPr indent="-228600" lvl="0" marL="228600" rtl="0" algn="just">
              <a:lnSpc>
                <a:spcPct val="90000"/>
              </a:lnSpc>
              <a:spcBef>
                <a:spcPts val="1000"/>
              </a:spcBef>
              <a:spcAft>
                <a:spcPts val="0"/>
              </a:spcAft>
              <a:buClr>
                <a:schemeClr val="dk1"/>
              </a:buClr>
              <a:buSzPts val="2600"/>
              <a:buChar char="•"/>
            </a:pPr>
            <a:r>
              <a:rPr lang="en-IN" sz="2600"/>
              <a:t>Other things remaining constant, higher the DOL, higher will be the change in EBIT for same change in number of units sold in, if firm A has higher DOL than firm B, profits of firm A will increase at faster rate than that of firm B for same increase in demand. </a:t>
            </a:r>
            <a:endParaRPr/>
          </a:p>
          <a:p>
            <a:pPr indent="0" lvl="0" marL="0" rtl="0" algn="just">
              <a:lnSpc>
                <a:spcPct val="90000"/>
              </a:lnSpc>
              <a:spcBef>
                <a:spcPts val="1000"/>
              </a:spcBef>
              <a:spcAft>
                <a:spcPts val="0"/>
              </a:spcAft>
              <a:buClr>
                <a:schemeClr val="dk1"/>
              </a:buClr>
              <a:buSzPts val="2600"/>
              <a:buNone/>
            </a:pPr>
            <a:r>
              <a:rPr lang="en-IN" sz="2600"/>
              <a:t>This however works both ways and so losses of firm A will increase at faster rate than that of firm B for same fall in demand. This means higher the DOL, more is the risk. </a:t>
            </a:r>
            <a:endParaRPr/>
          </a:p>
          <a:p>
            <a:pPr indent="-228600" lvl="0" marL="228600" rtl="0" algn="just">
              <a:lnSpc>
                <a:spcPct val="90000"/>
              </a:lnSpc>
              <a:spcBef>
                <a:spcPts val="1000"/>
              </a:spcBef>
              <a:spcAft>
                <a:spcPts val="0"/>
              </a:spcAft>
              <a:buClr>
                <a:schemeClr val="dk1"/>
              </a:buClr>
              <a:buSzPts val="2600"/>
              <a:buChar char="•"/>
            </a:pPr>
            <a:r>
              <a:rPr lang="en-IN" sz="2600"/>
              <a:t>DOL is high where contribution is high. </a:t>
            </a:r>
            <a:endParaRPr/>
          </a:p>
          <a:p>
            <a:pPr indent="-228600" lvl="0" marL="228600" rtl="0" algn="just">
              <a:lnSpc>
                <a:spcPct val="90000"/>
              </a:lnSpc>
              <a:spcBef>
                <a:spcPts val="1000"/>
              </a:spcBef>
              <a:spcAft>
                <a:spcPts val="0"/>
              </a:spcAft>
              <a:buClr>
                <a:schemeClr val="dk1"/>
              </a:buClr>
              <a:buSzPts val="2600"/>
              <a:buChar char="•"/>
            </a:pPr>
            <a:r>
              <a:rPr lang="en-IN" sz="2600"/>
              <a:t>There is an unique DOL for each level of output.</a:t>
            </a:r>
            <a:endParaRPr sz="2600"/>
          </a:p>
        </p:txBody>
      </p:sp>
      <p:pic>
        <p:nvPicPr>
          <p:cNvPr descr="Image result for sastra logo" id="134" name="Google Shape;134;p18"/>
          <p:cNvPicPr preferRelativeResize="0"/>
          <p:nvPr/>
        </p:nvPicPr>
        <p:blipFill rotWithShape="1">
          <a:blip r:embed="rId3">
            <a:alphaModFix/>
          </a:blip>
          <a:srcRect b="0" l="0" r="0" t="0"/>
          <a:stretch/>
        </p:blipFill>
        <p:spPr>
          <a:xfrm>
            <a:off x="9537700" y="360218"/>
            <a:ext cx="1816100" cy="60021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9"/>
          <p:cNvSpPr txBox="1"/>
          <p:nvPr>
            <p:ph idx="1" type="body"/>
          </p:nvPr>
        </p:nvSpPr>
        <p:spPr>
          <a:xfrm>
            <a:off x="838200" y="817418"/>
            <a:ext cx="10515600" cy="563879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Operating Leverage examines the effect of the change in the quantity produced on the EBIT of the Company and is measured by calculating the degree of operating leverage (DOL). </a:t>
            </a:r>
            <a:r>
              <a:rPr lang="en-IN" sz="2600">
                <a:solidFill>
                  <a:srgbClr val="FF0000"/>
                </a:solidFill>
              </a:rPr>
              <a:t>The degree of operating leverage is therefore ratio between proportionate change in EBIT and corresponding proportionate change in number of units produced and sold. </a:t>
            </a:r>
            <a:endParaRPr/>
          </a:p>
          <a:p>
            <a:pPr indent="0" lvl="0" marL="0" rtl="0" algn="just">
              <a:lnSpc>
                <a:spcPct val="90000"/>
              </a:lnSpc>
              <a:spcBef>
                <a:spcPts val="1000"/>
              </a:spcBef>
              <a:spcAft>
                <a:spcPts val="0"/>
              </a:spcAft>
              <a:buClr>
                <a:schemeClr val="dk1"/>
              </a:buClr>
              <a:buSzPts val="2600"/>
              <a:buNone/>
            </a:pPr>
            <a:r>
              <a:rPr lang="en-IN" sz="2600"/>
              <a:t>It is calculated as follows: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OL = Contribution/EBIT or OP</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OP = Operating profit or EBIT</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Note:</a:t>
            </a:r>
            <a:endParaRPr/>
          </a:p>
          <a:p>
            <a:pPr indent="0" lvl="0" marL="0" rtl="0" algn="just">
              <a:lnSpc>
                <a:spcPct val="90000"/>
              </a:lnSpc>
              <a:spcBef>
                <a:spcPts val="1000"/>
              </a:spcBef>
              <a:spcAft>
                <a:spcPts val="0"/>
              </a:spcAft>
              <a:buClr>
                <a:schemeClr val="dk1"/>
              </a:buClr>
              <a:buSzPts val="2600"/>
              <a:buNone/>
            </a:pPr>
            <a:r>
              <a:rPr lang="en-IN" sz="2600"/>
              <a:t>Operating Leverage = Explain the Operation risk or business risk</a:t>
            </a:r>
            <a:endParaRPr/>
          </a:p>
        </p:txBody>
      </p:sp>
      <p:pic>
        <p:nvPicPr>
          <p:cNvPr descr="Image result for sastra logo" id="140" name="Google Shape;140;p19"/>
          <p:cNvPicPr preferRelativeResize="0"/>
          <p:nvPr/>
        </p:nvPicPr>
        <p:blipFill rotWithShape="1">
          <a:blip r:embed="rId3">
            <a:alphaModFix/>
          </a:blip>
          <a:srcRect b="0" l="0" r="0" t="0"/>
          <a:stretch/>
        </p:blipFill>
        <p:spPr>
          <a:xfrm>
            <a:off x="9537700" y="217199"/>
            <a:ext cx="1816100" cy="60021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0"/>
          <p:cNvSpPr txBox="1"/>
          <p:nvPr>
            <p:ph idx="1" type="body"/>
          </p:nvPr>
        </p:nvSpPr>
        <p:spPr>
          <a:xfrm>
            <a:off x="838200" y="900545"/>
            <a:ext cx="10515600" cy="527641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b) Degree of Operating Leverage: </a:t>
            </a:r>
            <a:endParaRPr/>
          </a:p>
          <a:p>
            <a:pPr indent="0" lvl="0" marL="0" rtl="0" algn="just">
              <a:lnSpc>
                <a:spcPct val="90000"/>
              </a:lnSpc>
              <a:spcBef>
                <a:spcPts val="1000"/>
              </a:spcBef>
              <a:spcAft>
                <a:spcPts val="0"/>
              </a:spcAft>
              <a:buClr>
                <a:schemeClr val="dk1"/>
              </a:buClr>
              <a:buSzPts val="2600"/>
              <a:buNone/>
            </a:pPr>
            <a:r>
              <a:rPr lang="en-IN" sz="2600"/>
              <a:t>The degree of operating leverage may be defined as percentage change in the profits resulting from a percentage change in the sales. It can be calculated with the help of the following formula: </a:t>
            </a:r>
            <a:endParaRPr/>
          </a:p>
          <a:p>
            <a:pPr indent="0" lvl="0" marL="0" rtl="0" algn="l">
              <a:lnSpc>
                <a:spcPct val="90000"/>
              </a:lnSpc>
              <a:spcBef>
                <a:spcPts val="1000"/>
              </a:spcBef>
              <a:spcAft>
                <a:spcPts val="0"/>
              </a:spcAft>
              <a:buClr>
                <a:schemeClr val="dk1"/>
              </a:buClr>
              <a:buSzPts val="2600"/>
              <a:buNone/>
            </a:pPr>
            <a:r>
              <a:t/>
            </a:r>
            <a:endParaRPr sz="2600"/>
          </a:p>
        </p:txBody>
      </p:sp>
      <p:pic>
        <p:nvPicPr>
          <p:cNvPr id="146" name="Google Shape;146;p20"/>
          <p:cNvPicPr preferRelativeResize="0"/>
          <p:nvPr/>
        </p:nvPicPr>
        <p:blipFill rotWithShape="1">
          <a:blip r:embed="rId3">
            <a:alphaModFix/>
          </a:blip>
          <a:srcRect b="26609" l="41695" r="39883" t="67899"/>
          <a:stretch/>
        </p:blipFill>
        <p:spPr>
          <a:xfrm>
            <a:off x="2888673" y="2618509"/>
            <a:ext cx="5278582" cy="762000"/>
          </a:xfrm>
          <a:prstGeom prst="rect">
            <a:avLst/>
          </a:prstGeom>
          <a:noFill/>
          <a:ln>
            <a:noFill/>
          </a:ln>
        </p:spPr>
      </p:pic>
      <p:pic>
        <p:nvPicPr>
          <p:cNvPr descr="Image result for sastra logo" id="147" name="Google Shape;147;p20"/>
          <p:cNvPicPr preferRelativeResize="0"/>
          <p:nvPr/>
        </p:nvPicPr>
        <p:blipFill rotWithShape="1">
          <a:blip r:embed="rId4">
            <a:alphaModFix/>
          </a:blip>
          <a:srcRect b="0" l="0" r="0" t="0"/>
          <a:stretch/>
        </p:blipFill>
        <p:spPr>
          <a:xfrm>
            <a:off x="9537700" y="360218"/>
            <a:ext cx="1816100" cy="60021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idx="1" type="body"/>
          </p:nvPr>
        </p:nvSpPr>
        <p:spPr>
          <a:xfrm>
            <a:off x="838200" y="887506"/>
            <a:ext cx="10515600" cy="5554858"/>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(ii) Financial Leverage </a:t>
            </a:r>
            <a:endParaRPr/>
          </a:p>
          <a:p>
            <a:pPr indent="0" lvl="0" marL="0" rtl="0" algn="just">
              <a:lnSpc>
                <a:spcPct val="90000"/>
              </a:lnSpc>
              <a:spcBef>
                <a:spcPts val="1000"/>
              </a:spcBef>
              <a:spcAft>
                <a:spcPts val="0"/>
              </a:spcAft>
              <a:buClr>
                <a:schemeClr val="dk1"/>
              </a:buClr>
              <a:buSzPts val="2600"/>
              <a:buNone/>
            </a:pPr>
            <a:r>
              <a:rPr lang="en-IN" sz="2600"/>
              <a:t>The Financial leverage may be defined as a % increase in EPS associated with a given percentage increase in the level of EBIT. </a:t>
            </a:r>
            <a:endParaRPr/>
          </a:p>
          <a:p>
            <a:pPr indent="0" lvl="0" marL="0" rtl="0" algn="just">
              <a:lnSpc>
                <a:spcPct val="90000"/>
              </a:lnSpc>
              <a:spcBef>
                <a:spcPts val="1000"/>
              </a:spcBef>
              <a:spcAft>
                <a:spcPts val="0"/>
              </a:spcAft>
              <a:buClr>
                <a:schemeClr val="dk1"/>
              </a:buClr>
              <a:buSzPts val="2600"/>
              <a:buNone/>
            </a:pPr>
            <a:r>
              <a:rPr lang="en-IN" sz="2600"/>
              <a:t>Financial leverage emerges as a result of fixed financial charge against the operating profits of the firm. The fixed financial charge appears in case the funds requirement of the firm are partly financed by the debt financing. </a:t>
            </a:r>
            <a:endParaRPr/>
          </a:p>
          <a:p>
            <a:pPr indent="0" lvl="0" marL="0" rtl="0" algn="just">
              <a:lnSpc>
                <a:spcPct val="90000"/>
              </a:lnSpc>
              <a:spcBef>
                <a:spcPts val="1000"/>
              </a:spcBef>
              <a:spcAft>
                <a:spcPts val="0"/>
              </a:spcAft>
              <a:buClr>
                <a:schemeClr val="dk1"/>
              </a:buClr>
              <a:buSzPts val="2600"/>
              <a:buNone/>
            </a:pPr>
            <a:r>
              <a:rPr lang="en-IN" sz="2600"/>
              <a:t>By using this relatively cheaper source of finance, in the debt financing, the firm is able to magnify the effect of change in EBIT on the level of EPS. </a:t>
            </a:r>
            <a:endParaRPr/>
          </a:p>
          <a:p>
            <a:pPr indent="0" lvl="0" marL="0" rtl="0" algn="just">
              <a:lnSpc>
                <a:spcPct val="90000"/>
              </a:lnSpc>
              <a:spcBef>
                <a:spcPts val="1000"/>
              </a:spcBef>
              <a:spcAft>
                <a:spcPts val="0"/>
              </a:spcAft>
              <a:buClr>
                <a:schemeClr val="dk1"/>
              </a:buClr>
              <a:buSzPts val="2600"/>
              <a:buNone/>
            </a:pPr>
            <a:r>
              <a:rPr lang="en-IN" sz="2600"/>
              <a:t>It is calculated as follows:</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FL = EBIT/EBT</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Where:</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EBIT = Earnings before interest and taxes.</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EBT = Earnings before tax</a:t>
            </a:r>
            <a:endParaRPr sz="2600">
              <a:solidFill>
                <a:srgbClr val="FF0000"/>
              </a:solidFill>
            </a:endParaRPr>
          </a:p>
        </p:txBody>
      </p:sp>
      <p:pic>
        <p:nvPicPr>
          <p:cNvPr descr="Image result for sastra logo" id="153" name="Google Shape;153;p21"/>
          <p:cNvPicPr preferRelativeResize="0"/>
          <p:nvPr/>
        </p:nvPicPr>
        <p:blipFill rotWithShape="1">
          <a:blip r:embed="rId3">
            <a:alphaModFix/>
          </a:blip>
          <a:srcRect b="0" l="0" r="0" t="0"/>
          <a:stretch/>
        </p:blipFill>
        <p:spPr>
          <a:xfrm>
            <a:off x="9537700" y="360218"/>
            <a:ext cx="1816100" cy="60021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2"/>
          <p:cNvSpPr txBox="1"/>
          <p:nvPr>
            <p:ph idx="1" type="body"/>
          </p:nvPr>
        </p:nvSpPr>
        <p:spPr>
          <a:xfrm>
            <a:off x="838200" y="942109"/>
            <a:ext cx="10515600" cy="5665168"/>
          </a:xfrm>
          <a:prstGeom prst="rect">
            <a:avLst/>
          </a:prstGeom>
          <a:noFill/>
          <a:ln>
            <a:noFill/>
          </a:ln>
        </p:spPr>
        <p:txBody>
          <a:bodyPr anchorCtr="0" anchor="t" bIns="45700" lIns="91425" spcFirstLastPara="1" rIns="91425" wrap="square" tIns="45700">
            <a:normAutofit fontScale="92500"/>
          </a:bodyPr>
          <a:lstStyle/>
          <a:p>
            <a:pPr indent="0" lvl="0" marL="0" rtl="0" algn="just">
              <a:lnSpc>
                <a:spcPct val="90000"/>
              </a:lnSpc>
              <a:spcBef>
                <a:spcPts val="0"/>
              </a:spcBef>
              <a:spcAft>
                <a:spcPts val="0"/>
              </a:spcAft>
              <a:buClr>
                <a:srgbClr val="FF0000"/>
              </a:buClr>
              <a:buSzPct val="100000"/>
              <a:buNone/>
            </a:pPr>
            <a:r>
              <a:rPr b="1" lang="en-IN">
                <a:solidFill>
                  <a:srgbClr val="FF0000"/>
                </a:solidFill>
              </a:rPr>
              <a:t>a) The significance of DFL may be interpreted as follows : </a:t>
            </a:r>
            <a:endParaRPr b="1">
              <a:solidFill>
                <a:srgbClr val="FF0000"/>
              </a:solidFill>
            </a:endParaRPr>
          </a:p>
          <a:p>
            <a:pPr indent="-228600" lvl="0" marL="228600" rtl="0" algn="just">
              <a:lnSpc>
                <a:spcPct val="90000"/>
              </a:lnSpc>
              <a:spcBef>
                <a:spcPts val="1000"/>
              </a:spcBef>
              <a:spcAft>
                <a:spcPts val="0"/>
              </a:spcAft>
              <a:buClr>
                <a:schemeClr val="dk1"/>
              </a:buClr>
              <a:buSzPct val="100000"/>
              <a:buChar char="•"/>
            </a:pPr>
            <a:r>
              <a:rPr lang="en-IN"/>
              <a:t>Other things remaining constant, higher the DFL, higher will be the change in EPS for same change in EBIT. In other words, if firm K has higher DFL than firm L, EPS of firm K increases at faster rate than that of firm L for same increase in EBIT. However, EPS of firm K falls at a faster rate than that of firm K for same fall in EBIT. This means, higher the DFL more is the risk. </a:t>
            </a:r>
            <a:endParaRPr/>
          </a:p>
          <a:p>
            <a:pPr indent="-228600" lvl="0" marL="228600" rtl="0" algn="just">
              <a:lnSpc>
                <a:spcPct val="90000"/>
              </a:lnSpc>
              <a:spcBef>
                <a:spcPts val="1000"/>
              </a:spcBef>
              <a:spcAft>
                <a:spcPts val="0"/>
              </a:spcAft>
              <a:buClr>
                <a:schemeClr val="dk1"/>
              </a:buClr>
              <a:buSzPct val="100000"/>
              <a:buChar char="•"/>
            </a:pPr>
            <a:r>
              <a:rPr lang="en-IN"/>
              <a:t>Higher the interest burden, higher is the DFL, which means more a firm borrows more is its risk. </a:t>
            </a:r>
            <a:endParaRPr/>
          </a:p>
          <a:p>
            <a:pPr indent="-228600" lvl="0" marL="228600" rtl="0" algn="just">
              <a:lnSpc>
                <a:spcPct val="90000"/>
              </a:lnSpc>
              <a:spcBef>
                <a:spcPts val="1000"/>
              </a:spcBef>
              <a:spcAft>
                <a:spcPts val="0"/>
              </a:spcAft>
              <a:buClr>
                <a:schemeClr val="dk1"/>
              </a:buClr>
              <a:buSzPct val="100000"/>
              <a:buChar char="•"/>
            </a:pPr>
            <a:r>
              <a:rPr lang="en-IN"/>
              <a:t>Since DFL depends on interest burden, it indicates risk inherent in a particular capital mix, and hence the name financial leverage. </a:t>
            </a:r>
            <a:endParaRPr/>
          </a:p>
          <a:p>
            <a:pPr indent="0" lvl="0" marL="0" rtl="0" algn="just">
              <a:lnSpc>
                <a:spcPct val="90000"/>
              </a:lnSpc>
              <a:spcBef>
                <a:spcPts val="1000"/>
              </a:spcBef>
              <a:spcAft>
                <a:spcPts val="0"/>
              </a:spcAft>
              <a:buClr>
                <a:schemeClr val="dk1"/>
              </a:buClr>
              <a:buSzPct val="100000"/>
              <a:buNone/>
            </a:pPr>
            <a:r>
              <a:rPr lang="en-IN"/>
              <a:t>There is an unique DFL for each amount of EBIT. While operating leverage measures the change in the EBIT of a company to a particular change in the output, the financial leverage measures the effect of the change in EBIT on the EPS of the company.</a:t>
            </a:r>
            <a:endParaRPr/>
          </a:p>
        </p:txBody>
      </p:sp>
      <p:pic>
        <p:nvPicPr>
          <p:cNvPr descr="Image result for sastra logo" id="159" name="Google Shape;159;p22"/>
          <p:cNvPicPr preferRelativeResize="0"/>
          <p:nvPr/>
        </p:nvPicPr>
        <p:blipFill rotWithShape="1">
          <a:blip r:embed="rId3">
            <a:alphaModFix/>
          </a:blip>
          <a:srcRect b="0" l="0" r="0" t="0"/>
          <a:stretch/>
        </p:blipFill>
        <p:spPr>
          <a:xfrm>
            <a:off x="9537700" y="360218"/>
            <a:ext cx="1816100" cy="60021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3"/>
          <p:cNvSpPr txBox="1"/>
          <p:nvPr>
            <p:ph idx="1" type="body"/>
          </p:nvPr>
        </p:nvSpPr>
        <p:spPr>
          <a:xfrm>
            <a:off x="838200" y="942109"/>
            <a:ext cx="10515600" cy="5234854"/>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b) Degree of Financial Leverage: </a:t>
            </a:r>
            <a:endParaRPr/>
          </a:p>
          <a:p>
            <a:pPr indent="0" lvl="0" marL="0" rtl="0" algn="just">
              <a:lnSpc>
                <a:spcPct val="90000"/>
              </a:lnSpc>
              <a:spcBef>
                <a:spcPts val="1000"/>
              </a:spcBef>
              <a:spcAft>
                <a:spcPts val="0"/>
              </a:spcAft>
              <a:buClr>
                <a:schemeClr val="dk1"/>
              </a:buClr>
              <a:buSzPts val="2600"/>
              <a:buNone/>
            </a:pPr>
            <a:r>
              <a:rPr lang="en-IN" sz="2600"/>
              <a:t>Degree of financial leverage may be defined as the percentage change in taxable profit as a result of percentage change in earning before interest and tax (EBIT). This can be calculated by the following formula:</a:t>
            </a:r>
            <a:endParaRPr/>
          </a:p>
          <a:p>
            <a:pPr indent="0" lvl="0" marL="0" rtl="0" algn="just">
              <a:lnSpc>
                <a:spcPct val="90000"/>
              </a:lnSpc>
              <a:spcBef>
                <a:spcPts val="1000"/>
              </a:spcBef>
              <a:spcAft>
                <a:spcPts val="0"/>
              </a:spcAft>
              <a:buClr>
                <a:schemeClr val="dk1"/>
              </a:buClr>
              <a:buSzPts val="2600"/>
              <a:buNone/>
            </a:pPr>
            <a:r>
              <a:t/>
            </a:r>
            <a:endParaRPr sz="2600"/>
          </a:p>
        </p:txBody>
      </p:sp>
      <p:pic>
        <p:nvPicPr>
          <p:cNvPr id="165" name="Google Shape;165;p23"/>
          <p:cNvPicPr preferRelativeResize="0"/>
          <p:nvPr/>
        </p:nvPicPr>
        <p:blipFill rotWithShape="1">
          <a:blip r:embed="rId3">
            <a:alphaModFix/>
          </a:blip>
          <a:srcRect b="48389" l="29556" r="45633" t="45550"/>
          <a:stretch/>
        </p:blipFill>
        <p:spPr>
          <a:xfrm>
            <a:off x="2812473" y="2632364"/>
            <a:ext cx="5209309" cy="942109"/>
          </a:xfrm>
          <a:prstGeom prst="rect">
            <a:avLst/>
          </a:prstGeom>
          <a:noFill/>
          <a:ln>
            <a:noFill/>
          </a:ln>
        </p:spPr>
      </p:pic>
      <p:pic>
        <p:nvPicPr>
          <p:cNvPr descr="Image result for sastra logo" id="166" name="Google Shape;166;p23"/>
          <p:cNvPicPr preferRelativeResize="0"/>
          <p:nvPr/>
        </p:nvPicPr>
        <p:blipFill rotWithShape="1">
          <a:blip r:embed="rId4">
            <a:alphaModFix/>
          </a:blip>
          <a:srcRect b="0" l="0" r="0" t="0"/>
          <a:stretch/>
        </p:blipFill>
        <p:spPr>
          <a:xfrm>
            <a:off x="9537700" y="360218"/>
            <a:ext cx="1816100" cy="60021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txBox="1"/>
          <p:nvPr>
            <p:ph idx="1" type="body"/>
          </p:nvPr>
        </p:nvSpPr>
        <p:spPr>
          <a:xfrm>
            <a:off x="838200" y="960437"/>
            <a:ext cx="10515600" cy="5648181"/>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(iii) Combined Leverage: </a:t>
            </a:r>
            <a:endParaRPr/>
          </a:p>
          <a:p>
            <a:pPr indent="0" lvl="0" marL="0" rtl="0" algn="just">
              <a:lnSpc>
                <a:spcPct val="90000"/>
              </a:lnSpc>
              <a:spcBef>
                <a:spcPts val="1000"/>
              </a:spcBef>
              <a:spcAft>
                <a:spcPts val="0"/>
              </a:spcAft>
              <a:buClr>
                <a:schemeClr val="dk1"/>
              </a:buClr>
              <a:buSzPts val="2600"/>
              <a:buNone/>
            </a:pPr>
            <a:r>
              <a:rPr lang="en-IN" sz="2600"/>
              <a:t>The operating leverage explains the business risk of the firm whereas the financial leverage deals with the financial risk of the firm. </a:t>
            </a:r>
            <a:r>
              <a:rPr lang="en-IN" sz="2600">
                <a:solidFill>
                  <a:srgbClr val="FF0000"/>
                </a:solidFill>
              </a:rPr>
              <a:t>But a firm has to look into the overall risk or total risk of the firm, which is business risk plus the financial risk. </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a) One can draw the following general conclusion about DCL. </a:t>
            </a:r>
            <a:endParaRPr/>
          </a:p>
          <a:p>
            <a:pPr indent="-228600" lvl="0" marL="228600" rtl="0" algn="just">
              <a:lnSpc>
                <a:spcPct val="90000"/>
              </a:lnSpc>
              <a:spcBef>
                <a:spcPts val="1000"/>
              </a:spcBef>
              <a:spcAft>
                <a:spcPts val="0"/>
              </a:spcAft>
              <a:buClr>
                <a:schemeClr val="dk1"/>
              </a:buClr>
              <a:buSzPts val="2600"/>
              <a:buChar char="•"/>
            </a:pPr>
            <a:r>
              <a:rPr lang="en-IN" sz="2600"/>
              <a:t>Other things remaining constant, higher the DCL, higher will be the change in EPS for same change in Q (Demand). </a:t>
            </a:r>
            <a:endParaRPr/>
          </a:p>
          <a:p>
            <a:pPr indent="-228600" lvl="0" marL="228600" rtl="0" algn="just">
              <a:lnSpc>
                <a:spcPct val="90000"/>
              </a:lnSpc>
              <a:spcBef>
                <a:spcPts val="1000"/>
              </a:spcBef>
              <a:spcAft>
                <a:spcPts val="0"/>
              </a:spcAft>
              <a:buClr>
                <a:schemeClr val="dk1"/>
              </a:buClr>
              <a:buSzPts val="2600"/>
              <a:buChar char="•"/>
            </a:pPr>
            <a:r>
              <a:rPr lang="en-IN" sz="2600"/>
              <a:t>Higher the DCL, more is the overall risk, and higher the fixed cost and interest burden lower is the earning after interest, and higher is the DCL. </a:t>
            </a:r>
            <a:endParaRPr/>
          </a:p>
          <a:p>
            <a:pPr indent="-228600" lvl="0" marL="228600" rtl="0" algn="just">
              <a:lnSpc>
                <a:spcPct val="90000"/>
              </a:lnSpc>
              <a:spcBef>
                <a:spcPts val="1000"/>
              </a:spcBef>
              <a:spcAft>
                <a:spcPts val="0"/>
              </a:spcAft>
              <a:buClr>
                <a:schemeClr val="dk1"/>
              </a:buClr>
              <a:buSzPts val="2600"/>
              <a:buChar char="•"/>
            </a:pPr>
            <a:r>
              <a:rPr lang="en-IN" sz="2600"/>
              <a:t>There is an unique DCL, for each level of production and sale . </a:t>
            </a:r>
            <a:endParaRPr/>
          </a:p>
          <a:p>
            <a:pPr indent="0" lvl="0" marL="0" rtl="0" algn="just">
              <a:lnSpc>
                <a:spcPct val="90000"/>
              </a:lnSpc>
              <a:spcBef>
                <a:spcPts val="1000"/>
              </a:spcBef>
              <a:spcAft>
                <a:spcPts val="0"/>
              </a:spcAft>
              <a:buClr>
                <a:schemeClr val="dk1"/>
              </a:buClr>
              <a:buSzPts val="2600"/>
              <a:buNone/>
            </a:pPr>
            <a:r>
              <a:rPr lang="en-IN" sz="2600"/>
              <a:t>A combination of the operating and financial leverages is the total or combination leverage. </a:t>
            </a:r>
            <a:endParaRPr sz="2600"/>
          </a:p>
        </p:txBody>
      </p:sp>
      <p:pic>
        <p:nvPicPr>
          <p:cNvPr descr="Image result for sastra logo" id="172" name="Google Shape;172;p24"/>
          <p:cNvPicPr preferRelativeResize="0"/>
          <p:nvPr/>
        </p:nvPicPr>
        <p:blipFill rotWithShape="1">
          <a:blip r:embed="rId3">
            <a:alphaModFix/>
          </a:blip>
          <a:srcRect b="0" l="0" r="0" t="0"/>
          <a:stretch/>
        </p:blipFill>
        <p:spPr>
          <a:xfrm>
            <a:off x="9537700" y="360218"/>
            <a:ext cx="1816100" cy="60021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5"/>
          <p:cNvSpPr txBox="1"/>
          <p:nvPr>
            <p:ph idx="1" type="body"/>
          </p:nvPr>
        </p:nvSpPr>
        <p:spPr>
          <a:xfrm>
            <a:off x="782782" y="928255"/>
            <a:ext cx="10515600" cy="52625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The operating leverage causes a magnified effect of the change in sales level on the EBIT level and if the financial leverage combined simultaneously, then the change in EBIT will, in turn, have a magnified effect on the EPS. A firm will have wide fluctuations in the EPS for even a small change in the sales level. Thus effect of change in sales level on the EPS is known as combined leverage. It is calculated as follows:</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CL = Contribution/EBT or</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CL = OL × FL</a:t>
            </a:r>
            <a:endParaRPr/>
          </a:p>
          <a:p>
            <a:pPr indent="0" lvl="0" marL="0" rtl="0" algn="just">
              <a:lnSpc>
                <a:spcPct val="90000"/>
              </a:lnSpc>
              <a:spcBef>
                <a:spcPts val="1000"/>
              </a:spcBef>
              <a:spcAft>
                <a:spcPts val="0"/>
              </a:spcAft>
              <a:buClr>
                <a:schemeClr val="dk1"/>
              </a:buClr>
              <a:buSzPts val="2600"/>
              <a:buNone/>
            </a:pPr>
            <a:r>
              <a:t/>
            </a:r>
            <a:endParaRPr sz="2600"/>
          </a:p>
        </p:txBody>
      </p:sp>
      <p:pic>
        <p:nvPicPr>
          <p:cNvPr descr="Image result for sastra logo" id="178" name="Google Shape;178;p25"/>
          <p:cNvPicPr preferRelativeResize="0"/>
          <p:nvPr/>
        </p:nvPicPr>
        <p:blipFill rotWithShape="1">
          <a:blip r:embed="rId3">
            <a:alphaModFix/>
          </a:blip>
          <a:srcRect b="0" l="0" r="0" t="0"/>
          <a:stretch/>
        </p:blipFill>
        <p:spPr>
          <a:xfrm>
            <a:off x="9537700" y="360218"/>
            <a:ext cx="1816100" cy="60021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6"/>
          <p:cNvSpPr txBox="1"/>
          <p:nvPr>
            <p:ph idx="1" type="body"/>
          </p:nvPr>
        </p:nvSpPr>
        <p:spPr>
          <a:xfrm>
            <a:off x="838200" y="983673"/>
            <a:ext cx="10515600" cy="519329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b) Degree of Combined Leverage:</a:t>
            </a:r>
            <a:endParaRPr/>
          </a:p>
          <a:p>
            <a:pPr indent="0" lvl="0" marL="0" rtl="0" algn="just">
              <a:lnSpc>
                <a:spcPct val="90000"/>
              </a:lnSpc>
              <a:spcBef>
                <a:spcPts val="1000"/>
              </a:spcBef>
              <a:spcAft>
                <a:spcPts val="0"/>
              </a:spcAft>
              <a:buClr>
                <a:schemeClr val="dk1"/>
              </a:buClr>
              <a:buSzPts val="2600"/>
              <a:buNone/>
            </a:pPr>
            <a:r>
              <a:rPr lang="en-IN" sz="2600"/>
              <a:t>The percentage change in a firm’s earning per share (EPS) results from one percent change in sales. This is also equal to the firm’s degree of operating leverage (DOL) times its degree of financial leverage (DFL) at a particular level of sales.</a:t>
            </a:r>
            <a:endParaRPr/>
          </a:p>
          <a:p>
            <a:pPr indent="0" lvl="0" marL="0" rtl="0" algn="l">
              <a:lnSpc>
                <a:spcPct val="90000"/>
              </a:lnSpc>
              <a:spcBef>
                <a:spcPts val="1000"/>
              </a:spcBef>
              <a:spcAft>
                <a:spcPts val="0"/>
              </a:spcAft>
              <a:buClr>
                <a:schemeClr val="dk1"/>
              </a:buClr>
              <a:buSzPts val="2600"/>
              <a:buNone/>
            </a:pPr>
            <a:r>
              <a:t/>
            </a:r>
            <a:endParaRPr sz="2600"/>
          </a:p>
        </p:txBody>
      </p:sp>
      <p:pic>
        <p:nvPicPr>
          <p:cNvPr id="184" name="Google Shape;184;p26"/>
          <p:cNvPicPr preferRelativeResize="0"/>
          <p:nvPr/>
        </p:nvPicPr>
        <p:blipFill rotWithShape="1">
          <a:blip r:embed="rId3">
            <a:alphaModFix/>
          </a:blip>
          <a:srcRect b="25094" l="29128" r="39031" t="67329"/>
          <a:stretch/>
        </p:blipFill>
        <p:spPr>
          <a:xfrm>
            <a:off x="1870363" y="3026136"/>
            <a:ext cx="5694219" cy="1108363"/>
          </a:xfrm>
          <a:prstGeom prst="rect">
            <a:avLst/>
          </a:prstGeom>
          <a:noFill/>
          <a:ln>
            <a:noFill/>
          </a:ln>
        </p:spPr>
      </p:pic>
      <p:pic>
        <p:nvPicPr>
          <p:cNvPr descr="Image result for sastra logo" id="185" name="Google Shape;185;p26"/>
          <p:cNvPicPr preferRelativeResize="0"/>
          <p:nvPr/>
        </p:nvPicPr>
        <p:blipFill rotWithShape="1">
          <a:blip r:embed="rId4">
            <a:alphaModFix/>
          </a:blip>
          <a:srcRect b="0" l="0" r="0" t="0"/>
          <a:stretch/>
        </p:blipFill>
        <p:spPr>
          <a:xfrm>
            <a:off x="9537700" y="360218"/>
            <a:ext cx="1816100" cy="60021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7"/>
          <p:cNvSpPr txBox="1"/>
          <p:nvPr>
            <p:ph idx="1" type="body"/>
          </p:nvPr>
        </p:nvSpPr>
        <p:spPr>
          <a:xfrm>
            <a:off x="838200" y="983672"/>
            <a:ext cx="10515600" cy="536170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0000"/>
              </a:buClr>
              <a:buSzPts val="2600"/>
              <a:buNone/>
            </a:pPr>
            <a:r>
              <a:rPr b="1" lang="en-IN" sz="2600">
                <a:solidFill>
                  <a:srgbClr val="FF0000"/>
                </a:solidFill>
              </a:rPr>
              <a:t>Statement showing leverages and EPS</a:t>
            </a:r>
            <a:endParaRPr/>
          </a:p>
          <a:p>
            <a:pPr indent="0" lvl="0" marL="0" rtl="0" algn="ctr">
              <a:lnSpc>
                <a:spcPct val="90000"/>
              </a:lnSpc>
              <a:spcBef>
                <a:spcPts val="1000"/>
              </a:spcBef>
              <a:spcAft>
                <a:spcPts val="0"/>
              </a:spcAft>
              <a:buClr>
                <a:schemeClr val="dk1"/>
              </a:buClr>
              <a:buSzPts val="2600"/>
              <a:buNone/>
            </a:pPr>
            <a:r>
              <a:t/>
            </a:r>
            <a:endParaRPr sz="2600">
              <a:solidFill>
                <a:srgbClr val="FF0000"/>
              </a:solidFill>
            </a:endParaRPr>
          </a:p>
        </p:txBody>
      </p:sp>
      <p:graphicFrame>
        <p:nvGraphicFramePr>
          <p:cNvPr id="191" name="Google Shape;191;p27"/>
          <p:cNvGraphicFramePr/>
          <p:nvPr/>
        </p:nvGraphicFramePr>
        <p:xfrm>
          <a:off x="838199" y="1440103"/>
          <a:ext cx="3000000" cy="3000000"/>
        </p:xfrm>
        <a:graphic>
          <a:graphicData uri="http://schemas.openxmlformats.org/drawingml/2006/table">
            <a:tbl>
              <a:tblPr bandRow="1" firstRow="1">
                <a:noFill/>
                <a:tableStyleId>{F13EBC90-8482-44D1-B74C-96AE8BA04B85}</a:tableStyleId>
              </a:tblPr>
              <a:tblGrid>
                <a:gridCol w="796625"/>
                <a:gridCol w="8423575"/>
                <a:gridCol w="1295400"/>
              </a:tblGrid>
              <a:tr h="370850">
                <a:tc>
                  <a:txBody>
                    <a:bodyPr/>
                    <a:lstStyle/>
                    <a:p>
                      <a:pPr indent="0" lvl="0" marL="0" marR="0" rtl="0" algn="ctr">
                        <a:spcBef>
                          <a:spcPts val="0"/>
                        </a:spcBef>
                        <a:spcAft>
                          <a:spcPts val="0"/>
                        </a:spcAft>
                        <a:buNone/>
                      </a:pPr>
                      <a:r>
                        <a:t/>
                      </a:r>
                      <a:endParaRPr sz="2000" u="none" cap="none" strike="noStrike">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000" u="none" cap="none" strike="noStrike"/>
                        <a:t>Particulars</a:t>
                      </a:r>
                      <a:endParaRPr sz="2000" u="none" cap="none" strike="noStrike"/>
                    </a:p>
                  </a:txBody>
                  <a:tcPr marT="45725" marB="45725" marR="91450" marL="91450"/>
                </a:tc>
                <a:tc>
                  <a:txBody>
                    <a:bodyPr/>
                    <a:lstStyle/>
                    <a:p>
                      <a:pPr indent="0" lvl="0" marL="0" marR="0" rtl="0" algn="ctr">
                        <a:spcBef>
                          <a:spcPts val="0"/>
                        </a:spcBef>
                        <a:spcAft>
                          <a:spcPts val="0"/>
                        </a:spcAft>
                        <a:buNone/>
                      </a:pPr>
                      <a:r>
                        <a:rPr lang="en-IN" sz="2000" u="none" cap="none" strike="noStrike"/>
                        <a:t>Rs.</a:t>
                      </a:r>
                      <a:endParaRPr sz="2000" u="none" cap="none" strike="noStrike"/>
                    </a:p>
                  </a:txBody>
                  <a:tcPr marT="45725" marB="45725" marR="91450" marL="91450"/>
                </a:tc>
              </a:tr>
              <a:tr h="370850">
                <a:tc>
                  <a:txBody>
                    <a:bodyPr/>
                    <a:lstStyle/>
                    <a:p>
                      <a:pPr indent="0" lvl="0" marL="0" marR="0" rtl="0" algn="ctr">
                        <a:spcBef>
                          <a:spcPts val="0"/>
                        </a:spcBef>
                        <a:spcAft>
                          <a:spcPts val="0"/>
                        </a:spcAft>
                        <a:buNone/>
                      </a:pPr>
                      <a:r>
                        <a:t/>
                      </a:r>
                      <a:endParaRPr sz="2600" u="none" cap="none" strike="noStrike">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u="none" cap="none" strike="noStrike"/>
                        <a:t>Sales </a:t>
                      </a:r>
                      <a:endParaRPr sz="2600"/>
                    </a:p>
                  </a:txBody>
                  <a:tcPr marT="45725" marB="45725" marR="91450" marL="91450"/>
                </a:tc>
                <a:tc>
                  <a:txBody>
                    <a:bodyPr/>
                    <a:lstStyle/>
                    <a:p>
                      <a:pPr indent="0" lvl="0" marL="0" marR="0" rtl="0" algn="ctr">
                        <a:spcBef>
                          <a:spcPts val="0"/>
                        </a:spcBef>
                        <a:spcAft>
                          <a:spcPts val="0"/>
                        </a:spcAft>
                        <a:buNone/>
                      </a:pPr>
                      <a:r>
                        <a:rPr lang="en-IN" sz="2600"/>
                        <a:t>×××</a:t>
                      </a:r>
                      <a:endParaRPr sz="2600"/>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Variable cost</a:t>
                      </a:r>
                      <a:endParaRPr sz="2600"/>
                    </a:p>
                  </a:txBody>
                  <a:tcPr marT="45725" marB="45725" marR="91450" marL="91450"/>
                </a:tc>
                <a:tc>
                  <a:txBody>
                    <a:bodyPr/>
                    <a:lstStyle/>
                    <a:p>
                      <a:pPr indent="0" lvl="0" marL="0" marR="0" rtl="0" algn="ctr">
                        <a:lnSpc>
                          <a:spcPct val="100000"/>
                        </a:lnSpc>
                        <a:spcBef>
                          <a:spcPts val="0"/>
                        </a:spcBef>
                        <a:spcAft>
                          <a:spcPts val="0"/>
                        </a:spcAft>
                        <a:buClr>
                          <a:srgbClr val="000000"/>
                        </a:buClr>
                        <a:buSzPts val="2600"/>
                        <a:buFont typeface="Calibri"/>
                        <a:buNone/>
                      </a:pPr>
                      <a:r>
                        <a:rPr b="0" i="0" lang="en-IN" sz="2600" u="none" cap="none" strike="noStrike">
                          <a:solidFill>
                            <a:srgbClr val="000000"/>
                          </a:solidFill>
                          <a:latin typeface="Calibri"/>
                          <a:ea typeface="Calibri"/>
                          <a:cs typeface="Calibri"/>
                          <a:sym typeface="Calibri"/>
                        </a:rPr>
                        <a:t>×××</a:t>
                      </a:r>
                      <a:endParaRPr b="0" i="0" sz="2600" u="none" cap="none" strike="noStrike">
                        <a:solidFill>
                          <a:srgbClr val="000000"/>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Contribution</a:t>
                      </a:r>
                      <a:endParaRPr b="1" sz="2600">
                        <a:solidFill>
                          <a:srgbClr val="FF0000"/>
                        </a:solidFill>
                      </a:endParaRPr>
                    </a:p>
                  </a:txBody>
                  <a:tcPr marT="45725" marB="45725" marR="91450" marL="91450"/>
                </a:tc>
                <a:tc>
                  <a:txBody>
                    <a:bodyPr/>
                    <a:lstStyle/>
                    <a:p>
                      <a:pPr indent="0" lvl="0" marL="0" marR="0" rtl="0" algn="ctr">
                        <a:lnSpc>
                          <a:spcPct val="100000"/>
                        </a:lnSpc>
                        <a:spcBef>
                          <a:spcPts val="0"/>
                        </a:spcBef>
                        <a:spcAft>
                          <a:spcPts val="0"/>
                        </a:spcAft>
                        <a:buClr>
                          <a:srgbClr val="FF0000"/>
                        </a:buClr>
                        <a:buSzPts val="2600"/>
                        <a:buFont typeface="Calibri"/>
                        <a:buNone/>
                      </a:pPr>
                      <a:r>
                        <a:rPr b="1" i="0" lang="en-IN" sz="2600" u="none" cap="none" strike="noStrike">
                          <a:solidFill>
                            <a:srgbClr val="FF0000"/>
                          </a:solidFill>
                          <a:latin typeface="Calibri"/>
                          <a:ea typeface="Calibri"/>
                          <a:cs typeface="Calibri"/>
                          <a:sym typeface="Calibri"/>
                        </a:rPr>
                        <a:t>×××</a:t>
                      </a:r>
                      <a:endParaRPr b="1" i="0" sz="2600" u="none" cap="none" strike="noStrike">
                        <a:solidFill>
                          <a:srgbClr val="FF0000"/>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Fixed cost</a:t>
                      </a:r>
                      <a:endParaRPr sz="2600"/>
                    </a:p>
                  </a:txBody>
                  <a:tcPr marT="45725" marB="45725" marR="91450" marL="91450"/>
                </a:tc>
                <a:tc>
                  <a:txBody>
                    <a:bodyPr/>
                    <a:lstStyle/>
                    <a:p>
                      <a:pPr indent="0" lvl="0" marL="0" marR="0" rtl="0" algn="ctr">
                        <a:lnSpc>
                          <a:spcPct val="100000"/>
                        </a:lnSpc>
                        <a:spcBef>
                          <a:spcPts val="0"/>
                        </a:spcBef>
                        <a:spcAft>
                          <a:spcPts val="0"/>
                        </a:spcAft>
                        <a:buClr>
                          <a:srgbClr val="000000"/>
                        </a:buClr>
                        <a:buSzPts val="2600"/>
                        <a:buFont typeface="Calibri"/>
                        <a:buNone/>
                      </a:pPr>
                      <a:r>
                        <a:rPr b="0" i="0" lang="en-IN" sz="2600" u="none" cap="none" strike="noStrike">
                          <a:solidFill>
                            <a:srgbClr val="000000"/>
                          </a:solidFill>
                          <a:latin typeface="Calibri"/>
                          <a:ea typeface="Calibri"/>
                          <a:cs typeface="Calibri"/>
                          <a:sym typeface="Calibri"/>
                        </a:rPr>
                        <a:t>×××</a:t>
                      </a:r>
                      <a:endParaRPr b="0" i="0" sz="2600" u="none" cap="none" strike="noStrike">
                        <a:solidFill>
                          <a:srgbClr val="000000"/>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Earnings</a:t>
                      </a:r>
                      <a:r>
                        <a:rPr b="1" lang="en-IN" sz="2600">
                          <a:solidFill>
                            <a:srgbClr val="FF0000"/>
                          </a:solidFill>
                        </a:rPr>
                        <a:t> before interest and tax [EBIT or OP]</a:t>
                      </a:r>
                      <a:endParaRPr b="1" sz="2600">
                        <a:solidFill>
                          <a:srgbClr val="FF0000"/>
                        </a:solidFill>
                      </a:endParaRPr>
                    </a:p>
                  </a:txBody>
                  <a:tcPr marT="45725" marB="45725" marR="91450" marL="91450"/>
                </a:tc>
                <a:tc>
                  <a:txBody>
                    <a:bodyPr/>
                    <a:lstStyle/>
                    <a:p>
                      <a:pPr indent="0" lvl="0" marL="0" marR="0" rtl="0" algn="ctr">
                        <a:lnSpc>
                          <a:spcPct val="100000"/>
                        </a:lnSpc>
                        <a:spcBef>
                          <a:spcPts val="0"/>
                        </a:spcBef>
                        <a:spcAft>
                          <a:spcPts val="0"/>
                        </a:spcAft>
                        <a:buClr>
                          <a:srgbClr val="FF0000"/>
                        </a:buClr>
                        <a:buSzPts val="2600"/>
                        <a:buFont typeface="Calibri"/>
                        <a:buNone/>
                      </a:pPr>
                      <a:r>
                        <a:rPr b="1" i="0" lang="en-IN" sz="2600" u="none" cap="none" strike="noStrike">
                          <a:solidFill>
                            <a:srgbClr val="FF0000"/>
                          </a:solidFill>
                          <a:latin typeface="Calibri"/>
                          <a:ea typeface="Calibri"/>
                          <a:cs typeface="Calibri"/>
                          <a:sym typeface="Calibri"/>
                        </a:rPr>
                        <a:t>×××</a:t>
                      </a:r>
                      <a:endParaRPr b="1" i="0" sz="2600" u="none" cap="none" strike="noStrike">
                        <a:solidFill>
                          <a:srgbClr val="FF0000"/>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Interest on debts</a:t>
                      </a:r>
                      <a:endParaRPr sz="2600"/>
                    </a:p>
                  </a:txBody>
                  <a:tcPr marT="45725" marB="45725" marR="91450" marL="91450"/>
                </a:tc>
                <a:tc>
                  <a:txBody>
                    <a:bodyPr/>
                    <a:lstStyle/>
                    <a:p>
                      <a:pPr indent="0" lvl="0" marL="0" marR="0" rtl="0" algn="ctr">
                        <a:lnSpc>
                          <a:spcPct val="100000"/>
                        </a:lnSpc>
                        <a:spcBef>
                          <a:spcPts val="0"/>
                        </a:spcBef>
                        <a:spcAft>
                          <a:spcPts val="0"/>
                        </a:spcAft>
                        <a:buClr>
                          <a:srgbClr val="000000"/>
                        </a:buClr>
                        <a:buSzPts val="2600"/>
                        <a:buFont typeface="Calibri"/>
                        <a:buNone/>
                      </a:pPr>
                      <a:r>
                        <a:rPr b="0" i="0" lang="en-IN" sz="2600" u="none" cap="none" strike="noStrike">
                          <a:solidFill>
                            <a:srgbClr val="000000"/>
                          </a:solidFill>
                          <a:latin typeface="Calibri"/>
                          <a:ea typeface="Calibri"/>
                          <a:cs typeface="Calibri"/>
                          <a:sym typeface="Calibri"/>
                        </a:rPr>
                        <a:t>×××</a:t>
                      </a:r>
                      <a:endParaRPr b="0" i="0" sz="2600" u="none" cap="none" strike="noStrike">
                        <a:solidFill>
                          <a:srgbClr val="000000"/>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Earnings</a:t>
                      </a:r>
                      <a:r>
                        <a:rPr b="1" lang="en-IN" sz="2600">
                          <a:solidFill>
                            <a:srgbClr val="FF0000"/>
                          </a:solidFill>
                        </a:rPr>
                        <a:t> before tax [EBT]</a:t>
                      </a:r>
                      <a:endParaRPr b="1" sz="2600">
                        <a:solidFill>
                          <a:srgbClr val="FF0000"/>
                        </a:solidFill>
                      </a:endParaRPr>
                    </a:p>
                  </a:txBody>
                  <a:tcPr marT="45725" marB="45725" marR="91450" marL="91450"/>
                </a:tc>
                <a:tc>
                  <a:txBody>
                    <a:bodyPr/>
                    <a:lstStyle/>
                    <a:p>
                      <a:pPr indent="0" lvl="0" marL="0" marR="0" rtl="0" algn="ctr">
                        <a:lnSpc>
                          <a:spcPct val="100000"/>
                        </a:lnSpc>
                        <a:spcBef>
                          <a:spcPts val="0"/>
                        </a:spcBef>
                        <a:spcAft>
                          <a:spcPts val="0"/>
                        </a:spcAft>
                        <a:buClr>
                          <a:srgbClr val="FF0000"/>
                        </a:buClr>
                        <a:buSzPts val="2600"/>
                        <a:buFont typeface="Calibri"/>
                        <a:buNone/>
                      </a:pPr>
                      <a:r>
                        <a:rPr b="1" i="0" lang="en-IN" sz="2600" u="none" cap="none" strike="noStrike">
                          <a:solidFill>
                            <a:srgbClr val="FF0000"/>
                          </a:solidFill>
                          <a:latin typeface="Calibri"/>
                          <a:ea typeface="Calibri"/>
                          <a:cs typeface="Calibri"/>
                          <a:sym typeface="Calibri"/>
                        </a:rPr>
                        <a:t>×××</a:t>
                      </a:r>
                      <a:endParaRPr b="1" i="0" sz="2600" u="none" cap="none" strike="noStrike">
                        <a:solidFill>
                          <a:srgbClr val="FF0000"/>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Income tax </a:t>
                      </a:r>
                      <a:endParaRPr sz="2600"/>
                    </a:p>
                  </a:txBody>
                  <a:tcPr marT="45725" marB="45725" marR="91450" marL="91450"/>
                </a:tc>
                <a:tc>
                  <a:txBody>
                    <a:bodyPr/>
                    <a:lstStyle/>
                    <a:p>
                      <a:pPr indent="0" lvl="0" marL="0" marR="0" rtl="0" algn="ctr">
                        <a:lnSpc>
                          <a:spcPct val="100000"/>
                        </a:lnSpc>
                        <a:spcBef>
                          <a:spcPts val="0"/>
                        </a:spcBef>
                        <a:spcAft>
                          <a:spcPts val="0"/>
                        </a:spcAft>
                        <a:buClr>
                          <a:srgbClr val="000000"/>
                        </a:buClr>
                        <a:buSzPts val="2600"/>
                        <a:buFont typeface="Calibri"/>
                        <a:buNone/>
                      </a:pPr>
                      <a:r>
                        <a:rPr b="0" i="0" lang="en-IN" sz="2600" u="none" cap="none" strike="noStrike">
                          <a:solidFill>
                            <a:srgbClr val="000000"/>
                          </a:solidFill>
                          <a:latin typeface="Calibri"/>
                          <a:ea typeface="Calibri"/>
                          <a:cs typeface="Calibri"/>
                          <a:sym typeface="Calibri"/>
                        </a:rPr>
                        <a:t>×××</a:t>
                      </a:r>
                      <a:endParaRPr b="0" i="0" sz="2600" u="none" cap="none" strike="noStrike">
                        <a:solidFill>
                          <a:srgbClr val="000000"/>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Profit after tax [PAT]</a:t>
                      </a:r>
                      <a:endParaRPr b="1" sz="2600">
                        <a:solidFill>
                          <a:srgbClr val="FF0000"/>
                        </a:solidFill>
                      </a:endParaRPr>
                    </a:p>
                  </a:txBody>
                  <a:tcPr marT="45725" marB="45725" marR="91450" marL="91450"/>
                </a:tc>
                <a:tc>
                  <a:txBody>
                    <a:bodyPr/>
                    <a:lstStyle/>
                    <a:p>
                      <a:pPr indent="0" lvl="0" marL="0" marR="0" rtl="0" algn="ctr">
                        <a:lnSpc>
                          <a:spcPct val="100000"/>
                        </a:lnSpc>
                        <a:spcBef>
                          <a:spcPts val="0"/>
                        </a:spcBef>
                        <a:spcAft>
                          <a:spcPts val="0"/>
                        </a:spcAft>
                        <a:buClr>
                          <a:srgbClr val="FF0000"/>
                        </a:buClr>
                        <a:buSzPts val="2600"/>
                        <a:buFont typeface="Calibri"/>
                        <a:buNone/>
                      </a:pPr>
                      <a:r>
                        <a:rPr b="1" i="0" lang="en-IN" sz="2600" u="none" cap="none" strike="noStrike">
                          <a:solidFill>
                            <a:srgbClr val="FF0000"/>
                          </a:solidFill>
                          <a:latin typeface="Calibri"/>
                          <a:ea typeface="Calibri"/>
                          <a:cs typeface="Calibri"/>
                          <a:sym typeface="Calibri"/>
                        </a:rPr>
                        <a:t>×××</a:t>
                      </a:r>
                      <a:endParaRPr b="1" i="0" sz="2600" u="none" cap="none" strike="noStrike">
                        <a:solidFill>
                          <a:srgbClr val="FF0000"/>
                        </a:solidFill>
                        <a:latin typeface="Calibri"/>
                        <a:ea typeface="Calibri"/>
                        <a:cs typeface="Calibri"/>
                        <a:sym typeface="Calibri"/>
                      </a:endParaRPr>
                    </a:p>
                  </a:txBody>
                  <a:tcPr marT="45725" marB="45725" marR="91450" marL="91450"/>
                </a:tc>
              </a:tr>
            </a:tbl>
          </a:graphicData>
        </a:graphic>
      </p:graphicFrame>
      <p:pic>
        <p:nvPicPr>
          <p:cNvPr descr="Image result for sastra logo" id="192" name="Google Shape;192;p27"/>
          <p:cNvPicPr preferRelativeResize="0"/>
          <p:nvPr/>
        </p:nvPicPr>
        <p:blipFill rotWithShape="1">
          <a:blip r:embed="rId3">
            <a:alphaModFix/>
          </a:blip>
          <a:srcRect b="0" l="0" r="0" t="0"/>
          <a:stretch/>
        </p:blipFill>
        <p:spPr>
          <a:xfrm>
            <a:off x="9537700" y="360218"/>
            <a:ext cx="1816100" cy="60021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graphicFrame>
        <p:nvGraphicFramePr>
          <p:cNvPr id="197" name="Google Shape;197;p28"/>
          <p:cNvGraphicFramePr/>
          <p:nvPr/>
        </p:nvGraphicFramePr>
        <p:xfrm>
          <a:off x="838200" y="873125"/>
          <a:ext cx="3000000" cy="3000000"/>
        </p:xfrm>
        <a:graphic>
          <a:graphicData uri="http://schemas.openxmlformats.org/drawingml/2006/table">
            <a:tbl>
              <a:tblPr bandRow="1" firstRow="1">
                <a:noFill/>
                <a:tableStyleId>{F13EBC90-8482-44D1-B74C-96AE8BA04B85}</a:tableStyleId>
              </a:tblPr>
              <a:tblGrid>
                <a:gridCol w="810500"/>
                <a:gridCol w="8451275"/>
                <a:gridCol w="1253825"/>
              </a:tblGrid>
              <a:tr h="370850">
                <a:tc>
                  <a:txBody>
                    <a:bodyPr/>
                    <a:lstStyle/>
                    <a:p>
                      <a:pPr indent="0" lvl="0" marL="0" marR="0" rtl="0" algn="ctr">
                        <a:spcBef>
                          <a:spcPts val="0"/>
                        </a:spcBef>
                        <a:spcAft>
                          <a:spcPts val="0"/>
                        </a:spcAft>
                        <a:buNone/>
                      </a:pPr>
                      <a:r>
                        <a:t/>
                      </a:r>
                      <a:endParaRPr sz="20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000"/>
                        <a:t>Particulars</a:t>
                      </a:r>
                      <a:endParaRPr sz="2000"/>
                    </a:p>
                  </a:txBody>
                  <a:tcPr marT="45725" marB="45725" marR="91450" marL="91450"/>
                </a:tc>
                <a:tc>
                  <a:txBody>
                    <a:bodyPr/>
                    <a:lstStyle/>
                    <a:p>
                      <a:pPr indent="0" lvl="0" marL="0" marR="0" rtl="0" algn="ctr">
                        <a:spcBef>
                          <a:spcPts val="0"/>
                        </a:spcBef>
                        <a:spcAft>
                          <a:spcPts val="0"/>
                        </a:spcAft>
                        <a:buNone/>
                      </a:pPr>
                      <a:r>
                        <a:rPr lang="en-IN" sz="2000"/>
                        <a:t>Rs.</a:t>
                      </a:r>
                      <a:endParaRPr sz="2000"/>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Preference dividend </a:t>
                      </a:r>
                      <a:endParaRPr sz="2600"/>
                    </a:p>
                  </a:txBody>
                  <a:tcPr marT="45725" marB="45725" marR="91450" marL="91450"/>
                </a:tc>
                <a:tc>
                  <a:txBody>
                    <a:bodyPr/>
                    <a:lstStyle/>
                    <a:p>
                      <a:pPr indent="0" lvl="0" marL="0" marR="0" rtl="0" algn="ctr">
                        <a:lnSpc>
                          <a:spcPct val="100000"/>
                        </a:lnSpc>
                        <a:spcBef>
                          <a:spcPts val="0"/>
                        </a:spcBef>
                        <a:spcAft>
                          <a:spcPts val="0"/>
                        </a:spcAft>
                        <a:buClr>
                          <a:srgbClr val="000000"/>
                        </a:buClr>
                        <a:buSzPts val="2600"/>
                        <a:buFont typeface="Calibri"/>
                        <a:buNone/>
                      </a:pPr>
                      <a:r>
                        <a:rPr b="0" i="0" lang="en-IN" sz="2600" u="none" cap="none" strike="noStrike">
                          <a:solidFill>
                            <a:srgbClr val="000000"/>
                          </a:solidFill>
                          <a:latin typeface="Calibri"/>
                          <a:ea typeface="Calibri"/>
                          <a:cs typeface="Calibri"/>
                          <a:sym typeface="Calibri"/>
                        </a:rPr>
                        <a:t>×××</a:t>
                      </a:r>
                      <a:endParaRPr b="0" i="0" sz="2600" u="none" cap="none" strike="noStrike">
                        <a:solidFill>
                          <a:srgbClr val="000000"/>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Profit available for equity shareholders</a:t>
                      </a:r>
                      <a:endParaRPr b="1" sz="2600">
                        <a:solidFill>
                          <a:srgbClr val="FF0000"/>
                        </a:solidFill>
                      </a:endParaRPr>
                    </a:p>
                  </a:txBody>
                  <a:tcPr marT="45725" marB="45725" marR="91450" marL="91450"/>
                </a:tc>
                <a:tc>
                  <a:txBody>
                    <a:bodyPr/>
                    <a:lstStyle/>
                    <a:p>
                      <a:pPr indent="0" lvl="0" marL="0" marR="0" rtl="0" algn="ctr">
                        <a:lnSpc>
                          <a:spcPct val="100000"/>
                        </a:lnSpc>
                        <a:spcBef>
                          <a:spcPts val="0"/>
                        </a:spcBef>
                        <a:spcAft>
                          <a:spcPts val="0"/>
                        </a:spcAft>
                        <a:buClr>
                          <a:srgbClr val="FF0000"/>
                        </a:buClr>
                        <a:buSzPts val="2600"/>
                        <a:buFont typeface="Calibri"/>
                        <a:buNone/>
                      </a:pPr>
                      <a:r>
                        <a:rPr b="1" i="0" lang="en-IN" sz="2600" u="none" cap="none" strike="noStrike">
                          <a:solidFill>
                            <a:srgbClr val="FF0000"/>
                          </a:solidFill>
                          <a:latin typeface="Calibri"/>
                          <a:ea typeface="Calibri"/>
                          <a:cs typeface="Calibri"/>
                          <a:sym typeface="Calibri"/>
                        </a:rPr>
                        <a:t>×××</a:t>
                      </a:r>
                      <a:endParaRPr b="1" i="0" sz="2600" u="none" cap="none" strike="noStrike">
                        <a:solidFill>
                          <a:srgbClr val="FF0000"/>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Earnings per share [EPS]</a:t>
                      </a:r>
                      <a:r>
                        <a:rPr lang="en-IN" sz="2600">
                          <a:solidFill>
                            <a:srgbClr val="FF0000"/>
                          </a:solidFill>
                        </a:rPr>
                        <a:t> </a:t>
                      </a:r>
                      <a:endParaRPr/>
                    </a:p>
                    <a:p>
                      <a:pPr indent="0" lvl="0" marL="0" marR="0" rtl="0" algn="l">
                        <a:spcBef>
                          <a:spcPts val="0"/>
                        </a:spcBef>
                        <a:spcAft>
                          <a:spcPts val="0"/>
                        </a:spcAft>
                        <a:buNone/>
                      </a:pPr>
                      <a:r>
                        <a:rPr lang="en-IN" sz="2600">
                          <a:solidFill>
                            <a:schemeClr val="dk1"/>
                          </a:solidFill>
                        </a:rPr>
                        <a:t>= Profit for equity shareholders/No of equity shares</a:t>
                      </a:r>
                      <a:endParaRPr sz="2600">
                        <a:solidFill>
                          <a:schemeClr val="dk1"/>
                        </a:solidFill>
                      </a:endParaRPr>
                    </a:p>
                  </a:txBody>
                  <a:tcPr marT="45725" marB="45725" marR="91450" marL="91450"/>
                </a:tc>
                <a:tc>
                  <a:txBody>
                    <a:bodyPr/>
                    <a:lstStyle/>
                    <a:p>
                      <a:pPr indent="0" lvl="0" marL="0" marR="0" rtl="0" algn="ctr">
                        <a:lnSpc>
                          <a:spcPct val="100000"/>
                        </a:lnSpc>
                        <a:spcBef>
                          <a:spcPts val="0"/>
                        </a:spcBef>
                        <a:spcAft>
                          <a:spcPts val="0"/>
                        </a:spcAft>
                        <a:buClr>
                          <a:srgbClr val="FF0000"/>
                        </a:buClr>
                        <a:buSzPts val="2600"/>
                        <a:buFont typeface="Calibri"/>
                        <a:buNone/>
                      </a:pPr>
                      <a:r>
                        <a:rPr b="0" i="0" lang="en-IN" sz="2600" u="none" cap="none" strike="noStrike">
                          <a:solidFill>
                            <a:srgbClr val="FF0000"/>
                          </a:solidFill>
                          <a:latin typeface="Calibri"/>
                          <a:ea typeface="Calibri"/>
                          <a:cs typeface="Calibri"/>
                          <a:sym typeface="Calibri"/>
                        </a:rPr>
                        <a:t>×××</a:t>
                      </a:r>
                      <a:endParaRPr b="0" i="0" sz="2600" u="none" cap="none" strike="noStrike">
                        <a:solidFill>
                          <a:srgbClr val="FF0000"/>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Operating leverage [OL]</a:t>
                      </a:r>
                      <a:r>
                        <a:rPr lang="en-IN" sz="2600">
                          <a:solidFill>
                            <a:srgbClr val="FF0000"/>
                          </a:solidFill>
                        </a:rPr>
                        <a:t> = [Contribution/EBIT]</a:t>
                      </a:r>
                      <a:endParaRPr sz="2600">
                        <a:solidFill>
                          <a:srgbClr val="FF0000"/>
                        </a:solidFill>
                      </a:endParaRPr>
                    </a:p>
                  </a:txBody>
                  <a:tcPr marT="45725" marB="45725" marR="91450" marL="91450"/>
                </a:tc>
                <a:tc>
                  <a:txBody>
                    <a:bodyPr/>
                    <a:lstStyle/>
                    <a:p>
                      <a:pPr indent="0" lvl="0" marL="0" marR="0" rtl="0" algn="ctr">
                        <a:lnSpc>
                          <a:spcPct val="100000"/>
                        </a:lnSpc>
                        <a:spcBef>
                          <a:spcPts val="0"/>
                        </a:spcBef>
                        <a:spcAft>
                          <a:spcPts val="0"/>
                        </a:spcAft>
                        <a:buClr>
                          <a:srgbClr val="FF0000"/>
                        </a:buClr>
                        <a:buSzPts val="2600"/>
                        <a:buFont typeface="Calibri"/>
                        <a:buNone/>
                      </a:pPr>
                      <a:r>
                        <a:rPr b="0" i="0" lang="en-IN" sz="2600" u="none" cap="none" strike="noStrike">
                          <a:solidFill>
                            <a:srgbClr val="FF0000"/>
                          </a:solidFill>
                          <a:latin typeface="Calibri"/>
                          <a:ea typeface="Calibri"/>
                          <a:cs typeface="Calibri"/>
                          <a:sym typeface="Calibri"/>
                        </a:rPr>
                        <a:t>×××</a:t>
                      </a:r>
                      <a:endParaRPr b="0" i="0" sz="2600" u="none" cap="none" strike="noStrike">
                        <a:solidFill>
                          <a:srgbClr val="FF0000"/>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Financial Leverage [FL]</a:t>
                      </a:r>
                      <a:r>
                        <a:rPr lang="en-IN" sz="2600">
                          <a:solidFill>
                            <a:srgbClr val="FF0000"/>
                          </a:solidFill>
                        </a:rPr>
                        <a:t> </a:t>
                      </a:r>
                      <a:r>
                        <a:rPr lang="en-IN" sz="2600">
                          <a:solidFill>
                            <a:srgbClr val="FF0000"/>
                          </a:solidFill>
                        </a:rPr>
                        <a:t>= [EBIT/EBT]</a:t>
                      </a:r>
                      <a:endParaRPr sz="2600">
                        <a:solidFill>
                          <a:srgbClr val="FF0000"/>
                        </a:solidFill>
                      </a:endParaRPr>
                    </a:p>
                  </a:txBody>
                  <a:tcPr marT="45725" marB="45725" marR="91450" marL="91450"/>
                </a:tc>
                <a:tc>
                  <a:txBody>
                    <a:bodyPr/>
                    <a:lstStyle/>
                    <a:p>
                      <a:pPr indent="0" lvl="0" marL="0" marR="0" rtl="0" algn="ctr">
                        <a:lnSpc>
                          <a:spcPct val="100000"/>
                        </a:lnSpc>
                        <a:spcBef>
                          <a:spcPts val="0"/>
                        </a:spcBef>
                        <a:spcAft>
                          <a:spcPts val="0"/>
                        </a:spcAft>
                        <a:buClr>
                          <a:srgbClr val="FF0000"/>
                        </a:buClr>
                        <a:buSzPts val="2600"/>
                        <a:buFont typeface="Calibri"/>
                        <a:buNone/>
                      </a:pPr>
                      <a:r>
                        <a:rPr b="0" i="0" lang="en-IN" sz="2600" u="none" cap="none" strike="noStrike">
                          <a:solidFill>
                            <a:srgbClr val="FF0000"/>
                          </a:solidFill>
                          <a:latin typeface="Calibri"/>
                          <a:ea typeface="Calibri"/>
                          <a:cs typeface="Calibri"/>
                          <a:sym typeface="Calibri"/>
                        </a:rPr>
                        <a:t>×××</a:t>
                      </a:r>
                      <a:endParaRPr b="0" i="0" sz="2600" u="none" cap="none" strike="noStrike">
                        <a:solidFill>
                          <a:srgbClr val="FF0000"/>
                        </a:solidFill>
                        <a:latin typeface="Calibri"/>
                        <a:ea typeface="Calibri"/>
                        <a:cs typeface="Calibri"/>
                        <a:sym typeface="Calibri"/>
                      </a:endParaRPr>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Combined Leverage [CL]</a:t>
                      </a:r>
                      <a:r>
                        <a:rPr lang="en-IN" sz="2600">
                          <a:solidFill>
                            <a:srgbClr val="FF0000"/>
                          </a:solidFill>
                        </a:rPr>
                        <a:t> </a:t>
                      </a:r>
                      <a:r>
                        <a:rPr lang="en-IN" sz="2600">
                          <a:solidFill>
                            <a:srgbClr val="FF0000"/>
                          </a:solidFill>
                        </a:rPr>
                        <a:t>= [Contribution/EBT] or [OL × FL]</a:t>
                      </a:r>
                      <a:endParaRPr sz="2600">
                        <a:solidFill>
                          <a:srgbClr val="FF0000"/>
                        </a:solidFill>
                      </a:endParaRPr>
                    </a:p>
                  </a:txBody>
                  <a:tcPr marT="45725" marB="45725" marR="91450" marL="91450"/>
                </a:tc>
                <a:tc>
                  <a:txBody>
                    <a:bodyPr/>
                    <a:lstStyle/>
                    <a:p>
                      <a:pPr indent="0" lvl="0" marL="0" marR="0" rtl="0" algn="ctr">
                        <a:lnSpc>
                          <a:spcPct val="100000"/>
                        </a:lnSpc>
                        <a:spcBef>
                          <a:spcPts val="0"/>
                        </a:spcBef>
                        <a:spcAft>
                          <a:spcPts val="0"/>
                        </a:spcAft>
                        <a:buClr>
                          <a:srgbClr val="FF0000"/>
                        </a:buClr>
                        <a:buSzPts val="2600"/>
                        <a:buFont typeface="Calibri"/>
                        <a:buNone/>
                      </a:pPr>
                      <a:r>
                        <a:rPr b="0" i="0" lang="en-IN" sz="2600" u="none" cap="none" strike="noStrike">
                          <a:solidFill>
                            <a:srgbClr val="FF0000"/>
                          </a:solidFill>
                          <a:latin typeface="Calibri"/>
                          <a:ea typeface="Calibri"/>
                          <a:cs typeface="Calibri"/>
                          <a:sym typeface="Calibri"/>
                        </a:rPr>
                        <a:t>×××</a:t>
                      </a:r>
                      <a:endParaRPr b="0" i="0" sz="2600" u="none" cap="none" strike="noStrike">
                        <a:solidFill>
                          <a:srgbClr val="FF0000"/>
                        </a:solidFill>
                        <a:latin typeface="Calibri"/>
                        <a:ea typeface="Calibri"/>
                        <a:cs typeface="Calibri"/>
                        <a:sym typeface="Calibri"/>
                      </a:endParaRPr>
                    </a:p>
                  </a:txBody>
                  <a:tcPr marT="45725" marB="45725" marR="91450" marL="91450"/>
                </a:tc>
              </a:tr>
            </a:tbl>
          </a:graphicData>
        </a:graphic>
      </p:graphicFrame>
      <p:pic>
        <p:nvPicPr>
          <p:cNvPr descr="Image result for sastra logo" id="198" name="Google Shape;198;p28"/>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9"/>
          <p:cNvSpPr txBox="1"/>
          <p:nvPr>
            <p:ph idx="1" type="body"/>
          </p:nvPr>
        </p:nvSpPr>
        <p:spPr>
          <a:xfrm>
            <a:off x="838200" y="983673"/>
            <a:ext cx="10515600" cy="519329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6. Effect or Conclusion:</a:t>
            </a:r>
            <a:endParaRPr/>
          </a:p>
          <a:p>
            <a:pPr indent="0" lvl="0" marL="0" rtl="0" algn="just">
              <a:lnSpc>
                <a:spcPct val="90000"/>
              </a:lnSpc>
              <a:spcBef>
                <a:spcPts val="1000"/>
              </a:spcBef>
              <a:spcAft>
                <a:spcPts val="0"/>
              </a:spcAft>
              <a:buClr>
                <a:schemeClr val="dk1"/>
              </a:buClr>
              <a:buSzPts val="2600"/>
              <a:buNone/>
            </a:pPr>
            <a:r>
              <a:rPr lang="en-IN" sz="2600"/>
              <a:t>The combined effect of different degrees of operating and financial leverage on the firm is explained as follows:</a:t>
            </a:r>
            <a:endParaRPr/>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204" name="Google Shape;204;p29"/>
          <p:cNvGraphicFramePr/>
          <p:nvPr/>
        </p:nvGraphicFramePr>
        <p:xfrm>
          <a:off x="838200" y="2409920"/>
          <a:ext cx="3000000" cy="3000000"/>
        </p:xfrm>
        <a:graphic>
          <a:graphicData uri="http://schemas.openxmlformats.org/drawingml/2006/table">
            <a:tbl>
              <a:tblPr bandRow="1" firstRow="1">
                <a:noFill/>
                <a:tableStyleId>{F13EBC90-8482-44D1-B74C-96AE8BA04B85}</a:tableStyleId>
              </a:tblPr>
              <a:tblGrid>
                <a:gridCol w="907475"/>
                <a:gridCol w="1731825"/>
                <a:gridCol w="2147450"/>
                <a:gridCol w="5728850"/>
              </a:tblGrid>
              <a:tr h="370850">
                <a:tc>
                  <a:txBody>
                    <a:bodyPr/>
                    <a:lstStyle/>
                    <a:p>
                      <a:pPr indent="0" lvl="0" marL="0" marR="0" rtl="0" algn="ctr">
                        <a:spcBef>
                          <a:spcPts val="0"/>
                        </a:spcBef>
                        <a:spcAft>
                          <a:spcPts val="0"/>
                        </a:spcAft>
                        <a:buNone/>
                      </a:pPr>
                      <a:r>
                        <a:rPr lang="en-IN" sz="2000"/>
                        <a:t>S.No</a:t>
                      </a:r>
                      <a:endParaRPr sz="2000"/>
                    </a:p>
                  </a:txBody>
                  <a:tcPr marT="45725" marB="45725" marR="91450" marL="91450"/>
                </a:tc>
                <a:tc>
                  <a:txBody>
                    <a:bodyPr/>
                    <a:lstStyle/>
                    <a:p>
                      <a:pPr indent="0" lvl="0" marL="0" marR="0" rtl="0" algn="ctr">
                        <a:spcBef>
                          <a:spcPts val="0"/>
                        </a:spcBef>
                        <a:spcAft>
                          <a:spcPts val="0"/>
                        </a:spcAft>
                        <a:buNone/>
                      </a:pPr>
                      <a:r>
                        <a:rPr lang="en-IN" sz="2000"/>
                        <a:t>Operating </a:t>
                      </a:r>
                      <a:endParaRPr/>
                    </a:p>
                    <a:p>
                      <a:pPr indent="0" lvl="0" marL="0" marR="0" rtl="0" algn="ctr">
                        <a:spcBef>
                          <a:spcPts val="0"/>
                        </a:spcBef>
                        <a:spcAft>
                          <a:spcPts val="0"/>
                        </a:spcAft>
                        <a:buNone/>
                      </a:pPr>
                      <a:r>
                        <a:rPr lang="en-IN" sz="2000"/>
                        <a:t>Leverage </a:t>
                      </a:r>
                      <a:endParaRPr sz="2000"/>
                    </a:p>
                  </a:txBody>
                  <a:tcPr marT="45725" marB="45725" marR="91450" marL="91450"/>
                </a:tc>
                <a:tc>
                  <a:txBody>
                    <a:bodyPr/>
                    <a:lstStyle/>
                    <a:p>
                      <a:pPr indent="0" lvl="0" marL="0" marR="0" rtl="0" algn="ctr">
                        <a:spcBef>
                          <a:spcPts val="0"/>
                        </a:spcBef>
                        <a:spcAft>
                          <a:spcPts val="0"/>
                        </a:spcAft>
                        <a:buNone/>
                      </a:pPr>
                      <a:r>
                        <a:rPr lang="en-IN" sz="2000"/>
                        <a:t>Financial</a:t>
                      </a:r>
                      <a:r>
                        <a:rPr lang="en-IN" sz="2000"/>
                        <a:t> </a:t>
                      </a:r>
                      <a:endParaRPr/>
                    </a:p>
                    <a:p>
                      <a:pPr indent="0" lvl="0" marL="0" marR="0" rtl="0" algn="ctr">
                        <a:spcBef>
                          <a:spcPts val="0"/>
                        </a:spcBef>
                        <a:spcAft>
                          <a:spcPts val="0"/>
                        </a:spcAft>
                        <a:buNone/>
                      </a:pPr>
                      <a:r>
                        <a:rPr lang="en-IN" sz="2000"/>
                        <a:t>Leverage </a:t>
                      </a:r>
                      <a:endParaRPr sz="2000"/>
                    </a:p>
                  </a:txBody>
                  <a:tcPr marT="45725" marB="45725" marR="91450" marL="91450"/>
                </a:tc>
                <a:tc>
                  <a:txBody>
                    <a:bodyPr/>
                    <a:lstStyle/>
                    <a:p>
                      <a:pPr indent="0" lvl="0" marL="0" marR="0" rtl="0" algn="ctr">
                        <a:spcBef>
                          <a:spcPts val="0"/>
                        </a:spcBef>
                        <a:spcAft>
                          <a:spcPts val="0"/>
                        </a:spcAft>
                        <a:buNone/>
                      </a:pPr>
                      <a:r>
                        <a:rPr lang="en-IN" sz="2000"/>
                        <a:t>Effect/conclusion</a:t>
                      </a:r>
                      <a:endParaRPr sz="2000"/>
                    </a:p>
                  </a:txBody>
                  <a:tcPr marT="45725" marB="45725" marR="91450" marL="91450"/>
                </a:tc>
              </a:tr>
              <a:tr h="370850">
                <a:tc>
                  <a:txBody>
                    <a:bodyPr/>
                    <a:lstStyle/>
                    <a:p>
                      <a:pPr indent="0" lvl="0" marL="0" marR="0" rtl="0" algn="ctr">
                        <a:spcBef>
                          <a:spcPts val="0"/>
                        </a:spcBef>
                        <a:spcAft>
                          <a:spcPts val="0"/>
                        </a:spcAft>
                        <a:buNone/>
                      </a:pPr>
                      <a:r>
                        <a:rPr lang="en-IN" sz="2600"/>
                        <a:t>1.</a:t>
                      </a:r>
                      <a:endParaRPr sz="2600"/>
                    </a:p>
                  </a:txBody>
                  <a:tcPr marT="45725" marB="45725" marR="91450" marL="91450"/>
                </a:tc>
                <a:tc>
                  <a:txBody>
                    <a:bodyPr/>
                    <a:lstStyle/>
                    <a:p>
                      <a:pPr indent="0" lvl="0" marL="0" marR="0" rtl="0" algn="ctr">
                        <a:spcBef>
                          <a:spcPts val="0"/>
                        </a:spcBef>
                        <a:spcAft>
                          <a:spcPts val="0"/>
                        </a:spcAft>
                        <a:buNone/>
                      </a:pPr>
                      <a:r>
                        <a:rPr lang="en-IN" sz="2600"/>
                        <a:t>High</a:t>
                      </a:r>
                      <a:endParaRPr sz="2600"/>
                    </a:p>
                  </a:txBody>
                  <a:tcPr marT="45725" marB="45725" marR="91450" marL="91450"/>
                </a:tc>
                <a:tc>
                  <a:txBody>
                    <a:bodyPr/>
                    <a:lstStyle/>
                    <a:p>
                      <a:pPr indent="0" lvl="0" marL="0" marR="0" rtl="0" algn="ctr">
                        <a:spcBef>
                          <a:spcPts val="0"/>
                        </a:spcBef>
                        <a:spcAft>
                          <a:spcPts val="0"/>
                        </a:spcAft>
                        <a:buNone/>
                      </a:pPr>
                      <a:r>
                        <a:rPr lang="en-IN" sz="2600"/>
                        <a:t>High </a:t>
                      </a:r>
                      <a:endParaRPr sz="2600"/>
                    </a:p>
                  </a:txBody>
                  <a:tcPr marT="45725" marB="45725" marR="91450" marL="91450"/>
                </a:tc>
                <a:tc>
                  <a:txBody>
                    <a:bodyPr/>
                    <a:lstStyle/>
                    <a:p>
                      <a:pPr indent="0" lvl="0" marL="0" marR="0" rtl="0" algn="l">
                        <a:spcBef>
                          <a:spcPts val="0"/>
                        </a:spcBef>
                        <a:spcAft>
                          <a:spcPts val="0"/>
                        </a:spcAft>
                        <a:buNone/>
                      </a:pPr>
                      <a:r>
                        <a:rPr lang="en-IN" sz="2600"/>
                        <a:t>Very risk. High interest outflow, not commensurate</a:t>
                      </a:r>
                      <a:r>
                        <a:rPr lang="en-IN" sz="2600"/>
                        <a:t> with earnings.</a:t>
                      </a:r>
                      <a:endParaRPr sz="2600"/>
                    </a:p>
                  </a:txBody>
                  <a:tcPr marT="45725" marB="45725" marR="91450" marL="91450"/>
                </a:tc>
              </a:tr>
              <a:tr h="370850">
                <a:tc>
                  <a:txBody>
                    <a:bodyPr/>
                    <a:lstStyle/>
                    <a:p>
                      <a:pPr indent="0" lvl="0" marL="0" marR="0" rtl="0" algn="ctr">
                        <a:spcBef>
                          <a:spcPts val="0"/>
                        </a:spcBef>
                        <a:spcAft>
                          <a:spcPts val="0"/>
                        </a:spcAft>
                        <a:buNone/>
                      </a:pPr>
                      <a:r>
                        <a:rPr lang="en-IN" sz="2600"/>
                        <a:t>2.</a:t>
                      </a:r>
                      <a:endParaRPr sz="2600"/>
                    </a:p>
                  </a:txBody>
                  <a:tcPr marT="45725" marB="45725" marR="91450" marL="91450"/>
                </a:tc>
                <a:tc>
                  <a:txBody>
                    <a:bodyPr/>
                    <a:lstStyle/>
                    <a:p>
                      <a:pPr indent="0" lvl="0" marL="0" marR="0" rtl="0" algn="ctr">
                        <a:spcBef>
                          <a:spcPts val="0"/>
                        </a:spcBef>
                        <a:spcAft>
                          <a:spcPts val="0"/>
                        </a:spcAft>
                        <a:buNone/>
                      </a:pPr>
                      <a:r>
                        <a:rPr lang="en-IN" sz="2600"/>
                        <a:t>High </a:t>
                      </a:r>
                      <a:endParaRPr sz="2600"/>
                    </a:p>
                  </a:txBody>
                  <a:tcPr marT="45725" marB="45725" marR="91450" marL="91450"/>
                </a:tc>
                <a:tc>
                  <a:txBody>
                    <a:bodyPr/>
                    <a:lstStyle/>
                    <a:p>
                      <a:pPr indent="0" lvl="0" marL="0" marR="0" rtl="0" algn="ctr">
                        <a:spcBef>
                          <a:spcPts val="0"/>
                        </a:spcBef>
                        <a:spcAft>
                          <a:spcPts val="0"/>
                        </a:spcAft>
                        <a:buNone/>
                      </a:pPr>
                      <a:r>
                        <a:rPr lang="en-IN" sz="2600"/>
                        <a:t>Low</a:t>
                      </a:r>
                      <a:endParaRPr sz="2600"/>
                    </a:p>
                  </a:txBody>
                  <a:tcPr marT="45725" marB="45725" marR="91450" marL="91450"/>
                </a:tc>
                <a:tc>
                  <a:txBody>
                    <a:bodyPr/>
                    <a:lstStyle/>
                    <a:p>
                      <a:pPr indent="0" lvl="0" marL="0" marR="0" rtl="0" algn="l">
                        <a:spcBef>
                          <a:spcPts val="0"/>
                        </a:spcBef>
                        <a:spcAft>
                          <a:spcPts val="0"/>
                        </a:spcAft>
                        <a:buNone/>
                      </a:pPr>
                      <a:r>
                        <a:rPr lang="en-IN" sz="2600"/>
                        <a:t>Sales still unsatisfactory</a:t>
                      </a:r>
                      <a:r>
                        <a:rPr lang="en-IN" sz="2600"/>
                        <a:t> in relation to the fixed costs to be absorbed.</a:t>
                      </a:r>
                      <a:endParaRPr sz="2600"/>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3.</a:t>
                      </a:r>
                      <a:endParaRPr sz="26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600">
                          <a:solidFill>
                            <a:srgbClr val="FF0000"/>
                          </a:solidFill>
                        </a:rPr>
                        <a:t>Low</a:t>
                      </a:r>
                      <a:endParaRPr sz="26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600">
                          <a:solidFill>
                            <a:srgbClr val="FF0000"/>
                          </a:solidFill>
                        </a:rPr>
                        <a:t>High</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Ideal</a:t>
                      </a:r>
                      <a:r>
                        <a:rPr lang="en-IN" sz="2600">
                          <a:solidFill>
                            <a:srgbClr val="FF0000"/>
                          </a:solidFill>
                        </a:rPr>
                        <a:t> situation for profit maximisation.</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t>4.</a:t>
                      </a:r>
                      <a:endParaRPr sz="2600"/>
                    </a:p>
                  </a:txBody>
                  <a:tcPr marT="45725" marB="45725" marR="91450" marL="91450"/>
                </a:tc>
                <a:tc>
                  <a:txBody>
                    <a:bodyPr/>
                    <a:lstStyle/>
                    <a:p>
                      <a:pPr indent="0" lvl="0" marL="0" marR="0" rtl="0" algn="ctr">
                        <a:spcBef>
                          <a:spcPts val="0"/>
                        </a:spcBef>
                        <a:spcAft>
                          <a:spcPts val="0"/>
                        </a:spcAft>
                        <a:buNone/>
                      </a:pPr>
                      <a:r>
                        <a:rPr lang="en-IN" sz="2600"/>
                        <a:t>Low</a:t>
                      </a:r>
                      <a:endParaRPr sz="2600"/>
                    </a:p>
                  </a:txBody>
                  <a:tcPr marT="45725" marB="45725" marR="91450" marL="91450"/>
                </a:tc>
                <a:tc>
                  <a:txBody>
                    <a:bodyPr/>
                    <a:lstStyle/>
                    <a:p>
                      <a:pPr indent="0" lvl="0" marL="0" marR="0" rtl="0" algn="ctr">
                        <a:spcBef>
                          <a:spcPts val="0"/>
                        </a:spcBef>
                        <a:spcAft>
                          <a:spcPts val="0"/>
                        </a:spcAft>
                        <a:buNone/>
                      </a:pPr>
                      <a:r>
                        <a:rPr lang="en-IN" sz="2600"/>
                        <a:t>Low</a:t>
                      </a:r>
                      <a:endParaRPr sz="2600"/>
                    </a:p>
                  </a:txBody>
                  <a:tcPr marT="45725" marB="45725" marR="91450" marL="91450"/>
                </a:tc>
                <a:tc>
                  <a:txBody>
                    <a:bodyPr/>
                    <a:lstStyle/>
                    <a:p>
                      <a:pPr indent="0" lvl="0" marL="0" marR="0" rtl="0" algn="l">
                        <a:spcBef>
                          <a:spcPts val="0"/>
                        </a:spcBef>
                        <a:spcAft>
                          <a:spcPts val="0"/>
                        </a:spcAft>
                        <a:buNone/>
                      </a:pPr>
                      <a:r>
                        <a:rPr lang="en-IN" sz="2600"/>
                        <a:t>Management</a:t>
                      </a:r>
                      <a:r>
                        <a:rPr lang="en-IN" sz="2600"/>
                        <a:t> overcautious </a:t>
                      </a:r>
                      <a:endParaRPr sz="2600"/>
                    </a:p>
                  </a:txBody>
                  <a:tcPr marT="45725" marB="45725" marR="91450" marL="91450"/>
                </a:tc>
              </a:tr>
            </a:tbl>
          </a:graphicData>
        </a:graphic>
      </p:graphicFrame>
      <p:pic>
        <p:nvPicPr>
          <p:cNvPr descr="Image result for sastra logo" id="205" name="Google Shape;205;p29"/>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0"/>
          <p:cNvSpPr txBox="1"/>
          <p:nvPr>
            <p:ph idx="1" type="body"/>
          </p:nvPr>
        </p:nvSpPr>
        <p:spPr>
          <a:xfrm>
            <a:off x="838200" y="969818"/>
            <a:ext cx="10515600" cy="520714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Solved problems:</a:t>
            </a:r>
            <a:endParaRPr/>
          </a:p>
          <a:p>
            <a:pPr indent="0" lvl="0" marL="0" rtl="0" algn="just">
              <a:lnSpc>
                <a:spcPct val="90000"/>
              </a:lnSpc>
              <a:spcBef>
                <a:spcPts val="1000"/>
              </a:spcBef>
              <a:spcAft>
                <a:spcPts val="0"/>
              </a:spcAft>
              <a:buClr>
                <a:schemeClr val="dk1"/>
              </a:buClr>
              <a:buSzPts val="2600"/>
              <a:buNone/>
            </a:pPr>
            <a:r>
              <a:rPr lang="en-IN" sz="2600"/>
              <a:t>P1.From the following information find out operating, financial and combined leverages. </a:t>
            </a:r>
            <a:endParaRPr sz="2600"/>
          </a:p>
          <a:p>
            <a:pPr indent="0" lvl="0" marL="0" rtl="0" algn="just">
              <a:lnSpc>
                <a:spcPct val="90000"/>
              </a:lnSpc>
              <a:spcBef>
                <a:spcPts val="1000"/>
              </a:spcBef>
              <a:spcAft>
                <a:spcPts val="0"/>
              </a:spcAft>
              <a:buClr>
                <a:schemeClr val="dk1"/>
              </a:buClr>
              <a:buSzPts val="2600"/>
              <a:buNone/>
            </a:pPr>
            <a:r>
              <a:rPr lang="en-IN" sz="2600"/>
              <a:t>Sales Rs. 1,00,000 </a:t>
            </a:r>
            <a:endParaRPr/>
          </a:p>
          <a:p>
            <a:pPr indent="0" lvl="0" marL="0" rtl="0" algn="just">
              <a:lnSpc>
                <a:spcPct val="90000"/>
              </a:lnSpc>
              <a:spcBef>
                <a:spcPts val="1000"/>
              </a:spcBef>
              <a:spcAft>
                <a:spcPts val="0"/>
              </a:spcAft>
              <a:buClr>
                <a:schemeClr val="dk1"/>
              </a:buClr>
              <a:buSzPts val="2600"/>
              <a:buNone/>
            </a:pPr>
            <a:r>
              <a:rPr lang="en-IN" sz="2600"/>
              <a:t>Variable Cost Rs. 60,000 </a:t>
            </a:r>
            <a:endParaRPr/>
          </a:p>
          <a:p>
            <a:pPr indent="0" lvl="0" marL="0" rtl="0" algn="just">
              <a:lnSpc>
                <a:spcPct val="90000"/>
              </a:lnSpc>
              <a:spcBef>
                <a:spcPts val="1000"/>
              </a:spcBef>
              <a:spcAft>
                <a:spcPts val="0"/>
              </a:spcAft>
              <a:buClr>
                <a:schemeClr val="dk1"/>
              </a:buClr>
              <a:buSzPts val="2600"/>
              <a:buNone/>
            </a:pPr>
            <a:r>
              <a:rPr lang="en-IN" sz="2600"/>
              <a:t>Fixed Cost Rs. 20,000 </a:t>
            </a:r>
            <a:endParaRPr/>
          </a:p>
          <a:p>
            <a:pPr indent="0" lvl="0" marL="0" rtl="0" algn="just">
              <a:lnSpc>
                <a:spcPct val="90000"/>
              </a:lnSpc>
              <a:spcBef>
                <a:spcPts val="1000"/>
              </a:spcBef>
              <a:spcAft>
                <a:spcPts val="0"/>
              </a:spcAft>
              <a:buClr>
                <a:schemeClr val="dk1"/>
              </a:buClr>
              <a:buSzPts val="2600"/>
              <a:buNone/>
            </a:pPr>
            <a:r>
              <a:rPr lang="en-IN" sz="2600"/>
              <a:t>Interest Rs. 10,000. </a:t>
            </a:r>
            <a:endParaRPr sz="2600"/>
          </a:p>
        </p:txBody>
      </p:sp>
      <p:pic>
        <p:nvPicPr>
          <p:cNvPr descr="Image result for sastra logo" id="211" name="Google Shape;211;p30"/>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1"/>
          <p:cNvSpPr txBox="1"/>
          <p:nvPr>
            <p:ph idx="1" type="body"/>
          </p:nvPr>
        </p:nvSpPr>
        <p:spPr>
          <a:xfrm>
            <a:off x="838200" y="886691"/>
            <a:ext cx="10515600" cy="576349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Solution:                          Statement showing leverages</a:t>
            </a:r>
            <a:endParaRPr/>
          </a:p>
          <a:p>
            <a:pPr indent="0" lvl="0" marL="0" rtl="0" algn="l">
              <a:lnSpc>
                <a:spcPct val="90000"/>
              </a:lnSpc>
              <a:spcBef>
                <a:spcPts val="1000"/>
              </a:spcBef>
              <a:spcAft>
                <a:spcPts val="0"/>
              </a:spcAft>
              <a:buClr>
                <a:schemeClr val="dk1"/>
              </a:buClr>
              <a:buSzPts val="2800"/>
              <a:buNone/>
            </a:pPr>
            <a:r>
              <a:t/>
            </a:r>
            <a:endParaRPr/>
          </a:p>
        </p:txBody>
      </p:sp>
      <p:graphicFrame>
        <p:nvGraphicFramePr>
          <p:cNvPr id="217" name="Google Shape;217;p31"/>
          <p:cNvGraphicFramePr/>
          <p:nvPr/>
        </p:nvGraphicFramePr>
        <p:xfrm>
          <a:off x="838200" y="1301556"/>
          <a:ext cx="3000000" cy="3000000"/>
        </p:xfrm>
        <a:graphic>
          <a:graphicData uri="http://schemas.openxmlformats.org/drawingml/2006/table">
            <a:tbl>
              <a:tblPr bandRow="1" firstRow="1">
                <a:noFill/>
                <a:tableStyleId>{F13EBC90-8482-44D1-B74C-96AE8BA04B85}</a:tableStyleId>
              </a:tblPr>
              <a:tblGrid>
                <a:gridCol w="810500"/>
                <a:gridCol w="8312725"/>
                <a:gridCol w="1392375"/>
              </a:tblGrid>
              <a:tr h="347125">
                <a:tc>
                  <a:txBody>
                    <a:bodyPr/>
                    <a:lstStyle/>
                    <a:p>
                      <a:pPr indent="0" lvl="0" marL="0" marR="0" rtl="0" algn="ctr">
                        <a:spcBef>
                          <a:spcPts val="0"/>
                        </a:spcBef>
                        <a:spcAft>
                          <a:spcPts val="0"/>
                        </a:spcAft>
                        <a:buNone/>
                      </a:pPr>
                      <a:r>
                        <a:t/>
                      </a:r>
                      <a:endParaRPr sz="20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000"/>
                        <a:t>Particulars </a:t>
                      </a:r>
                      <a:endParaRPr sz="2000"/>
                    </a:p>
                  </a:txBody>
                  <a:tcPr marT="45725" marB="45725" marR="91450" marL="91450"/>
                </a:tc>
                <a:tc>
                  <a:txBody>
                    <a:bodyPr/>
                    <a:lstStyle/>
                    <a:p>
                      <a:pPr indent="0" lvl="0" marL="0" marR="0" rtl="0" algn="r">
                        <a:spcBef>
                          <a:spcPts val="0"/>
                        </a:spcBef>
                        <a:spcAft>
                          <a:spcPts val="0"/>
                        </a:spcAft>
                        <a:buNone/>
                      </a:pPr>
                      <a:r>
                        <a:rPr lang="en-IN" sz="2000"/>
                        <a:t>Rs.</a:t>
                      </a:r>
                      <a:endParaRPr sz="20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Sales</a:t>
                      </a:r>
                      <a:endParaRPr/>
                    </a:p>
                  </a:txBody>
                  <a:tcPr marT="45725" marB="45725" marR="91450" marL="91450"/>
                </a:tc>
                <a:tc>
                  <a:txBody>
                    <a:bodyPr/>
                    <a:lstStyle/>
                    <a:p>
                      <a:pPr indent="0" lvl="0" marL="0" marR="0" rtl="0" algn="r">
                        <a:spcBef>
                          <a:spcPts val="0"/>
                        </a:spcBef>
                        <a:spcAft>
                          <a:spcPts val="0"/>
                        </a:spcAft>
                        <a:buNone/>
                      </a:pPr>
                      <a:r>
                        <a:rPr lang="en-IN" sz="2600"/>
                        <a:t>1,00,000</a:t>
                      </a:r>
                      <a:endParaRPr sz="2600"/>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Variable cost</a:t>
                      </a:r>
                      <a:endParaRPr sz="2600"/>
                    </a:p>
                  </a:txBody>
                  <a:tcPr marT="45725" marB="45725" marR="91450" marL="91450"/>
                </a:tc>
                <a:tc>
                  <a:txBody>
                    <a:bodyPr/>
                    <a:lstStyle/>
                    <a:p>
                      <a:pPr indent="0" lvl="0" marL="0" marR="0" rtl="0" algn="r">
                        <a:spcBef>
                          <a:spcPts val="0"/>
                        </a:spcBef>
                        <a:spcAft>
                          <a:spcPts val="0"/>
                        </a:spcAft>
                        <a:buNone/>
                      </a:pPr>
                      <a:r>
                        <a:rPr lang="en-IN" sz="2600"/>
                        <a:t>60,000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Contribution</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40,000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Fixed cost</a:t>
                      </a:r>
                      <a:endParaRPr sz="2600"/>
                    </a:p>
                  </a:txBody>
                  <a:tcPr marT="45725" marB="45725" marR="91450" marL="91450"/>
                </a:tc>
                <a:tc>
                  <a:txBody>
                    <a:bodyPr/>
                    <a:lstStyle/>
                    <a:p>
                      <a:pPr indent="0" lvl="0" marL="0" marR="0" rtl="0" algn="r">
                        <a:spcBef>
                          <a:spcPts val="0"/>
                        </a:spcBef>
                        <a:spcAft>
                          <a:spcPts val="0"/>
                        </a:spcAft>
                        <a:buNone/>
                      </a:pPr>
                      <a:r>
                        <a:rPr lang="en-IN" sz="2600"/>
                        <a:t>20,000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EBIT</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20,000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Interest</a:t>
                      </a:r>
                      <a:endParaRPr sz="2600"/>
                    </a:p>
                  </a:txBody>
                  <a:tcPr marT="45725" marB="45725" marR="91450" marL="91450"/>
                </a:tc>
                <a:tc>
                  <a:txBody>
                    <a:bodyPr/>
                    <a:lstStyle/>
                    <a:p>
                      <a:pPr indent="0" lvl="0" marL="0" marR="0" rtl="0" algn="r">
                        <a:spcBef>
                          <a:spcPts val="0"/>
                        </a:spcBef>
                        <a:spcAft>
                          <a:spcPts val="0"/>
                        </a:spcAft>
                        <a:buNone/>
                      </a:pPr>
                      <a:r>
                        <a:rPr lang="en-IN" sz="2600"/>
                        <a:t>10,000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EBT</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10,000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Operating leverage = C/EBIT = Rs. 40,000 / Rs. 20,000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2 Times </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Financial</a:t>
                      </a:r>
                      <a:r>
                        <a:rPr lang="en-IN" sz="2600">
                          <a:solidFill>
                            <a:srgbClr val="FF0000"/>
                          </a:solidFill>
                        </a:rPr>
                        <a:t> leverage  = EBIT/EBT = Rs. 20,000 / Rs. 10,000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2 Times </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Combined leverage = C/EBT = Rs. 40,000 / Rs. 10,000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4 Times</a:t>
                      </a:r>
                      <a:endParaRPr sz="2600">
                        <a:solidFill>
                          <a:srgbClr val="FF0000"/>
                        </a:solidFill>
                      </a:endParaRPr>
                    </a:p>
                  </a:txBody>
                  <a:tcPr marT="45725" marB="45725" marR="91450" marL="91450"/>
                </a:tc>
              </a:tr>
            </a:tbl>
          </a:graphicData>
        </a:graphic>
      </p:graphicFrame>
      <p:pic>
        <p:nvPicPr>
          <p:cNvPr descr="Image result for sastra logo" id="218" name="Google Shape;218;p31"/>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2"/>
          <p:cNvSpPr txBox="1"/>
          <p:nvPr>
            <p:ph idx="1" type="body"/>
          </p:nvPr>
        </p:nvSpPr>
        <p:spPr>
          <a:xfrm>
            <a:off x="838200" y="856343"/>
            <a:ext cx="10515600" cy="532062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P2. Arvind Ltd. has the following information. Calculate financial leverage, operating leverage, and combined leverage. </a:t>
            </a:r>
            <a:endParaRPr sz="2600"/>
          </a:p>
          <a:p>
            <a:pPr indent="0" lvl="0" marL="0" rtl="0" algn="just">
              <a:lnSpc>
                <a:spcPct val="90000"/>
              </a:lnSpc>
              <a:spcBef>
                <a:spcPts val="1000"/>
              </a:spcBef>
              <a:spcAft>
                <a:spcPts val="0"/>
              </a:spcAft>
              <a:buClr>
                <a:schemeClr val="dk1"/>
              </a:buClr>
              <a:buSzPts val="2600"/>
              <a:buNone/>
            </a:pPr>
            <a:r>
              <a:rPr lang="en-IN" sz="2600"/>
              <a:t>Sales 50,000 units @Rs. 10 each </a:t>
            </a:r>
            <a:endParaRPr sz="2600"/>
          </a:p>
          <a:p>
            <a:pPr indent="0" lvl="0" marL="0" rtl="0" algn="just">
              <a:lnSpc>
                <a:spcPct val="90000"/>
              </a:lnSpc>
              <a:spcBef>
                <a:spcPts val="1000"/>
              </a:spcBef>
              <a:spcAft>
                <a:spcPts val="0"/>
              </a:spcAft>
              <a:buClr>
                <a:schemeClr val="dk1"/>
              </a:buClr>
              <a:buSzPts val="2600"/>
              <a:buNone/>
            </a:pPr>
            <a:r>
              <a:rPr lang="en-IN" sz="2600"/>
              <a:t>Variable cost @ Rs. 6 Per Unit </a:t>
            </a:r>
            <a:endParaRPr sz="2600"/>
          </a:p>
          <a:p>
            <a:pPr indent="0" lvl="0" marL="0" rtl="0" algn="just">
              <a:lnSpc>
                <a:spcPct val="90000"/>
              </a:lnSpc>
              <a:spcBef>
                <a:spcPts val="1000"/>
              </a:spcBef>
              <a:spcAft>
                <a:spcPts val="0"/>
              </a:spcAft>
              <a:buClr>
                <a:schemeClr val="dk1"/>
              </a:buClr>
              <a:buSzPts val="2600"/>
              <a:buNone/>
            </a:pPr>
            <a:r>
              <a:rPr lang="en-IN" sz="2600"/>
              <a:t>Fixed Cost  Rs. 1,00,000 </a:t>
            </a:r>
            <a:endParaRPr sz="2600"/>
          </a:p>
          <a:p>
            <a:pPr indent="0" lvl="0" marL="0" rtl="0" algn="just">
              <a:lnSpc>
                <a:spcPct val="90000"/>
              </a:lnSpc>
              <a:spcBef>
                <a:spcPts val="1000"/>
              </a:spcBef>
              <a:spcAft>
                <a:spcPts val="0"/>
              </a:spcAft>
              <a:buClr>
                <a:schemeClr val="dk1"/>
              </a:buClr>
              <a:buSzPts val="2600"/>
              <a:buNone/>
            </a:pPr>
            <a:r>
              <a:rPr lang="en-IN" sz="2600"/>
              <a:t>Interest 8% of Rs.5,00,000</a:t>
            </a:r>
            <a:endParaRPr sz="2600"/>
          </a:p>
        </p:txBody>
      </p:sp>
      <p:pic>
        <p:nvPicPr>
          <p:cNvPr descr="Image result for sastra logo" id="224" name="Google Shape;224;p32"/>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3"/>
          <p:cNvSpPr txBox="1"/>
          <p:nvPr>
            <p:ph idx="1" type="body"/>
          </p:nvPr>
        </p:nvSpPr>
        <p:spPr>
          <a:xfrm>
            <a:off x="838200" y="812800"/>
            <a:ext cx="10515600" cy="567339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Solution:                         Statement showing leverages</a:t>
            </a:r>
            <a:endParaRPr/>
          </a:p>
          <a:p>
            <a:pPr indent="0" lvl="0" marL="0" rtl="0" algn="l">
              <a:lnSpc>
                <a:spcPct val="90000"/>
              </a:lnSpc>
              <a:spcBef>
                <a:spcPts val="1000"/>
              </a:spcBef>
              <a:spcAft>
                <a:spcPts val="0"/>
              </a:spcAft>
              <a:buClr>
                <a:schemeClr val="dk1"/>
              </a:buClr>
              <a:buSzPts val="2800"/>
              <a:buNone/>
            </a:pPr>
            <a:r>
              <a:t/>
            </a:r>
            <a:endParaRPr>
              <a:solidFill>
                <a:srgbClr val="FF0000"/>
              </a:solidFill>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graphicFrame>
        <p:nvGraphicFramePr>
          <p:cNvPr id="230" name="Google Shape;230;p33"/>
          <p:cNvGraphicFramePr/>
          <p:nvPr/>
        </p:nvGraphicFramePr>
        <p:xfrm>
          <a:off x="838200" y="1213151"/>
          <a:ext cx="3000000" cy="3000000"/>
        </p:xfrm>
        <a:graphic>
          <a:graphicData uri="http://schemas.openxmlformats.org/drawingml/2006/table">
            <a:tbl>
              <a:tblPr bandRow="1" firstRow="1">
                <a:noFill/>
                <a:tableStyleId>{F13EBC90-8482-44D1-B74C-96AE8BA04B85}</a:tableStyleId>
              </a:tblPr>
              <a:tblGrid>
                <a:gridCol w="755075"/>
                <a:gridCol w="8058725"/>
                <a:gridCol w="1701800"/>
              </a:tblGrid>
              <a:tr h="370850">
                <a:tc>
                  <a:txBody>
                    <a:bodyPr/>
                    <a:lstStyle/>
                    <a:p>
                      <a:pPr indent="0" lvl="0" marL="0" marR="0" rtl="0" algn="ctr">
                        <a:spcBef>
                          <a:spcPts val="0"/>
                        </a:spcBef>
                        <a:spcAft>
                          <a:spcPts val="0"/>
                        </a:spcAft>
                        <a:buNone/>
                      </a:pPr>
                      <a:r>
                        <a:t/>
                      </a:r>
                      <a:endParaRPr sz="20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000"/>
                        <a:t>Particulars </a:t>
                      </a:r>
                      <a:endParaRPr sz="2000"/>
                    </a:p>
                  </a:txBody>
                  <a:tcPr marT="45725" marB="45725" marR="91450" marL="91450"/>
                </a:tc>
                <a:tc>
                  <a:txBody>
                    <a:bodyPr/>
                    <a:lstStyle/>
                    <a:p>
                      <a:pPr indent="0" lvl="0" marL="0" marR="0" rtl="0" algn="r">
                        <a:spcBef>
                          <a:spcPts val="0"/>
                        </a:spcBef>
                        <a:spcAft>
                          <a:spcPts val="0"/>
                        </a:spcAft>
                        <a:buNone/>
                      </a:pPr>
                      <a:r>
                        <a:rPr lang="en-IN" sz="2000"/>
                        <a:t>Rs.</a:t>
                      </a:r>
                      <a:endParaRPr sz="20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Sales [50,000 units @ Rs. 10 each]</a:t>
                      </a:r>
                      <a:endParaRPr/>
                    </a:p>
                  </a:txBody>
                  <a:tcPr marT="45725" marB="45725" marR="91450" marL="91450"/>
                </a:tc>
                <a:tc>
                  <a:txBody>
                    <a:bodyPr/>
                    <a:lstStyle/>
                    <a:p>
                      <a:pPr indent="0" lvl="0" marL="0" marR="0" rtl="0" algn="r">
                        <a:spcBef>
                          <a:spcPts val="0"/>
                        </a:spcBef>
                        <a:spcAft>
                          <a:spcPts val="0"/>
                        </a:spcAft>
                        <a:buNone/>
                      </a:pPr>
                      <a:r>
                        <a:rPr lang="en-IN" sz="2600"/>
                        <a:t>5,00,000</a:t>
                      </a:r>
                      <a:endParaRPr sz="2600"/>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Variable cost @ Rs. 6 per unit [50,000 units × Rs. 6 ]</a:t>
                      </a:r>
                      <a:endParaRPr sz="2600"/>
                    </a:p>
                  </a:txBody>
                  <a:tcPr marT="45725" marB="45725" marR="91450" marL="91450"/>
                </a:tc>
                <a:tc>
                  <a:txBody>
                    <a:bodyPr/>
                    <a:lstStyle/>
                    <a:p>
                      <a:pPr indent="0" lvl="0" marL="0" marR="0" rtl="0" algn="r">
                        <a:spcBef>
                          <a:spcPts val="0"/>
                        </a:spcBef>
                        <a:spcAft>
                          <a:spcPts val="0"/>
                        </a:spcAft>
                        <a:buNone/>
                      </a:pPr>
                      <a:r>
                        <a:rPr lang="en-IN" sz="2600"/>
                        <a:t>3,00,000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Contribution</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2,00,000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Fixed cost</a:t>
                      </a:r>
                      <a:endParaRPr sz="2600"/>
                    </a:p>
                  </a:txBody>
                  <a:tcPr marT="45725" marB="45725" marR="91450" marL="91450"/>
                </a:tc>
                <a:tc>
                  <a:txBody>
                    <a:bodyPr/>
                    <a:lstStyle/>
                    <a:p>
                      <a:pPr indent="0" lvl="0" marL="0" marR="0" rtl="0" algn="r">
                        <a:spcBef>
                          <a:spcPts val="0"/>
                        </a:spcBef>
                        <a:spcAft>
                          <a:spcPts val="0"/>
                        </a:spcAft>
                        <a:buNone/>
                      </a:pPr>
                      <a:r>
                        <a:rPr lang="en-IN" sz="2600"/>
                        <a:t>1,00,000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EBIT</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1,00,000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Interest @ 8% of Rs. 5,00,000</a:t>
                      </a:r>
                      <a:endParaRPr sz="2600"/>
                    </a:p>
                  </a:txBody>
                  <a:tcPr marT="45725" marB="45725" marR="91450" marL="91450"/>
                </a:tc>
                <a:tc>
                  <a:txBody>
                    <a:bodyPr/>
                    <a:lstStyle/>
                    <a:p>
                      <a:pPr indent="0" lvl="0" marL="0" marR="0" rtl="0" algn="r">
                        <a:spcBef>
                          <a:spcPts val="0"/>
                        </a:spcBef>
                        <a:spcAft>
                          <a:spcPts val="0"/>
                        </a:spcAft>
                        <a:buNone/>
                      </a:pPr>
                      <a:r>
                        <a:rPr lang="en-IN" sz="2600"/>
                        <a:t>40,000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EBT</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60,000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Operating leverage = C/EBIT = Rs. 2,00,000 / Rs. 1,00,000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2 Times</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Financial</a:t>
                      </a:r>
                      <a:r>
                        <a:rPr lang="en-IN" sz="2600">
                          <a:solidFill>
                            <a:srgbClr val="FF0000"/>
                          </a:solidFill>
                        </a:rPr>
                        <a:t> leverage  = EBIT/EBT = Rs. 1,00,000 / Rs. 60,000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1.67 Times </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Combined leverage = C/EBT = Rs. 2.00,000 / Rs. 60,000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3.33 Times </a:t>
                      </a:r>
                      <a:endParaRPr sz="2600">
                        <a:solidFill>
                          <a:srgbClr val="FF0000"/>
                        </a:solidFill>
                      </a:endParaRPr>
                    </a:p>
                  </a:txBody>
                  <a:tcPr marT="45725" marB="45725" marR="91450" marL="91450"/>
                </a:tc>
              </a:tr>
            </a:tbl>
          </a:graphicData>
        </a:graphic>
      </p:graphicFrame>
      <p:pic>
        <p:nvPicPr>
          <p:cNvPr descr="Image result for sastra logo" id="231" name="Google Shape;231;p33"/>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4"/>
          <p:cNvSpPr txBox="1"/>
          <p:nvPr>
            <p:ph idx="1" type="body"/>
          </p:nvPr>
        </p:nvSpPr>
        <p:spPr>
          <a:xfrm>
            <a:off x="838200" y="900545"/>
            <a:ext cx="10515600" cy="527641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P3. A company has sales of Rs. 1,00,000. The variable costs are 40% of the sales while the fixed operating costs amount to Rs. 30,000. The amount of interest on long-term debt is Rs. 10,000. </a:t>
            </a:r>
            <a:endParaRPr/>
          </a:p>
          <a:p>
            <a:pPr indent="0" lvl="0" marL="0" rtl="0" algn="just">
              <a:lnSpc>
                <a:spcPct val="90000"/>
              </a:lnSpc>
              <a:spcBef>
                <a:spcPts val="1000"/>
              </a:spcBef>
              <a:spcAft>
                <a:spcPts val="0"/>
              </a:spcAft>
              <a:buClr>
                <a:schemeClr val="dk1"/>
              </a:buClr>
              <a:buSzPts val="2600"/>
              <a:buNone/>
            </a:pPr>
            <a:r>
              <a:rPr lang="en-IN" sz="2600"/>
              <a:t>You are required to calculate the composite leverage and illustrate its impact if sales increase by 5%.</a:t>
            </a:r>
            <a:endParaRPr sz="2600"/>
          </a:p>
        </p:txBody>
      </p:sp>
      <p:pic>
        <p:nvPicPr>
          <p:cNvPr descr="Image result for sastra logo" id="237" name="Google Shape;237;p34"/>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5"/>
          <p:cNvSpPr txBox="1"/>
          <p:nvPr>
            <p:ph idx="1" type="body"/>
          </p:nvPr>
        </p:nvSpPr>
        <p:spPr>
          <a:xfrm>
            <a:off x="838200" y="734292"/>
            <a:ext cx="10515600" cy="5721926"/>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Solution:                      Statement of composite leverage </a:t>
            </a:r>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The combined leverage of 3 times indicates that with every increase of Re.1 in sales, the taxable income will increase by Rs. 3 [i.e., 1×3]</a:t>
            </a:r>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p:txBody>
      </p:sp>
      <p:graphicFrame>
        <p:nvGraphicFramePr>
          <p:cNvPr id="243" name="Google Shape;243;p35"/>
          <p:cNvGraphicFramePr/>
          <p:nvPr/>
        </p:nvGraphicFramePr>
        <p:xfrm>
          <a:off x="838200" y="1246139"/>
          <a:ext cx="3000000" cy="3000000"/>
        </p:xfrm>
        <a:graphic>
          <a:graphicData uri="http://schemas.openxmlformats.org/drawingml/2006/table">
            <a:tbl>
              <a:tblPr bandRow="1" firstRow="1">
                <a:noFill/>
                <a:tableStyleId>{F13EBC90-8482-44D1-B74C-96AE8BA04B85}</a:tableStyleId>
              </a:tblPr>
              <a:tblGrid>
                <a:gridCol w="768925"/>
                <a:gridCol w="8382000"/>
                <a:gridCol w="1364675"/>
              </a:tblGrid>
              <a:tr h="370850">
                <a:tc>
                  <a:txBody>
                    <a:bodyPr/>
                    <a:lstStyle/>
                    <a:p>
                      <a:pPr indent="0" lvl="0" marL="0" marR="0" rtl="0" algn="ctr">
                        <a:spcBef>
                          <a:spcPts val="0"/>
                        </a:spcBef>
                        <a:spcAft>
                          <a:spcPts val="0"/>
                        </a:spcAft>
                        <a:buNone/>
                      </a:pPr>
                      <a:r>
                        <a:t/>
                      </a:r>
                      <a:endParaRPr sz="20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000"/>
                        <a:t>Particulars </a:t>
                      </a:r>
                      <a:endParaRPr sz="2000"/>
                    </a:p>
                  </a:txBody>
                  <a:tcPr marT="45725" marB="45725" marR="91450" marL="91450"/>
                </a:tc>
                <a:tc>
                  <a:txBody>
                    <a:bodyPr/>
                    <a:lstStyle/>
                    <a:p>
                      <a:pPr indent="0" lvl="0" marL="0" marR="0" rtl="0" algn="r">
                        <a:spcBef>
                          <a:spcPts val="0"/>
                        </a:spcBef>
                        <a:spcAft>
                          <a:spcPts val="0"/>
                        </a:spcAft>
                        <a:buNone/>
                      </a:pPr>
                      <a:r>
                        <a:rPr lang="en-IN" sz="2000"/>
                        <a:t>Rs.</a:t>
                      </a:r>
                      <a:endParaRPr sz="20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Sales</a:t>
                      </a:r>
                      <a:endParaRPr/>
                    </a:p>
                  </a:txBody>
                  <a:tcPr marT="45725" marB="45725" marR="91450" marL="91450"/>
                </a:tc>
                <a:tc>
                  <a:txBody>
                    <a:bodyPr/>
                    <a:lstStyle/>
                    <a:p>
                      <a:pPr indent="0" lvl="0" marL="0" marR="0" rtl="0" algn="r">
                        <a:spcBef>
                          <a:spcPts val="0"/>
                        </a:spcBef>
                        <a:spcAft>
                          <a:spcPts val="0"/>
                        </a:spcAft>
                        <a:buNone/>
                      </a:pPr>
                      <a:r>
                        <a:rPr lang="en-IN" sz="2600"/>
                        <a:t>1,00,000</a:t>
                      </a:r>
                      <a:endParaRPr sz="2600"/>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Variable cost @40% of sales </a:t>
                      </a:r>
                      <a:endParaRPr sz="2600"/>
                    </a:p>
                  </a:txBody>
                  <a:tcPr marT="45725" marB="45725" marR="91450" marL="91450"/>
                </a:tc>
                <a:tc>
                  <a:txBody>
                    <a:bodyPr/>
                    <a:lstStyle/>
                    <a:p>
                      <a:pPr indent="0" lvl="0" marL="0" marR="0" rtl="0" algn="r">
                        <a:spcBef>
                          <a:spcPts val="0"/>
                        </a:spcBef>
                        <a:spcAft>
                          <a:spcPts val="0"/>
                        </a:spcAft>
                        <a:buNone/>
                      </a:pPr>
                      <a:r>
                        <a:rPr lang="en-IN" sz="2600"/>
                        <a:t>40,000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Contribution</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60,000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Fixed cost</a:t>
                      </a:r>
                      <a:endParaRPr sz="2600"/>
                    </a:p>
                  </a:txBody>
                  <a:tcPr marT="45725" marB="45725" marR="91450" marL="91450"/>
                </a:tc>
                <a:tc>
                  <a:txBody>
                    <a:bodyPr/>
                    <a:lstStyle/>
                    <a:p>
                      <a:pPr indent="0" lvl="0" marL="0" marR="0" rtl="0" algn="r">
                        <a:spcBef>
                          <a:spcPts val="0"/>
                        </a:spcBef>
                        <a:spcAft>
                          <a:spcPts val="0"/>
                        </a:spcAft>
                        <a:buNone/>
                      </a:pPr>
                      <a:r>
                        <a:rPr lang="en-IN" sz="2600"/>
                        <a:t>30,000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EBIT</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30,000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Interest</a:t>
                      </a:r>
                      <a:endParaRPr sz="2600"/>
                    </a:p>
                  </a:txBody>
                  <a:tcPr marT="45725" marB="45725" marR="91450" marL="91450"/>
                </a:tc>
                <a:tc>
                  <a:txBody>
                    <a:bodyPr/>
                    <a:lstStyle/>
                    <a:p>
                      <a:pPr indent="0" lvl="0" marL="0" marR="0" rtl="0" algn="r">
                        <a:spcBef>
                          <a:spcPts val="0"/>
                        </a:spcBef>
                        <a:spcAft>
                          <a:spcPts val="0"/>
                        </a:spcAft>
                        <a:buNone/>
                      </a:pPr>
                      <a:r>
                        <a:rPr lang="en-IN" sz="2600"/>
                        <a:t>10,000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EBT</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20,000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Combined leverage = C/EBT = Rs. 60,000 / Rs. 20,000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3 Times</a:t>
                      </a:r>
                      <a:endParaRPr sz="2600">
                        <a:solidFill>
                          <a:srgbClr val="FF0000"/>
                        </a:solidFill>
                      </a:endParaRPr>
                    </a:p>
                  </a:txBody>
                  <a:tcPr marT="45725" marB="45725" marR="91450" marL="91450"/>
                </a:tc>
              </a:tr>
            </a:tbl>
          </a:graphicData>
        </a:graphic>
      </p:graphicFrame>
      <p:pic>
        <p:nvPicPr>
          <p:cNvPr descr="Image result for sastra logo" id="244" name="Google Shape;244;p35"/>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6"/>
          <p:cNvSpPr txBox="1"/>
          <p:nvPr>
            <p:ph idx="1" type="body"/>
          </p:nvPr>
        </p:nvSpPr>
        <p:spPr>
          <a:xfrm>
            <a:off x="838200" y="789709"/>
            <a:ext cx="10515600" cy="5708073"/>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FF0000"/>
              </a:buClr>
              <a:buSzPts val="2600"/>
              <a:buNone/>
            </a:pPr>
            <a:r>
              <a:rPr lang="en-IN" sz="2600">
                <a:solidFill>
                  <a:srgbClr val="FF0000"/>
                </a:solidFill>
              </a:rPr>
              <a:t>This can be verified by the following computations when the sales increase by 5%.</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rgbClr val="FF0000"/>
              </a:buClr>
              <a:buSzPts val="2600"/>
              <a:buNone/>
            </a:pPr>
            <a:r>
              <a:rPr lang="en-IN" sz="2600">
                <a:solidFill>
                  <a:srgbClr val="FF0000"/>
                </a:solidFill>
              </a:rPr>
              <a:t>It is clear from the above computations that on account of increase in sales by 5% the Profit before tax has increased by 15%. This can verified as follows:</a:t>
            </a:r>
            <a:endParaRPr/>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250" name="Google Shape;250;p36"/>
          <p:cNvGraphicFramePr/>
          <p:nvPr/>
        </p:nvGraphicFramePr>
        <p:xfrm>
          <a:off x="838200" y="1557616"/>
          <a:ext cx="3000000" cy="3000000"/>
        </p:xfrm>
        <a:graphic>
          <a:graphicData uri="http://schemas.openxmlformats.org/drawingml/2006/table">
            <a:tbl>
              <a:tblPr bandRow="1" firstRow="1">
                <a:noFill/>
                <a:tableStyleId>{F13EBC90-8482-44D1-B74C-96AE8BA04B85}</a:tableStyleId>
              </a:tblPr>
              <a:tblGrid>
                <a:gridCol w="796625"/>
                <a:gridCol w="8298875"/>
                <a:gridCol w="1420100"/>
              </a:tblGrid>
              <a:tr h="354300">
                <a:tc>
                  <a:txBody>
                    <a:bodyPr/>
                    <a:lstStyle/>
                    <a:p>
                      <a:pPr indent="0" lvl="0" marL="0" marR="0" rtl="0" algn="ctr">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rPr lang="en-IN" sz="1800"/>
                        <a:t>Particulars </a:t>
                      </a:r>
                      <a:endParaRPr sz="1800"/>
                    </a:p>
                  </a:txBody>
                  <a:tcPr marT="45725" marB="45725" marR="91450" marL="91450"/>
                </a:tc>
                <a:tc>
                  <a:txBody>
                    <a:bodyPr/>
                    <a:lstStyle/>
                    <a:p>
                      <a:pPr indent="0" lvl="0" marL="0" marR="0" rtl="0" algn="r">
                        <a:spcBef>
                          <a:spcPts val="0"/>
                        </a:spcBef>
                        <a:spcAft>
                          <a:spcPts val="0"/>
                        </a:spcAft>
                        <a:buNone/>
                      </a:pPr>
                      <a:r>
                        <a:rPr lang="en-IN" sz="1800"/>
                        <a:t>Rs.</a:t>
                      </a:r>
                      <a:endParaRPr sz="1800"/>
                    </a:p>
                  </a:txBody>
                  <a:tcPr marT="45725" marB="45725" marR="91450" marL="91450"/>
                </a:tc>
              </a:tr>
              <a:tr h="468725">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Sales [increased</a:t>
                      </a:r>
                      <a:r>
                        <a:rPr lang="en-IN" sz="2600"/>
                        <a:t> by 5%]</a:t>
                      </a:r>
                      <a:endParaRPr sz="2600"/>
                    </a:p>
                  </a:txBody>
                  <a:tcPr marT="45725" marB="45725" marR="91450" marL="91450"/>
                </a:tc>
                <a:tc>
                  <a:txBody>
                    <a:bodyPr/>
                    <a:lstStyle/>
                    <a:p>
                      <a:pPr indent="0" lvl="0" marL="0" marR="0" rtl="0" algn="r">
                        <a:spcBef>
                          <a:spcPts val="0"/>
                        </a:spcBef>
                        <a:spcAft>
                          <a:spcPts val="0"/>
                        </a:spcAft>
                        <a:buNone/>
                      </a:pPr>
                      <a:r>
                        <a:rPr lang="en-IN" sz="2600"/>
                        <a:t>1,05,000</a:t>
                      </a:r>
                      <a:endParaRPr sz="2600"/>
                    </a:p>
                  </a:txBody>
                  <a:tcPr marT="45725" marB="45725" marR="91450" marL="91450"/>
                </a:tc>
              </a:tr>
              <a:tr h="468725">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Variable cost @40% of sales </a:t>
                      </a:r>
                      <a:endParaRPr sz="2600"/>
                    </a:p>
                  </a:txBody>
                  <a:tcPr marT="45725" marB="45725" marR="91450" marL="91450"/>
                </a:tc>
                <a:tc>
                  <a:txBody>
                    <a:bodyPr/>
                    <a:lstStyle/>
                    <a:p>
                      <a:pPr indent="0" lvl="0" marL="0" marR="0" rtl="0" algn="r">
                        <a:spcBef>
                          <a:spcPts val="0"/>
                        </a:spcBef>
                        <a:spcAft>
                          <a:spcPts val="0"/>
                        </a:spcAft>
                        <a:buNone/>
                      </a:pPr>
                      <a:r>
                        <a:rPr lang="en-IN" sz="2600"/>
                        <a:t>42,000</a:t>
                      </a:r>
                      <a:endParaRPr sz="2600"/>
                    </a:p>
                  </a:txBody>
                  <a:tcPr marT="45725" marB="45725" marR="91450" marL="91450"/>
                </a:tc>
              </a:tr>
              <a:tr h="468725">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Contribution</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63,000</a:t>
                      </a:r>
                      <a:endParaRPr sz="2600">
                        <a:solidFill>
                          <a:srgbClr val="FF0000"/>
                        </a:solidFill>
                      </a:endParaRPr>
                    </a:p>
                  </a:txBody>
                  <a:tcPr marT="45725" marB="45725" marR="91450" marL="91450"/>
                </a:tc>
              </a:tr>
              <a:tr h="468725">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Fixed cost</a:t>
                      </a:r>
                      <a:endParaRPr sz="2600"/>
                    </a:p>
                  </a:txBody>
                  <a:tcPr marT="45725" marB="45725" marR="91450" marL="91450"/>
                </a:tc>
                <a:tc>
                  <a:txBody>
                    <a:bodyPr/>
                    <a:lstStyle/>
                    <a:p>
                      <a:pPr indent="0" lvl="0" marL="0" marR="0" rtl="0" algn="r">
                        <a:spcBef>
                          <a:spcPts val="0"/>
                        </a:spcBef>
                        <a:spcAft>
                          <a:spcPts val="0"/>
                        </a:spcAft>
                        <a:buNone/>
                      </a:pPr>
                      <a:r>
                        <a:rPr lang="en-IN" sz="2600"/>
                        <a:t>30,000</a:t>
                      </a:r>
                      <a:endParaRPr sz="2600"/>
                    </a:p>
                  </a:txBody>
                  <a:tcPr marT="45725" marB="45725" marR="91450" marL="91450"/>
                </a:tc>
              </a:tr>
              <a:tr h="468725">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EBIT</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33,000</a:t>
                      </a:r>
                      <a:endParaRPr sz="2600">
                        <a:solidFill>
                          <a:srgbClr val="FF0000"/>
                        </a:solidFill>
                      </a:endParaRPr>
                    </a:p>
                  </a:txBody>
                  <a:tcPr marT="45725" marB="45725" marR="91450" marL="91450"/>
                </a:tc>
              </a:tr>
              <a:tr h="468725">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Interest</a:t>
                      </a:r>
                      <a:endParaRPr sz="2600"/>
                    </a:p>
                  </a:txBody>
                  <a:tcPr marT="45725" marB="45725" marR="91450" marL="91450"/>
                </a:tc>
                <a:tc>
                  <a:txBody>
                    <a:bodyPr/>
                    <a:lstStyle/>
                    <a:p>
                      <a:pPr indent="0" lvl="0" marL="0" marR="0" rtl="0" algn="r">
                        <a:spcBef>
                          <a:spcPts val="0"/>
                        </a:spcBef>
                        <a:spcAft>
                          <a:spcPts val="0"/>
                        </a:spcAft>
                        <a:buNone/>
                      </a:pPr>
                      <a:r>
                        <a:rPr lang="en-IN" sz="2600"/>
                        <a:t>10,000</a:t>
                      </a:r>
                      <a:endParaRPr sz="2600"/>
                    </a:p>
                  </a:txBody>
                  <a:tcPr marT="45725" marB="45725" marR="91450" marL="91450"/>
                </a:tc>
              </a:tr>
              <a:tr h="468725">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EBT</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23,000</a:t>
                      </a:r>
                      <a:endParaRPr sz="2600">
                        <a:solidFill>
                          <a:srgbClr val="FF0000"/>
                        </a:solidFill>
                      </a:endParaRPr>
                    </a:p>
                  </a:txBody>
                  <a:tcPr marT="45725" marB="45725" marR="91450" marL="91450"/>
                </a:tc>
              </a:tr>
            </a:tbl>
          </a:graphicData>
        </a:graphic>
      </p:graphicFrame>
      <p:pic>
        <p:nvPicPr>
          <p:cNvPr descr="Image result for sastra logo" id="251" name="Google Shape;251;p36"/>
          <p:cNvPicPr preferRelativeResize="0"/>
          <p:nvPr/>
        </p:nvPicPr>
        <p:blipFill rotWithShape="1">
          <a:blip r:embed="rId3">
            <a:alphaModFix/>
          </a:blip>
          <a:srcRect b="0" l="0" r="0" t="0"/>
          <a:stretch/>
        </p:blipFill>
        <p:spPr>
          <a:xfrm>
            <a:off x="9537700" y="189490"/>
            <a:ext cx="1816100" cy="60021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7"/>
          <p:cNvSpPr txBox="1"/>
          <p:nvPr>
            <p:ph idx="1" type="body"/>
          </p:nvPr>
        </p:nvSpPr>
        <p:spPr>
          <a:xfrm>
            <a:off x="838200" y="1052945"/>
            <a:ext cx="10515600" cy="512401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lang="en-IN" sz="2600">
                <a:solidFill>
                  <a:srgbClr val="FF0000"/>
                </a:solidFill>
              </a:rPr>
              <a:t>Increase in percentage of profit:</a:t>
            </a:r>
            <a:endParaRPr/>
          </a:p>
          <a:p>
            <a:pPr indent="0" lvl="0" marL="0" rtl="0" algn="l">
              <a:lnSpc>
                <a:spcPct val="90000"/>
              </a:lnSpc>
              <a:spcBef>
                <a:spcPts val="1000"/>
              </a:spcBef>
              <a:spcAft>
                <a:spcPts val="0"/>
              </a:spcAft>
              <a:buClr>
                <a:schemeClr val="dk1"/>
              </a:buClr>
              <a:buSzPts val="2600"/>
              <a:buNone/>
            </a:pPr>
            <a:r>
              <a:rPr lang="en-IN" sz="2600"/>
              <a:t>= [Increase in profit/Base profit]×100</a:t>
            </a:r>
            <a:endParaRPr/>
          </a:p>
          <a:p>
            <a:pPr indent="0" lvl="0" marL="0" rtl="0" algn="l">
              <a:lnSpc>
                <a:spcPct val="90000"/>
              </a:lnSpc>
              <a:spcBef>
                <a:spcPts val="1000"/>
              </a:spcBef>
              <a:spcAft>
                <a:spcPts val="0"/>
              </a:spcAft>
              <a:buClr>
                <a:schemeClr val="dk1"/>
              </a:buClr>
              <a:buSzPts val="2600"/>
              <a:buNone/>
            </a:pPr>
            <a:r>
              <a:rPr lang="en-IN" sz="2600"/>
              <a:t>= [Rs. 3,000/Rs.20,000]×100</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15%</a:t>
            </a:r>
            <a:endParaRPr sz="2600">
              <a:solidFill>
                <a:srgbClr val="FF0000"/>
              </a:solidFill>
            </a:endParaRPr>
          </a:p>
        </p:txBody>
      </p:sp>
      <p:pic>
        <p:nvPicPr>
          <p:cNvPr descr="Image result for sastra logo" id="257" name="Google Shape;257;p37"/>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8"/>
          <p:cNvSpPr txBox="1"/>
          <p:nvPr>
            <p:ph idx="1" type="body"/>
          </p:nvPr>
        </p:nvSpPr>
        <p:spPr>
          <a:xfrm>
            <a:off x="824345" y="955963"/>
            <a:ext cx="10515600" cy="5234854"/>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P4. Calculate the degree of operating leverage (DOL), degree of financial leverage (DFL) and the degree of combined leverage (DCL) for the following firms and interpret the results.</a:t>
            </a:r>
            <a:endParaRPr/>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263" name="Google Shape;263;p38"/>
          <p:cNvGraphicFramePr/>
          <p:nvPr/>
        </p:nvGraphicFramePr>
        <p:xfrm>
          <a:off x="824345" y="2145449"/>
          <a:ext cx="3000000" cy="3000000"/>
        </p:xfrm>
        <a:graphic>
          <a:graphicData uri="http://schemas.openxmlformats.org/drawingml/2006/table">
            <a:tbl>
              <a:tblPr bandRow="1" firstRow="1">
                <a:noFill/>
                <a:tableStyleId>{F13EBC90-8482-44D1-B74C-96AE8BA04B85}</a:tableStyleId>
              </a:tblPr>
              <a:tblGrid>
                <a:gridCol w="921325"/>
                <a:gridCol w="5237025"/>
                <a:gridCol w="1510150"/>
                <a:gridCol w="1496300"/>
                <a:gridCol w="1350825"/>
              </a:tblGrid>
              <a:tr h="370850">
                <a:tc>
                  <a:txBody>
                    <a:bodyPr/>
                    <a:lstStyle/>
                    <a:p>
                      <a:pPr indent="0" lvl="0" marL="0" marR="0" rtl="0" algn="ctr">
                        <a:spcBef>
                          <a:spcPts val="0"/>
                        </a:spcBef>
                        <a:spcAft>
                          <a:spcPts val="0"/>
                        </a:spcAft>
                        <a:buNone/>
                      </a:pPr>
                      <a:r>
                        <a:t/>
                      </a:r>
                      <a:endParaRPr sz="2000"/>
                    </a:p>
                  </a:txBody>
                  <a:tcPr marT="45725" marB="45725" marR="91450" marL="91450"/>
                </a:tc>
                <a:tc>
                  <a:txBody>
                    <a:bodyPr/>
                    <a:lstStyle/>
                    <a:p>
                      <a:pPr indent="0" lvl="0" marL="0" marR="0" rtl="0" algn="l">
                        <a:spcBef>
                          <a:spcPts val="0"/>
                        </a:spcBef>
                        <a:spcAft>
                          <a:spcPts val="0"/>
                        </a:spcAft>
                        <a:buNone/>
                      </a:pPr>
                      <a:r>
                        <a:rPr lang="en-IN" sz="2000"/>
                        <a:t>Particulars</a:t>
                      </a:r>
                      <a:endParaRPr sz="2000"/>
                    </a:p>
                  </a:txBody>
                  <a:tcPr marT="45725" marB="45725" marR="91450" marL="91450"/>
                </a:tc>
                <a:tc>
                  <a:txBody>
                    <a:bodyPr/>
                    <a:lstStyle/>
                    <a:p>
                      <a:pPr indent="0" lvl="0" marL="0" marR="0" rtl="0" algn="ctr">
                        <a:spcBef>
                          <a:spcPts val="0"/>
                        </a:spcBef>
                        <a:spcAft>
                          <a:spcPts val="0"/>
                        </a:spcAft>
                        <a:buNone/>
                      </a:pPr>
                      <a:r>
                        <a:rPr lang="en-IN" sz="2000"/>
                        <a:t>Firm A</a:t>
                      </a:r>
                      <a:endParaRPr sz="2000"/>
                    </a:p>
                  </a:txBody>
                  <a:tcPr marT="45725" marB="45725" marR="91450" marL="91450"/>
                </a:tc>
                <a:tc>
                  <a:txBody>
                    <a:bodyPr/>
                    <a:lstStyle/>
                    <a:p>
                      <a:pPr indent="0" lvl="0" marL="0" marR="0" rtl="0" algn="ctr">
                        <a:spcBef>
                          <a:spcPts val="0"/>
                        </a:spcBef>
                        <a:spcAft>
                          <a:spcPts val="0"/>
                        </a:spcAft>
                        <a:buNone/>
                      </a:pPr>
                      <a:r>
                        <a:rPr lang="en-IN" sz="2000"/>
                        <a:t>Firm B</a:t>
                      </a:r>
                      <a:endParaRPr sz="2000"/>
                    </a:p>
                  </a:txBody>
                  <a:tcPr marT="45725" marB="45725" marR="91450" marL="91450"/>
                </a:tc>
                <a:tc>
                  <a:txBody>
                    <a:bodyPr/>
                    <a:lstStyle/>
                    <a:p>
                      <a:pPr indent="0" lvl="0" marL="0" marR="0" rtl="0" algn="ctr">
                        <a:spcBef>
                          <a:spcPts val="0"/>
                        </a:spcBef>
                        <a:spcAft>
                          <a:spcPts val="0"/>
                        </a:spcAft>
                        <a:buNone/>
                      </a:pPr>
                      <a:r>
                        <a:rPr lang="en-IN" sz="2000"/>
                        <a:t>Firm C</a:t>
                      </a:r>
                      <a:endParaRPr sz="2000"/>
                    </a:p>
                  </a:txBody>
                  <a:tcPr marT="45725" marB="45725" marR="91450" marL="91450"/>
                </a:tc>
              </a:tr>
              <a:tr h="370850">
                <a:tc>
                  <a:txBody>
                    <a:bodyPr/>
                    <a:lstStyle/>
                    <a:p>
                      <a:pPr indent="0" lvl="0" marL="0" marR="0" rtl="0" algn="ctr">
                        <a:spcBef>
                          <a:spcPts val="0"/>
                        </a:spcBef>
                        <a:spcAft>
                          <a:spcPts val="0"/>
                        </a:spcAft>
                        <a:buNone/>
                      </a:pPr>
                      <a:r>
                        <a:rPr lang="en-IN" sz="2600"/>
                        <a:t>1.</a:t>
                      </a:r>
                      <a:endParaRPr sz="2600"/>
                    </a:p>
                  </a:txBody>
                  <a:tcPr marT="45725" marB="45725" marR="91450" marL="91450"/>
                </a:tc>
                <a:tc>
                  <a:txBody>
                    <a:bodyPr/>
                    <a:lstStyle/>
                    <a:p>
                      <a:pPr indent="0" lvl="0" marL="0" marR="0" rtl="0" algn="l">
                        <a:spcBef>
                          <a:spcPts val="0"/>
                        </a:spcBef>
                        <a:spcAft>
                          <a:spcPts val="0"/>
                        </a:spcAft>
                        <a:buNone/>
                      </a:pPr>
                      <a:r>
                        <a:rPr lang="en-IN" sz="2600"/>
                        <a:t>Output (Units)</a:t>
                      </a:r>
                      <a:endParaRPr sz="2600"/>
                    </a:p>
                  </a:txBody>
                  <a:tcPr marT="45725" marB="45725" marR="91450" marL="91450"/>
                </a:tc>
                <a:tc>
                  <a:txBody>
                    <a:bodyPr/>
                    <a:lstStyle/>
                    <a:p>
                      <a:pPr indent="0" lvl="0" marL="0" marR="0" rtl="0" algn="ctr">
                        <a:spcBef>
                          <a:spcPts val="0"/>
                        </a:spcBef>
                        <a:spcAft>
                          <a:spcPts val="0"/>
                        </a:spcAft>
                        <a:buNone/>
                      </a:pPr>
                      <a:r>
                        <a:rPr lang="en-IN" sz="2600"/>
                        <a:t>60,000</a:t>
                      </a:r>
                      <a:endParaRPr sz="2600"/>
                    </a:p>
                  </a:txBody>
                  <a:tcPr marT="45725" marB="45725" marR="91450" marL="91450"/>
                </a:tc>
                <a:tc>
                  <a:txBody>
                    <a:bodyPr/>
                    <a:lstStyle/>
                    <a:p>
                      <a:pPr indent="0" lvl="0" marL="0" marR="0" rtl="0" algn="ctr">
                        <a:spcBef>
                          <a:spcPts val="0"/>
                        </a:spcBef>
                        <a:spcAft>
                          <a:spcPts val="0"/>
                        </a:spcAft>
                        <a:buNone/>
                      </a:pPr>
                      <a:r>
                        <a:rPr lang="en-IN" sz="2600"/>
                        <a:t>15,000</a:t>
                      </a:r>
                      <a:endParaRPr sz="2600"/>
                    </a:p>
                  </a:txBody>
                  <a:tcPr marT="45725" marB="45725" marR="91450" marL="91450"/>
                </a:tc>
                <a:tc>
                  <a:txBody>
                    <a:bodyPr/>
                    <a:lstStyle/>
                    <a:p>
                      <a:pPr indent="0" lvl="0" marL="0" marR="0" rtl="0" algn="ctr">
                        <a:spcBef>
                          <a:spcPts val="0"/>
                        </a:spcBef>
                        <a:spcAft>
                          <a:spcPts val="0"/>
                        </a:spcAft>
                        <a:buNone/>
                      </a:pPr>
                      <a:r>
                        <a:rPr lang="en-IN" sz="2600"/>
                        <a:t>1,00,000</a:t>
                      </a:r>
                      <a:endParaRPr sz="2600"/>
                    </a:p>
                  </a:txBody>
                  <a:tcPr marT="45725" marB="45725" marR="91450" marL="91450"/>
                </a:tc>
              </a:tr>
              <a:tr h="370850">
                <a:tc>
                  <a:txBody>
                    <a:bodyPr/>
                    <a:lstStyle/>
                    <a:p>
                      <a:pPr indent="0" lvl="0" marL="0" marR="0" rtl="0" algn="ctr">
                        <a:spcBef>
                          <a:spcPts val="0"/>
                        </a:spcBef>
                        <a:spcAft>
                          <a:spcPts val="0"/>
                        </a:spcAft>
                        <a:buNone/>
                      </a:pPr>
                      <a:r>
                        <a:rPr lang="en-IN" sz="2600"/>
                        <a:t>2.</a:t>
                      </a:r>
                      <a:endParaRPr sz="2600"/>
                    </a:p>
                  </a:txBody>
                  <a:tcPr marT="45725" marB="45725" marR="91450" marL="91450"/>
                </a:tc>
                <a:tc>
                  <a:txBody>
                    <a:bodyPr/>
                    <a:lstStyle/>
                    <a:p>
                      <a:pPr indent="0" lvl="0" marL="0" marR="0" rtl="0" algn="l">
                        <a:spcBef>
                          <a:spcPts val="0"/>
                        </a:spcBef>
                        <a:spcAft>
                          <a:spcPts val="0"/>
                        </a:spcAft>
                        <a:buNone/>
                      </a:pPr>
                      <a:r>
                        <a:rPr lang="en-IN" sz="2600"/>
                        <a:t>Fixed costs (Rs.)</a:t>
                      </a:r>
                      <a:endParaRPr sz="2600"/>
                    </a:p>
                  </a:txBody>
                  <a:tcPr marT="45725" marB="45725" marR="91450" marL="91450"/>
                </a:tc>
                <a:tc>
                  <a:txBody>
                    <a:bodyPr/>
                    <a:lstStyle/>
                    <a:p>
                      <a:pPr indent="0" lvl="0" marL="0" marR="0" rtl="0" algn="ctr">
                        <a:spcBef>
                          <a:spcPts val="0"/>
                        </a:spcBef>
                        <a:spcAft>
                          <a:spcPts val="0"/>
                        </a:spcAft>
                        <a:buNone/>
                      </a:pPr>
                      <a:r>
                        <a:rPr lang="en-IN" sz="2600"/>
                        <a:t>7,000</a:t>
                      </a:r>
                      <a:endParaRPr sz="2600"/>
                    </a:p>
                  </a:txBody>
                  <a:tcPr marT="45725" marB="45725" marR="91450" marL="91450"/>
                </a:tc>
                <a:tc>
                  <a:txBody>
                    <a:bodyPr/>
                    <a:lstStyle/>
                    <a:p>
                      <a:pPr indent="0" lvl="0" marL="0" marR="0" rtl="0" algn="ctr">
                        <a:spcBef>
                          <a:spcPts val="0"/>
                        </a:spcBef>
                        <a:spcAft>
                          <a:spcPts val="0"/>
                        </a:spcAft>
                        <a:buNone/>
                      </a:pPr>
                      <a:r>
                        <a:rPr lang="en-IN" sz="2600"/>
                        <a:t>14,000</a:t>
                      </a:r>
                      <a:endParaRPr sz="2600"/>
                    </a:p>
                  </a:txBody>
                  <a:tcPr marT="45725" marB="45725" marR="91450" marL="91450"/>
                </a:tc>
                <a:tc>
                  <a:txBody>
                    <a:bodyPr/>
                    <a:lstStyle/>
                    <a:p>
                      <a:pPr indent="0" lvl="0" marL="0" marR="0" rtl="0" algn="ctr">
                        <a:spcBef>
                          <a:spcPts val="0"/>
                        </a:spcBef>
                        <a:spcAft>
                          <a:spcPts val="0"/>
                        </a:spcAft>
                        <a:buNone/>
                      </a:pPr>
                      <a:r>
                        <a:rPr lang="en-IN" sz="2600"/>
                        <a:t>1,500</a:t>
                      </a:r>
                      <a:endParaRPr sz="2600"/>
                    </a:p>
                  </a:txBody>
                  <a:tcPr marT="45725" marB="45725" marR="91450" marL="91450"/>
                </a:tc>
              </a:tr>
              <a:tr h="370850">
                <a:tc>
                  <a:txBody>
                    <a:bodyPr/>
                    <a:lstStyle/>
                    <a:p>
                      <a:pPr indent="0" lvl="0" marL="0" marR="0" rtl="0" algn="ctr">
                        <a:spcBef>
                          <a:spcPts val="0"/>
                        </a:spcBef>
                        <a:spcAft>
                          <a:spcPts val="0"/>
                        </a:spcAft>
                        <a:buNone/>
                      </a:pPr>
                      <a:r>
                        <a:rPr lang="en-IN" sz="2600"/>
                        <a:t>3.</a:t>
                      </a:r>
                      <a:endParaRPr sz="2600"/>
                    </a:p>
                  </a:txBody>
                  <a:tcPr marT="45725" marB="45725" marR="91450" marL="91450"/>
                </a:tc>
                <a:tc>
                  <a:txBody>
                    <a:bodyPr/>
                    <a:lstStyle/>
                    <a:p>
                      <a:pPr indent="0" lvl="0" marL="0" marR="0" rtl="0" algn="l">
                        <a:spcBef>
                          <a:spcPts val="0"/>
                        </a:spcBef>
                        <a:spcAft>
                          <a:spcPts val="0"/>
                        </a:spcAft>
                        <a:buNone/>
                      </a:pPr>
                      <a:r>
                        <a:rPr lang="en-IN" sz="2600"/>
                        <a:t>Variable cost per unit (Rs.)</a:t>
                      </a:r>
                      <a:endParaRPr sz="2600"/>
                    </a:p>
                  </a:txBody>
                  <a:tcPr marT="45725" marB="45725" marR="91450" marL="91450"/>
                </a:tc>
                <a:tc>
                  <a:txBody>
                    <a:bodyPr/>
                    <a:lstStyle/>
                    <a:p>
                      <a:pPr indent="0" lvl="0" marL="0" marR="0" rtl="0" algn="ctr">
                        <a:spcBef>
                          <a:spcPts val="0"/>
                        </a:spcBef>
                        <a:spcAft>
                          <a:spcPts val="0"/>
                        </a:spcAft>
                        <a:buNone/>
                      </a:pPr>
                      <a:r>
                        <a:rPr lang="en-IN" sz="2600"/>
                        <a:t>0.20</a:t>
                      </a:r>
                      <a:endParaRPr sz="2600"/>
                    </a:p>
                  </a:txBody>
                  <a:tcPr marT="45725" marB="45725" marR="91450" marL="91450"/>
                </a:tc>
                <a:tc>
                  <a:txBody>
                    <a:bodyPr/>
                    <a:lstStyle/>
                    <a:p>
                      <a:pPr indent="0" lvl="0" marL="0" marR="0" rtl="0" algn="ctr">
                        <a:spcBef>
                          <a:spcPts val="0"/>
                        </a:spcBef>
                        <a:spcAft>
                          <a:spcPts val="0"/>
                        </a:spcAft>
                        <a:buNone/>
                      </a:pPr>
                      <a:r>
                        <a:rPr lang="en-IN" sz="2600"/>
                        <a:t>1.50</a:t>
                      </a:r>
                      <a:endParaRPr sz="2600"/>
                    </a:p>
                  </a:txBody>
                  <a:tcPr marT="45725" marB="45725" marR="91450" marL="91450"/>
                </a:tc>
                <a:tc>
                  <a:txBody>
                    <a:bodyPr/>
                    <a:lstStyle/>
                    <a:p>
                      <a:pPr indent="0" lvl="0" marL="0" marR="0" rtl="0" algn="ctr">
                        <a:spcBef>
                          <a:spcPts val="0"/>
                        </a:spcBef>
                        <a:spcAft>
                          <a:spcPts val="0"/>
                        </a:spcAft>
                        <a:buNone/>
                      </a:pPr>
                      <a:r>
                        <a:rPr lang="en-IN" sz="2600"/>
                        <a:t>0.02</a:t>
                      </a:r>
                      <a:endParaRPr sz="2600"/>
                    </a:p>
                  </a:txBody>
                  <a:tcPr marT="45725" marB="45725" marR="91450" marL="91450"/>
                </a:tc>
              </a:tr>
              <a:tr h="370850">
                <a:tc>
                  <a:txBody>
                    <a:bodyPr/>
                    <a:lstStyle/>
                    <a:p>
                      <a:pPr indent="0" lvl="0" marL="0" marR="0" rtl="0" algn="ctr">
                        <a:spcBef>
                          <a:spcPts val="0"/>
                        </a:spcBef>
                        <a:spcAft>
                          <a:spcPts val="0"/>
                        </a:spcAft>
                        <a:buNone/>
                      </a:pPr>
                      <a:r>
                        <a:rPr lang="en-IN" sz="2600"/>
                        <a:t>4.</a:t>
                      </a:r>
                      <a:endParaRPr sz="2600"/>
                    </a:p>
                  </a:txBody>
                  <a:tcPr marT="45725" marB="45725" marR="91450" marL="91450"/>
                </a:tc>
                <a:tc>
                  <a:txBody>
                    <a:bodyPr/>
                    <a:lstStyle/>
                    <a:p>
                      <a:pPr indent="0" lvl="0" marL="0" marR="0" rtl="0" algn="l">
                        <a:spcBef>
                          <a:spcPts val="0"/>
                        </a:spcBef>
                        <a:spcAft>
                          <a:spcPts val="0"/>
                        </a:spcAft>
                        <a:buNone/>
                      </a:pPr>
                      <a:r>
                        <a:rPr lang="en-IN" sz="2600"/>
                        <a:t>Interest on borrowed funds (Rs.)</a:t>
                      </a:r>
                      <a:endParaRPr sz="2600"/>
                    </a:p>
                  </a:txBody>
                  <a:tcPr marT="45725" marB="45725" marR="91450" marL="91450"/>
                </a:tc>
                <a:tc>
                  <a:txBody>
                    <a:bodyPr/>
                    <a:lstStyle/>
                    <a:p>
                      <a:pPr indent="0" lvl="0" marL="0" marR="0" rtl="0" algn="ctr">
                        <a:spcBef>
                          <a:spcPts val="0"/>
                        </a:spcBef>
                        <a:spcAft>
                          <a:spcPts val="0"/>
                        </a:spcAft>
                        <a:buNone/>
                      </a:pPr>
                      <a:r>
                        <a:rPr lang="en-IN" sz="2600"/>
                        <a:t>4,000</a:t>
                      </a:r>
                      <a:endParaRPr sz="2600"/>
                    </a:p>
                  </a:txBody>
                  <a:tcPr marT="45725" marB="45725" marR="91450" marL="91450"/>
                </a:tc>
                <a:tc>
                  <a:txBody>
                    <a:bodyPr/>
                    <a:lstStyle/>
                    <a:p>
                      <a:pPr indent="0" lvl="0" marL="0" marR="0" rtl="0" algn="ctr">
                        <a:spcBef>
                          <a:spcPts val="0"/>
                        </a:spcBef>
                        <a:spcAft>
                          <a:spcPts val="0"/>
                        </a:spcAft>
                        <a:buNone/>
                      </a:pPr>
                      <a:r>
                        <a:rPr lang="en-IN" sz="2600"/>
                        <a:t>8,000</a:t>
                      </a:r>
                      <a:endParaRPr sz="2600"/>
                    </a:p>
                  </a:txBody>
                  <a:tcPr marT="45725" marB="45725" marR="91450" marL="91450"/>
                </a:tc>
                <a:tc>
                  <a:txBody>
                    <a:bodyPr/>
                    <a:lstStyle/>
                    <a:p>
                      <a:pPr indent="0" lvl="0" marL="0" marR="0" rtl="0" algn="ctr">
                        <a:spcBef>
                          <a:spcPts val="0"/>
                        </a:spcBef>
                        <a:spcAft>
                          <a:spcPts val="0"/>
                        </a:spcAft>
                        <a:buNone/>
                      </a:pPr>
                      <a:r>
                        <a:rPr lang="en-IN" sz="2600"/>
                        <a:t>Nil</a:t>
                      </a:r>
                      <a:endParaRPr sz="2600"/>
                    </a:p>
                  </a:txBody>
                  <a:tcPr marT="45725" marB="45725" marR="91450" marL="91450"/>
                </a:tc>
              </a:tr>
              <a:tr h="370850">
                <a:tc>
                  <a:txBody>
                    <a:bodyPr/>
                    <a:lstStyle/>
                    <a:p>
                      <a:pPr indent="0" lvl="0" marL="0" marR="0" rtl="0" algn="ctr">
                        <a:spcBef>
                          <a:spcPts val="0"/>
                        </a:spcBef>
                        <a:spcAft>
                          <a:spcPts val="0"/>
                        </a:spcAft>
                        <a:buNone/>
                      </a:pPr>
                      <a:r>
                        <a:rPr lang="en-IN" sz="2600"/>
                        <a:t>5.</a:t>
                      </a:r>
                      <a:endParaRPr sz="2600"/>
                    </a:p>
                  </a:txBody>
                  <a:tcPr marT="45725" marB="45725" marR="91450" marL="91450"/>
                </a:tc>
                <a:tc>
                  <a:txBody>
                    <a:bodyPr/>
                    <a:lstStyle/>
                    <a:p>
                      <a:pPr indent="0" lvl="0" marL="0" marR="0" rtl="0" algn="l">
                        <a:spcBef>
                          <a:spcPts val="0"/>
                        </a:spcBef>
                        <a:spcAft>
                          <a:spcPts val="0"/>
                        </a:spcAft>
                        <a:buNone/>
                      </a:pPr>
                      <a:r>
                        <a:rPr lang="en-IN" sz="2600"/>
                        <a:t>Selling price per unit (Rs.)</a:t>
                      </a:r>
                      <a:endParaRPr sz="2600"/>
                    </a:p>
                  </a:txBody>
                  <a:tcPr marT="45725" marB="45725" marR="91450" marL="91450"/>
                </a:tc>
                <a:tc>
                  <a:txBody>
                    <a:bodyPr/>
                    <a:lstStyle/>
                    <a:p>
                      <a:pPr indent="0" lvl="0" marL="0" marR="0" rtl="0" algn="ctr">
                        <a:spcBef>
                          <a:spcPts val="0"/>
                        </a:spcBef>
                        <a:spcAft>
                          <a:spcPts val="0"/>
                        </a:spcAft>
                        <a:buNone/>
                      </a:pPr>
                      <a:r>
                        <a:rPr lang="en-IN" sz="2600"/>
                        <a:t>0.60</a:t>
                      </a:r>
                      <a:endParaRPr sz="2600"/>
                    </a:p>
                  </a:txBody>
                  <a:tcPr marT="45725" marB="45725" marR="91450" marL="91450"/>
                </a:tc>
                <a:tc>
                  <a:txBody>
                    <a:bodyPr/>
                    <a:lstStyle/>
                    <a:p>
                      <a:pPr indent="0" lvl="0" marL="0" marR="0" rtl="0" algn="ctr">
                        <a:spcBef>
                          <a:spcPts val="0"/>
                        </a:spcBef>
                        <a:spcAft>
                          <a:spcPts val="0"/>
                        </a:spcAft>
                        <a:buNone/>
                      </a:pPr>
                      <a:r>
                        <a:rPr lang="en-IN" sz="2600"/>
                        <a:t>5.00</a:t>
                      </a:r>
                      <a:endParaRPr sz="2600"/>
                    </a:p>
                  </a:txBody>
                  <a:tcPr marT="45725" marB="45725" marR="91450" marL="91450"/>
                </a:tc>
                <a:tc>
                  <a:txBody>
                    <a:bodyPr/>
                    <a:lstStyle/>
                    <a:p>
                      <a:pPr indent="0" lvl="0" marL="0" marR="0" rtl="0" algn="ctr">
                        <a:spcBef>
                          <a:spcPts val="0"/>
                        </a:spcBef>
                        <a:spcAft>
                          <a:spcPts val="0"/>
                        </a:spcAft>
                        <a:buNone/>
                      </a:pPr>
                      <a:r>
                        <a:rPr lang="en-IN" sz="2600"/>
                        <a:t>0.10</a:t>
                      </a:r>
                      <a:endParaRPr sz="2600"/>
                    </a:p>
                  </a:txBody>
                  <a:tcPr marT="45725" marB="45725" marR="91450" marL="91450"/>
                </a:tc>
              </a:tr>
            </a:tbl>
          </a:graphicData>
        </a:graphic>
      </p:graphicFrame>
      <p:pic>
        <p:nvPicPr>
          <p:cNvPr descr="Image result for sastra logo" id="264" name="Google Shape;264;p38"/>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9"/>
          <p:cNvSpPr txBox="1"/>
          <p:nvPr>
            <p:ph idx="1" type="body"/>
          </p:nvPr>
        </p:nvSpPr>
        <p:spPr>
          <a:xfrm>
            <a:off x="838200" y="678874"/>
            <a:ext cx="10515600" cy="549809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Solution:                            Statement showing leverages</a:t>
            </a:r>
            <a:endParaRPr/>
          </a:p>
          <a:p>
            <a:pPr indent="0" lvl="0" marL="0" rtl="0" algn="l">
              <a:lnSpc>
                <a:spcPct val="90000"/>
              </a:lnSpc>
              <a:spcBef>
                <a:spcPts val="1000"/>
              </a:spcBef>
              <a:spcAft>
                <a:spcPts val="0"/>
              </a:spcAft>
              <a:buClr>
                <a:srgbClr val="FF0000"/>
              </a:buClr>
              <a:buSzPts val="2600"/>
              <a:buNone/>
            </a:pPr>
            <a:r>
              <a:rPr lang="en-IN" sz="2600">
                <a:solidFill>
                  <a:srgbClr val="FF0000"/>
                </a:solidFill>
              </a:rPr>
              <a:t> </a:t>
            </a:r>
            <a:endParaRPr sz="2600">
              <a:solidFill>
                <a:srgbClr val="FF0000"/>
              </a:solidFill>
            </a:endParaRPr>
          </a:p>
        </p:txBody>
      </p:sp>
      <p:graphicFrame>
        <p:nvGraphicFramePr>
          <p:cNvPr id="270" name="Google Shape;270;p39"/>
          <p:cNvGraphicFramePr/>
          <p:nvPr/>
        </p:nvGraphicFramePr>
        <p:xfrm>
          <a:off x="838200" y="1079884"/>
          <a:ext cx="3000000" cy="3000000"/>
        </p:xfrm>
        <a:graphic>
          <a:graphicData uri="http://schemas.openxmlformats.org/drawingml/2006/table">
            <a:tbl>
              <a:tblPr bandRow="1" firstRow="1">
                <a:noFill/>
                <a:tableStyleId>{F13EBC90-8482-44D1-B74C-96AE8BA04B85}</a:tableStyleId>
              </a:tblPr>
              <a:tblGrid>
                <a:gridCol w="768925"/>
                <a:gridCol w="5181600"/>
                <a:gridCol w="1634825"/>
                <a:gridCol w="1468575"/>
                <a:gridCol w="1461650"/>
              </a:tblGrid>
              <a:tr h="370850">
                <a:tc>
                  <a:txBody>
                    <a:bodyPr/>
                    <a:lstStyle/>
                    <a:p>
                      <a:pPr indent="0" lvl="0" marL="0" marR="0" rtl="0" algn="ctr">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1800"/>
                        <a:t>Particulars</a:t>
                      </a:r>
                      <a:endParaRPr sz="1800"/>
                    </a:p>
                  </a:txBody>
                  <a:tcPr marT="45725" marB="45725" marR="91450" marL="91450"/>
                </a:tc>
                <a:tc>
                  <a:txBody>
                    <a:bodyPr/>
                    <a:lstStyle/>
                    <a:p>
                      <a:pPr indent="0" lvl="0" marL="0" marR="0" rtl="0" algn="ctr">
                        <a:spcBef>
                          <a:spcPts val="0"/>
                        </a:spcBef>
                        <a:spcAft>
                          <a:spcPts val="0"/>
                        </a:spcAft>
                        <a:buNone/>
                      </a:pPr>
                      <a:r>
                        <a:rPr lang="en-IN" sz="1800"/>
                        <a:t>Firm A</a:t>
                      </a:r>
                      <a:endParaRPr/>
                    </a:p>
                    <a:p>
                      <a:pPr indent="0" lvl="0" marL="0" marR="0" rtl="0" algn="ctr">
                        <a:spcBef>
                          <a:spcPts val="0"/>
                        </a:spcBef>
                        <a:spcAft>
                          <a:spcPts val="0"/>
                        </a:spcAft>
                        <a:buNone/>
                      </a:pPr>
                      <a:r>
                        <a:rPr lang="en-IN" sz="1800"/>
                        <a:t>Rs.</a:t>
                      </a:r>
                      <a:endParaRPr sz="1800"/>
                    </a:p>
                  </a:txBody>
                  <a:tcPr marT="45725" marB="45725" marR="91450" marL="91450"/>
                </a:tc>
                <a:tc>
                  <a:txBody>
                    <a:bodyPr/>
                    <a:lstStyle/>
                    <a:p>
                      <a:pPr indent="0" lvl="0" marL="0" marR="0" rtl="0" algn="ctr">
                        <a:spcBef>
                          <a:spcPts val="0"/>
                        </a:spcBef>
                        <a:spcAft>
                          <a:spcPts val="0"/>
                        </a:spcAft>
                        <a:buNone/>
                      </a:pPr>
                      <a:r>
                        <a:rPr lang="en-IN" sz="1800"/>
                        <a:t>Firm B</a:t>
                      </a:r>
                      <a:endParaRPr/>
                    </a:p>
                    <a:p>
                      <a:pPr indent="0" lvl="0" marL="0" marR="0" rtl="0" algn="ctr">
                        <a:spcBef>
                          <a:spcPts val="0"/>
                        </a:spcBef>
                        <a:spcAft>
                          <a:spcPts val="0"/>
                        </a:spcAft>
                        <a:buNone/>
                      </a:pPr>
                      <a:r>
                        <a:rPr lang="en-IN" sz="1800"/>
                        <a:t>Rs.</a:t>
                      </a:r>
                      <a:endParaRPr sz="1800"/>
                    </a:p>
                  </a:txBody>
                  <a:tcPr marT="45725" marB="45725" marR="91450" marL="91450"/>
                </a:tc>
                <a:tc>
                  <a:txBody>
                    <a:bodyPr/>
                    <a:lstStyle/>
                    <a:p>
                      <a:pPr indent="0" lvl="0" marL="0" marR="0" rtl="0" algn="ctr">
                        <a:spcBef>
                          <a:spcPts val="0"/>
                        </a:spcBef>
                        <a:spcAft>
                          <a:spcPts val="0"/>
                        </a:spcAft>
                        <a:buNone/>
                      </a:pPr>
                      <a:r>
                        <a:rPr lang="en-IN" sz="1800"/>
                        <a:t>Firm C</a:t>
                      </a:r>
                      <a:endParaRPr/>
                    </a:p>
                    <a:p>
                      <a:pPr indent="0" lvl="0" marL="0" marR="0" rtl="0" algn="ctr">
                        <a:spcBef>
                          <a:spcPts val="0"/>
                        </a:spcBef>
                        <a:spcAft>
                          <a:spcPts val="0"/>
                        </a:spcAft>
                        <a:buNone/>
                      </a:pPr>
                      <a:r>
                        <a:rPr lang="en-IN" sz="1800"/>
                        <a:t>Rs.</a:t>
                      </a:r>
                      <a:endParaRPr sz="18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Sales [Units</a:t>
                      </a:r>
                      <a:r>
                        <a:rPr lang="en-IN" sz="2600"/>
                        <a:t> × Selling price per unit]</a:t>
                      </a:r>
                      <a:endParaRPr sz="2600"/>
                    </a:p>
                  </a:txBody>
                  <a:tcPr marT="45725" marB="45725" marR="91450" marL="91450"/>
                </a:tc>
                <a:tc>
                  <a:txBody>
                    <a:bodyPr/>
                    <a:lstStyle/>
                    <a:p>
                      <a:pPr indent="0" lvl="0" marL="0" marR="0" rtl="0" algn="r">
                        <a:spcBef>
                          <a:spcPts val="0"/>
                        </a:spcBef>
                        <a:spcAft>
                          <a:spcPts val="0"/>
                        </a:spcAft>
                        <a:buNone/>
                      </a:pPr>
                      <a:r>
                        <a:rPr lang="en-IN" sz="2600"/>
                        <a:t>36,000</a:t>
                      </a:r>
                      <a:endParaRPr sz="2600"/>
                    </a:p>
                  </a:txBody>
                  <a:tcPr marT="45725" marB="45725" marR="91450" marL="91450"/>
                </a:tc>
                <a:tc>
                  <a:txBody>
                    <a:bodyPr/>
                    <a:lstStyle/>
                    <a:p>
                      <a:pPr indent="0" lvl="0" marL="0" marR="0" rtl="0" algn="r">
                        <a:spcBef>
                          <a:spcPts val="0"/>
                        </a:spcBef>
                        <a:spcAft>
                          <a:spcPts val="0"/>
                        </a:spcAft>
                        <a:buNone/>
                      </a:pPr>
                      <a:r>
                        <a:rPr lang="en-IN" sz="2600"/>
                        <a:t>75,000</a:t>
                      </a:r>
                      <a:endParaRPr sz="2600"/>
                    </a:p>
                  </a:txBody>
                  <a:tcPr marT="45725" marB="45725" marR="91450" marL="91450"/>
                </a:tc>
                <a:tc>
                  <a:txBody>
                    <a:bodyPr/>
                    <a:lstStyle/>
                    <a:p>
                      <a:pPr indent="0" lvl="0" marL="0" marR="0" rtl="0" algn="r">
                        <a:spcBef>
                          <a:spcPts val="0"/>
                        </a:spcBef>
                        <a:spcAft>
                          <a:spcPts val="0"/>
                        </a:spcAft>
                        <a:buNone/>
                      </a:pPr>
                      <a:r>
                        <a:rPr lang="en-IN" sz="2600"/>
                        <a:t>10,000</a:t>
                      </a:r>
                      <a:endParaRPr sz="2600"/>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600"/>
                        <a:buFont typeface="Calibri"/>
                        <a:buNone/>
                      </a:pPr>
                      <a:r>
                        <a:rPr lang="en-IN" sz="2600">
                          <a:solidFill>
                            <a:schemeClr val="dk1"/>
                          </a:solidFill>
                        </a:rPr>
                        <a:t>Variable cost </a:t>
                      </a:r>
                      <a:r>
                        <a:rPr lang="en-IN" sz="2600"/>
                        <a:t>[Units</a:t>
                      </a:r>
                      <a:r>
                        <a:rPr lang="en-IN" sz="2600"/>
                        <a:t> × V.C per unit]</a:t>
                      </a:r>
                      <a:endParaRPr sz="2600"/>
                    </a:p>
                  </a:txBody>
                  <a:tcPr marT="45725" marB="45725" marR="91450" marL="91450"/>
                </a:tc>
                <a:tc>
                  <a:txBody>
                    <a:bodyPr/>
                    <a:lstStyle/>
                    <a:p>
                      <a:pPr indent="0" lvl="0" marL="0" marR="0" rtl="0" algn="r">
                        <a:spcBef>
                          <a:spcPts val="0"/>
                        </a:spcBef>
                        <a:spcAft>
                          <a:spcPts val="0"/>
                        </a:spcAft>
                        <a:buNone/>
                      </a:pPr>
                      <a:r>
                        <a:rPr lang="en-IN" sz="2600">
                          <a:solidFill>
                            <a:schemeClr val="dk1"/>
                          </a:solidFill>
                        </a:rPr>
                        <a:t>12,000</a:t>
                      </a:r>
                      <a:endParaRPr sz="2600">
                        <a:solidFill>
                          <a:schemeClr val="dk1"/>
                        </a:solidFill>
                      </a:endParaRPr>
                    </a:p>
                  </a:txBody>
                  <a:tcPr marT="45725" marB="45725" marR="91450" marL="91450"/>
                </a:tc>
                <a:tc>
                  <a:txBody>
                    <a:bodyPr/>
                    <a:lstStyle/>
                    <a:p>
                      <a:pPr indent="0" lvl="0" marL="0" marR="0" rtl="0" algn="r">
                        <a:spcBef>
                          <a:spcPts val="0"/>
                        </a:spcBef>
                        <a:spcAft>
                          <a:spcPts val="0"/>
                        </a:spcAft>
                        <a:buNone/>
                      </a:pPr>
                      <a:r>
                        <a:rPr lang="en-IN" sz="2600">
                          <a:solidFill>
                            <a:schemeClr val="dk1"/>
                          </a:solidFill>
                        </a:rPr>
                        <a:t>22,500</a:t>
                      </a:r>
                      <a:endParaRPr sz="2600">
                        <a:solidFill>
                          <a:schemeClr val="dk1"/>
                        </a:solidFill>
                      </a:endParaRPr>
                    </a:p>
                  </a:txBody>
                  <a:tcPr marT="45725" marB="45725" marR="91450" marL="91450"/>
                </a:tc>
                <a:tc>
                  <a:txBody>
                    <a:bodyPr/>
                    <a:lstStyle/>
                    <a:p>
                      <a:pPr indent="0" lvl="0" marL="0" marR="0" rtl="0" algn="r">
                        <a:spcBef>
                          <a:spcPts val="0"/>
                        </a:spcBef>
                        <a:spcAft>
                          <a:spcPts val="0"/>
                        </a:spcAft>
                        <a:buNone/>
                      </a:pPr>
                      <a:r>
                        <a:rPr lang="en-IN" sz="2600">
                          <a:solidFill>
                            <a:schemeClr val="dk1"/>
                          </a:solidFill>
                        </a:rPr>
                        <a:t>2,000</a:t>
                      </a:r>
                      <a:endParaRPr sz="2600">
                        <a:solidFill>
                          <a:schemeClr val="dk1"/>
                        </a:solidFill>
                      </a:endParaRPr>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Contribution</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24,000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52,500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8,000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chemeClr val="dk1"/>
                          </a:solidFill>
                        </a:rPr>
                        <a:t>Fixed cost</a:t>
                      </a:r>
                      <a:endParaRPr sz="2600">
                        <a:solidFill>
                          <a:schemeClr val="dk1"/>
                        </a:solidFill>
                      </a:endParaRPr>
                    </a:p>
                  </a:txBody>
                  <a:tcPr marT="45725" marB="45725" marR="91450" marL="91450"/>
                </a:tc>
                <a:tc>
                  <a:txBody>
                    <a:bodyPr/>
                    <a:lstStyle/>
                    <a:p>
                      <a:pPr indent="0" lvl="0" marL="0" marR="0" rtl="0" algn="r">
                        <a:spcBef>
                          <a:spcPts val="0"/>
                        </a:spcBef>
                        <a:spcAft>
                          <a:spcPts val="0"/>
                        </a:spcAft>
                        <a:buNone/>
                      </a:pPr>
                      <a:r>
                        <a:rPr lang="en-IN" sz="2600">
                          <a:solidFill>
                            <a:schemeClr val="dk1"/>
                          </a:solidFill>
                        </a:rPr>
                        <a:t>7,000</a:t>
                      </a:r>
                      <a:endParaRPr sz="2600">
                        <a:solidFill>
                          <a:schemeClr val="dk1"/>
                        </a:solidFill>
                      </a:endParaRPr>
                    </a:p>
                  </a:txBody>
                  <a:tcPr marT="45725" marB="45725" marR="91450" marL="91450"/>
                </a:tc>
                <a:tc>
                  <a:txBody>
                    <a:bodyPr/>
                    <a:lstStyle/>
                    <a:p>
                      <a:pPr indent="0" lvl="0" marL="0" marR="0" rtl="0" algn="r">
                        <a:spcBef>
                          <a:spcPts val="0"/>
                        </a:spcBef>
                        <a:spcAft>
                          <a:spcPts val="0"/>
                        </a:spcAft>
                        <a:buNone/>
                      </a:pPr>
                      <a:r>
                        <a:rPr lang="en-IN" sz="2600">
                          <a:solidFill>
                            <a:schemeClr val="dk1"/>
                          </a:solidFill>
                        </a:rPr>
                        <a:t>14,000</a:t>
                      </a:r>
                      <a:endParaRPr sz="2600">
                        <a:solidFill>
                          <a:schemeClr val="dk1"/>
                        </a:solidFill>
                      </a:endParaRPr>
                    </a:p>
                  </a:txBody>
                  <a:tcPr marT="45725" marB="45725" marR="91450" marL="91450"/>
                </a:tc>
                <a:tc>
                  <a:txBody>
                    <a:bodyPr/>
                    <a:lstStyle/>
                    <a:p>
                      <a:pPr indent="0" lvl="0" marL="0" marR="0" rtl="0" algn="r">
                        <a:spcBef>
                          <a:spcPts val="0"/>
                        </a:spcBef>
                        <a:spcAft>
                          <a:spcPts val="0"/>
                        </a:spcAft>
                        <a:buNone/>
                      </a:pPr>
                      <a:r>
                        <a:rPr lang="en-IN" sz="2600">
                          <a:solidFill>
                            <a:schemeClr val="dk1"/>
                          </a:solidFill>
                        </a:rPr>
                        <a:t>1,500</a:t>
                      </a:r>
                      <a:endParaRPr sz="2600">
                        <a:solidFill>
                          <a:schemeClr val="dk1"/>
                        </a:solidFill>
                      </a:endParaRPr>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EBIT </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17,000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38,500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6,500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chemeClr val="dk1"/>
                          </a:solidFill>
                        </a:rPr>
                        <a:t>Interest </a:t>
                      </a:r>
                      <a:endParaRPr sz="2600">
                        <a:solidFill>
                          <a:schemeClr val="dk1"/>
                        </a:solidFill>
                      </a:endParaRPr>
                    </a:p>
                  </a:txBody>
                  <a:tcPr marT="45725" marB="45725" marR="91450" marL="91450"/>
                </a:tc>
                <a:tc>
                  <a:txBody>
                    <a:bodyPr/>
                    <a:lstStyle/>
                    <a:p>
                      <a:pPr indent="0" lvl="0" marL="0" marR="0" rtl="0" algn="r">
                        <a:spcBef>
                          <a:spcPts val="0"/>
                        </a:spcBef>
                        <a:spcAft>
                          <a:spcPts val="0"/>
                        </a:spcAft>
                        <a:buNone/>
                      </a:pPr>
                      <a:r>
                        <a:rPr lang="en-IN" sz="2600">
                          <a:solidFill>
                            <a:schemeClr val="dk1"/>
                          </a:solidFill>
                        </a:rPr>
                        <a:t>4,000</a:t>
                      </a:r>
                      <a:endParaRPr sz="2600">
                        <a:solidFill>
                          <a:schemeClr val="dk1"/>
                        </a:solidFill>
                      </a:endParaRPr>
                    </a:p>
                  </a:txBody>
                  <a:tcPr marT="45725" marB="45725" marR="91450" marL="91450"/>
                </a:tc>
                <a:tc>
                  <a:txBody>
                    <a:bodyPr/>
                    <a:lstStyle/>
                    <a:p>
                      <a:pPr indent="0" lvl="0" marL="0" marR="0" rtl="0" algn="r">
                        <a:spcBef>
                          <a:spcPts val="0"/>
                        </a:spcBef>
                        <a:spcAft>
                          <a:spcPts val="0"/>
                        </a:spcAft>
                        <a:buNone/>
                      </a:pPr>
                      <a:r>
                        <a:rPr lang="en-IN" sz="2600">
                          <a:solidFill>
                            <a:schemeClr val="dk1"/>
                          </a:solidFill>
                        </a:rPr>
                        <a:t>8,000</a:t>
                      </a:r>
                      <a:endParaRPr sz="2600">
                        <a:solidFill>
                          <a:schemeClr val="dk1"/>
                        </a:solidFill>
                      </a:endParaRPr>
                    </a:p>
                  </a:txBody>
                  <a:tcPr marT="45725" marB="45725" marR="91450" marL="91450"/>
                </a:tc>
                <a:tc>
                  <a:txBody>
                    <a:bodyPr/>
                    <a:lstStyle/>
                    <a:p>
                      <a:pPr indent="0" lvl="0" marL="0" marR="0" rtl="0" algn="r">
                        <a:spcBef>
                          <a:spcPts val="0"/>
                        </a:spcBef>
                        <a:spcAft>
                          <a:spcPts val="0"/>
                        </a:spcAft>
                        <a:buNone/>
                      </a:pPr>
                      <a:r>
                        <a:rPr lang="en-IN" sz="2600">
                          <a:solidFill>
                            <a:schemeClr val="dk1"/>
                          </a:solidFill>
                        </a:rPr>
                        <a:t>Nil</a:t>
                      </a:r>
                      <a:endParaRPr sz="2600">
                        <a:solidFill>
                          <a:schemeClr val="dk1"/>
                        </a:solidFill>
                      </a:endParaRPr>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EBT </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13,000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30,500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6,500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1.</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Operating leverage =  C/EBIT</a:t>
                      </a:r>
                      <a:endParaRPr sz="26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600">
                          <a:solidFill>
                            <a:srgbClr val="FF0000"/>
                          </a:solidFill>
                        </a:rPr>
                        <a:t>1.41</a:t>
                      </a:r>
                      <a:r>
                        <a:rPr lang="en-IN" sz="2600">
                          <a:solidFill>
                            <a:srgbClr val="FF0000"/>
                          </a:solidFill>
                        </a:rPr>
                        <a:t> </a:t>
                      </a:r>
                      <a:r>
                        <a:rPr lang="en-IN" sz="1500">
                          <a:solidFill>
                            <a:srgbClr val="FF0000"/>
                          </a:solidFill>
                        </a:rPr>
                        <a:t>Times</a:t>
                      </a:r>
                      <a:endParaRPr sz="15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600">
                          <a:solidFill>
                            <a:srgbClr val="FF0000"/>
                          </a:solidFill>
                        </a:rPr>
                        <a:t>1.38</a:t>
                      </a:r>
                      <a:r>
                        <a:rPr lang="en-IN" sz="2600">
                          <a:solidFill>
                            <a:srgbClr val="FF0000"/>
                          </a:solidFill>
                        </a:rPr>
                        <a:t> </a:t>
                      </a:r>
                      <a:r>
                        <a:rPr lang="en-IN" sz="1800">
                          <a:solidFill>
                            <a:srgbClr val="FF0000"/>
                          </a:solidFill>
                        </a:rPr>
                        <a:t>Times</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600">
                          <a:solidFill>
                            <a:srgbClr val="FF0000"/>
                          </a:solidFill>
                        </a:rPr>
                        <a:t>1.23</a:t>
                      </a:r>
                      <a:r>
                        <a:rPr lang="en-IN" sz="2600">
                          <a:solidFill>
                            <a:srgbClr val="FF0000"/>
                          </a:solidFill>
                        </a:rPr>
                        <a:t> </a:t>
                      </a:r>
                      <a:r>
                        <a:rPr lang="en-IN" sz="1800">
                          <a:solidFill>
                            <a:srgbClr val="FF0000"/>
                          </a:solidFill>
                        </a:rPr>
                        <a:t>Times</a:t>
                      </a:r>
                      <a:endParaRPr sz="18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2.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Financial leverage = EBIT/EBT</a:t>
                      </a:r>
                      <a:endParaRPr sz="26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600">
                          <a:solidFill>
                            <a:srgbClr val="FF0000"/>
                          </a:solidFill>
                        </a:rPr>
                        <a:t>1.31 </a:t>
                      </a:r>
                      <a:r>
                        <a:rPr lang="en-IN" sz="1800">
                          <a:solidFill>
                            <a:srgbClr val="FF0000"/>
                          </a:solidFill>
                        </a:rPr>
                        <a:t>Times</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600">
                          <a:solidFill>
                            <a:srgbClr val="FF0000"/>
                          </a:solidFill>
                        </a:rPr>
                        <a:t>1.26 </a:t>
                      </a:r>
                      <a:r>
                        <a:rPr lang="en-IN" sz="1800">
                          <a:solidFill>
                            <a:srgbClr val="FF0000"/>
                          </a:solidFill>
                        </a:rPr>
                        <a:t>Times</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600">
                          <a:solidFill>
                            <a:srgbClr val="FF0000"/>
                          </a:solidFill>
                        </a:rPr>
                        <a:t>1.00</a:t>
                      </a:r>
                      <a:r>
                        <a:rPr lang="en-IN" sz="1800">
                          <a:solidFill>
                            <a:srgbClr val="FF0000"/>
                          </a:solidFill>
                        </a:rPr>
                        <a:t>Times</a:t>
                      </a:r>
                      <a:endParaRPr sz="18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3.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Combined leverage</a:t>
                      </a:r>
                      <a:r>
                        <a:rPr lang="en-IN" sz="2600">
                          <a:solidFill>
                            <a:srgbClr val="FF0000"/>
                          </a:solidFill>
                        </a:rPr>
                        <a:t> = C/EBT</a:t>
                      </a:r>
                      <a:endParaRPr sz="26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600">
                          <a:solidFill>
                            <a:srgbClr val="FF0000"/>
                          </a:solidFill>
                        </a:rPr>
                        <a:t>1.85 </a:t>
                      </a:r>
                      <a:r>
                        <a:rPr lang="en-IN" sz="1800">
                          <a:solidFill>
                            <a:srgbClr val="FF0000"/>
                          </a:solidFill>
                        </a:rPr>
                        <a:t>Times</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600">
                          <a:solidFill>
                            <a:srgbClr val="FF0000"/>
                          </a:solidFill>
                        </a:rPr>
                        <a:t>1.72 </a:t>
                      </a:r>
                      <a:r>
                        <a:rPr lang="en-IN" sz="1800">
                          <a:solidFill>
                            <a:srgbClr val="FF0000"/>
                          </a:solidFill>
                        </a:rPr>
                        <a:t>Times</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600">
                          <a:solidFill>
                            <a:srgbClr val="FF0000"/>
                          </a:solidFill>
                        </a:rPr>
                        <a:t>1.23 </a:t>
                      </a:r>
                      <a:r>
                        <a:rPr lang="en-IN" sz="1800">
                          <a:solidFill>
                            <a:srgbClr val="FF0000"/>
                          </a:solidFill>
                        </a:rPr>
                        <a:t>Times</a:t>
                      </a:r>
                      <a:endParaRPr sz="1800">
                        <a:solidFill>
                          <a:srgbClr val="FF0000"/>
                        </a:solidFill>
                      </a:endParaRPr>
                    </a:p>
                  </a:txBody>
                  <a:tcPr marT="45725" marB="45725" marR="91450" marL="91450"/>
                </a:tc>
              </a:tr>
            </a:tbl>
          </a:graphicData>
        </a:graphic>
      </p:graphicFrame>
      <p:pic>
        <p:nvPicPr>
          <p:cNvPr descr="Image result for sastra logo" id="271" name="Google Shape;271;p39"/>
          <p:cNvPicPr preferRelativeResize="0"/>
          <p:nvPr/>
        </p:nvPicPr>
        <p:blipFill rotWithShape="1">
          <a:blip r:embed="rId3">
            <a:alphaModFix/>
          </a:blip>
          <a:srcRect b="0" l="0" r="0" t="0"/>
          <a:stretch/>
        </p:blipFill>
        <p:spPr>
          <a:xfrm>
            <a:off x="9537700" y="162093"/>
            <a:ext cx="1816100" cy="60021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0"/>
          <p:cNvSpPr txBox="1"/>
          <p:nvPr>
            <p:ph idx="1" type="body"/>
          </p:nvPr>
        </p:nvSpPr>
        <p:spPr>
          <a:xfrm>
            <a:off x="838200" y="900545"/>
            <a:ext cx="10515600" cy="527641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Interpretation: </a:t>
            </a:r>
            <a:endParaRPr/>
          </a:p>
          <a:p>
            <a:pPr indent="-228600" lvl="0" marL="228600" rtl="0" algn="just">
              <a:lnSpc>
                <a:spcPct val="90000"/>
              </a:lnSpc>
              <a:spcBef>
                <a:spcPts val="1000"/>
              </a:spcBef>
              <a:spcAft>
                <a:spcPts val="0"/>
              </a:spcAft>
              <a:buClr>
                <a:schemeClr val="dk1"/>
              </a:buClr>
              <a:buSzPts val="2600"/>
              <a:buChar char="•"/>
            </a:pPr>
            <a:r>
              <a:rPr lang="en-IN" sz="2600"/>
              <a:t>High operating leverage combined with high financial leverage represents risky situation. </a:t>
            </a:r>
            <a:endParaRPr sz="2600"/>
          </a:p>
          <a:p>
            <a:pPr indent="-228600" lvl="0" marL="228600" rtl="0" algn="just">
              <a:lnSpc>
                <a:spcPct val="90000"/>
              </a:lnSpc>
              <a:spcBef>
                <a:spcPts val="1000"/>
              </a:spcBef>
              <a:spcAft>
                <a:spcPts val="0"/>
              </a:spcAft>
              <a:buClr>
                <a:schemeClr val="dk1"/>
              </a:buClr>
              <a:buSzPts val="2600"/>
              <a:buChar char="•"/>
            </a:pPr>
            <a:r>
              <a:rPr lang="en-IN" sz="2600"/>
              <a:t>Low operating leverage combined with high financial leverage will constitute an ideal situation.</a:t>
            </a:r>
            <a:endParaRPr/>
          </a:p>
          <a:p>
            <a:pPr indent="0" lvl="0" marL="0" rtl="0" algn="just">
              <a:lnSpc>
                <a:spcPct val="90000"/>
              </a:lnSpc>
              <a:spcBef>
                <a:spcPts val="1000"/>
              </a:spcBef>
              <a:spcAft>
                <a:spcPts val="0"/>
              </a:spcAft>
              <a:buClr>
                <a:schemeClr val="dk1"/>
              </a:buClr>
              <a:buSzPts val="2600"/>
              <a:buNone/>
            </a:pPr>
            <a:r>
              <a:rPr lang="en-IN" sz="2600"/>
              <a:t> Therefore, firm M is less risky because it has low fixed cost and low interest and consequently low combined leverage.</a:t>
            </a:r>
            <a:endParaRPr/>
          </a:p>
        </p:txBody>
      </p:sp>
      <p:pic>
        <p:nvPicPr>
          <p:cNvPr descr="Image result for sastra logo" id="277" name="Google Shape;277;p40"/>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1"/>
          <p:cNvSpPr txBox="1"/>
          <p:nvPr>
            <p:ph idx="1" type="body"/>
          </p:nvPr>
        </p:nvSpPr>
        <p:spPr>
          <a:xfrm>
            <a:off x="838200" y="873125"/>
            <a:ext cx="10515600" cy="497161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P5. A firm has sales of Rs. 10,00,000, variable cost of Rs. 7,00,000 and fixed costs of Rs. 2,00,000 and debt of Rs. 5,00,000 at 10% rate of interest. What are the operating, financial and combined leverages? If the firm wants to double its Earnings before interest and tax (EBIT), how much of a rise in sales would be needed on a percentage basis?</a:t>
            </a:r>
            <a:endParaRPr/>
          </a:p>
        </p:txBody>
      </p:sp>
      <p:pic>
        <p:nvPicPr>
          <p:cNvPr descr="Image result for sastra logo" id="283" name="Google Shape;283;p41"/>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idx="1" type="body"/>
          </p:nvPr>
        </p:nvSpPr>
        <p:spPr>
          <a:xfrm>
            <a:off x="838200" y="873125"/>
            <a:ext cx="10515600" cy="552767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Solution:                            Statement showing leverages</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graphicFrame>
        <p:nvGraphicFramePr>
          <p:cNvPr id="289" name="Google Shape;289;p42"/>
          <p:cNvGraphicFramePr/>
          <p:nvPr/>
        </p:nvGraphicFramePr>
        <p:xfrm>
          <a:off x="838200" y="1262582"/>
          <a:ext cx="3000000" cy="3000000"/>
        </p:xfrm>
        <a:graphic>
          <a:graphicData uri="http://schemas.openxmlformats.org/drawingml/2006/table">
            <a:tbl>
              <a:tblPr bandRow="1" firstRow="1">
                <a:noFill/>
                <a:tableStyleId>{F13EBC90-8482-44D1-B74C-96AE8BA04B85}</a:tableStyleId>
              </a:tblPr>
              <a:tblGrid>
                <a:gridCol w="768925"/>
                <a:gridCol w="8160325"/>
                <a:gridCol w="1586350"/>
              </a:tblGrid>
              <a:tr h="228600">
                <a:tc>
                  <a:txBody>
                    <a:bodyPr/>
                    <a:lstStyle/>
                    <a:p>
                      <a:pPr indent="0" lvl="0" marL="0" marR="0" rtl="0" algn="ctr">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1800"/>
                        <a:t>Particulars</a:t>
                      </a:r>
                      <a:endParaRPr sz="1800"/>
                    </a:p>
                  </a:txBody>
                  <a:tcPr marT="45725" marB="45725" marR="91450" marL="91450"/>
                </a:tc>
                <a:tc>
                  <a:txBody>
                    <a:bodyPr/>
                    <a:lstStyle/>
                    <a:p>
                      <a:pPr indent="0" lvl="0" marL="0" marR="0" rtl="0" algn="r">
                        <a:spcBef>
                          <a:spcPts val="0"/>
                        </a:spcBef>
                        <a:spcAft>
                          <a:spcPts val="0"/>
                        </a:spcAft>
                        <a:buNone/>
                      </a:pPr>
                      <a:r>
                        <a:rPr lang="en-IN" sz="1800"/>
                        <a:t>Rs. </a:t>
                      </a:r>
                      <a:endParaRPr sz="18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Sales</a:t>
                      </a:r>
                      <a:endParaRPr sz="2600"/>
                    </a:p>
                  </a:txBody>
                  <a:tcPr marT="45725" marB="45725" marR="91450" marL="91450"/>
                </a:tc>
                <a:tc>
                  <a:txBody>
                    <a:bodyPr/>
                    <a:lstStyle/>
                    <a:p>
                      <a:pPr indent="0" lvl="0" marL="0" marR="0" rtl="0" algn="r">
                        <a:spcBef>
                          <a:spcPts val="0"/>
                        </a:spcBef>
                        <a:spcAft>
                          <a:spcPts val="0"/>
                        </a:spcAft>
                        <a:buNone/>
                      </a:pPr>
                      <a:r>
                        <a:rPr lang="en-IN" sz="2600"/>
                        <a:t>10,00,000</a:t>
                      </a:r>
                      <a:endParaRPr sz="2600"/>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Variable Cost [70% of sales]</a:t>
                      </a:r>
                      <a:endParaRPr sz="2600"/>
                    </a:p>
                  </a:txBody>
                  <a:tcPr marT="45725" marB="45725" marR="91450" marL="91450"/>
                </a:tc>
                <a:tc>
                  <a:txBody>
                    <a:bodyPr/>
                    <a:lstStyle/>
                    <a:p>
                      <a:pPr indent="0" lvl="0" marL="0" marR="0" rtl="0" algn="r">
                        <a:spcBef>
                          <a:spcPts val="0"/>
                        </a:spcBef>
                        <a:spcAft>
                          <a:spcPts val="0"/>
                        </a:spcAft>
                        <a:buNone/>
                      </a:pPr>
                      <a:r>
                        <a:rPr lang="en-IN" sz="2600"/>
                        <a:t>7,00,000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Contribution</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3,00,000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Fixed Cost</a:t>
                      </a:r>
                      <a:endParaRPr sz="2600"/>
                    </a:p>
                  </a:txBody>
                  <a:tcPr marT="45725" marB="45725" marR="91450" marL="91450"/>
                </a:tc>
                <a:tc>
                  <a:txBody>
                    <a:bodyPr/>
                    <a:lstStyle/>
                    <a:p>
                      <a:pPr indent="0" lvl="0" marL="0" marR="0" rtl="0" algn="r">
                        <a:spcBef>
                          <a:spcPts val="0"/>
                        </a:spcBef>
                        <a:spcAft>
                          <a:spcPts val="0"/>
                        </a:spcAft>
                        <a:buNone/>
                      </a:pPr>
                      <a:r>
                        <a:rPr lang="en-IN" sz="2600"/>
                        <a:t>2,00,000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EBIT</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1,00,000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Interest @ 10% on 5,00,000</a:t>
                      </a:r>
                      <a:endParaRPr sz="2600"/>
                    </a:p>
                  </a:txBody>
                  <a:tcPr marT="45725" marB="45725" marR="91450" marL="91450"/>
                </a:tc>
                <a:tc>
                  <a:txBody>
                    <a:bodyPr/>
                    <a:lstStyle/>
                    <a:p>
                      <a:pPr indent="0" lvl="0" marL="0" marR="0" rtl="0" algn="r">
                        <a:spcBef>
                          <a:spcPts val="0"/>
                        </a:spcBef>
                        <a:spcAft>
                          <a:spcPts val="0"/>
                        </a:spcAft>
                        <a:buNone/>
                      </a:pPr>
                      <a:r>
                        <a:rPr lang="en-IN" sz="2600"/>
                        <a:t>50,000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EBT</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50,000</a:t>
                      </a:r>
                      <a:endParaRPr sz="2600">
                        <a:solidFill>
                          <a:srgbClr val="FF0000"/>
                        </a:solidFill>
                      </a:endParaRPr>
                    </a:p>
                  </a:txBody>
                  <a:tcPr marT="45725" marB="45725" marR="91450" marL="91450"/>
                </a:tc>
              </a:tr>
              <a:tr h="3591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Operating Leverage = Contribution /EBIT = 3 Lakh/1 Lakh</a:t>
                      </a:r>
                      <a:endParaRPr sz="2600"/>
                    </a:p>
                  </a:txBody>
                  <a:tcPr marT="45725" marB="45725" marR="91450" marL="91450"/>
                </a:tc>
                <a:tc>
                  <a:txBody>
                    <a:bodyPr/>
                    <a:lstStyle/>
                    <a:p>
                      <a:pPr indent="0" lvl="0" marL="0" marR="0" rtl="0" algn="r">
                        <a:spcBef>
                          <a:spcPts val="0"/>
                        </a:spcBef>
                        <a:spcAft>
                          <a:spcPts val="0"/>
                        </a:spcAft>
                        <a:buNone/>
                      </a:pPr>
                      <a:r>
                        <a:rPr lang="en-IN" sz="2600"/>
                        <a:t>3 Times </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Financial Leverage = EBIT/EBT = 1,00,000/50,000</a:t>
                      </a:r>
                      <a:endParaRPr sz="2600"/>
                    </a:p>
                  </a:txBody>
                  <a:tcPr marT="45725" marB="45725" marR="91450" marL="91450"/>
                </a:tc>
                <a:tc>
                  <a:txBody>
                    <a:bodyPr/>
                    <a:lstStyle/>
                    <a:p>
                      <a:pPr indent="0" lvl="0" marL="0" marR="0" rtl="0" algn="r">
                        <a:spcBef>
                          <a:spcPts val="0"/>
                        </a:spcBef>
                        <a:spcAft>
                          <a:spcPts val="0"/>
                        </a:spcAft>
                        <a:buNone/>
                      </a:pPr>
                      <a:r>
                        <a:rPr lang="en-IN" sz="2600"/>
                        <a:t>2 Times </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Combined leverage = Contribution/EBT = 3,00,000/50,000</a:t>
                      </a:r>
                      <a:endParaRPr sz="2600"/>
                    </a:p>
                  </a:txBody>
                  <a:tcPr marT="45725" marB="45725" marR="91450" marL="91450"/>
                </a:tc>
                <a:tc>
                  <a:txBody>
                    <a:bodyPr/>
                    <a:lstStyle/>
                    <a:p>
                      <a:pPr indent="0" lvl="0" marL="0" marR="0" rtl="0" algn="r">
                        <a:spcBef>
                          <a:spcPts val="0"/>
                        </a:spcBef>
                        <a:spcAft>
                          <a:spcPts val="0"/>
                        </a:spcAft>
                        <a:buNone/>
                      </a:pPr>
                      <a:r>
                        <a:rPr lang="en-IN" sz="2600"/>
                        <a:t>6 times </a:t>
                      </a:r>
                      <a:endParaRPr sz="2600"/>
                    </a:p>
                  </a:txBody>
                  <a:tcPr marT="45725" marB="45725" marR="91450" marL="91450"/>
                </a:tc>
              </a:tr>
            </a:tbl>
          </a:graphicData>
        </a:graphic>
      </p:graphicFrame>
      <p:pic>
        <p:nvPicPr>
          <p:cNvPr descr="Image result for sastra logo" id="290" name="Google Shape;290;p42"/>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3"/>
          <p:cNvSpPr txBox="1"/>
          <p:nvPr>
            <p:ph idx="1" type="body"/>
          </p:nvPr>
        </p:nvSpPr>
        <p:spPr>
          <a:xfrm>
            <a:off x="838200" y="914400"/>
            <a:ext cx="10515600" cy="52625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Statement of Sales needed to Double the EBIT: </a:t>
            </a:r>
            <a:endParaRPr/>
          </a:p>
          <a:p>
            <a:pPr indent="0" lvl="0" marL="0" rtl="0" algn="just">
              <a:lnSpc>
                <a:spcPct val="90000"/>
              </a:lnSpc>
              <a:spcBef>
                <a:spcPts val="1000"/>
              </a:spcBef>
              <a:spcAft>
                <a:spcPts val="0"/>
              </a:spcAft>
              <a:buClr>
                <a:schemeClr val="dk1"/>
              </a:buClr>
              <a:buSzPts val="2600"/>
              <a:buNone/>
            </a:pPr>
            <a:r>
              <a:rPr lang="en-IN" sz="2600"/>
              <a:t>Operating leverage is 3 times i.e., 33-1/3% increase in sales volume cause a 100% increase in operating profit or EBIT. Thus, at the sales of Rs. 13,33,333, operating profit or EBIT will become Rs. 2,00,000 i.e., double the existing one.</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Verification:</a:t>
            </a:r>
            <a:endParaRPr/>
          </a:p>
          <a:p>
            <a:pPr indent="0" lvl="0" marL="0" rtl="0" algn="just">
              <a:lnSpc>
                <a:spcPct val="90000"/>
              </a:lnSpc>
              <a:spcBef>
                <a:spcPts val="1000"/>
              </a:spcBef>
              <a:spcAft>
                <a:spcPts val="0"/>
              </a:spcAft>
              <a:buClr>
                <a:schemeClr val="dk1"/>
              </a:buClr>
              <a:buSzPts val="2600"/>
              <a:buNone/>
            </a:pPr>
            <a:r>
              <a:t/>
            </a:r>
            <a:endParaRPr sz="2600">
              <a:solidFill>
                <a:srgbClr val="FF0000"/>
              </a:solidFill>
            </a:endParaRPr>
          </a:p>
        </p:txBody>
      </p:sp>
      <p:graphicFrame>
        <p:nvGraphicFramePr>
          <p:cNvPr id="296" name="Google Shape;296;p43"/>
          <p:cNvGraphicFramePr/>
          <p:nvPr/>
        </p:nvGraphicFramePr>
        <p:xfrm>
          <a:off x="942108" y="3324320"/>
          <a:ext cx="3000000" cy="3000000"/>
        </p:xfrm>
        <a:graphic>
          <a:graphicData uri="http://schemas.openxmlformats.org/drawingml/2006/table">
            <a:tbl>
              <a:tblPr bandRow="1" firstRow="1">
                <a:noFill/>
                <a:tableStyleId>{F13EBC90-8482-44D1-B74C-96AE8BA04B85}</a:tableStyleId>
              </a:tblPr>
              <a:tblGrid>
                <a:gridCol w="803575"/>
                <a:gridCol w="8063350"/>
                <a:gridCol w="1544775"/>
              </a:tblGrid>
              <a:tr h="370850">
                <a:tc>
                  <a:txBody>
                    <a:bodyPr/>
                    <a:lstStyle/>
                    <a:p>
                      <a:pPr indent="0" lvl="0" marL="0" marR="0" rtl="0" algn="ctr">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rPr lang="en-IN" sz="1800"/>
                        <a:t>Particulars</a:t>
                      </a:r>
                      <a:endParaRPr sz="1800"/>
                    </a:p>
                  </a:txBody>
                  <a:tcPr marT="45725" marB="45725" marR="91450" marL="91450"/>
                </a:tc>
                <a:tc>
                  <a:txBody>
                    <a:bodyPr/>
                    <a:lstStyle/>
                    <a:p>
                      <a:pPr indent="0" lvl="0" marL="0" marR="0" rtl="0" algn="r">
                        <a:spcBef>
                          <a:spcPts val="0"/>
                        </a:spcBef>
                        <a:spcAft>
                          <a:spcPts val="0"/>
                        </a:spcAft>
                        <a:buNone/>
                      </a:pPr>
                      <a:r>
                        <a:rPr lang="en-IN" sz="1800"/>
                        <a:t>Rs.</a:t>
                      </a:r>
                      <a:endParaRPr sz="18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Sales[Rs. 10,00,000 +1/</a:t>
                      </a:r>
                      <a:r>
                        <a:rPr lang="en-IN" sz="2600"/>
                        <a:t>3 of Rs. 10,00,000]</a:t>
                      </a:r>
                      <a:endParaRPr sz="2600"/>
                    </a:p>
                  </a:txBody>
                  <a:tcPr marT="45725" marB="45725" marR="91450" marL="91450"/>
                </a:tc>
                <a:tc>
                  <a:txBody>
                    <a:bodyPr/>
                    <a:lstStyle/>
                    <a:p>
                      <a:pPr indent="0" lvl="0" marL="0" marR="0" rtl="0" algn="r">
                        <a:spcBef>
                          <a:spcPts val="0"/>
                        </a:spcBef>
                        <a:spcAft>
                          <a:spcPts val="0"/>
                        </a:spcAft>
                        <a:buNone/>
                      </a:pPr>
                      <a:r>
                        <a:rPr lang="en-IN" sz="2600"/>
                        <a:t>13,33,333</a:t>
                      </a:r>
                      <a:endParaRPr sz="2600"/>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Variable Cost [70% of sales}</a:t>
                      </a:r>
                      <a:endParaRPr sz="2600"/>
                    </a:p>
                  </a:txBody>
                  <a:tcPr marT="45725" marB="45725" marR="91450" marL="91450"/>
                </a:tc>
                <a:tc>
                  <a:txBody>
                    <a:bodyPr/>
                    <a:lstStyle/>
                    <a:p>
                      <a:pPr indent="0" lvl="0" marL="0" marR="0" rtl="0" algn="r">
                        <a:spcBef>
                          <a:spcPts val="0"/>
                        </a:spcBef>
                        <a:spcAft>
                          <a:spcPts val="0"/>
                        </a:spcAft>
                        <a:buNone/>
                      </a:pPr>
                      <a:r>
                        <a:rPr lang="en-IN" sz="2600"/>
                        <a:t>9,33,333</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Contribution</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4,00,000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Fixed Cost</a:t>
                      </a:r>
                      <a:endParaRPr sz="2600"/>
                    </a:p>
                  </a:txBody>
                  <a:tcPr marT="45725" marB="45725" marR="91450" marL="91450"/>
                </a:tc>
                <a:tc>
                  <a:txBody>
                    <a:bodyPr/>
                    <a:lstStyle/>
                    <a:p>
                      <a:pPr indent="0" lvl="0" marL="0" marR="0" rtl="0" algn="r">
                        <a:spcBef>
                          <a:spcPts val="0"/>
                        </a:spcBef>
                        <a:spcAft>
                          <a:spcPts val="0"/>
                        </a:spcAft>
                        <a:buNone/>
                      </a:pPr>
                      <a:r>
                        <a:rPr lang="en-IN" sz="2600"/>
                        <a:t>2,00,000</a:t>
                      </a:r>
                      <a:endParaRPr sz="2600"/>
                    </a:p>
                  </a:txBody>
                  <a:tcPr marT="45725" marB="45725" marR="91450" marL="91450"/>
                </a:tc>
              </a:tr>
              <a:tr h="370850">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EBIT</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2,00,000</a:t>
                      </a:r>
                      <a:endParaRPr b="1" sz="2600">
                        <a:solidFill>
                          <a:srgbClr val="FF0000"/>
                        </a:solidFill>
                      </a:endParaRPr>
                    </a:p>
                  </a:txBody>
                  <a:tcPr marT="45725" marB="45725" marR="91450" marL="91450"/>
                </a:tc>
              </a:tr>
            </a:tbl>
          </a:graphicData>
        </a:graphic>
      </p:graphicFrame>
      <p:pic>
        <p:nvPicPr>
          <p:cNvPr descr="Image result for sastra logo" id="297" name="Google Shape;297;p43"/>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4"/>
          <p:cNvSpPr txBox="1"/>
          <p:nvPr>
            <p:ph idx="1" type="body"/>
          </p:nvPr>
        </p:nvSpPr>
        <p:spPr>
          <a:xfrm>
            <a:off x="838200" y="955964"/>
            <a:ext cx="10515600" cy="522099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P6. X Corporation has estimated that for a new product its break-even point is 2,000 units if the items are sold for Rs. 14 per unit; the cost accounting department has currently identified variable cost of Rs. 9 per unit. Calculate the degree of operating leverage for sales volume of 2,500 units and 3,000 units. What do you infer from the degree of operating leverage at the sales volumes of 2,500 units and 3,000 units and their difference if any?</a:t>
            </a:r>
            <a:endParaRPr/>
          </a:p>
        </p:txBody>
      </p:sp>
      <p:pic>
        <p:nvPicPr>
          <p:cNvPr descr="Image result for sastra logo" id="303" name="Google Shape;303;p44"/>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body"/>
          </p:nvPr>
        </p:nvSpPr>
        <p:spPr>
          <a:xfrm>
            <a:off x="838200" y="928255"/>
            <a:ext cx="10515600" cy="524870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Solution:                             Statement showing leverages</a:t>
            </a:r>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p:txBody>
      </p:sp>
      <p:graphicFrame>
        <p:nvGraphicFramePr>
          <p:cNvPr id="309" name="Google Shape;309;p45"/>
          <p:cNvGraphicFramePr/>
          <p:nvPr/>
        </p:nvGraphicFramePr>
        <p:xfrm>
          <a:off x="838200" y="1398539"/>
          <a:ext cx="3000000" cy="3000000"/>
        </p:xfrm>
        <a:graphic>
          <a:graphicData uri="http://schemas.openxmlformats.org/drawingml/2006/table">
            <a:tbl>
              <a:tblPr bandRow="1" firstRow="1">
                <a:noFill/>
                <a:tableStyleId>{F13EBC90-8482-44D1-B74C-96AE8BA04B85}</a:tableStyleId>
              </a:tblPr>
              <a:tblGrid>
                <a:gridCol w="782775"/>
                <a:gridCol w="6968825"/>
                <a:gridCol w="1468575"/>
                <a:gridCol w="1295400"/>
              </a:tblGrid>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rPr lang="en-IN" sz="1800"/>
                        <a:t>Particulars</a:t>
                      </a:r>
                      <a:endParaRPr sz="1800"/>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IN" sz="1800"/>
                        <a:t>2,500</a:t>
                      </a:r>
                      <a:r>
                        <a:rPr lang="en-IN" sz="1800"/>
                        <a:t> Units</a:t>
                      </a:r>
                      <a:endParaRPr sz="1800"/>
                    </a:p>
                    <a:p>
                      <a:pPr indent="0" lvl="0" marL="0" marR="0" rtl="0" algn="ctr">
                        <a:spcBef>
                          <a:spcPts val="0"/>
                        </a:spcBef>
                        <a:spcAft>
                          <a:spcPts val="0"/>
                        </a:spcAft>
                        <a:buClr>
                          <a:schemeClr val="dk1"/>
                        </a:buClr>
                        <a:buSzPts val="1800"/>
                        <a:buFont typeface="Calibri"/>
                        <a:buNone/>
                      </a:pPr>
                      <a:r>
                        <a:rPr lang="en-IN" sz="1800"/>
                        <a:t>Rs.</a:t>
                      </a:r>
                      <a:r>
                        <a:rPr lang="en-IN" sz="1800"/>
                        <a:t> </a:t>
                      </a:r>
                      <a:endParaRPr sz="1800"/>
                    </a:p>
                  </a:txBody>
                  <a:tcPr marT="45725" marB="45725" marR="91450" marL="91450"/>
                </a:tc>
                <a:tc>
                  <a:txBody>
                    <a:bodyPr/>
                    <a:lstStyle/>
                    <a:p>
                      <a:pPr indent="0" lvl="0" marL="0" marR="0" rtl="0" algn="l">
                        <a:spcBef>
                          <a:spcPts val="0"/>
                        </a:spcBef>
                        <a:spcAft>
                          <a:spcPts val="0"/>
                        </a:spcAft>
                        <a:buNone/>
                      </a:pPr>
                      <a:r>
                        <a:rPr lang="en-IN" sz="1800"/>
                        <a:t>3,000 Units</a:t>
                      </a:r>
                      <a:endParaRPr/>
                    </a:p>
                    <a:p>
                      <a:pPr indent="0" lvl="0" marL="0" marR="0" rtl="0" algn="ctr">
                        <a:spcBef>
                          <a:spcPts val="0"/>
                        </a:spcBef>
                        <a:spcAft>
                          <a:spcPts val="0"/>
                        </a:spcAft>
                        <a:buNone/>
                      </a:pPr>
                      <a:r>
                        <a:rPr lang="en-IN" sz="1800"/>
                        <a:t>Rs.</a:t>
                      </a:r>
                      <a:endParaRPr sz="18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Sales @ Rs. 14 per unit</a:t>
                      </a:r>
                      <a:endParaRPr sz="2600"/>
                    </a:p>
                  </a:txBody>
                  <a:tcPr marT="45725" marB="45725" marR="91450" marL="91450"/>
                </a:tc>
                <a:tc>
                  <a:txBody>
                    <a:bodyPr/>
                    <a:lstStyle/>
                    <a:p>
                      <a:pPr indent="0" lvl="0" marL="0" marR="0" rtl="0" algn="r">
                        <a:spcBef>
                          <a:spcPts val="0"/>
                        </a:spcBef>
                        <a:spcAft>
                          <a:spcPts val="0"/>
                        </a:spcAft>
                        <a:buNone/>
                      </a:pPr>
                      <a:r>
                        <a:rPr lang="en-IN" sz="2600"/>
                        <a:t>35,000</a:t>
                      </a:r>
                      <a:endParaRPr sz="2600"/>
                    </a:p>
                  </a:txBody>
                  <a:tcPr marT="45725" marB="45725" marR="91450" marL="91450"/>
                </a:tc>
                <a:tc>
                  <a:txBody>
                    <a:bodyPr/>
                    <a:lstStyle/>
                    <a:p>
                      <a:pPr indent="0" lvl="0" marL="0" marR="0" rtl="0" algn="r">
                        <a:spcBef>
                          <a:spcPts val="0"/>
                        </a:spcBef>
                        <a:spcAft>
                          <a:spcPts val="0"/>
                        </a:spcAft>
                        <a:buNone/>
                      </a:pPr>
                      <a:r>
                        <a:rPr lang="en-IN" sz="2600"/>
                        <a:t>42,000</a:t>
                      </a:r>
                      <a:endParaRPr sz="2600"/>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Variable Cost @ Rs. 9 per unit</a:t>
                      </a:r>
                      <a:endParaRPr sz="2600"/>
                    </a:p>
                  </a:txBody>
                  <a:tcPr marT="45725" marB="45725" marR="91450" marL="91450"/>
                </a:tc>
                <a:tc>
                  <a:txBody>
                    <a:bodyPr/>
                    <a:lstStyle/>
                    <a:p>
                      <a:pPr indent="0" lvl="0" marL="0" marR="0" rtl="0" algn="r">
                        <a:spcBef>
                          <a:spcPts val="0"/>
                        </a:spcBef>
                        <a:spcAft>
                          <a:spcPts val="0"/>
                        </a:spcAft>
                        <a:buNone/>
                      </a:pPr>
                      <a:r>
                        <a:rPr lang="en-IN" sz="2600"/>
                        <a:t>22,500</a:t>
                      </a:r>
                      <a:endParaRPr sz="2600"/>
                    </a:p>
                  </a:txBody>
                  <a:tcPr marT="45725" marB="45725" marR="91450" marL="91450"/>
                </a:tc>
                <a:tc>
                  <a:txBody>
                    <a:bodyPr/>
                    <a:lstStyle/>
                    <a:p>
                      <a:pPr indent="0" lvl="0" marL="0" marR="0" rtl="0" algn="r">
                        <a:spcBef>
                          <a:spcPts val="0"/>
                        </a:spcBef>
                        <a:spcAft>
                          <a:spcPts val="0"/>
                        </a:spcAft>
                        <a:buNone/>
                      </a:pPr>
                      <a:r>
                        <a:rPr lang="en-IN" sz="2600"/>
                        <a:t>27,000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Contribution</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12,500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15,000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Fixed Cost [2,000 units</a:t>
                      </a:r>
                      <a:r>
                        <a:rPr lang="en-IN" sz="2600"/>
                        <a:t> × [Rs. 14 – Rs.9]</a:t>
                      </a:r>
                      <a:endParaRPr sz="2600"/>
                    </a:p>
                  </a:txBody>
                  <a:tcPr marT="45725" marB="45725" marR="91450" marL="91450"/>
                </a:tc>
                <a:tc>
                  <a:txBody>
                    <a:bodyPr/>
                    <a:lstStyle/>
                    <a:p>
                      <a:pPr indent="0" lvl="0" marL="0" marR="0" rtl="0" algn="r">
                        <a:spcBef>
                          <a:spcPts val="0"/>
                        </a:spcBef>
                        <a:spcAft>
                          <a:spcPts val="0"/>
                        </a:spcAft>
                        <a:buNone/>
                      </a:pPr>
                      <a:r>
                        <a:rPr lang="en-IN" sz="2600"/>
                        <a:t>10,000</a:t>
                      </a:r>
                      <a:endParaRPr sz="2600"/>
                    </a:p>
                  </a:txBody>
                  <a:tcPr marT="45725" marB="45725" marR="91450" marL="91450"/>
                </a:tc>
                <a:tc>
                  <a:txBody>
                    <a:bodyPr/>
                    <a:lstStyle/>
                    <a:p>
                      <a:pPr indent="0" lvl="0" marL="0" marR="0" rtl="0" algn="r">
                        <a:spcBef>
                          <a:spcPts val="0"/>
                        </a:spcBef>
                        <a:spcAft>
                          <a:spcPts val="0"/>
                        </a:spcAft>
                        <a:buNone/>
                      </a:pPr>
                      <a:r>
                        <a:rPr lang="en-IN" sz="2600"/>
                        <a:t>10,000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EBIT</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2,500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5,000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Operating Leverage = Contribution /EBIT</a:t>
                      </a:r>
                      <a:endParaRPr sz="2600"/>
                    </a:p>
                  </a:txBody>
                  <a:tcPr marT="45725" marB="45725" marR="91450" marL="91450"/>
                </a:tc>
                <a:tc>
                  <a:txBody>
                    <a:bodyPr/>
                    <a:lstStyle/>
                    <a:p>
                      <a:pPr indent="0" lvl="0" marL="0" marR="0" rtl="0" algn="l">
                        <a:spcBef>
                          <a:spcPts val="0"/>
                        </a:spcBef>
                        <a:spcAft>
                          <a:spcPts val="0"/>
                        </a:spcAft>
                        <a:buNone/>
                      </a:pPr>
                      <a:r>
                        <a:rPr lang="en-IN" sz="2600"/>
                        <a:t>5 Times</a:t>
                      </a:r>
                      <a:endParaRPr sz="2600"/>
                    </a:p>
                  </a:txBody>
                  <a:tcPr marT="45725" marB="45725" marR="91450" marL="91450"/>
                </a:tc>
                <a:tc>
                  <a:txBody>
                    <a:bodyPr/>
                    <a:lstStyle/>
                    <a:p>
                      <a:pPr indent="0" lvl="0" marL="0" marR="0" rtl="0" algn="l">
                        <a:spcBef>
                          <a:spcPts val="0"/>
                        </a:spcBef>
                        <a:spcAft>
                          <a:spcPts val="0"/>
                        </a:spcAft>
                        <a:buNone/>
                      </a:pPr>
                      <a:r>
                        <a:rPr lang="en-IN" sz="2600"/>
                        <a:t>3 Times</a:t>
                      </a:r>
                      <a:endParaRPr sz="2600"/>
                    </a:p>
                  </a:txBody>
                  <a:tcPr marT="45725" marB="45725" marR="91450" marL="91450"/>
                </a:tc>
              </a:tr>
            </a:tbl>
          </a:graphicData>
        </a:graphic>
      </p:graphicFrame>
      <p:pic>
        <p:nvPicPr>
          <p:cNvPr descr="Image result for sastra logo" id="310" name="Google Shape;310;p45"/>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6"/>
          <p:cNvSpPr txBox="1"/>
          <p:nvPr>
            <p:ph idx="1" type="body"/>
          </p:nvPr>
        </p:nvSpPr>
        <p:spPr>
          <a:xfrm>
            <a:off x="838200" y="955964"/>
            <a:ext cx="10515600" cy="522099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Conclusion: </a:t>
            </a:r>
            <a:endParaRPr/>
          </a:p>
          <a:p>
            <a:pPr indent="0" lvl="0" marL="0" rtl="0" algn="just">
              <a:lnSpc>
                <a:spcPct val="90000"/>
              </a:lnSpc>
              <a:spcBef>
                <a:spcPts val="1000"/>
              </a:spcBef>
              <a:spcAft>
                <a:spcPts val="0"/>
              </a:spcAft>
              <a:buClr>
                <a:schemeClr val="dk1"/>
              </a:buClr>
              <a:buSzPts val="2600"/>
              <a:buNone/>
            </a:pPr>
            <a:r>
              <a:rPr lang="en-IN" sz="2600"/>
              <a:t>At the sales volume of 3,000 units, the operating profit is Rs. 5,000 which is double the operating profit of Rs. 2,500 (sales volume of 2,500 units) because of the fact that the operating leverage is 5 times at the sales volume of 2,500 units. Hence increase of 20% in sales volume, the operating profit has increased by 100% i.e., 5 times of 20%. At the level of 3,000 units, the operating leverage is 3 times. If there is change in sales from the level of 3,000 units, the % increase in EBIT would be three times that of % increase in sales volume.</a:t>
            </a:r>
            <a:endParaRPr/>
          </a:p>
        </p:txBody>
      </p:sp>
      <p:pic>
        <p:nvPicPr>
          <p:cNvPr descr="Image result for sastra logo" id="316" name="Google Shape;316;p46"/>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7"/>
          <p:cNvSpPr txBox="1"/>
          <p:nvPr>
            <p:ph idx="1" type="body"/>
          </p:nvPr>
        </p:nvSpPr>
        <p:spPr>
          <a:xfrm>
            <a:off x="838200" y="884903"/>
            <a:ext cx="10515600" cy="529206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P7. The Capital Structure of the Progressive Corporation Limited consist of an ordinary share capital of Rs. 10,00,000 (shares of Rs. 100 per share value) and Rs. 10,00,000 of 10% debentures. Sales increased by 20%  from 1,00,000 units to 1,20,000 units, the selling price Rs. 10 per unit, variable cost amounts to Rs. 6 per unit and fixed expenses amount to Rs. 2,00,000. The income tax rate is assumed to be 50 per cent.</a:t>
            </a:r>
            <a:endParaRPr/>
          </a:p>
          <a:p>
            <a:pPr indent="0" lvl="0" marL="0" rtl="0" algn="just">
              <a:lnSpc>
                <a:spcPct val="90000"/>
              </a:lnSpc>
              <a:spcBef>
                <a:spcPts val="1000"/>
              </a:spcBef>
              <a:spcAft>
                <a:spcPts val="0"/>
              </a:spcAft>
              <a:buClr>
                <a:schemeClr val="dk1"/>
              </a:buClr>
              <a:buSzPts val="2600"/>
              <a:buNone/>
            </a:pPr>
            <a:r>
              <a:rPr lang="en-IN" sz="2600"/>
              <a:t>You are required to calculate the following:</a:t>
            </a:r>
            <a:endParaRPr/>
          </a:p>
          <a:p>
            <a:pPr indent="-571500" lvl="0" marL="571500" rtl="0" algn="just">
              <a:lnSpc>
                <a:spcPct val="90000"/>
              </a:lnSpc>
              <a:spcBef>
                <a:spcPts val="1000"/>
              </a:spcBef>
              <a:spcAft>
                <a:spcPts val="0"/>
              </a:spcAft>
              <a:buClr>
                <a:schemeClr val="dk1"/>
              </a:buClr>
              <a:buSzPts val="2600"/>
              <a:buAutoNum type="romanLcParenR"/>
            </a:pPr>
            <a:r>
              <a:rPr lang="en-IN" sz="2600"/>
              <a:t>The percentage of increase in earnings per share.</a:t>
            </a:r>
            <a:endParaRPr/>
          </a:p>
          <a:p>
            <a:pPr indent="-571500" lvl="0" marL="571500" rtl="0" algn="just">
              <a:lnSpc>
                <a:spcPct val="90000"/>
              </a:lnSpc>
              <a:spcBef>
                <a:spcPts val="1000"/>
              </a:spcBef>
              <a:spcAft>
                <a:spcPts val="0"/>
              </a:spcAft>
              <a:buClr>
                <a:schemeClr val="dk1"/>
              </a:buClr>
              <a:buSzPts val="2600"/>
              <a:buAutoNum type="romanLcParenR"/>
            </a:pPr>
            <a:r>
              <a:rPr lang="en-IN" sz="2600"/>
              <a:t>The degree of financial leverage at 1,00,000 units and 1,20,000 units.</a:t>
            </a:r>
            <a:endParaRPr/>
          </a:p>
          <a:p>
            <a:pPr indent="-571500" lvl="0" marL="571500" rtl="0" algn="just">
              <a:lnSpc>
                <a:spcPct val="90000"/>
              </a:lnSpc>
              <a:spcBef>
                <a:spcPts val="1000"/>
              </a:spcBef>
              <a:spcAft>
                <a:spcPts val="0"/>
              </a:spcAft>
              <a:buClr>
                <a:schemeClr val="dk1"/>
              </a:buClr>
              <a:buSzPts val="2600"/>
              <a:buAutoNum type="romanLcParenR"/>
            </a:pPr>
            <a:r>
              <a:rPr lang="en-IN" sz="2600"/>
              <a:t>The degree of operating leverage at 1,00,000 units and 1,20,000 units.</a:t>
            </a:r>
            <a:endParaRPr/>
          </a:p>
          <a:p>
            <a:pPr indent="0" lvl="0" marL="0" rtl="0" algn="just">
              <a:lnSpc>
                <a:spcPct val="90000"/>
              </a:lnSpc>
              <a:spcBef>
                <a:spcPts val="1000"/>
              </a:spcBef>
              <a:spcAft>
                <a:spcPts val="0"/>
              </a:spcAft>
              <a:buClr>
                <a:schemeClr val="dk1"/>
              </a:buClr>
              <a:buSzPts val="2600"/>
              <a:buNone/>
            </a:pPr>
            <a:r>
              <a:rPr lang="en-IN" sz="2600"/>
              <a:t>Comment on the behaviour of operating and financial leverages in relation to increase in production from 1,00,000 units to 1,20,000 units.</a:t>
            </a:r>
            <a:endParaRPr sz="2600"/>
          </a:p>
          <a:p>
            <a:pPr indent="-406400" lvl="0" marL="571500" rtl="0" algn="just">
              <a:lnSpc>
                <a:spcPct val="90000"/>
              </a:lnSpc>
              <a:spcBef>
                <a:spcPts val="1000"/>
              </a:spcBef>
              <a:spcAft>
                <a:spcPts val="0"/>
              </a:spcAft>
              <a:buClr>
                <a:schemeClr val="dk1"/>
              </a:buClr>
              <a:buSzPts val="2600"/>
              <a:buNone/>
            </a:pPr>
            <a:r>
              <a:t/>
            </a:r>
            <a:endParaRPr sz="2600"/>
          </a:p>
        </p:txBody>
      </p:sp>
      <p:pic>
        <p:nvPicPr>
          <p:cNvPr descr="Image result for sastra logo" id="322" name="Google Shape;322;p47"/>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8"/>
          <p:cNvSpPr txBox="1"/>
          <p:nvPr>
            <p:ph idx="1" type="body"/>
          </p:nvPr>
        </p:nvSpPr>
        <p:spPr>
          <a:xfrm>
            <a:off x="838200" y="870155"/>
            <a:ext cx="10515600" cy="55856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Solution:</a:t>
            </a:r>
            <a:endParaRPr/>
          </a:p>
          <a:p>
            <a:pPr indent="0" lvl="0" marL="0" rtl="0" algn="ctr">
              <a:lnSpc>
                <a:spcPct val="90000"/>
              </a:lnSpc>
              <a:spcBef>
                <a:spcPts val="1000"/>
              </a:spcBef>
              <a:spcAft>
                <a:spcPts val="0"/>
              </a:spcAft>
              <a:buClr>
                <a:srgbClr val="FF0000"/>
              </a:buClr>
              <a:buSzPts val="2600"/>
              <a:buNone/>
            </a:pPr>
            <a:r>
              <a:rPr b="1" lang="en-IN" sz="2600">
                <a:solidFill>
                  <a:srgbClr val="FF0000"/>
                </a:solidFill>
              </a:rPr>
              <a:t>Statement showing EPS and Leverages </a:t>
            </a:r>
            <a:endParaRPr/>
          </a:p>
          <a:p>
            <a:pPr indent="0" lvl="0" marL="0" rtl="0" algn="l">
              <a:lnSpc>
                <a:spcPct val="90000"/>
              </a:lnSpc>
              <a:spcBef>
                <a:spcPts val="1000"/>
              </a:spcBef>
              <a:spcAft>
                <a:spcPts val="0"/>
              </a:spcAft>
              <a:buClr>
                <a:schemeClr val="dk1"/>
              </a:buClr>
              <a:buSzPts val="2600"/>
              <a:buNone/>
            </a:pPr>
            <a:r>
              <a:t/>
            </a:r>
            <a:endParaRPr sz="2600"/>
          </a:p>
        </p:txBody>
      </p:sp>
      <p:graphicFrame>
        <p:nvGraphicFramePr>
          <p:cNvPr id="328" name="Google Shape;328;p48"/>
          <p:cNvGraphicFramePr/>
          <p:nvPr/>
        </p:nvGraphicFramePr>
        <p:xfrm>
          <a:off x="838200" y="1914285"/>
          <a:ext cx="3000000" cy="3000000"/>
        </p:xfrm>
        <a:graphic>
          <a:graphicData uri="http://schemas.openxmlformats.org/drawingml/2006/table">
            <a:tbl>
              <a:tblPr bandRow="1" firstRow="1">
                <a:noFill/>
                <a:tableStyleId>{F13EBC90-8482-44D1-B74C-96AE8BA04B85}</a:tableStyleId>
              </a:tblPr>
              <a:tblGrid>
                <a:gridCol w="1005350"/>
                <a:gridCol w="6268075"/>
                <a:gridCol w="1651825"/>
                <a:gridCol w="1590375"/>
              </a:tblGrid>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ctr">
                        <a:spcBef>
                          <a:spcPts val="0"/>
                        </a:spcBef>
                        <a:spcAft>
                          <a:spcPts val="0"/>
                        </a:spcAft>
                        <a:buNone/>
                      </a:pPr>
                      <a:r>
                        <a:rPr lang="en-IN" sz="1800"/>
                        <a:t>Particulars</a:t>
                      </a:r>
                      <a:endParaRPr sz="1800"/>
                    </a:p>
                  </a:txBody>
                  <a:tcPr marT="45725" marB="45725" marR="91450" marL="91450"/>
                </a:tc>
                <a:tc>
                  <a:txBody>
                    <a:bodyPr/>
                    <a:lstStyle/>
                    <a:p>
                      <a:pPr indent="0" lvl="0" marL="0" marR="0" rtl="0" algn="ctr">
                        <a:spcBef>
                          <a:spcPts val="0"/>
                        </a:spcBef>
                        <a:spcAft>
                          <a:spcPts val="0"/>
                        </a:spcAft>
                        <a:buNone/>
                      </a:pPr>
                      <a:r>
                        <a:rPr lang="en-IN" sz="1800"/>
                        <a:t>1,00,000 </a:t>
                      </a:r>
                      <a:endParaRPr/>
                    </a:p>
                    <a:p>
                      <a:pPr indent="0" lvl="0" marL="0" marR="0" rtl="0" algn="ctr">
                        <a:spcBef>
                          <a:spcPts val="0"/>
                        </a:spcBef>
                        <a:spcAft>
                          <a:spcPts val="0"/>
                        </a:spcAft>
                        <a:buNone/>
                      </a:pPr>
                      <a:r>
                        <a:rPr lang="en-IN" sz="1800"/>
                        <a:t>Units</a:t>
                      </a:r>
                      <a:endParaRPr sz="1800"/>
                    </a:p>
                  </a:txBody>
                  <a:tcPr marT="45725" marB="45725" marR="91450" marL="91450"/>
                </a:tc>
                <a:tc>
                  <a:txBody>
                    <a:bodyPr/>
                    <a:lstStyle/>
                    <a:p>
                      <a:pPr indent="0" lvl="0" marL="0" marR="0" rtl="0" algn="ctr">
                        <a:spcBef>
                          <a:spcPts val="0"/>
                        </a:spcBef>
                        <a:spcAft>
                          <a:spcPts val="0"/>
                        </a:spcAft>
                        <a:buNone/>
                      </a:pPr>
                      <a:r>
                        <a:rPr lang="en-IN" sz="1800"/>
                        <a:t>1,20,000 </a:t>
                      </a:r>
                      <a:endParaRPr/>
                    </a:p>
                    <a:p>
                      <a:pPr indent="0" lvl="0" marL="0" marR="0" rtl="0" algn="ctr">
                        <a:spcBef>
                          <a:spcPts val="0"/>
                        </a:spcBef>
                        <a:spcAft>
                          <a:spcPts val="0"/>
                        </a:spcAft>
                        <a:buNone/>
                      </a:pPr>
                      <a:r>
                        <a:rPr lang="en-IN" sz="1800"/>
                        <a:t>Units </a:t>
                      </a:r>
                      <a:endParaRPr sz="1800"/>
                    </a:p>
                  </a:txBody>
                  <a:tcPr marT="45725" marB="45725" marR="91450" marL="91450"/>
                </a:tc>
              </a:tr>
              <a:tr h="370850">
                <a:tc>
                  <a:txBody>
                    <a:bodyPr/>
                    <a:lstStyle/>
                    <a:p>
                      <a:pPr indent="0" lvl="0" marL="0" marR="0" rtl="0" algn="l">
                        <a:spcBef>
                          <a:spcPts val="0"/>
                        </a:spcBef>
                        <a:spcAft>
                          <a:spcPts val="0"/>
                        </a:spcAft>
                        <a:buNone/>
                      </a:pPr>
                      <a:r>
                        <a:t/>
                      </a:r>
                      <a:endParaRPr sz="2600"/>
                    </a:p>
                  </a:txBody>
                  <a:tcPr marT="45725" marB="45725" marR="91450" marL="91450"/>
                </a:tc>
                <a:tc>
                  <a:txBody>
                    <a:bodyPr/>
                    <a:lstStyle/>
                    <a:p>
                      <a:pPr indent="0" lvl="0" marL="0" marR="0" rtl="0" algn="l">
                        <a:spcBef>
                          <a:spcPts val="0"/>
                        </a:spcBef>
                        <a:spcAft>
                          <a:spcPts val="0"/>
                        </a:spcAft>
                        <a:buNone/>
                      </a:pPr>
                      <a:r>
                        <a:rPr lang="en-IN" sz="2600"/>
                        <a:t>Sales [Rs. 10 per</a:t>
                      </a:r>
                      <a:r>
                        <a:rPr lang="en-IN" sz="2600"/>
                        <a:t> unit]</a:t>
                      </a:r>
                      <a:endParaRPr sz="2600"/>
                    </a:p>
                  </a:txBody>
                  <a:tcPr marT="45725" marB="45725" marR="91450" marL="91450"/>
                </a:tc>
                <a:tc>
                  <a:txBody>
                    <a:bodyPr/>
                    <a:lstStyle/>
                    <a:p>
                      <a:pPr indent="0" lvl="0" marL="0" marR="0" rtl="0" algn="r">
                        <a:spcBef>
                          <a:spcPts val="0"/>
                        </a:spcBef>
                        <a:spcAft>
                          <a:spcPts val="0"/>
                        </a:spcAft>
                        <a:buNone/>
                      </a:pPr>
                      <a:r>
                        <a:rPr lang="en-IN" sz="2600"/>
                        <a:t>10,00,000</a:t>
                      </a:r>
                      <a:endParaRPr sz="2600"/>
                    </a:p>
                  </a:txBody>
                  <a:tcPr marT="45725" marB="45725" marR="91450" marL="91450"/>
                </a:tc>
                <a:tc>
                  <a:txBody>
                    <a:bodyPr/>
                    <a:lstStyle/>
                    <a:p>
                      <a:pPr indent="0" lvl="0" marL="0" marR="0" rtl="0" algn="r">
                        <a:spcBef>
                          <a:spcPts val="0"/>
                        </a:spcBef>
                        <a:spcAft>
                          <a:spcPts val="0"/>
                        </a:spcAft>
                        <a:buNone/>
                      </a:pPr>
                      <a:r>
                        <a:rPr lang="en-IN" sz="2600"/>
                        <a:t>12,00,000</a:t>
                      </a:r>
                      <a:endParaRPr sz="2600"/>
                    </a:p>
                  </a:txBody>
                  <a:tcPr marT="45725" marB="45725" marR="91450" marL="91450"/>
                </a:tc>
              </a:tr>
              <a:tr h="370850">
                <a:tc>
                  <a:txBody>
                    <a:bodyPr/>
                    <a:lstStyle/>
                    <a:p>
                      <a:pPr indent="0" lvl="0" marL="0" marR="0" rtl="0" algn="l">
                        <a:spcBef>
                          <a:spcPts val="0"/>
                        </a:spcBef>
                        <a:spcAft>
                          <a:spcPts val="0"/>
                        </a:spcAft>
                        <a:buNone/>
                      </a:pPr>
                      <a:r>
                        <a:rPr b="1" lang="en-IN" sz="2600">
                          <a:solidFill>
                            <a:srgbClr val="FF0000"/>
                          </a:solidFill>
                        </a:rPr>
                        <a:t>Less</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Variable Cost </a:t>
                      </a:r>
                      <a:endParaRPr sz="2600"/>
                    </a:p>
                  </a:txBody>
                  <a:tcPr marT="45725" marB="45725" marR="91450" marL="91450"/>
                </a:tc>
                <a:tc>
                  <a:txBody>
                    <a:bodyPr/>
                    <a:lstStyle/>
                    <a:p>
                      <a:pPr indent="0" lvl="0" marL="0" marR="0" rtl="0" algn="r">
                        <a:spcBef>
                          <a:spcPts val="0"/>
                        </a:spcBef>
                        <a:spcAft>
                          <a:spcPts val="0"/>
                        </a:spcAft>
                        <a:buNone/>
                      </a:pPr>
                      <a:r>
                        <a:rPr lang="en-IN" sz="2600"/>
                        <a:t>6,00,000</a:t>
                      </a:r>
                      <a:endParaRPr sz="2600"/>
                    </a:p>
                  </a:txBody>
                  <a:tcPr marT="45725" marB="45725" marR="91450" marL="91450"/>
                </a:tc>
                <a:tc>
                  <a:txBody>
                    <a:bodyPr/>
                    <a:lstStyle/>
                    <a:p>
                      <a:pPr indent="0" lvl="0" marL="0" marR="0" rtl="0" algn="r">
                        <a:spcBef>
                          <a:spcPts val="0"/>
                        </a:spcBef>
                        <a:spcAft>
                          <a:spcPts val="0"/>
                        </a:spcAft>
                        <a:buNone/>
                      </a:pPr>
                      <a:r>
                        <a:rPr lang="en-IN" sz="2600"/>
                        <a:t>7,20,000</a:t>
                      </a:r>
                      <a:endParaRPr sz="2600"/>
                    </a:p>
                  </a:txBody>
                  <a:tcPr marT="45725" marB="45725" marR="91450" marL="91450"/>
                </a:tc>
              </a:tr>
              <a:tr h="370850">
                <a:tc>
                  <a:txBody>
                    <a:bodyPr/>
                    <a:lstStyle/>
                    <a:p>
                      <a:pPr indent="0" lvl="0" marL="0" marR="0" rtl="0" algn="l">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Contribution</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4,00,000</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4,80,000</a:t>
                      </a:r>
                      <a:endParaRPr b="1" sz="26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b="1" lang="en-IN" sz="2600">
                          <a:solidFill>
                            <a:srgbClr val="FF0000"/>
                          </a:solidFill>
                        </a:rPr>
                        <a:t>Less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Fixed</a:t>
                      </a:r>
                      <a:r>
                        <a:rPr lang="en-IN" sz="2600"/>
                        <a:t> Expenses </a:t>
                      </a:r>
                      <a:endParaRPr sz="2600"/>
                    </a:p>
                  </a:txBody>
                  <a:tcPr marT="45725" marB="45725" marR="91450" marL="91450"/>
                </a:tc>
                <a:tc>
                  <a:txBody>
                    <a:bodyPr/>
                    <a:lstStyle/>
                    <a:p>
                      <a:pPr indent="0" lvl="0" marL="0" marR="0" rtl="0" algn="r">
                        <a:spcBef>
                          <a:spcPts val="0"/>
                        </a:spcBef>
                        <a:spcAft>
                          <a:spcPts val="0"/>
                        </a:spcAft>
                        <a:buNone/>
                      </a:pPr>
                      <a:r>
                        <a:rPr lang="en-IN" sz="2600"/>
                        <a:t>2,00,000</a:t>
                      </a:r>
                      <a:endParaRPr sz="2600"/>
                    </a:p>
                  </a:txBody>
                  <a:tcPr marT="45725" marB="45725" marR="91450" marL="91450"/>
                </a:tc>
                <a:tc>
                  <a:txBody>
                    <a:bodyPr/>
                    <a:lstStyle/>
                    <a:p>
                      <a:pPr indent="0" lvl="0" marL="0" marR="0" rtl="0" algn="r">
                        <a:spcBef>
                          <a:spcPts val="0"/>
                        </a:spcBef>
                        <a:spcAft>
                          <a:spcPts val="0"/>
                        </a:spcAft>
                        <a:buNone/>
                      </a:pPr>
                      <a:r>
                        <a:rPr lang="en-IN" sz="2600"/>
                        <a:t>2,00,000</a:t>
                      </a:r>
                      <a:endParaRPr sz="2600"/>
                    </a:p>
                  </a:txBody>
                  <a:tcPr marT="45725" marB="45725" marR="91450" marL="91450"/>
                </a:tc>
              </a:tr>
              <a:tr h="370850">
                <a:tc>
                  <a:txBody>
                    <a:bodyPr/>
                    <a:lstStyle/>
                    <a:p>
                      <a:pPr indent="0" lvl="0" marL="0" marR="0" rtl="0" algn="l">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EBIT </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2,00,000</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2,80,000</a:t>
                      </a:r>
                      <a:endParaRPr b="1" sz="26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b="1" lang="en-IN" sz="2600">
                          <a:solidFill>
                            <a:srgbClr val="FF0000"/>
                          </a:solidFill>
                        </a:rPr>
                        <a:t>Less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Interest </a:t>
                      </a:r>
                      <a:endParaRPr sz="2600"/>
                    </a:p>
                  </a:txBody>
                  <a:tcPr marT="45725" marB="45725" marR="91450" marL="91450"/>
                </a:tc>
                <a:tc>
                  <a:txBody>
                    <a:bodyPr/>
                    <a:lstStyle/>
                    <a:p>
                      <a:pPr indent="0" lvl="0" marL="0" marR="0" rtl="0" algn="r">
                        <a:spcBef>
                          <a:spcPts val="0"/>
                        </a:spcBef>
                        <a:spcAft>
                          <a:spcPts val="0"/>
                        </a:spcAft>
                        <a:buNone/>
                      </a:pPr>
                      <a:r>
                        <a:rPr lang="en-IN" sz="2600"/>
                        <a:t>1,00,000</a:t>
                      </a:r>
                      <a:endParaRPr sz="2600"/>
                    </a:p>
                  </a:txBody>
                  <a:tcPr marT="45725" marB="45725" marR="91450" marL="91450"/>
                </a:tc>
                <a:tc>
                  <a:txBody>
                    <a:bodyPr/>
                    <a:lstStyle/>
                    <a:p>
                      <a:pPr indent="0" lvl="0" marL="0" marR="0" rtl="0" algn="r">
                        <a:spcBef>
                          <a:spcPts val="0"/>
                        </a:spcBef>
                        <a:spcAft>
                          <a:spcPts val="0"/>
                        </a:spcAft>
                        <a:buNone/>
                      </a:pPr>
                      <a:r>
                        <a:rPr lang="en-IN" sz="2600"/>
                        <a:t>1,00,000</a:t>
                      </a:r>
                      <a:endParaRPr sz="2600"/>
                    </a:p>
                  </a:txBody>
                  <a:tcPr marT="45725" marB="45725" marR="91450" marL="91450"/>
                </a:tc>
              </a:tr>
              <a:tr h="370850">
                <a:tc>
                  <a:txBody>
                    <a:bodyPr/>
                    <a:lstStyle/>
                    <a:p>
                      <a:pPr indent="0" lvl="0" marL="0" marR="0" rtl="0" algn="l">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EBT</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1,00,000</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1,80,000</a:t>
                      </a:r>
                      <a:endParaRPr b="1" sz="26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rPr b="1" lang="en-IN" sz="2600">
                          <a:solidFill>
                            <a:srgbClr val="FF0000"/>
                          </a:solidFill>
                        </a:rPr>
                        <a:t>Less</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Tax</a:t>
                      </a:r>
                      <a:r>
                        <a:rPr lang="en-IN" sz="2600"/>
                        <a:t> @50%</a:t>
                      </a:r>
                      <a:endParaRPr sz="2600"/>
                    </a:p>
                  </a:txBody>
                  <a:tcPr marT="45725" marB="45725" marR="91450" marL="91450"/>
                </a:tc>
                <a:tc>
                  <a:txBody>
                    <a:bodyPr/>
                    <a:lstStyle/>
                    <a:p>
                      <a:pPr indent="0" lvl="0" marL="0" marR="0" rtl="0" algn="r">
                        <a:spcBef>
                          <a:spcPts val="0"/>
                        </a:spcBef>
                        <a:spcAft>
                          <a:spcPts val="0"/>
                        </a:spcAft>
                        <a:buNone/>
                      </a:pPr>
                      <a:r>
                        <a:rPr lang="en-IN" sz="2600"/>
                        <a:t>50,000</a:t>
                      </a:r>
                      <a:endParaRPr sz="2600"/>
                    </a:p>
                  </a:txBody>
                  <a:tcPr marT="45725" marB="45725" marR="91450" marL="91450"/>
                </a:tc>
                <a:tc>
                  <a:txBody>
                    <a:bodyPr/>
                    <a:lstStyle/>
                    <a:p>
                      <a:pPr indent="0" lvl="0" marL="0" marR="0" rtl="0" algn="r">
                        <a:spcBef>
                          <a:spcPts val="0"/>
                        </a:spcBef>
                        <a:spcAft>
                          <a:spcPts val="0"/>
                        </a:spcAft>
                        <a:buNone/>
                      </a:pPr>
                      <a:r>
                        <a:rPr lang="en-IN" sz="2600"/>
                        <a:t>90,000</a:t>
                      </a:r>
                      <a:endParaRPr sz="2600"/>
                    </a:p>
                  </a:txBody>
                  <a:tcPr marT="45725" marB="45725" marR="91450" marL="91450"/>
                </a:tc>
              </a:tr>
            </a:tbl>
          </a:graphicData>
        </a:graphic>
      </p:graphicFrame>
      <p:pic>
        <p:nvPicPr>
          <p:cNvPr descr="Image result for sastra logo" id="329" name="Google Shape;329;p48"/>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descr="Image result for sastra logo" id="334" name="Google Shape;334;p49"/>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
        <p:nvSpPr>
          <p:cNvPr id="335" name="Google Shape;335;p49"/>
          <p:cNvSpPr txBox="1"/>
          <p:nvPr>
            <p:ph idx="1" type="body"/>
          </p:nvPr>
        </p:nvSpPr>
        <p:spPr>
          <a:xfrm>
            <a:off x="838200" y="873125"/>
            <a:ext cx="10515600" cy="53038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p>
          <a:p>
            <a:pPr indent="0" lvl="0" marL="0" rtl="0" algn="l">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rPr lang="en-IN" sz="2600"/>
              <a:t>On account of increase in sales from 1 lakh units to 1,20,000 units @ Rs. 10 per unit, EPS increase by 80% while operating leverage down from 2 to 1.71 and financial leverage decline from 2 to 1.58. There is a significant decrease in both the business and financial risk of the company on account of reduction in both the leverages. This is generally the result when there is increase in sales without any increase in fixed operating or financial cost.</a:t>
            </a:r>
            <a:endParaRPr/>
          </a:p>
          <a:p>
            <a:pPr indent="-63500" lvl="0" marL="228600" rtl="0" algn="l">
              <a:lnSpc>
                <a:spcPct val="90000"/>
              </a:lnSpc>
              <a:spcBef>
                <a:spcPts val="1000"/>
              </a:spcBef>
              <a:spcAft>
                <a:spcPts val="0"/>
              </a:spcAft>
              <a:buClr>
                <a:schemeClr val="dk1"/>
              </a:buClr>
              <a:buSzPts val="2600"/>
              <a:buNone/>
            </a:pPr>
            <a:r>
              <a:t/>
            </a:r>
            <a:endParaRPr sz="2600"/>
          </a:p>
        </p:txBody>
      </p:sp>
      <p:pic>
        <p:nvPicPr>
          <p:cNvPr id="336" name="Google Shape;336;p49"/>
          <p:cNvPicPr preferRelativeResize="0"/>
          <p:nvPr/>
        </p:nvPicPr>
        <p:blipFill rotWithShape="1">
          <a:blip r:embed="rId4">
            <a:alphaModFix/>
          </a:blip>
          <a:srcRect b="0" l="0" r="0" t="0"/>
          <a:stretch/>
        </p:blipFill>
        <p:spPr>
          <a:xfrm>
            <a:off x="838200" y="873125"/>
            <a:ext cx="10553091" cy="2489507"/>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0"/>
          <p:cNvSpPr txBox="1"/>
          <p:nvPr>
            <p:ph idx="1" type="body"/>
          </p:nvPr>
        </p:nvSpPr>
        <p:spPr>
          <a:xfrm>
            <a:off x="838200" y="870154"/>
            <a:ext cx="10515600" cy="517407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P8. A firm has sales of Rs. 75,00,000, variable cost of Rs. 42,00,000 and fixed cost of Rs. 6,00,000. It has debt of Rs. 45,00,000 at 9% and equity of Rs. 55,00,000.</a:t>
            </a:r>
            <a:endParaRPr/>
          </a:p>
          <a:p>
            <a:pPr indent="-571500" lvl="0" marL="571500" rtl="0" algn="just">
              <a:lnSpc>
                <a:spcPct val="90000"/>
              </a:lnSpc>
              <a:spcBef>
                <a:spcPts val="1000"/>
              </a:spcBef>
              <a:spcAft>
                <a:spcPts val="0"/>
              </a:spcAft>
              <a:buClr>
                <a:schemeClr val="dk1"/>
              </a:buClr>
              <a:buSzPts val="2600"/>
              <a:buAutoNum type="romanLcParenR"/>
            </a:pPr>
            <a:r>
              <a:rPr lang="en-IN" sz="2600"/>
              <a:t>What is the firms ROI?</a:t>
            </a:r>
            <a:endParaRPr/>
          </a:p>
          <a:p>
            <a:pPr indent="-571500" lvl="0" marL="571500" rtl="0" algn="just">
              <a:lnSpc>
                <a:spcPct val="90000"/>
              </a:lnSpc>
              <a:spcBef>
                <a:spcPts val="1000"/>
              </a:spcBef>
              <a:spcAft>
                <a:spcPts val="0"/>
              </a:spcAft>
              <a:buClr>
                <a:schemeClr val="dk1"/>
              </a:buClr>
              <a:buSzPts val="2600"/>
              <a:buAutoNum type="romanLcParenR"/>
            </a:pPr>
            <a:r>
              <a:rPr lang="en-IN" sz="2600"/>
              <a:t>Does it have favourable financial leverage?</a:t>
            </a:r>
            <a:endParaRPr/>
          </a:p>
          <a:p>
            <a:pPr indent="-571500" lvl="0" marL="571500" rtl="0" algn="just">
              <a:lnSpc>
                <a:spcPct val="90000"/>
              </a:lnSpc>
              <a:spcBef>
                <a:spcPts val="1000"/>
              </a:spcBef>
              <a:spcAft>
                <a:spcPts val="0"/>
              </a:spcAft>
              <a:buClr>
                <a:schemeClr val="dk1"/>
              </a:buClr>
              <a:buSzPts val="2600"/>
              <a:buAutoNum type="romanLcParenR"/>
            </a:pPr>
            <a:r>
              <a:rPr lang="en-IN" sz="2600"/>
              <a:t>If the firm belongs to an industry whose asset turnover is 3, does it have a high or low asset leverage?</a:t>
            </a:r>
            <a:endParaRPr/>
          </a:p>
          <a:p>
            <a:pPr indent="-571500" lvl="0" marL="571500" rtl="0" algn="just">
              <a:lnSpc>
                <a:spcPct val="90000"/>
              </a:lnSpc>
              <a:spcBef>
                <a:spcPts val="1000"/>
              </a:spcBef>
              <a:spcAft>
                <a:spcPts val="0"/>
              </a:spcAft>
              <a:buClr>
                <a:schemeClr val="dk1"/>
              </a:buClr>
              <a:buSzPts val="2600"/>
              <a:buAutoNum type="romanLcParenR"/>
            </a:pPr>
            <a:r>
              <a:rPr lang="en-IN" sz="2600"/>
              <a:t>What are the operating and financial and combined leverages of the firm?</a:t>
            </a:r>
            <a:endParaRPr/>
          </a:p>
          <a:p>
            <a:pPr indent="-571500" lvl="0" marL="571500" rtl="0" algn="just">
              <a:lnSpc>
                <a:spcPct val="90000"/>
              </a:lnSpc>
              <a:spcBef>
                <a:spcPts val="1000"/>
              </a:spcBef>
              <a:spcAft>
                <a:spcPts val="0"/>
              </a:spcAft>
              <a:buClr>
                <a:schemeClr val="dk1"/>
              </a:buClr>
              <a:buSzPts val="2600"/>
              <a:buAutoNum type="romanLcParenR"/>
            </a:pPr>
            <a:r>
              <a:rPr lang="en-IN" sz="2600"/>
              <a:t>If the sales drop to Rs. 50,00,000. what will be the new EBIT?</a:t>
            </a:r>
            <a:endParaRPr/>
          </a:p>
          <a:p>
            <a:pPr indent="-571500" lvl="0" marL="571500" rtl="0" algn="just">
              <a:lnSpc>
                <a:spcPct val="90000"/>
              </a:lnSpc>
              <a:spcBef>
                <a:spcPts val="1000"/>
              </a:spcBef>
              <a:spcAft>
                <a:spcPts val="0"/>
              </a:spcAft>
              <a:buClr>
                <a:schemeClr val="dk1"/>
              </a:buClr>
              <a:buSzPts val="2600"/>
              <a:buAutoNum type="romanLcParenR"/>
            </a:pPr>
            <a:r>
              <a:rPr lang="en-IN" sz="2600"/>
              <a:t>At what level the EBT of the firm will be equal to zero?</a:t>
            </a:r>
            <a:endParaRPr/>
          </a:p>
          <a:p>
            <a:pPr indent="-406400" lvl="0" marL="571500" rtl="0" algn="just">
              <a:lnSpc>
                <a:spcPct val="90000"/>
              </a:lnSpc>
              <a:spcBef>
                <a:spcPts val="1000"/>
              </a:spcBef>
              <a:spcAft>
                <a:spcPts val="0"/>
              </a:spcAft>
              <a:buClr>
                <a:schemeClr val="dk1"/>
              </a:buClr>
              <a:buSzPts val="2600"/>
              <a:buNone/>
            </a:pPr>
            <a:r>
              <a:t/>
            </a:r>
            <a:endParaRPr sz="2600"/>
          </a:p>
        </p:txBody>
      </p:sp>
      <p:pic>
        <p:nvPicPr>
          <p:cNvPr descr="Image result for sastra logo" id="342" name="Google Shape;342;p50"/>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1"/>
          <p:cNvSpPr txBox="1"/>
          <p:nvPr>
            <p:ph idx="1" type="body"/>
          </p:nvPr>
        </p:nvSpPr>
        <p:spPr>
          <a:xfrm>
            <a:off x="838200" y="748144"/>
            <a:ext cx="10515600" cy="5749637"/>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500"/>
              <a:buNone/>
            </a:pPr>
            <a:r>
              <a:rPr lang="en-IN" sz="2500"/>
              <a:t>P9. XYZ and Co. has three financial plans before it, Plan I, Plan II and Plan III. Calculate operating and financial leverage for the firm on the basis of the following information and also find out the highest and lowest value of combined leverage : </a:t>
            </a:r>
            <a:endParaRPr sz="2500"/>
          </a:p>
          <a:p>
            <a:pPr indent="0" lvl="0" marL="0" rtl="0" algn="just">
              <a:lnSpc>
                <a:spcPct val="90000"/>
              </a:lnSpc>
              <a:spcBef>
                <a:spcPts val="1000"/>
              </a:spcBef>
              <a:spcAft>
                <a:spcPts val="0"/>
              </a:spcAft>
              <a:buClr>
                <a:schemeClr val="dk1"/>
              </a:buClr>
              <a:buSzPts val="2500"/>
              <a:buNone/>
            </a:pPr>
            <a:r>
              <a:rPr lang="en-IN" sz="2500"/>
              <a:t>Production 			800 Units </a:t>
            </a:r>
            <a:endParaRPr sz="2500"/>
          </a:p>
          <a:p>
            <a:pPr indent="0" lvl="0" marL="0" rtl="0" algn="just">
              <a:lnSpc>
                <a:spcPct val="90000"/>
              </a:lnSpc>
              <a:spcBef>
                <a:spcPts val="1000"/>
              </a:spcBef>
              <a:spcAft>
                <a:spcPts val="0"/>
              </a:spcAft>
              <a:buClr>
                <a:schemeClr val="dk1"/>
              </a:buClr>
              <a:buSzPts val="2500"/>
              <a:buNone/>
            </a:pPr>
            <a:r>
              <a:rPr lang="en-IN" sz="2500"/>
              <a:t>Selling Price per unit 		Rs. 15 </a:t>
            </a:r>
            <a:endParaRPr sz="2500"/>
          </a:p>
          <a:p>
            <a:pPr indent="0" lvl="0" marL="0" rtl="0" algn="just">
              <a:lnSpc>
                <a:spcPct val="90000"/>
              </a:lnSpc>
              <a:spcBef>
                <a:spcPts val="1000"/>
              </a:spcBef>
              <a:spcAft>
                <a:spcPts val="0"/>
              </a:spcAft>
              <a:buClr>
                <a:schemeClr val="dk1"/>
              </a:buClr>
              <a:buSzPts val="2500"/>
              <a:buNone/>
            </a:pPr>
            <a:r>
              <a:rPr lang="en-IN" sz="2500"/>
              <a:t>Variable cost per unit 	Rs. 10 </a:t>
            </a:r>
            <a:endParaRPr sz="2500"/>
          </a:p>
          <a:p>
            <a:pPr indent="0" lvl="0" marL="0" rtl="0" algn="just">
              <a:lnSpc>
                <a:spcPct val="90000"/>
              </a:lnSpc>
              <a:spcBef>
                <a:spcPts val="1000"/>
              </a:spcBef>
              <a:spcAft>
                <a:spcPts val="0"/>
              </a:spcAft>
              <a:buClr>
                <a:schemeClr val="dk1"/>
              </a:buClr>
              <a:buSzPts val="2500"/>
              <a:buNone/>
            </a:pPr>
            <a:r>
              <a:rPr lang="en-IN" sz="2500"/>
              <a:t>Fixed Cost : Situation A = Rs. 1,000 </a:t>
            </a:r>
            <a:endParaRPr sz="2500"/>
          </a:p>
          <a:p>
            <a:pPr indent="0" lvl="0" marL="0" rtl="0" algn="just">
              <a:lnSpc>
                <a:spcPct val="90000"/>
              </a:lnSpc>
              <a:spcBef>
                <a:spcPts val="1000"/>
              </a:spcBef>
              <a:spcAft>
                <a:spcPts val="0"/>
              </a:spcAft>
              <a:buClr>
                <a:schemeClr val="dk1"/>
              </a:buClr>
              <a:buSzPts val="2500"/>
              <a:buNone/>
            </a:pPr>
            <a:r>
              <a:rPr lang="en-IN" sz="2500"/>
              <a:t>	         Situation B = Rs. 2,000 </a:t>
            </a:r>
            <a:endParaRPr sz="2500"/>
          </a:p>
          <a:p>
            <a:pPr indent="0" lvl="0" marL="0" rtl="0" algn="just">
              <a:lnSpc>
                <a:spcPct val="90000"/>
              </a:lnSpc>
              <a:spcBef>
                <a:spcPts val="1000"/>
              </a:spcBef>
              <a:spcAft>
                <a:spcPts val="0"/>
              </a:spcAft>
              <a:buClr>
                <a:schemeClr val="dk1"/>
              </a:buClr>
              <a:buSzPts val="2500"/>
              <a:buNone/>
            </a:pPr>
            <a:r>
              <a:rPr lang="en-IN" sz="2500"/>
              <a:t>	         Situation C = Rs. 3,000</a:t>
            </a:r>
            <a:endParaRPr/>
          </a:p>
          <a:p>
            <a:pPr indent="0" lvl="0" marL="0" rtl="0" algn="just">
              <a:lnSpc>
                <a:spcPct val="90000"/>
              </a:lnSpc>
              <a:spcBef>
                <a:spcPts val="1000"/>
              </a:spcBef>
              <a:spcAft>
                <a:spcPts val="0"/>
              </a:spcAft>
              <a:buClr>
                <a:schemeClr val="dk1"/>
              </a:buClr>
              <a:buSzPts val="2500"/>
              <a:buNone/>
            </a:pPr>
            <a:r>
              <a:t/>
            </a:r>
            <a:endParaRPr sz="2500"/>
          </a:p>
        </p:txBody>
      </p:sp>
      <p:graphicFrame>
        <p:nvGraphicFramePr>
          <p:cNvPr id="348" name="Google Shape;348;p51"/>
          <p:cNvGraphicFramePr/>
          <p:nvPr/>
        </p:nvGraphicFramePr>
        <p:xfrm>
          <a:off x="838200" y="5014422"/>
          <a:ext cx="3000000" cy="3000000"/>
        </p:xfrm>
        <a:graphic>
          <a:graphicData uri="http://schemas.openxmlformats.org/drawingml/2006/table">
            <a:tbl>
              <a:tblPr bandRow="1" firstRow="1">
                <a:noFill/>
                <a:tableStyleId>{F13EBC90-8482-44D1-B74C-96AE8BA04B85}</a:tableStyleId>
              </a:tblPr>
              <a:tblGrid>
                <a:gridCol w="6698675"/>
                <a:gridCol w="1177625"/>
                <a:gridCol w="1302325"/>
                <a:gridCol w="1336975"/>
              </a:tblGrid>
              <a:tr h="370850">
                <a:tc>
                  <a:txBody>
                    <a:bodyPr/>
                    <a:lstStyle/>
                    <a:p>
                      <a:pPr indent="0" lvl="0" marL="0" marR="0" rtl="0" algn="ctr">
                        <a:spcBef>
                          <a:spcPts val="0"/>
                        </a:spcBef>
                        <a:spcAft>
                          <a:spcPts val="0"/>
                        </a:spcAft>
                        <a:buNone/>
                      </a:pPr>
                      <a:r>
                        <a:rPr lang="en-IN" sz="1800"/>
                        <a:t>Capital Structure</a:t>
                      </a:r>
                      <a:endParaRPr sz="1800"/>
                    </a:p>
                  </a:txBody>
                  <a:tcPr marT="45725" marB="45725" marR="91450" marL="91450"/>
                </a:tc>
                <a:tc>
                  <a:txBody>
                    <a:bodyPr/>
                    <a:lstStyle/>
                    <a:p>
                      <a:pPr indent="0" lvl="0" marL="0" marR="0" rtl="0" algn="ctr">
                        <a:spcBef>
                          <a:spcPts val="0"/>
                        </a:spcBef>
                        <a:spcAft>
                          <a:spcPts val="0"/>
                        </a:spcAft>
                        <a:buNone/>
                      </a:pPr>
                      <a:r>
                        <a:rPr lang="en-IN" sz="1800"/>
                        <a:t>Plan I</a:t>
                      </a:r>
                      <a:endParaRPr sz="1800"/>
                    </a:p>
                  </a:txBody>
                  <a:tcPr marT="45725" marB="45725" marR="91450" marL="91450"/>
                </a:tc>
                <a:tc>
                  <a:txBody>
                    <a:bodyPr/>
                    <a:lstStyle/>
                    <a:p>
                      <a:pPr indent="0" lvl="0" marL="0" marR="0" rtl="0" algn="ctr">
                        <a:spcBef>
                          <a:spcPts val="0"/>
                        </a:spcBef>
                        <a:spcAft>
                          <a:spcPts val="0"/>
                        </a:spcAft>
                        <a:buNone/>
                      </a:pPr>
                      <a:r>
                        <a:rPr lang="en-IN" sz="1800"/>
                        <a:t>Plan</a:t>
                      </a:r>
                      <a:r>
                        <a:rPr lang="en-IN" sz="1800"/>
                        <a:t> II</a:t>
                      </a:r>
                      <a:endParaRPr sz="1800"/>
                    </a:p>
                  </a:txBody>
                  <a:tcPr marT="45725" marB="45725" marR="91450" marL="91450"/>
                </a:tc>
                <a:tc>
                  <a:txBody>
                    <a:bodyPr/>
                    <a:lstStyle/>
                    <a:p>
                      <a:pPr indent="0" lvl="0" marL="0" marR="0" rtl="0" algn="ctr">
                        <a:spcBef>
                          <a:spcPts val="0"/>
                        </a:spcBef>
                        <a:spcAft>
                          <a:spcPts val="0"/>
                        </a:spcAft>
                        <a:buNone/>
                      </a:pPr>
                      <a:r>
                        <a:rPr lang="en-IN" sz="1800"/>
                        <a:t>Plan III</a:t>
                      </a:r>
                      <a:endParaRPr sz="1800"/>
                    </a:p>
                  </a:txBody>
                  <a:tcPr marT="45725" marB="45725" marR="91450" marL="91450"/>
                </a:tc>
              </a:tr>
              <a:tr h="370850">
                <a:tc>
                  <a:txBody>
                    <a:bodyPr/>
                    <a:lstStyle/>
                    <a:p>
                      <a:pPr indent="0" lvl="0" marL="0" marR="0" rtl="0" algn="l">
                        <a:spcBef>
                          <a:spcPts val="0"/>
                        </a:spcBef>
                        <a:spcAft>
                          <a:spcPts val="0"/>
                        </a:spcAft>
                        <a:buNone/>
                      </a:pPr>
                      <a:r>
                        <a:rPr lang="en-IN" sz="2500"/>
                        <a:t>Equity Capital [Rs.]</a:t>
                      </a:r>
                      <a:endParaRPr sz="2500"/>
                    </a:p>
                  </a:txBody>
                  <a:tcPr marT="45725" marB="45725" marR="91450" marL="91450"/>
                </a:tc>
                <a:tc>
                  <a:txBody>
                    <a:bodyPr/>
                    <a:lstStyle/>
                    <a:p>
                      <a:pPr indent="0" lvl="0" marL="0" marR="0" rtl="0" algn="ctr">
                        <a:spcBef>
                          <a:spcPts val="0"/>
                        </a:spcBef>
                        <a:spcAft>
                          <a:spcPts val="0"/>
                        </a:spcAft>
                        <a:buNone/>
                      </a:pPr>
                      <a:r>
                        <a:rPr lang="en-IN" sz="2500"/>
                        <a:t>5,000</a:t>
                      </a:r>
                      <a:endParaRPr sz="2500"/>
                    </a:p>
                  </a:txBody>
                  <a:tcPr marT="45725" marB="45725" marR="91450" marL="91450"/>
                </a:tc>
                <a:tc>
                  <a:txBody>
                    <a:bodyPr/>
                    <a:lstStyle/>
                    <a:p>
                      <a:pPr indent="0" lvl="0" marL="0" marR="0" rtl="0" algn="ctr">
                        <a:spcBef>
                          <a:spcPts val="0"/>
                        </a:spcBef>
                        <a:spcAft>
                          <a:spcPts val="0"/>
                        </a:spcAft>
                        <a:buNone/>
                      </a:pPr>
                      <a:r>
                        <a:rPr lang="en-IN" sz="2500"/>
                        <a:t>7,500</a:t>
                      </a:r>
                      <a:endParaRPr sz="2500"/>
                    </a:p>
                  </a:txBody>
                  <a:tcPr marT="45725" marB="45725" marR="91450" marL="91450"/>
                </a:tc>
                <a:tc>
                  <a:txBody>
                    <a:bodyPr/>
                    <a:lstStyle/>
                    <a:p>
                      <a:pPr indent="0" lvl="0" marL="0" marR="0" rtl="0" algn="ctr">
                        <a:spcBef>
                          <a:spcPts val="0"/>
                        </a:spcBef>
                        <a:spcAft>
                          <a:spcPts val="0"/>
                        </a:spcAft>
                        <a:buNone/>
                      </a:pPr>
                      <a:r>
                        <a:rPr lang="en-IN" sz="2500"/>
                        <a:t>2,500</a:t>
                      </a:r>
                      <a:endParaRPr sz="2500"/>
                    </a:p>
                  </a:txBody>
                  <a:tcPr marT="45725" marB="45725" marR="91450" marL="91450"/>
                </a:tc>
              </a:tr>
              <a:tr h="370850">
                <a:tc>
                  <a:txBody>
                    <a:bodyPr/>
                    <a:lstStyle/>
                    <a:p>
                      <a:pPr indent="0" lvl="0" marL="0" marR="0" rtl="0" algn="l">
                        <a:spcBef>
                          <a:spcPts val="0"/>
                        </a:spcBef>
                        <a:spcAft>
                          <a:spcPts val="0"/>
                        </a:spcAft>
                        <a:buNone/>
                      </a:pPr>
                      <a:r>
                        <a:rPr lang="en-IN" sz="2500"/>
                        <a:t>12% Debt [Rs.]</a:t>
                      </a:r>
                      <a:endParaRPr sz="2500"/>
                    </a:p>
                  </a:txBody>
                  <a:tcPr marT="45725" marB="45725" marR="91450" marL="91450"/>
                </a:tc>
                <a:tc>
                  <a:txBody>
                    <a:bodyPr/>
                    <a:lstStyle/>
                    <a:p>
                      <a:pPr indent="0" lvl="0" marL="0" marR="0" rtl="0" algn="ctr">
                        <a:spcBef>
                          <a:spcPts val="0"/>
                        </a:spcBef>
                        <a:spcAft>
                          <a:spcPts val="0"/>
                        </a:spcAft>
                        <a:buNone/>
                      </a:pPr>
                      <a:r>
                        <a:rPr lang="en-IN" sz="2500"/>
                        <a:t>5,000</a:t>
                      </a:r>
                      <a:endParaRPr sz="2500"/>
                    </a:p>
                  </a:txBody>
                  <a:tcPr marT="45725" marB="45725" marR="91450" marL="91450"/>
                </a:tc>
                <a:tc>
                  <a:txBody>
                    <a:bodyPr/>
                    <a:lstStyle/>
                    <a:p>
                      <a:pPr indent="0" lvl="0" marL="0" marR="0" rtl="0" algn="ctr">
                        <a:spcBef>
                          <a:spcPts val="0"/>
                        </a:spcBef>
                        <a:spcAft>
                          <a:spcPts val="0"/>
                        </a:spcAft>
                        <a:buNone/>
                      </a:pPr>
                      <a:r>
                        <a:rPr lang="en-IN" sz="2500"/>
                        <a:t>2,500</a:t>
                      </a:r>
                      <a:endParaRPr sz="2500"/>
                    </a:p>
                  </a:txBody>
                  <a:tcPr marT="45725" marB="45725" marR="91450" marL="91450"/>
                </a:tc>
                <a:tc>
                  <a:txBody>
                    <a:bodyPr/>
                    <a:lstStyle/>
                    <a:p>
                      <a:pPr indent="0" lvl="0" marL="0" marR="0" rtl="0" algn="ctr">
                        <a:spcBef>
                          <a:spcPts val="0"/>
                        </a:spcBef>
                        <a:spcAft>
                          <a:spcPts val="0"/>
                        </a:spcAft>
                        <a:buNone/>
                      </a:pPr>
                      <a:r>
                        <a:rPr lang="en-IN" sz="2500"/>
                        <a:t>7,500</a:t>
                      </a:r>
                      <a:endParaRPr sz="2500"/>
                    </a:p>
                  </a:txBody>
                  <a:tcPr marT="45725" marB="45725" marR="91450" marL="91450"/>
                </a:tc>
              </a:tr>
            </a:tbl>
          </a:graphicData>
        </a:graphic>
      </p:graphicFrame>
      <p:pic>
        <p:nvPicPr>
          <p:cNvPr descr="Image result for sastra logo" id="349" name="Google Shape;349;p51"/>
          <p:cNvPicPr preferRelativeResize="0"/>
          <p:nvPr/>
        </p:nvPicPr>
        <p:blipFill rotWithShape="1">
          <a:blip r:embed="rId3">
            <a:alphaModFix/>
          </a:blip>
          <a:srcRect b="0" l="0" r="0" t="0"/>
          <a:stretch/>
        </p:blipFill>
        <p:spPr>
          <a:xfrm>
            <a:off x="9537700" y="106363"/>
            <a:ext cx="1816100" cy="60021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2"/>
          <p:cNvSpPr txBox="1"/>
          <p:nvPr>
            <p:ph idx="1" type="body"/>
          </p:nvPr>
        </p:nvSpPr>
        <p:spPr>
          <a:xfrm>
            <a:off x="838200" y="914400"/>
            <a:ext cx="10515600" cy="52625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Solution:                     Statement showing operating leverage</a:t>
            </a:r>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p:txBody>
      </p:sp>
      <p:graphicFrame>
        <p:nvGraphicFramePr>
          <p:cNvPr id="355" name="Google Shape;355;p52"/>
          <p:cNvGraphicFramePr/>
          <p:nvPr/>
        </p:nvGraphicFramePr>
        <p:xfrm>
          <a:off x="838200" y="1356975"/>
          <a:ext cx="3000000" cy="3000000"/>
        </p:xfrm>
        <a:graphic>
          <a:graphicData uri="http://schemas.openxmlformats.org/drawingml/2006/table">
            <a:tbl>
              <a:tblPr bandRow="1" firstRow="1">
                <a:noFill/>
                <a:tableStyleId>{F13EBC90-8482-44D1-B74C-96AE8BA04B85}</a:tableStyleId>
              </a:tblPr>
              <a:tblGrid>
                <a:gridCol w="782775"/>
                <a:gridCol w="5846625"/>
                <a:gridCol w="1288475"/>
                <a:gridCol w="1302325"/>
                <a:gridCol w="1295400"/>
              </a:tblGrid>
              <a:tr h="370850">
                <a:tc>
                  <a:txBody>
                    <a:bodyPr/>
                    <a:lstStyle/>
                    <a:p>
                      <a:pPr indent="0" lvl="0" marL="0" marR="0" rtl="0" algn="ctr">
                        <a:spcBef>
                          <a:spcPts val="0"/>
                        </a:spcBef>
                        <a:spcAft>
                          <a:spcPts val="0"/>
                        </a:spcAft>
                        <a:buNone/>
                      </a:pPr>
                      <a:r>
                        <a:t/>
                      </a:r>
                      <a:endParaRPr sz="18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1800"/>
                        <a:t>Particulars</a:t>
                      </a:r>
                      <a:endParaRPr sz="1800"/>
                    </a:p>
                  </a:txBody>
                  <a:tcPr marT="45725" marB="45725" marR="91450" marL="91450"/>
                </a:tc>
                <a:tc>
                  <a:txBody>
                    <a:bodyPr/>
                    <a:lstStyle/>
                    <a:p>
                      <a:pPr indent="0" lvl="0" marL="0" marR="0" rtl="0" algn="l">
                        <a:spcBef>
                          <a:spcPts val="0"/>
                        </a:spcBef>
                        <a:spcAft>
                          <a:spcPts val="0"/>
                        </a:spcAft>
                        <a:buNone/>
                      </a:pPr>
                      <a:r>
                        <a:rPr lang="en-IN" sz="1800"/>
                        <a:t>Situation A</a:t>
                      </a:r>
                      <a:endParaRPr sz="1800"/>
                    </a:p>
                  </a:txBody>
                  <a:tcPr marT="45725" marB="45725" marR="91450" marL="91450"/>
                </a:tc>
                <a:tc>
                  <a:txBody>
                    <a:bodyPr/>
                    <a:lstStyle/>
                    <a:p>
                      <a:pPr indent="0" lvl="0" marL="0" marR="0" rtl="0" algn="l">
                        <a:spcBef>
                          <a:spcPts val="0"/>
                        </a:spcBef>
                        <a:spcAft>
                          <a:spcPts val="0"/>
                        </a:spcAft>
                        <a:buNone/>
                      </a:pPr>
                      <a:r>
                        <a:rPr lang="en-IN" sz="1800"/>
                        <a:t>Situation</a:t>
                      </a:r>
                      <a:r>
                        <a:rPr lang="en-IN" sz="1800"/>
                        <a:t> B</a:t>
                      </a:r>
                      <a:endParaRPr sz="1800"/>
                    </a:p>
                  </a:txBody>
                  <a:tcPr marT="45725" marB="45725" marR="91450" marL="91450"/>
                </a:tc>
                <a:tc>
                  <a:txBody>
                    <a:bodyPr/>
                    <a:lstStyle/>
                    <a:p>
                      <a:pPr indent="0" lvl="0" marL="0" marR="0" rtl="0" algn="l">
                        <a:spcBef>
                          <a:spcPts val="0"/>
                        </a:spcBef>
                        <a:spcAft>
                          <a:spcPts val="0"/>
                        </a:spcAft>
                        <a:buNone/>
                      </a:pPr>
                      <a:r>
                        <a:rPr lang="en-IN" sz="1800"/>
                        <a:t>Situation C</a:t>
                      </a:r>
                      <a:endParaRPr sz="18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Number of unis sold </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800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800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800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t/>
                      </a:r>
                      <a:endParaRPr b="1" sz="2000">
                        <a:solidFill>
                          <a:srgbClr val="FF0000"/>
                        </a:solidFill>
                      </a:endParaRPr>
                    </a:p>
                  </a:txBody>
                  <a:tcPr marT="45725" marB="45725" marR="91450" marL="91450"/>
                </a:tc>
                <a:tc>
                  <a:txBody>
                    <a:bodyPr/>
                    <a:lstStyle/>
                    <a:p>
                      <a:pPr indent="0" lvl="0" marL="0" marR="0" rtl="0" algn="l">
                        <a:spcBef>
                          <a:spcPts val="0"/>
                        </a:spcBef>
                        <a:spcAft>
                          <a:spcPts val="0"/>
                        </a:spcAft>
                        <a:buNone/>
                      </a:pPr>
                      <a:r>
                        <a:t/>
                      </a:r>
                      <a:endParaRPr b="1" sz="20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000">
                          <a:solidFill>
                            <a:srgbClr val="FF0000"/>
                          </a:solidFill>
                        </a:rPr>
                        <a:t>Rs.</a:t>
                      </a:r>
                      <a:endParaRPr b="1" sz="20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000">
                          <a:solidFill>
                            <a:srgbClr val="FF0000"/>
                          </a:solidFill>
                        </a:rPr>
                        <a:t>Rs.</a:t>
                      </a:r>
                      <a:endParaRPr b="1" sz="20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000">
                          <a:solidFill>
                            <a:srgbClr val="FF0000"/>
                          </a:solidFill>
                        </a:rPr>
                        <a:t>Rs.</a:t>
                      </a:r>
                      <a:endParaRPr b="1" sz="20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Sales</a:t>
                      </a:r>
                      <a:r>
                        <a:rPr lang="en-IN" sz="2600"/>
                        <a:t> [Rs. 800 × Rs. 15]</a:t>
                      </a:r>
                      <a:endParaRPr sz="2600"/>
                    </a:p>
                  </a:txBody>
                  <a:tcPr marT="45725" marB="45725" marR="91450" marL="91450"/>
                </a:tc>
                <a:tc>
                  <a:txBody>
                    <a:bodyPr/>
                    <a:lstStyle/>
                    <a:p>
                      <a:pPr indent="0" lvl="0" marL="0" marR="0" rtl="0" algn="r">
                        <a:spcBef>
                          <a:spcPts val="0"/>
                        </a:spcBef>
                        <a:spcAft>
                          <a:spcPts val="0"/>
                        </a:spcAft>
                        <a:buNone/>
                      </a:pPr>
                      <a:r>
                        <a:rPr lang="en-IN" sz="2600"/>
                        <a:t>12,000</a:t>
                      </a:r>
                      <a:endParaRPr sz="2600"/>
                    </a:p>
                  </a:txBody>
                  <a:tcPr marT="45725" marB="45725" marR="91450" marL="91450"/>
                </a:tc>
                <a:tc>
                  <a:txBody>
                    <a:bodyPr/>
                    <a:lstStyle/>
                    <a:p>
                      <a:pPr indent="0" lvl="0" marL="0" marR="0" rtl="0" algn="r">
                        <a:spcBef>
                          <a:spcPts val="0"/>
                        </a:spcBef>
                        <a:spcAft>
                          <a:spcPts val="0"/>
                        </a:spcAft>
                        <a:buNone/>
                      </a:pPr>
                      <a:r>
                        <a:rPr lang="en-IN" sz="2600"/>
                        <a:t>12,000</a:t>
                      </a:r>
                      <a:endParaRPr sz="2600"/>
                    </a:p>
                  </a:txBody>
                  <a:tcPr marT="45725" marB="45725" marR="91450" marL="91450"/>
                </a:tc>
                <a:tc>
                  <a:txBody>
                    <a:bodyPr/>
                    <a:lstStyle/>
                    <a:p>
                      <a:pPr indent="0" lvl="0" marL="0" marR="0" rtl="0" algn="r">
                        <a:spcBef>
                          <a:spcPts val="0"/>
                        </a:spcBef>
                        <a:spcAft>
                          <a:spcPts val="0"/>
                        </a:spcAft>
                        <a:buNone/>
                      </a:pPr>
                      <a:r>
                        <a:rPr lang="en-IN" sz="2600"/>
                        <a:t>12,000</a:t>
                      </a:r>
                      <a:endParaRPr sz="2600"/>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Variable cost @ Rs. 10 per unit</a:t>
                      </a:r>
                      <a:endParaRPr sz="2600"/>
                    </a:p>
                  </a:txBody>
                  <a:tcPr marT="45725" marB="45725" marR="91450" marL="91450"/>
                </a:tc>
                <a:tc>
                  <a:txBody>
                    <a:bodyPr/>
                    <a:lstStyle/>
                    <a:p>
                      <a:pPr indent="0" lvl="0" marL="0" marR="0" rtl="0" algn="r">
                        <a:spcBef>
                          <a:spcPts val="0"/>
                        </a:spcBef>
                        <a:spcAft>
                          <a:spcPts val="0"/>
                        </a:spcAft>
                        <a:buNone/>
                      </a:pPr>
                      <a:r>
                        <a:rPr lang="en-IN" sz="2600"/>
                        <a:t>8,000</a:t>
                      </a:r>
                      <a:endParaRPr sz="2600"/>
                    </a:p>
                  </a:txBody>
                  <a:tcPr marT="45725" marB="45725" marR="91450" marL="91450"/>
                </a:tc>
                <a:tc>
                  <a:txBody>
                    <a:bodyPr/>
                    <a:lstStyle/>
                    <a:p>
                      <a:pPr indent="0" lvl="0" marL="0" marR="0" rtl="0" algn="r">
                        <a:spcBef>
                          <a:spcPts val="0"/>
                        </a:spcBef>
                        <a:spcAft>
                          <a:spcPts val="0"/>
                        </a:spcAft>
                        <a:buNone/>
                      </a:pPr>
                      <a:r>
                        <a:rPr lang="en-IN" sz="2600"/>
                        <a:t>8,000</a:t>
                      </a:r>
                      <a:endParaRPr sz="2600"/>
                    </a:p>
                  </a:txBody>
                  <a:tcPr marT="45725" marB="45725" marR="91450" marL="91450"/>
                </a:tc>
                <a:tc>
                  <a:txBody>
                    <a:bodyPr/>
                    <a:lstStyle/>
                    <a:p>
                      <a:pPr indent="0" lvl="0" marL="0" marR="0" rtl="0" algn="r">
                        <a:spcBef>
                          <a:spcPts val="0"/>
                        </a:spcBef>
                        <a:spcAft>
                          <a:spcPts val="0"/>
                        </a:spcAft>
                        <a:buNone/>
                      </a:pPr>
                      <a:r>
                        <a:rPr lang="en-IN" sz="2600"/>
                        <a:t>8,000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Contribution </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4,000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4,000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4,000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Fixed cost </a:t>
                      </a:r>
                      <a:endParaRPr sz="2600"/>
                    </a:p>
                  </a:txBody>
                  <a:tcPr marT="45725" marB="45725" marR="91450" marL="91450"/>
                </a:tc>
                <a:tc>
                  <a:txBody>
                    <a:bodyPr/>
                    <a:lstStyle/>
                    <a:p>
                      <a:pPr indent="0" lvl="0" marL="0" marR="0" rtl="0" algn="r">
                        <a:spcBef>
                          <a:spcPts val="0"/>
                        </a:spcBef>
                        <a:spcAft>
                          <a:spcPts val="0"/>
                        </a:spcAft>
                        <a:buNone/>
                      </a:pPr>
                      <a:r>
                        <a:rPr lang="en-IN" sz="2600"/>
                        <a:t>1,000</a:t>
                      </a:r>
                      <a:endParaRPr sz="2600"/>
                    </a:p>
                  </a:txBody>
                  <a:tcPr marT="45725" marB="45725" marR="91450" marL="91450"/>
                </a:tc>
                <a:tc>
                  <a:txBody>
                    <a:bodyPr/>
                    <a:lstStyle/>
                    <a:p>
                      <a:pPr indent="0" lvl="0" marL="0" marR="0" rtl="0" algn="r">
                        <a:spcBef>
                          <a:spcPts val="0"/>
                        </a:spcBef>
                        <a:spcAft>
                          <a:spcPts val="0"/>
                        </a:spcAft>
                        <a:buNone/>
                      </a:pPr>
                      <a:r>
                        <a:rPr lang="en-IN" sz="2600"/>
                        <a:t>2,000</a:t>
                      </a:r>
                      <a:endParaRPr sz="2600"/>
                    </a:p>
                  </a:txBody>
                  <a:tcPr marT="45725" marB="45725" marR="91450" marL="91450"/>
                </a:tc>
                <a:tc>
                  <a:txBody>
                    <a:bodyPr/>
                    <a:lstStyle/>
                    <a:p>
                      <a:pPr indent="0" lvl="0" marL="0" marR="0" rtl="0" algn="r">
                        <a:spcBef>
                          <a:spcPts val="0"/>
                        </a:spcBef>
                        <a:spcAft>
                          <a:spcPts val="0"/>
                        </a:spcAft>
                        <a:buNone/>
                      </a:pPr>
                      <a:r>
                        <a:rPr lang="en-IN" sz="2600"/>
                        <a:t>3,000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EBIT </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3,000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2,000</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1,000</a:t>
                      </a:r>
                      <a:endParaRPr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t/>
                      </a:r>
                      <a:endParaRPr b="0" sz="2600">
                        <a:solidFill>
                          <a:srgbClr val="FF0000"/>
                        </a:solidFill>
                      </a:endParaRPr>
                    </a:p>
                  </a:txBody>
                  <a:tcPr marT="45725" marB="45725" marR="91450" marL="91450"/>
                </a:tc>
                <a:tc>
                  <a:txBody>
                    <a:bodyPr/>
                    <a:lstStyle/>
                    <a:p>
                      <a:pPr indent="0" lvl="0" marL="0" marR="0" rtl="0" algn="l">
                        <a:spcBef>
                          <a:spcPts val="0"/>
                        </a:spcBef>
                        <a:spcAft>
                          <a:spcPts val="0"/>
                        </a:spcAft>
                        <a:buNone/>
                      </a:pPr>
                      <a:r>
                        <a:rPr b="0" lang="en-IN" sz="2600">
                          <a:solidFill>
                            <a:srgbClr val="FF0000"/>
                          </a:solidFill>
                        </a:rPr>
                        <a:t>Operating leverage =</a:t>
                      </a:r>
                      <a:r>
                        <a:rPr b="0" lang="en-IN" sz="2600">
                          <a:solidFill>
                            <a:srgbClr val="FF0000"/>
                          </a:solidFill>
                        </a:rPr>
                        <a:t> Contribution/EBIT</a:t>
                      </a:r>
                      <a:endParaRPr b="0"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00B050"/>
                          </a:solidFill>
                        </a:rPr>
                        <a:t>1.33</a:t>
                      </a:r>
                      <a:endParaRPr b="1" sz="2600">
                        <a:solidFill>
                          <a:srgbClr val="00B050"/>
                        </a:solidFill>
                      </a:endParaRPr>
                    </a:p>
                  </a:txBody>
                  <a:tcPr marT="45725" marB="45725" marR="91450" marL="91450"/>
                </a:tc>
                <a:tc>
                  <a:txBody>
                    <a:bodyPr/>
                    <a:lstStyle/>
                    <a:p>
                      <a:pPr indent="0" lvl="0" marL="0" marR="0" rtl="0" algn="r">
                        <a:spcBef>
                          <a:spcPts val="0"/>
                        </a:spcBef>
                        <a:spcAft>
                          <a:spcPts val="0"/>
                        </a:spcAft>
                        <a:buNone/>
                      </a:pPr>
                      <a:r>
                        <a:rPr b="0" lang="en-IN" sz="2600">
                          <a:solidFill>
                            <a:srgbClr val="FF0000"/>
                          </a:solidFill>
                        </a:rPr>
                        <a:t>2</a:t>
                      </a:r>
                      <a:endParaRPr b="0"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00B050"/>
                          </a:solidFill>
                        </a:rPr>
                        <a:t>4</a:t>
                      </a:r>
                      <a:endParaRPr b="1" sz="2600">
                        <a:solidFill>
                          <a:srgbClr val="00B050"/>
                        </a:solidFill>
                      </a:endParaRPr>
                    </a:p>
                  </a:txBody>
                  <a:tcPr marT="45725" marB="45725" marR="91450" marL="91450"/>
                </a:tc>
              </a:tr>
            </a:tbl>
          </a:graphicData>
        </a:graphic>
      </p:graphicFrame>
      <p:pic>
        <p:nvPicPr>
          <p:cNvPr descr="Image result for sastra logo" id="356" name="Google Shape;356;p52"/>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3"/>
          <p:cNvSpPr txBox="1"/>
          <p:nvPr>
            <p:ph idx="1" type="body"/>
          </p:nvPr>
        </p:nvSpPr>
        <p:spPr>
          <a:xfrm>
            <a:off x="838200" y="401782"/>
            <a:ext cx="10515600" cy="6320596"/>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0000"/>
              </a:buClr>
              <a:buSzPts val="2600"/>
              <a:buNone/>
            </a:pPr>
            <a:r>
              <a:rPr b="1" lang="en-IN" sz="2600">
                <a:solidFill>
                  <a:srgbClr val="FF0000"/>
                </a:solidFill>
              </a:rPr>
              <a:t>Statement showing financial leverage</a:t>
            </a:r>
            <a:endParaRPr/>
          </a:p>
          <a:p>
            <a:pPr indent="0" lvl="0" marL="0" rtl="0" algn="l">
              <a:lnSpc>
                <a:spcPct val="90000"/>
              </a:lnSpc>
              <a:spcBef>
                <a:spcPts val="1000"/>
              </a:spcBef>
              <a:spcAft>
                <a:spcPts val="0"/>
              </a:spcAft>
              <a:buClr>
                <a:schemeClr val="dk1"/>
              </a:buClr>
              <a:buSzPts val="2600"/>
              <a:buNone/>
            </a:pPr>
            <a:r>
              <a:t/>
            </a:r>
            <a:endParaRPr sz="2600">
              <a:solidFill>
                <a:srgbClr val="FF0000"/>
              </a:solidFill>
            </a:endParaRPr>
          </a:p>
        </p:txBody>
      </p:sp>
      <p:graphicFrame>
        <p:nvGraphicFramePr>
          <p:cNvPr id="362" name="Google Shape;362;p53"/>
          <p:cNvGraphicFramePr/>
          <p:nvPr/>
        </p:nvGraphicFramePr>
        <p:xfrm>
          <a:off x="838200" y="788939"/>
          <a:ext cx="3000000" cy="3000000"/>
        </p:xfrm>
        <a:graphic>
          <a:graphicData uri="http://schemas.openxmlformats.org/drawingml/2006/table">
            <a:tbl>
              <a:tblPr bandRow="1" firstRow="1">
                <a:noFill/>
                <a:tableStyleId>{F13EBC90-8482-44D1-B74C-96AE8BA04B85}</a:tableStyleId>
              </a:tblPr>
              <a:tblGrid>
                <a:gridCol w="671950"/>
                <a:gridCol w="7148950"/>
                <a:gridCol w="955975"/>
                <a:gridCol w="886700"/>
                <a:gridCol w="852050"/>
              </a:tblGrid>
              <a:tr h="370850">
                <a:tc gridSpan="2">
                  <a:txBody>
                    <a:bodyPr/>
                    <a:lstStyle/>
                    <a:p>
                      <a:pPr indent="0" lvl="0" marL="0" marR="0" rtl="0" algn="l">
                        <a:spcBef>
                          <a:spcPts val="0"/>
                        </a:spcBef>
                        <a:spcAft>
                          <a:spcPts val="0"/>
                        </a:spcAft>
                        <a:buNone/>
                      </a:pPr>
                      <a:r>
                        <a:t/>
                      </a:r>
                      <a:endParaRPr sz="1800">
                        <a:solidFill>
                          <a:schemeClr val="lt1"/>
                        </a:solidFill>
                      </a:endParaRPr>
                    </a:p>
                  </a:txBody>
                  <a:tcPr marT="45725" marB="45725" marR="91450" marL="91450"/>
                </a:tc>
                <a:tc hMerge="1"/>
                <a:tc>
                  <a:txBody>
                    <a:bodyPr/>
                    <a:lstStyle/>
                    <a:p>
                      <a:pPr indent="0" lvl="0" marL="0" marR="0" rtl="0" algn="r">
                        <a:spcBef>
                          <a:spcPts val="0"/>
                        </a:spcBef>
                        <a:spcAft>
                          <a:spcPts val="0"/>
                        </a:spcAft>
                        <a:buNone/>
                      </a:pPr>
                      <a:r>
                        <a:rPr b="1" lang="en-IN" sz="1800">
                          <a:solidFill>
                            <a:schemeClr val="lt1"/>
                          </a:solidFill>
                        </a:rPr>
                        <a:t>Plan I </a:t>
                      </a:r>
                      <a:endParaRPr b="1" sz="1800">
                        <a:solidFill>
                          <a:schemeClr val="lt1"/>
                        </a:solidFill>
                      </a:endParaRPr>
                    </a:p>
                  </a:txBody>
                  <a:tcPr marT="45725" marB="45725" marR="91450" marL="91450"/>
                </a:tc>
                <a:tc>
                  <a:txBody>
                    <a:bodyPr/>
                    <a:lstStyle/>
                    <a:p>
                      <a:pPr indent="0" lvl="0" marL="0" marR="0" rtl="0" algn="r">
                        <a:spcBef>
                          <a:spcPts val="0"/>
                        </a:spcBef>
                        <a:spcAft>
                          <a:spcPts val="0"/>
                        </a:spcAft>
                        <a:buNone/>
                      </a:pPr>
                      <a:r>
                        <a:rPr b="1" lang="en-IN" sz="1800">
                          <a:solidFill>
                            <a:schemeClr val="lt1"/>
                          </a:solidFill>
                        </a:rPr>
                        <a:t>Plan</a:t>
                      </a:r>
                      <a:r>
                        <a:rPr b="1" lang="en-IN" sz="1800">
                          <a:solidFill>
                            <a:schemeClr val="lt1"/>
                          </a:solidFill>
                        </a:rPr>
                        <a:t> II</a:t>
                      </a:r>
                      <a:endParaRPr b="1" sz="1800">
                        <a:solidFill>
                          <a:schemeClr val="lt1"/>
                        </a:solidFill>
                      </a:endParaRPr>
                    </a:p>
                  </a:txBody>
                  <a:tcPr marT="45725" marB="45725" marR="91450" marL="91450"/>
                </a:tc>
                <a:tc>
                  <a:txBody>
                    <a:bodyPr/>
                    <a:lstStyle/>
                    <a:p>
                      <a:pPr indent="0" lvl="0" marL="0" marR="0" rtl="0" algn="r">
                        <a:spcBef>
                          <a:spcPts val="0"/>
                        </a:spcBef>
                        <a:spcAft>
                          <a:spcPts val="0"/>
                        </a:spcAft>
                        <a:buNone/>
                      </a:pPr>
                      <a:r>
                        <a:rPr b="1" lang="en-IN" sz="1800">
                          <a:solidFill>
                            <a:schemeClr val="lt1"/>
                          </a:solidFill>
                        </a:rPr>
                        <a:t>Plan III</a:t>
                      </a:r>
                      <a:endParaRPr b="1" sz="1800">
                        <a:solidFill>
                          <a:schemeClr val="lt1"/>
                        </a:solidFill>
                      </a:endParaRPr>
                    </a:p>
                  </a:txBody>
                  <a:tcPr marT="45725" marB="45725" marR="91450" marL="91450"/>
                </a:tc>
              </a:tr>
              <a:tr h="370850">
                <a:tc gridSpan="5">
                  <a:txBody>
                    <a:bodyPr/>
                    <a:lstStyle/>
                    <a:p>
                      <a:pPr indent="0" lvl="0" marL="0" marR="0" rtl="0" algn="l">
                        <a:lnSpc>
                          <a:spcPct val="100000"/>
                        </a:lnSpc>
                        <a:spcBef>
                          <a:spcPts val="0"/>
                        </a:spcBef>
                        <a:spcAft>
                          <a:spcPts val="0"/>
                        </a:spcAft>
                        <a:buClr>
                          <a:srgbClr val="FF0000"/>
                        </a:buClr>
                        <a:buSzPts val="1800"/>
                        <a:buFont typeface="Calibri"/>
                        <a:buNone/>
                      </a:pPr>
                      <a:r>
                        <a:rPr b="1" lang="en-IN" sz="1800">
                          <a:solidFill>
                            <a:srgbClr val="FF0000"/>
                          </a:solidFill>
                        </a:rPr>
                        <a:t>Situation A:</a:t>
                      </a:r>
                      <a:endParaRPr/>
                    </a:p>
                  </a:txBody>
                  <a:tcPr marT="45725" marB="45725" marR="91450" marL="91450"/>
                </a:tc>
                <a:tc hMerge="1"/>
                <a:tc hMerge="1"/>
                <a:tc hMerge="1"/>
                <a:tc hMerge="1"/>
              </a:tr>
              <a:tr h="370850">
                <a:tc>
                  <a:txBody>
                    <a:bodyPr/>
                    <a:lstStyle/>
                    <a:p>
                      <a:pPr indent="0" lvl="0" marL="0" marR="0" rtl="0" algn="ctr">
                        <a:spcBef>
                          <a:spcPts val="0"/>
                        </a:spcBef>
                        <a:spcAft>
                          <a:spcPts val="0"/>
                        </a:spcAft>
                        <a:buNone/>
                      </a:pPr>
                      <a:r>
                        <a:t/>
                      </a:r>
                      <a:endParaRPr b="1" sz="18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1800"/>
                        <a:t>EBIT</a:t>
                      </a:r>
                      <a:endParaRPr sz="1800"/>
                    </a:p>
                  </a:txBody>
                  <a:tcPr marT="45725" marB="45725" marR="91450" marL="91450"/>
                </a:tc>
                <a:tc>
                  <a:txBody>
                    <a:bodyPr/>
                    <a:lstStyle/>
                    <a:p>
                      <a:pPr indent="0" lvl="0" marL="0" marR="0" rtl="0" algn="r">
                        <a:spcBef>
                          <a:spcPts val="0"/>
                        </a:spcBef>
                        <a:spcAft>
                          <a:spcPts val="0"/>
                        </a:spcAft>
                        <a:buNone/>
                      </a:pPr>
                      <a:r>
                        <a:rPr lang="en-IN" sz="1800"/>
                        <a:t>3,000</a:t>
                      </a:r>
                      <a:endParaRPr sz="1800"/>
                    </a:p>
                  </a:txBody>
                  <a:tcPr marT="45725" marB="45725" marR="91450" marL="91450"/>
                </a:tc>
                <a:tc>
                  <a:txBody>
                    <a:bodyPr/>
                    <a:lstStyle/>
                    <a:p>
                      <a:pPr indent="0" lvl="0" marL="0" marR="0" rtl="0" algn="r">
                        <a:spcBef>
                          <a:spcPts val="0"/>
                        </a:spcBef>
                        <a:spcAft>
                          <a:spcPts val="0"/>
                        </a:spcAft>
                        <a:buNone/>
                      </a:pPr>
                      <a:r>
                        <a:rPr lang="en-IN" sz="1800"/>
                        <a:t>3,000</a:t>
                      </a:r>
                      <a:endParaRPr sz="1800"/>
                    </a:p>
                  </a:txBody>
                  <a:tcPr marT="45725" marB="45725" marR="91450" marL="91450"/>
                </a:tc>
                <a:tc>
                  <a:txBody>
                    <a:bodyPr/>
                    <a:lstStyle/>
                    <a:p>
                      <a:pPr indent="0" lvl="0" marL="0" marR="0" rtl="0" algn="r">
                        <a:spcBef>
                          <a:spcPts val="0"/>
                        </a:spcBef>
                        <a:spcAft>
                          <a:spcPts val="0"/>
                        </a:spcAft>
                        <a:buNone/>
                      </a:pPr>
                      <a:r>
                        <a:rPr lang="en-IN" sz="1800"/>
                        <a:t>3,000</a:t>
                      </a:r>
                      <a:endParaRPr sz="1800"/>
                    </a:p>
                  </a:txBody>
                  <a:tcPr marT="45725" marB="45725" marR="91450" marL="91450"/>
                </a:tc>
              </a:tr>
              <a:tr h="370850">
                <a:tc>
                  <a:txBody>
                    <a:bodyPr/>
                    <a:lstStyle/>
                    <a:p>
                      <a:pPr indent="0" lvl="0" marL="0" marR="0" rtl="0" algn="ctr">
                        <a:spcBef>
                          <a:spcPts val="0"/>
                        </a:spcBef>
                        <a:spcAft>
                          <a:spcPts val="0"/>
                        </a:spcAft>
                        <a:buNone/>
                      </a:pPr>
                      <a:r>
                        <a:rPr b="1" lang="en-IN" sz="1800">
                          <a:solidFill>
                            <a:srgbClr val="FF0000"/>
                          </a:solidFill>
                        </a:rPr>
                        <a:t>Less </a:t>
                      </a:r>
                      <a:endParaRPr b="1" sz="18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1800"/>
                        <a:t>Interest @12 % of debt</a:t>
                      </a:r>
                      <a:endParaRPr sz="1800"/>
                    </a:p>
                  </a:txBody>
                  <a:tcPr marT="45725" marB="45725" marR="91450" marL="91450"/>
                </a:tc>
                <a:tc>
                  <a:txBody>
                    <a:bodyPr/>
                    <a:lstStyle/>
                    <a:p>
                      <a:pPr indent="0" lvl="0" marL="0" marR="0" rtl="0" algn="r">
                        <a:spcBef>
                          <a:spcPts val="0"/>
                        </a:spcBef>
                        <a:spcAft>
                          <a:spcPts val="0"/>
                        </a:spcAft>
                        <a:buNone/>
                      </a:pPr>
                      <a:r>
                        <a:rPr lang="en-IN" sz="1800"/>
                        <a:t>600</a:t>
                      </a:r>
                      <a:endParaRPr sz="1800"/>
                    </a:p>
                  </a:txBody>
                  <a:tcPr marT="45725" marB="45725" marR="91450" marL="91450"/>
                </a:tc>
                <a:tc>
                  <a:txBody>
                    <a:bodyPr/>
                    <a:lstStyle/>
                    <a:p>
                      <a:pPr indent="0" lvl="0" marL="0" marR="0" rtl="0" algn="r">
                        <a:spcBef>
                          <a:spcPts val="0"/>
                        </a:spcBef>
                        <a:spcAft>
                          <a:spcPts val="0"/>
                        </a:spcAft>
                        <a:buNone/>
                      </a:pPr>
                      <a:r>
                        <a:rPr lang="en-IN" sz="1800"/>
                        <a:t>300</a:t>
                      </a:r>
                      <a:endParaRPr sz="1800"/>
                    </a:p>
                  </a:txBody>
                  <a:tcPr marT="45725" marB="45725" marR="91450" marL="91450"/>
                </a:tc>
                <a:tc>
                  <a:txBody>
                    <a:bodyPr/>
                    <a:lstStyle/>
                    <a:p>
                      <a:pPr indent="0" lvl="0" marL="0" marR="0" rtl="0" algn="r">
                        <a:spcBef>
                          <a:spcPts val="0"/>
                        </a:spcBef>
                        <a:spcAft>
                          <a:spcPts val="0"/>
                        </a:spcAft>
                        <a:buNone/>
                      </a:pPr>
                      <a:r>
                        <a:rPr lang="en-IN" sz="1800"/>
                        <a:t>900</a:t>
                      </a:r>
                      <a:endParaRPr sz="1800"/>
                    </a:p>
                  </a:txBody>
                  <a:tcPr marT="45725" marB="45725" marR="91450" marL="91450"/>
                </a:tc>
              </a:tr>
              <a:tr h="370850">
                <a:tc>
                  <a:txBody>
                    <a:bodyPr/>
                    <a:lstStyle/>
                    <a:p>
                      <a:pPr indent="0" lvl="0" marL="0" marR="0" rtl="0" algn="ctr">
                        <a:spcBef>
                          <a:spcPts val="0"/>
                        </a:spcBef>
                        <a:spcAft>
                          <a:spcPts val="0"/>
                        </a:spcAft>
                        <a:buNone/>
                      </a:pPr>
                      <a:r>
                        <a:t/>
                      </a:r>
                      <a:endParaRPr b="1" sz="18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1800">
                          <a:solidFill>
                            <a:srgbClr val="FF0000"/>
                          </a:solidFill>
                        </a:rPr>
                        <a:t>EBT</a:t>
                      </a:r>
                      <a:endParaRPr sz="18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1800">
                          <a:solidFill>
                            <a:srgbClr val="FF0000"/>
                          </a:solidFill>
                        </a:rPr>
                        <a:t>2,400</a:t>
                      </a:r>
                      <a:endParaRPr sz="18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1800">
                          <a:solidFill>
                            <a:srgbClr val="FF0000"/>
                          </a:solidFill>
                        </a:rPr>
                        <a:t>2,700</a:t>
                      </a:r>
                      <a:endParaRPr sz="18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1800">
                          <a:solidFill>
                            <a:srgbClr val="FF0000"/>
                          </a:solidFill>
                        </a:rPr>
                        <a:t>2,100</a:t>
                      </a:r>
                      <a:endParaRPr sz="18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t/>
                      </a:r>
                      <a:endParaRPr b="1" sz="18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1800">
                          <a:solidFill>
                            <a:srgbClr val="FF0000"/>
                          </a:solidFill>
                        </a:rPr>
                        <a:t>Financial Leverage = EBIT/EBT</a:t>
                      </a:r>
                      <a:endParaRPr b="1" sz="18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1800">
                          <a:solidFill>
                            <a:srgbClr val="FF0000"/>
                          </a:solidFill>
                        </a:rPr>
                        <a:t>1.25</a:t>
                      </a:r>
                      <a:endParaRPr b="1" sz="18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1800">
                          <a:solidFill>
                            <a:srgbClr val="00B050"/>
                          </a:solidFill>
                        </a:rPr>
                        <a:t>1.11</a:t>
                      </a:r>
                      <a:endParaRPr b="1" sz="1800">
                        <a:solidFill>
                          <a:srgbClr val="00B050"/>
                        </a:solidFill>
                      </a:endParaRPr>
                    </a:p>
                  </a:txBody>
                  <a:tcPr marT="45725" marB="45725" marR="91450" marL="91450"/>
                </a:tc>
                <a:tc>
                  <a:txBody>
                    <a:bodyPr/>
                    <a:lstStyle/>
                    <a:p>
                      <a:pPr indent="0" lvl="0" marL="0" marR="0" rtl="0" algn="r">
                        <a:spcBef>
                          <a:spcPts val="0"/>
                        </a:spcBef>
                        <a:spcAft>
                          <a:spcPts val="0"/>
                        </a:spcAft>
                        <a:buNone/>
                      </a:pPr>
                      <a:r>
                        <a:rPr b="1" lang="en-IN" sz="1800">
                          <a:solidFill>
                            <a:srgbClr val="FF0000"/>
                          </a:solidFill>
                        </a:rPr>
                        <a:t>1.43</a:t>
                      </a:r>
                      <a:endParaRPr b="1" sz="1800">
                        <a:solidFill>
                          <a:srgbClr val="FF0000"/>
                        </a:solidFill>
                      </a:endParaRPr>
                    </a:p>
                  </a:txBody>
                  <a:tcPr marT="45725" marB="45725" marR="91450" marL="91450"/>
                </a:tc>
              </a:tr>
              <a:tr h="370850">
                <a:tc gridSpan="5">
                  <a:txBody>
                    <a:bodyPr/>
                    <a:lstStyle/>
                    <a:p>
                      <a:pPr indent="0" lvl="0" marL="0" marR="0" rtl="0" algn="l">
                        <a:spcBef>
                          <a:spcPts val="0"/>
                        </a:spcBef>
                        <a:spcAft>
                          <a:spcPts val="0"/>
                        </a:spcAft>
                        <a:buNone/>
                      </a:pPr>
                      <a:r>
                        <a:rPr b="1" lang="en-IN" sz="1800">
                          <a:solidFill>
                            <a:srgbClr val="FF0000"/>
                          </a:solidFill>
                        </a:rPr>
                        <a:t>Situation B: </a:t>
                      </a:r>
                      <a:endParaRPr b="1" sz="1800">
                        <a:solidFill>
                          <a:srgbClr val="FF0000"/>
                        </a:solidFill>
                      </a:endParaRPr>
                    </a:p>
                  </a:txBody>
                  <a:tcPr marT="45725" marB="45725" marR="91450" marL="91450"/>
                </a:tc>
                <a:tc hMerge="1"/>
                <a:tc hMerge="1"/>
                <a:tc hMerge="1"/>
                <a:tc hMerge="1"/>
              </a:tr>
              <a:tr h="370850">
                <a:tc>
                  <a:txBody>
                    <a:bodyPr/>
                    <a:lstStyle/>
                    <a:p>
                      <a:pPr indent="0" lvl="0" marL="0" marR="0" rtl="0" algn="l">
                        <a:spcBef>
                          <a:spcPts val="0"/>
                        </a:spcBef>
                        <a:spcAft>
                          <a:spcPts val="0"/>
                        </a:spcAft>
                        <a:buNone/>
                      </a:pPr>
                      <a:r>
                        <a:t/>
                      </a:r>
                      <a:endParaRPr b="1" sz="18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1800"/>
                        <a:t>EBIT</a:t>
                      </a:r>
                      <a:endParaRPr sz="1800"/>
                    </a:p>
                  </a:txBody>
                  <a:tcPr marT="45725" marB="45725" marR="91450" marL="91450"/>
                </a:tc>
                <a:tc>
                  <a:txBody>
                    <a:bodyPr/>
                    <a:lstStyle/>
                    <a:p>
                      <a:pPr indent="0" lvl="0" marL="0" marR="0" rtl="0" algn="r">
                        <a:spcBef>
                          <a:spcPts val="0"/>
                        </a:spcBef>
                        <a:spcAft>
                          <a:spcPts val="0"/>
                        </a:spcAft>
                        <a:buNone/>
                      </a:pPr>
                      <a:r>
                        <a:rPr lang="en-IN" sz="1800"/>
                        <a:t>2,000</a:t>
                      </a:r>
                      <a:endParaRPr sz="1800"/>
                    </a:p>
                  </a:txBody>
                  <a:tcPr marT="45725" marB="45725" marR="91450" marL="91450"/>
                </a:tc>
                <a:tc>
                  <a:txBody>
                    <a:bodyPr/>
                    <a:lstStyle/>
                    <a:p>
                      <a:pPr indent="0" lvl="0" marL="0" marR="0" rtl="0" algn="r">
                        <a:spcBef>
                          <a:spcPts val="0"/>
                        </a:spcBef>
                        <a:spcAft>
                          <a:spcPts val="0"/>
                        </a:spcAft>
                        <a:buNone/>
                      </a:pPr>
                      <a:r>
                        <a:rPr lang="en-IN" sz="1800"/>
                        <a:t>2,000</a:t>
                      </a:r>
                      <a:endParaRPr sz="1800"/>
                    </a:p>
                  </a:txBody>
                  <a:tcPr marT="45725" marB="45725" marR="91450" marL="91450"/>
                </a:tc>
                <a:tc>
                  <a:txBody>
                    <a:bodyPr/>
                    <a:lstStyle/>
                    <a:p>
                      <a:pPr indent="0" lvl="0" marL="0" marR="0" rtl="0" algn="r">
                        <a:spcBef>
                          <a:spcPts val="0"/>
                        </a:spcBef>
                        <a:spcAft>
                          <a:spcPts val="0"/>
                        </a:spcAft>
                        <a:buNone/>
                      </a:pPr>
                      <a:r>
                        <a:rPr lang="en-IN" sz="1800"/>
                        <a:t>2,000</a:t>
                      </a:r>
                      <a:endParaRPr sz="1800"/>
                    </a:p>
                  </a:txBody>
                  <a:tcPr marT="45725" marB="45725" marR="91450" marL="91450"/>
                </a:tc>
              </a:tr>
              <a:tr h="370850">
                <a:tc>
                  <a:txBody>
                    <a:bodyPr/>
                    <a:lstStyle/>
                    <a:p>
                      <a:pPr indent="0" lvl="0" marL="0" marR="0" rtl="0" algn="ctr">
                        <a:spcBef>
                          <a:spcPts val="0"/>
                        </a:spcBef>
                        <a:spcAft>
                          <a:spcPts val="0"/>
                        </a:spcAft>
                        <a:buNone/>
                      </a:pPr>
                      <a:r>
                        <a:rPr b="1" lang="en-IN" sz="1800">
                          <a:solidFill>
                            <a:srgbClr val="FF0000"/>
                          </a:solidFill>
                        </a:rPr>
                        <a:t>Less </a:t>
                      </a:r>
                      <a:endParaRPr b="1" sz="18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1800"/>
                        <a:t>Interest @ 12%</a:t>
                      </a:r>
                      <a:r>
                        <a:rPr lang="en-IN" sz="1800"/>
                        <a:t> of debt</a:t>
                      </a:r>
                      <a:endParaRPr sz="1800"/>
                    </a:p>
                  </a:txBody>
                  <a:tcPr marT="45725" marB="45725" marR="91450" marL="91450"/>
                </a:tc>
                <a:tc>
                  <a:txBody>
                    <a:bodyPr/>
                    <a:lstStyle/>
                    <a:p>
                      <a:pPr indent="0" lvl="0" marL="0" marR="0" rtl="0" algn="r">
                        <a:spcBef>
                          <a:spcPts val="0"/>
                        </a:spcBef>
                        <a:spcAft>
                          <a:spcPts val="0"/>
                        </a:spcAft>
                        <a:buNone/>
                      </a:pPr>
                      <a:r>
                        <a:rPr lang="en-IN" sz="1800"/>
                        <a:t>600</a:t>
                      </a:r>
                      <a:endParaRPr sz="1800"/>
                    </a:p>
                  </a:txBody>
                  <a:tcPr marT="45725" marB="45725" marR="91450" marL="91450"/>
                </a:tc>
                <a:tc>
                  <a:txBody>
                    <a:bodyPr/>
                    <a:lstStyle/>
                    <a:p>
                      <a:pPr indent="0" lvl="0" marL="0" marR="0" rtl="0" algn="r">
                        <a:spcBef>
                          <a:spcPts val="0"/>
                        </a:spcBef>
                        <a:spcAft>
                          <a:spcPts val="0"/>
                        </a:spcAft>
                        <a:buNone/>
                      </a:pPr>
                      <a:r>
                        <a:rPr lang="en-IN" sz="1800"/>
                        <a:t>300</a:t>
                      </a:r>
                      <a:endParaRPr sz="1800"/>
                    </a:p>
                  </a:txBody>
                  <a:tcPr marT="45725" marB="45725" marR="91450" marL="91450"/>
                </a:tc>
                <a:tc>
                  <a:txBody>
                    <a:bodyPr/>
                    <a:lstStyle/>
                    <a:p>
                      <a:pPr indent="0" lvl="0" marL="0" marR="0" rtl="0" algn="r">
                        <a:spcBef>
                          <a:spcPts val="0"/>
                        </a:spcBef>
                        <a:spcAft>
                          <a:spcPts val="0"/>
                        </a:spcAft>
                        <a:buNone/>
                      </a:pPr>
                      <a:r>
                        <a:rPr lang="en-IN" sz="1800"/>
                        <a:t>900</a:t>
                      </a:r>
                      <a:endParaRPr sz="1800"/>
                    </a:p>
                  </a:txBody>
                  <a:tcPr marT="45725" marB="45725" marR="91450" marL="91450"/>
                </a:tc>
              </a:tr>
              <a:tr h="370850">
                <a:tc>
                  <a:txBody>
                    <a:bodyPr/>
                    <a:lstStyle/>
                    <a:p>
                      <a:pPr indent="0" lvl="0" marL="0" marR="0" rtl="0" algn="l">
                        <a:spcBef>
                          <a:spcPts val="0"/>
                        </a:spcBef>
                        <a:spcAft>
                          <a:spcPts val="0"/>
                        </a:spcAft>
                        <a:buNone/>
                      </a:pPr>
                      <a:r>
                        <a:t/>
                      </a:r>
                      <a:endParaRPr b="1" sz="18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1800">
                          <a:solidFill>
                            <a:srgbClr val="FF0000"/>
                          </a:solidFill>
                        </a:rPr>
                        <a:t>EBT</a:t>
                      </a:r>
                      <a:endParaRPr sz="18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1800">
                          <a:solidFill>
                            <a:srgbClr val="FF0000"/>
                          </a:solidFill>
                        </a:rPr>
                        <a:t>1,400</a:t>
                      </a:r>
                      <a:endParaRPr sz="18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1800">
                          <a:solidFill>
                            <a:srgbClr val="FF0000"/>
                          </a:solidFill>
                        </a:rPr>
                        <a:t>1,700</a:t>
                      </a:r>
                      <a:endParaRPr sz="18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1800">
                          <a:solidFill>
                            <a:srgbClr val="FF0000"/>
                          </a:solidFill>
                        </a:rPr>
                        <a:t>1,100</a:t>
                      </a:r>
                      <a:endParaRPr sz="18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t/>
                      </a:r>
                      <a:endParaRPr b="1" sz="18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1800">
                          <a:solidFill>
                            <a:srgbClr val="FF0000"/>
                          </a:solidFill>
                        </a:rPr>
                        <a:t>Financial Leverage = EBIT/EBT</a:t>
                      </a:r>
                      <a:endParaRPr b="1" sz="18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1800">
                          <a:solidFill>
                            <a:srgbClr val="FF0000"/>
                          </a:solidFill>
                        </a:rPr>
                        <a:t>1.43</a:t>
                      </a:r>
                      <a:endParaRPr b="1" sz="18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1800">
                          <a:solidFill>
                            <a:srgbClr val="FF0000"/>
                          </a:solidFill>
                        </a:rPr>
                        <a:t>1.18</a:t>
                      </a:r>
                      <a:endParaRPr b="1" sz="18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1800">
                          <a:solidFill>
                            <a:srgbClr val="FF0000"/>
                          </a:solidFill>
                        </a:rPr>
                        <a:t>1.82</a:t>
                      </a:r>
                      <a:endParaRPr b="1" sz="1800">
                        <a:solidFill>
                          <a:srgbClr val="FF0000"/>
                        </a:solidFill>
                      </a:endParaRPr>
                    </a:p>
                  </a:txBody>
                  <a:tcPr marT="45725" marB="45725" marR="91450" marL="91450"/>
                </a:tc>
              </a:tr>
              <a:tr h="370850">
                <a:tc gridSpan="5">
                  <a:txBody>
                    <a:bodyPr/>
                    <a:lstStyle/>
                    <a:p>
                      <a:pPr indent="0" lvl="0" marL="0" marR="0" rtl="0" algn="l">
                        <a:spcBef>
                          <a:spcPts val="0"/>
                        </a:spcBef>
                        <a:spcAft>
                          <a:spcPts val="0"/>
                        </a:spcAft>
                        <a:buNone/>
                      </a:pPr>
                      <a:r>
                        <a:rPr b="1" lang="en-IN" sz="1800">
                          <a:solidFill>
                            <a:srgbClr val="FF0000"/>
                          </a:solidFill>
                        </a:rPr>
                        <a:t>Situation C: </a:t>
                      </a:r>
                      <a:endParaRPr b="1" sz="1800">
                        <a:solidFill>
                          <a:srgbClr val="FF0000"/>
                        </a:solidFill>
                      </a:endParaRPr>
                    </a:p>
                  </a:txBody>
                  <a:tcPr marT="45725" marB="45725" marR="91450" marL="91450"/>
                </a:tc>
                <a:tc hMerge="1"/>
                <a:tc hMerge="1"/>
                <a:tc hMerge="1"/>
                <a:tc hMerge="1"/>
              </a:tr>
              <a:tr h="370850">
                <a:tc>
                  <a:txBody>
                    <a:bodyPr/>
                    <a:lstStyle/>
                    <a:p>
                      <a:pPr indent="0" lvl="0" marL="0" marR="0" rtl="0" algn="l">
                        <a:spcBef>
                          <a:spcPts val="0"/>
                        </a:spcBef>
                        <a:spcAft>
                          <a:spcPts val="0"/>
                        </a:spcAft>
                        <a:buNone/>
                      </a:pPr>
                      <a:r>
                        <a:t/>
                      </a:r>
                      <a:endParaRPr b="1" sz="18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1800"/>
                        <a:t>EBIT</a:t>
                      </a:r>
                      <a:endParaRPr sz="1800"/>
                    </a:p>
                  </a:txBody>
                  <a:tcPr marT="45725" marB="45725" marR="91450" marL="91450"/>
                </a:tc>
                <a:tc>
                  <a:txBody>
                    <a:bodyPr/>
                    <a:lstStyle/>
                    <a:p>
                      <a:pPr indent="0" lvl="0" marL="0" marR="0" rtl="0" algn="r">
                        <a:spcBef>
                          <a:spcPts val="0"/>
                        </a:spcBef>
                        <a:spcAft>
                          <a:spcPts val="0"/>
                        </a:spcAft>
                        <a:buNone/>
                      </a:pPr>
                      <a:r>
                        <a:rPr lang="en-IN" sz="1800"/>
                        <a:t>1,000</a:t>
                      </a:r>
                      <a:endParaRPr sz="1800"/>
                    </a:p>
                  </a:txBody>
                  <a:tcPr marT="45725" marB="45725" marR="91450" marL="91450"/>
                </a:tc>
                <a:tc>
                  <a:txBody>
                    <a:bodyPr/>
                    <a:lstStyle/>
                    <a:p>
                      <a:pPr indent="0" lvl="0" marL="0" marR="0" rtl="0" algn="r">
                        <a:spcBef>
                          <a:spcPts val="0"/>
                        </a:spcBef>
                        <a:spcAft>
                          <a:spcPts val="0"/>
                        </a:spcAft>
                        <a:buNone/>
                      </a:pPr>
                      <a:r>
                        <a:rPr lang="en-IN" sz="1800"/>
                        <a:t>1,000</a:t>
                      </a:r>
                      <a:endParaRPr sz="1800"/>
                    </a:p>
                  </a:txBody>
                  <a:tcPr marT="45725" marB="45725" marR="91450" marL="91450"/>
                </a:tc>
                <a:tc>
                  <a:txBody>
                    <a:bodyPr/>
                    <a:lstStyle/>
                    <a:p>
                      <a:pPr indent="0" lvl="0" marL="0" marR="0" rtl="0" algn="r">
                        <a:spcBef>
                          <a:spcPts val="0"/>
                        </a:spcBef>
                        <a:spcAft>
                          <a:spcPts val="0"/>
                        </a:spcAft>
                        <a:buNone/>
                      </a:pPr>
                      <a:r>
                        <a:rPr lang="en-IN" sz="1800"/>
                        <a:t>1,000</a:t>
                      </a:r>
                      <a:endParaRPr sz="1800"/>
                    </a:p>
                  </a:txBody>
                  <a:tcPr marT="45725" marB="45725" marR="91450" marL="91450"/>
                </a:tc>
              </a:tr>
              <a:tr h="370850">
                <a:tc>
                  <a:txBody>
                    <a:bodyPr/>
                    <a:lstStyle/>
                    <a:p>
                      <a:pPr indent="0" lvl="0" marL="0" marR="0" rtl="0" algn="ctr">
                        <a:spcBef>
                          <a:spcPts val="0"/>
                        </a:spcBef>
                        <a:spcAft>
                          <a:spcPts val="0"/>
                        </a:spcAft>
                        <a:buNone/>
                      </a:pPr>
                      <a:r>
                        <a:rPr b="1" lang="en-IN" sz="1800">
                          <a:solidFill>
                            <a:srgbClr val="FF0000"/>
                          </a:solidFill>
                        </a:rPr>
                        <a:t>Less </a:t>
                      </a:r>
                      <a:endParaRPr b="1" sz="18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1800"/>
                        <a:t>Interest @ 12% of debt</a:t>
                      </a:r>
                      <a:endParaRPr sz="1800"/>
                    </a:p>
                  </a:txBody>
                  <a:tcPr marT="45725" marB="45725" marR="91450" marL="91450"/>
                </a:tc>
                <a:tc>
                  <a:txBody>
                    <a:bodyPr/>
                    <a:lstStyle/>
                    <a:p>
                      <a:pPr indent="0" lvl="0" marL="0" marR="0" rtl="0" algn="r">
                        <a:spcBef>
                          <a:spcPts val="0"/>
                        </a:spcBef>
                        <a:spcAft>
                          <a:spcPts val="0"/>
                        </a:spcAft>
                        <a:buNone/>
                      </a:pPr>
                      <a:r>
                        <a:rPr lang="en-IN" sz="1800"/>
                        <a:t>600</a:t>
                      </a:r>
                      <a:endParaRPr sz="1800"/>
                    </a:p>
                  </a:txBody>
                  <a:tcPr marT="45725" marB="45725" marR="91450" marL="91450"/>
                </a:tc>
                <a:tc>
                  <a:txBody>
                    <a:bodyPr/>
                    <a:lstStyle/>
                    <a:p>
                      <a:pPr indent="0" lvl="0" marL="0" marR="0" rtl="0" algn="r">
                        <a:spcBef>
                          <a:spcPts val="0"/>
                        </a:spcBef>
                        <a:spcAft>
                          <a:spcPts val="0"/>
                        </a:spcAft>
                        <a:buNone/>
                      </a:pPr>
                      <a:r>
                        <a:rPr lang="en-IN" sz="1800"/>
                        <a:t>300</a:t>
                      </a:r>
                      <a:endParaRPr sz="1800"/>
                    </a:p>
                  </a:txBody>
                  <a:tcPr marT="45725" marB="45725" marR="91450" marL="91450"/>
                </a:tc>
                <a:tc>
                  <a:txBody>
                    <a:bodyPr/>
                    <a:lstStyle/>
                    <a:p>
                      <a:pPr indent="0" lvl="0" marL="0" marR="0" rtl="0" algn="r">
                        <a:spcBef>
                          <a:spcPts val="0"/>
                        </a:spcBef>
                        <a:spcAft>
                          <a:spcPts val="0"/>
                        </a:spcAft>
                        <a:buNone/>
                      </a:pPr>
                      <a:r>
                        <a:rPr lang="en-IN" sz="1800"/>
                        <a:t>900</a:t>
                      </a:r>
                      <a:endParaRPr sz="1800"/>
                    </a:p>
                  </a:txBody>
                  <a:tcPr marT="45725" marB="45725" marR="91450" marL="91450"/>
                </a:tc>
              </a:tr>
              <a:tr h="370850">
                <a:tc>
                  <a:txBody>
                    <a:bodyPr/>
                    <a:lstStyle/>
                    <a:p>
                      <a:pPr indent="0" lvl="0" marL="0" marR="0" rtl="0" algn="l">
                        <a:spcBef>
                          <a:spcPts val="0"/>
                        </a:spcBef>
                        <a:spcAft>
                          <a:spcPts val="0"/>
                        </a:spcAft>
                        <a:buNone/>
                      </a:pPr>
                      <a:r>
                        <a:t/>
                      </a:r>
                      <a:endParaRPr b="1" sz="18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1800">
                          <a:solidFill>
                            <a:srgbClr val="FF0000"/>
                          </a:solidFill>
                        </a:rPr>
                        <a:t>EBT</a:t>
                      </a:r>
                      <a:endParaRPr sz="18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1800">
                          <a:solidFill>
                            <a:srgbClr val="FF0000"/>
                          </a:solidFill>
                        </a:rPr>
                        <a:t>400</a:t>
                      </a:r>
                      <a:endParaRPr sz="18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1800">
                          <a:solidFill>
                            <a:srgbClr val="FF0000"/>
                          </a:solidFill>
                        </a:rPr>
                        <a:t>700</a:t>
                      </a:r>
                      <a:endParaRPr sz="18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1800">
                          <a:solidFill>
                            <a:srgbClr val="FF0000"/>
                          </a:solidFill>
                        </a:rPr>
                        <a:t>100</a:t>
                      </a:r>
                      <a:endParaRPr sz="1800">
                        <a:solidFill>
                          <a:srgbClr val="FF0000"/>
                        </a:solidFill>
                      </a:endParaRPr>
                    </a:p>
                  </a:txBody>
                  <a:tcPr marT="45725" marB="45725" marR="91450" marL="91450"/>
                </a:tc>
              </a:tr>
              <a:tr h="370850">
                <a:tc>
                  <a:txBody>
                    <a:bodyPr/>
                    <a:lstStyle/>
                    <a:p>
                      <a:pPr indent="0" lvl="0" marL="0" marR="0" rtl="0" algn="l">
                        <a:spcBef>
                          <a:spcPts val="0"/>
                        </a:spcBef>
                        <a:spcAft>
                          <a:spcPts val="0"/>
                        </a:spcAft>
                        <a:buNone/>
                      </a:pPr>
                      <a:r>
                        <a:t/>
                      </a:r>
                      <a:endParaRPr b="1" sz="18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1800">
                          <a:solidFill>
                            <a:srgbClr val="FF0000"/>
                          </a:solidFill>
                        </a:rPr>
                        <a:t>Financial Leverage = EBIT/EBT</a:t>
                      </a:r>
                      <a:endParaRPr b="1" sz="18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1800">
                          <a:solidFill>
                            <a:srgbClr val="FF0000"/>
                          </a:solidFill>
                        </a:rPr>
                        <a:t>2.50</a:t>
                      </a:r>
                      <a:endParaRPr b="1" sz="18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1800">
                          <a:solidFill>
                            <a:srgbClr val="FF0000"/>
                          </a:solidFill>
                        </a:rPr>
                        <a:t>1.43</a:t>
                      </a:r>
                      <a:endParaRPr b="1" sz="18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1800">
                          <a:solidFill>
                            <a:srgbClr val="00B050"/>
                          </a:solidFill>
                        </a:rPr>
                        <a:t>10</a:t>
                      </a:r>
                      <a:endParaRPr b="1" sz="1800">
                        <a:solidFill>
                          <a:srgbClr val="00B050"/>
                        </a:solidFill>
                      </a:endParaRPr>
                    </a:p>
                  </a:txBody>
                  <a:tcPr marT="45725" marB="45725" marR="91450" marL="91450"/>
                </a:tc>
              </a:tr>
            </a:tbl>
          </a:graphicData>
        </a:graphic>
      </p:graphicFrame>
      <p:pic>
        <p:nvPicPr>
          <p:cNvPr descr="Image result for sastra logo" id="363" name="Google Shape;363;p53"/>
          <p:cNvPicPr preferRelativeResize="0"/>
          <p:nvPr/>
        </p:nvPicPr>
        <p:blipFill rotWithShape="1">
          <a:blip r:embed="rId3">
            <a:alphaModFix/>
          </a:blip>
          <a:srcRect b="0" l="0" r="0" t="0"/>
          <a:stretch/>
        </p:blipFill>
        <p:spPr>
          <a:xfrm>
            <a:off x="9537700" y="101671"/>
            <a:ext cx="1816100" cy="60021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4"/>
          <p:cNvSpPr txBox="1"/>
          <p:nvPr>
            <p:ph idx="1" type="body"/>
          </p:nvPr>
        </p:nvSpPr>
        <p:spPr>
          <a:xfrm>
            <a:off x="845126" y="803564"/>
            <a:ext cx="10508673" cy="537339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Calculation of Combined Leverage: </a:t>
            </a:r>
            <a:endParaRPr/>
          </a:p>
          <a:p>
            <a:pPr indent="0" lvl="0" marL="0" rtl="0" algn="just">
              <a:lnSpc>
                <a:spcPct val="90000"/>
              </a:lnSpc>
              <a:spcBef>
                <a:spcPts val="1000"/>
              </a:spcBef>
              <a:spcAft>
                <a:spcPts val="0"/>
              </a:spcAft>
              <a:buClr>
                <a:schemeClr val="dk1"/>
              </a:buClr>
              <a:buSzPts val="2600"/>
              <a:buNone/>
            </a:pPr>
            <a:r>
              <a:rPr lang="en-IN" sz="2600"/>
              <a:t>The combined leverage may be calculated by multiplying the operating leverage and financial leverage for different combination of Situation A, B &amp; C and the Financial Plans, I, II &amp; III as follows:</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400"/>
              <a:buNone/>
            </a:pPr>
            <a:r>
              <a:rPr lang="en-IN" sz="2400"/>
              <a:t>The calculation of combined leverage shows the extent of the total risk and is helpful to understand the variability of EPS as a consequence of change in sales levels. In this case, the highest combined leverages is there when financial plan III is implemented in situation C; and lowest value of combined leverage is attained when financial Plan II is implemented in situation A.</a:t>
            </a:r>
            <a:endParaRPr sz="2600"/>
          </a:p>
        </p:txBody>
      </p:sp>
      <p:graphicFrame>
        <p:nvGraphicFramePr>
          <p:cNvPr id="369" name="Google Shape;369;p54"/>
          <p:cNvGraphicFramePr/>
          <p:nvPr/>
        </p:nvGraphicFramePr>
        <p:xfrm>
          <a:off x="845126" y="2465338"/>
          <a:ext cx="3000000" cy="3000000"/>
        </p:xfrm>
        <a:graphic>
          <a:graphicData uri="http://schemas.openxmlformats.org/drawingml/2006/table">
            <a:tbl>
              <a:tblPr bandRow="1" firstRow="1">
                <a:noFill/>
                <a:tableStyleId>{F13EBC90-8482-44D1-B74C-96AE8BA04B85}</a:tableStyleId>
              </a:tblPr>
              <a:tblGrid>
                <a:gridCol w="2638575"/>
                <a:gridCol w="2694275"/>
                <a:gridCol w="2694275"/>
                <a:gridCol w="2481525"/>
              </a:tblGrid>
              <a:tr h="370850">
                <a:tc>
                  <a:txBody>
                    <a:bodyPr/>
                    <a:lstStyle/>
                    <a:p>
                      <a:pPr indent="0" lvl="0" marL="0" marR="0" rtl="0" algn="ctr">
                        <a:spcBef>
                          <a:spcPts val="0"/>
                        </a:spcBef>
                        <a:spcAft>
                          <a:spcPts val="0"/>
                        </a:spcAft>
                        <a:buNone/>
                      </a:pPr>
                      <a:r>
                        <a:rPr lang="en-IN" sz="2000"/>
                        <a:t>Financial Plan</a:t>
                      </a:r>
                      <a:r>
                        <a:rPr lang="en-IN" sz="2000"/>
                        <a:t> </a:t>
                      </a:r>
                      <a:endParaRPr sz="2000"/>
                    </a:p>
                  </a:txBody>
                  <a:tcPr marT="45725" marB="45725" marR="91450" marL="91450"/>
                </a:tc>
                <a:tc>
                  <a:txBody>
                    <a:bodyPr/>
                    <a:lstStyle/>
                    <a:p>
                      <a:pPr indent="0" lvl="0" marL="0" marR="0" rtl="0" algn="ctr">
                        <a:spcBef>
                          <a:spcPts val="0"/>
                        </a:spcBef>
                        <a:spcAft>
                          <a:spcPts val="0"/>
                        </a:spcAft>
                        <a:buNone/>
                      </a:pPr>
                      <a:r>
                        <a:rPr lang="en-IN" sz="2000"/>
                        <a:t>Situation A</a:t>
                      </a:r>
                      <a:endParaRPr sz="2000"/>
                    </a:p>
                  </a:txBody>
                  <a:tcPr marT="45725" marB="45725" marR="91450" marL="91450"/>
                </a:tc>
                <a:tc>
                  <a:txBody>
                    <a:bodyPr/>
                    <a:lstStyle/>
                    <a:p>
                      <a:pPr indent="0" lvl="0" marL="0" marR="0" rtl="0" algn="ctr">
                        <a:spcBef>
                          <a:spcPts val="0"/>
                        </a:spcBef>
                        <a:spcAft>
                          <a:spcPts val="0"/>
                        </a:spcAft>
                        <a:buNone/>
                      </a:pPr>
                      <a:r>
                        <a:rPr lang="en-IN" sz="2000"/>
                        <a:t>Situation B</a:t>
                      </a:r>
                      <a:endParaRPr sz="2000"/>
                    </a:p>
                  </a:txBody>
                  <a:tcPr marT="45725" marB="45725" marR="91450" marL="91450"/>
                </a:tc>
                <a:tc>
                  <a:txBody>
                    <a:bodyPr/>
                    <a:lstStyle/>
                    <a:p>
                      <a:pPr indent="0" lvl="0" marL="0" marR="0" rtl="0" algn="ctr">
                        <a:spcBef>
                          <a:spcPts val="0"/>
                        </a:spcBef>
                        <a:spcAft>
                          <a:spcPts val="0"/>
                        </a:spcAft>
                        <a:buNone/>
                      </a:pPr>
                      <a:r>
                        <a:rPr lang="en-IN" sz="2000"/>
                        <a:t>Situation C</a:t>
                      </a:r>
                      <a:endParaRPr sz="2000"/>
                    </a:p>
                  </a:txBody>
                  <a:tcPr marT="45725" marB="45725" marR="91450" marL="91450"/>
                </a:tc>
              </a:tr>
              <a:tr h="370850">
                <a:tc>
                  <a:txBody>
                    <a:bodyPr/>
                    <a:lstStyle/>
                    <a:p>
                      <a:pPr indent="0" lvl="0" marL="0" marR="0" rtl="0" algn="ctr">
                        <a:spcBef>
                          <a:spcPts val="0"/>
                        </a:spcBef>
                        <a:spcAft>
                          <a:spcPts val="0"/>
                        </a:spcAft>
                        <a:buNone/>
                      </a:pPr>
                      <a:r>
                        <a:rPr lang="en-IN" sz="2500"/>
                        <a:t>I</a:t>
                      </a:r>
                      <a:endParaRPr sz="2500"/>
                    </a:p>
                  </a:txBody>
                  <a:tcPr marT="45725" marB="45725" marR="91450" marL="91450"/>
                </a:tc>
                <a:tc>
                  <a:txBody>
                    <a:bodyPr/>
                    <a:lstStyle/>
                    <a:p>
                      <a:pPr indent="0" lvl="0" marL="0" marR="0" rtl="0" algn="ctr">
                        <a:spcBef>
                          <a:spcPts val="0"/>
                        </a:spcBef>
                        <a:spcAft>
                          <a:spcPts val="0"/>
                        </a:spcAft>
                        <a:buNone/>
                      </a:pPr>
                      <a:r>
                        <a:rPr lang="en-IN" sz="2500"/>
                        <a:t>1.66</a:t>
                      </a:r>
                      <a:endParaRPr sz="2500"/>
                    </a:p>
                  </a:txBody>
                  <a:tcPr marT="45725" marB="45725" marR="91450" marL="91450"/>
                </a:tc>
                <a:tc>
                  <a:txBody>
                    <a:bodyPr/>
                    <a:lstStyle/>
                    <a:p>
                      <a:pPr indent="0" lvl="0" marL="0" marR="0" rtl="0" algn="ctr">
                        <a:spcBef>
                          <a:spcPts val="0"/>
                        </a:spcBef>
                        <a:spcAft>
                          <a:spcPts val="0"/>
                        </a:spcAft>
                        <a:buNone/>
                      </a:pPr>
                      <a:r>
                        <a:rPr lang="en-IN" sz="2500"/>
                        <a:t>2.86</a:t>
                      </a:r>
                      <a:endParaRPr sz="2500"/>
                    </a:p>
                  </a:txBody>
                  <a:tcPr marT="45725" marB="45725" marR="91450" marL="91450"/>
                </a:tc>
                <a:tc>
                  <a:txBody>
                    <a:bodyPr/>
                    <a:lstStyle/>
                    <a:p>
                      <a:pPr indent="0" lvl="0" marL="0" marR="0" rtl="0" algn="ctr">
                        <a:spcBef>
                          <a:spcPts val="0"/>
                        </a:spcBef>
                        <a:spcAft>
                          <a:spcPts val="0"/>
                        </a:spcAft>
                        <a:buNone/>
                      </a:pPr>
                      <a:r>
                        <a:rPr lang="en-IN" sz="2500"/>
                        <a:t>10</a:t>
                      </a:r>
                      <a:endParaRPr sz="2500"/>
                    </a:p>
                  </a:txBody>
                  <a:tcPr marT="45725" marB="45725" marR="91450" marL="91450"/>
                </a:tc>
              </a:tr>
              <a:tr h="370850">
                <a:tc>
                  <a:txBody>
                    <a:bodyPr/>
                    <a:lstStyle/>
                    <a:p>
                      <a:pPr indent="0" lvl="0" marL="0" marR="0" rtl="0" algn="ctr">
                        <a:spcBef>
                          <a:spcPts val="0"/>
                        </a:spcBef>
                        <a:spcAft>
                          <a:spcPts val="0"/>
                        </a:spcAft>
                        <a:buNone/>
                      </a:pPr>
                      <a:r>
                        <a:rPr lang="en-IN" sz="2500"/>
                        <a:t>II</a:t>
                      </a:r>
                      <a:endParaRPr sz="2500"/>
                    </a:p>
                  </a:txBody>
                  <a:tcPr marT="45725" marB="45725" marR="91450" marL="91450"/>
                </a:tc>
                <a:tc>
                  <a:txBody>
                    <a:bodyPr/>
                    <a:lstStyle/>
                    <a:p>
                      <a:pPr indent="0" lvl="0" marL="0" marR="0" rtl="0" algn="ctr">
                        <a:spcBef>
                          <a:spcPts val="0"/>
                        </a:spcBef>
                        <a:spcAft>
                          <a:spcPts val="0"/>
                        </a:spcAft>
                        <a:buNone/>
                      </a:pPr>
                      <a:r>
                        <a:rPr b="1" lang="en-IN" sz="2500">
                          <a:solidFill>
                            <a:srgbClr val="00B050"/>
                          </a:solidFill>
                        </a:rPr>
                        <a:t>1.47</a:t>
                      </a:r>
                      <a:endParaRPr b="1" sz="2500">
                        <a:solidFill>
                          <a:srgbClr val="00B050"/>
                        </a:solidFill>
                      </a:endParaRPr>
                    </a:p>
                  </a:txBody>
                  <a:tcPr marT="45725" marB="45725" marR="91450" marL="91450"/>
                </a:tc>
                <a:tc>
                  <a:txBody>
                    <a:bodyPr/>
                    <a:lstStyle/>
                    <a:p>
                      <a:pPr indent="0" lvl="0" marL="0" marR="0" rtl="0" algn="ctr">
                        <a:spcBef>
                          <a:spcPts val="0"/>
                        </a:spcBef>
                        <a:spcAft>
                          <a:spcPts val="0"/>
                        </a:spcAft>
                        <a:buNone/>
                      </a:pPr>
                      <a:r>
                        <a:rPr lang="en-IN" sz="2500">
                          <a:solidFill>
                            <a:schemeClr val="dk1"/>
                          </a:solidFill>
                        </a:rPr>
                        <a:t>2.36</a:t>
                      </a:r>
                      <a:endParaRPr sz="2500">
                        <a:solidFill>
                          <a:schemeClr val="dk1"/>
                        </a:solidFill>
                      </a:endParaRPr>
                    </a:p>
                  </a:txBody>
                  <a:tcPr marT="45725" marB="45725" marR="91450" marL="91450"/>
                </a:tc>
                <a:tc>
                  <a:txBody>
                    <a:bodyPr/>
                    <a:lstStyle/>
                    <a:p>
                      <a:pPr indent="0" lvl="0" marL="0" marR="0" rtl="0" algn="ctr">
                        <a:spcBef>
                          <a:spcPts val="0"/>
                        </a:spcBef>
                        <a:spcAft>
                          <a:spcPts val="0"/>
                        </a:spcAft>
                        <a:buNone/>
                      </a:pPr>
                      <a:r>
                        <a:rPr lang="en-IN" sz="2500">
                          <a:solidFill>
                            <a:schemeClr val="dk1"/>
                          </a:solidFill>
                        </a:rPr>
                        <a:t>5.72</a:t>
                      </a:r>
                      <a:endParaRPr sz="2500">
                        <a:solidFill>
                          <a:schemeClr val="dk1"/>
                        </a:solidFill>
                      </a:endParaRPr>
                    </a:p>
                  </a:txBody>
                  <a:tcPr marT="45725" marB="45725" marR="91450" marL="91450"/>
                </a:tc>
              </a:tr>
              <a:tr h="370850">
                <a:tc>
                  <a:txBody>
                    <a:bodyPr/>
                    <a:lstStyle/>
                    <a:p>
                      <a:pPr indent="0" lvl="0" marL="0" marR="0" rtl="0" algn="ctr">
                        <a:spcBef>
                          <a:spcPts val="0"/>
                        </a:spcBef>
                        <a:spcAft>
                          <a:spcPts val="0"/>
                        </a:spcAft>
                        <a:buNone/>
                      </a:pPr>
                      <a:r>
                        <a:rPr lang="en-IN" sz="2500"/>
                        <a:t>III</a:t>
                      </a:r>
                      <a:endParaRPr sz="2500"/>
                    </a:p>
                  </a:txBody>
                  <a:tcPr marT="45725" marB="45725" marR="91450" marL="91450"/>
                </a:tc>
                <a:tc>
                  <a:txBody>
                    <a:bodyPr/>
                    <a:lstStyle/>
                    <a:p>
                      <a:pPr indent="0" lvl="0" marL="0" marR="0" rtl="0" algn="ctr">
                        <a:spcBef>
                          <a:spcPts val="0"/>
                        </a:spcBef>
                        <a:spcAft>
                          <a:spcPts val="0"/>
                        </a:spcAft>
                        <a:buNone/>
                      </a:pPr>
                      <a:r>
                        <a:rPr lang="en-IN" sz="2500">
                          <a:solidFill>
                            <a:schemeClr val="dk1"/>
                          </a:solidFill>
                        </a:rPr>
                        <a:t>1.90</a:t>
                      </a:r>
                      <a:endParaRPr sz="2500">
                        <a:solidFill>
                          <a:schemeClr val="dk1"/>
                        </a:solidFill>
                      </a:endParaRPr>
                    </a:p>
                  </a:txBody>
                  <a:tcPr marT="45725" marB="45725" marR="91450" marL="91450"/>
                </a:tc>
                <a:tc>
                  <a:txBody>
                    <a:bodyPr/>
                    <a:lstStyle/>
                    <a:p>
                      <a:pPr indent="0" lvl="0" marL="0" marR="0" rtl="0" algn="ctr">
                        <a:spcBef>
                          <a:spcPts val="0"/>
                        </a:spcBef>
                        <a:spcAft>
                          <a:spcPts val="0"/>
                        </a:spcAft>
                        <a:buNone/>
                      </a:pPr>
                      <a:r>
                        <a:rPr lang="en-IN" sz="2500">
                          <a:solidFill>
                            <a:schemeClr val="dk1"/>
                          </a:solidFill>
                        </a:rPr>
                        <a:t>3.64</a:t>
                      </a:r>
                      <a:endParaRPr sz="2500">
                        <a:solidFill>
                          <a:schemeClr val="dk1"/>
                        </a:solidFill>
                      </a:endParaRPr>
                    </a:p>
                  </a:txBody>
                  <a:tcPr marT="45725" marB="45725" marR="91450" marL="91450"/>
                </a:tc>
                <a:tc>
                  <a:txBody>
                    <a:bodyPr/>
                    <a:lstStyle/>
                    <a:p>
                      <a:pPr indent="0" lvl="0" marL="0" marR="0" rtl="0" algn="ctr">
                        <a:spcBef>
                          <a:spcPts val="0"/>
                        </a:spcBef>
                        <a:spcAft>
                          <a:spcPts val="0"/>
                        </a:spcAft>
                        <a:buNone/>
                      </a:pPr>
                      <a:r>
                        <a:rPr b="1" lang="en-IN" sz="2500">
                          <a:solidFill>
                            <a:srgbClr val="00B050"/>
                          </a:solidFill>
                        </a:rPr>
                        <a:t>40</a:t>
                      </a:r>
                      <a:endParaRPr b="1" sz="2500">
                        <a:solidFill>
                          <a:srgbClr val="00B050"/>
                        </a:solidFill>
                      </a:endParaRPr>
                    </a:p>
                  </a:txBody>
                  <a:tcPr marT="45725" marB="45725" marR="91450" marL="91450"/>
                </a:tc>
              </a:tr>
            </a:tbl>
          </a:graphicData>
        </a:graphic>
      </p:graphicFrame>
      <p:pic>
        <p:nvPicPr>
          <p:cNvPr descr="Image result for sastra logo" id="370" name="Google Shape;370;p54"/>
          <p:cNvPicPr preferRelativeResize="0"/>
          <p:nvPr/>
        </p:nvPicPr>
        <p:blipFill rotWithShape="1">
          <a:blip r:embed="rId3">
            <a:alphaModFix/>
          </a:blip>
          <a:srcRect b="0" l="0" r="0" t="0"/>
          <a:stretch/>
        </p:blipFill>
        <p:spPr>
          <a:xfrm>
            <a:off x="9537699" y="267163"/>
            <a:ext cx="1816100" cy="60021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5"/>
          <p:cNvSpPr txBox="1"/>
          <p:nvPr>
            <p:ph idx="1" type="body"/>
          </p:nvPr>
        </p:nvSpPr>
        <p:spPr>
          <a:xfrm>
            <a:off x="838200" y="817418"/>
            <a:ext cx="10515600" cy="535954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IN" sz="2600"/>
              <a:t>P10. The following data is available for XYZ Ltd.:</a:t>
            </a:r>
            <a:endParaRPr/>
          </a:p>
          <a:p>
            <a:pPr indent="0" lvl="0" marL="0" rtl="0" algn="l">
              <a:lnSpc>
                <a:spcPct val="90000"/>
              </a:lnSpc>
              <a:spcBef>
                <a:spcPts val="1000"/>
              </a:spcBef>
              <a:spcAft>
                <a:spcPts val="0"/>
              </a:spcAft>
              <a:buClr>
                <a:schemeClr val="dk1"/>
              </a:buClr>
              <a:buSzPts val="2800"/>
              <a:buNone/>
            </a:pPr>
            <a:r>
              <a:t/>
            </a:r>
            <a:endParaRPr/>
          </a:p>
        </p:txBody>
      </p:sp>
      <p:graphicFrame>
        <p:nvGraphicFramePr>
          <p:cNvPr id="376" name="Google Shape;376;p55"/>
          <p:cNvGraphicFramePr/>
          <p:nvPr/>
        </p:nvGraphicFramePr>
        <p:xfrm>
          <a:off x="838199" y="1315412"/>
          <a:ext cx="3000000" cy="3000000"/>
        </p:xfrm>
        <a:graphic>
          <a:graphicData uri="http://schemas.openxmlformats.org/drawingml/2006/table">
            <a:tbl>
              <a:tblPr bandRow="1" firstRow="1">
                <a:noFill/>
                <a:tableStyleId>{F13EBC90-8482-44D1-B74C-96AE8BA04B85}</a:tableStyleId>
              </a:tblPr>
              <a:tblGrid>
                <a:gridCol w="755075"/>
                <a:gridCol w="8409700"/>
                <a:gridCol w="1350825"/>
              </a:tblGrid>
              <a:tr h="370850">
                <a:tc>
                  <a:txBody>
                    <a:bodyPr/>
                    <a:lstStyle/>
                    <a:p>
                      <a:pPr indent="0" lvl="0" marL="0" marR="0" rtl="0" algn="ctr">
                        <a:spcBef>
                          <a:spcPts val="0"/>
                        </a:spcBef>
                        <a:spcAft>
                          <a:spcPts val="0"/>
                        </a:spcAft>
                        <a:buNone/>
                      </a:pPr>
                      <a:r>
                        <a:t/>
                      </a:r>
                      <a:endParaRPr sz="20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000"/>
                        <a:t>Particulars</a:t>
                      </a:r>
                      <a:endParaRPr sz="2000"/>
                    </a:p>
                  </a:txBody>
                  <a:tcPr marT="45725" marB="45725" marR="91450" marL="91450"/>
                </a:tc>
                <a:tc>
                  <a:txBody>
                    <a:bodyPr/>
                    <a:lstStyle/>
                    <a:p>
                      <a:pPr indent="0" lvl="0" marL="0" marR="0" rtl="0" algn="r">
                        <a:spcBef>
                          <a:spcPts val="0"/>
                        </a:spcBef>
                        <a:spcAft>
                          <a:spcPts val="0"/>
                        </a:spcAft>
                        <a:buNone/>
                      </a:pPr>
                      <a:r>
                        <a:rPr lang="en-IN" sz="2000"/>
                        <a:t>Rs.</a:t>
                      </a:r>
                      <a:endParaRPr sz="20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Sales</a:t>
                      </a:r>
                      <a:endParaRPr sz="2500"/>
                    </a:p>
                  </a:txBody>
                  <a:tcPr marT="45725" marB="45725" marR="91450" marL="91450"/>
                </a:tc>
                <a:tc>
                  <a:txBody>
                    <a:bodyPr/>
                    <a:lstStyle/>
                    <a:p>
                      <a:pPr indent="0" lvl="0" marL="0" marR="0" rtl="0" algn="r">
                        <a:spcBef>
                          <a:spcPts val="0"/>
                        </a:spcBef>
                        <a:spcAft>
                          <a:spcPts val="0"/>
                        </a:spcAft>
                        <a:buNone/>
                      </a:pPr>
                      <a:r>
                        <a:rPr lang="en-IN" sz="2500"/>
                        <a:t>2,00,000</a:t>
                      </a:r>
                      <a:endParaRPr sz="2500"/>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Variable cost @30%</a:t>
                      </a:r>
                      <a:endParaRPr sz="2500"/>
                    </a:p>
                  </a:txBody>
                  <a:tcPr marT="45725" marB="45725" marR="91450" marL="91450"/>
                </a:tc>
                <a:tc>
                  <a:txBody>
                    <a:bodyPr/>
                    <a:lstStyle/>
                    <a:p>
                      <a:pPr indent="0" lvl="0" marL="0" marR="0" rtl="0" algn="r">
                        <a:spcBef>
                          <a:spcPts val="0"/>
                        </a:spcBef>
                        <a:spcAft>
                          <a:spcPts val="0"/>
                        </a:spcAft>
                        <a:buNone/>
                      </a:pPr>
                      <a:r>
                        <a:rPr lang="en-IN" sz="2500"/>
                        <a:t>60,000</a:t>
                      </a:r>
                      <a:endParaRPr sz="2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solidFill>
                            <a:srgbClr val="FF0000"/>
                          </a:solidFill>
                        </a:rPr>
                        <a:t>Contribution</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1,40,000</a:t>
                      </a:r>
                      <a:endParaRPr sz="25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Fixed Cost</a:t>
                      </a:r>
                      <a:endParaRPr sz="2500"/>
                    </a:p>
                  </a:txBody>
                  <a:tcPr marT="45725" marB="45725" marR="91450" marL="91450"/>
                </a:tc>
                <a:tc>
                  <a:txBody>
                    <a:bodyPr/>
                    <a:lstStyle/>
                    <a:p>
                      <a:pPr indent="0" lvl="0" marL="0" marR="0" rtl="0" algn="r">
                        <a:spcBef>
                          <a:spcPts val="0"/>
                        </a:spcBef>
                        <a:spcAft>
                          <a:spcPts val="0"/>
                        </a:spcAft>
                        <a:buNone/>
                      </a:pPr>
                      <a:r>
                        <a:rPr lang="en-IN" sz="2500"/>
                        <a:t>1,00,000</a:t>
                      </a:r>
                      <a:endParaRPr sz="2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solidFill>
                            <a:srgbClr val="FF0000"/>
                          </a:solidFill>
                        </a:rPr>
                        <a:t>EBIT</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40,000</a:t>
                      </a:r>
                      <a:endParaRPr sz="25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Interest</a:t>
                      </a:r>
                      <a:endParaRPr sz="2500"/>
                    </a:p>
                  </a:txBody>
                  <a:tcPr marT="45725" marB="45725" marR="91450" marL="91450"/>
                </a:tc>
                <a:tc>
                  <a:txBody>
                    <a:bodyPr/>
                    <a:lstStyle/>
                    <a:p>
                      <a:pPr indent="0" lvl="0" marL="0" marR="0" rtl="0" algn="r">
                        <a:spcBef>
                          <a:spcPts val="0"/>
                        </a:spcBef>
                        <a:spcAft>
                          <a:spcPts val="0"/>
                        </a:spcAft>
                        <a:buNone/>
                      </a:pPr>
                      <a:r>
                        <a:rPr lang="en-IN" sz="2500"/>
                        <a:t>5,000</a:t>
                      </a:r>
                      <a:endParaRPr sz="2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solidFill>
                            <a:srgbClr val="FF0000"/>
                          </a:solidFill>
                        </a:rPr>
                        <a:t>Profit before tax [EBT]</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35,000</a:t>
                      </a:r>
                      <a:endParaRPr sz="2500">
                        <a:solidFill>
                          <a:srgbClr val="FF0000"/>
                        </a:solidFill>
                      </a:endParaRPr>
                    </a:p>
                  </a:txBody>
                  <a:tcPr marT="45725" marB="45725" marR="91450" marL="91450"/>
                </a:tc>
              </a:tr>
            </a:tbl>
          </a:graphicData>
        </a:graphic>
      </p:graphicFrame>
      <p:pic>
        <p:nvPicPr>
          <p:cNvPr descr="Image result for sastra logo" id="377" name="Google Shape;377;p55"/>
          <p:cNvPicPr preferRelativeResize="0"/>
          <p:nvPr/>
        </p:nvPicPr>
        <p:blipFill rotWithShape="1">
          <a:blip r:embed="rId3">
            <a:alphaModFix/>
          </a:blip>
          <a:srcRect b="0" l="0" r="0" t="0"/>
          <a:stretch/>
        </p:blipFill>
        <p:spPr>
          <a:xfrm>
            <a:off x="9537700" y="272906"/>
            <a:ext cx="1816100" cy="60021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6"/>
          <p:cNvSpPr txBox="1"/>
          <p:nvPr>
            <p:ph idx="1" type="body"/>
          </p:nvPr>
        </p:nvSpPr>
        <p:spPr>
          <a:xfrm>
            <a:off x="838200" y="928255"/>
            <a:ext cx="10515600" cy="524870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Find out: </a:t>
            </a:r>
            <a:endParaRPr/>
          </a:p>
          <a:p>
            <a:pPr indent="-571500" lvl="0" marL="571500" rtl="0" algn="just">
              <a:lnSpc>
                <a:spcPct val="90000"/>
              </a:lnSpc>
              <a:spcBef>
                <a:spcPts val="1000"/>
              </a:spcBef>
              <a:spcAft>
                <a:spcPts val="0"/>
              </a:spcAft>
              <a:buClr>
                <a:schemeClr val="dk1"/>
              </a:buClr>
              <a:buSzPts val="2600"/>
              <a:buAutoNum type="romanLcParenBoth"/>
            </a:pPr>
            <a:r>
              <a:rPr lang="en-IN" sz="2600"/>
              <a:t>Using the concept of financial leverage, by what percentage will the taxable income increase if EBIT increase by 6%.</a:t>
            </a:r>
            <a:endParaRPr/>
          </a:p>
          <a:p>
            <a:pPr indent="0" lvl="0" marL="0" rtl="0" algn="just">
              <a:lnSpc>
                <a:spcPct val="90000"/>
              </a:lnSpc>
              <a:spcBef>
                <a:spcPts val="1000"/>
              </a:spcBef>
              <a:spcAft>
                <a:spcPts val="0"/>
              </a:spcAft>
              <a:buClr>
                <a:schemeClr val="dk1"/>
              </a:buClr>
              <a:buSzPts val="2600"/>
              <a:buNone/>
            </a:pPr>
            <a:r>
              <a:rPr lang="en-IN" sz="2600"/>
              <a:t>(ii)  Using the concept of operating leverage, by what percentage will EBIT increase if there is 10% increase in sales, and </a:t>
            </a:r>
            <a:endParaRPr sz="2600"/>
          </a:p>
          <a:p>
            <a:pPr indent="0" lvl="0" marL="0" rtl="0" algn="just">
              <a:lnSpc>
                <a:spcPct val="90000"/>
              </a:lnSpc>
              <a:spcBef>
                <a:spcPts val="1000"/>
              </a:spcBef>
              <a:spcAft>
                <a:spcPts val="0"/>
              </a:spcAft>
              <a:buClr>
                <a:schemeClr val="dk1"/>
              </a:buClr>
              <a:buSzPts val="2600"/>
              <a:buNone/>
            </a:pPr>
            <a:r>
              <a:rPr lang="en-IN" sz="2600"/>
              <a:t>(iii) Using the concept of leverage, by what percentage will the taxable income increase if the sales increase by 6%. Also verify results in view of the above figures.</a:t>
            </a:r>
            <a:endParaRPr/>
          </a:p>
        </p:txBody>
      </p:sp>
      <p:pic>
        <p:nvPicPr>
          <p:cNvPr descr="Image result for sastra logo" id="383" name="Google Shape;383;p56"/>
          <p:cNvPicPr preferRelativeResize="0"/>
          <p:nvPr/>
        </p:nvPicPr>
        <p:blipFill rotWithShape="1">
          <a:blip r:embed="rId3">
            <a:alphaModFix/>
          </a:blip>
          <a:srcRect b="0" l="0" r="0" t="0"/>
          <a:stretch/>
        </p:blipFill>
        <p:spPr>
          <a:xfrm>
            <a:off x="9537700" y="360218"/>
            <a:ext cx="1816100" cy="56803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7"/>
          <p:cNvSpPr txBox="1"/>
          <p:nvPr>
            <p:ph idx="1" type="body"/>
          </p:nvPr>
        </p:nvSpPr>
        <p:spPr>
          <a:xfrm>
            <a:off x="838200" y="886691"/>
            <a:ext cx="10515600" cy="5375564"/>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Solution:</a:t>
            </a:r>
            <a:endParaRPr/>
          </a:p>
          <a:p>
            <a:pPr indent="0" lvl="0" marL="0" rtl="0" algn="just">
              <a:lnSpc>
                <a:spcPct val="90000"/>
              </a:lnSpc>
              <a:spcBef>
                <a:spcPts val="1000"/>
              </a:spcBef>
              <a:spcAft>
                <a:spcPts val="0"/>
              </a:spcAft>
              <a:buClr>
                <a:srgbClr val="FF0000"/>
              </a:buClr>
              <a:buSzPts val="2600"/>
              <a:buNone/>
            </a:pPr>
            <a:r>
              <a:rPr b="1" lang="en-IN" sz="2600">
                <a:solidFill>
                  <a:srgbClr val="FF0000"/>
                </a:solidFill>
              </a:rPr>
              <a:t>(i) Degree of financial leverage: </a:t>
            </a:r>
            <a:endParaRPr/>
          </a:p>
          <a:p>
            <a:pPr indent="0" lvl="0" marL="0" rtl="0" algn="just">
              <a:lnSpc>
                <a:spcPct val="90000"/>
              </a:lnSpc>
              <a:spcBef>
                <a:spcPts val="1000"/>
              </a:spcBef>
              <a:spcAft>
                <a:spcPts val="0"/>
              </a:spcAft>
              <a:buClr>
                <a:schemeClr val="dk1"/>
              </a:buClr>
              <a:buSzPts val="2600"/>
              <a:buNone/>
            </a:pPr>
            <a:r>
              <a:rPr lang="en-IN" sz="2600"/>
              <a:t>DFL = EBIT/Profit before Tax [EBT] = 40,000/35,000  = 1.15 </a:t>
            </a:r>
            <a:endParaRPr/>
          </a:p>
          <a:p>
            <a:pPr indent="0" lvl="0" marL="0" rtl="0" algn="just">
              <a:lnSpc>
                <a:spcPct val="90000"/>
              </a:lnSpc>
              <a:spcBef>
                <a:spcPts val="1000"/>
              </a:spcBef>
              <a:spcAft>
                <a:spcPts val="0"/>
              </a:spcAft>
              <a:buClr>
                <a:schemeClr val="dk1"/>
              </a:buClr>
              <a:buSzPts val="2600"/>
              <a:buNone/>
            </a:pPr>
            <a:r>
              <a:rPr lang="en-IN" sz="2600"/>
              <a:t>If EBIT increase by 6%, the taxable income will increase by 1.15 × 6 = 6.9% and it may be verified as follows:</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389" name="Google Shape;389;p57"/>
          <p:cNvGraphicFramePr/>
          <p:nvPr/>
        </p:nvGraphicFramePr>
        <p:xfrm>
          <a:off x="838200" y="3144213"/>
          <a:ext cx="3000000" cy="3000000"/>
        </p:xfrm>
        <a:graphic>
          <a:graphicData uri="http://schemas.openxmlformats.org/drawingml/2006/table">
            <a:tbl>
              <a:tblPr bandRow="1" firstRow="1">
                <a:noFill/>
                <a:tableStyleId>{F13EBC90-8482-44D1-B74C-96AE8BA04B85}</a:tableStyleId>
              </a:tblPr>
              <a:tblGrid>
                <a:gridCol w="865900"/>
                <a:gridCol w="8395850"/>
                <a:gridCol w="1253825"/>
              </a:tblGrid>
              <a:tr h="370850">
                <a:tc>
                  <a:txBody>
                    <a:bodyPr/>
                    <a:lstStyle/>
                    <a:p>
                      <a:pPr indent="0" lvl="0" marL="0" marR="0" rtl="0" algn="ctr">
                        <a:spcBef>
                          <a:spcPts val="0"/>
                        </a:spcBef>
                        <a:spcAft>
                          <a:spcPts val="0"/>
                        </a:spcAft>
                        <a:buNone/>
                      </a:pPr>
                      <a:r>
                        <a:t/>
                      </a:r>
                      <a:endParaRPr sz="20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000"/>
                        <a:t>Particulars</a:t>
                      </a:r>
                      <a:endParaRPr sz="2000"/>
                    </a:p>
                  </a:txBody>
                  <a:tcPr marT="45725" marB="45725" marR="91450" marL="91450"/>
                </a:tc>
                <a:tc>
                  <a:txBody>
                    <a:bodyPr/>
                    <a:lstStyle/>
                    <a:p>
                      <a:pPr indent="0" lvl="0" marL="0" marR="0" rtl="0" algn="r">
                        <a:spcBef>
                          <a:spcPts val="0"/>
                        </a:spcBef>
                        <a:spcAft>
                          <a:spcPts val="0"/>
                        </a:spcAft>
                        <a:buNone/>
                      </a:pPr>
                      <a:r>
                        <a:rPr lang="en-IN" sz="2000"/>
                        <a:t>Rs.</a:t>
                      </a:r>
                      <a:endParaRPr sz="20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EBIT (after 6% increase)</a:t>
                      </a:r>
                      <a:endParaRPr sz="2600"/>
                    </a:p>
                  </a:txBody>
                  <a:tcPr marT="45725" marB="45725" marR="91450" marL="91450"/>
                </a:tc>
                <a:tc>
                  <a:txBody>
                    <a:bodyPr/>
                    <a:lstStyle/>
                    <a:p>
                      <a:pPr indent="0" lvl="0" marL="0" marR="0" rtl="0" algn="r">
                        <a:spcBef>
                          <a:spcPts val="0"/>
                        </a:spcBef>
                        <a:spcAft>
                          <a:spcPts val="0"/>
                        </a:spcAft>
                        <a:buNone/>
                      </a:pPr>
                      <a:r>
                        <a:rPr lang="en-IN" sz="2600"/>
                        <a:t>42,400</a:t>
                      </a:r>
                      <a:endParaRPr sz="2600"/>
                    </a:p>
                  </a:txBody>
                  <a:tcPr marT="45725" marB="45725" marR="91450" marL="91450"/>
                </a:tc>
              </a:tr>
              <a:tr h="370850">
                <a:tc>
                  <a:txBody>
                    <a:bodyPr/>
                    <a:lstStyle/>
                    <a:p>
                      <a:pPr indent="0" lvl="0" marL="0" marR="0" rtl="0" algn="ctr">
                        <a:spcBef>
                          <a:spcPts val="0"/>
                        </a:spcBef>
                        <a:spcAft>
                          <a:spcPts val="0"/>
                        </a:spcAft>
                        <a:buNone/>
                      </a:pPr>
                      <a:r>
                        <a:rPr lang="en-IN" sz="2600">
                          <a:solidFill>
                            <a:srgbClr val="FF0000"/>
                          </a:solidFill>
                        </a:rPr>
                        <a:t>Less</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Interest</a:t>
                      </a:r>
                      <a:endParaRPr sz="2600"/>
                    </a:p>
                  </a:txBody>
                  <a:tcPr marT="45725" marB="45725" marR="91450" marL="91450"/>
                </a:tc>
                <a:tc>
                  <a:txBody>
                    <a:bodyPr/>
                    <a:lstStyle/>
                    <a:p>
                      <a:pPr indent="0" lvl="0" marL="0" marR="0" rtl="0" algn="r">
                        <a:spcBef>
                          <a:spcPts val="0"/>
                        </a:spcBef>
                        <a:spcAft>
                          <a:spcPts val="0"/>
                        </a:spcAft>
                        <a:buNone/>
                      </a:pPr>
                      <a:r>
                        <a:rPr lang="en-IN" sz="2600"/>
                        <a:t>5,000</a:t>
                      </a:r>
                      <a:endParaRPr sz="2600"/>
                    </a:p>
                  </a:txBody>
                  <a:tcPr marT="45725" marB="45725" marR="91450" marL="91450"/>
                </a:tc>
              </a:tr>
              <a:tr h="370850">
                <a:tc>
                  <a:txBody>
                    <a:bodyPr/>
                    <a:lstStyle/>
                    <a:p>
                      <a:pPr indent="0" lvl="0" marL="0" marR="0" rtl="0" algn="ctr">
                        <a:spcBef>
                          <a:spcPts val="0"/>
                        </a:spcBef>
                        <a:spcAft>
                          <a:spcPts val="0"/>
                        </a:spcAft>
                        <a:buNone/>
                      </a:pPr>
                      <a:r>
                        <a:t/>
                      </a:r>
                      <a:endParaRPr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solidFill>
                            <a:srgbClr val="FF0000"/>
                          </a:solidFill>
                        </a:rPr>
                        <a:t>Profit before Tax [EBT]</a:t>
                      </a:r>
                      <a:endParaRPr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solidFill>
                            <a:srgbClr val="FF0000"/>
                          </a:solidFill>
                        </a:rPr>
                        <a:t>37,400</a:t>
                      </a:r>
                      <a:endParaRPr sz="2600">
                        <a:solidFill>
                          <a:srgbClr val="FF0000"/>
                        </a:solidFill>
                      </a:endParaRPr>
                    </a:p>
                  </a:txBody>
                  <a:tcPr marT="45725" marB="45725" marR="91450" marL="91450"/>
                </a:tc>
              </a:tr>
              <a:tr h="370850">
                <a:tc gridSpan="3">
                  <a:txBody>
                    <a:bodyPr/>
                    <a:lstStyle/>
                    <a:p>
                      <a:pPr indent="0" lvl="0" marL="0" marR="0" rtl="0" algn="l">
                        <a:lnSpc>
                          <a:spcPct val="100000"/>
                        </a:lnSpc>
                        <a:spcBef>
                          <a:spcPts val="0"/>
                        </a:spcBef>
                        <a:spcAft>
                          <a:spcPts val="0"/>
                        </a:spcAft>
                        <a:buClr>
                          <a:schemeClr val="dk1"/>
                        </a:buClr>
                        <a:buSzPts val="2600"/>
                        <a:buFont typeface="Calibri"/>
                        <a:buNone/>
                      </a:pPr>
                      <a:r>
                        <a:rPr lang="en-IN" sz="2600"/>
                        <a:t>Increase in taxable income is Rs. 2,400 i.e., 6.9% of Rs. 35,000</a:t>
                      </a:r>
                      <a:endParaRPr/>
                    </a:p>
                  </a:txBody>
                  <a:tcPr marT="45725" marB="45725" marR="91450" marL="91450"/>
                </a:tc>
                <a:tc hMerge="1"/>
                <a:tc hMerge="1"/>
              </a:tr>
            </a:tbl>
          </a:graphicData>
        </a:graphic>
      </p:graphicFrame>
      <p:pic>
        <p:nvPicPr>
          <p:cNvPr descr="Image result for sastra logo" id="390" name="Google Shape;390;p57"/>
          <p:cNvPicPr preferRelativeResize="0"/>
          <p:nvPr/>
        </p:nvPicPr>
        <p:blipFill rotWithShape="1">
          <a:blip r:embed="rId3">
            <a:alphaModFix/>
          </a:blip>
          <a:srcRect b="0" l="0" r="0" t="0"/>
          <a:stretch/>
        </p:blipFill>
        <p:spPr>
          <a:xfrm>
            <a:off x="9537700" y="360218"/>
            <a:ext cx="1816100" cy="568037"/>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8"/>
          <p:cNvSpPr txBox="1"/>
          <p:nvPr>
            <p:ph idx="1" type="body"/>
          </p:nvPr>
        </p:nvSpPr>
        <p:spPr>
          <a:xfrm>
            <a:off x="838200" y="969818"/>
            <a:ext cx="10515600" cy="520714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(ii) Degree of operating leverage: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DOL = Contribution/EBIT = 1,40,000/40,000 = 3.50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If Sales increase by 10%, the EBIT will increase by 3.50 × 10 = 35% and it may be verified as follows: </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396" name="Google Shape;396;p58"/>
          <p:cNvGraphicFramePr/>
          <p:nvPr/>
        </p:nvGraphicFramePr>
        <p:xfrm>
          <a:off x="838200" y="2696397"/>
          <a:ext cx="3000000" cy="3000000"/>
        </p:xfrm>
        <a:graphic>
          <a:graphicData uri="http://schemas.openxmlformats.org/drawingml/2006/table">
            <a:tbl>
              <a:tblPr bandRow="1" firstRow="1">
                <a:noFill/>
                <a:tableStyleId>{F13EBC90-8482-44D1-B74C-96AE8BA04B85}</a:tableStyleId>
              </a:tblPr>
              <a:tblGrid>
                <a:gridCol w="796625"/>
                <a:gridCol w="8229600"/>
                <a:gridCol w="1489375"/>
              </a:tblGrid>
              <a:tr h="370850">
                <a:tc>
                  <a:txBody>
                    <a:bodyPr/>
                    <a:lstStyle/>
                    <a:p>
                      <a:pPr indent="0" lvl="0" marL="0" marR="0" rtl="0" algn="ctr">
                        <a:spcBef>
                          <a:spcPts val="0"/>
                        </a:spcBef>
                        <a:spcAft>
                          <a:spcPts val="0"/>
                        </a:spcAft>
                        <a:buNone/>
                      </a:pPr>
                      <a:r>
                        <a:t/>
                      </a:r>
                      <a:endParaRPr sz="20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2000"/>
                        <a:t>Particulars</a:t>
                      </a:r>
                      <a:endParaRPr sz="2000"/>
                    </a:p>
                  </a:txBody>
                  <a:tcPr marT="45725" marB="45725" marR="91450" marL="91450"/>
                </a:tc>
                <a:tc>
                  <a:txBody>
                    <a:bodyPr/>
                    <a:lstStyle/>
                    <a:p>
                      <a:pPr indent="0" lvl="0" marL="0" marR="0" rtl="0" algn="r">
                        <a:spcBef>
                          <a:spcPts val="0"/>
                        </a:spcBef>
                        <a:spcAft>
                          <a:spcPts val="0"/>
                        </a:spcAft>
                        <a:buNone/>
                      </a:pPr>
                      <a:r>
                        <a:rPr lang="en-IN" sz="2000"/>
                        <a:t>Rs. </a:t>
                      </a:r>
                      <a:endParaRPr sz="20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Sales (after 10% increase) </a:t>
                      </a:r>
                      <a:endParaRPr sz="2500"/>
                    </a:p>
                  </a:txBody>
                  <a:tcPr marT="45725" marB="45725" marR="91450" marL="91450"/>
                </a:tc>
                <a:tc>
                  <a:txBody>
                    <a:bodyPr/>
                    <a:lstStyle/>
                    <a:p>
                      <a:pPr indent="0" lvl="0" marL="0" marR="0" rtl="0" algn="r">
                        <a:spcBef>
                          <a:spcPts val="0"/>
                        </a:spcBef>
                        <a:spcAft>
                          <a:spcPts val="0"/>
                        </a:spcAft>
                        <a:buNone/>
                      </a:pPr>
                      <a:r>
                        <a:rPr lang="en-IN" sz="2500"/>
                        <a:t>2,20,000</a:t>
                      </a:r>
                      <a:endParaRPr sz="2500"/>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Variable Expenses @30% </a:t>
                      </a:r>
                      <a:endParaRPr sz="2500"/>
                    </a:p>
                  </a:txBody>
                  <a:tcPr marT="45725" marB="45725" marR="91450" marL="91450"/>
                </a:tc>
                <a:tc>
                  <a:txBody>
                    <a:bodyPr/>
                    <a:lstStyle/>
                    <a:p>
                      <a:pPr indent="0" lvl="0" marL="0" marR="0" rtl="0" algn="r">
                        <a:spcBef>
                          <a:spcPts val="0"/>
                        </a:spcBef>
                        <a:spcAft>
                          <a:spcPts val="0"/>
                        </a:spcAft>
                        <a:buNone/>
                      </a:pPr>
                      <a:r>
                        <a:rPr lang="en-IN" sz="2500"/>
                        <a:t>66,000</a:t>
                      </a:r>
                      <a:endParaRPr sz="2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solidFill>
                            <a:srgbClr val="FF0000"/>
                          </a:solidFill>
                        </a:rPr>
                        <a:t>Contribution</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1,54,000</a:t>
                      </a:r>
                      <a:endParaRPr sz="25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Fixed cost </a:t>
                      </a:r>
                      <a:endParaRPr sz="2500"/>
                    </a:p>
                  </a:txBody>
                  <a:tcPr marT="45725" marB="45725" marR="91450" marL="91450"/>
                </a:tc>
                <a:tc>
                  <a:txBody>
                    <a:bodyPr/>
                    <a:lstStyle/>
                    <a:p>
                      <a:pPr indent="0" lvl="0" marL="0" marR="0" rtl="0" algn="r">
                        <a:spcBef>
                          <a:spcPts val="0"/>
                        </a:spcBef>
                        <a:spcAft>
                          <a:spcPts val="0"/>
                        </a:spcAft>
                        <a:buNone/>
                      </a:pPr>
                      <a:r>
                        <a:rPr lang="en-IN" sz="2500"/>
                        <a:t>1,00,000</a:t>
                      </a:r>
                      <a:endParaRPr sz="2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solidFill>
                            <a:srgbClr val="FF0000"/>
                          </a:solidFill>
                        </a:rPr>
                        <a:t>EBIT</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54,000</a:t>
                      </a:r>
                      <a:endParaRPr sz="2500">
                        <a:solidFill>
                          <a:srgbClr val="FF0000"/>
                        </a:solidFill>
                      </a:endParaRPr>
                    </a:p>
                  </a:txBody>
                  <a:tcPr marT="45725" marB="45725" marR="91450" marL="91450"/>
                </a:tc>
              </a:tr>
              <a:tr h="370850">
                <a:tc gridSpan="3">
                  <a:txBody>
                    <a:bodyPr/>
                    <a:lstStyle/>
                    <a:p>
                      <a:pPr indent="0" lvl="0" marL="0" marR="0" rtl="0" algn="l">
                        <a:lnSpc>
                          <a:spcPct val="100000"/>
                        </a:lnSpc>
                        <a:spcBef>
                          <a:spcPts val="0"/>
                        </a:spcBef>
                        <a:spcAft>
                          <a:spcPts val="0"/>
                        </a:spcAft>
                        <a:buClr>
                          <a:schemeClr val="dk1"/>
                        </a:buClr>
                        <a:buSzPts val="2400"/>
                        <a:buFont typeface="Calibri"/>
                        <a:buNone/>
                      </a:pPr>
                      <a:r>
                        <a:rPr lang="en-IN" sz="2400"/>
                        <a:t>Increase in EBIT is Rs. 14,000, i.e., 35% of Rs. 40,000.</a:t>
                      </a:r>
                      <a:endParaRPr/>
                    </a:p>
                  </a:txBody>
                  <a:tcPr marT="45725" marB="45725" marR="91450" marL="91450"/>
                </a:tc>
                <a:tc hMerge="1"/>
                <a:tc hMerge="1"/>
              </a:tr>
            </a:tbl>
          </a:graphicData>
        </a:graphic>
      </p:graphicFrame>
      <p:pic>
        <p:nvPicPr>
          <p:cNvPr descr="Image result for sastra logo" id="397" name="Google Shape;397;p58"/>
          <p:cNvPicPr preferRelativeResize="0"/>
          <p:nvPr/>
        </p:nvPicPr>
        <p:blipFill rotWithShape="1">
          <a:blip r:embed="rId3">
            <a:alphaModFix/>
          </a:blip>
          <a:srcRect b="0" l="0" r="0" t="0"/>
          <a:stretch/>
        </p:blipFill>
        <p:spPr>
          <a:xfrm>
            <a:off x="9537699" y="401781"/>
            <a:ext cx="1816100" cy="56803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9"/>
          <p:cNvSpPr txBox="1"/>
          <p:nvPr>
            <p:ph idx="1" type="body"/>
          </p:nvPr>
        </p:nvSpPr>
        <p:spPr>
          <a:xfrm>
            <a:off x="838200" y="748144"/>
            <a:ext cx="10515600" cy="5860474"/>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FF0000"/>
              </a:buClr>
              <a:buSzPts val="2600"/>
              <a:buNone/>
            </a:pPr>
            <a:r>
              <a:rPr b="1" lang="en-IN" sz="2600">
                <a:solidFill>
                  <a:srgbClr val="FF0000"/>
                </a:solidFill>
              </a:rPr>
              <a:t>(iii) Degree of combined leverage: </a:t>
            </a:r>
            <a:endParaRPr/>
          </a:p>
          <a:p>
            <a:pPr indent="0" lvl="0" marL="0" rtl="0" algn="just">
              <a:lnSpc>
                <a:spcPct val="90000"/>
              </a:lnSpc>
              <a:spcBef>
                <a:spcPts val="1000"/>
              </a:spcBef>
              <a:spcAft>
                <a:spcPts val="0"/>
              </a:spcAft>
              <a:buClr>
                <a:srgbClr val="FF0000"/>
              </a:buClr>
              <a:buSzPts val="2600"/>
              <a:buNone/>
            </a:pPr>
            <a:r>
              <a:rPr lang="en-IN" sz="2600">
                <a:solidFill>
                  <a:srgbClr val="FF0000"/>
                </a:solidFill>
              </a:rPr>
              <a:t>DCL = Contribution/Profit before Tax = 1,40,000/35,000 = 4 </a:t>
            </a:r>
            <a:endParaRPr sz="2600">
              <a:solidFill>
                <a:srgbClr val="FF0000"/>
              </a:solidFill>
            </a:endParaRPr>
          </a:p>
          <a:p>
            <a:pPr indent="0" lvl="0" marL="0" rtl="0" algn="just">
              <a:lnSpc>
                <a:spcPct val="90000"/>
              </a:lnSpc>
              <a:spcBef>
                <a:spcPts val="1000"/>
              </a:spcBef>
              <a:spcAft>
                <a:spcPts val="0"/>
              </a:spcAft>
              <a:buClr>
                <a:schemeClr val="dk1"/>
              </a:buClr>
              <a:buSzPts val="2600"/>
              <a:buNone/>
            </a:pPr>
            <a:r>
              <a:rPr lang="en-IN" sz="2600"/>
              <a:t>If Sales increases by 6%, the profit before tax will increase by 4 × 6 = 24% and it may be verified as follows: </a:t>
            </a:r>
            <a:endParaRPr/>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403" name="Google Shape;403;p59"/>
          <p:cNvGraphicFramePr/>
          <p:nvPr/>
        </p:nvGraphicFramePr>
        <p:xfrm>
          <a:off x="838200" y="2509058"/>
          <a:ext cx="3000000" cy="3000000"/>
        </p:xfrm>
        <a:graphic>
          <a:graphicData uri="http://schemas.openxmlformats.org/drawingml/2006/table">
            <a:tbl>
              <a:tblPr bandRow="1" firstRow="1">
                <a:noFill/>
                <a:tableStyleId>{F13EBC90-8482-44D1-B74C-96AE8BA04B85}</a:tableStyleId>
              </a:tblPr>
              <a:tblGrid>
                <a:gridCol w="865900"/>
                <a:gridCol w="8215750"/>
                <a:gridCol w="1433950"/>
              </a:tblGrid>
              <a:tr h="217675">
                <a:tc>
                  <a:txBody>
                    <a:bodyPr/>
                    <a:lstStyle/>
                    <a:p>
                      <a:pPr indent="0" lvl="0" marL="0" marR="0" rtl="0" algn="ctr">
                        <a:spcBef>
                          <a:spcPts val="0"/>
                        </a:spcBef>
                        <a:spcAft>
                          <a:spcPts val="0"/>
                        </a:spcAft>
                        <a:buNone/>
                      </a:pPr>
                      <a:r>
                        <a:t/>
                      </a:r>
                      <a:endParaRPr sz="1500">
                        <a:solidFill>
                          <a:srgbClr val="FF0000"/>
                        </a:solidFill>
                      </a:endParaRPr>
                    </a:p>
                  </a:txBody>
                  <a:tcPr marT="45725" marB="45725" marR="91450" marL="91450"/>
                </a:tc>
                <a:tc>
                  <a:txBody>
                    <a:bodyPr/>
                    <a:lstStyle/>
                    <a:p>
                      <a:pPr indent="0" lvl="0" marL="0" marR="0" rtl="0" algn="ctr">
                        <a:spcBef>
                          <a:spcPts val="0"/>
                        </a:spcBef>
                        <a:spcAft>
                          <a:spcPts val="0"/>
                        </a:spcAft>
                        <a:buNone/>
                      </a:pPr>
                      <a:r>
                        <a:rPr lang="en-IN" sz="1500"/>
                        <a:t>Particulars</a:t>
                      </a:r>
                      <a:endParaRPr sz="1500"/>
                    </a:p>
                  </a:txBody>
                  <a:tcPr marT="45725" marB="45725" marR="91450" marL="91450"/>
                </a:tc>
                <a:tc>
                  <a:txBody>
                    <a:bodyPr/>
                    <a:lstStyle/>
                    <a:p>
                      <a:pPr indent="0" lvl="0" marL="0" marR="0" rtl="0" algn="r">
                        <a:spcBef>
                          <a:spcPts val="0"/>
                        </a:spcBef>
                        <a:spcAft>
                          <a:spcPts val="0"/>
                        </a:spcAft>
                        <a:buNone/>
                      </a:pPr>
                      <a:r>
                        <a:rPr lang="en-IN" sz="1500"/>
                        <a:t>Rs.</a:t>
                      </a:r>
                      <a:endParaRPr sz="1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Sales (after 6% increase) </a:t>
                      </a:r>
                      <a:endParaRPr sz="2500"/>
                    </a:p>
                  </a:txBody>
                  <a:tcPr marT="45725" marB="45725" marR="91450" marL="91450"/>
                </a:tc>
                <a:tc>
                  <a:txBody>
                    <a:bodyPr/>
                    <a:lstStyle/>
                    <a:p>
                      <a:pPr indent="0" lvl="0" marL="0" marR="0" rtl="0" algn="r">
                        <a:spcBef>
                          <a:spcPts val="0"/>
                        </a:spcBef>
                        <a:spcAft>
                          <a:spcPts val="0"/>
                        </a:spcAft>
                        <a:buNone/>
                      </a:pPr>
                      <a:r>
                        <a:rPr lang="en-IN" sz="2500"/>
                        <a:t>2,12,000</a:t>
                      </a:r>
                      <a:endParaRPr sz="2500"/>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Variable Expenses @ 30% </a:t>
                      </a:r>
                      <a:endParaRPr sz="2500"/>
                    </a:p>
                  </a:txBody>
                  <a:tcPr marT="45725" marB="45725" marR="91450" marL="91450"/>
                </a:tc>
                <a:tc>
                  <a:txBody>
                    <a:bodyPr/>
                    <a:lstStyle/>
                    <a:p>
                      <a:pPr indent="0" lvl="0" marL="0" marR="0" rtl="0" algn="r">
                        <a:spcBef>
                          <a:spcPts val="0"/>
                        </a:spcBef>
                        <a:spcAft>
                          <a:spcPts val="0"/>
                        </a:spcAft>
                        <a:buNone/>
                      </a:pPr>
                      <a:r>
                        <a:rPr lang="en-IN" sz="2500"/>
                        <a:t>63,600</a:t>
                      </a:r>
                      <a:endParaRPr sz="2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solidFill>
                            <a:srgbClr val="FF0000"/>
                          </a:solidFill>
                        </a:rPr>
                        <a:t>Contribution </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1,48,400</a:t>
                      </a:r>
                      <a:endParaRPr sz="25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lang="en-IN" sz="2500">
                          <a:solidFill>
                            <a:srgbClr val="FF0000"/>
                          </a:solidFill>
                        </a:rPr>
                        <a:t>Less</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Fixed cost </a:t>
                      </a:r>
                      <a:endParaRPr sz="2500"/>
                    </a:p>
                  </a:txBody>
                  <a:tcPr marT="45725" marB="45725" marR="91450" marL="91450"/>
                </a:tc>
                <a:tc>
                  <a:txBody>
                    <a:bodyPr/>
                    <a:lstStyle/>
                    <a:p>
                      <a:pPr indent="0" lvl="0" marL="0" marR="0" rtl="0" algn="r">
                        <a:spcBef>
                          <a:spcPts val="0"/>
                        </a:spcBef>
                        <a:spcAft>
                          <a:spcPts val="0"/>
                        </a:spcAft>
                        <a:buNone/>
                      </a:pPr>
                      <a:r>
                        <a:rPr lang="en-IN" sz="2500"/>
                        <a:t>1,00,000</a:t>
                      </a:r>
                      <a:endParaRPr sz="2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solidFill>
                            <a:srgbClr val="FF0000"/>
                          </a:solidFill>
                        </a:rPr>
                        <a:t>EBIT</a:t>
                      </a:r>
                      <a:endParaRPr sz="25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48,400</a:t>
                      </a:r>
                      <a:endParaRPr sz="25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500"/>
                        <a:t>Interest </a:t>
                      </a:r>
                      <a:endParaRPr sz="2500"/>
                    </a:p>
                  </a:txBody>
                  <a:tcPr marT="45725" marB="45725" marR="91450" marL="91450"/>
                </a:tc>
                <a:tc>
                  <a:txBody>
                    <a:bodyPr/>
                    <a:lstStyle/>
                    <a:p>
                      <a:pPr indent="0" lvl="0" marL="0" marR="0" rtl="0" algn="r">
                        <a:spcBef>
                          <a:spcPts val="0"/>
                        </a:spcBef>
                        <a:spcAft>
                          <a:spcPts val="0"/>
                        </a:spcAft>
                        <a:buNone/>
                      </a:pPr>
                      <a:r>
                        <a:rPr lang="en-IN" sz="2500"/>
                        <a:t>5,000</a:t>
                      </a:r>
                      <a:endParaRPr sz="2500"/>
                    </a:p>
                  </a:txBody>
                  <a:tcPr marT="45725" marB="45725" marR="91450" marL="91450"/>
                </a:tc>
              </a:tr>
              <a:tr h="370850">
                <a:tc>
                  <a:txBody>
                    <a:bodyPr/>
                    <a:lstStyle/>
                    <a:p>
                      <a:pPr indent="0" lvl="0" marL="0" marR="0" rtl="0" algn="ctr">
                        <a:spcBef>
                          <a:spcPts val="0"/>
                        </a:spcBef>
                        <a:spcAft>
                          <a:spcPts val="0"/>
                        </a:spcAft>
                        <a:buNone/>
                      </a:pPr>
                      <a:r>
                        <a:t/>
                      </a:r>
                      <a:endParaRPr sz="2500">
                        <a:solidFill>
                          <a:srgbClr val="FF0000"/>
                        </a:solidFill>
                      </a:endParaRPr>
                    </a:p>
                  </a:txBody>
                  <a:tcPr marT="45725" marB="45725" marR="91450" marL="91450"/>
                </a:tc>
                <a:tc>
                  <a:txBody>
                    <a:bodyPr/>
                    <a:lstStyle/>
                    <a:p>
                      <a:pPr indent="0" lvl="0" marL="0" marR="0" rtl="0" algn="l">
                        <a:lnSpc>
                          <a:spcPct val="100000"/>
                        </a:lnSpc>
                        <a:spcBef>
                          <a:spcPts val="0"/>
                        </a:spcBef>
                        <a:spcAft>
                          <a:spcPts val="0"/>
                        </a:spcAft>
                        <a:buClr>
                          <a:srgbClr val="FF0000"/>
                        </a:buClr>
                        <a:buSzPts val="2500"/>
                        <a:buFont typeface="Calibri"/>
                        <a:buNone/>
                      </a:pPr>
                      <a:r>
                        <a:rPr lang="en-IN" sz="2500">
                          <a:solidFill>
                            <a:srgbClr val="FF0000"/>
                          </a:solidFill>
                        </a:rPr>
                        <a:t>Profit before Tax </a:t>
                      </a:r>
                      <a:endParaRPr/>
                    </a:p>
                  </a:txBody>
                  <a:tcPr marT="45725" marB="45725" marR="91450" marL="91450"/>
                </a:tc>
                <a:tc>
                  <a:txBody>
                    <a:bodyPr/>
                    <a:lstStyle/>
                    <a:p>
                      <a:pPr indent="0" lvl="0" marL="0" marR="0" rtl="0" algn="r">
                        <a:spcBef>
                          <a:spcPts val="0"/>
                        </a:spcBef>
                        <a:spcAft>
                          <a:spcPts val="0"/>
                        </a:spcAft>
                        <a:buNone/>
                      </a:pPr>
                      <a:r>
                        <a:rPr lang="en-IN" sz="2500">
                          <a:solidFill>
                            <a:srgbClr val="FF0000"/>
                          </a:solidFill>
                        </a:rPr>
                        <a:t>43,400</a:t>
                      </a:r>
                      <a:endParaRPr sz="2500">
                        <a:solidFill>
                          <a:srgbClr val="FF0000"/>
                        </a:solidFill>
                      </a:endParaRPr>
                    </a:p>
                  </a:txBody>
                  <a:tcPr marT="45725" marB="45725" marR="91450" marL="91450"/>
                </a:tc>
              </a:tr>
              <a:tr h="370850">
                <a:tc gridSpan="3">
                  <a:txBody>
                    <a:bodyPr/>
                    <a:lstStyle/>
                    <a:p>
                      <a:pPr indent="0" lvl="0" marL="0" marR="0" rtl="0" algn="l">
                        <a:lnSpc>
                          <a:spcPct val="100000"/>
                        </a:lnSpc>
                        <a:spcBef>
                          <a:spcPts val="0"/>
                        </a:spcBef>
                        <a:spcAft>
                          <a:spcPts val="0"/>
                        </a:spcAft>
                        <a:buClr>
                          <a:schemeClr val="dk1"/>
                        </a:buClr>
                        <a:buSzPts val="2500"/>
                        <a:buFont typeface="Calibri"/>
                        <a:buNone/>
                      </a:pPr>
                      <a:r>
                        <a:rPr lang="en-IN" sz="2500"/>
                        <a:t>Increase in Profit before tax is Rs. 8,400 i.e., 24% of Rs. 35,000.</a:t>
                      </a:r>
                      <a:endParaRPr/>
                    </a:p>
                  </a:txBody>
                  <a:tcPr marT="45725" marB="45725" marR="91450" marL="91450"/>
                </a:tc>
                <a:tc hMerge="1"/>
                <a:tc hMerge="1"/>
              </a:tr>
            </a:tbl>
          </a:graphicData>
        </a:graphic>
      </p:graphicFrame>
      <p:pic>
        <p:nvPicPr>
          <p:cNvPr descr="Image result for sastra logo" id="404" name="Google Shape;404;p59"/>
          <p:cNvPicPr preferRelativeResize="0"/>
          <p:nvPr/>
        </p:nvPicPr>
        <p:blipFill rotWithShape="1">
          <a:blip r:embed="rId3">
            <a:alphaModFix/>
          </a:blip>
          <a:srcRect b="0" l="0" r="0" t="0"/>
          <a:stretch/>
        </p:blipFill>
        <p:spPr>
          <a:xfrm>
            <a:off x="9537700" y="180107"/>
            <a:ext cx="1816100" cy="568037"/>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0"/>
          <p:cNvSpPr txBox="1"/>
          <p:nvPr>
            <p:ph idx="1" type="body"/>
          </p:nvPr>
        </p:nvSpPr>
        <p:spPr>
          <a:xfrm>
            <a:off x="941439" y="914400"/>
            <a:ext cx="10515600" cy="498234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None/>
            </a:pPr>
            <a:r>
              <a:rPr lang="en-IN" sz="2600"/>
              <a:t>P11. Ascertain financial leverage from the information given below:</a:t>
            </a:r>
            <a:endParaRPr sz="2600"/>
          </a:p>
          <a:p>
            <a:pPr indent="0" lvl="0" marL="0" rtl="0" algn="l">
              <a:lnSpc>
                <a:spcPct val="90000"/>
              </a:lnSpc>
              <a:spcBef>
                <a:spcPts val="1000"/>
              </a:spcBef>
              <a:spcAft>
                <a:spcPts val="0"/>
              </a:spcAft>
              <a:buClr>
                <a:schemeClr val="dk1"/>
              </a:buClr>
              <a:buSzPts val="2600"/>
              <a:buNone/>
            </a:pPr>
            <a:r>
              <a:rPr lang="en-IN" sz="2600"/>
              <a:t>Net worth: Rs.20,00,000</a:t>
            </a:r>
            <a:endParaRPr sz="2600"/>
          </a:p>
          <a:p>
            <a:pPr indent="0" lvl="0" marL="0" rtl="0" algn="l">
              <a:lnSpc>
                <a:spcPct val="90000"/>
              </a:lnSpc>
              <a:spcBef>
                <a:spcPts val="1000"/>
              </a:spcBef>
              <a:spcAft>
                <a:spcPts val="0"/>
              </a:spcAft>
              <a:buClr>
                <a:schemeClr val="dk1"/>
              </a:buClr>
              <a:buSzPts val="2600"/>
              <a:buNone/>
            </a:pPr>
            <a:r>
              <a:rPr lang="en-IN" sz="2600"/>
              <a:t>Debt/Equity ratio: 3:1</a:t>
            </a:r>
            <a:endParaRPr sz="2600"/>
          </a:p>
          <a:p>
            <a:pPr indent="0" lvl="0" marL="0" rtl="0" algn="l">
              <a:lnSpc>
                <a:spcPct val="90000"/>
              </a:lnSpc>
              <a:spcBef>
                <a:spcPts val="1000"/>
              </a:spcBef>
              <a:spcAft>
                <a:spcPts val="0"/>
              </a:spcAft>
              <a:buClr>
                <a:schemeClr val="dk1"/>
              </a:buClr>
              <a:buSzPts val="2600"/>
              <a:buNone/>
            </a:pPr>
            <a:r>
              <a:rPr lang="en-IN" sz="2600"/>
              <a:t>Interest rate = 10%</a:t>
            </a:r>
            <a:endParaRPr sz="2600"/>
          </a:p>
          <a:p>
            <a:pPr indent="0" lvl="0" marL="0" rtl="0" algn="l">
              <a:lnSpc>
                <a:spcPct val="90000"/>
              </a:lnSpc>
              <a:spcBef>
                <a:spcPts val="1000"/>
              </a:spcBef>
              <a:spcAft>
                <a:spcPts val="0"/>
              </a:spcAft>
              <a:buClr>
                <a:schemeClr val="dk1"/>
              </a:buClr>
              <a:buSzPts val="2600"/>
              <a:buNone/>
            </a:pPr>
            <a:r>
              <a:rPr lang="en-IN" sz="2600"/>
              <a:t>Operating profit = Rs.18,00,000</a:t>
            </a:r>
            <a:endParaRPr sz="2600"/>
          </a:p>
          <a:p>
            <a:pPr indent="0" lvl="0" marL="0" rtl="0" algn="l">
              <a:lnSpc>
                <a:spcPct val="90000"/>
              </a:lnSpc>
              <a:spcBef>
                <a:spcPts val="1000"/>
              </a:spcBef>
              <a:spcAft>
                <a:spcPts val="0"/>
              </a:spcAft>
              <a:buClr>
                <a:schemeClr val="dk1"/>
              </a:buClr>
              <a:buSzPts val="2800"/>
              <a:buNone/>
            </a:pPr>
            <a:r>
              <a:t/>
            </a:r>
            <a:endParaRPr/>
          </a:p>
        </p:txBody>
      </p:sp>
      <p:pic>
        <p:nvPicPr>
          <p:cNvPr descr="Image result for sastra logo" id="410" name="Google Shape;410;p60"/>
          <p:cNvPicPr preferRelativeResize="0"/>
          <p:nvPr/>
        </p:nvPicPr>
        <p:blipFill rotWithShape="1">
          <a:blip r:embed="rId3">
            <a:alphaModFix/>
          </a:blip>
          <a:srcRect b="0" l="0" r="0" t="0"/>
          <a:stretch/>
        </p:blipFill>
        <p:spPr>
          <a:xfrm>
            <a:off x="9537700" y="346363"/>
            <a:ext cx="1816100" cy="56803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1"/>
          <p:cNvSpPr txBox="1"/>
          <p:nvPr>
            <p:ph idx="1" type="body"/>
          </p:nvPr>
        </p:nvSpPr>
        <p:spPr>
          <a:xfrm>
            <a:off x="838200" y="880879"/>
            <a:ext cx="10515600" cy="505608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Solution:</a:t>
            </a:r>
            <a:endParaRPr/>
          </a:p>
          <a:p>
            <a:pPr indent="0" lvl="0" marL="0" rtl="0" algn="l">
              <a:lnSpc>
                <a:spcPct val="90000"/>
              </a:lnSpc>
              <a:spcBef>
                <a:spcPts val="1000"/>
              </a:spcBef>
              <a:spcAft>
                <a:spcPts val="0"/>
              </a:spcAft>
              <a:buClr>
                <a:schemeClr val="dk1"/>
              </a:buClr>
              <a:buSzPts val="2600"/>
              <a:buNone/>
            </a:pPr>
            <a:r>
              <a:rPr lang="en-IN" sz="2600"/>
              <a:t>Net worth [Debt + Equity] = Rs. 20,00,000 </a:t>
            </a:r>
            <a:endParaRPr/>
          </a:p>
          <a:p>
            <a:pPr indent="0" lvl="0" marL="0" rtl="0" algn="l">
              <a:lnSpc>
                <a:spcPct val="90000"/>
              </a:lnSpc>
              <a:spcBef>
                <a:spcPts val="1000"/>
              </a:spcBef>
              <a:spcAft>
                <a:spcPts val="0"/>
              </a:spcAft>
              <a:buClr>
                <a:schemeClr val="dk1"/>
              </a:buClr>
              <a:buSzPts val="2600"/>
              <a:buNone/>
            </a:pPr>
            <a:r>
              <a:rPr lang="en-IN" sz="2600"/>
              <a:t>Debt/Equity Ratio = 3:1, [Debt = 3/4 and Equity = 1/4]</a:t>
            </a:r>
            <a:endParaRPr/>
          </a:p>
          <a:p>
            <a:pPr indent="0" lvl="0" marL="0" rtl="0" algn="l">
              <a:lnSpc>
                <a:spcPct val="90000"/>
              </a:lnSpc>
              <a:spcBef>
                <a:spcPts val="1000"/>
              </a:spcBef>
              <a:spcAft>
                <a:spcPts val="0"/>
              </a:spcAft>
              <a:buClr>
                <a:schemeClr val="dk1"/>
              </a:buClr>
              <a:buSzPts val="2600"/>
              <a:buNone/>
            </a:pPr>
            <a:r>
              <a:rPr lang="en-IN" sz="2600"/>
              <a:t>Therefore, Debt = Rs. 20,00,000 × 3/4 = Rs. 15,00,000</a:t>
            </a:r>
            <a:endParaRPr/>
          </a:p>
          <a:p>
            <a:pPr indent="0" lvl="0" marL="0" rtl="0" algn="l">
              <a:lnSpc>
                <a:spcPct val="90000"/>
              </a:lnSpc>
              <a:spcBef>
                <a:spcPts val="1000"/>
              </a:spcBef>
              <a:spcAft>
                <a:spcPts val="0"/>
              </a:spcAft>
              <a:buClr>
                <a:schemeClr val="dk1"/>
              </a:buClr>
              <a:buSzPts val="2600"/>
              <a:buNone/>
            </a:pPr>
            <a:r>
              <a:rPr lang="en-IN" sz="2600"/>
              <a:t>Equity = Rs. 20,00,000 × 1/4 = Rs. 5,00,000</a:t>
            </a:r>
            <a:endParaRPr/>
          </a:p>
          <a:p>
            <a:pPr indent="0" lvl="0" marL="0" rtl="0" algn="l">
              <a:lnSpc>
                <a:spcPct val="90000"/>
              </a:lnSpc>
              <a:spcBef>
                <a:spcPts val="1000"/>
              </a:spcBef>
              <a:spcAft>
                <a:spcPts val="0"/>
              </a:spcAft>
              <a:buClr>
                <a:schemeClr val="dk1"/>
              </a:buClr>
              <a:buSzPts val="2600"/>
              <a:buNone/>
            </a:pPr>
            <a:r>
              <a:rPr lang="en-IN" sz="2600"/>
              <a:t>Rate of interest = 10% on debt</a:t>
            </a:r>
            <a:endParaRPr/>
          </a:p>
          <a:p>
            <a:pPr indent="0" lvl="0" marL="0" rtl="0" algn="l">
              <a:lnSpc>
                <a:spcPct val="90000"/>
              </a:lnSpc>
              <a:spcBef>
                <a:spcPts val="1000"/>
              </a:spcBef>
              <a:spcAft>
                <a:spcPts val="0"/>
              </a:spcAft>
              <a:buClr>
                <a:schemeClr val="dk1"/>
              </a:buClr>
              <a:buSzPts val="2600"/>
              <a:buNone/>
            </a:pPr>
            <a:r>
              <a:rPr lang="en-IN" sz="2600"/>
              <a:t>Interest = Rs. 15,00,000×10/100 = Rs. 1,50,000</a:t>
            </a:r>
            <a:endParaRPr sz="2600"/>
          </a:p>
        </p:txBody>
      </p:sp>
      <p:pic>
        <p:nvPicPr>
          <p:cNvPr descr="Image result for sastra logo" id="416" name="Google Shape;416;p61"/>
          <p:cNvPicPr preferRelativeResize="0"/>
          <p:nvPr/>
        </p:nvPicPr>
        <p:blipFill rotWithShape="1">
          <a:blip r:embed="rId3">
            <a:alphaModFix/>
          </a:blip>
          <a:srcRect b="0" l="0" r="0" t="0"/>
          <a:stretch/>
        </p:blipFill>
        <p:spPr>
          <a:xfrm>
            <a:off x="9537700" y="312842"/>
            <a:ext cx="1816100" cy="568037"/>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2"/>
          <p:cNvSpPr txBox="1"/>
          <p:nvPr>
            <p:ph idx="1" type="body"/>
          </p:nvPr>
        </p:nvSpPr>
        <p:spPr>
          <a:xfrm>
            <a:off x="838200" y="1047135"/>
            <a:ext cx="10515600" cy="512982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2600"/>
              <a:buNone/>
            </a:pPr>
            <a:r>
              <a:rPr b="1" lang="en-IN" sz="2600">
                <a:solidFill>
                  <a:srgbClr val="FF0000"/>
                </a:solidFill>
              </a:rPr>
              <a:t>Calculation of Financial Leverage:</a:t>
            </a:r>
            <a:endParaRPr/>
          </a:p>
          <a:p>
            <a:pPr indent="0" lvl="0" marL="0" rtl="0" algn="l">
              <a:lnSpc>
                <a:spcPct val="90000"/>
              </a:lnSpc>
              <a:spcBef>
                <a:spcPts val="1000"/>
              </a:spcBef>
              <a:spcAft>
                <a:spcPts val="0"/>
              </a:spcAft>
              <a:buClr>
                <a:schemeClr val="dk1"/>
              </a:buClr>
              <a:buSzPts val="2800"/>
              <a:buNone/>
            </a:pPr>
            <a:r>
              <a:t/>
            </a:r>
            <a:endParaRPr/>
          </a:p>
        </p:txBody>
      </p:sp>
      <p:graphicFrame>
        <p:nvGraphicFramePr>
          <p:cNvPr id="422" name="Google Shape;422;p62"/>
          <p:cNvGraphicFramePr/>
          <p:nvPr/>
        </p:nvGraphicFramePr>
        <p:xfrm>
          <a:off x="838200" y="1545575"/>
          <a:ext cx="3000000" cy="3000000"/>
        </p:xfrm>
        <a:graphic>
          <a:graphicData uri="http://schemas.openxmlformats.org/drawingml/2006/table">
            <a:tbl>
              <a:tblPr bandRow="1" firstRow="1">
                <a:noFill/>
                <a:tableStyleId>{F13EBC90-8482-44D1-B74C-96AE8BA04B85}</a:tableStyleId>
              </a:tblPr>
              <a:tblGrid>
                <a:gridCol w="881950"/>
                <a:gridCol w="7895800"/>
                <a:gridCol w="1737850"/>
              </a:tblGrid>
              <a:tr h="370850">
                <a:tc>
                  <a:txBody>
                    <a:bodyPr/>
                    <a:lstStyle/>
                    <a:p>
                      <a:pPr indent="0" lvl="0" marL="0" marR="0" rtl="0" algn="l">
                        <a:spcBef>
                          <a:spcPts val="0"/>
                        </a:spcBef>
                        <a:spcAft>
                          <a:spcPts val="0"/>
                        </a:spcAft>
                        <a:buNone/>
                      </a:pPr>
                      <a:r>
                        <a:t/>
                      </a:r>
                      <a:endParaRPr b="1" sz="1800">
                        <a:solidFill>
                          <a:srgbClr val="FF0000"/>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IN" sz="1800">
                          <a:latin typeface="Calibri"/>
                          <a:ea typeface="Calibri"/>
                          <a:cs typeface="Calibri"/>
                          <a:sym typeface="Calibri"/>
                        </a:rPr>
                        <a:t>Particulars </a:t>
                      </a:r>
                      <a:endParaRPr sz="1800">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IN" sz="1800">
                          <a:latin typeface="Calibri"/>
                          <a:ea typeface="Calibri"/>
                          <a:cs typeface="Calibri"/>
                          <a:sym typeface="Calibri"/>
                        </a:rPr>
                        <a:t>Rs.</a:t>
                      </a:r>
                      <a:endParaRPr sz="1800">
                        <a:latin typeface="Calibri"/>
                        <a:ea typeface="Calibri"/>
                        <a:cs typeface="Calibri"/>
                        <a:sym typeface="Calibri"/>
                      </a:endParaRPr>
                    </a:p>
                  </a:txBody>
                  <a:tcPr marT="45725" marB="45725" marR="91450" marL="91450"/>
                </a:tc>
              </a:tr>
              <a:tr h="370850">
                <a:tc>
                  <a:txBody>
                    <a:bodyPr/>
                    <a:lstStyle/>
                    <a:p>
                      <a:pPr indent="0" lvl="0" marL="0" marR="0" rtl="0" algn="l">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EBIT</a:t>
                      </a:r>
                      <a:r>
                        <a:rPr lang="en-IN" sz="2600"/>
                        <a:t> </a:t>
                      </a:r>
                      <a:endParaRPr sz="2600"/>
                    </a:p>
                  </a:txBody>
                  <a:tcPr marT="45725" marB="45725" marR="91450" marL="91450"/>
                </a:tc>
                <a:tc>
                  <a:txBody>
                    <a:bodyPr/>
                    <a:lstStyle/>
                    <a:p>
                      <a:pPr indent="0" lvl="0" marL="0" marR="0" rtl="0" algn="r">
                        <a:spcBef>
                          <a:spcPts val="0"/>
                        </a:spcBef>
                        <a:spcAft>
                          <a:spcPts val="0"/>
                        </a:spcAft>
                        <a:buNone/>
                      </a:pPr>
                      <a:r>
                        <a:rPr lang="en-IN" sz="2600"/>
                        <a:t>18,00,000</a:t>
                      </a:r>
                      <a:endParaRPr sz="2600"/>
                    </a:p>
                  </a:txBody>
                  <a:tcPr marT="45725" marB="45725" marR="91450" marL="91450"/>
                </a:tc>
              </a:tr>
              <a:tr h="370850">
                <a:tc>
                  <a:txBody>
                    <a:bodyPr/>
                    <a:lstStyle/>
                    <a:p>
                      <a:pPr indent="0" lvl="0" marL="0" marR="0" rtl="0" algn="l">
                        <a:spcBef>
                          <a:spcPts val="0"/>
                        </a:spcBef>
                        <a:spcAft>
                          <a:spcPts val="0"/>
                        </a:spcAft>
                        <a:buNone/>
                      </a:pPr>
                      <a:r>
                        <a:rPr b="1" lang="en-IN" sz="2600">
                          <a:solidFill>
                            <a:srgbClr val="FF0000"/>
                          </a:solidFill>
                        </a:rPr>
                        <a:t>Less</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Interest </a:t>
                      </a:r>
                      <a:endParaRPr sz="2600"/>
                    </a:p>
                  </a:txBody>
                  <a:tcPr marT="45725" marB="45725" marR="91450" marL="91450"/>
                </a:tc>
                <a:tc>
                  <a:txBody>
                    <a:bodyPr/>
                    <a:lstStyle/>
                    <a:p>
                      <a:pPr indent="0" lvl="0" marL="0" marR="0" rtl="0" algn="r">
                        <a:spcBef>
                          <a:spcPts val="0"/>
                        </a:spcBef>
                        <a:spcAft>
                          <a:spcPts val="0"/>
                        </a:spcAft>
                        <a:buNone/>
                      </a:pPr>
                      <a:r>
                        <a:rPr lang="en-IN" sz="2600"/>
                        <a:t>1,50,000</a:t>
                      </a:r>
                      <a:endParaRPr sz="2600"/>
                    </a:p>
                  </a:txBody>
                  <a:tcPr marT="45725" marB="45725" marR="91450" marL="91450"/>
                </a:tc>
              </a:tr>
              <a:tr h="370850">
                <a:tc>
                  <a:txBody>
                    <a:bodyPr/>
                    <a:lstStyle/>
                    <a:p>
                      <a:pPr indent="0" lvl="0" marL="0" marR="0" rtl="0" algn="l">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EBT</a:t>
                      </a:r>
                      <a:endParaRPr sz="2600"/>
                    </a:p>
                  </a:txBody>
                  <a:tcPr marT="45725" marB="45725" marR="91450" marL="91450"/>
                </a:tc>
                <a:tc>
                  <a:txBody>
                    <a:bodyPr/>
                    <a:lstStyle/>
                    <a:p>
                      <a:pPr indent="0" lvl="0" marL="0" marR="0" rtl="0" algn="r">
                        <a:spcBef>
                          <a:spcPts val="0"/>
                        </a:spcBef>
                        <a:spcAft>
                          <a:spcPts val="0"/>
                        </a:spcAft>
                        <a:buNone/>
                      </a:pPr>
                      <a:r>
                        <a:rPr lang="en-IN" sz="2600"/>
                        <a:t>16,50,000</a:t>
                      </a:r>
                      <a:endParaRPr sz="2600"/>
                    </a:p>
                  </a:txBody>
                  <a:tcPr marT="45725" marB="45725" marR="91450" marL="91450"/>
                </a:tc>
              </a:tr>
              <a:tr h="370850">
                <a:tc>
                  <a:txBody>
                    <a:bodyPr/>
                    <a:lstStyle/>
                    <a:p>
                      <a:pPr indent="0" lvl="0" marL="0" marR="0" rtl="0" algn="l">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0" lang="en-IN" sz="2600">
                          <a:solidFill>
                            <a:srgbClr val="FF0000"/>
                          </a:solidFill>
                        </a:rPr>
                        <a:t>Financial Leverage = EBIT/EBT = 18,00,000/16,50,000</a:t>
                      </a:r>
                      <a:endParaRPr b="0" sz="2600">
                        <a:solidFill>
                          <a:srgbClr val="FF0000"/>
                        </a:solidFill>
                      </a:endParaRPr>
                    </a:p>
                  </a:txBody>
                  <a:tcPr marT="45725" marB="45725" marR="91450" marL="91450"/>
                </a:tc>
                <a:tc>
                  <a:txBody>
                    <a:bodyPr/>
                    <a:lstStyle/>
                    <a:p>
                      <a:pPr indent="0" lvl="0" marL="0" marR="0" rtl="0" algn="r">
                        <a:spcBef>
                          <a:spcPts val="0"/>
                        </a:spcBef>
                        <a:spcAft>
                          <a:spcPts val="0"/>
                        </a:spcAft>
                        <a:buNone/>
                      </a:pPr>
                      <a:r>
                        <a:rPr b="0" lang="en-IN" sz="2600">
                          <a:solidFill>
                            <a:srgbClr val="FF0000"/>
                          </a:solidFill>
                        </a:rPr>
                        <a:t>1.09</a:t>
                      </a:r>
                      <a:r>
                        <a:rPr b="0" lang="en-IN" sz="2600">
                          <a:solidFill>
                            <a:srgbClr val="FF0000"/>
                          </a:solidFill>
                        </a:rPr>
                        <a:t> Times</a:t>
                      </a:r>
                      <a:endParaRPr b="0" sz="2600">
                        <a:solidFill>
                          <a:srgbClr val="FF0000"/>
                        </a:solidFill>
                      </a:endParaRPr>
                    </a:p>
                  </a:txBody>
                  <a:tcPr marT="45725" marB="45725" marR="91450" marL="91450"/>
                </a:tc>
              </a:tr>
            </a:tbl>
          </a:graphicData>
        </a:graphic>
      </p:graphicFrame>
      <p:pic>
        <p:nvPicPr>
          <p:cNvPr descr="Image result for sastra logo" id="423" name="Google Shape;423;p62"/>
          <p:cNvPicPr preferRelativeResize="0"/>
          <p:nvPr/>
        </p:nvPicPr>
        <p:blipFill rotWithShape="1">
          <a:blip r:embed="rId3">
            <a:alphaModFix/>
          </a:blip>
          <a:srcRect b="0" l="0" r="0" t="0"/>
          <a:stretch/>
        </p:blipFill>
        <p:spPr>
          <a:xfrm>
            <a:off x="9537700" y="444300"/>
            <a:ext cx="1816100" cy="568037"/>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3"/>
          <p:cNvSpPr txBox="1"/>
          <p:nvPr>
            <p:ph idx="1" type="body"/>
          </p:nvPr>
        </p:nvSpPr>
        <p:spPr>
          <a:xfrm>
            <a:off x="838200" y="936327"/>
            <a:ext cx="10515600" cy="4919663"/>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P12.From the following prepare Income Statement of Company A, B and C. Briefly comment on each company’s performance.</a:t>
            </a:r>
            <a:endParaRPr/>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429" name="Google Shape;429;p63"/>
          <p:cNvGraphicFramePr/>
          <p:nvPr/>
        </p:nvGraphicFramePr>
        <p:xfrm>
          <a:off x="838200" y="1766061"/>
          <a:ext cx="3000000" cy="3000000"/>
        </p:xfrm>
        <a:graphic>
          <a:graphicData uri="http://schemas.openxmlformats.org/drawingml/2006/table">
            <a:tbl>
              <a:tblPr bandRow="1" firstRow="1">
                <a:noFill/>
                <a:tableStyleId>{F13EBC90-8482-44D1-B74C-96AE8BA04B85}</a:tableStyleId>
              </a:tblPr>
              <a:tblGrid>
                <a:gridCol w="5872325"/>
                <a:gridCol w="1696075"/>
                <a:gridCol w="1489575"/>
                <a:gridCol w="1457625"/>
              </a:tblGrid>
              <a:tr h="348350">
                <a:tc>
                  <a:txBody>
                    <a:bodyPr/>
                    <a:lstStyle/>
                    <a:p>
                      <a:pPr indent="0" lvl="0" marL="0" marR="0" rtl="0" algn="ctr">
                        <a:lnSpc>
                          <a:spcPct val="115000"/>
                        </a:lnSpc>
                        <a:spcBef>
                          <a:spcPts val="0"/>
                        </a:spcBef>
                        <a:spcAft>
                          <a:spcPts val="0"/>
                        </a:spcAft>
                        <a:buNone/>
                      </a:pPr>
                      <a:r>
                        <a:rPr lang="en-IN" sz="1800">
                          <a:latin typeface="Calibri"/>
                          <a:ea typeface="Calibri"/>
                          <a:cs typeface="Calibri"/>
                          <a:sym typeface="Calibri"/>
                        </a:rPr>
                        <a:t>Particulars</a:t>
                      </a:r>
                      <a:endParaRPr/>
                    </a:p>
                  </a:txBody>
                  <a:tcPr marT="0" marB="0" marR="68575" marL="68575"/>
                </a:tc>
                <a:tc>
                  <a:txBody>
                    <a:bodyPr/>
                    <a:lstStyle/>
                    <a:p>
                      <a:pPr indent="0" lvl="0" marL="0" marR="0" rtl="0" algn="ctr">
                        <a:lnSpc>
                          <a:spcPct val="115000"/>
                        </a:lnSpc>
                        <a:spcBef>
                          <a:spcPts val="0"/>
                        </a:spcBef>
                        <a:spcAft>
                          <a:spcPts val="0"/>
                        </a:spcAft>
                        <a:buNone/>
                      </a:pPr>
                      <a:r>
                        <a:rPr lang="en-IN" sz="1800">
                          <a:latin typeface="Calibri"/>
                          <a:ea typeface="Calibri"/>
                          <a:cs typeface="Calibri"/>
                          <a:sym typeface="Calibri"/>
                        </a:rPr>
                        <a:t>A</a:t>
                      </a:r>
                      <a:endParaRPr/>
                    </a:p>
                  </a:txBody>
                  <a:tcPr marT="0" marB="0" marR="68575" marL="68575"/>
                </a:tc>
                <a:tc>
                  <a:txBody>
                    <a:bodyPr/>
                    <a:lstStyle/>
                    <a:p>
                      <a:pPr indent="0" lvl="0" marL="0" marR="0" rtl="0" algn="ctr">
                        <a:lnSpc>
                          <a:spcPct val="115000"/>
                        </a:lnSpc>
                        <a:spcBef>
                          <a:spcPts val="0"/>
                        </a:spcBef>
                        <a:spcAft>
                          <a:spcPts val="0"/>
                        </a:spcAft>
                        <a:buNone/>
                      </a:pPr>
                      <a:r>
                        <a:rPr lang="en-IN" sz="1800">
                          <a:latin typeface="Calibri"/>
                          <a:ea typeface="Calibri"/>
                          <a:cs typeface="Calibri"/>
                          <a:sym typeface="Calibri"/>
                        </a:rPr>
                        <a:t>B</a:t>
                      </a:r>
                      <a:endParaRPr/>
                    </a:p>
                  </a:txBody>
                  <a:tcPr marT="0" marB="0" marR="68575" marL="68575"/>
                </a:tc>
                <a:tc>
                  <a:txBody>
                    <a:bodyPr/>
                    <a:lstStyle/>
                    <a:p>
                      <a:pPr indent="0" lvl="0" marL="0" marR="0" rtl="0" algn="ctr">
                        <a:lnSpc>
                          <a:spcPct val="115000"/>
                        </a:lnSpc>
                        <a:spcBef>
                          <a:spcPts val="0"/>
                        </a:spcBef>
                        <a:spcAft>
                          <a:spcPts val="0"/>
                        </a:spcAft>
                        <a:buNone/>
                      </a:pPr>
                      <a:r>
                        <a:rPr lang="en-IN" sz="1800">
                          <a:latin typeface="Calibri"/>
                          <a:ea typeface="Calibri"/>
                          <a:cs typeface="Calibri"/>
                          <a:sym typeface="Calibri"/>
                        </a:rPr>
                        <a:t>C</a:t>
                      </a:r>
                      <a:endParaRPr/>
                    </a:p>
                  </a:txBody>
                  <a:tcPr marT="0" marB="0" marR="68575" marL="68575"/>
                </a:tc>
              </a:tr>
              <a:tr h="370850">
                <a:tc>
                  <a:txBody>
                    <a:bodyPr/>
                    <a:lstStyle/>
                    <a:p>
                      <a:pPr indent="0" lvl="0" marL="0" marR="0" rtl="0" algn="just">
                        <a:lnSpc>
                          <a:spcPct val="115000"/>
                        </a:lnSpc>
                        <a:spcBef>
                          <a:spcPts val="0"/>
                        </a:spcBef>
                        <a:spcAft>
                          <a:spcPts val="0"/>
                        </a:spcAft>
                        <a:buNone/>
                      </a:pPr>
                      <a:r>
                        <a:rPr lang="en-IN" sz="2600">
                          <a:latin typeface="Calibri"/>
                          <a:ea typeface="Calibri"/>
                          <a:cs typeface="Calibri"/>
                          <a:sym typeface="Calibri"/>
                        </a:rPr>
                        <a:t>Financial Leverage </a:t>
                      </a:r>
                      <a:endParaRPr/>
                    </a:p>
                  </a:txBody>
                  <a:tcPr marT="0" marB="0" marR="68575" marL="68575"/>
                </a:tc>
                <a:tc>
                  <a:txBody>
                    <a:bodyPr/>
                    <a:lstStyle/>
                    <a:p>
                      <a:pPr indent="0" lvl="0" marL="0" marR="0" rtl="0" algn="ctr">
                        <a:lnSpc>
                          <a:spcPct val="115000"/>
                        </a:lnSpc>
                        <a:spcBef>
                          <a:spcPts val="0"/>
                        </a:spcBef>
                        <a:spcAft>
                          <a:spcPts val="0"/>
                        </a:spcAft>
                        <a:buNone/>
                      </a:pPr>
                      <a:r>
                        <a:rPr lang="en-IN" sz="2600">
                          <a:latin typeface="Calibri"/>
                          <a:ea typeface="Calibri"/>
                          <a:cs typeface="Calibri"/>
                          <a:sym typeface="Calibri"/>
                        </a:rPr>
                        <a:t>3:1</a:t>
                      </a:r>
                      <a:endParaRPr/>
                    </a:p>
                  </a:txBody>
                  <a:tcPr marT="0" marB="0" marR="68575" marL="68575"/>
                </a:tc>
                <a:tc>
                  <a:txBody>
                    <a:bodyPr/>
                    <a:lstStyle/>
                    <a:p>
                      <a:pPr indent="0" lvl="0" marL="0" marR="0" rtl="0" algn="ctr">
                        <a:lnSpc>
                          <a:spcPct val="115000"/>
                        </a:lnSpc>
                        <a:spcBef>
                          <a:spcPts val="0"/>
                        </a:spcBef>
                        <a:spcAft>
                          <a:spcPts val="0"/>
                        </a:spcAft>
                        <a:buNone/>
                      </a:pPr>
                      <a:r>
                        <a:rPr lang="en-IN" sz="2600">
                          <a:latin typeface="Calibri"/>
                          <a:ea typeface="Calibri"/>
                          <a:cs typeface="Calibri"/>
                          <a:sym typeface="Calibri"/>
                        </a:rPr>
                        <a:t>4:1</a:t>
                      </a:r>
                      <a:endParaRPr/>
                    </a:p>
                  </a:txBody>
                  <a:tcPr marT="0" marB="0" marR="68575" marL="68575"/>
                </a:tc>
                <a:tc>
                  <a:txBody>
                    <a:bodyPr/>
                    <a:lstStyle/>
                    <a:p>
                      <a:pPr indent="0" lvl="0" marL="0" marR="0" rtl="0" algn="ctr">
                        <a:lnSpc>
                          <a:spcPct val="115000"/>
                        </a:lnSpc>
                        <a:spcBef>
                          <a:spcPts val="0"/>
                        </a:spcBef>
                        <a:spcAft>
                          <a:spcPts val="0"/>
                        </a:spcAft>
                        <a:buNone/>
                      </a:pPr>
                      <a:r>
                        <a:rPr lang="en-IN" sz="2600">
                          <a:latin typeface="Calibri"/>
                          <a:ea typeface="Calibri"/>
                          <a:cs typeface="Calibri"/>
                          <a:sym typeface="Calibri"/>
                        </a:rPr>
                        <a:t>2:1</a:t>
                      </a:r>
                      <a:endParaRPr/>
                    </a:p>
                  </a:txBody>
                  <a:tcPr marT="0" marB="0" marR="68575" marL="68575"/>
                </a:tc>
              </a:tr>
              <a:tr h="370850">
                <a:tc>
                  <a:txBody>
                    <a:bodyPr/>
                    <a:lstStyle/>
                    <a:p>
                      <a:pPr indent="0" lvl="0" marL="0" marR="0" rtl="0" algn="just">
                        <a:lnSpc>
                          <a:spcPct val="115000"/>
                        </a:lnSpc>
                        <a:spcBef>
                          <a:spcPts val="0"/>
                        </a:spcBef>
                        <a:spcAft>
                          <a:spcPts val="0"/>
                        </a:spcAft>
                        <a:buNone/>
                      </a:pPr>
                      <a:r>
                        <a:rPr lang="en-IN" sz="2600">
                          <a:latin typeface="Calibri"/>
                          <a:ea typeface="Calibri"/>
                          <a:cs typeface="Calibri"/>
                          <a:sym typeface="Calibri"/>
                        </a:rPr>
                        <a:t>Interest </a:t>
                      </a:r>
                      <a:endParaRPr/>
                    </a:p>
                  </a:txBody>
                  <a:tcPr marT="0" marB="0" marR="68575" marL="68575"/>
                </a:tc>
                <a:tc>
                  <a:txBody>
                    <a:bodyPr/>
                    <a:lstStyle/>
                    <a:p>
                      <a:pPr indent="0" lvl="0" marL="0" marR="0" rtl="0" algn="ctr">
                        <a:lnSpc>
                          <a:spcPct val="115000"/>
                        </a:lnSpc>
                        <a:spcBef>
                          <a:spcPts val="0"/>
                        </a:spcBef>
                        <a:spcAft>
                          <a:spcPts val="0"/>
                        </a:spcAft>
                        <a:buNone/>
                      </a:pPr>
                      <a:r>
                        <a:rPr lang="en-IN" sz="2600">
                          <a:latin typeface="Calibri"/>
                          <a:ea typeface="Calibri"/>
                          <a:cs typeface="Calibri"/>
                          <a:sym typeface="Calibri"/>
                        </a:rPr>
                        <a:t>Rs. 200</a:t>
                      </a:r>
                      <a:endParaRPr/>
                    </a:p>
                  </a:txBody>
                  <a:tcPr marT="0" marB="0" marR="68575" marL="68575"/>
                </a:tc>
                <a:tc>
                  <a:txBody>
                    <a:bodyPr/>
                    <a:lstStyle/>
                    <a:p>
                      <a:pPr indent="0" lvl="0" marL="0" marR="0" rtl="0" algn="ctr">
                        <a:lnSpc>
                          <a:spcPct val="115000"/>
                        </a:lnSpc>
                        <a:spcBef>
                          <a:spcPts val="0"/>
                        </a:spcBef>
                        <a:spcAft>
                          <a:spcPts val="0"/>
                        </a:spcAft>
                        <a:buNone/>
                      </a:pPr>
                      <a:r>
                        <a:rPr lang="en-IN" sz="2600">
                          <a:latin typeface="Calibri"/>
                          <a:ea typeface="Calibri"/>
                          <a:cs typeface="Calibri"/>
                          <a:sym typeface="Calibri"/>
                        </a:rPr>
                        <a:t>Rs. 300</a:t>
                      </a:r>
                      <a:endParaRPr/>
                    </a:p>
                  </a:txBody>
                  <a:tcPr marT="0" marB="0" marR="68575" marL="68575"/>
                </a:tc>
                <a:tc>
                  <a:txBody>
                    <a:bodyPr/>
                    <a:lstStyle/>
                    <a:p>
                      <a:pPr indent="0" lvl="0" marL="0" marR="0" rtl="0" algn="ctr">
                        <a:lnSpc>
                          <a:spcPct val="115000"/>
                        </a:lnSpc>
                        <a:spcBef>
                          <a:spcPts val="0"/>
                        </a:spcBef>
                        <a:spcAft>
                          <a:spcPts val="0"/>
                        </a:spcAft>
                        <a:buNone/>
                      </a:pPr>
                      <a:r>
                        <a:rPr lang="en-IN" sz="2600">
                          <a:latin typeface="Calibri"/>
                          <a:ea typeface="Calibri"/>
                          <a:cs typeface="Calibri"/>
                          <a:sym typeface="Calibri"/>
                        </a:rPr>
                        <a:t>Rs.1,000</a:t>
                      </a:r>
                      <a:endParaRPr sz="2600">
                        <a:latin typeface="Calibri"/>
                        <a:ea typeface="Calibri"/>
                        <a:cs typeface="Calibri"/>
                        <a:sym typeface="Calibri"/>
                      </a:endParaRPr>
                    </a:p>
                  </a:txBody>
                  <a:tcPr marT="0" marB="0" marR="68575" marL="68575"/>
                </a:tc>
              </a:tr>
              <a:tr h="370850">
                <a:tc>
                  <a:txBody>
                    <a:bodyPr/>
                    <a:lstStyle/>
                    <a:p>
                      <a:pPr indent="0" lvl="0" marL="0" marR="0" rtl="0" algn="just">
                        <a:lnSpc>
                          <a:spcPct val="115000"/>
                        </a:lnSpc>
                        <a:spcBef>
                          <a:spcPts val="0"/>
                        </a:spcBef>
                        <a:spcAft>
                          <a:spcPts val="0"/>
                        </a:spcAft>
                        <a:buNone/>
                      </a:pPr>
                      <a:r>
                        <a:rPr lang="en-IN" sz="2600">
                          <a:latin typeface="Calibri"/>
                          <a:ea typeface="Calibri"/>
                          <a:cs typeface="Calibri"/>
                          <a:sym typeface="Calibri"/>
                        </a:rPr>
                        <a:t>Operating Leverage </a:t>
                      </a:r>
                      <a:endParaRPr/>
                    </a:p>
                  </a:txBody>
                  <a:tcPr marT="0" marB="0" marR="68575" marL="68575"/>
                </a:tc>
                <a:tc>
                  <a:txBody>
                    <a:bodyPr/>
                    <a:lstStyle/>
                    <a:p>
                      <a:pPr indent="0" lvl="0" marL="0" marR="0" rtl="0" algn="ctr">
                        <a:lnSpc>
                          <a:spcPct val="115000"/>
                        </a:lnSpc>
                        <a:spcBef>
                          <a:spcPts val="0"/>
                        </a:spcBef>
                        <a:spcAft>
                          <a:spcPts val="0"/>
                        </a:spcAft>
                        <a:buNone/>
                      </a:pPr>
                      <a:r>
                        <a:rPr lang="en-IN" sz="2600">
                          <a:latin typeface="Calibri"/>
                          <a:ea typeface="Calibri"/>
                          <a:cs typeface="Calibri"/>
                          <a:sym typeface="Calibri"/>
                        </a:rPr>
                        <a:t>4:1</a:t>
                      </a:r>
                      <a:endParaRPr/>
                    </a:p>
                  </a:txBody>
                  <a:tcPr marT="0" marB="0" marR="68575" marL="68575"/>
                </a:tc>
                <a:tc>
                  <a:txBody>
                    <a:bodyPr/>
                    <a:lstStyle/>
                    <a:p>
                      <a:pPr indent="0" lvl="0" marL="0" marR="0" rtl="0" algn="ctr">
                        <a:lnSpc>
                          <a:spcPct val="115000"/>
                        </a:lnSpc>
                        <a:spcBef>
                          <a:spcPts val="0"/>
                        </a:spcBef>
                        <a:spcAft>
                          <a:spcPts val="0"/>
                        </a:spcAft>
                        <a:buNone/>
                      </a:pPr>
                      <a:r>
                        <a:rPr lang="en-IN" sz="2600">
                          <a:latin typeface="Calibri"/>
                          <a:ea typeface="Calibri"/>
                          <a:cs typeface="Calibri"/>
                          <a:sym typeface="Calibri"/>
                        </a:rPr>
                        <a:t>5:1</a:t>
                      </a:r>
                      <a:endParaRPr/>
                    </a:p>
                  </a:txBody>
                  <a:tcPr marT="0" marB="0" marR="68575" marL="68575"/>
                </a:tc>
                <a:tc>
                  <a:txBody>
                    <a:bodyPr/>
                    <a:lstStyle/>
                    <a:p>
                      <a:pPr indent="0" lvl="0" marL="0" marR="0" rtl="0" algn="ctr">
                        <a:lnSpc>
                          <a:spcPct val="115000"/>
                        </a:lnSpc>
                        <a:spcBef>
                          <a:spcPts val="0"/>
                        </a:spcBef>
                        <a:spcAft>
                          <a:spcPts val="0"/>
                        </a:spcAft>
                        <a:buNone/>
                      </a:pPr>
                      <a:r>
                        <a:rPr lang="en-IN" sz="2600">
                          <a:latin typeface="Calibri"/>
                          <a:ea typeface="Calibri"/>
                          <a:cs typeface="Calibri"/>
                          <a:sym typeface="Calibri"/>
                        </a:rPr>
                        <a:t>3:1</a:t>
                      </a:r>
                      <a:endParaRPr/>
                    </a:p>
                  </a:txBody>
                  <a:tcPr marT="0" marB="0" marR="68575" marL="68575"/>
                </a:tc>
              </a:tr>
              <a:tr h="370850">
                <a:tc>
                  <a:txBody>
                    <a:bodyPr/>
                    <a:lstStyle/>
                    <a:p>
                      <a:pPr indent="0" lvl="0" marL="0" marR="0" rtl="0" algn="just">
                        <a:lnSpc>
                          <a:spcPct val="115000"/>
                        </a:lnSpc>
                        <a:spcBef>
                          <a:spcPts val="0"/>
                        </a:spcBef>
                        <a:spcAft>
                          <a:spcPts val="0"/>
                        </a:spcAft>
                        <a:buNone/>
                      </a:pPr>
                      <a:r>
                        <a:rPr lang="en-IN" sz="2600">
                          <a:latin typeface="Calibri"/>
                          <a:ea typeface="Calibri"/>
                          <a:cs typeface="Calibri"/>
                          <a:sym typeface="Calibri"/>
                        </a:rPr>
                        <a:t>Variable cost as  a % to sales</a:t>
                      </a:r>
                      <a:endParaRPr/>
                    </a:p>
                  </a:txBody>
                  <a:tcPr marT="0" marB="0" marR="68575" marL="68575"/>
                </a:tc>
                <a:tc>
                  <a:txBody>
                    <a:bodyPr/>
                    <a:lstStyle/>
                    <a:p>
                      <a:pPr indent="0" lvl="0" marL="0" marR="0" rtl="0" algn="ctr">
                        <a:lnSpc>
                          <a:spcPct val="115000"/>
                        </a:lnSpc>
                        <a:spcBef>
                          <a:spcPts val="0"/>
                        </a:spcBef>
                        <a:spcAft>
                          <a:spcPts val="0"/>
                        </a:spcAft>
                        <a:buNone/>
                      </a:pPr>
                      <a:r>
                        <a:rPr lang="en-IN" sz="2600">
                          <a:latin typeface="Calibri"/>
                          <a:ea typeface="Calibri"/>
                          <a:cs typeface="Calibri"/>
                          <a:sym typeface="Calibri"/>
                        </a:rPr>
                        <a:t>66.67%</a:t>
                      </a:r>
                      <a:endParaRPr/>
                    </a:p>
                  </a:txBody>
                  <a:tcPr marT="0" marB="0" marR="68575" marL="68575"/>
                </a:tc>
                <a:tc>
                  <a:txBody>
                    <a:bodyPr/>
                    <a:lstStyle/>
                    <a:p>
                      <a:pPr indent="0" lvl="0" marL="0" marR="0" rtl="0" algn="ctr">
                        <a:lnSpc>
                          <a:spcPct val="115000"/>
                        </a:lnSpc>
                        <a:spcBef>
                          <a:spcPts val="0"/>
                        </a:spcBef>
                        <a:spcAft>
                          <a:spcPts val="0"/>
                        </a:spcAft>
                        <a:buNone/>
                      </a:pPr>
                      <a:r>
                        <a:rPr lang="en-IN" sz="2600">
                          <a:latin typeface="Calibri"/>
                          <a:ea typeface="Calibri"/>
                          <a:cs typeface="Calibri"/>
                          <a:sym typeface="Calibri"/>
                        </a:rPr>
                        <a:t>75%</a:t>
                      </a:r>
                      <a:endParaRPr/>
                    </a:p>
                  </a:txBody>
                  <a:tcPr marT="0" marB="0" marR="68575" marL="68575"/>
                </a:tc>
                <a:tc>
                  <a:txBody>
                    <a:bodyPr/>
                    <a:lstStyle/>
                    <a:p>
                      <a:pPr indent="0" lvl="0" marL="0" marR="0" rtl="0" algn="ctr">
                        <a:lnSpc>
                          <a:spcPct val="115000"/>
                        </a:lnSpc>
                        <a:spcBef>
                          <a:spcPts val="0"/>
                        </a:spcBef>
                        <a:spcAft>
                          <a:spcPts val="0"/>
                        </a:spcAft>
                        <a:buNone/>
                      </a:pPr>
                      <a:r>
                        <a:rPr lang="en-IN" sz="2600">
                          <a:latin typeface="Calibri"/>
                          <a:ea typeface="Calibri"/>
                          <a:cs typeface="Calibri"/>
                          <a:sym typeface="Calibri"/>
                        </a:rPr>
                        <a:t>50%</a:t>
                      </a:r>
                      <a:endParaRPr/>
                    </a:p>
                  </a:txBody>
                  <a:tcPr marT="0" marB="0" marR="68575" marL="68575"/>
                </a:tc>
              </a:tr>
              <a:tr h="245525">
                <a:tc>
                  <a:txBody>
                    <a:bodyPr/>
                    <a:lstStyle/>
                    <a:p>
                      <a:pPr indent="0" lvl="0" marL="0" marR="0" rtl="0" algn="just">
                        <a:lnSpc>
                          <a:spcPct val="115000"/>
                        </a:lnSpc>
                        <a:spcBef>
                          <a:spcPts val="0"/>
                        </a:spcBef>
                        <a:spcAft>
                          <a:spcPts val="0"/>
                        </a:spcAft>
                        <a:buNone/>
                      </a:pPr>
                      <a:r>
                        <a:rPr lang="en-IN" sz="2600">
                          <a:latin typeface="Calibri"/>
                          <a:ea typeface="Calibri"/>
                          <a:cs typeface="Calibri"/>
                          <a:sym typeface="Calibri"/>
                        </a:rPr>
                        <a:t>Income Tax Rate </a:t>
                      </a:r>
                      <a:endParaRPr/>
                    </a:p>
                  </a:txBody>
                  <a:tcPr marT="0" marB="0" marR="68575" marL="68575"/>
                </a:tc>
                <a:tc>
                  <a:txBody>
                    <a:bodyPr/>
                    <a:lstStyle/>
                    <a:p>
                      <a:pPr indent="0" lvl="0" marL="0" marR="0" rtl="0" algn="ctr">
                        <a:lnSpc>
                          <a:spcPct val="115000"/>
                        </a:lnSpc>
                        <a:spcBef>
                          <a:spcPts val="0"/>
                        </a:spcBef>
                        <a:spcAft>
                          <a:spcPts val="0"/>
                        </a:spcAft>
                        <a:buNone/>
                      </a:pPr>
                      <a:r>
                        <a:rPr lang="en-IN" sz="2600">
                          <a:latin typeface="Calibri"/>
                          <a:ea typeface="Calibri"/>
                          <a:cs typeface="Calibri"/>
                          <a:sym typeface="Calibri"/>
                        </a:rPr>
                        <a:t>45%</a:t>
                      </a:r>
                      <a:endParaRPr/>
                    </a:p>
                  </a:txBody>
                  <a:tcPr marT="0" marB="0" marR="68575" marL="68575"/>
                </a:tc>
                <a:tc>
                  <a:txBody>
                    <a:bodyPr/>
                    <a:lstStyle/>
                    <a:p>
                      <a:pPr indent="0" lvl="0" marL="0" marR="0" rtl="0" algn="ctr">
                        <a:lnSpc>
                          <a:spcPct val="115000"/>
                        </a:lnSpc>
                        <a:spcBef>
                          <a:spcPts val="0"/>
                        </a:spcBef>
                        <a:spcAft>
                          <a:spcPts val="0"/>
                        </a:spcAft>
                        <a:buNone/>
                      </a:pPr>
                      <a:r>
                        <a:rPr lang="en-IN" sz="2600">
                          <a:latin typeface="Calibri"/>
                          <a:ea typeface="Calibri"/>
                          <a:cs typeface="Calibri"/>
                          <a:sym typeface="Calibri"/>
                        </a:rPr>
                        <a:t>45%</a:t>
                      </a:r>
                      <a:endParaRPr/>
                    </a:p>
                  </a:txBody>
                  <a:tcPr marT="0" marB="0" marR="68575" marL="68575"/>
                </a:tc>
                <a:tc>
                  <a:txBody>
                    <a:bodyPr/>
                    <a:lstStyle/>
                    <a:p>
                      <a:pPr indent="0" lvl="0" marL="0" marR="0" rtl="0" algn="ctr">
                        <a:lnSpc>
                          <a:spcPct val="115000"/>
                        </a:lnSpc>
                        <a:spcBef>
                          <a:spcPts val="0"/>
                        </a:spcBef>
                        <a:spcAft>
                          <a:spcPts val="0"/>
                        </a:spcAft>
                        <a:buNone/>
                      </a:pPr>
                      <a:r>
                        <a:rPr lang="en-IN" sz="2600">
                          <a:latin typeface="Calibri"/>
                          <a:ea typeface="Calibri"/>
                          <a:cs typeface="Calibri"/>
                          <a:sym typeface="Calibri"/>
                        </a:rPr>
                        <a:t>45%</a:t>
                      </a:r>
                      <a:endParaRPr/>
                    </a:p>
                  </a:txBody>
                  <a:tcPr marT="0" marB="0" marR="68575" marL="68575"/>
                </a:tc>
              </a:tr>
            </a:tbl>
          </a:graphicData>
        </a:graphic>
      </p:graphicFrame>
      <p:pic>
        <p:nvPicPr>
          <p:cNvPr descr="Image result for sastra logo" id="430" name="Google Shape;430;p63"/>
          <p:cNvPicPr preferRelativeResize="0"/>
          <p:nvPr/>
        </p:nvPicPr>
        <p:blipFill rotWithShape="1">
          <a:blip r:embed="rId3">
            <a:alphaModFix/>
          </a:blip>
          <a:srcRect b="0" l="0" r="0" t="0"/>
          <a:stretch/>
        </p:blipFill>
        <p:spPr>
          <a:xfrm>
            <a:off x="9537700" y="368290"/>
            <a:ext cx="1816100" cy="568037"/>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4"/>
          <p:cNvSpPr txBox="1"/>
          <p:nvPr>
            <p:ph idx="1" type="body"/>
          </p:nvPr>
        </p:nvSpPr>
        <p:spPr>
          <a:xfrm>
            <a:off x="838201" y="936327"/>
            <a:ext cx="10515600" cy="5521906"/>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0000"/>
              </a:buClr>
              <a:buSzPts val="2600"/>
              <a:buNone/>
            </a:pPr>
            <a:r>
              <a:rPr b="1" lang="en-IN" sz="2600">
                <a:solidFill>
                  <a:srgbClr val="FF0000"/>
                </a:solidFill>
              </a:rPr>
              <a:t>Income Statement of Companies </a:t>
            </a:r>
            <a:endParaRPr/>
          </a:p>
          <a:p>
            <a:pPr indent="0" lvl="0" marL="0" rtl="0" algn="ctr">
              <a:lnSpc>
                <a:spcPct val="90000"/>
              </a:lnSpc>
              <a:spcBef>
                <a:spcPts val="1000"/>
              </a:spcBef>
              <a:spcAft>
                <a:spcPts val="0"/>
              </a:spcAft>
              <a:buClr>
                <a:schemeClr val="dk1"/>
              </a:buClr>
              <a:buSzPts val="2600"/>
              <a:buNone/>
            </a:pPr>
            <a:r>
              <a:t/>
            </a:r>
            <a:endParaRPr b="1" sz="2600">
              <a:solidFill>
                <a:srgbClr val="FF0000"/>
              </a:solidFill>
            </a:endParaRPr>
          </a:p>
        </p:txBody>
      </p:sp>
      <p:graphicFrame>
        <p:nvGraphicFramePr>
          <p:cNvPr id="436" name="Google Shape;436;p64"/>
          <p:cNvGraphicFramePr/>
          <p:nvPr/>
        </p:nvGraphicFramePr>
        <p:xfrm>
          <a:off x="838202" y="1364114"/>
          <a:ext cx="3000000" cy="3000000"/>
        </p:xfrm>
        <a:graphic>
          <a:graphicData uri="http://schemas.openxmlformats.org/drawingml/2006/table">
            <a:tbl>
              <a:tblPr bandRow="1" firstRow="1">
                <a:noFill/>
                <a:tableStyleId>{F13EBC90-8482-44D1-B74C-96AE8BA04B85}</a:tableStyleId>
              </a:tblPr>
              <a:tblGrid>
                <a:gridCol w="872600"/>
                <a:gridCol w="6076325"/>
                <a:gridCol w="1209375"/>
                <a:gridCol w="1179875"/>
                <a:gridCol w="1177425"/>
              </a:tblGrid>
              <a:tr h="249850">
                <a:tc>
                  <a:txBody>
                    <a:bodyPr/>
                    <a:lstStyle/>
                    <a:p>
                      <a:pPr indent="0" lvl="0" marL="0" marR="0" rtl="0" algn="l">
                        <a:spcBef>
                          <a:spcPts val="0"/>
                        </a:spcBef>
                        <a:spcAft>
                          <a:spcPts val="0"/>
                        </a:spcAft>
                        <a:buNone/>
                      </a:pPr>
                      <a:r>
                        <a:t/>
                      </a:r>
                      <a:endParaRPr b="1" sz="1800"/>
                    </a:p>
                  </a:txBody>
                  <a:tcPr marT="45725" marB="45725" marR="91450" marL="91450"/>
                </a:tc>
                <a:tc>
                  <a:txBody>
                    <a:bodyPr/>
                    <a:lstStyle/>
                    <a:p>
                      <a:pPr indent="0" lvl="0" marL="0" marR="0" rtl="0" algn="l">
                        <a:spcBef>
                          <a:spcPts val="0"/>
                        </a:spcBef>
                        <a:spcAft>
                          <a:spcPts val="0"/>
                        </a:spcAft>
                        <a:buNone/>
                      </a:pPr>
                      <a:r>
                        <a:rPr lang="en-IN" sz="1800"/>
                        <a:t>Particulars</a:t>
                      </a:r>
                      <a:endParaRPr sz="1800"/>
                    </a:p>
                  </a:txBody>
                  <a:tcPr marT="45725" marB="45725" marR="91450" marL="91450"/>
                </a:tc>
                <a:tc>
                  <a:txBody>
                    <a:bodyPr/>
                    <a:lstStyle/>
                    <a:p>
                      <a:pPr indent="0" lvl="0" marL="0" marR="0" rtl="0" algn="ctr">
                        <a:spcBef>
                          <a:spcPts val="0"/>
                        </a:spcBef>
                        <a:spcAft>
                          <a:spcPts val="0"/>
                        </a:spcAft>
                        <a:buNone/>
                      </a:pPr>
                      <a:r>
                        <a:rPr lang="en-IN" sz="1800"/>
                        <a:t>A (Rs.)</a:t>
                      </a:r>
                      <a:endParaRPr sz="1800"/>
                    </a:p>
                  </a:txBody>
                  <a:tcPr marT="45725" marB="45725" marR="91450" marL="91450"/>
                </a:tc>
                <a:tc>
                  <a:txBody>
                    <a:bodyPr/>
                    <a:lstStyle/>
                    <a:p>
                      <a:pPr indent="0" lvl="0" marL="0" marR="0" rtl="0" algn="ctr">
                        <a:spcBef>
                          <a:spcPts val="0"/>
                        </a:spcBef>
                        <a:spcAft>
                          <a:spcPts val="0"/>
                        </a:spcAft>
                        <a:buNone/>
                      </a:pPr>
                      <a:r>
                        <a:rPr lang="en-IN" sz="1800"/>
                        <a:t>B (Rs.)</a:t>
                      </a:r>
                      <a:endParaRPr sz="1800"/>
                    </a:p>
                  </a:txBody>
                  <a:tcPr marT="45725" marB="45725" marR="91450" marL="91450"/>
                </a:tc>
                <a:tc>
                  <a:txBody>
                    <a:bodyPr/>
                    <a:lstStyle/>
                    <a:p>
                      <a:pPr indent="0" lvl="0" marL="0" marR="0" rtl="0" algn="ctr">
                        <a:spcBef>
                          <a:spcPts val="0"/>
                        </a:spcBef>
                        <a:spcAft>
                          <a:spcPts val="0"/>
                        </a:spcAft>
                        <a:buNone/>
                      </a:pPr>
                      <a:r>
                        <a:rPr lang="en-IN" sz="1800"/>
                        <a:t>C  (Rs.)</a:t>
                      </a:r>
                      <a:endParaRPr sz="1800"/>
                    </a:p>
                  </a:txBody>
                  <a:tcPr marT="45725" marB="45725" marR="91450" marL="91450"/>
                </a:tc>
              </a:tr>
              <a:tr h="370850">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Sales </a:t>
                      </a:r>
                      <a:endParaRPr sz="2600"/>
                    </a:p>
                  </a:txBody>
                  <a:tcPr marT="45725" marB="45725" marR="91450" marL="91450"/>
                </a:tc>
                <a:tc>
                  <a:txBody>
                    <a:bodyPr/>
                    <a:lstStyle/>
                    <a:p>
                      <a:pPr indent="0" lvl="0" marL="0" marR="0" rtl="0" algn="r">
                        <a:spcBef>
                          <a:spcPts val="0"/>
                        </a:spcBef>
                        <a:spcAft>
                          <a:spcPts val="0"/>
                        </a:spcAft>
                        <a:buNone/>
                      </a:pPr>
                      <a:r>
                        <a:rPr lang="en-IN" sz="2600"/>
                        <a:t>3,600</a:t>
                      </a:r>
                      <a:endParaRPr sz="2600"/>
                    </a:p>
                  </a:txBody>
                  <a:tcPr marT="45725" marB="45725" marR="91450" marL="91450"/>
                </a:tc>
                <a:tc>
                  <a:txBody>
                    <a:bodyPr/>
                    <a:lstStyle/>
                    <a:p>
                      <a:pPr indent="0" lvl="0" marL="0" marR="0" rtl="0" algn="r">
                        <a:spcBef>
                          <a:spcPts val="0"/>
                        </a:spcBef>
                        <a:spcAft>
                          <a:spcPts val="0"/>
                        </a:spcAft>
                        <a:buNone/>
                      </a:pPr>
                      <a:r>
                        <a:rPr lang="en-IN" sz="2600"/>
                        <a:t>8,000</a:t>
                      </a:r>
                      <a:endParaRPr sz="2600"/>
                    </a:p>
                  </a:txBody>
                  <a:tcPr marT="45725" marB="45725" marR="91450" marL="91450"/>
                </a:tc>
                <a:tc>
                  <a:txBody>
                    <a:bodyPr/>
                    <a:lstStyle/>
                    <a:p>
                      <a:pPr indent="0" lvl="0" marL="0" marR="0" rtl="0" algn="r">
                        <a:spcBef>
                          <a:spcPts val="0"/>
                        </a:spcBef>
                        <a:spcAft>
                          <a:spcPts val="0"/>
                        </a:spcAft>
                        <a:buNone/>
                      </a:pPr>
                      <a:r>
                        <a:rPr lang="en-IN" sz="2600"/>
                        <a:t>12,000</a:t>
                      </a:r>
                      <a:endParaRPr sz="2600"/>
                    </a:p>
                  </a:txBody>
                  <a:tcPr marT="45725" marB="45725" marR="91450" marL="91450"/>
                </a:tc>
              </a:tr>
              <a:tr h="370850">
                <a:tc>
                  <a:txBody>
                    <a:bodyPr/>
                    <a:lstStyle/>
                    <a:p>
                      <a:pPr indent="0" lvl="0" marL="0" marR="0" rtl="0" algn="ctr">
                        <a:spcBef>
                          <a:spcPts val="0"/>
                        </a:spcBef>
                        <a:spcAft>
                          <a:spcPts val="0"/>
                        </a:spcAft>
                        <a:buNone/>
                      </a:pPr>
                      <a:r>
                        <a:rPr b="1" lang="en-IN" sz="2600">
                          <a:solidFill>
                            <a:srgbClr val="FF0000"/>
                          </a:solidFill>
                        </a:rPr>
                        <a:t>Less</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Variable cost </a:t>
                      </a:r>
                      <a:endParaRPr sz="2600"/>
                    </a:p>
                  </a:txBody>
                  <a:tcPr marT="45725" marB="45725" marR="91450" marL="91450"/>
                </a:tc>
                <a:tc>
                  <a:txBody>
                    <a:bodyPr/>
                    <a:lstStyle/>
                    <a:p>
                      <a:pPr indent="0" lvl="0" marL="0" marR="0" rtl="0" algn="r">
                        <a:spcBef>
                          <a:spcPts val="0"/>
                        </a:spcBef>
                        <a:spcAft>
                          <a:spcPts val="0"/>
                        </a:spcAft>
                        <a:buNone/>
                      </a:pPr>
                      <a:r>
                        <a:rPr lang="en-IN" sz="2600"/>
                        <a:t>2,400</a:t>
                      </a:r>
                      <a:endParaRPr sz="2600"/>
                    </a:p>
                  </a:txBody>
                  <a:tcPr marT="45725" marB="45725" marR="91450" marL="91450"/>
                </a:tc>
                <a:tc>
                  <a:txBody>
                    <a:bodyPr/>
                    <a:lstStyle/>
                    <a:p>
                      <a:pPr indent="0" lvl="0" marL="0" marR="0" rtl="0" algn="r">
                        <a:spcBef>
                          <a:spcPts val="0"/>
                        </a:spcBef>
                        <a:spcAft>
                          <a:spcPts val="0"/>
                        </a:spcAft>
                        <a:buNone/>
                      </a:pPr>
                      <a:r>
                        <a:rPr lang="en-IN" sz="2600"/>
                        <a:t>6,000</a:t>
                      </a:r>
                      <a:endParaRPr sz="2600"/>
                    </a:p>
                  </a:txBody>
                  <a:tcPr marT="45725" marB="45725" marR="91450" marL="91450"/>
                </a:tc>
                <a:tc>
                  <a:txBody>
                    <a:bodyPr/>
                    <a:lstStyle/>
                    <a:p>
                      <a:pPr indent="0" lvl="0" marL="0" marR="0" rtl="0" algn="r">
                        <a:spcBef>
                          <a:spcPts val="0"/>
                        </a:spcBef>
                        <a:spcAft>
                          <a:spcPts val="0"/>
                        </a:spcAft>
                        <a:buNone/>
                      </a:pPr>
                      <a:r>
                        <a:rPr lang="en-IN" sz="2600"/>
                        <a:t>6,000</a:t>
                      </a:r>
                      <a:endParaRPr sz="2600"/>
                    </a:p>
                  </a:txBody>
                  <a:tcPr marT="45725" marB="45725" marR="91450" marL="91450"/>
                </a:tc>
              </a:tr>
              <a:tr h="370850">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Contribution </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1,200</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2,000</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6,000</a:t>
                      </a:r>
                      <a:endParaRPr b="1"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b="1" lang="en-IN" sz="2600">
                          <a:solidFill>
                            <a:srgbClr val="FF0000"/>
                          </a:solidFill>
                        </a:rPr>
                        <a:t>Less</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Fixed cost </a:t>
                      </a:r>
                      <a:r>
                        <a:rPr b="1" lang="en-IN" sz="2600">
                          <a:solidFill>
                            <a:srgbClr val="FF0000"/>
                          </a:solidFill>
                        </a:rPr>
                        <a:t>[C – EBIT]</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t>900</a:t>
                      </a:r>
                      <a:endParaRPr sz="2600"/>
                    </a:p>
                  </a:txBody>
                  <a:tcPr marT="45725" marB="45725" marR="91450" marL="91450"/>
                </a:tc>
                <a:tc>
                  <a:txBody>
                    <a:bodyPr/>
                    <a:lstStyle/>
                    <a:p>
                      <a:pPr indent="0" lvl="0" marL="0" marR="0" rtl="0" algn="r">
                        <a:spcBef>
                          <a:spcPts val="0"/>
                        </a:spcBef>
                        <a:spcAft>
                          <a:spcPts val="0"/>
                        </a:spcAft>
                        <a:buNone/>
                      </a:pPr>
                      <a:r>
                        <a:rPr lang="en-IN" sz="2600"/>
                        <a:t>1600</a:t>
                      </a:r>
                      <a:endParaRPr sz="2600"/>
                    </a:p>
                  </a:txBody>
                  <a:tcPr marT="45725" marB="45725" marR="91450" marL="91450"/>
                </a:tc>
                <a:tc>
                  <a:txBody>
                    <a:bodyPr/>
                    <a:lstStyle/>
                    <a:p>
                      <a:pPr indent="0" lvl="0" marL="0" marR="0" rtl="0" algn="r">
                        <a:spcBef>
                          <a:spcPts val="0"/>
                        </a:spcBef>
                        <a:spcAft>
                          <a:spcPts val="0"/>
                        </a:spcAft>
                        <a:buNone/>
                      </a:pPr>
                      <a:r>
                        <a:rPr lang="en-IN" sz="2600"/>
                        <a:t>4,000</a:t>
                      </a:r>
                      <a:endParaRPr sz="2600"/>
                    </a:p>
                  </a:txBody>
                  <a:tcPr marT="45725" marB="45725" marR="91450" marL="91450"/>
                </a:tc>
              </a:tr>
              <a:tr h="370850">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EBIT or OP</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300</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400</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2,000</a:t>
                      </a:r>
                      <a:endParaRPr b="1"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b="1" lang="en-IN" sz="2600">
                          <a:solidFill>
                            <a:srgbClr val="FF0000"/>
                          </a:solidFill>
                        </a:rPr>
                        <a:t>Less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Interest on debts </a:t>
                      </a:r>
                      <a:r>
                        <a:rPr b="1" lang="en-IN" sz="2600">
                          <a:solidFill>
                            <a:srgbClr val="FF0000"/>
                          </a:solidFill>
                        </a:rPr>
                        <a:t>[Given]</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lang="en-IN" sz="2600"/>
                        <a:t>200</a:t>
                      </a:r>
                      <a:endParaRPr sz="2600"/>
                    </a:p>
                  </a:txBody>
                  <a:tcPr marT="45725" marB="45725" marR="91450" marL="91450"/>
                </a:tc>
                <a:tc>
                  <a:txBody>
                    <a:bodyPr/>
                    <a:lstStyle/>
                    <a:p>
                      <a:pPr indent="0" lvl="0" marL="0" marR="0" rtl="0" algn="r">
                        <a:spcBef>
                          <a:spcPts val="0"/>
                        </a:spcBef>
                        <a:spcAft>
                          <a:spcPts val="0"/>
                        </a:spcAft>
                        <a:buNone/>
                      </a:pPr>
                      <a:r>
                        <a:rPr lang="en-IN" sz="2600"/>
                        <a:t>300</a:t>
                      </a:r>
                      <a:endParaRPr sz="2600"/>
                    </a:p>
                  </a:txBody>
                  <a:tcPr marT="45725" marB="45725" marR="91450" marL="91450"/>
                </a:tc>
                <a:tc>
                  <a:txBody>
                    <a:bodyPr/>
                    <a:lstStyle/>
                    <a:p>
                      <a:pPr indent="0" lvl="0" marL="0" marR="0" rtl="0" algn="r">
                        <a:spcBef>
                          <a:spcPts val="0"/>
                        </a:spcBef>
                        <a:spcAft>
                          <a:spcPts val="0"/>
                        </a:spcAft>
                        <a:buNone/>
                      </a:pPr>
                      <a:r>
                        <a:rPr lang="en-IN" sz="2600"/>
                        <a:t>1,000</a:t>
                      </a:r>
                      <a:endParaRPr sz="2600"/>
                    </a:p>
                  </a:txBody>
                  <a:tcPr marT="45725" marB="45725" marR="91450" marL="91450"/>
                </a:tc>
              </a:tr>
              <a:tr h="370850">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Earnings</a:t>
                      </a:r>
                      <a:r>
                        <a:rPr b="1" lang="en-IN" sz="2600">
                          <a:solidFill>
                            <a:srgbClr val="FF0000"/>
                          </a:solidFill>
                        </a:rPr>
                        <a:t> before tax [EBT]</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100</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100</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1,000</a:t>
                      </a:r>
                      <a:endParaRPr b="1" sz="26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b="1" lang="en-IN" sz="2600">
                          <a:solidFill>
                            <a:srgbClr val="FF0000"/>
                          </a:solidFill>
                        </a:rPr>
                        <a:t>Less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600"/>
                        <a:t>Income tax </a:t>
                      </a:r>
                      <a:endParaRPr sz="2600"/>
                    </a:p>
                  </a:txBody>
                  <a:tcPr marT="45725" marB="45725" marR="91450" marL="91450"/>
                </a:tc>
                <a:tc>
                  <a:txBody>
                    <a:bodyPr/>
                    <a:lstStyle/>
                    <a:p>
                      <a:pPr indent="0" lvl="0" marL="0" marR="0" rtl="0" algn="r">
                        <a:spcBef>
                          <a:spcPts val="0"/>
                        </a:spcBef>
                        <a:spcAft>
                          <a:spcPts val="0"/>
                        </a:spcAft>
                        <a:buNone/>
                      </a:pPr>
                      <a:r>
                        <a:rPr lang="en-IN" sz="2600"/>
                        <a:t>45</a:t>
                      </a:r>
                      <a:endParaRPr sz="2600"/>
                    </a:p>
                  </a:txBody>
                  <a:tcPr marT="45725" marB="45725" marR="91450" marL="91450"/>
                </a:tc>
                <a:tc>
                  <a:txBody>
                    <a:bodyPr/>
                    <a:lstStyle/>
                    <a:p>
                      <a:pPr indent="0" lvl="0" marL="0" marR="0" rtl="0" algn="r">
                        <a:spcBef>
                          <a:spcPts val="0"/>
                        </a:spcBef>
                        <a:spcAft>
                          <a:spcPts val="0"/>
                        </a:spcAft>
                        <a:buNone/>
                      </a:pPr>
                      <a:r>
                        <a:rPr lang="en-IN" sz="2600"/>
                        <a:t>45</a:t>
                      </a:r>
                      <a:endParaRPr sz="2600"/>
                    </a:p>
                  </a:txBody>
                  <a:tcPr marT="45725" marB="45725" marR="91450" marL="91450"/>
                </a:tc>
                <a:tc>
                  <a:txBody>
                    <a:bodyPr/>
                    <a:lstStyle/>
                    <a:p>
                      <a:pPr indent="0" lvl="0" marL="0" marR="0" rtl="0" algn="r">
                        <a:spcBef>
                          <a:spcPts val="0"/>
                        </a:spcBef>
                        <a:spcAft>
                          <a:spcPts val="0"/>
                        </a:spcAft>
                        <a:buNone/>
                      </a:pPr>
                      <a:r>
                        <a:rPr lang="en-IN" sz="2600"/>
                        <a:t>450</a:t>
                      </a:r>
                      <a:endParaRPr sz="2600"/>
                    </a:p>
                  </a:txBody>
                  <a:tcPr marT="45725" marB="45725" marR="91450" marL="91450"/>
                </a:tc>
              </a:tr>
              <a:tr h="370850">
                <a:tc>
                  <a:txBody>
                    <a:bodyPr/>
                    <a:lstStyle/>
                    <a:p>
                      <a:pPr indent="0" lvl="0" marL="0" marR="0" rtl="0" algn="ctr">
                        <a:spcBef>
                          <a:spcPts val="0"/>
                        </a:spcBef>
                        <a:spcAft>
                          <a:spcPts val="0"/>
                        </a:spcAft>
                        <a:buNone/>
                      </a:pPr>
                      <a:r>
                        <a:t/>
                      </a:r>
                      <a:endParaRPr b="1" sz="26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600">
                          <a:solidFill>
                            <a:srgbClr val="FF0000"/>
                          </a:solidFill>
                        </a:rPr>
                        <a:t>Profit after tax [PAT]</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55</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55</a:t>
                      </a:r>
                      <a:endParaRPr b="1" sz="26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600">
                          <a:solidFill>
                            <a:srgbClr val="FF0000"/>
                          </a:solidFill>
                        </a:rPr>
                        <a:t>550</a:t>
                      </a:r>
                      <a:endParaRPr b="1" sz="2600">
                        <a:solidFill>
                          <a:srgbClr val="FF0000"/>
                        </a:solidFill>
                      </a:endParaRPr>
                    </a:p>
                  </a:txBody>
                  <a:tcPr marT="45725" marB="45725" marR="91450" marL="91450"/>
                </a:tc>
              </a:tr>
            </a:tbl>
          </a:graphicData>
        </a:graphic>
      </p:graphicFrame>
      <p:pic>
        <p:nvPicPr>
          <p:cNvPr descr="Image result for sastra logo" id="437" name="Google Shape;437;p64"/>
          <p:cNvPicPr preferRelativeResize="0"/>
          <p:nvPr/>
        </p:nvPicPr>
        <p:blipFill rotWithShape="1">
          <a:blip r:embed="rId3">
            <a:alphaModFix/>
          </a:blip>
          <a:srcRect b="0" l="0" r="0" t="0"/>
          <a:stretch/>
        </p:blipFill>
        <p:spPr>
          <a:xfrm>
            <a:off x="9537700" y="368290"/>
            <a:ext cx="1816100" cy="568037"/>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5"/>
          <p:cNvSpPr txBox="1"/>
          <p:nvPr>
            <p:ph idx="1" type="body"/>
          </p:nvPr>
        </p:nvSpPr>
        <p:spPr>
          <a:xfrm>
            <a:off x="838200" y="811161"/>
            <a:ext cx="10515600" cy="6046839"/>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P13. The Hardware Company has to make a choice between debt issue for its expansion programmes. Its current position is as follows: </a:t>
            </a:r>
            <a:endParaRPr/>
          </a:p>
          <a:p>
            <a:pPr indent="0" lvl="0" marL="0" rtl="0" algn="just">
              <a:lnSpc>
                <a:spcPct val="90000"/>
              </a:lnSpc>
              <a:spcBef>
                <a:spcPts val="1000"/>
              </a:spcBef>
              <a:spcAft>
                <a:spcPts val="0"/>
              </a:spcAft>
              <a:buClr>
                <a:schemeClr val="dk1"/>
              </a:buClr>
              <a:buSzPts val="2600"/>
              <a:buNone/>
            </a:pPr>
            <a:r>
              <a:t/>
            </a:r>
            <a:endParaRPr sz="2600"/>
          </a:p>
        </p:txBody>
      </p:sp>
      <p:graphicFrame>
        <p:nvGraphicFramePr>
          <p:cNvPr id="443" name="Google Shape;443;p65"/>
          <p:cNvGraphicFramePr/>
          <p:nvPr/>
        </p:nvGraphicFramePr>
        <p:xfrm>
          <a:off x="838200" y="1619317"/>
          <a:ext cx="3000000" cy="3000000"/>
        </p:xfrm>
        <a:graphic>
          <a:graphicData uri="http://schemas.openxmlformats.org/drawingml/2006/table">
            <a:tbl>
              <a:tblPr bandRow="1" firstRow="1">
                <a:noFill/>
                <a:tableStyleId>{F13EBC90-8482-44D1-B74C-96AE8BA04B85}</a:tableStyleId>
              </a:tblPr>
              <a:tblGrid>
                <a:gridCol w="784125"/>
                <a:gridCol w="8406575"/>
                <a:gridCol w="1324900"/>
              </a:tblGrid>
              <a:tr h="370850">
                <a:tc>
                  <a:txBody>
                    <a:bodyPr/>
                    <a:lstStyle/>
                    <a:p>
                      <a:pPr indent="0" lvl="0" marL="0" marR="0" rtl="0" algn="r">
                        <a:spcBef>
                          <a:spcPts val="0"/>
                        </a:spcBef>
                        <a:spcAft>
                          <a:spcPts val="0"/>
                        </a:spcAft>
                        <a:buNone/>
                      </a:pPr>
                      <a:r>
                        <a:t/>
                      </a:r>
                      <a:endParaRPr sz="1800"/>
                    </a:p>
                  </a:txBody>
                  <a:tcPr marT="45725" marB="45725" marR="91450" marL="91450"/>
                </a:tc>
                <a:tc>
                  <a:txBody>
                    <a:bodyPr/>
                    <a:lstStyle/>
                    <a:p>
                      <a:pPr indent="0" lvl="0" marL="0" marR="0" rtl="0" algn="ctr">
                        <a:lnSpc>
                          <a:spcPct val="100000"/>
                        </a:lnSpc>
                        <a:spcBef>
                          <a:spcPts val="0"/>
                        </a:spcBef>
                        <a:spcAft>
                          <a:spcPts val="0"/>
                        </a:spcAft>
                        <a:buClr>
                          <a:schemeClr val="dk1"/>
                        </a:buClr>
                        <a:buSzPts val="1800"/>
                        <a:buFont typeface="Calibri"/>
                        <a:buNone/>
                      </a:pPr>
                      <a:r>
                        <a:rPr lang="en-IN" sz="1800"/>
                        <a:t>Particulars</a:t>
                      </a:r>
                      <a:endParaRPr sz="1800"/>
                    </a:p>
                  </a:txBody>
                  <a:tcPr marT="45725" marB="45725" marR="91450" marL="91450"/>
                </a:tc>
                <a:tc>
                  <a:txBody>
                    <a:bodyPr/>
                    <a:lstStyle/>
                    <a:p>
                      <a:pPr indent="0" lvl="0" marL="0" marR="0" rtl="0" algn="r">
                        <a:spcBef>
                          <a:spcPts val="0"/>
                        </a:spcBef>
                        <a:spcAft>
                          <a:spcPts val="0"/>
                        </a:spcAft>
                        <a:buNone/>
                      </a:pPr>
                      <a:r>
                        <a:rPr lang="en-IN" sz="1800"/>
                        <a:t>Rs.</a:t>
                      </a:r>
                      <a:endParaRPr sz="1800"/>
                    </a:p>
                  </a:txBody>
                  <a:tcPr marT="45725" marB="45725" marR="91450" marL="91450"/>
                </a:tc>
              </a:tr>
              <a:tr h="370850">
                <a:tc>
                  <a:txBody>
                    <a:bodyPr/>
                    <a:lstStyle/>
                    <a:p>
                      <a:pPr indent="0" lvl="0" marL="0" marR="0" rtl="0" algn="ctr">
                        <a:spcBef>
                          <a:spcPts val="0"/>
                        </a:spcBef>
                        <a:spcAft>
                          <a:spcPts val="0"/>
                        </a:spcAft>
                        <a:buNone/>
                      </a:pPr>
                      <a:r>
                        <a:t/>
                      </a:r>
                      <a:endParaRPr sz="2200"/>
                    </a:p>
                  </a:txBody>
                  <a:tcPr marT="45725" marB="45725" marR="91450" marL="91450"/>
                </a:tc>
                <a:tc>
                  <a:txBody>
                    <a:bodyPr/>
                    <a:lstStyle/>
                    <a:p>
                      <a:pPr indent="0" lvl="0" marL="0" marR="0" rtl="0" algn="l">
                        <a:spcBef>
                          <a:spcPts val="0"/>
                        </a:spcBef>
                        <a:spcAft>
                          <a:spcPts val="0"/>
                        </a:spcAft>
                        <a:buNone/>
                      </a:pPr>
                      <a:r>
                        <a:rPr lang="en-IN" sz="2200"/>
                        <a:t>Debt 5%</a:t>
                      </a:r>
                      <a:endParaRPr sz="2200"/>
                    </a:p>
                  </a:txBody>
                  <a:tcPr marT="45725" marB="45725" marR="91450" marL="91450"/>
                </a:tc>
                <a:tc>
                  <a:txBody>
                    <a:bodyPr/>
                    <a:lstStyle/>
                    <a:p>
                      <a:pPr indent="0" lvl="0" marL="0" marR="0" rtl="0" algn="r">
                        <a:spcBef>
                          <a:spcPts val="0"/>
                        </a:spcBef>
                        <a:spcAft>
                          <a:spcPts val="0"/>
                        </a:spcAft>
                        <a:buNone/>
                      </a:pPr>
                      <a:r>
                        <a:rPr lang="en-IN" sz="2200"/>
                        <a:t>20,000</a:t>
                      </a:r>
                      <a:endParaRPr sz="2200"/>
                    </a:p>
                  </a:txBody>
                  <a:tcPr marT="45725" marB="45725" marR="91450" marL="91450"/>
                </a:tc>
              </a:tr>
              <a:tr h="370850">
                <a:tc>
                  <a:txBody>
                    <a:bodyPr/>
                    <a:lstStyle/>
                    <a:p>
                      <a:pPr indent="0" lvl="0" marL="0" marR="0" rtl="0" algn="ctr">
                        <a:spcBef>
                          <a:spcPts val="0"/>
                        </a:spcBef>
                        <a:spcAft>
                          <a:spcPts val="0"/>
                        </a:spcAft>
                        <a:buNone/>
                      </a:pPr>
                      <a:r>
                        <a:t/>
                      </a:r>
                      <a:endParaRPr sz="2200"/>
                    </a:p>
                  </a:txBody>
                  <a:tcPr marT="45725" marB="45725" marR="91450" marL="91450"/>
                </a:tc>
                <a:tc>
                  <a:txBody>
                    <a:bodyPr/>
                    <a:lstStyle/>
                    <a:p>
                      <a:pPr indent="0" lvl="0" marL="0" marR="0" rtl="0" algn="l">
                        <a:spcBef>
                          <a:spcPts val="0"/>
                        </a:spcBef>
                        <a:spcAft>
                          <a:spcPts val="0"/>
                        </a:spcAft>
                        <a:buNone/>
                      </a:pPr>
                      <a:r>
                        <a:rPr lang="en-IN" sz="2200"/>
                        <a:t>Equity capital ( Rs. 10 Per share) </a:t>
                      </a:r>
                      <a:endParaRPr sz="2200"/>
                    </a:p>
                  </a:txBody>
                  <a:tcPr marT="45725" marB="45725" marR="91450" marL="91450"/>
                </a:tc>
                <a:tc>
                  <a:txBody>
                    <a:bodyPr/>
                    <a:lstStyle/>
                    <a:p>
                      <a:pPr indent="0" lvl="0" marL="0" marR="0" rtl="0" algn="r">
                        <a:spcBef>
                          <a:spcPts val="0"/>
                        </a:spcBef>
                        <a:spcAft>
                          <a:spcPts val="0"/>
                        </a:spcAft>
                        <a:buNone/>
                      </a:pPr>
                      <a:r>
                        <a:rPr lang="en-IN" sz="2200"/>
                        <a:t>50,000</a:t>
                      </a:r>
                      <a:endParaRPr sz="2200"/>
                    </a:p>
                  </a:txBody>
                  <a:tcPr marT="45725" marB="45725" marR="91450" marL="91450"/>
                </a:tc>
              </a:tr>
              <a:tr h="370850">
                <a:tc>
                  <a:txBody>
                    <a:bodyPr/>
                    <a:lstStyle/>
                    <a:p>
                      <a:pPr indent="0" lvl="0" marL="0" marR="0" rtl="0" algn="ctr">
                        <a:spcBef>
                          <a:spcPts val="0"/>
                        </a:spcBef>
                        <a:spcAft>
                          <a:spcPts val="0"/>
                        </a:spcAft>
                        <a:buNone/>
                      </a:pPr>
                      <a:r>
                        <a:t/>
                      </a:r>
                      <a:endParaRPr sz="2200"/>
                    </a:p>
                  </a:txBody>
                  <a:tcPr marT="45725" marB="45725" marR="91450" marL="91450"/>
                </a:tc>
                <a:tc>
                  <a:txBody>
                    <a:bodyPr/>
                    <a:lstStyle/>
                    <a:p>
                      <a:pPr indent="0" lvl="0" marL="0" marR="0" rtl="0" algn="l">
                        <a:spcBef>
                          <a:spcPts val="0"/>
                        </a:spcBef>
                        <a:spcAft>
                          <a:spcPts val="0"/>
                        </a:spcAft>
                        <a:buNone/>
                      </a:pPr>
                      <a:r>
                        <a:rPr lang="en-IN" sz="2200"/>
                        <a:t>Surplus </a:t>
                      </a:r>
                      <a:endParaRPr sz="2200"/>
                    </a:p>
                  </a:txBody>
                  <a:tcPr marT="45725" marB="45725" marR="91450" marL="91450"/>
                </a:tc>
                <a:tc>
                  <a:txBody>
                    <a:bodyPr/>
                    <a:lstStyle/>
                    <a:p>
                      <a:pPr indent="0" lvl="0" marL="0" marR="0" rtl="0" algn="r">
                        <a:spcBef>
                          <a:spcPts val="0"/>
                        </a:spcBef>
                        <a:spcAft>
                          <a:spcPts val="0"/>
                        </a:spcAft>
                        <a:buNone/>
                      </a:pPr>
                      <a:r>
                        <a:rPr lang="en-IN" sz="2200"/>
                        <a:t>30,000</a:t>
                      </a:r>
                      <a:endParaRPr sz="2200"/>
                    </a:p>
                  </a:txBody>
                  <a:tcPr marT="45725" marB="45725" marR="91450" marL="91450"/>
                </a:tc>
              </a:tr>
              <a:tr h="370850">
                <a:tc>
                  <a:txBody>
                    <a:bodyPr/>
                    <a:lstStyle/>
                    <a:p>
                      <a:pPr indent="0" lvl="0" marL="0" marR="0" rtl="0" algn="ctr">
                        <a:spcBef>
                          <a:spcPts val="0"/>
                        </a:spcBef>
                        <a:spcAft>
                          <a:spcPts val="0"/>
                        </a:spcAft>
                        <a:buNone/>
                      </a:pPr>
                      <a:r>
                        <a:t/>
                      </a:r>
                      <a:endParaRPr sz="2200"/>
                    </a:p>
                  </a:txBody>
                  <a:tcPr marT="45725" marB="45725" marR="91450" marL="91450"/>
                </a:tc>
                <a:tc>
                  <a:txBody>
                    <a:bodyPr/>
                    <a:lstStyle/>
                    <a:p>
                      <a:pPr indent="0" lvl="0" marL="0" marR="0" rtl="0" algn="l">
                        <a:spcBef>
                          <a:spcPts val="0"/>
                        </a:spcBef>
                        <a:spcAft>
                          <a:spcPts val="0"/>
                        </a:spcAft>
                        <a:buNone/>
                      </a:pPr>
                      <a:r>
                        <a:rPr b="1" lang="en-IN" sz="2200">
                          <a:solidFill>
                            <a:srgbClr val="FF0000"/>
                          </a:solidFill>
                        </a:rPr>
                        <a:t>Total Capitalization </a:t>
                      </a:r>
                      <a:endParaRPr b="1" sz="22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200">
                          <a:solidFill>
                            <a:srgbClr val="FF0000"/>
                          </a:solidFill>
                        </a:rPr>
                        <a:t>1,00,000</a:t>
                      </a:r>
                      <a:endParaRPr b="1" sz="22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t/>
                      </a:r>
                      <a:endParaRPr sz="2200"/>
                    </a:p>
                  </a:txBody>
                  <a:tcPr marT="45725" marB="45725" marR="91450" marL="91450"/>
                </a:tc>
                <a:tc>
                  <a:txBody>
                    <a:bodyPr/>
                    <a:lstStyle/>
                    <a:p>
                      <a:pPr indent="0" lvl="0" marL="0" marR="0" rtl="0" algn="l">
                        <a:spcBef>
                          <a:spcPts val="0"/>
                        </a:spcBef>
                        <a:spcAft>
                          <a:spcPts val="0"/>
                        </a:spcAft>
                        <a:buNone/>
                      </a:pPr>
                      <a:r>
                        <a:rPr lang="en-IN" sz="2200"/>
                        <a:t>Sales</a:t>
                      </a:r>
                      <a:r>
                        <a:rPr lang="en-IN" sz="2200"/>
                        <a:t> </a:t>
                      </a:r>
                      <a:endParaRPr sz="2200"/>
                    </a:p>
                  </a:txBody>
                  <a:tcPr marT="45725" marB="45725" marR="91450" marL="91450"/>
                </a:tc>
                <a:tc>
                  <a:txBody>
                    <a:bodyPr/>
                    <a:lstStyle/>
                    <a:p>
                      <a:pPr indent="0" lvl="0" marL="0" marR="0" rtl="0" algn="r">
                        <a:spcBef>
                          <a:spcPts val="0"/>
                        </a:spcBef>
                        <a:spcAft>
                          <a:spcPts val="0"/>
                        </a:spcAft>
                        <a:buNone/>
                      </a:pPr>
                      <a:r>
                        <a:rPr lang="en-IN" sz="2200"/>
                        <a:t>3,00,000</a:t>
                      </a:r>
                      <a:endParaRPr sz="2200"/>
                    </a:p>
                  </a:txBody>
                  <a:tcPr marT="45725" marB="45725" marR="91450" marL="91450"/>
                </a:tc>
              </a:tr>
              <a:tr h="370850">
                <a:tc>
                  <a:txBody>
                    <a:bodyPr/>
                    <a:lstStyle/>
                    <a:p>
                      <a:pPr indent="0" lvl="0" marL="0" marR="0" rtl="0" algn="ctr">
                        <a:spcBef>
                          <a:spcPts val="0"/>
                        </a:spcBef>
                        <a:spcAft>
                          <a:spcPts val="0"/>
                        </a:spcAft>
                        <a:buNone/>
                      </a:pPr>
                      <a:r>
                        <a:rPr b="1" lang="en-IN" sz="2200">
                          <a:solidFill>
                            <a:srgbClr val="FF0000"/>
                          </a:solidFill>
                        </a:rPr>
                        <a:t>Less</a:t>
                      </a:r>
                      <a:endParaRPr b="1" sz="22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200"/>
                        <a:t>Total costs </a:t>
                      </a:r>
                      <a:endParaRPr sz="2200"/>
                    </a:p>
                  </a:txBody>
                  <a:tcPr marT="45725" marB="45725" marR="91450" marL="91450"/>
                </a:tc>
                <a:tc>
                  <a:txBody>
                    <a:bodyPr/>
                    <a:lstStyle/>
                    <a:p>
                      <a:pPr indent="0" lvl="0" marL="0" marR="0" rtl="0" algn="r">
                        <a:spcBef>
                          <a:spcPts val="0"/>
                        </a:spcBef>
                        <a:spcAft>
                          <a:spcPts val="0"/>
                        </a:spcAft>
                        <a:buNone/>
                      </a:pPr>
                      <a:r>
                        <a:rPr lang="en-IN" sz="2200"/>
                        <a:t>2,69,000</a:t>
                      </a:r>
                      <a:endParaRPr sz="2200"/>
                    </a:p>
                  </a:txBody>
                  <a:tcPr marT="45725" marB="45725" marR="91450" marL="91450"/>
                </a:tc>
              </a:tr>
              <a:tr h="370850">
                <a:tc>
                  <a:txBody>
                    <a:bodyPr/>
                    <a:lstStyle/>
                    <a:p>
                      <a:pPr indent="0" lvl="0" marL="0" marR="0" rtl="0" algn="ctr">
                        <a:spcBef>
                          <a:spcPts val="0"/>
                        </a:spcBef>
                        <a:spcAft>
                          <a:spcPts val="0"/>
                        </a:spcAft>
                        <a:buNone/>
                      </a:pPr>
                      <a:r>
                        <a:t/>
                      </a:r>
                      <a:endParaRPr b="1" sz="22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200">
                          <a:solidFill>
                            <a:srgbClr val="FF0000"/>
                          </a:solidFill>
                        </a:rPr>
                        <a:t>Earnings before interest and tax [EBIT]</a:t>
                      </a:r>
                      <a:endParaRPr b="1" sz="22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200">
                          <a:solidFill>
                            <a:srgbClr val="FF0000"/>
                          </a:solidFill>
                        </a:rPr>
                        <a:t>31,000</a:t>
                      </a:r>
                      <a:endParaRPr b="1" sz="22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rPr b="1" lang="en-IN" sz="2200">
                          <a:solidFill>
                            <a:srgbClr val="FF0000"/>
                          </a:solidFill>
                        </a:rPr>
                        <a:t>Less </a:t>
                      </a:r>
                      <a:endParaRPr b="1" sz="2200">
                        <a:solidFill>
                          <a:srgbClr val="FF0000"/>
                        </a:solidFill>
                      </a:endParaRPr>
                    </a:p>
                  </a:txBody>
                  <a:tcPr marT="45725" marB="45725" marR="91450" marL="91450"/>
                </a:tc>
                <a:tc>
                  <a:txBody>
                    <a:bodyPr/>
                    <a:lstStyle/>
                    <a:p>
                      <a:pPr indent="0" lvl="0" marL="0" marR="0" rtl="0" algn="l">
                        <a:spcBef>
                          <a:spcPts val="0"/>
                        </a:spcBef>
                        <a:spcAft>
                          <a:spcPts val="0"/>
                        </a:spcAft>
                        <a:buNone/>
                      </a:pPr>
                      <a:r>
                        <a:rPr lang="en-IN" sz="2200"/>
                        <a:t>Interest </a:t>
                      </a:r>
                      <a:endParaRPr sz="2200"/>
                    </a:p>
                  </a:txBody>
                  <a:tcPr marT="45725" marB="45725" marR="91450" marL="91450"/>
                </a:tc>
                <a:tc>
                  <a:txBody>
                    <a:bodyPr/>
                    <a:lstStyle/>
                    <a:p>
                      <a:pPr indent="0" lvl="0" marL="0" marR="0" rtl="0" algn="r">
                        <a:spcBef>
                          <a:spcPts val="0"/>
                        </a:spcBef>
                        <a:spcAft>
                          <a:spcPts val="0"/>
                        </a:spcAft>
                        <a:buNone/>
                      </a:pPr>
                      <a:r>
                        <a:rPr lang="en-IN" sz="2200"/>
                        <a:t>1,000</a:t>
                      </a:r>
                      <a:endParaRPr sz="2200"/>
                    </a:p>
                  </a:txBody>
                  <a:tcPr marT="45725" marB="45725" marR="91450" marL="91450"/>
                </a:tc>
              </a:tr>
              <a:tr h="370850">
                <a:tc>
                  <a:txBody>
                    <a:bodyPr/>
                    <a:lstStyle/>
                    <a:p>
                      <a:pPr indent="0" lvl="0" marL="0" marR="0" rtl="0" algn="ctr">
                        <a:spcBef>
                          <a:spcPts val="0"/>
                        </a:spcBef>
                        <a:spcAft>
                          <a:spcPts val="0"/>
                        </a:spcAft>
                        <a:buNone/>
                      </a:pPr>
                      <a:r>
                        <a:t/>
                      </a:r>
                      <a:endParaRPr sz="2200"/>
                    </a:p>
                  </a:txBody>
                  <a:tcPr marT="45725" marB="45725" marR="91450" marL="91450"/>
                </a:tc>
                <a:tc>
                  <a:txBody>
                    <a:bodyPr/>
                    <a:lstStyle/>
                    <a:p>
                      <a:pPr indent="0" lvl="0" marL="0" marR="0" rtl="0" algn="l">
                        <a:spcBef>
                          <a:spcPts val="0"/>
                        </a:spcBef>
                        <a:spcAft>
                          <a:spcPts val="0"/>
                        </a:spcAft>
                        <a:buNone/>
                      </a:pPr>
                      <a:r>
                        <a:rPr b="1" lang="en-IN" sz="2200">
                          <a:solidFill>
                            <a:srgbClr val="FF0000"/>
                          </a:solidFill>
                        </a:rPr>
                        <a:t>Income</a:t>
                      </a:r>
                      <a:r>
                        <a:rPr b="1" lang="en-IN" sz="2200">
                          <a:solidFill>
                            <a:srgbClr val="FF0000"/>
                          </a:solidFill>
                        </a:rPr>
                        <a:t> before tax [EBT]</a:t>
                      </a:r>
                      <a:endParaRPr b="1" sz="22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200">
                          <a:solidFill>
                            <a:srgbClr val="FF0000"/>
                          </a:solidFill>
                        </a:rPr>
                        <a:t>30,000</a:t>
                      </a:r>
                      <a:endParaRPr b="1" sz="2200">
                        <a:solidFill>
                          <a:srgbClr val="FF0000"/>
                        </a:solidFill>
                      </a:endParaRPr>
                    </a:p>
                  </a:txBody>
                  <a:tcPr marT="45725" marB="45725" marR="91450" marL="91450"/>
                </a:tc>
              </a:tr>
              <a:tr h="370850">
                <a:tc>
                  <a:txBody>
                    <a:bodyPr/>
                    <a:lstStyle/>
                    <a:p>
                      <a:pPr indent="0" lvl="0" marL="0" marR="0" rtl="0" algn="ctr">
                        <a:spcBef>
                          <a:spcPts val="0"/>
                        </a:spcBef>
                        <a:spcAft>
                          <a:spcPts val="0"/>
                        </a:spcAft>
                        <a:buNone/>
                      </a:pPr>
                      <a:r>
                        <a:t/>
                      </a:r>
                      <a:endParaRPr sz="2200"/>
                    </a:p>
                  </a:txBody>
                  <a:tcPr marT="45725" marB="45725" marR="91450" marL="91450"/>
                </a:tc>
                <a:tc>
                  <a:txBody>
                    <a:bodyPr/>
                    <a:lstStyle/>
                    <a:p>
                      <a:pPr indent="0" lvl="0" marL="0" marR="0" rtl="0" algn="l">
                        <a:spcBef>
                          <a:spcPts val="0"/>
                        </a:spcBef>
                        <a:spcAft>
                          <a:spcPts val="0"/>
                        </a:spcAft>
                        <a:buNone/>
                      </a:pPr>
                      <a:r>
                        <a:rPr lang="en-IN" sz="2200"/>
                        <a:t>Income tax @50%</a:t>
                      </a:r>
                      <a:r>
                        <a:rPr lang="en-IN" sz="2200"/>
                        <a:t> </a:t>
                      </a:r>
                      <a:endParaRPr sz="2200"/>
                    </a:p>
                  </a:txBody>
                  <a:tcPr marT="45725" marB="45725" marR="91450" marL="91450"/>
                </a:tc>
                <a:tc>
                  <a:txBody>
                    <a:bodyPr/>
                    <a:lstStyle/>
                    <a:p>
                      <a:pPr indent="0" lvl="0" marL="0" marR="0" rtl="0" algn="r">
                        <a:spcBef>
                          <a:spcPts val="0"/>
                        </a:spcBef>
                        <a:spcAft>
                          <a:spcPts val="0"/>
                        </a:spcAft>
                        <a:buNone/>
                      </a:pPr>
                      <a:r>
                        <a:rPr lang="en-IN" sz="2200"/>
                        <a:t>15,000</a:t>
                      </a:r>
                      <a:endParaRPr sz="2200"/>
                    </a:p>
                  </a:txBody>
                  <a:tcPr marT="45725" marB="45725" marR="91450" marL="91450"/>
                </a:tc>
              </a:tr>
              <a:tr h="370850">
                <a:tc>
                  <a:txBody>
                    <a:bodyPr/>
                    <a:lstStyle/>
                    <a:p>
                      <a:pPr indent="0" lvl="0" marL="0" marR="0" rtl="0" algn="ctr">
                        <a:spcBef>
                          <a:spcPts val="0"/>
                        </a:spcBef>
                        <a:spcAft>
                          <a:spcPts val="0"/>
                        </a:spcAft>
                        <a:buNone/>
                      </a:pPr>
                      <a:r>
                        <a:t/>
                      </a:r>
                      <a:endParaRPr b="1" sz="2200">
                        <a:solidFill>
                          <a:srgbClr val="FF0000"/>
                        </a:solidFill>
                      </a:endParaRPr>
                    </a:p>
                  </a:txBody>
                  <a:tcPr marT="45725" marB="45725" marR="91450" marL="91450"/>
                </a:tc>
                <a:tc>
                  <a:txBody>
                    <a:bodyPr/>
                    <a:lstStyle/>
                    <a:p>
                      <a:pPr indent="0" lvl="0" marL="0" marR="0" rtl="0" algn="l">
                        <a:spcBef>
                          <a:spcPts val="0"/>
                        </a:spcBef>
                        <a:spcAft>
                          <a:spcPts val="0"/>
                        </a:spcAft>
                        <a:buNone/>
                      </a:pPr>
                      <a:r>
                        <a:rPr b="1" lang="en-IN" sz="2200">
                          <a:solidFill>
                            <a:srgbClr val="FF0000"/>
                          </a:solidFill>
                        </a:rPr>
                        <a:t>Income after tax [PAT]</a:t>
                      </a:r>
                      <a:endParaRPr b="1" sz="2200">
                        <a:solidFill>
                          <a:srgbClr val="FF0000"/>
                        </a:solidFill>
                      </a:endParaRPr>
                    </a:p>
                  </a:txBody>
                  <a:tcPr marT="45725" marB="45725" marR="91450" marL="91450"/>
                </a:tc>
                <a:tc>
                  <a:txBody>
                    <a:bodyPr/>
                    <a:lstStyle/>
                    <a:p>
                      <a:pPr indent="0" lvl="0" marL="0" marR="0" rtl="0" algn="r">
                        <a:spcBef>
                          <a:spcPts val="0"/>
                        </a:spcBef>
                        <a:spcAft>
                          <a:spcPts val="0"/>
                        </a:spcAft>
                        <a:buNone/>
                      </a:pPr>
                      <a:r>
                        <a:rPr b="1" lang="en-IN" sz="2200">
                          <a:solidFill>
                            <a:srgbClr val="FF0000"/>
                          </a:solidFill>
                        </a:rPr>
                        <a:t>15,000</a:t>
                      </a:r>
                      <a:endParaRPr b="1" sz="2200">
                        <a:solidFill>
                          <a:srgbClr val="FF0000"/>
                        </a:solidFill>
                      </a:endParaRPr>
                    </a:p>
                  </a:txBody>
                  <a:tcPr marT="45725" marB="45725" marR="91450" marL="91450"/>
                </a:tc>
              </a:tr>
            </a:tbl>
          </a:graphicData>
        </a:graphic>
      </p:graphicFrame>
      <p:pic>
        <p:nvPicPr>
          <p:cNvPr descr="Image result for sastra logo" id="444" name="Google Shape;444;p65"/>
          <p:cNvPicPr preferRelativeResize="0"/>
          <p:nvPr/>
        </p:nvPicPr>
        <p:blipFill rotWithShape="1">
          <a:blip r:embed="rId3">
            <a:alphaModFix/>
          </a:blip>
          <a:srcRect b="0" l="0" r="0" t="0"/>
          <a:stretch/>
        </p:blipFill>
        <p:spPr>
          <a:xfrm>
            <a:off x="9537700" y="243124"/>
            <a:ext cx="1816100" cy="56803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6"/>
          <p:cNvSpPr txBox="1"/>
          <p:nvPr>
            <p:ph idx="1" type="body"/>
          </p:nvPr>
        </p:nvSpPr>
        <p:spPr>
          <a:xfrm>
            <a:off x="838200" y="840658"/>
            <a:ext cx="10515600" cy="533630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600"/>
              <a:buNone/>
            </a:pPr>
            <a:r>
              <a:rPr lang="en-IN" sz="2600"/>
              <a:t>The expansion programme is estimated to cost Rs. 50,000. If this is financed through debt, the  rate of new debt will be 7% and the price earning ratio will be 6 times. If the expansion programme is financed through the equity shares, the new shares can be sold netting of Rs. 25 per share and the profit earning ratio will be 7 times. The expansion will generate additional sales of Rs. 1,50,000 with the return of 10% on sales before interest and taxes.</a:t>
            </a:r>
            <a:endParaRPr/>
          </a:p>
          <a:p>
            <a:pPr indent="0" lvl="0" marL="0" rtl="0" algn="just">
              <a:lnSpc>
                <a:spcPct val="90000"/>
              </a:lnSpc>
              <a:spcBef>
                <a:spcPts val="1000"/>
              </a:spcBef>
              <a:spcAft>
                <a:spcPts val="0"/>
              </a:spcAft>
              <a:buClr>
                <a:schemeClr val="dk1"/>
              </a:buClr>
              <a:buSzPts val="2600"/>
              <a:buNone/>
            </a:pPr>
            <a:r>
              <a:rPr lang="en-IN" sz="2600"/>
              <a:t>If the company is to follow the policy of maximising the market value of the shares, which firm of financing would be choose?</a:t>
            </a:r>
            <a:endParaRPr sz="2600"/>
          </a:p>
        </p:txBody>
      </p:sp>
      <p:pic>
        <p:nvPicPr>
          <p:cNvPr descr="Image result for sastra logo" id="450" name="Google Shape;450;p66"/>
          <p:cNvPicPr preferRelativeResize="0"/>
          <p:nvPr/>
        </p:nvPicPr>
        <p:blipFill rotWithShape="1">
          <a:blip r:embed="rId3">
            <a:alphaModFix/>
          </a:blip>
          <a:srcRect b="0" l="0" r="0" t="0"/>
          <a:stretch/>
        </p:blipFill>
        <p:spPr>
          <a:xfrm>
            <a:off x="9537700" y="272621"/>
            <a:ext cx="1816100" cy="568037"/>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7"/>
          <p:cNvSpPr txBox="1"/>
          <p:nvPr>
            <p:ph idx="1" type="body"/>
          </p:nvPr>
        </p:nvSpPr>
        <p:spPr>
          <a:xfrm>
            <a:off x="838200" y="1224116"/>
            <a:ext cx="10515600" cy="495284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t/>
            </a:r>
            <a:endParaRPr b="1" sz="3600">
              <a:solidFill>
                <a:srgbClr val="FF0000"/>
              </a:solidFill>
              <a:latin typeface="Bodoni"/>
              <a:ea typeface="Bodoni"/>
              <a:cs typeface="Bodoni"/>
              <a:sym typeface="Bodoni"/>
            </a:endParaRPr>
          </a:p>
          <a:p>
            <a:pPr indent="0" lvl="0" marL="0" rtl="0" algn="l">
              <a:lnSpc>
                <a:spcPct val="90000"/>
              </a:lnSpc>
              <a:spcBef>
                <a:spcPts val="1000"/>
              </a:spcBef>
              <a:spcAft>
                <a:spcPts val="0"/>
              </a:spcAft>
              <a:buClr>
                <a:schemeClr val="dk1"/>
              </a:buClr>
              <a:buSzPts val="3600"/>
              <a:buNone/>
            </a:pPr>
            <a:r>
              <a:t/>
            </a:r>
            <a:endParaRPr b="1" sz="3600">
              <a:solidFill>
                <a:srgbClr val="FF0000"/>
              </a:solidFill>
              <a:latin typeface="Bodoni"/>
              <a:ea typeface="Bodoni"/>
              <a:cs typeface="Bodoni"/>
              <a:sym typeface="Bodoni"/>
            </a:endParaRPr>
          </a:p>
          <a:p>
            <a:pPr indent="0" lvl="0" marL="0" rtl="0" algn="l">
              <a:lnSpc>
                <a:spcPct val="90000"/>
              </a:lnSpc>
              <a:spcBef>
                <a:spcPts val="1000"/>
              </a:spcBef>
              <a:spcAft>
                <a:spcPts val="0"/>
              </a:spcAft>
              <a:buClr>
                <a:schemeClr val="dk1"/>
              </a:buClr>
              <a:buSzPts val="3600"/>
              <a:buNone/>
            </a:pPr>
            <a:r>
              <a:t/>
            </a:r>
            <a:endParaRPr b="1" sz="3600">
              <a:solidFill>
                <a:srgbClr val="FF0000"/>
              </a:solidFill>
              <a:latin typeface="Bodoni"/>
              <a:ea typeface="Bodoni"/>
              <a:cs typeface="Bodoni"/>
              <a:sym typeface="Bodoni"/>
            </a:endParaRPr>
          </a:p>
          <a:p>
            <a:pPr indent="0" lvl="0" marL="0" rtl="0" algn="ctr">
              <a:lnSpc>
                <a:spcPct val="90000"/>
              </a:lnSpc>
              <a:spcBef>
                <a:spcPts val="1000"/>
              </a:spcBef>
              <a:spcAft>
                <a:spcPts val="0"/>
              </a:spcAft>
              <a:buClr>
                <a:srgbClr val="FF0000"/>
              </a:buClr>
              <a:buSzPts val="3600"/>
              <a:buNone/>
            </a:pPr>
            <a:r>
              <a:rPr b="1" lang="en-IN" sz="3600">
                <a:solidFill>
                  <a:srgbClr val="FF0000"/>
                </a:solidFill>
                <a:latin typeface="Bodoni"/>
                <a:ea typeface="Bodoni"/>
                <a:cs typeface="Bodoni"/>
                <a:sym typeface="Bodoni"/>
              </a:rPr>
              <a:t>Thank You</a:t>
            </a:r>
            <a:endParaRPr/>
          </a:p>
          <a:p>
            <a:pPr indent="0" lvl="0" marL="0" rtl="0" algn="l">
              <a:lnSpc>
                <a:spcPct val="90000"/>
              </a:lnSpc>
              <a:spcBef>
                <a:spcPts val="1000"/>
              </a:spcBef>
              <a:spcAft>
                <a:spcPts val="0"/>
              </a:spcAft>
              <a:buClr>
                <a:schemeClr val="dk1"/>
              </a:buClr>
              <a:buSzPts val="3600"/>
              <a:buNone/>
            </a:pPr>
            <a:r>
              <a:t/>
            </a:r>
            <a:endParaRPr b="1" sz="3600">
              <a:solidFill>
                <a:srgbClr val="FF0000"/>
              </a:solidFill>
              <a:latin typeface="Bodoni"/>
              <a:ea typeface="Bodoni"/>
              <a:cs typeface="Bodoni"/>
              <a:sym typeface="Bodoni"/>
            </a:endParaRPr>
          </a:p>
          <a:p>
            <a:pPr indent="0" lvl="0" marL="0" rtl="0" algn="l">
              <a:lnSpc>
                <a:spcPct val="90000"/>
              </a:lnSpc>
              <a:spcBef>
                <a:spcPts val="1000"/>
              </a:spcBef>
              <a:spcAft>
                <a:spcPts val="0"/>
              </a:spcAft>
              <a:buClr>
                <a:schemeClr val="dk1"/>
              </a:buClr>
              <a:buSzPts val="3600"/>
              <a:buNone/>
            </a:pPr>
            <a:r>
              <a:t/>
            </a:r>
            <a:endParaRPr b="1" sz="3600">
              <a:solidFill>
                <a:srgbClr val="FF0000"/>
              </a:solidFill>
              <a:latin typeface="Bodoni"/>
              <a:ea typeface="Bodoni"/>
              <a:cs typeface="Bodoni"/>
              <a:sym typeface="Bodoni"/>
            </a:endParaRPr>
          </a:p>
        </p:txBody>
      </p:sp>
      <p:pic>
        <p:nvPicPr>
          <p:cNvPr descr="Image result for sastra logo" id="456" name="Google Shape;456;p67"/>
          <p:cNvPicPr preferRelativeResize="0"/>
          <p:nvPr/>
        </p:nvPicPr>
        <p:blipFill rotWithShape="1">
          <a:blip r:embed="rId3">
            <a:alphaModFix/>
          </a:blip>
          <a:srcRect b="0" l="0" r="0" t="0"/>
          <a:stretch/>
        </p:blipFill>
        <p:spPr>
          <a:xfrm>
            <a:off x="9537700" y="368290"/>
            <a:ext cx="1816100" cy="56803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