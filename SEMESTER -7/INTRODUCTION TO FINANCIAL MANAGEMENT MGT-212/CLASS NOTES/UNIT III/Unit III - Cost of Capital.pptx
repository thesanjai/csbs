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Lst>
  <p:sldSz cy="6858000" cx="12192000"/>
  <p:notesSz cx="6858000" cy="9144000"/>
  <p:embeddedFontLst>
    <p:embeddedFont>
      <p:font typeface="Bodoni"/>
      <p:regular r:id="rId101"/>
      <p:bold r:id="rId102"/>
      <p:italic r:id="rId103"/>
      <p:boldItalic r:id="rId104"/>
    </p:embeddedFont>
    <p:embeddedFont>
      <p:font typeface="Bell MT"/>
      <p:regular r:id="rId105"/>
      <p:bold r:id="rId106"/>
      <p:italic r:id="rId107"/>
      <p:boldItalic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D1E0FF-FAF5-4487-BE71-2FD66BCB489A}">
  <a:tblStyle styleId="{3CD1E0FF-FAF5-4487-BE71-2FD66BCB489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BellMT-italic.fntdata"/><Relationship Id="rId106" Type="http://schemas.openxmlformats.org/officeDocument/2006/relationships/font" Target="fonts/BellMT-bold.fntdata"/><Relationship Id="rId105" Type="http://schemas.openxmlformats.org/officeDocument/2006/relationships/font" Target="fonts/BellMT-regular.fntdata"/><Relationship Id="rId104" Type="http://schemas.openxmlformats.org/officeDocument/2006/relationships/font" Target="fonts/Bodoni-boldItalic.fntdata"/><Relationship Id="rId108" Type="http://schemas.openxmlformats.org/officeDocument/2006/relationships/font" Target="fonts/BellMT-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Bodoni-italic.fntdata"/><Relationship Id="rId102" Type="http://schemas.openxmlformats.org/officeDocument/2006/relationships/font" Target="fonts/Bodoni-bold.fntdata"/><Relationship Id="rId101" Type="http://schemas.openxmlformats.org/officeDocument/2006/relationships/font" Target="fonts/Bodoni-regular.fntdata"/><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8.png"/><Relationship Id="rId4" Type="http://schemas.openxmlformats.org/officeDocument/2006/relationships/image" Target="../media/image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7.png"/><Relationship Id="rId4" Type="http://schemas.openxmlformats.org/officeDocument/2006/relationships/image" Target="../media/image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7.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7.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7.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7.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7.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7.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7.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7.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7.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7.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7.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7.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7.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7.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7.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7.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7.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7.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7.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7.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7.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7.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7.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7.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7.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7.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7.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7.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7.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7.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7.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7.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7.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7.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939801" y="102575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Bell MT"/>
              <a:buNone/>
            </a:pPr>
            <a:r>
              <a:rPr b="1" lang="en-IN">
                <a:solidFill>
                  <a:srgbClr val="FF0000"/>
                </a:solidFill>
                <a:latin typeface="Bell MT"/>
                <a:ea typeface="Bell MT"/>
                <a:cs typeface="Bell MT"/>
                <a:sym typeface="Bell MT"/>
              </a:rPr>
              <a:t>Cost of Capital [K</a:t>
            </a:r>
            <a:r>
              <a:rPr b="1" baseline="-25000" lang="en-IN">
                <a:solidFill>
                  <a:srgbClr val="FF0000"/>
                </a:solidFill>
                <a:latin typeface="Bell MT"/>
                <a:ea typeface="Bell MT"/>
                <a:cs typeface="Bell MT"/>
                <a:sym typeface="Bell MT"/>
              </a:rPr>
              <a:t>o</a:t>
            </a:r>
            <a:r>
              <a:rPr b="1" lang="en-IN">
                <a:solidFill>
                  <a:srgbClr val="FF0000"/>
                </a:solidFill>
                <a:latin typeface="Bell MT"/>
                <a:ea typeface="Bell MT"/>
                <a:cs typeface="Bell MT"/>
                <a:sym typeface="Bell MT"/>
              </a:rPr>
              <a:t>]</a:t>
            </a:r>
            <a:br>
              <a:rPr b="1" lang="en-IN">
                <a:solidFill>
                  <a:srgbClr val="FF0000"/>
                </a:solidFill>
                <a:latin typeface="Bell MT"/>
                <a:ea typeface="Bell MT"/>
                <a:cs typeface="Bell MT"/>
                <a:sym typeface="Bell MT"/>
              </a:rPr>
            </a:br>
            <a:r>
              <a:rPr b="1" lang="en-IN" sz="2000">
                <a:solidFill>
                  <a:srgbClr val="FF0000"/>
                </a:solidFill>
                <a:latin typeface="Bell MT"/>
                <a:ea typeface="Bell MT"/>
                <a:cs typeface="Bell MT"/>
                <a:sym typeface="Bell MT"/>
              </a:rPr>
              <a:t>(Unit - II) </a:t>
            </a:r>
            <a:endParaRPr b="1" sz="2000">
              <a:solidFill>
                <a:srgbClr val="FF0000"/>
              </a:solidFill>
              <a:latin typeface="Bell MT"/>
              <a:ea typeface="Bell MT"/>
              <a:cs typeface="Bell MT"/>
              <a:sym typeface="Bell MT"/>
            </a:endParaRPr>
          </a:p>
        </p:txBody>
      </p:sp>
      <p:sp>
        <p:nvSpPr>
          <p:cNvPr id="89" name="Google Shape;89;p13"/>
          <p:cNvSpPr txBox="1"/>
          <p:nvPr>
            <p:ph idx="1" type="body"/>
          </p:nvPr>
        </p:nvSpPr>
        <p:spPr>
          <a:xfrm>
            <a:off x="939801" y="2351314"/>
            <a:ext cx="10515600" cy="390434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t/>
            </a:r>
            <a:endParaRPr sz="3600">
              <a:solidFill>
                <a:srgbClr val="1F3864"/>
              </a:solidFill>
              <a:latin typeface="Bodoni"/>
              <a:ea typeface="Bodoni"/>
              <a:cs typeface="Bodoni"/>
              <a:sym typeface="Bodoni"/>
            </a:endParaRPr>
          </a:p>
          <a:p>
            <a:pPr indent="0" lvl="0" marL="0" rtl="0" algn="ctr">
              <a:lnSpc>
                <a:spcPct val="90000"/>
              </a:lnSpc>
              <a:spcBef>
                <a:spcPts val="1000"/>
              </a:spcBef>
              <a:spcAft>
                <a:spcPts val="0"/>
              </a:spcAft>
              <a:buClr>
                <a:srgbClr val="1F3864"/>
              </a:buClr>
              <a:buSzPts val="3600"/>
              <a:buNone/>
            </a:pPr>
            <a:r>
              <a:rPr b="1" lang="en-IN" sz="3600">
                <a:solidFill>
                  <a:srgbClr val="1F3864"/>
                </a:solidFill>
                <a:latin typeface="Bodoni"/>
                <a:ea typeface="Bodoni"/>
                <a:cs typeface="Bodoni"/>
                <a:sym typeface="Bodoni"/>
              </a:rPr>
              <a:t>Dr.M.Velavan</a:t>
            </a:r>
            <a:endParaRPr b="1" sz="3600">
              <a:solidFill>
                <a:srgbClr val="1F3864"/>
              </a:solidFill>
              <a:latin typeface="Bodoni"/>
              <a:ea typeface="Bodoni"/>
              <a:cs typeface="Bodoni"/>
              <a:sym typeface="Bodoni"/>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Faculty</a:t>
            </a:r>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School of Management</a:t>
            </a:r>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SASTRA Deemed University</a:t>
            </a:r>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Thanjavur – 613 401</a:t>
            </a:r>
            <a:endParaRPr b="1">
              <a:solidFill>
                <a:srgbClr val="1F3864"/>
              </a:solidFill>
              <a:latin typeface="Bodoni"/>
              <a:ea typeface="Bodoni"/>
              <a:cs typeface="Bodoni"/>
              <a:sym typeface="Bodoni"/>
            </a:endParaRPr>
          </a:p>
          <a:p>
            <a:pPr indent="-50800" lvl="0" marL="228600" rtl="0" algn="ctr">
              <a:lnSpc>
                <a:spcPct val="90000"/>
              </a:lnSpc>
              <a:spcBef>
                <a:spcPts val="1000"/>
              </a:spcBef>
              <a:spcAft>
                <a:spcPts val="0"/>
              </a:spcAft>
              <a:buClr>
                <a:schemeClr val="dk1"/>
              </a:buClr>
              <a:buSzPts val="2800"/>
              <a:buNone/>
            </a:pPr>
            <a:r>
              <a:t/>
            </a:r>
            <a:endParaRPr/>
          </a:p>
        </p:txBody>
      </p:sp>
      <p:pic>
        <p:nvPicPr>
          <p:cNvPr descr="Image result for sastra logo" id="90" name="Google Shape;90;p13"/>
          <p:cNvPicPr preferRelativeResize="0"/>
          <p:nvPr/>
        </p:nvPicPr>
        <p:blipFill rotWithShape="1">
          <a:blip r:embed="rId3">
            <a:alphaModFix/>
          </a:blip>
          <a:srcRect b="0" l="0" r="0" t="0"/>
          <a:stretch/>
        </p:blipFill>
        <p:spPr>
          <a:xfrm>
            <a:off x="9639301" y="459639"/>
            <a:ext cx="1816100" cy="5661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idx="1" type="body"/>
          </p:nvPr>
        </p:nvSpPr>
        <p:spPr>
          <a:xfrm>
            <a:off x="838200" y="955343"/>
            <a:ext cx="10515600" cy="522162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Overview: </a:t>
            </a:r>
            <a:endParaRPr/>
          </a:p>
          <a:p>
            <a:pPr indent="0" lvl="0" marL="0" rtl="0" algn="l">
              <a:lnSpc>
                <a:spcPct val="90000"/>
              </a:lnSpc>
              <a:spcBef>
                <a:spcPts val="1000"/>
              </a:spcBef>
              <a:spcAft>
                <a:spcPts val="0"/>
              </a:spcAft>
              <a:buClr>
                <a:schemeClr val="dk1"/>
              </a:buClr>
              <a:buSzPts val="2800"/>
              <a:buNone/>
            </a:pPr>
            <a:r>
              <a:t/>
            </a:r>
            <a:endParaRPr/>
          </a:p>
        </p:txBody>
      </p:sp>
      <p:pic>
        <p:nvPicPr>
          <p:cNvPr id="96" name="Google Shape;96;p14"/>
          <p:cNvPicPr preferRelativeResize="0"/>
          <p:nvPr/>
        </p:nvPicPr>
        <p:blipFill rotWithShape="1">
          <a:blip r:embed="rId3">
            <a:alphaModFix/>
          </a:blip>
          <a:srcRect b="28592" l="22657" r="23952" t="38759"/>
          <a:stretch/>
        </p:blipFill>
        <p:spPr>
          <a:xfrm>
            <a:off x="838200" y="1564022"/>
            <a:ext cx="10515600" cy="411507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Image result for sastra logo" id="97" name="Google Shape;97;p14"/>
          <p:cNvPicPr preferRelativeResize="0"/>
          <p:nvPr/>
        </p:nvPicPr>
        <p:blipFill rotWithShape="1">
          <a:blip r:embed="rId4">
            <a:alphaModFix/>
          </a:blip>
          <a:srcRect b="0" l="0" r="0" t="0"/>
          <a:stretch/>
        </p:blipFill>
        <p:spPr>
          <a:xfrm>
            <a:off x="9639301" y="459639"/>
            <a:ext cx="1816100" cy="5661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idx="1" type="body"/>
          </p:nvPr>
        </p:nvSpPr>
        <p:spPr>
          <a:xfrm>
            <a:off x="838200" y="1042988"/>
            <a:ext cx="10515600" cy="541777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Introduction:</a:t>
            </a:r>
            <a:endParaRPr/>
          </a:p>
          <a:p>
            <a:pPr indent="0" lvl="0" marL="0" rtl="0" algn="just">
              <a:lnSpc>
                <a:spcPct val="90000"/>
              </a:lnSpc>
              <a:spcBef>
                <a:spcPts val="1000"/>
              </a:spcBef>
              <a:spcAft>
                <a:spcPts val="0"/>
              </a:spcAft>
              <a:buClr>
                <a:schemeClr val="dk1"/>
              </a:buClr>
              <a:buSzPts val="2600"/>
              <a:buNone/>
            </a:pPr>
            <a:r>
              <a:rPr lang="en-IN" sz="2600"/>
              <a:t>The main objective of a business is to maximize the wealth of its shareholders in the long-run, the management should invest in those projects which give a return in excess of cost of funds invested in the project of the business. </a:t>
            </a:r>
            <a:r>
              <a:rPr b="1" lang="en-IN" sz="2600">
                <a:solidFill>
                  <a:srgbClr val="00B050"/>
                </a:solidFill>
              </a:rPr>
              <a:t>The cost of capital is the rate of return the company has to pay to various suppliers of funds in the company. </a:t>
            </a:r>
            <a:r>
              <a:rPr b="1" lang="en-IN" sz="2600">
                <a:solidFill>
                  <a:srgbClr val="FF0000"/>
                </a:solidFill>
              </a:rPr>
              <a:t>It is also referred to as cut-off rate, target rate, hurdle rate, minimum required rate of return, standard rate etc.</a:t>
            </a:r>
            <a:r>
              <a:rPr b="1" lang="en-IN" sz="2600">
                <a:solidFill>
                  <a:srgbClr val="00B050"/>
                </a:solidFill>
              </a:rPr>
              <a:t> The cost of capital is the minimum rate of return, a firm has to earn to maintain its market value and value of its shares. </a:t>
            </a:r>
            <a:r>
              <a:rPr lang="en-IN" sz="2600"/>
              <a:t>The cost of capital is to be determined to help in managerial decision making like acceptance of capital investment proposals, appraisal of profitability and viability of subunits, restructuring of capital, raising of additional finances etc.  </a:t>
            </a:r>
            <a:endParaRPr/>
          </a:p>
        </p:txBody>
      </p:sp>
      <p:pic>
        <p:nvPicPr>
          <p:cNvPr descr="Image result for sastra logo" id="103" name="Google Shape;103;p15"/>
          <p:cNvPicPr preferRelativeResize="0"/>
          <p:nvPr/>
        </p:nvPicPr>
        <p:blipFill rotWithShape="1">
          <a:blip r:embed="rId3">
            <a:alphaModFix/>
          </a:blip>
          <a:srcRect b="0" l="0" r="0" t="0"/>
          <a:stretch/>
        </p:blipFill>
        <p:spPr>
          <a:xfrm>
            <a:off x="9432769" y="485776"/>
            <a:ext cx="1816100" cy="5572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idx="1" type="body"/>
          </p:nvPr>
        </p:nvSpPr>
        <p:spPr>
          <a:xfrm>
            <a:off x="838200" y="1042988"/>
            <a:ext cx="10515600" cy="54724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Example:</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Capital structure of A Ltd. is as follows:</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Here, </a:t>
            </a:r>
            <a:r>
              <a:rPr b="1" lang="en-IN" sz="2600">
                <a:solidFill>
                  <a:srgbClr val="FF0000"/>
                </a:solidFill>
              </a:rPr>
              <a:t>debt-equity ratio is 40:60.</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109" name="Google Shape;109;p16"/>
          <p:cNvGraphicFramePr/>
          <p:nvPr/>
        </p:nvGraphicFramePr>
        <p:xfrm>
          <a:off x="947382" y="1956019"/>
          <a:ext cx="3000000" cy="3000000"/>
        </p:xfrm>
        <a:graphic>
          <a:graphicData uri="http://schemas.openxmlformats.org/drawingml/2006/table">
            <a:tbl>
              <a:tblPr bandRow="1" firstRow="1">
                <a:noFill/>
                <a:tableStyleId>{3CD1E0FF-FAF5-4487-BE71-2FD66BCB489A}</a:tableStyleId>
              </a:tblPr>
              <a:tblGrid>
                <a:gridCol w="660825"/>
                <a:gridCol w="8049725"/>
                <a:gridCol w="1805075"/>
              </a:tblGrid>
              <a:tr h="453125">
                <a:tc>
                  <a:txBody>
                    <a:bodyPr/>
                    <a:lstStyle/>
                    <a:p>
                      <a:pPr indent="0" lvl="0" marL="0" marR="0" rtl="0" algn="l">
                        <a:spcBef>
                          <a:spcPts val="0"/>
                        </a:spcBef>
                        <a:spcAft>
                          <a:spcPts val="0"/>
                        </a:spcAft>
                        <a:buNone/>
                      </a:pPr>
                      <a:r>
                        <a:t/>
                      </a:r>
                      <a:endParaRPr sz="2000"/>
                    </a:p>
                  </a:txBody>
                  <a:tcPr marT="45725" marB="45725" marR="91450" marL="91450"/>
                </a:tc>
                <a:tc>
                  <a:txBody>
                    <a:bodyPr/>
                    <a:lstStyle/>
                    <a:p>
                      <a:pPr indent="0" lvl="0" marL="0" marR="0" rtl="0" algn="l">
                        <a:spcBef>
                          <a:spcPts val="0"/>
                        </a:spcBef>
                        <a:spcAft>
                          <a:spcPts val="0"/>
                        </a:spcAft>
                        <a:buNone/>
                      </a:pPr>
                      <a:r>
                        <a:rPr lang="en-IN" sz="2000"/>
                        <a:t>Equity</a:t>
                      </a:r>
                      <a:r>
                        <a:rPr lang="en-IN" sz="2000"/>
                        <a:t> and Liabilities:</a:t>
                      </a:r>
                      <a:endParaRPr/>
                    </a:p>
                  </a:txBody>
                  <a:tcPr marT="45725" marB="45725" marR="91450" marL="91450"/>
                </a:tc>
                <a:tc>
                  <a:txBody>
                    <a:bodyPr/>
                    <a:lstStyle/>
                    <a:p>
                      <a:pPr indent="0" lvl="0" marL="0" marR="0" rtl="0" algn="r">
                        <a:spcBef>
                          <a:spcPts val="0"/>
                        </a:spcBef>
                        <a:spcAft>
                          <a:spcPts val="0"/>
                        </a:spcAft>
                        <a:buNone/>
                      </a:pPr>
                      <a:r>
                        <a:rPr lang="en-IN" sz="2000"/>
                        <a:t>Rs. </a:t>
                      </a:r>
                      <a:endParaRPr sz="20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EPS/D</a:t>
                      </a:r>
                      <a:r>
                        <a:rPr lang="en-IN" sz="2600">
                          <a:solidFill>
                            <a:srgbClr val="FF0000"/>
                          </a:solidFill>
                        </a:rPr>
                        <a:t> </a:t>
                      </a:r>
                      <a:r>
                        <a:rPr lang="en-IN" sz="2600"/>
                        <a:t> </a:t>
                      </a:r>
                      <a:r>
                        <a:rPr lang="en-IN" sz="2600"/>
                        <a:t>Equity share capital </a:t>
                      </a:r>
                      <a:r>
                        <a:rPr lang="en-IN" sz="2600">
                          <a:solidFill>
                            <a:srgbClr val="FF0000"/>
                          </a:solidFill>
                        </a:rPr>
                        <a:t>[Owners Equity]</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50,00,000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lnSpc>
                          <a:spcPct val="100000"/>
                        </a:lnSpc>
                        <a:spcBef>
                          <a:spcPts val="0"/>
                        </a:spcBef>
                        <a:spcAft>
                          <a:spcPts val="0"/>
                        </a:spcAft>
                        <a:buClr>
                          <a:srgbClr val="FF0000"/>
                        </a:buClr>
                        <a:buSzPts val="2600"/>
                        <a:buFont typeface="Calibri"/>
                        <a:buNone/>
                      </a:pPr>
                      <a:r>
                        <a:rPr lang="en-IN" sz="2600">
                          <a:solidFill>
                            <a:srgbClr val="FF0000"/>
                          </a:solidFill>
                        </a:rPr>
                        <a:t>? </a:t>
                      </a:r>
                      <a:r>
                        <a:rPr lang="en-IN" sz="2600"/>
                        <a:t>Retained earnings  </a:t>
                      </a:r>
                      <a:r>
                        <a:rPr lang="en-IN" sz="2600">
                          <a:solidFill>
                            <a:srgbClr val="FF0000"/>
                          </a:solidFill>
                        </a:rPr>
                        <a:t>[Owners Equity]</a:t>
                      </a:r>
                      <a:endParaRPr/>
                    </a:p>
                  </a:txBody>
                  <a:tcPr marT="45725" marB="45725" marR="91450" marL="91450"/>
                </a:tc>
                <a:tc>
                  <a:txBody>
                    <a:bodyPr/>
                    <a:lstStyle/>
                    <a:p>
                      <a:pPr indent="0" lvl="0" marL="0" marR="0" rtl="0" algn="r">
                        <a:spcBef>
                          <a:spcPts val="0"/>
                        </a:spcBef>
                        <a:spcAft>
                          <a:spcPts val="0"/>
                        </a:spcAft>
                        <a:buNone/>
                      </a:pPr>
                      <a:r>
                        <a:rPr lang="en-IN" sz="2600"/>
                        <a:t>20,00,000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lnSpc>
                          <a:spcPct val="100000"/>
                        </a:lnSpc>
                        <a:spcBef>
                          <a:spcPts val="0"/>
                        </a:spcBef>
                        <a:spcAft>
                          <a:spcPts val="0"/>
                        </a:spcAft>
                        <a:buClr>
                          <a:srgbClr val="FF0000"/>
                        </a:buClr>
                        <a:buSzPts val="2600"/>
                        <a:buFont typeface="Calibri"/>
                        <a:buNone/>
                      </a:pPr>
                      <a:r>
                        <a:rPr lang="en-IN" sz="2600">
                          <a:solidFill>
                            <a:srgbClr val="FF0000"/>
                          </a:solidFill>
                        </a:rPr>
                        <a:t>10 % </a:t>
                      </a:r>
                      <a:r>
                        <a:rPr lang="en-IN" sz="2600"/>
                        <a:t>Preference share capital </a:t>
                      </a:r>
                      <a:r>
                        <a:rPr lang="en-IN" sz="2600">
                          <a:solidFill>
                            <a:srgbClr val="FF0000"/>
                          </a:solidFill>
                        </a:rPr>
                        <a:t>[Owners Equity]</a:t>
                      </a:r>
                      <a:endParaRPr/>
                    </a:p>
                  </a:txBody>
                  <a:tcPr marT="45725" marB="45725" marR="91450" marL="91450"/>
                </a:tc>
                <a:tc>
                  <a:txBody>
                    <a:bodyPr/>
                    <a:lstStyle/>
                    <a:p>
                      <a:pPr indent="0" lvl="0" marL="0" marR="0" rtl="0" algn="r">
                        <a:spcBef>
                          <a:spcPts val="0"/>
                        </a:spcBef>
                        <a:spcAft>
                          <a:spcPts val="0"/>
                        </a:spcAft>
                        <a:buNone/>
                      </a:pPr>
                      <a:r>
                        <a:rPr lang="en-IN" sz="2600"/>
                        <a:t>20,00,000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solidFill>
                            <a:srgbClr val="FF0000"/>
                          </a:solidFill>
                        </a:rPr>
                        <a:t>10 %</a:t>
                      </a:r>
                      <a:r>
                        <a:rPr lang="en-IN" sz="2600">
                          <a:solidFill>
                            <a:srgbClr val="FF0000"/>
                          </a:solidFill>
                        </a:rPr>
                        <a:t> </a:t>
                      </a:r>
                      <a:r>
                        <a:rPr lang="en-IN" sz="2600"/>
                        <a:t>Debentures</a:t>
                      </a:r>
                      <a:r>
                        <a:rPr lang="en-IN" sz="2600"/>
                        <a:t> </a:t>
                      </a:r>
                      <a:r>
                        <a:rPr lang="en-IN" sz="2600">
                          <a:solidFill>
                            <a:srgbClr val="FF0000"/>
                          </a:solidFill>
                        </a:rPr>
                        <a:t>[Debt]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40,00,000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solidFill>
                            <a:srgbClr val="FF0000"/>
                          </a:solidFill>
                        </a:rPr>
                        <a:t>15% </a:t>
                      </a:r>
                      <a:r>
                        <a:rPr lang="en-IN" sz="2600"/>
                        <a:t>loan from financial institutions </a:t>
                      </a:r>
                      <a:r>
                        <a:rPr lang="en-IN" sz="2600">
                          <a:solidFill>
                            <a:srgbClr val="FF0000"/>
                          </a:solidFill>
                        </a:rPr>
                        <a:t>[Debt]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20,00,000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Total capital structure </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1,50,00,000</a:t>
                      </a:r>
                      <a:endParaRPr b="1" sz="2600">
                        <a:solidFill>
                          <a:srgbClr val="FF0000"/>
                        </a:solidFill>
                      </a:endParaRPr>
                    </a:p>
                  </a:txBody>
                  <a:tcPr marT="45725" marB="45725" marR="91450" marL="91450"/>
                </a:tc>
              </a:tr>
            </a:tbl>
          </a:graphicData>
        </a:graphic>
      </p:graphicFrame>
      <p:pic>
        <p:nvPicPr>
          <p:cNvPr descr="Image result for sastra logo" id="110" name="Google Shape;110;p16"/>
          <p:cNvPicPr preferRelativeResize="0"/>
          <p:nvPr/>
        </p:nvPicPr>
        <p:blipFill rotWithShape="1">
          <a:blip r:embed="rId3">
            <a:alphaModFix/>
          </a:blip>
          <a:srcRect b="0" l="0" r="0" t="0"/>
          <a:stretch/>
        </p:blipFill>
        <p:spPr>
          <a:xfrm>
            <a:off x="9432769" y="485776"/>
            <a:ext cx="1816100" cy="5572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idx="1" type="body"/>
          </p:nvPr>
        </p:nvSpPr>
        <p:spPr>
          <a:xfrm>
            <a:off x="838200" y="974361"/>
            <a:ext cx="10515600" cy="520260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Cost of Capital is the most important and controversial area in Financial Management. Capital Budgeting decisions have a major impact on the firm, and </a:t>
            </a:r>
            <a:r>
              <a:rPr b="1" lang="en-IN" sz="2600">
                <a:solidFill>
                  <a:srgbClr val="FF0000"/>
                </a:solidFill>
              </a:rPr>
              <a:t>Cost of Capital is used as a criterion to evaluate the capital Budgeting decisions i.e., whether to accept or reject a project.</a:t>
            </a:r>
            <a:r>
              <a:rPr lang="en-IN" sz="2600">
                <a:solidFill>
                  <a:srgbClr val="FF0000"/>
                </a:solidFill>
              </a:rPr>
              <a:t> </a:t>
            </a:r>
            <a:r>
              <a:rPr lang="en-IN" sz="2600"/>
              <a:t>Knowledge about cost of capital, and how it is influenced by financial leverage, is useful in making capital structure decisions</a:t>
            </a:r>
            <a:r>
              <a:rPr b="1" lang="en-IN" sz="2600"/>
              <a:t>. </a:t>
            </a:r>
            <a:r>
              <a:rPr b="1" lang="en-IN" sz="2600">
                <a:solidFill>
                  <a:srgbClr val="00B050"/>
                </a:solidFill>
              </a:rPr>
              <a:t>The cost of capital is the most important concept in financial decision making.</a:t>
            </a:r>
            <a:r>
              <a:rPr b="1" lang="en-IN" sz="2600"/>
              <a:t> </a:t>
            </a:r>
            <a:r>
              <a:rPr lang="en-IN" sz="2600"/>
              <a:t>The chief objective of measuring the cost of capital is </a:t>
            </a:r>
            <a:r>
              <a:rPr b="1" lang="en-IN" sz="2600">
                <a:solidFill>
                  <a:srgbClr val="FF0000"/>
                </a:solidFill>
              </a:rPr>
              <a:t>its use as a decision criterion in capital budgeting.</a:t>
            </a:r>
            <a:endParaRPr/>
          </a:p>
        </p:txBody>
      </p:sp>
      <p:pic>
        <p:nvPicPr>
          <p:cNvPr descr="Image result for sastra logo" id="116" name="Google Shape;116;p17"/>
          <p:cNvPicPr preferRelativeResize="0"/>
          <p:nvPr/>
        </p:nvPicPr>
        <p:blipFill rotWithShape="1">
          <a:blip r:embed="rId3">
            <a:alphaModFix/>
          </a:blip>
          <a:srcRect b="0" l="0" r="0" t="0"/>
          <a:stretch/>
        </p:blipFill>
        <p:spPr>
          <a:xfrm>
            <a:off x="9432769" y="417149"/>
            <a:ext cx="1816100" cy="5572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idx="1" type="body"/>
          </p:nvPr>
        </p:nvSpPr>
        <p:spPr>
          <a:xfrm>
            <a:off x="838200" y="785813"/>
            <a:ext cx="10515600" cy="555502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Definition: </a:t>
            </a:r>
            <a:endParaRPr/>
          </a:p>
          <a:p>
            <a:pPr indent="0" lvl="0" marL="0" rtl="0" algn="just">
              <a:lnSpc>
                <a:spcPct val="90000"/>
              </a:lnSpc>
              <a:spcBef>
                <a:spcPts val="1000"/>
              </a:spcBef>
              <a:spcAft>
                <a:spcPts val="0"/>
              </a:spcAft>
              <a:buClr>
                <a:schemeClr val="dk1"/>
              </a:buClr>
              <a:buSzPts val="2600"/>
              <a:buNone/>
            </a:pPr>
            <a:r>
              <a:rPr lang="en-IN" sz="2600"/>
              <a:t>According to professor </a:t>
            </a:r>
            <a:r>
              <a:rPr b="1" lang="en-IN" sz="2600">
                <a:solidFill>
                  <a:srgbClr val="FF0000"/>
                </a:solidFill>
              </a:rPr>
              <a:t>I.M.Pandy</a:t>
            </a:r>
            <a:r>
              <a:rPr lang="en-IN" sz="2600"/>
              <a:t> “Cost of Capital is </a:t>
            </a:r>
            <a:r>
              <a:rPr lang="en-IN" sz="2600">
                <a:solidFill>
                  <a:srgbClr val="FF0000"/>
                </a:solidFill>
              </a:rPr>
              <a:t>the discount rate used in evaluating the desirability of the investment project.</a:t>
            </a:r>
            <a:r>
              <a:rPr lang="en-IN" sz="2600"/>
              <a:t> The cost of capital is </a:t>
            </a:r>
            <a:r>
              <a:rPr b="1" lang="en-IN" sz="2600">
                <a:solidFill>
                  <a:srgbClr val="FF0000"/>
                </a:solidFill>
              </a:rPr>
              <a:t>the</a:t>
            </a:r>
            <a:r>
              <a:rPr b="1" lang="en-IN" sz="2600"/>
              <a:t> </a:t>
            </a:r>
            <a:r>
              <a:rPr b="1" lang="en-IN" sz="2600">
                <a:solidFill>
                  <a:srgbClr val="FF0000"/>
                </a:solidFill>
              </a:rPr>
              <a:t>minimum rate of return required for investment projec</a:t>
            </a:r>
            <a:r>
              <a:rPr lang="en-IN" sz="2600">
                <a:solidFill>
                  <a:srgbClr val="FF0000"/>
                </a:solidFill>
              </a:rPr>
              <a:t>t. </a:t>
            </a:r>
            <a:r>
              <a:rPr lang="en-IN" sz="2600"/>
              <a:t>The cost of capital is the minimum rate of return which will maintain the </a:t>
            </a:r>
            <a:r>
              <a:rPr b="1" lang="en-IN" sz="2600">
                <a:solidFill>
                  <a:srgbClr val="FF0000"/>
                </a:solidFill>
              </a:rPr>
              <a:t>market value per share at its current level.</a:t>
            </a:r>
            <a:endParaRPr/>
          </a:p>
          <a:p>
            <a:pPr indent="0" lvl="0" marL="0" rtl="0" algn="just">
              <a:lnSpc>
                <a:spcPct val="90000"/>
              </a:lnSpc>
              <a:spcBef>
                <a:spcPts val="1000"/>
              </a:spcBef>
              <a:spcAft>
                <a:spcPts val="0"/>
              </a:spcAft>
              <a:buClr>
                <a:schemeClr val="dk1"/>
              </a:buClr>
              <a:buSzPts val="2600"/>
              <a:buNone/>
            </a:pPr>
            <a:r>
              <a:rPr lang="en-IN" sz="2600"/>
              <a:t>If the firm earns </a:t>
            </a:r>
            <a:r>
              <a:rPr b="1" lang="en-IN" sz="2600">
                <a:solidFill>
                  <a:srgbClr val="FF0000"/>
                </a:solidFill>
              </a:rPr>
              <a:t>more than the cost of capital, the market value per share is expected to increase.</a:t>
            </a:r>
            <a:r>
              <a:rPr lang="en-IN" sz="2600">
                <a:solidFill>
                  <a:srgbClr val="FF0000"/>
                </a:solidFill>
              </a:rPr>
              <a:t> </a:t>
            </a:r>
            <a:r>
              <a:rPr lang="en-IN" sz="2600"/>
              <a:t>In other words, it is the rate that suppliers of funds expect to get. It is determined by the cost of the various sources of finance. It is also referred to as the weighted average cost of capital or composite / combined cost of capital.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James C. Van Horne: </a:t>
            </a:r>
            <a:r>
              <a:rPr lang="en-IN" sz="2600"/>
              <a:t>The cost of Capital is </a:t>
            </a:r>
            <a:r>
              <a:rPr b="1" lang="en-IN" sz="2600">
                <a:solidFill>
                  <a:srgbClr val="FF0000"/>
                </a:solidFill>
              </a:rPr>
              <a:t>“a cut-off rate for the allocation of capital to investments of projects.</a:t>
            </a:r>
            <a:r>
              <a:rPr b="1" lang="en-IN" sz="2600"/>
              <a:t> </a:t>
            </a:r>
            <a:r>
              <a:rPr lang="en-IN" sz="2600"/>
              <a:t>It is the rate of return on a project that will leave unchanged the market price of the stock”. </a:t>
            </a:r>
            <a:endParaRPr/>
          </a:p>
        </p:txBody>
      </p:sp>
      <p:pic>
        <p:nvPicPr>
          <p:cNvPr descr="Image result for sastra logo" id="122" name="Google Shape;122;p18"/>
          <p:cNvPicPr preferRelativeResize="0"/>
          <p:nvPr/>
        </p:nvPicPr>
        <p:blipFill rotWithShape="1">
          <a:blip r:embed="rId3">
            <a:alphaModFix/>
          </a:blip>
          <a:srcRect b="0" l="0" r="0" t="0"/>
          <a:stretch/>
        </p:blipFill>
        <p:spPr>
          <a:xfrm>
            <a:off x="9537700" y="507207"/>
            <a:ext cx="1816100" cy="5572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idx="1" type="body"/>
          </p:nvPr>
        </p:nvSpPr>
        <p:spPr>
          <a:xfrm>
            <a:off x="838200" y="914399"/>
            <a:ext cx="10515600" cy="551410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Soloman Ezra: </a:t>
            </a:r>
            <a:r>
              <a:rPr lang="en-IN" sz="2600"/>
              <a:t>“Cost of Capital is </a:t>
            </a:r>
            <a:r>
              <a:rPr b="1" lang="en-IN" sz="2600">
                <a:solidFill>
                  <a:srgbClr val="FF0000"/>
                </a:solidFill>
              </a:rPr>
              <a:t>the minimum required rate of earnings or the cut-off rate of capital expenditure”.</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It is clear from the above definitions that the cost of capital is that </a:t>
            </a:r>
            <a:r>
              <a:rPr b="1" lang="en-IN" sz="2600">
                <a:solidFill>
                  <a:srgbClr val="FF0000"/>
                </a:solidFill>
              </a:rPr>
              <a:t>minimum rate of return which a firm is expected to earn on its investments so that the market value of its share is maintained</a:t>
            </a:r>
            <a:r>
              <a:rPr lang="en-IN" sz="2600">
                <a:solidFill>
                  <a:srgbClr val="FF0000"/>
                </a:solidFill>
              </a:rPr>
              <a:t>.</a:t>
            </a:r>
            <a:r>
              <a:rPr lang="en-IN" sz="2600"/>
              <a:t> We can also conclude from the above definitions that there are three basic aspects of the concept of cost of capital: </a:t>
            </a:r>
            <a:endParaRPr/>
          </a:p>
          <a:p>
            <a:pPr indent="-571500" lvl="0" marL="571500" rtl="0" algn="just">
              <a:lnSpc>
                <a:spcPct val="90000"/>
              </a:lnSpc>
              <a:spcBef>
                <a:spcPts val="1000"/>
              </a:spcBef>
              <a:spcAft>
                <a:spcPts val="0"/>
              </a:spcAft>
              <a:buClr>
                <a:srgbClr val="FF0000"/>
              </a:buClr>
              <a:buSzPts val="2600"/>
              <a:buAutoNum type="romanLcParenBoth"/>
            </a:pPr>
            <a:r>
              <a:rPr lang="en-IN" sz="2600">
                <a:solidFill>
                  <a:srgbClr val="FF0000"/>
                </a:solidFill>
              </a:rPr>
              <a:t>Not a cost as such: </a:t>
            </a:r>
            <a:r>
              <a:rPr lang="en-IN" sz="2600"/>
              <a:t>In fact the cost of capital is not a cost as such, it is the rate of return that a firm requires to earn from its projects.</a:t>
            </a:r>
            <a:endParaRPr/>
          </a:p>
          <a:p>
            <a:pPr indent="-571500" lvl="0" marL="571500" rtl="0" algn="just">
              <a:lnSpc>
                <a:spcPct val="90000"/>
              </a:lnSpc>
              <a:spcBef>
                <a:spcPts val="1000"/>
              </a:spcBef>
              <a:spcAft>
                <a:spcPts val="0"/>
              </a:spcAft>
              <a:buClr>
                <a:srgbClr val="FF0000"/>
              </a:buClr>
              <a:buSzPts val="2600"/>
              <a:buAutoNum type="romanLcParenBoth"/>
            </a:pPr>
            <a:r>
              <a:rPr lang="en-IN" sz="2600">
                <a:solidFill>
                  <a:srgbClr val="FF0000"/>
                </a:solidFill>
              </a:rPr>
              <a:t> It is the minimum rate of return: </a:t>
            </a:r>
            <a:r>
              <a:rPr lang="en-IN" sz="2600"/>
              <a:t>A firm’s cost of capital is that minimum rate of return which will at least maintain the market value of the share. </a:t>
            </a:r>
            <a:endParaRPr sz="2600"/>
          </a:p>
        </p:txBody>
      </p:sp>
      <p:pic>
        <p:nvPicPr>
          <p:cNvPr descr="Image result for sastra logo" id="128" name="Google Shape;128;p19"/>
          <p:cNvPicPr preferRelativeResize="0"/>
          <p:nvPr/>
        </p:nvPicPr>
        <p:blipFill rotWithShape="1">
          <a:blip r:embed="rId3">
            <a:alphaModFix/>
          </a:blip>
          <a:srcRect b="0" l="0" r="0" t="0"/>
          <a:stretch/>
        </p:blipFill>
        <p:spPr>
          <a:xfrm>
            <a:off x="9537700" y="357187"/>
            <a:ext cx="1816100" cy="5572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idx="1" type="body"/>
          </p:nvPr>
        </p:nvSpPr>
        <p:spPr>
          <a:xfrm>
            <a:off x="838200" y="914399"/>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lang="en-IN" sz="2600">
                <a:solidFill>
                  <a:srgbClr val="FF0000"/>
                </a:solidFill>
              </a:rPr>
              <a:t>iii) It comprises three components: </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Where:</a:t>
            </a:r>
            <a:endParaRPr/>
          </a:p>
          <a:p>
            <a:pPr indent="0" lvl="0" marL="0" rtl="0" algn="just">
              <a:lnSpc>
                <a:spcPct val="90000"/>
              </a:lnSpc>
              <a:spcBef>
                <a:spcPts val="1000"/>
              </a:spcBef>
              <a:spcAft>
                <a:spcPts val="0"/>
              </a:spcAft>
              <a:buClr>
                <a:schemeClr val="dk1"/>
              </a:buClr>
              <a:buSzPts val="2600"/>
              <a:buNone/>
            </a:pPr>
            <a:r>
              <a:rPr lang="en-IN" sz="2600"/>
              <a:t>k = Cost of Capital, </a:t>
            </a:r>
            <a:endParaRPr/>
          </a:p>
          <a:p>
            <a:pPr indent="0" lvl="0" marL="0" rtl="0" algn="just">
              <a:lnSpc>
                <a:spcPct val="90000"/>
              </a:lnSpc>
              <a:spcBef>
                <a:spcPts val="1000"/>
              </a:spcBef>
              <a:spcAft>
                <a:spcPts val="0"/>
              </a:spcAft>
              <a:buClr>
                <a:schemeClr val="dk1"/>
              </a:buClr>
              <a:buSzPts val="2600"/>
              <a:buNone/>
            </a:pPr>
            <a:r>
              <a:rPr lang="en-IN" sz="2600"/>
              <a:t>r</a:t>
            </a:r>
            <a:r>
              <a:rPr baseline="-25000" lang="en-IN" sz="2600"/>
              <a:t>o</a:t>
            </a:r>
            <a:r>
              <a:rPr lang="en-IN" sz="2600"/>
              <a:t>= Return at zero risk level,</a:t>
            </a:r>
            <a:endParaRPr/>
          </a:p>
          <a:p>
            <a:pPr indent="0" lvl="0" marL="0" rtl="0" algn="just">
              <a:lnSpc>
                <a:spcPct val="90000"/>
              </a:lnSpc>
              <a:spcBef>
                <a:spcPts val="1000"/>
              </a:spcBef>
              <a:spcAft>
                <a:spcPts val="0"/>
              </a:spcAft>
              <a:buClr>
                <a:schemeClr val="dk1"/>
              </a:buClr>
              <a:buSzPts val="2600"/>
              <a:buNone/>
            </a:pPr>
            <a:r>
              <a:rPr lang="en-IN" sz="2600"/>
              <a:t>b = Premium for business risk, which refers to the variability in operating profit (EBIT) due to change in sales,</a:t>
            </a:r>
            <a:endParaRPr sz="2600"/>
          </a:p>
          <a:p>
            <a:pPr indent="0" lvl="0" marL="0" rtl="0" algn="just">
              <a:lnSpc>
                <a:spcPct val="90000"/>
              </a:lnSpc>
              <a:spcBef>
                <a:spcPts val="1000"/>
              </a:spcBef>
              <a:spcAft>
                <a:spcPts val="0"/>
              </a:spcAft>
              <a:buClr>
                <a:schemeClr val="dk1"/>
              </a:buClr>
              <a:buSzPts val="2600"/>
              <a:buNone/>
            </a:pPr>
            <a:r>
              <a:rPr lang="en-IN" sz="2600"/>
              <a:t>f = Premium for financial risk which is related to the pattern of capital structure.</a:t>
            </a:r>
            <a:endParaRPr/>
          </a:p>
        </p:txBody>
      </p:sp>
      <p:sp>
        <p:nvSpPr>
          <p:cNvPr id="134" name="Google Shape;134;p20"/>
          <p:cNvSpPr/>
          <p:nvPr/>
        </p:nvSpPr>
        <p:spPr>
          <a:xfrm>
            <a:off x="838201" y="1517415"/>
            <a:ext cx="2069892" cy="596199"/>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IN" sz="2600" u="none" cap="none" strike="noStrike">
                <a:solidFill>
                  <a:schemeClr val="lt1"/>
                </a:solidFill>
                <a:latin typeface="Calibri"/>
                <a:ea typeface="Calibri"/>
                <a:cs typeface="Calibri"/>
                <a:sym typeface="Calibri"/>
              </a:rPr>
              <a:t>K</a:t>
            </a:r>
            <a:r>
              <a:rPr b="0" baseline="-25000" i="0" lang="en-IN" sz="2600" u="none" cap="none" strike="noStrike">
                <a:solidFill>
                  <a:schemeClr val="lt1"/>
                </a:solidFill>
                <a:latin typeface="Calibri"/>
                <a:ea typeface="Calibri"/>
                <a:cs typeface="Calibri"/>
                <a:sym typeface="Calibri"/>
              </a:rPr>
              <a:t>o </a:t>
            </a:r>
            <a:r>
              <a:rPr b="0" i="0" lang="en-IN" sz="2600" u="none" cap="none" strike="noStrike">
                <a:solidFill>
                  <a:schemeClr val="lt1"/>
                </a:solidFill>
                <a:latin typeface="Calibri"/>
                <a:ea typeface="Calibri"/>
                <a:cs typeface="Calibri"/>
                <a:sym typeface="Calibri"/>
              </a:rPr>
              <a:t>= r</a:t>
            </a:r>
            <a:r>
              <a:rPr b="0" baseline="-25000" i="0" lang="en-IN" sz="2600" u="none" cap="none" strike="noStrike">
                <a:solidFill>
                  <a:schemeClr val="lt1"/>
                </a:solidFill>
                <a:latin typeface="Calibri"/>
                <a:ea typeface="Calibri"/>
                <a:cs typeface="Calibri"/>
                <a:sym typeface="Calibri"/>
              </a:rPr>
              <a:t>o </a:t>
            </a:r>
            <a:r>
              <a:rPr b="0" i="0" lang="en-IN" sz="2600" u="none" cap="none" strike="noStrike">
                <a:solidFill>
                  <a:schemeClr val="lt1"/>
                </a:solidFill>
                <a:latin typeface="Calibri"/>
                <a:ea typeface="Calibri"/>
                <a:cs typeface="Calibri"/>
                <a:sym typeface="Calibri"/>
              </a:rPr>
              <a:t>+ b + f </a:t>
            </a:r>
            <a:endParaRPr b="0" i="0" sz="2600" u="none" cap="none" strike="noStrike">
              <a:solidFill>
                <a:schemeClr val="lt1"/>
              </a:solidFill>
              <a:latin typeface="Calibri"/>
              <a:ea typeface="Calibri"/>
              <a:cs typeface="Calibri"/>
              <a:sym typeface="Calibri"/>
            </a:endParaRPr>
          </a:p>
        </p:txBody>
      </p:sp>
      <p:pic>
        <p:nvPicPr>
          <p:cNvPr descr="Image result for sastra logo" id="135" name="Google Shape;135;p20"/>
          <p:cNvPicPr preferRelativeResize="0"/>
          <p:nvPr/>
        </p:nvPicPr>
        <p:blipFill rotWithShape="1">
          <a:blip r:embed="rId3">
            <a:alphaModFix/>
          </a:blip>
          <a:srcRect b="0" l="0" r="0" t="0"/>
          <a:stretch/>
        </p:blipFill>
        <p:spPr>
          <a:xfrm>
            <a:off x="9537700" y="485776"/>
            <a:ext cx="1816100" cy="5572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idx="1" type="body"/>
          </p:nvPr>
        </p:nvSpPr>
        <p:spPr>
          <a:xfrm>
            <a:off x="838200" y="764498"/>
            <a:ext cx="10515600" cy="541246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Importance of Cost of Capital </a:t>
            </a:r>
            <a:endParaRPr/>
          </a:p>
          <a:p>
            <a:pPr indent="0" lvl="0" marL="0" rtl="0" algn="just">
              <a:lnSpc>
                <a:spcPct val="90000"/>
              </a:lnSpc>
              <a:spcBef>
                <a:spcPts val="1000"/>
              </a:spcBef>
              <a:spcAft>
                <a:spcPts val="0"/>
              </a:spcAft>
              <a:buClr>
                <a:schemeClr val="dk1"/>
              </a:buClr>
              <a:buSzPts val="2600"/>
              <a:buNone/>
            </a:pPr>
            <a:r>
              <a:rPr lang="en-IN" sz="2600"/>
              <a:t>The Cost of Capital is very important in Financial Management and plays a crucial role in the following areas: </a:t>
            </a:r>
            <a:endParaRPr/>
          </a:p>
          <a:p>
            <a:pPr indent="-571500" lvl="0" marL="571500" rtl="0" algn="just">
              <a:lnSpc>
                <a:spcPct val="90000"/>
              </a:lnSpc>
              <a:spcBef>
                <a:spcPts val="1000"/>
              </a:spcBef>
              <a:spcAft>
                <a:spcPts val="0"/>
              </a:spcAft>
              <a:buClr>
                <a:srgbClr val="FF0000"/>
              </a:buClr>
              <a:buSzPts val="2600"/>
              <a:buAutoNum type="romanLcParenBoth"/>
            </a:pPr>
            <a:r>
              <a:rPr b="1" lang="en-IN" sz="2600">
                <a:solidFill>
                  <a:srgbClr val="FF0000"/>
                </a:solidFill>
              </a:rPr>
              <a:t>Capital budgeting decisions: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cost of capital is used for discounting cash flows under Net Present Value method for investment proposals. So, it is very useful in capital budgeting decisions.</a:t>
            </a:r>
            <a:endParaRPr/>
          </a:p>
          <a:p>
            <a:pPr indent="-571500" lvl="0" marL="571500" rtl="0" algn="just">
              <a:lnSpc>
                <a:spcPct val="90000"/>
              </a:lnSpc>
              <a:spcBef>
                <a:spcPts val="1000"/>
              </a:spcBef>
              <a:spcAft>
                <a:spcPts val="0"/>
              </a:spcAft>
              <a:buClr>
                <a:srgbClr val="FF0000"/>
              </a:buClr>
              <a:buSzPts val="2600"/>
              <a:buAutoNum type="romanLcParenBoth"/>
            </a:pPr>
            <a:r>
              <a:rPr b="1" lang="en-IN" sz="2600">
                <a:solidFill>
                  <a:srgbClr val="FF0000"/>
                </a:solidFill>
              </a:rPr>
              <a:t>Capital structure decisions: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An optimal capital is that structure at which the value of the firm is maximum and cost of capital is the lowest. So, cost of capital is crucial in designing optimal capital structure. </a:t>
            </a:r>
            <a:endParaRPr/>
          </a:p>
          <a:p>
            <a:pPr indent="0" lvl="1" marL="457200" rtl="0" algn="just">
              <a:lnSpc>
                <a:spcPct val="90000"/>
              </a:lnSpc>
              <a:spcBef>
                <a:spcPts val="500"/>
              </a:spcBef>
              <a:spcAft>
                <a:spcPts val="0"/>
              </a:spcAft>
              <a:buClr>
                <a:schemeClr val="dk1"/>
              </a:buClr>
              <a:buSzPts val="2600"/>
              <a:buNone/>
            </a:pPr>
            <a:r>
              <a:t/>
            </a:r>
            <a:endParaRPr sz="2600"/>
          </a:p>
          <a:p>
            <a:pPr indent="-63500" lvl="0" marL="228600" rtl="0" algn="l">
              <a:lnSpc>
                <a:spcPct val="90000"/>
              </a:lnSpc>
              <a:spcBef>
                <a:spcPts val="1000"/>
              </a:spcBef>
              <a:spcAft>
                <a:spcPts val="0"/>
              </a:spcAft>
              <a:buClr>
                <a:schemeClr val="dk1"/>
              </a:buClr>
              <a:buSzPts val="2600"/>
              <a:buNone/>
            </a:pPr>
            <a:r>
              <a:t/>
            </a:r>
            <a:endParaRPr sz="2600"/>
          </a:p>
        </p:txBody>
      </p:sp>
      <p:pic>
        <p:nvPicPr>
          <p:cNvPr descr="Image result for sastra logo" id="141" name="Google Shape;141;p21"/>
          <p:cNvPicPr preferRelativeResize="0"/>
          <p:nvPr/>
        </p:nvPicPr>
        <p:blipFill rotWithShape="1">
          <a:blip r:embed="rId3">
            <a:alphaModFix/>
          </a:blip>
          <a:srcRect b="0" l="0" r="0" t="0"/>
          <a:stretch/>
        </p:blipFill>
        <p:spPr>
          <a:xfrm>
            <a:off x="9537700" y="207286"/>
            <a:ext cx="1816100" cy="5572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idx="1" type="body"/>
          </p:nvPr>
        </p:nvSpPr>
        <p:spPr>
          <a:xfrm>
            <a:off x="838200" y="942975"/>
            <a:ext cx="10515600" cy="523398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(iii) Evaluation of final Performance: </a:t>
            </a:r>
            <a:endParaRPr/>
          </a:p>
          <a:p>
            <a:pPr indent="0" lvl="0" marL="0" rtl="0" algn="just">
              <a:lnSpc>
                <a:spcPct val="90000"/>
              </a:lnSpc>
              <a:spcBef>
                <a:spcPts val="1000"/>
              </a:spcBef>
              <a:spcAft>
                <a:spcPts val="0"/>
              </a:spcAft>
              <a:buClr>
                <a:schemeClr val="dk1"/>
              </a:buClr>
              <a:buSzPts val="2600"/>
              <a:buNone/>
            </a:pPr>
            <a:r>
              <a:rPr lang="en-IN" sz="2600"/>
              <a:t>Cost of capital is used to evaluate the financial performance of top management. The actual profitability is compared with the actual cost of capital of funds and if profit is greater than the cost of capital the performance nay be said to be satisfactory.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(iv) Other financial decisions:</a:t>
            </a:r>
            <a:endParaRPr/>
          </a:p>
          <a:p>
            <a:pPr indent="0" lvl="0" marL="0" rtl="0" algn="just">
              <a:lnSpc>
                <a:spcPct val="90000"/>
              </a:lnSpc>
              <a:spcBef>
                <a:spcPts val="1000"/>
              </a:spcBef>
              <a:spcAft>
                <a:spcPts val="0"/>
              </a:spcAft>
              <a:buClr>
                <a:schemeClr val="dk1"/>
              </a:buClr>
              <a:buSzPts val="2600"/>
              <a:buNone/>
            </a:pPr>
            <a:r>
              <a:rPr lang="en-IN" sz="2600"/>
              <a:t> Cost of capital is also useful in making such other financial decisions as dividend policy, capitalization of profits, making the rights issue, etc.</a:t>
            </a:r>
            <a:endParaRPr sz="2600"/>
          </a:p>
        </p:txBody>
      </p:sp>
      <p:pic>
        <p:nvPicPr>
          <p:cNvPr descr="Image result for sastra logo" id="147" name="Google Shape;147;p22"/>
          <p:cNvPicPr preferRelativeResize="0"/>
          <p:nvPr/>
        </p:nvPicPr>
        <p:blipFill rotWithShape="1">
          <a:blip r:embed="rId3">
            <a:alphaModFix/>
          </a:blip>
          <a:srcRect b="0" l="0" r="0" t="0"/>
          <a:stretch/>
        </p:blipFill>
        <p:spPr>
          <a:xfrm>
            <a:off x="9537700" y="385763"/>
            <a:ext cx="1816100" cy="5572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idx="1" type="body"/>
          </p:nvPr>
        </p:nvSpPr>
        <p:spPr>
          <a:xfrm>
            <a:off x="838200" y="803564"/>
            <a:ext cx="10515600" cy="537339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Classification of Cost of Capital: </a:t>
            </a:r>
            <a:endParaRPr/>
          </a:p>
          <a:p>
            <a:pPr indent="0" lvl="0" marL="0" rtl="0" algn="just">
              <a:lnSpc>
                <a:spcPct val="90000"/>
              </a:lnSpc>
              <a:spcBef>
                <a:spcPts val="1000"/>
              </a:spcBef>
              <a:spcAft>
                <a:spcPts val="0"/>
              </a:spcAft>
              <a:buClr>
                <a:schemeClr val="dk1"/>
              </a:buClr>
              <a:buSzPts val="2600"/>
              <a:buNone/>
            </a:pPr>
            <a:r>
              <a:rPr lang="en-IN" sz="2600"/>
              <a:t>Cost of Capital can be classified as follows: </a:t>
            </a:r>
            <a:endParaRPr/>
          </a:p>
          <a:p>
            <a:pPr indent="-571500" lvl="0" marL="571500" rtl="0" algn="just">
              <a:lnSpc>
                <a:spcPct val="90000"/>
              </a:lnSpc>
              <a:spcBef>
                <a:spcPts val="1000"/>
              </a:spcBef>
              <a:spcAft>
                <a:spcPts val="0"/>
              </a:spcAft>
              <a:buClr>
                <a:srgbClr val="FF0000"/>
              </a:buClr>
              <a:buSzPts val="2600"/>
              <a:buAutoNum type="romanLcParenBoth"/>
            </a:pPr>
            <a:r>
              <a:rPr b="1" lang="en-IN" sz="2600">
                <a:solidFill>
                  <a:srgbClr val="FF0000"/>
                </a:solidFill>
              </a:rPr>
              <a:t>Historical Cost and Future Cost: </a:t>
            </a:r>
            <a:endParaRPr/>
          </a:p>
          <a:p>
            <a:pPr indent="0" lvl="0" marL="0" rtl="0" algn="just">
              <a:lnSpc>
                <a:spcPct val="90000"/>
              </a:lnSpc>
              <a:spcBef>
                <a:spcPts val="1000"/>
              </a:spcBef>
              <a:spcAft>
                <a:spcPts val="0"/>
              </a:spcAft>
              <a:buClr>
                <a:schemeClr val="dk1"/>
              </a:buClr>
              <a:buSzPts val="2600"/>
              <a:buNone/>
            </a:pPr>
            <a:r>
              <a:rPr lang="en-IN" sz="2600"/>
              <a:t>Historical costs are book costs relating to the past, while future costs are estimated costs act as guide for estimation of future costs. </a:t>
            </a:r>
            <a:endParaRPr/>
          </a:p>
          <a:p>
            <a:pPr indent="-571500" lvl="0" marL="571500" rtl="0" algn="just">
              <a:lnSpc>
                <a:spcPct val="90000"/>
              </a:lnSpc>
              <a:spcBef>
                <a:spcPts val="1000"/>
              </a:spcBef>
              <a:spcAft>
                <a:spcPts val="0"/>
              </a:spcAft>
              <a:buClr>
                <a:srgbClr val="FF0000"/>
              </a:buClr>
              <a:buSzPts val="2600"/>
              <a:buAutoNum type="romanLcParenBoth"/>
            </a:pPr>
            <a:r>
              <a:rPr b="1" lang="en-IN" sz="2600">
                <a:solidFill>
                  <a:srgbClr val="FF0000"/>
                </a:solidFill>
              </a:rPr>
              <a:t>Specific Costs and Composite Costs: </a:t>
            </a:r>
            <a:endParaRPr/>
          </a:p>
          <a:p>
            <a:pPr indent="0" lvl="0" marL="0" rtl="0" algn="just">
              <a:lnSpc>
                <a:spcPct val="90000"/>
              </a:lnSpc>
              <a:spcBef>
                <a:spcPts val="1000"/>
              </a:spcBef>
              <a:spcAft>
                <a:spcPts val="0"/>
              </a:spcAft>
              <a:buClr>
                <a:schemeClr val="dk1"/>
              </a:buClr>
              <a:buSzPts val="2600"/>
              <a:buNone/>
            </a:pPr>
            <a:r>
              <a:rPr lang="en-IN" sz="2600"/>
              <a:t>Specific cost is the cost of a specific source of capital, while composite cost is combined cost of various sources of capital. Composite cost, also known as the weighted average cost of capital, should be considered in capital and capital budgeting decisions.</a:t>
            </a:r>
            <a:endParaRPr sz="2600"/>
          </a:p>
        </p:txBody>
      </p:sp>
      <p:pic>
        <p:nvPicPr>
          <p:cNvPr descr="Image result for sastra logo" id="153" name="Google Shape;153;p23"/>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idx="1" type="body"/>
          </p:nvPr>
        </p:nvSpPr>
        <p:spPr>
          <a:xfrm>
            <a:off x="838200" y="464695"/>
            <a:ext cx="10515600" cy="614596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(iii) Explicit and Implicit Cost: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Explicit cost of any source of finance is the discount rate which equates the present value of cash inflows with the present value of cash outflows. </a:t>
            </a:r>
            <a:r>
              <a:rPr lang="en-IN" sz="2600"/>
              <a:t>It is the internal rate of return and is calculated with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I o = Net cash inflow received at zero of time </a:t>
            </a:r>
            <a:endParaRPr/>
          </a:p>
          <a:p>
            <a:pPr indent="0" lvl="0" marL="0" rtl="0" algn="just">
              <a:lnSpc>
                <a:spcPct val="90000"/>
              </a:lnSpc>
              <a:spcBef>
                <a:spcPts val="1000"/>
              </a:spcBef>
              <a:spcAft>
                <a:spcPts val="0"/>
              </a:spcAft>
              <a:buClr>
                <a:schemeClr val="dk1"/>
              </a:buClr>
              <a:buSzPts val="2600"/>
              <a:buNone/>
            </a:pPr>
            <a:r>
              <a:rPr lang="en-IN" sz="2600"/>
              <a:t>C = Cash outflows in the period concerned </a:t>
            </a:r>
            <a:endParaRPr/>
          </a:p>
          <a:p>
            <a:pPr indent="0" lvl="0" marL="0" rtl="0" algn="just">
              <a:lnSpc>
                <a:spcPct val="90000"/>
              </a:lnSpc>
              <a:spcBef>
                <a:spcPts val="1000"/>
              </a:spcBef>
              <a:spcAft>
                <a:spcPts val="0"/>
              </a:spcAft>
              <a:buClr>
                <a:schemeClr val="dk1"/>
              </a:buClr>
              <a:buSzPts val="2600"/>
              <a:buNone/>
            </a:pPr>
            <a:r>
              <a:rPr lang="en-IN" sz="2600"/>
              <a:t>K = Explicit cost of capital </a:t>
            </a:r>
            <a:endParaRPr/>
          </a:p>
          <a:p>
            <a:pPr indent="0" lvl="0" marL="0" rtl="0" algn="just">
              <a:lnSpc>
                <a:spcPct val="90000"/>
              </a:lnSpc>
              <a:spcBef>
                <a:spcPts val="1000"/>
              </a:spcBef>
              <a:spcAft>
                <a:spcPts val="0"/>
              </a:spcAft>
              <a:buClr>
                <a:schemeClr val="dk1"/>
              </a:buClr>
              <a:buSzPts val="2600"/>
              <a:buNone/>
            </a:pPr>
            <a:r>
              <a:rPr lang="en-IN" sz="2600"/>
              <a:t>N = Duration of time period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Implicit cost </a:t>
            </a:r>
            <a:r>
              <a:rPr lang="en-IN" sz="2600"/>
              <a:t>also known as </a:t>
            </a:r>
            <a:r>
              <a:rPr lang="en-IN" sz="2600">
                <a:solidFill>
                  <a:srgbClr val="FF0000"/>
                </a:solidFill>
              </a:rPr>
              <a:t>the opportunity cost is the of the opportunity foregone in order to take up a particular project. </a:t>
            </a:r>
            <a:r>
              <a:rPr lang="en-IN" sz="2600"/>
              <a:t>For example, </a:t>
            </a:r>
            <a:r>
              <a:rPr lang="en-IN" sz="2600">
                <a:solidFill>
                  <a:srgbClr val="FF0000"/>
                </a:solidFill>
              </a:rPr>
              <a:t>the implicit cast of retained earnings is the rate of return available to shareholders by investing the funds elsewhere.</a:t>
            </a:r>
            <a:endParaRPr sz="2600">
              <a:solidFill>
                <a:srgbClr val="FF0000"/>
              </a:solidFill>
            </a:endParaRPr>
          </a:p>
        </p:txBody>
      </p:sp>
      <p:pic>
        <p:nvPicPr>
          <p:cNvPr id="159" name="Google Shape;159;p24"/>
          <p:cNvPicPr preferRelativeResize="0"/>
          <p:nvPr/>
        </p:nvPicPr>
        <p:blipFill rotWithShape="1">
          <a:blip r:embed="rId3">
            <a:alphaModFix/>
          </a:blip>
          <a:srcRect b="46892" l="26580" r="37129" t="44707"/>
          <a:stretch/>
        </p:blipFill>
        <p:spPr>
          <a:xfrm>
            <a:off x="1603948" y="2083632"/>
            <a:ext cx="8004747" cy="899410"/>
          </a:xfrm>
          <a:prstGeom prst="rect">
            <a:avLst/>
          </a:prstGeom>
          <a:noFill/>
          <a:ln>
            <a:noFill/>
          </a:ln>
        </p:spPr>
      </p:pic>
      <p:pic>
        <p:nvPicPr>
          <p:cNvPr descr="Image result for sastra logo" id="160" name="Google Shape;160;p24"/>
          <p:cNvPicPr preferRelativeResize="0"/>
          <p:nvPr/>
        </p:nvPicPr>
        <p:blipFill rotWithShape="1">
          <a:blip r:embed="rId4">
            <a:alphaModFix/>
          </a:blip>
          <a:srcRect b="0" l="0" r="0" t="0"/>
          <a:stretch/>
        </p:blipFill>
        <p:spPr>
          <a:xfrm>
            <a:off x="9537700" y="186089"/>
            <a:ext cx="1816100" cy="5572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idx="1" type="body"/>
          </p:nvPr>
        </p:nvSpPr>
        <p:spPr>
          <a:xfrm>
            <a:off x="838200" y="869430"/>
            <a:ext cx="10515600" cy="530753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(iv) Average Cost and Marginal Cost: </a:t>
            </a:r>
            <a:endParaRPr/>
          </a:p>
          <a:p>
            <a:pPr indent="0" lvl="0" marL="0" rtl="0" algn="just">
              <a:lnSpc>
                <a:spcPct val="90000"/>
              </a:lnSpc>
              <a:spcBef>
                <a:spcPts val="1000"/>
              </a:spcBef>
              <a:spcAft>
                <a:spcPts val="0"/>
              </a:spcAft>
              <a:buClr>
                <a:schemeClr val="dk1"/>
              </a:buClr>
              <a:buSzPts val="2600"/>
              <a:buNone/>
            </a:pPr>
            <a:r>
              <a:rPr lang="en-IN" sz="2600"/>
              <a:t>An average cost is </a:t>
            </a:r>
            <a:r>
              <a:rPr lang="en-IN" sz="2600">
                <a:solidFill>
                  <a:srgbClr val="FF0000"/>
                </a:solidFill>
              </a:rPr>
              <a:t>the combined cost or weighted average cost of various sources of capital.</a:t>
            </a:r>
            <a:r>
              <a:rPr lang="en-IN" sz="2600"/>
              <a:t> </a:t>
            </a:r>
            <a:r>
              <a:rPr lang="en-IN" sz="2600">
                <a:solidFill>
                  <a:srgbClr val="FF0000"/>
                </a:solidFill>
              </a:rPr>
              <a:t>Marginal cost refers to the average cost of new or additional funds required by a firm.</a:t>
            </a:r>
            <a:r>
              <a:rPr lang="en-IN" sz="2600"/>
              <a:t> It is the marginal cost which should be taken into consideration in investment decisions.</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Computation of Cost of Capital: </a:t>
            </a:r>
            <a:endParaRPr/>
          </a:p>
          <a:p>
            <a:pPr indent="0" lvl="0" marL="0" rtl="0" algn="just">
              <a:lnSpc>
                <a:spcPct val="90000"/>
              </a:lnSpc>
              <a:spcBef>
                <a:spcPts val="1000"/>
              </a:spcBef>
              <a:spcAft>
                <a:spcPts val="0"/>
              </a:spcAft>
              <a:buClr>
                <a:schemeClr val="dk1"/>
              </a:buClr>
              <a:buSzPts val="2600"/>
              <a:buNone/>
            </a:pPr>
            <a:r>
              <a:rPr lang="en-IN" sz="2600"/>
              <a:t>Computation of cost capital of a firm involves the following steps: </a:t>
            </a:r>
            <a:endParaRPr/>
          </a:p>
          <a:p>
            <a:pPr indent="-571500" lvl="0" marL="571500" rtl="0" algn="just">
              <a:lnSpc>
                <a:spcPct val="90000"/>
              </a:lnSpc>
              <a:spcBef>
                <a:spcPts val="1000"/>
              </a:spcBef>
              <a:spcAft>
                <a:spcPts val="0"/>
              </a:spcAft>
              <a:buClr>
                <a:schemeClr val="dk1"/>
              </a:buClr>
              <a:buSzPts val="2600"/>
              <a:buAutoNum type="romanUcPeriod"/>
            </a:pPr>
            <a:r>
              <a:rPr lang="en-IN" sz="2600"/>
              <a:t>Computation of cost of each specific sources of a capital, </a:t>
            </a:r>
            <a:r>
              <a:rPr lang="en-IN" sz="2600">
                <a:solidFill>
                  <a:srgbClr val="FF0000"/>
                </a:solidFill>
              </a:rPr>
              <a:t>viz., debt, preference capital, equity and retained earnings,</a:t>
            </a:r>
            <a:r>
              <a:rPr lang="en-IN" sz="2600"/>
              <a:t> and </a:t>
            </a:r>
            <a:endParaRPr/>
          </a:p>
          <a:p>
            <a:pPr indent="-571500" lvl="0" marL="571500" rtl="0" algn="just">
              <a:lnSpc>
                <a:spcPct val="90000"/>
              </a:lnSpc>
              <a:spcBef>
                <a:spcPts val="1000"/>
              </a:spcBef>
              <a:spcAft>
                <a:spcPts val="0"/>
              </a:spcAft>
              <a:buClr>
                <a:schemeClr val="dk1"/>
              </a:buClr>
              <a:buSzPts val="2600"/>
              <a:buAutoNum type="romanUcPeriod"/>
            </a:pPr>
            <a:r>
              <a:rPr lang="en-IN" sz="2600"/>
              <a:t>Computation of weighted average cost of capital.</a:t>
            </a:r>
            <a:endParaRPr sz="2600"/>
          </a:p>
        </p:txBody>
      </p:sp>
      <p:pic>
        <p:nvPicPr>
          <p:cNvPr descr="Image result for sastra logo" id="166" name="Google Shape;166;p25"/>
          <p:cNvPicPr preferRelativeResize="0"/>
          <p:nvPr/>
        </p:nvPicPr>
        <p:blipFill rotWithShape="1">
          <a:blip r:embed="rId3">
            <a:alphaModFix/>
          </a:blip>
          <a:srcRect b="0" l="0" r="0" t="0"/>
          <a:stretch/>
        </p:blipFill>
        <p:spPr>
          <a:xfrm>
            <a:off x="9537700" y="312218"/>
            <a:ext cx="1816100" cy="5572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idx="1" type="body"/>
          </p:nvPr>
        </p:nvSpPr>
        <p:spPr>
          <a:xfrm>
            <a:off x="838200" y="1034321"/>
            <a:ext cx="10515600" cy="4856814"/>
          </a:xfrm>
          <a:prstGeom prst="rect">
            <a:avLst/>
          </a:prstGeom>
          <a:noFill/>
          <a:ln>
            <a:noFill/>
          </a:ln>
        </p:spPr>
        <p:txBody>
          <a:bodyPr anchorCtr="0" anchor="t" bIns="45700" lIns="91425" spcFirstLastPara="1" rIns="91425" wrap="square" tIns="45700">
            <a:normAutofit/>
          </a:bodyPr>
          <a:lstStyle/>
          <a:p>
            <a:pPr indent="-571500" lvl="0" marL="571500" rtl="0" algn="just">
              <a:lnSpc>
                <a:spcPct val="90000"/>
              </a:lnSpc>
              <a:spcBef>
                <a:spcPts val="0"/>
              </a:spcBef>
              <a:spcAft>
                <a:spcPts val="0"/>
              </a:spcAft>
              <a:buClr>
                <a:srgbClr val="FF0000"/>
              </a:buClr>
              <a:buSzPts val="2600"/>
              <a:buAutoNum type="romanUcPeriod"/>
            </a:pPr>
            <a:r>
              <a:rPr b="1" lang="en-IN" sz="2600">
                <a:solidFill>
                  <a:srgbClr val="FF0000"/>
                </a:solidFill>
              </a:rPr>
              <a:t>Computation of specific sources of capital:</a:t>
            </a:r>
            <a:endParaRPr/>
          </a:p>
          <a:p>
            <a:pPr indent="-514350" lvl="0" marL="514350" rtl="0" algn="just">
              <a:lnSpc>
                <a:spcPct val="90000"/>
              </a:lnSpc>
              <a:spcBef>
                <a:spcPts val="1000"/>
              </a:spcBef>
              <a:spcAft>
                <a:spcPts val="0"/>
              </a:spcAft>
              <a:buClr>
                <a:srgbClr val="FF0000"/>
              </a:buClr>
              <a:buSzPts val="2600"/>
              <a:buAutoNum type="alphaLcParenR"/>
            </a:pPr>
            <a:r>
              <a:rPr b="1" lang="en-IN" sz="2600">
                <a:solidFill>
                  <a:srgbClr val="FF0000"/>
                </a:solidFill>
              </a:rPr>
              <a:t>Cost of Debt [K</a:t>
            </a:r>
            <a:r>
              <a:rPr b="1" baseline="-25000" lang="en-IN" sz="2600">
                <a:solidFill>
                  <a:srgbClr val="FF0000"/>
                </a:solidFill>
              </a:rPr>
              <a:t>d</a:t>
            </a:r>
            <a:r>
              <a:rPr b="1" lang="en-IN" sz="2600">
                <a:solidFill>
                  <a:srgbClr val="FF0000"/>
                </a:solidFill>
              </a:rPr>
              <a:t>]:</a:t>
            </a:r>
            <a:endParaRPr/>
          </a:p>
          <a:p>
            <a:pPr indent="0" lvl="0" marL="0" rtl="0" algn="just">
              <a:lnSpc>
                <a:spcPct val="90000"/>
              </a:lnSpc>
              <a:spcBef>
                <a:spcPts val="1000"/>
              </a:spcBef>
              <a:spcAft>
                <a:spcPts val="0"/>
              </a:spcAft>
              <a:buClr>
                <a:schemeClr val="dk1"/>
              </a:buClr>
              <a:buSzPts val="2600"/>
              <a:buNone/>
            </a:pPr>
            <a:r>
              <a:rPr lang="en-IN" sz="2600"/>
              <a:t>Dent may be perpetual or redeemable debt. Moreover, it may be issued at par, at premium or discount. The computation of cost debt in each care is explained below.</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1. Perpetual/irredeemable debt: </a:t>
            </a:r>
            <a:endParaRPr/>
          </a:p>
          <a:p>
            <a:pPr indent="0" lvl="0" marL="0" rtl="0" algn="just">
              <a:lnSpc>
                <a:spcPct val="90000"/>
              </a:lnSpc>
              <a:spcBef>
                <a:spcPts val="1000"/>
              </a:spcBef>
              <a:spcAft>
                <a:spcPts val="0"/>
              </a:spcAft>
              <a:buClr>
                <a:schemeClr val="dk1"/>
              </a:buClr>
              <a:buSzPts val="2600"/>
              <a:buNone/>
            </a:pPr>
            <a:r>
              <a:rPr lang="en-IN" sz="2600"/>
              <a:t>It is the rate of return which the lenders expect</a:t>
            </a:r>
            <a:r>
              <a:rPr lang="en-IN" sz="2600">
                <a:solidFill>
                  <a:srgbClr val="FF0000"/>
                </a:solidFill>
              </a:rPr>
              <a:t>. A firm may issue perpetual bonds or it may have a policy of having a fixed amount of debt in the capital structure. </a:t>
            </a:r>
            <a:r>
              <a:rPr lang="en-IN" sz="2600"/>
              <a:t>In the case, when the old debt is repaid, it would be replaced by a new debt of same amount. </a:t>
            </a:r>
            <a:endParaRPr/>
          </a:p>
        </p:txBody>
      </p:sp>
      <p:pic>
        <p:nvPicPr>
          <p:cNvPr descr="Image result for sastra logo" id="172" name="Google Shape;172;p26"/>
          <p:cNvPicPr preferRelativeResize="0"/>
          <p:nvPr/>
        </p:nvPicPr>
        <p:blipFill rotWithShape="1">
          <a:blip r:embed="rId3">
            <a:alphaModFix/>
          </a:blip>
          <a:srcRect b="0" l="0" r="0" t="0"/>
          <a:stretch/>
        </p:blipFill>
        <p:spPr>
          <a:xfrm>
            <a:off x="9537700" y="477109"/>
            <a:ext cx="1816100" cy="5572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idx="1" type="body"/>
          </p:nvPr>
        </p:nvSpPr>
        <p:spPr>
          <a:xfrm>
            <a:off x="838200" y="1042988"/>
            <a:ext cx="10515600" cy="5417773"/>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600"/>
              <a:buNone/>
            </a:pPr>
            <a:r>
              <a:rPr lang="en-IN" sz="2600"/>
              <a:t>In such a case debt is regarded as perceptual debt. The bonds of debentures can be issued:</a:t>
            </a:r>
            <a:endParaRPr/>
          </a:p>
          <a:p>
            <a:pPr indent="-514350" lvl="0" marL="514350" rtl="0" algn="just">
              <a:lnSpc>
                <a:spcPct val="90000"/>
              </a:lnSpc>
              <a:spcBef>
                <a:spcPts val="1000"/>
              </a:spcBef>
              <a:spcAft>
                <a:spcPts val="0"/>
              </a:spcAft>
              <a:buClr>
                <a:srgbClr val="FF0000"/>
              </a:buClr>
              <a:buSzPts val="2600"/>
              <a:buAutoNum type="alphaLcParenR"/>
            </a:pPr>
            <a:r>
              <a:rPr lang="en-IN" sz="2600">
                <a:solidFill>
                  <a:srgbClr val="FF0000"/>
                </a:solidFill>
              </a:rPr>
              <a:t>At par (face value), </a:t>
            </a:r>
            <a:endParaRPr/>
          </a:p>
          <a:p>
            <a:pPr indent="-514350" lvl="0" marL="514350" rtl="0" algn="just">
              <a:lnSpc>
                <a:spcPct val="90000"/>
              </a:lnSpc>
              <a:spcBef>
                <a:spcPts val="1000"/>
              </a:spcBef>
              <a:spcAft>
                <a:spcPts val="0"/>
              </a:spcAft>
              <a:buClr>
                <a:srgbClr val="FF0000"/>
              </a:buClr>
              <a:buSzPts val="2600"/>
              <a:buAutoNum type="alphaLcParenR"/>
            </a:pPr>
            <a:r>
              <a:rPr lang="en-IN" sz="2600">
                <a:solidFill>
                  <a:srgbClr val="FF0000"/>
                </a:solidFill>
              </a:rPr>
              <a:t>At discount (below face value) and </a:t>
            </a:r>
            <a:endParaRPr/>
          </a:p>
          <a:p>
            <a:pPr indent="-514350" lvl="0" marL="514350" rtl="0" algn="just">
              <a:lnSpc>
                <a:spcPct val="90000"/>
              </a:lnSpc>
              <a:spcBef>
                <a:spcPts val="1000"/>
              </a:spcBef>
              <a:spcAft>
                <a:spcPts val="0"/>
              </a:spcAft>
              <a:buClr>
                <a:srgbClr val="FF0000"/>
              </a:buClr>
              <a:buSzPts val="2600"/>
              <a:buAutoNum type="alphaLcParenR"/>
            </a:pPr>
            <a:r>
              <a:rPr lang="en-IN" sz="2600">
                <a:solidFill>
                  <a:srgbClr val="FF0000"/>
                </a:solidFill>
              </a:rPr>
              <a:t>At premium (more than the face value). </a:t>
            </a:r>
            <a:endParaRPr/>
          </a:p>
          <a:p>
            <a:pPr indent="0" lvl="0" marL="0" rtl="0" algn="l">
              <a:lnSpc>
                <a:spcPct val="90000"/>
              </a:lnSpc>
              <a:spcBef>
                <a:spcPts val="1000"/>
              </a:spcBef>
              <a:spcAft>
                <a:spcPts val="0"/>
              </a:spcAft>
              <a:buClr>
                <a:schemeClr val="dk1"/>
              </a:buClr>
              <a:buSzPts val="2600"/>
              <a:buNone/>
            </a:pPr>
            <a:r>
              <a:rPr lang="en-IN" sz="2600"/>
              <a:t>Thus, cost of perpetual debt is equal to the rate of return expected by the lenders. It is the coupon rate of interest which is adjusted for tax effect. </a:t>
            </a:r>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pic>
        <p:nvPicPr>
          <p:cNvPr descr="Image result for sastra logo" id="178" name="Google Shape;178;p27"/>
          <p:cNvPicPr preferRelativeResize="0"/>
          <p:nvPr/>
        </p:nvPicPr>
        <p:blipFill rotWithShape="1">
          <a:blip r:embed="rId3">
            <a:alphaModFix/>
          </a:blip>
          <a:srcRect b="0" l="0" r="0" t="0"/>
          <a:stretch/>
        </p:blipFill>
        <p:spPr>
          <a:xfrm>
            <a:off x="9537700" y="485776"/>
            <a:ext cx="1816100" cy="5572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idx="1" type="body"/>
          </p:nvPr>
        </p:nvSpPr>
        <p:spPr>
          <a:xfrm>
            <a:off x="838200" y="764498"/>
            <a:ext cx="10515600" cy="571125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lang="en-IN" sz="2600">
                <a:solidFill>
                  <a:srgbClr val="FF0000"/>
                </a:solidFill>
              </a:rPr>
              <a:t>Cost of perpetual debt can be determined as before tax cost of debt and after tax cost of debt. </a:t>
            </a:r>
            <a:endParaRPr/>
          </a:p>
          <a:p>
            <a:pPr indent="0" lvl="0" marL="0" rtl="0" algn="just">
              <a:lnSpc>
                <a:spcPct val="90000"/>
              </a:lnSpc>
              <a:spcBef>
                <a:spcPts val="1000"/>
              </a:spcBef>
              <a:spcAft>
                <a:spcPts val="0"/>
              </a:spcAft>
              <a:buClr>
                <a:schemeClr val="dk1"/>
              </a:buClr>
              <a:buSzPts val="2600"/>
              <a:buNone/>
            </a:pPr>
            <a:r>
              <a:rPr lang="en-IN" sz="2600"/>
              <a:t>Symbolically: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a) Before tax cost of debt or K</a:t>
            </a:r>
            <a:r>
              <a:rPr baseline="-25000" lang="en-IN" sz="2600">
                <a:solidFill>
                  <a:srgbClr val="FF0000"/>
                </a:solidFill>
              </a:rPr>
              <a:t>d</a:t>
            </a:r>
            <a:r>
              <a:rPr lang="en-IN" sz="2600">
                <a:solidFill>
                  <a:srgbClr val="FF0000"/>
                </a:solidFill>
              </a:rPr>
              <a:t> (before tax):</a:t>
            </a:r>
            <a:endParaRPr sz="2600">
              <a:solidFill>
                <a:srgbClr val="00B050"/>
              </a:solidFill>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K</a:t>
            </a:r>
            <a:r>
              <a:rPr baseline="-25000" lang="en-IN" sz="2600">
                <a:solidFill>
                  <a:srgbClr val="00B050"/>
                </a:solidFill>
              </a:rPr>
              <a:t>d</a:t>
            </a:r>
            <a:r>
              <a:rPr lang="en-IN" sz="2600">
                <a:solidFill>
                  <a:srgbClr val="00B050"/>
                </a:solidFill>
              </a:rPr>
              <a:t> = Interest/ Sale price of debenture of bond (p) or NP</a:t>
            </a:r>
            <a:endParaRPr/>
          </a:p>
          <a:p>
            <a:pPr indent="0" lvl="0" marL="0" rtl="0" algn="just">
              <a:lnSpc>
                <a:spcPct val="90000"/>
              </a:lnSpc>
              <a:spcBef>
                <a:spcPts val="1000"/>
              </a:spcBef>
              <a:spcAft>
                <a:spcPts val="0"/>
              </a:spcAft>
              <a:buClr>
                <a:schemeClr val="dk1"/>
              </a:buClr>
              <a:buSzPts val="2600"/>
              <a:buNone/>
            </a:pPr>
            <a:r>
              <a:rPr lang="en-IN" sz="2600"/>
              <a:t>NP = Face value + Premium – Discount – Floatation cost</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b) After tax cost of debt or K</a:t>
            </a:r>
            <a:r>
              <a:rPr baseline="-25000" lang="en-IN" sz="2600">
                <a:solidFill>
                  <a:srgbClr val="FF0000"/>
                </a:solidFill>
              </a:rPr>
              <a:t>d</a:t>
            </a:r>
            <a:r>
              <a:rPr lang="en-IN" sz="2600">
                <a:solidFill>
                  <a:srgbClr val="FF0000"/>
                </a:solidFill>
              </a:rPr>
              <a:t> (after tax)</a:t>
            </a:r>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 K</a:t>
            </a:r>
            <a:r>
              <a:rPr baseline="-25000" lang="en-IN" sz="2600">
                <a:solidFill>
                  <a:srgbClr val="00B050"/>
                </a:solidFill>
              </a:rPr>
              <a:t>d</a:t>
            </a:r>
            <a:r>
              <a:rPr lang="en-IN" sz="2600">
                <a:solidFill>
                  <a:srgbClr val="00B050"/>
                </a:solidFill>
              </a:rPr>
              <a:t> = [I/NP]× (1 – t) </a:t>
            </a:r>
            <a:endParaRPr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I – Interest payment </a:t>
            </a:r>
            <a:endParaRPr sz="2600"/>
          </a:p>
          <a:p>
            <a:pPr indent="0" lvl="0" marL="0" rtl="0" algn="just">
              <a:lnSpc>
                <a:spcPct val="90000"/>
              </a:lnSpc>
              <a:spcBef>
                <a:spcPts val="1000"/>
              </a:spcBef>
              <a:spcAft>
                <a:spcPts val="0"/>
              </a:spcAft>
              <a:buClr>
                <a:schemeClr val="dk1"/>
              </a:buClr>
              <a:buSzPts val="2600"/>
              <a:buNone/>
            </a:pPr>
            <a:r>
              <a:rPr lang="en-IN" sz="2600"/>
              <a:t>P - Sale price of bond or debenture or NP</a:t>
            </a:r>
            <a:endParaRPr/>
          </a:p>
          <a:p>
            <a:pPr indent="0" lvl="0" marL="0" rtl="0" algn="just">
              <a:lnSpc>
                <a:spcPct val="90000"/>
              </a:lnSpc>
              <a:spcBef>
                <a:spcPts val="1000"/>
              </a:spcBef>
              <a:spcAft>
                <a:spcPts val="0"/>
              </a:spcAft>
              <a:buClr>
                <a:schemeClr val="dk1"/>
              </a:buClr>
              <a:buSzPts val="2600"/>
              <a:buNone/>
            </a:pPr>
            <a:r>
              <a:rPr lang="en-IN" sz="2600"/>
              <a:t>t – Tax rate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Or</a:t>
            </a:r>
            <a:endParaRPr sz="2600">
              <a:solidFill>
                <a:srgbClr val="FF0000"/>
              </a:solidFill>
            </a:endParaRPr>
          </a:p>
        </p:txBody>
      </p:sp>
      <p:pic>
        <p:nvPicPr>
          <p:cNvPr descr="Image result for sastra logo" id="184" name="Google Shape;184;p28"/>
          <p:cNvPicPr preferRelativeResize="0"/>
          <p:nvPr/>
        </p:nvPicPr>
        <p:blipFill rotWithShape="1">
          <a:blip r:embed="rId3">
            <a:alphaModFix/>
          </a:blip>
          <a:srcRect b="0" l="0" r="0" t="0"/>
          <a:stretch/>
        </p:blipFill>
        <p:spPr>
          <a:xfrm>
            <a:off x="9537700" y="207286"/>
            <a:ext cx="1816100" cy="5572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idx="1" type="body"/>
          </p:nvPr>
        </p:nvSpPr>
        <p:spPr>
          <a:xfrm>
            <a:off x="838200" y="779489"/>
            <a:ext cx="10515600" cy="539747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00B050"/>
              </a:buClr>
              <a:buSzPts val="2600"/>
              <a:buNone/>
            </a:pPr>
            <a:r>
              <a:rPr b="1" lang="en-IN" sz="2600">
                <a:solidFill>
                  <a:srgbClr val="00B050"/>
                </a:solidFill>
              </a:rPr>
              <a:t>K</a:t>
            </a:r>
            <a:r>
              <a:rPr b="1" baseline="-25000" lang="en-IN" sz="2600">
                <a:solidFill>
                  <a:srgbClr val="00B050"/>
                </a:solidFill>
              </a:rPr>
              <a:t>d</a:t>
            </a:r>
            <a:r>
              <a:rPr b="1" lang="en-IN" sz="2600">
                <a:solidFill>
                  <a:srgbClr val="00B050"/>
                </a:solidFill>
              </a:rPr>
              <a:t> (After tax) = K</a:t>
            </a:r>
            <a:r>
              <a:rPr b="1" baseline="-25000" lang="en-IN" sz="2600">
                <a:solidFill>
                  <a:srgbClr val="00B050"/>
                </a:solidFill>
              </a:rPr>
              <a:t>d</a:t>
            </a:r>
            <a:r>
              <a:rPr b="1" lang="en-IN" sz="2600">
                <a:solidFill>
                  <a:srgbClr val="00B050"/>
                </a:solidFill>
              </a:rPr>
              <a:t> (before tax) (1-t)</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 When debentures are Issued at Par: </a:t>
            </a:r>
            <a:endParaRPr/>
          </a:p>
          <a:p>
            <a:pPr indent="0" lvl="0" marL="0" rtl="0" algn="just">
              <a:lnSpc>
                <a:spcPct val="90000"/>
              </a:lnSpc>
              <a:spcBef>
                <a:spcPts val="1000"/>
              </a:spcBef>
              <a:spcAft>
                <a:spcPts val="0"/>
              </a:spcAft>
              <a:buClr>
                <a:schemeClr val="dk1"/>
              </a:buClr>
              <a:buSzPts val="2600"/>
              <a:buNone/>
            </a:pPr>
            <a:r>
              <a:rPr lang="en-IN" sz="2600"/>
              <a:t>Debt issued at par means, debt is issued at the face value of the debt. It may be calculated with the help of the following formula. </a:t>
            </a:r>
            <a:endParaRPr sz="2600"/>
          </a:p>
          <a:p>
            <a:pPr indent="0" lvl="0" marL="0" rtl="0" algn="just">
              <a:lnSpc>
                <a:spcPct val="90000"/>
              </a:lnSpc>
              <a:spcBef>
                <a:spcPts val="1000"/>
              </a:spcBef>
              <a:spcAft>
                <a:spcPts val="0"/>
              </a:spcAft>
              <a:buClr>
                <a:schemeClr val="dk1"/>
              </a:buClr>
              <a:buSzPts val="2600"/>
              <a:buNone/>
            </a:pPr>
            <a:r>
              <a:rPr lang="en-IN" sz="2600"/>
              <a:t>K</a:t>
            </a:r>
            <a:r>
              <a:rPr baseline="-25000" lang="en-IN" sz="2600"/>
              <a:t>d</a:t>
            </a:r>
            <a:r>
              <a:rPr lang="en-IN" sz="2600"/>
              <a:t> = (1 – t) r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a:t>
            </a:r>
            <a:r>
              <a:rPr baseline="-25000" lang="en-IN" sz="2600"/>
              <a:t>d</a:t>
            </a:r>
            <a:r>
              <a:rPr lang="en-IN" sz="2600"/>
              <a:t> = Cost of debt capital </a:t>
            </a:r>
            <a:endParaRPr sz="2600"/>
          </a:p>
          <a:p>
            <a:pPr indent="0" lvl="0" marL="0" rtl="0" algn="just">
              <a:lnSpc>
                <a:spcPct val="90000"/>
              </a:lnSpc>
              <a:spcBef>
                <a:spcPts val="1000"/>
              </a:spcBef>
              <a:spcAft>
                <a:spcPts val="0"/>
              </a:spcAft>
              <a:buClr>
                <a:schemeClr val="dk1"/>
              </a:buClr>
              <a:buSzPts val="2600"/>
              <a:buNone/>
            </a:pPr>
            <a:r>
              <a:rPr lang="en-IN" sz="2600"/>
              <a:t>t = Tax rate </a:t>
            </a:r>
            <a:endParaRPr sz="2600"/>
          </a:p>
          <a:p>
            <a:pPr indent="0" lvl="0" marL="0" rtl="0" algn="just">
              <a:lnSpc>
                <a:spcPct val="90000"/>
              </a:lnSpc>
              <a:spcBef>
                <a:spcPts val="1000"/>
              </a:spcBef>
              <a:spcAft>
                <a:spcPts val="0"/>
              </a:spcAft>
              <a:buClr>
                <a:schemeClr val="dk1"/>
              </a:buClr>
              <a:buSzPts val="2600"/>
              <a:buNone/>
            </a:pPr>
            <a:r>
              <a:rPr lang="en-IN" sz="2600"/>
              <a:t>r = Debenture interest rate</a:t>
            </a:r>
            <a:endParaRPr/>
          </a:p>
        </p:txBody>
      </p:sp>
      <p:pic>
        <p:nvPicPr>
          <p:cNvPr descr="Image result for sastra logo" id="190" name="Google Shape;190;p29"/>
          <p:cNvPicPr preferRelativeResize="0"/>
          <p:nvPr/>
        </p:nvPicPr>
        <p:blipFill rotWithShape="1">
          <a:blip r:embed="rId3">
            <a:alphaModFix/>
          </a:blip>
          <a:srcRect b="0" l="0" r="0" t="0"/>
          <a:stretch/>
        </p:blipFill>
        <p:spPr>
          <a:xfrm>
            <a:off x="9537700" y="141003"/>
            <a:ext cx="1816100" cy="63848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idx="1" type="body"/>
          </p:nvPr>
        </p:nvSpPr>
        <p:spPr>
          <a:xfrm>
            <a:off x="793229" y="674557"/>
            <a:ext cx="10515600" cy="550240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When debentures are issued at Premium:</a:t>
            </a:r>
            <a:endParaRPr/>
          </a:p>
          <a:p>
            <a:pPr indent="0" lvl="0" marL="0" rtl="0" algn="just">
              <a:lnSpc>
                <a:spcPct val="90000"/>
              </a:lnSpc>
              <a:spcBef>
                <a:spcPts val="1000"/>
              </a:spcBef>
              <a:spcAft>
                <a:spcPts val="0"/>
              </a:spcAft>
              <a:buClr>
                <a:schemeClr val="dk1"/>
              </a:buClr>
              <a:buSzPts val="2600"/>
              <a:buNone/>
            </a:pPr>
            <a:r>
              <a:rPr lang="en-IN" sz="2600"/>
              <a:t>If the debt is issued at premium, the cost of debt is calculated with the help of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Where: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Kd = Cost of debt capital </a:t>
            </a:r>
            <a:endParaRPr sz="2600"/>
          </a:p>
          <a:p>
            <a:pPr indent="0" lvl="0" marL="0" rtl="0" algn="just">
              <a:lnSpc>
                <a:spcPct val="90000"/>
              </a:lnSpc>
              <a:spcBef>
                <a:spcPts val="1000"/>
              </a:spcBef>
              <a:spcAft>
                <a:spcPts val="0"/>
              </a:spcAft>
              <a:buClr>
                <a:schemeClr val="dk1"/>
              </a:buClr>
              <a:buSzPts val="2600"/>
              <a:buNone/>
            </a:pPr>
            <a:r>
              <a:rPr lang="en-IN" sz="2600"/>
              <a:t>I = Annual interest payable </a:t>
            </a:r>
            <a:endParaRPr sz="2600"/>
          </a:p>
          <a:p>
            <a:pPr indent="0" lvl="0" marL="0" rtl="0" algn="just">
              <a:lnSpc>
                <a:spcPct val="90000"/>
              </a:lnSpc>
              <a:spcBef>
                <a:spcPts val="1000"/>
              </a:spcBef>
              <a:spcAft>
                <a:spcPts val="0"/>
              </a:spcAft>
              <a:buClr>
                <a:schemeClr val="dk1"/>
              </a:buClr>
              <a:buSzPts val="2600"/>
              <a:buNone/>
            </a:pPr>
            <a:r>
              <a:rPr lang="en-IN" sz="2600"/>
              <a:t>Np = Net proceeds of debenture </a:t>
            </a:r>
            <a:endParaRPr sz="2600"/>
          </a:p>
          <a:p>
            <a:pPr indent="0" lvl="0" marL="0" rtl="0" algn="just">
              <a:lnSpc>
                <a:spcPct val="90000"/>
              </a:lnSpc>
              <a:spcBef>
                <a:spcPts val="1000"/>
              </a:spcBef>
              <a:spcAft>
                <a:spcPts val="0"/>
              </a:spcAft>
              <a:buClr>
                <a:schemeClr val="dk1"/>
              </a:buClr>
              <a:buSzPts val="2600"/>
              <a:buNone/>
            </a:pPr>
            <a:r>
              <a:rPr lang="en-IN" sz="2600"/>
              <a:t>t = Tax rate</a:t>
            </a:r>
            <a:endParaRPr sz="2600"/>
          </a:p>
          <a:p>
            <a:pPr indent="0" lvl="0" marL="0" rtl="0" algn="just">
              <a:lnSpc>
                <a:spcPct val="90000"/>
              </a:lnSpc>
              <a:spcBef>
                <a:spcPts val="1000"/>
              </a:spcBef>
              <a:spcAft>
                <a:spcPts val="0"/>
              </a:spcAft>
              <a:buClr>
                <a:schemeClr val="dk1"/>
              </a:buClr>
              <a:buSzPts val="2600"/>
              <a:buNone/>
            </a:pPr>
            <a:r>
              <a:rPr lang="en-IN" sz="2600"/>
              <a:t>Np = Face value + premium - floatation cost</a:t>
            </a:r>
            <a:endParaRPr sz="2600"/>
          </a:p>
        </p:txBody>
      </p:sp>
      <p:pic>
        <p:nvPicPr>
          <p:cNvPr id="196" name="Google Shape;196;p30"/>
          <p:cNvPicPr preferRelativeResize="0"/>
          <p:nvPr/>
        </p:nvPicPr>
        <p:blipFill rotWithShape="1">
          <a:blip r:embed="rId3">
            <a:alphaModFix/>
          </a:blip>
          <a:srcRect b="59574" l="41858" r="47312" t="33661"/>
          <a:stretch/>
        </p:blipFill>
        <p:spPr>
          <a:xfrm>
            <a:off x="3957879" y="1929927"/>
            <a:ext cx="2652783" cy="768303"/>
          </a:xfrm>
          <a:prstGeom prst="rect">
            <a:avLst/>
          </a:prstGeom>
          <a:noFill/>
          <a:ln>
            <a:noFill/>
          </a:ln>
        </p:spPr>
      </p:pic>
      <p:pic>
        <p:nvPicPr>
          <p:cNvPr descr="Image result for sastra logo" id="197" name="Google Shape;197;p30"/>
          <p:cNvPicPr preferRelativeResize="0"/>
          <p:nvPr/>
        </p:nvPicPr>
        <p:blipFill rotWithShape="1">
          <a:blip r:embed="rId4">
            <a:alphaModFix/>
          </a:blip>
          <a:srcRect b="0" l="0" r="0" t="0"/>
          <a:stretch/>
        </p:blipFill>
        <p:spPr>
          <a:xfrm>
            <a:off x="9492729" y="117345"/>
            <a:ext cx="1816100" cy="5572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idx="1" type="body"/>
          </p:nvPr>
        </p:nvSpPr>
        <p:spPr>
          <a:xfrm>
            <a:off x="838200" y="783771"/>
            <a:ext cx="10515600" cy="539319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 When debentures are issued at discount:</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If the debt is issued at discount, the cost of debt is calculated with the help of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Kd = Cost of debt capital </a:t>
            </a:r>
            <a:endParaRPr/>
          </a:p>
          <a:p>
            <a:pPr indent="0" lvl="0" marL="0" rtl="0" algn="just">
              <a:lnSpc>
                <a:spcPct val="90000"/>
              </a:lnSpc>
              <a:spcBef>
                <a:spcPts val="1000"/>
              </a:spcBef>
              <a:spcAft>
                <a:spcPts val="0"/>
              </a:spcAft>
              <a:buClr>
                <a:schemeClr val="dk1"/>
              </a:buClr>
              <a:buSzPts val="2600"/>
              <a:buNone/>
            </a:pPr>
            <a:r>
              <a:rPr lang="en-IN" sz="2600"/>
              <a:t>I = Annual interest payable </a:t>
            </a:r>
            <a:endParaRPr/>
          </a:p>
          <a:p>
            <a:pPr indent="0" lvl="0" marL="0" rtl="0" algn="just">
              <a:lnSpc>
                <a:spcPct val="90000"/>
              </a:lnSpc>
              <a:spcBef>
                <a:spcPts val="1000"/>
              </a:spcBef>
              <a:spcAft>
                <a:spcPts val="0"/>
              </a:spcAft>
              <a:buClr>
                <a:schemeClr val="dk1"/>
              </a:buClr>
              <a:buSzPts val="2600"/>
              <a:buNone/>
            </a:pPr>
            <a:r>
              <a:rPr lang="en-IN" sz="2600"/>
              <a:t>Np = Net proceeds of debenture </a:t>
            </a:r>
            <a:endParaRPr/>
          </a:p>
          <a:p>
            <a:pPr indent="0" lvl="0" marL="0" rtl="0" algn="just">
              <a:lnSpc>
                <a:spcPct val="90000"/>
              </a:lnSpc>
              <a:spcBef>
                <a:spcPts val="1000"/>
              </a:spcBef>
              <a:spcAft>
                <a:spcPts val="0"/>
              </a:spcAft>
              <a:buClr>
                <a:schemeClr val="dk1"/>
              </a:buClr>
              <a:buSzPts val="2600"/>
              <a:buNone/>
            </a:pPr>
            <a:r>
              <a:rPr lang="en-IN" sz="2600"/>
              <a:t>t = Tax rate</a:t>
            </a:r>
            <a:endParaRPr/>
          </a:p>
          <a:p>
            <a:pPr indent="0" lvl="0" marL="0" rtl="0" algn="just">
              <a:lnSpc>
                <a:spcPct val="90000"/>
              </a:lnSpc>
              <a:spcBef>
                <a:spcPts val="1000"/>
              </a:spcBef>
              <a:spcAft>
                <a:spcPts val="0"/>
              </a:spcAft>
              <a:buClr>
                <a:schemeClr val="dk1"/>
              </a:buClr>
              <a:buSzPts val="2600"/>
              <a:buNone/>
            </a:pPr>
            <a:r>
              <a:rPr lang="en-IN" sz="2600"/>
              <a:t>Np = Face value – discount - floatation cost</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203" name="Google Shape;203;p31"/>
          <p:cNvPicPr preferRelativeResize="0"/>
          <p:nvPr/>
        </p:nvPicPr>
        <p:blipFill rotWithShape="1">
          <a:blip r:embed="rId3">
            <a:alphaModFix/>
          </a:blip>
          <a:srcRect b="59574" l="41858" r="47312" t="33661"/>
          <a:stretch/>
        </p:blipFill>
        <p:spPr>
          <a:xfrm>
            <a:off x="3957879" y="2038663"/>
            <a:ext cx="2637793" cy="854439"/>
          </a:xfrm>
          <a:prstGeom prst="rect">
            <a:avLst/>
          </a:prstGeom>
          <a:noFill/>
          <a:ln>
            <a:noFill/>
          </a:ln>
        </p:spPr>
      </p:pic>
      <p:pic>
        <p:nvPicPr>
          <p:cNvPr descr="Image result for sastra logo" id="204" name="Google Shape;204;p31"/>
          <p:cNvPicPr preferRelativeResize="0"/>
          <p:nvPr/>
        </p:nvPicPr>
        <p:blipFill rotWithShape="1">
          <a:blip r:embed="rId4">
            <a:alphaModFix/>
          </a:blip>
          <a:srcRect b="0" l="0" r="0" t="0"/>
          <a:stretch/>
        </p:blipFill>
        <p:spPr>
          <a:xfrm>
            <a:off x="9537700" y="226559"/>
            <a:ext cx="1816100" cy="5572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idx="1" type="body"/>
          </p:nvPr>
        </p:nvSpPr>
        <p:spPr>
          <a:xfrm>
            <a:off x="838200" y="798285"/>
            <a:ext cx="10515600" cy="537867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Solved problem: </a:t>
            </a:r>
            <a:endParaRPr/>
          </a:p>
          <a:p>
            <a:pPr indent="0" lvl="0" marL="0" rtl="0" algn="just">
              <a:lnSpc>
                <a:spcPct val="90000"/>
              </a:lnSpc>
              <a:spcBef>
                <a:spcPts val="1000"/>
              </a:spcBef>
              <a:spcAft>
                <a:spcPts val="0"/>
              </a:spcAft>
              <a:buClr>
                <a:schemeClr val="dk1"/>
              </a:buClr>
              <a:buSzPts val="2600"/>
              <a:buNone/>
            </a:pPr>
            <a:r>
              <a:rPr lang="en-IN" sz="2600"/>
              <a:t>P1. a) A Ltd. issues Rs. 1,00,000, 8% debentures at par. The tax rate applicable to the company is 50%. Compute the cost of debt capital. </a:t>
            </a:r>
            <a:endParaRPr sz="2600"/>
          </a:p>
          <a:p>
            <a:pPr indent="0" lvl="0" marL="0" rtl="0" algn="just">
              <a:lnSpc>
                <a:spcPct val="90000"/>
              </a:lnSpc>
              <a:spcBef>
                <a:spcPts val="1000"/>
              </a:spcBef>
              <a:spcAft>
                <a:spcPts val="0"/>
              </a:spcAft>
              <a:buClr>
                <a:schemeClr val="dk1"/>
              </a:buClr>
              <a:buSzPts val="2600"/>
              <a:buNone/>
            </a:pPr>
            <a:r>
              <a:rPr lang="en-IN" sz="2600"/>
              <a:t>(b) B Ltd. issues Rs. 1,00,000, 8% debentures at a premium of 10%. The tax rate applicable to the company is 50%. Compute the cost of debt capital. </a:t>
            </a:r>
            <a:endParaRPr sz="2600"/>
          </a:p>
          <a:p>
            <a:pPr indent="0" lvl="0" marL="0" rtl="0" algn="just">
              <a:lnSpc>
                <a:spcPct val="90000"/>
              </a:lnSpc>
              <a:spcBef>
                <a:spcPts val="1000"/>
              </a:spcBef>
              <a:spcAft>
                <a:spcPts val="0"/>
              </a:spcAft>
              <a:buClr>
                <a:schemeClr val="dk1"/>
              </a:buClr>
              <a:buSzPts val="2600"/>
              <a:buNone/>
            </a:pPr>
            <a:r>
              <a:rPr lang="en-IN" sz="2600"/>
              <a:t>(c) A Ltd. issues Rs. 1,00,000, 8% debentures at a discount of 5%. The tax rate is 60%, compute the cost of debt capital. </a:t>
            </a:r>
            <a:endParaRPr sz="2600"/>
          </a:p>
          <a:p>
            <a:pPr indent="0" lvl="0" marL="0" rtl="0" algn="just">
              <a:lnSpc>
                <a:spcPct val="90000"/>
              </a:lnSpc>
              <a:spcBef>
                <a:spcPts val="1000"/>
              </a:spcBef>
              <a:spcAft>
                <a:spcPts val="0"/>
              </a:spcAft>
              <a:buClr>
                <a:schemeClr val="dk1"/>
              </a:buClr>
              <a:buSzPts val="2600"/>
              <a:buNone/>
            </a:pPr>
            <a:r>
              <a:rPr lang="en-IN" sz="2600"/>
              <a:t>(d) B Ltd. issues Rs. 1,00,000, 9% debentures at a premium of 10%. The costs of floatation are 2%. The tax rate applicable is 50%. Compute the cost of debt-capital. </a:t>
            </a:r>
            <a:endParaRPr sz="2600"/>
          </a:p>
          <a:p>
            <a:pPr indent="0" lvl="0" marL="0" rtl="0" algn="just">
              <a:lnSpc>
                <a:spcPct val="90000"/>
              </a:lnSpc>
              <a:spcBef>
                <a:spcPts val="1000"/>
              </a:spcBef>
              <a:spcAft>
                <a:spcPts val="0"/>
              </a:spcAft>
              <a:buClr>
                <a:schemeClr val="dk1"/>
              </a:buClr>
              <a:buSzPts val="2600"/>
              <a:buNone/>
            </a:pPr>
            <a:r>
              <a:rPr lang="en-IN" sz="2600"/>
              <a:t>In all cases, we have computed the after-tax cost of debt as the firm saves on account of tax by using debt as a source of finance.</a:t>
            </a:r>
            <a:endParaRPr/>
          </a:p>
        </p:txBody>
      </p:sp>
      <p:pic>
        <p:nvPicPr>
          <p:cNvPr descr="Image result for sastra logo" id="210" name="Google Shape;210;p32"/>
          <p:cNvPicPr preferRelativeResize="0"/>
          <p:nvPr/>
        </p:nvPicPr>
        <p:blipFill rotWithShape="1">
          <a:blip r:embed="rId3">
            <a:alphaModFix/>
          </a:blip>
          <a:srcRect b="0" l="0" r="0" t="0"/>
          <a:stretch/>
        </p:blipFill>
        <p:spPr>
          <a:xfrm>
            <a:off x="9537700" y="241073"/>
            <a:ext cx="1816100" cy="5572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idx="1" type="body"/>
          </p:nvPr>
        </p:nvSpPr>
        <p:spPr>
          <a:xfrm>
            <a:off x="838200" y="794479"/>
            <a:ext cx="10515600" cy="538248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a:t>
            </a:r>
            <a:endParaRPr/>
          </a:p>
          <a:p>
            <a:pPr indent="-514350" lvl="0" marL="514350" rtl="0" algn="l">
              <a:lnSpc>
                <a:spcPct val="90000"/>
              </a:lnSpc>
              <a:spcBef>
                <a:spcPts val="1000"/>
              </a:spcBef>
              <a:spcAft>
                <a:spcPts val="0"/>
              </a:spcAft>
              <a:buClr>
                <a:srgbClr val="FF0000"/>
              </a:buClr>
              <a:buSzPts val="2600"/>
              <a:buAutoNum type="alphaLcParenR"/>
            </a:pPr>
            <a:r>
              <a:rPr b="1" lang="en-IN" sz="2600">
                <a:solidFill>
                  <a:srgbClr val="FF0000"/>
                </a:solidFill>
              </a:rPr>
              <a:t>Issued at par:</a:t>
            </a:r>
            <a:endParaRPr/>
          </a:p>
          <a:p>
            <a:pPr indent="0" lvl="0" marL="0" rtl="0" algn="l">
              <a:lnSpc>
                <a:spcPct val="90000"/>
              </a:lnSpc>
              <a:spcBef>
                <a:spcPts val="1000"/>
              </a:spcBef>
              <a:spcAft>
                <a:spcPts val="0"/>
              </a:spcAft>
              <a:buClr>
                <a:schemeClr val="dk1"/>
              </a:buClr>
              <a:buSzPts val="2600"/>
              <a:buNone/>
            </a:pPr>
            <a:r>
              <a:rPr lang="en-IN" sz="2600"/>
              <a:t>	K</a:t>
            </a:r>
            <a:r>
              <a:rPr baseline="-25000" lang="en-IN" sz="2600"/>
              <a:t>d</a:t>
            </a:r>
            <a:r>
              <a:rPr lang="en-IN" sz="2600"/>
              <a:t> = (1 – t) r </a:t>
            </a:r>
            <a:endParaRPr sz="2600"/>
          </a:p>
          <a:p>
            <a:pPr indent="0" lvl="0" marL="0" rtl="0" algn="l">
              <a:lnSpc>
                <a:spcPct val="90000"/>
              </a:lnSpc>
              <a:spcBef>
                <a:spcPts val="1000"/>
              </a:spcBef>
              <a:spcAft>
                <a:spcPts val="0"/>
              </a:spcAft>
              <a:buClr>
                <a:schemeClr val="dk1"/>
              </a:buClr>
              <a:buSzPts val="2600"/>
              <a:buNone/>
            </a:pPr>
            <a:r>
              <a:rPr lang="en-IN" sz="2600"/>
              <a:t>	= (1 - 0.50) × 8%</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K</a:t>
            </a:r>
            <a:r>
              <a:rPr baseline="-25000" lang="en-IN" sz="2600">
                <a:solidFill>
                  <a:srgbClr val="FF0000"/>
                </a:solidFill>
              </a:rPr>
              <a:t>d </a:t>
            </a:r>
            <a:r>
              <a:rPr lang="en-IN" sz="2600">
                <a:solidFill>
                  <a:srgbClr val="FF0000"/>
                </a:solidFill>
              </a:rPr>
              <a:t>= 4%</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b</a:t>
            </a:r>
            <a:r>
              <a:rPr b="1" lang="en-IN" sz="2600">
                <a:solidFill>
                  <a:srgbClr val="FF0000"/>
                </a:solidFill>
              </a:rPr>
              <a:t>) Issued at 10% premium:</a:t>
            </a:r>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rPr lang="en-IN" sz="2600"/>
              <a:t>	I = Rs. 8,000, T = 50%</a:t>
            </a:r>
            <a:endParaRPr/>
          </a:p>
          <a:p>
            <a:pPr indent="0" lvl="0" marL="0" rtl="0" algn="l">
              <a:lnSpc>
                <a:spcPct val="90000"/>
              </a:lnSpc>
              <a:spcBef>
                <a:spcPts val="1000"/>
              </a:spcBef>
              <a:spcAft>
                <a:spcPts val="0"/>
              </a:spcAft>
              <a:buClr>
                <a:schemeClr val="dk1"/>
              </a:buClr>
              <a:buSzPts val="2600"/>
              <a:buNone/>
            </a:pPr>
            <a:r>
              <a:rPr lang="en-IN" sz="2600"/>
              <a:t>	NP = Face value + Premium – floatation cost</a:t>
            </a:r>
            <a:endParaRPr/>
          </a:p>
          <a:p>
            <a:pPr indent="0" lvl="0" marL="0" rtl="0" algn="l">
              <a:lnSpc>
                <a:spcPct val="90000"/>
              </a:lnSpc>
              <a:spcBef>
                <a:spcPts val="1000"/>
              </a:spcBef>
              <a:spcAft>
                <a:spcPts val="0"/>
              </a:spcAft>
              <a:buClr>
                <a:schemeClr val="dk1"/>
              </a:buClr>
              <a:buSzPts val="2600"/>
              <a:buNone/>
            </a:pPr>
            <a:r>
              <a:rPr lang="en-IN" sz="2600"/>
              <a:t>	= Rs. 1,00,000 + Rs. 10,000 – Nil</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Rs. 1,10,000.</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p:txBody>
      </p:sp>
      <p:pic>
        <p:nvPicPr>
          <p:cNvPr id="216" name="Google Shape;216;p33"/>
          <p:cNvPicPr preferRelativeResize="0"/>
          <p:nvPr/>
        </p:nvPicPr>
        <p:blipFill rotWithShape="1">
          <a:blip r:embed="rId3">
            <a:alphaModFix/>
          </a:blip>
          <a:srcRect b="59574" l="41858" r="47312" t="33661"/>
          <a:stretch/>
        </p:blipFill>
        <p:spPr>
          <a:xfrm>
            <a:off x="1739335" y="3485721"/>
            <a:ext cx="2352980" cy="689549"/>
          </a:xfrm>
          <a:prstGeom prst="rect">
            <a:avLst/>
          </a:prstGeom>
          <a:noFill/>
          <a:ln>
            <a:noFill/>
          </a:ln>
        </p:spPr>
      </p:pic>
      <p:pic>
        <p:nvPicPr>
          <p:cNvPr descr="Image result for sastra logo" id="217" name="Google Shape;217;p33"/>
          <p:cNvPicPr preferRelativeResize="0"/>
          <p:nvPr/>
        </p:nvPicPr>
        <p:blipFill rotWithShape="1">
          <a:blip r:embed="rId4">
            <a:alphaModFix/>
          </a:blip>
          <a:srcRect b="0" l="0" r="0" t="0"/>
          <a:stretch/>
        </p:blipFill>
        <p:spPr>
          <a:xfrm>
            <a:off x="9537700" y="237267"/>
            <a:ext cx="1816100" cy="5572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idx="1" type="body"/>
          </p:nvPr>
        </p:nvSpPr>
        <p:spPr>
          <a:xfrm>
            <a:off x="838200" y="856342"/>
            <a:ext cx="10515600" cy="532062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600"/>
              <a:buNone/>
            </a:pPr>
            <a:r>
              <a:rPr lang="en-IN" sz="2600"/>
              <a:t>	= [Rs. 8,000/Rs. 1,10,000]×[1 - 0.50]</a:t>
            </a:r>
            <a:endParaRPr/>
          </a:p>
          <a:p>
            <a:pPr indent="0" lvl="0" marL="0" rtl="0" algn="l">
              <a:lnSpc>
                <a:spcPct val="90000"/>
              </a:lnSpc>
              <a:spcBef>
                <a:spcPts val="1000"/>
              </a:spcBef>
              <a:spcAft>
                <a:spcPts val="0"/>
              </a:spcAft>
              <a:buClr>
                <a:schemeClr val="dk1"/>
              </a:buClr>
              <a:buSzPts val="2600"/>
              <a:buNone/>
            </a:pPr>
            <a:r>
              <a:rPr lang="en-IN" sz="2600"/>
              <a:t>	= [Rs. 8,000/Rs. 1,10,000]0.50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d </a:t>
            </a:r>
            <a:r>
              <a:rPr lang="en-IN" sz="2600">
                <a:solidFill>
                  <a:srgbClr val="FF0000"/>
                </a:solidFill>
              </a:rPr>
              <a:t>= 3.63%</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c</a:t>
            </a:r>
            <a:r>
              <a:rPr b="1" lang="en-IN" sz="2600">
                <a:solidFill>
                  <a:srgbClr val="FF0000"/>
                </a:solidFill>
              </a:rPr>
              <a:t>) Issued at 8% discount:</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rPr lang="en-IN" sz="2600"/>
              <a:t>	I = Rs. 8,000, T = 60%</a:t>
            </a:r>
            <a:endParaRPr/>
          </a:p>
          <a:p>
            <a:pPr indent="0" lvl="0" marL="0" rtl="0" algn="l">
              <a:lnSpc>
                <a:spcPct val="90000"/>
              </a:lnSpc>
              <a:spcBef>
                <a:spcPts val="1000"/>
              </a:spcBef>
              <a:spcAft>
                <a:spcPts val="0"/>
              </a:spcAft>
              <a:buClr>
                <a:schemeClr val="dk1"/>
              </a:buClr>
              <a:buSzPts val="2600"/>
              <a:buNone/>
            </a:pPr>
            <a:r>
              <a:rPr lang="en-IN" sz="2600"/>
              <a:t>	NP = Face value - discount – floatation cost</a:t>
            </a:r>
            <a:endParaRPr/>
          </a:p>
          <a:p>
            <a:pPr indent="0" lvl="0" marL="0" rtl="0" algn="l">
              <a:lnSpc>
                <a:spcPct val="90000"/>
              </a:lnSpc>
              <a:spcBef>
                <a:spcPts val="1000"/>
              </a:spcBef>
              <a:spcAft>
                <a:spcPts val="0"/>
              </a:spcAft>
              <a:buClr>
                <a:schemeClr val="dk1"/>
              </a:buClr>
              <a:buSzPts val="2600"/>
              <a:buNone/>
            </a:pPr>
            <a:r>
              <a:rPr lang="en-IN" sz="2600"/>
              <a:t>	= Rs. 1,00,000 - Rs. 5,000 – Nil</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Rs. 95,000.</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pic>
        <p:nvPicPr>
          <p:cNvPr id="223" name="Google Shape;223;p34"/>
          <p:cNvPicPr preferRelativeResize="0"/>
          <p:nvPr/>
        </p:nvPicPr>
        <p:blipFill rotWithShape="1">
          <a:blip r:embed="rId3">
            <a:alphaModFix/>
          </a:blip>
          <a:srcRect b="59574" l="41858" r="47312" t="33661"/>
          <a:stretch/>
        </p:blipFill>
        <p:spPr>
          <a:xfrm>
            <a:off x="1695792" y="2788169"/>
            <a:ext cx="2426504" cy="779489"/>
          </a:xfrm>
          <a:prstGeom prst="rect">
            <a:avLst/>
          </a:prstGeom>
          <a:noFill/>
          <a:ln>
            <a:noFill/>
          </a:ln>
        </p:spPr>
      </p:pic>
      <p:pic>
        <p:nvPicPr>
          <p:cNvPr descr="Image result for sastra logo" id="224" name="Google Shape;224;p34"/>
          <p:cNvPicPr preferRelativeResize="0"/>
          <p:nvPr/>
        </p:nvPicPr>
        <p:blipFill rotWithShape="1">
          <a:blip r:embed="rId4">
            <a:alphaModFix/>
          </a:blip>
          <a:srcRect b="0" l="0" r="0" t="0"/>
          <a:stretch/>
        </p:blipFill>
        <p:spPr>
          <a:xfrm>
            <a:off x="9537700" y="299130"/>
            <a:ext cx="1816100" cy="5572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idx="1" type="body"/>
          </p:nvPr>
        </p:nvSpPr>
        <p:spPr>
          <a:xfrm>
            <a:off x="838200" y="869430"/>
            <a:ext cx="10515600" cy="530753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	= [Rs. 8,000/Rs. 95,000]×[1 - 0.60]</a:t>
            </a:r>
            <a:endParaRPr/>
          </a:p>
          <a:p>
            <a:pPr indent="0" lvl="0" marL="0" rtl="0" algn="l">
              <a:lnSpc>
                <a:spcPct val="90000"/>
              </a:lnSpc>
              <a:spcBef>
                <a:spcPts val="1000"/>
              </a:spcBef>
              <a:spcAft>
                <a:spcPts val="0"/>
              </a:spcAft>
              <a:buClr>
                <a:schemeClr val="dk1"/>
              </a:buClr>
              <a:buSzPts val="2600"/>
              <a:buNone/>
            </a:pPr>
            <a:r>
              <a:rPr lang="en-IN" sz="2600"/>
              <a:t>	= [Rs. 8,000/Rs. 95,000]0.40</a:t>
            </a:r>
            <a:endParaRPr sz="2600"/>
          </a:p>
          <a:p>
            <a:pPr indent="0" lvl="0" marL="0" rtl="0" algn="l">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d </a:t>
            </a:r>
            <a:r>
              <a:rPr lang="en-IN" sz="2600">
                <a:solidFill>
                  <a:srgbClr val="FF0000"/>
                </a:solidFill>
              </a:rPr>
              <a:t>= 3.36%</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d) </a:t>
            </a:r>
            <a:r>
              <a:rPr b="1" lang="en-IN" sz="2600">
                <a:solidFill>
                  <a:srgbClr val="FF0000"/>
                </a:solidFill>
              </a:rPr>
              <a:t>Issued at 10% premium:</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63500" lvl="0" marL="22860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rPr lang="en-IN" sz="2600"/>
              <a:t>	I = Rs. 9,000, T = 50%</a:t>
            </a:r>
            <a:endParaRPr/>
          </a:p>
          <a:p>
            <a:pPr indent="0" lvl="0" marL="0" rtl="0" algn="l">
              <a:lnSpc>
                <a:spcPct val="90000"/>
              </a:lnSpc>
              <a:spcBef>
                <a:spcPts val="1000"/>
              </a:spcBef>
              <a:spcAft>
                <a:spcPts val="0"/>
              </a:spcAft>
              <a:buClr>
                <a:schemeClr val="dk1"/>
              </a:buClr>
              <a:buSzPts val="2600"/>
              <a:buNone/>
            </a:pPr>
            <a:r>
              <a:rPr lang="en-IN" sz="2600"/>
              <a:t>	NP = Face value + Premium – floatation cost</a:t>
            </a:r>
            <a:endParaRPr/>
          </a:p>
          <a:p>
            <a:pPr indent="0" lvl="0" marL="0" rtl="0" algn="l">
              <a:lnSpc>
                <a:spcPct val="90000"/>
              </a:lnSpc>
              <a:spcBef>
                <a:spcPts val="1000"/>
              </a:spcBef>
              <a:spcAft>
                <a:spcPts val="0"/>
              </a:spcAft>
              <a:buClr>
                <a:schemeClr val="dk1"/>
              </a:buClr>
              <a:buSzPts val="2600"/>
              <a:buNone/>
            </a:pPr>
            <a:r>
              <a:rPr lang="en-IN" sz="2600"/>
              <a:t>	= Rs. 1,00,000 + Rs. 10,000 – 2,000 (Rs. 1,00,000×2/100)</a:t>
            </a:r>
            <a:endParaRPr sz="2600"/>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Rs. 1,08,000.</a:t>
            </a:r>
            <a:endParaRPr/>
          </a:p>
          <a:p>
            <a:pPr indent="0" lvl="0" marL="0" rtl="0" algn="l">
              <a:lnSpc>
                <a:spcPct val="90000"/>
              </a:lnSpc>
              <a:spcBef>
                <a:spcPts val="1000"/>
              </a:spcBef>
              <a:spcAft>
                <a:spcPts val="0"/>
              </a:spcAft>
              <a:buClr>
                <a:schemeClr val="dk1"/>
              </a:buClr>
              <a:buSzPts val="2600"/>
              <a:buNone/>
            </a:pPr>
            <a:r>
              <a:t/>
            </a:r>
            <a:endParaRPr sz="2600"/>
          </a:p>
          <a:p>
            <a:pPr indent="-63500" lvl="0" marL="228600" rtl="0" algn="l">
              <a:lnSpc>
                <a:spcPct val="90000"/>
              </a:lnSpc>
              <a:spcBef>
                <a:spcPts val="1000"/>
              </a:spcBef>
              <a:spcAft>
                <a:spcPts val="0"/>
              </a:spcAft>
              <a:buClr>
                <a:schemeClr val="dk1"/>
              </a:buClr>
              <a:buSzPts val="2600"/>
              <a:buNone/>
            </a:pPr>
            <a:r>
              <a:t/>
            </a:r>
            <a:endParaRPr sz="2600"/>
          </a:p>
          <a:p>
            <a:pPr indent="-63500" lvl="0" marL="228600" rtl="0" algn="l">
              <a:lnSpc>
                <a:spcPct val="90000"/>
              </a:lnSpc>
              <a:spcBef>
                <a:spcPts val="1000"/>
              </a:spcBef>
              <a:spcAft>
                <a:spcPts val="0"/>
              </a:spcAft>
              <a:buClr>
                <a:schemeClr val="dk1"/>
              </a:buClr>
              <a:buSzPts val="2600"/>
              <a:buNone/>
            </a:pPr>
            <a:r>
              <a:t/>
            </a:r>
            <a:endParaRPr sz="2600"/>
          </a:p>
        </p:txBody>
      </p:sp>
      <p:pic>
        <p:nvPicPr>
          <p:cNvPr id="230" name="Google Shape;230;p35"/>
          <p:cNvPicPr preferRelativeResize="0"/>
          <p:nvPr/>
        </p:nvPicPr>
        <p:blipFill rotWithShape="1">
          <a:blip r:embed="rId3">
            <a:alphaModFix/>
          </a:blip>
          <a:srcRect b="59574" l="41858" r="47312" t="33661"/>
          <a:stretch/>
        </p:blipFill>
        <p:spPr>
          <a:xfrm>
            <a:off x="1753849" y="2844800"/>
            <a:ext cx="2428408" cy="769257"/>
          </a:xfrm>
          <a:prstGeom prst="rect">
            <a:avLst/>
          </a:prstGeom>
          <a:noFill/>
          <a:ln>
            <a:noFill/>
          </a:ln>
        </p:spPr>
      </p:pic>
      <p:pic>
        <p:nvPicPr>
          <p:cNvPr descr="Image result for sastra logo" id="231" name="Google Shape;231;p35"/>
          <p:cNvPicPr preferRelativeResize="0"/>
          <p:nvPr/>
        </p:nvPicPr>
        <p:blipFill rotWithShape="1">
          <a:blip r:embed="rId4">
            <a:alphaModFix/>
          </a:blip>
          <a:srcRect b="0" l="0" r="0" t="0"/>
          <a:stretch/>
        </p:blipFill>
        <p:spPr>
          <a:xfrm>
            <a:off x="9537700" y="312218"/>
            <a:ext cx="1816100" cy="5572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idx="1" type="body"/>
          </p:nvPr>
        </p:nvSpPr>
        <p:spPr>
          <a:xfrm>
            <a:off x="838200" y="1034321"/>
            <a:ext cx="10515600" cy="51426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	= [Rs. 9,000/Rs. 1,08,000]×[1 - 0.50]</a:t>
            </a:r>
            <a:endParaRPr/>
          </a:p>
          <a:p>
            <a:pPr indent="0" lvl="0" marL="0" rtl="0" algn="l">
              <a:lnSpc>
                <a:spcPct val="90000"/>
              </a:lnSpc>
              <a:spcBef>
                <a:spcPts val="1000"/>
              </a:spcBef>
              <a:spcAft>
                <a:spcPts val="0"/>
              </a:spcAft>
              <a:buClr>
                <a:schemeClr val="dk1"/>
              </a:buClr>
              <a:buSzPts val="2600"/>
              <a:buNone/>
            </a:pPr>
            <a:r>
              <a:rPr lang="en-IN" sz="2600"/>
              <a:t>	= [Rs. 9,000/Rs. 1,08,000]0.50</a:t>
            </a:r>
            <a:endParaRPr sz="2600"/>
          </a:p>
          <a:p>
            <a:pPr indent="0" lvl="0" marL="0" rtl="0" algn="l">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d </a:t>
            </a:r>
            <a:r>
              <a:rPr lang="en-IN" sz="2600">
                <a:solidFill>
                  <a:srgbClr val="FF0000"/>
                </a:solidFill>
              </a:rPr>
              <a:t>= 4.17%</a:t>
            </a:r>
            <a:endParaRPr/>
          </a:p>
        </p:txBody>
      </p:sp>
      <p:pic>
        <p:nvPicPr>
          <p:cNvPr descr="Image result for sastra logo" id="237" name="Google Shape;237;p36"/>
          <p:cNvPicPr preferRelativeResize="0"/>
          <p:nvPr/>
        </p:nvPicPr>
        <p:blipFill rotWithShape="1">
          <a:blip r:embed="rId3">
            <a:alphaModFix/>
          </a:blip>
          <a:srcRect b="0" l="0" r="0" t="0"/>
          <a:stretch/>
        </p:blipFill>
        <p:spPr>
          <a:xfrm>
            <a:off x="9537700" y="477109"/>
            <a:ext cx="1816100" cy="5572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 type="body"/>
          </p:nvPr>
        </p:nvSpPr>
        <p:spPr>
          <a:xfrm>
            <a:off x="838200" y="869430"/>
            <a:ext cx="10515600" cy="530753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2). Cost of Redeemable debt: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While calculating the cost of redeemable debt, it is necessary to consider the repayment of the principal in addition to interest payments. The cost of redeemable debt can be calculated by suing the following formula.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243" name="Google Shape;243;p37"/>
          <p:cNvPicPr preferRelativeResize="0"/>
          <p:nvPr/>
        </p:nvPicPr>
        <p:blipFill rotWithShape="1">
          <a:blip r:embed="rId3">
            <a:alphaModFix/>
          </a:blip>
          <a:srcRect b="34170" l="25036" r="38326" t="43084"/>
          <a:stretch/>
        </p:blipFill>
        <p:spPr>
          <a:xfrm>
            <a:off x="838200" y="2638269"/>
            <a:ext cx="10515600" cy="3672589"/>
          </a:xfrm>
          <a:prstGeom prst="rect">
            <a:avLst/>
          </a:prstGeom>
          <a:noFill/>
          <a:ln>
            <a:noFill/>
          </a:ln>
        </p:spPr>
      </p:pic>
      <p:pic>
        <p:nvPicPr>
          <p:cNvPr descr="Image result for sastra logo" id="244" name="Google Shape;244;p37"/>
          <p:cNvPicPr preferRelativeResize="0"/>
          <p:nvPr/>
        </p:nvPicPr>
        <p:blipFill rotWithShape="1">
          <a:blip r:embed="rId4">
            <a:alphaModFix/>
          </a:blip>
          <a:srcRect b="0" l="0" r="0" t="0"/>
          <a:stretch/>
        </p:blipFill>
        <p:spPr>
          <a:xfrm>
            <a:off x="9537700" y="312218"/>
            <a:ext cx="1816100" cy="5572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idx="1" type="body"/>
          </p:nvPr>
        </p:nvSpPr>
        <p:spPr>
          <a:xfrm>
            <a:off x="838200" y="809469"/>
            <a:ext cx="10515600" cy="544142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 A firm issues debentures of Rs. 1,00,000 and realises Rs. 98,000 after allowing 2% commission to brokers. The debentures carry an interest rate of 10%. The debentures are due for maturity at the end of the 10</a:t>
            </a:r>
            <a:r>
              <a:rPr baseline="30000" lang="en-IN" sz="2600"/>
              <a:t>th</a:t>
            </a:r>
            <a:r>
              <a:rPr lang="en-IN" sz="2600"/>
              <a:t> year. You are required to calculate the effective cost of debt both before and after tax cost. If the tax rate is 55%.</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a:p>
          <a:p>
            <a:pPr indent="-514350" lvl="0" marL="514350" rtl="0" algn="just">
              <a:lnSpc>
                <a:spcPct val="90000"/>
              </a:lnSpc>
              <a:spcBef>
                <a:spcPts val="1000"/>
              </a:spcBef>
              <a:spcAft>
                <a:spcPts val="0"/>
              </a:spcAft>
              <a:buClr>
                <a:srgbClr val="FF0000"/>
              </a:buClr>
              <a:buSzPts val="2600"/>
              <a:buAutoNum type="alphaLcParenR"/>
            </a:pPr>
            <a:r>
              <a:rPr b="1" lang="en-IN" sz="2600">
                <a:solidFill>
                  <a:srgbClr val="FF0000"/>
                </a:solidFill>
              </a:rPr>
              <a:t>K</a:t>
            </a:r>
            <a:r>
              <a:rPr b="1" baseline="-25000" lang="en-IN" sz="2600">
                <a:solidFill>
                  <a:srgbClr val="FF0000"/>
                </a:solidFill>
              </a:rPr>
              <a:t>d </a:t>
            </a:r>
            <a:r>
              <a:rPr b="1" lang="en-IN" sz="2600">
                <a:solidFill>
                  <a:srgbClr val="FF0000"/>
                </a:solidFill>
              </a:rPr>
              <a:t>(before tax): </a:t>
            </a:r>
            <a:endParaRPr/>
          </a:p>
          <a:p>
            <a:pPr indent="0" lvl="0" marL="0" rtl="0" algn="just">
              <a:lnSpc>
                <a:spcPct val="90000"/>
              </a:lnSpc>
              <a:spcBef>
                <a:spcPts val="1000"/>
              </a:spcBef>
              <a:spcAft>
                <a:spcPts val="0"/>
              </a:spcAft>
              <a:buClr>
                <a:schemeClr val="dk1"/>
              </a:buClr>
              <a:buSzPts val="2600"/>
              <a:buNone/>
            </a:pPr>
            <a:r>
              <a:rPr lang="en-IN" sz="2600"/>
              <a:t>	= {I + [P - Np]/n}/{[P + Np]/2} </a:t>
            </a:r>
            <a:endParaRPr/>
          </a:p>
          <a:p>
            <a:pPr indent="0" lvl="0" marL="0" rtl="0" algn="just">
              <a:lnSpc>
                <a:spcPct val="90000"/>
              </a:lnSpc>
              <a:spcBef>
                <a:spcPts val="1000"/>
              </a:spcBef>
              <a:spcAft>
                <a:spcPts val="0"/>
              </a:spcAft>
              <a:buClr>
                <a:schemeClr val="dk1"/>
              </a:buClr>
              <a:buSzPts val="2600"/>
              <a:buNone/>
            </a:pPr>
            <a:r>
              <a:rPr lang="en-IN" sz="2600"/>
              <a:t>	= Rs. {Rs.10,000 + [Rs. 1,00,000 - Rs. 98,000]/10}/ {[Rs. 1,00,000 + Rs. </a:t>
            </a:r>
            <a:endParaRPr/>
          </a:p>
          <a:p>
            <a:pPr indent="0" lvl="0" marL="0" rtl="0" algn="just">
              <a:lnSpc>
                <a:spcPct val="90000"/>
              </a:lnSpc>
              <a:spcBef>
                <a:spcPts val="1000"/>
              </a:spcBef>
              <a:spcAft>
                <a:spcPts val="0"/>
              </a:spcAft>
              <a:buClr>
                <a:schemeClr val="dk1"/>
              </a:buClr>
              <a:buSzPts val="2600"/>
              <a:buNone/>
            </a:pPr>
            <a:r>
              <a:rPr lang="en-IN" sz="2600"/>
              <a:t>                98,000]/2}</a:t>
            </a:r>
            <a:endParaRPr/>
          </a:p>
          <a:p>
            <a:pPr indent="0" lvl="0" marL="0" rtl="0" algn="just">
              <a:lnSpc>
                <a:spcPct val="90000"/>
              </a:lnSpc>
              <a:spcBef>
                <a:spcPts val="1000"/>
              </a:spcBef>
              <a:spcAft>
                <a:spcPts val="0"/>
              </a:spcAft>
              <a:buClr>
                <a:schemeClr val="dk1"/>
              </a:buClr>
              <a:buSzPts val="2600"/>
              <a:buNone/>
            </a:pPr>
            <a:r>
              <a:rPr lang="en-IN" sz="2600"/>
              <a:t>	= Rs. 10,000 + 200/Rs. 99,000</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 0.103 or 10.33%</a:t>
            </a:r>
            <a:endParaRPr sz="2600">
              <a:solidFill>
                <a:srgbClr val="FF0000"/>
              </a:solidFill>
            </a:endParaRPr>
          </a:p>
        </p:txBody>
      </p:sp>
      <p:pic>
        <p:nvPicPr>
          <p:cNvPr descr="Image result for sastra logo" id="250" name="Google Shape;250;p38"/>
          <p:cNvPicPr preferRelativeResize="0"/>
          <p:nvPr/>
        </p:nvPicPr>
        <p:blipFill rotWithShape="1">
          <a:blip r:embed="rId3">
            <a:alphaModFix/>
          </a:blip>
          <a:srcRect b="0" l="0" r="0" t="0"/>
          <a:stretch/>
        </p:blipFill>
        <p:spPr>
          <a:xfrm>
            <a:off x="9537700" y="252257"/>
            <a:ext cx="1816100" cy="5572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ph idx="1" type="body"/>
          </p:nvPr>
        </p:nvSpPr>
        <p:spPr>
          <a:xfrm>
            <a:off x="838200" y="749508"/>
            <a:ext cx="10515600" cy="54274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800"/>
              <a:buNone/>
            </a:pPr>
            <a:r>
              <a:rPr b="1" lang="en-IN">
                <a:solidFill>
                  <a:srgbClr val="FF0000"/>
                </a:solidFill>
              </a:rPr>
              <a:t>b) K</a:t>
            </a:r>
            <a:r>
              <a:rPr b="1" baseline="-25000" lang="en-IN">
                <a:solidFill>
                  <a:srgbClr val="FF0000"/>
                </a:solidFill>
              </a:rPr>
              <a:t>d </a:t>
            </a:r>
            <a:r>
              <a:rPr b="1" lang="en-IN">
                <a:solidFill>
                  <a:srgbClr val="FF0000"/>
                </a:solidFill>
              </a:rPr>
              <a:t>(after tax): </a:t>
            </a:r>
            <a:endParaRPr/>
          </a:p>
          <a:p>
            <a:pPr indent="0" lvl="0" marL="0" rtl="0" algn="l">
              <a:lnSpc>
                <a:spcPct val="90000"/>
              </a:lnSpc>
              <a:spcBef>
                <a:spcPts val="1000"/>
              </a:spcBef>
              <a:spcAft>
                <a:spcPts val="0"/>
              </a:spcAft>
              <a:buClr>
                <a:srgbClr val="FF0000"/>
              </a:buClr>
              <a:buSzPts val="2800"/>
              <a:buNone/>
            </a:pPr>
            <a:r>
              <a:rPr lang="en-IN">
                <a:solidFill>
                  <a:srgbClr val="FF0000"/>
                </a:solidFill>
              </a:rPr>
              <a:t>	</a:t>
            </a:r>
            <a:r>
              <a:rPr lang="en-IN"/>
              <a:t>= K</a:t>
            </a:r>
            <a:r>
              <a:rPr baseline="-25000" lang="en-IN"/>
              <a:t>d </a:t>
            </a:r>
            <a:r>
              <a:rPr lang="en-IN"/>
              <a:t>(before tax) × (1 - t)</a:t>
            </a:r>
            <a:endParaRPr/>
          </a:p>
          <a:p>
            <a:pPr indent="0" lvl="0" marL="0" rtl="0" algn="l">
              <a:lnSpc>
                <a:spcPct val="90000"/>
              </a:lnSpc>
              <a:spcBef>
                <a:spcPts val="1000"/>
              </a:spcBef>
              <a:spcAft>
                <a:spcPts val="0"/>
              </a:spcAft>
              <a:buClr>
                <a:schemeClr val="dk1"/>
              </a:buClr>
              <a:buSzPts val="2800"/>
              <a:buNone/>
            </a:pPr>
            <a:r>
              <a:rPr lang="en-IN"/>
              <a:t>	= 10.33 ( 1 - 0.55)</a:t>
            </a:r>
            <a:endParaRPr/>
          </a:p>
          <a:p>
            <a:pPr indent="0" lvl="0" marL="0" rtl="0" algn="l">
              <a:lnSpc>
                <a:spcPct val="90000"/>
              </a:lnSpc>
              <a:spcBef>
                <a:spcPts val="1000"/>
              </a:spcBef>
              <a:spcAft>
                <a:spcPts val="0"/>
              </a:spcAft>
              <a:buClr>
                <a:schemeClr val="dk1"/>
              </a:buClr>
              <a:buSzPts val="2800"/>
              <a:buNone/>
            </a:pPr>
            <a:r>
              <a:rPr lang="en-IN"/>
              <a:t>	= 10.33 (0.45)</a:t>
            </a:r>
            <a:endParaRPr/>
          </a:p>
          <a:p>
            <a:pPr indent="0" lvl="0" marL="0" rtl="0" algn="l">
              <a:lnSpc>
                <a:spcPct val="90000"/>
              </a:lnSpc>
              <a:spcBef>
                <a:spcPts val="1000"/>
              </a:spcBef>
              <a:spcAft>
                <a:spcPts val="0"/>
              </a:spcAft>
              <a:buClr>
                <a:srgbClr val="FF0000"/>
              </a:buClr>
              <a:buSzPts val="2800"/>
              <a:buNone/>
            </a:pPr>
            <a:r>
              <a:rPr lang="en-IN">
                <a:solidFill>
                  <a:srgbClr val="FF0000"/>
                </a:solidFill>
              </a:rPr>
              <a:t>	= 4.64%	</a:t>
            </a:r>
            <a:endParaRPr>
              <a:solidFill>
                <a:srgbClr val="FF0000"/>
              </a:solidFill>
            </a:endParaRPr>
          </a:p>
          <a:p>
            <a:pPr indent="0" lvl="0" marL="0" rtl="0" algn="l">
              <a:lnSpc>
                <a:spcPct val="90000"/>
              </a:lnSpc>
              <a:spcBef>
                <a:spcPts val="1000"/>
              </a:spcBef>
              <a:spcAft>
                <a:spcPts val="0"/>
              </a:spcAft>
              <a:buClr>
                <a:schemeClr val="dk1"/>
              </a:buClr>
              <a:buSzPts val="2800"/>
              <a:buNone/>
            </a:pPr>
            <a:r>
              <a:t/>
            </a:r>
            <a:endParaRPr>
              <a:solidFill>
                <a:srgbClr val="FF0000"/>
              </a:solidFill>
            </a:endParaRPr>
          </a:p>
          <a:p>
            <a:pPr indent="0" lvl="0" marL="0" rtl="0" algn="l">
              <a:lnSpc>
                <a:spcPct val="90000"/>
              </a:lnSpc>
              <a:spcBef>
                <a:spcPts val="1000"/>
              </a:spcBef>
              <a:spcAft>
                <a:spcPts val="0"/>
              </a:spcAft>
              <a:buClr>
                <a:schemeClr val="dk1"/>
              </a:buClr>
              <a:buSzPts val="2800"/>
              <a:buNone/>
            </a:pPr>
            <a:r>
              <a:t/>
            </a:r>
            <a:endParaRPr/>
          </a:p>
        </p:txBody>
      </p:sp>
      <p:pic>
        <p:nvPicPr>
          <p:cNvPr descr="Image result for sastra logo" id="256" name="Google Shape;256;p39"/>
          <p:cNvPicPr preferRelativeResize="0"/>
          <p:nvPr/>
        </p:nvPicPr>
        <p:blipFill rotWithShape="1">
          <a:blip r:embed="rId3">
            <a:alphaModFix/>
          </a:blip>
          <a:srcRect b="0" l="0" r="0" t="0"/>
          <a:stretch/>
        </p:blipFill>
        <p:spPr>
          <a:xfrm>
            <a:off x="9537700" y="192296"/>
            <a:ext cx="1816100" cy="5572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idx="1" type="body"/>
          </p:nvPr>
        </p:nvSpPr>
        <p:spPr>
          <a:xfrm>
            <a:off x="838200" y="854439"/>
            <a:ext cx="10515600" cy="532252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Note: </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Conditions of issue and redemption of preference shares:</a:t>
            </a:r>
            <a:endParaRPr/>
          </a:p>
          <a:p>
            <a:pPr indent="-63500" lvl="0" marL="228600" rtl="0" algn="l">
              <a:lnSpc>
                <a:spcPct val="90000"/>
              </a:lnSpc>
              <a:spcBef>
                <a:spcPts val="1000"/>
              </a:spcBef>
              <a:spcAft>
                <a:spcPts val="0"/>
              </a:spcAft>
              <a:buClr>
                <a:schemeClr val="dk1"/>
              </a:buClr>
              <a:buSzPts val="2600"/>
              <a:buNone/>
            </a:pPr>
            <a:r>
              <a:t/>
            </a:r>
            <a:endParaRPr sz="2600"/>
          </a:p>
        </p:txBody>
      </p:sp>
      <p:pic>
        <p:nvPicPr>
          <p:cNvPr id="262" name="Google Shape;262;p40"/>
          <p:cNvPicPr preferRelativeResize="0"/>
          <p:nvPr/>
        </p:nvPicPr>
        <p:blipFill rotWithShape="1">
          <a:blip r:embed="rId3">
            <a:alphaModFix/>
          </a:blip>
          <a:srcRect b="0" l="0" r="0" t="0"/>
          <a:stretch/>
        </p:blipFill>
        <p:spPr>
          <a:xfrm>
            <a:off x="819454" y="1735514"/>
            <a:ext cx="10553091" cy="3560373"/>
          </a:xfrm>
          <a:prstGeom prst="rect">
            <a:avLst/>
          </a:prstGeom>
          <a:noFill/>
          <a:ln>
            <a:noFill/>
          </a:ln>
        </p:spPr>
      </p:pic>
      <p:pic>
        <p:nvPicPr>
          <p:cNvPr descr="Image result for sastra logo" id="263" name="Google Shape;263;p40"/>
          <p:cNvPicPr preferRelativeResize="0"/>
          <p:nvPr/>
        </p:nvPicPr>
        <p:blipFill rotWithShape="1">
          <a:blip r:embed="rId4">
            <a:alphaModFix/>
          </a:blip>
          <a:srcRect b="0" l="0" r="0" t="0"/>
          <a:stretch/>
        </p:blipFill>
        <p:spPr>
          <a:xfrm>
            <a:off x="9432769" y="485776"/>
            <a:ext cx="1816100" cy="5572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idx="1" type="body"/>
          </p:nvPr>
        </p:nvSpPr>
        <p:spPr>
          <a:xfrm>
            <a:off x="838200" y="869430"/>
            <a:ext cx="10515600" cy="527011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2. Cost of Preference Share Capital [K</a:t>
            </a:r>
            <a:r>
              <a:rPr b="1" baseline="-25000" lang="en-IN" sz="2600">
                <a:solidFill>
                  <a:srgbClr val="FF0000"/>
                </a:solidFill>
              </a:rPr>
              <a:t>p</a:t>
            </a:r>
            <a:r>
              <a:rPr b="1" lang="en-IN" sz="2600">
                <a:solidFill>
                  <a:srgbClr val="FF0000"/>
                </a:solidFill>
              </a:rPr>
              <a:t>]: </a:t>
            </a:r>
            <a:endParaRPr/>
          </a:p>
          <a:p>
            <a:pPr indent="0" lvl="0" marL="0" rtl="0" algn="just">
              <a:lnSpc>
                <a:spcPct val="90000"/>
              </a:lnSpc>
              <a:spcBef>
                <a:spcPts val="1000"/>
              </a:spcBef>
              <a:spcAft>
                <a:spcPts val="0"/>
              </a:spcAft>
              <a:buClr>
                <a:schemeClr val="dk1"/>
              </a:buClr>
              <a:buSzPts val="2600"/>
              <a:buNone/>
            </a:pPr>
            <a:r>
              <a:rPr lang="en-IN" sz="2600"/>
              <a:t>Cost of preference share capital is the annual preference share dividend by the net proceeds from the sale of preference share. There are two types of preference shares irredeemable and redeemable. </a:t>
            </a:r>
            <a:r>
              <a:rPr b="1" lang="en-IN" sz="2600">
                <a:solidFill>
                  <a:srgbClr val="00B050"/>
                </a:solidFill>
              </a:rPr>
              <a:t>Cost of irredeemable preference share capital</a:t>
            </a:r>
            <a:r>
              <a:rPr lang="en-IN" sz="2600">
                <a:solidFill>
                  <a:srgbClr val="FF0000"/>
                </a:solidFill>
              </a:rPr>
              <a:t> </a:t>
            </a:r>
            <a:r>
              <a:rPr lang="en-IN" sz="2600"/>
              <a:t>is calculated with the help of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Where:</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K</a:t>
            </a:r>
            <a:r>
              <a:rPr baseline="-25000" lang="en-IN" sz="2600"/>
              <a:t>p </a:t>
            </a:r>
            <a:r>
              <a:rPr lang="en-IN" sz="2600"/>
              <a:t>= Cost of preference share </a:t>
            </a:r>
            <a:endParaRPr sz="2600"/>
          </a:p>
          <a:p>
            <a:pPr indent="0" lvl="0" marL="0" rtl="0" algn="just">
              <a:lnSpc>
                <a:spcPct val="90000"/>
              </a:lnSpc>
              <a:spcBef>
                <a:spcPts val="1000"/>
              </a:spcBef>
              <a:spcAft>
                <a:spcPts val="0"/>
              </a:spcAft>
              <a:buClr>
                <a:schemeClr val="dk1"/>
              </a:buClr>
              <a:buSzPts val="2600"/>
              <a:buNone/>
            </a:pPr>
            <a:r>
              <a:rPr lang="en-IN" sz="2600"/>
              <a:t>D</a:t>
            </a:r>
            <a:r>
              <a:rPr baseline="-25000" lang="en-IN" sz="2600"/>
              <a:t>p </a:t>
            </a:r>
            <a:r>
              <a:rPr lang="en-IN" sz="2600"/>
              <a:t>= Fixed preference dividend </a:t>
            </a:r>
            <a:endParaRPr sz="2600"/>
          </a:p>
          <a:p>
            <a:pPr indent="0" lvl="0" marL="0" rtl="0" algn="just">
              <a:lnSpc>
                <a:spcPct val="90000"/>
              </a:lnSpc>
              <a:spcBef>
                <a:spcPts val="1000"/>
              </a:spcBef>
              <a:spcAft>
                <a:spcPts val="0"/>
              </a:spcAft>
              <a:buClr>
                <a:schemeClr val="dk1"/>
              </a:buClr>
              <a:buSzPts val="2600"/>
              <a:buNone/>
            </a:pPr>
            <a:r>
              <a:rPr lang="en-IN" sz="2600"/>
              <a:t>N</a:t>
            </a:r>
            <a:r>
              <a:rPr baseline="-25000" lang="en-IN" sz="2600"/>
              <a:t>p</a:t>
            </a:r>
            <a:r>
              <a:rPr lang="en-IN" sz="2600"/>
              <a:t> = Net proceeds of an equity share</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269" name="Google Shape;269;p41"/>
          <p:cNvPicPr preferRelativeResize="0"/>
          <p:nvPr/>
        </p:nvPicPr>
        <p:blipFill rotWithShape="1">
          <a:blip r:embed="rId3">
            <a:alphaModFix/>
          </a:blip>
          <a:srcRect b="40848" l="44060" r="49664" t="52901"/>
          <a:stretch/>
        </p:blipFill>
        <p:spPr>
          <a:xfrm>
            <a:off x="4209142" y="2971801"/>
            <a:ext cx="1554843" cy="642256"/>
          </a:xfrm>
          <a:prstGeom prst="rect">
            <a:avLst/>
          </a:prstGeom>
          <a:noFill/>
          <a:ln>
            <a:noFill/>
          </a:ln>
        </p:spPr>
      </p:pic>
      <p:pic>
        <p:nvPicPr>
          <p:cNvPr descr="Image result for sastra logo" id="270" name="Google Shape;270;p41"/>
          <p:cNvPicPr preferRelativeResize="0"/>
          <p:nvPr/>
        </p:nvPicPr>
        <p:blipFill rotWithShape="1">
          <a:blip r:embed="rId4">
            <a:alphaModFix/>
          </a:blip>
          <a:srcRect b="0" l="0" r="0" t="0"/>
          <a:stretch/>
        </p:blipFill>
        <p:spPr>
          <a:xfrm>
            <a:off x="9537700" y="327209"/>
            <a:ext cx="1816100" cy="5572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2"/>
          <p:cNvSpPr txBox="1"/>
          <p:nvPr>
            <p:ph idx="1" type="body"/>
          </p:nvPr>
        </p:nvSpPr>
        <p:spPr>
          <a:xfrm>
            <a:off x="838200" y="1057275"/>
            <a:ext cx="10515600" cy="515778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00B050"/>
              </a:buClr>
              <a:buSzPts val="2600"/>
              <a:buNone/>
            </a:pPr>
            <a:r>
              <a:rPr b="1" lang="en-IN" sz="2600">
                <a:solidFill>
                  <a:srgbClr val="00B050"/>
                </a:solidFill>
              </a:rPr>
              <a:t>Cost of redeemable preference share</a:t>
            </a:r>
            <a:r>
              <a:rPr lang="en-IN" sz="2600">
                <a:solidFill>
                  <a:srgbClr val="FF0000"/>
                </a:solidFill>
              </a:rPr>
              <a:t> </a:t>
            </a:r>
            <a:r>
              <a:rPr lang="en-IN" sz="2600"/>
              <a:t>is calculated with the help of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a:t>
            </a:r>
            <a:r>
              <a:rPr baseline="-25000" lang="en-IN" sz="2600"/>
              <a:t>p</a:t>
            </a:r>
            <a:r>
              <a:rPr lang="en-IN" sz="2600"/>
              <a:t> = Cost of preference share </a:t>
            </a:r>
            <a:endParaRPr sz="2600"/>
          </a:p>
          <a:p>
            <a:pPr indent="0" lvl="0" marL="0" rtl="0" algn="just">
              <a:lnSpc>
                <a:spcPct val="90000"/>
              </a:lnSpc>
              <a:spcBef>
                <a:spcPts val="1000"/>
              </a:spcBef>
              <a:spcAft>
                <a:spcPts val="0"/>
              </a:spcAft>
              <a:buClr>
                <a:schemeClr val="dk1"/>
              </a:buClr>
              <a:buSzPts val="2600"/>
              <a:buNone/>
            </a:pPr>
            <a:r>
              <a:rPr lang="en-IN" sz="2600"/>
              <a:t>D</a:t>
            </a:r>
            <a:r>
              <a:rPr baseline="-25000" lang="en-IN" sz="2600"/>
              <a:t>p</a:t>
            </a:r>
            <a:r>
              <a:rPr lang="en-IN" sz="2600"/>
              <a:t> = Fixed preference share (Dividend)</a:t>
            </a:r>
            <a:endParaRPr/>
          </a:p>
          <a:p>
            <a:pPr indent="0" lvl="0" marL="0" rtl="0" algn="just">
              <a:lnSpc>
                <a:spcPct val="90000"/>
              </a:lnSpc>
              <a:spcBef>
                <a:spcPts val="1000"/>
              </a:spcBef>
              <a:spcAft>
                <a:spcPts val="0"/>
              </a:spcAft>
              <a:buClr>
                <a:schemeClr val="dk1"/>
              </a:buClr>
              <a:buSzPts val="2600"/>
              <a:buNone/>
            </a:pPr>
            <a:r>
              <a:rPr lang="en-IN" sz="2600"/>
              <a:t>P   = Redeemable Value (RV)</a:t>
            </a:r>
            <a:endParaRPr/>
          </a:p>
          <a:p>
            <a:pPr indent="0" lvl="0" marL="0" rtl="0" algn="just">
              <a:lnSpc>
                <a:spcPct val="90000"/>
              </a:lnSpc>
              <a:spcBef>
                <a:spcPts val="1000"/>
              </a:spcBef>
              <a:spcAft>
                <a:spcPts val="0"/>
              </a:spcAft>
              <a:buClr>
                <a:schemeClr val="dk1"/>
              </a:buClr>
              <a:buSzPts val="2600"/>
              <a:buNone/>
            </a:pPr>
            <a:r>
              <a:rPr lang="en-IN" sz="2600"/>
              <a:t>N</a:t>
            </a:r>
            <a:r>
              <a:rPr baseline="-25000" lang="en-IN" sz="2600"/>
              <a:t>p</a:t>
            </a:r>
            <a:r>
              <a:rPr lang="en-IN" sz="2600"/>
              <a:t> = Net  proceeds of the preference share [FV+P-FC] or Sale Value</a:t>
            </a:r>
            <a:endParaRPr/>
          </a:p>
          <a:p>
            <a:pPr indent="0" lvl="0" marL="0" rtl="0" algn="just">
              <a:lnSpc>
                <a:spcPct val="90000"/>
              </a:lnSpc>
              <a:spcBef>
                <a:spcPts val="1000"/>
              </a:spcBef>
              <a:spcAft>
                <a:spcPts val="0"/>
              </a:spcAft>
              <a:buClr>
                <a:schemeClr val="dk1"/>
              </a:buClr>
              <a:buSzPts val="2600"/>
              <a:buNone/>
            </a:pPr>
            <a:r>
              <a:rPr lang="en-IN" sz="2600"/>
              <a:t>n = Number of maturity period.</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276" name="Google Shape;276;p42"/>
          <p:cNvPicPr preferRelativeResize="0"/>
          <p:nvPr/>
        </p:nvPicPr>
        <p:blipFill rotWithShape="1">
          <a:blip r:embed="rId3">
            <a:alphaModFix/>
          </a:blip>
          <a:srcRect b="42312" l="44088" r="43864" t="51735"/>
          <a:stretch/>
        </p:blipFill>
        <p:spPr>
          <a:xfrm>
            <a:off x="4666343" y="1809296"/>
            <a:ext cx="2859314" cy="899886"/>
          </a:xfrm>
          <a:prstGeom prst="rect">
            <a:avLst/>
          </a:prstGeom>
          <a:noFill/>
          <a:ln>
            <a:noFill/>
          </a:ln>
        </p:spPr>
      </p:pic>
      <p:pic>
        <p:nvPicPr>
          <p:cNvPr descr="Image result for sastra logo" id="277" name="Google Shape;277;p42"/>
          <p:cNvPicPr preferRelativeResize="0"/>
          <p:nvPr/>
        </p:nvPicPr>
        <p:blipFill rotWithShape="1">
          <a:blip r:embed="rId4">
            <a:alphaModFix/>
          </a:blip>
          <a:srcRect b="0" l="0" r="0" t="0"/>
          <a:stretch/>
        </p:blipFill>
        <p:spPr>
          <a:xfrm>
            <a:off x="9537700" y="500063"/>
            <a:ext cx="1816100" cy="55721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3"/>
          <p:cNvSpPr txBox="1"/>
          <p:nvPr>
            <p:ph idx="1" type="body"/>
          </p:nvPr>
        </p:nvSpPr>
        <p:spPr>
          <a:xfrm>
            <a:off x="838200" y="798286"/>
            <a:ext cx="10515600" cy="542222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P3. XYZ Ltd. issues 20,000, 8% preference shares of Rs. 100 each. Cost of issue is Rs. 2 per share. Calculate cost of preference share capital if these shares are issued (a) at par, (b) at 10% premium and (c) at 6% discount.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chemeClr val="dk1"/>
              </a:buClr>
              <a:buSzPts val="2600"/>
              <a:buNone/>
            </a:pPr>
            <a:r>
              <a:rPr lang="en-IN" sz="2600"/>
              <a:t>Cost of preference shares </a:t>
            </a:r>
            <a:r>
              <a:rPr lang="en-IN" sz="2600">
                <a:solidFill>
                  <a:srgbClr val="FF0000"/>
                </a:solidFill>
              </a:rPr>
              <a:t>[K</a:t>
            </a:r>
            <a:r>
              <a:rPr baseline="-25000" lang="en-IN" sz="2600">
                <a:solidFill>
                  <a:srgbClr val="FF0000"/>
                </a:solidFill>
              </a:rPr>
              <a:t>p</a:t>
            </a:r>
            <a:r>
              <a:rPr lang="en-IN" sz="2600">
                <a:solidFill>
                  <a:srgbClr val="FF0000"/>
                </a:solidFill>
              </a:rPr>
              <a:t>] </a:t>
            </a:r>
            <a:r>
              <a:rPr lang="en-IN" sz="2600"/>
              <a:t>= </a:t>
            </a:r>
            <a:endParaRPr/>
          </a:p>
          <a:p>
            <a:pPr indent="0" lvl="0" marL="0" rtl="0" algn="just">
              <a:lnSpc>
                <a:spcPct val="90000"/>
              </a:lnSpc>
              <a:spcBef>
                <a:spcPts val="1000"/>
              </a:spcBef>
              <a:spcAft>
                <a:spcPts val="0"/>
              </a:spcAft>
              <a:buClr>
                <a:schemeClr val="dk1"/>
              </a:buClr>
              <a:buSzPts val="2600"/>
              <a:buNone/>
            </a:pPr>
            <a:r>
              <a:t/>
            </a:r>
            <a:endParaRPr sz="2600"/>
          </a:p>
          <a:p>
            <a:pPr indent="-514350" lvl="0" marL="514350" rtl="0" algn="just">
              <a:lnSpc>
                <a:spcPct val="90000"/>
              </a:lnSpc>
              <a:spcBef>
                <a:spcPts val="1000"/>
              </a:spcBef>
              <a:spcAft>
                <a:spcPts val="0"/>
              </a:spcAft>
              <a:buClr>
                <a:srgbClr val="FF0000"/>
              </a:buClr>
              <a:buSzPts val="2600"/>
              <a:buAutoNum type="alphaLcParenR"/>
            </a:pPr>
            <a:r>
              <a:rPr b="1" lang="en-IN" sz="2600">
                <a:solidFill>
                  <a:srgbClr val="FF0000"/>
                </a:solidFill>
              </a:rPr>
              <a:t>Issued at par: </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K</a:t>
            </a:r>
            <a:r>
              <a:rPr baseline="-25000" lang="en-IN" sz="2600">
                <a:solidFill>
                  <a:srgbClr val="FF0000"/>
                </a:solidFill>
              </a:rPr>
              <a:t>p </a:t>
            </a:r>
            <a:r>
              <a:rPr lang="en-IN" sz="2600">
                <a:solidFill>
                  <a:srgbClr val="FF0000"/>
                </a:solidFill>
              </a:rPr>
              <a:t>=</a:t>
            </a:r>
            <a:r>
              <a:rPr baseline="-25000" lang="en-IN" sz="2600">
                <a:solidFill>
                  <a:srgbClr val="FF0000"/>
                </a:solidFill>
              </a:rPr>
              <a:t> </a:t>
            </a:r>
            <a:r>
              <a:rPr lang="en-IN" sz="2600">
                <a:solidFill>
                  <a:srgbClr val="FF0000"/>
                </a:solidFill>
              </a:rPr>
              <a:t>D/N</a:t>
            </a:r>
            <a:r>
              <a:rPr baseline="-25000" lang="en-IN" sz="2600">
                <a:solidFill>
                  <a:srgbClr val="FF0000"/>
                </a:solidFill>
              </a:rPr>
              <a:t>p</a:t>
            </a:r>
            <a:endParaRPr/>
          </a:p>
          <a:p>
            <a:pPr indent="0" lvl="0" marL="0" rtl="0" algn="just">
              <a:lnSpc>
                <a:spcPct val="90000"/>
              </a:lnSpc>
              <a:spcBef>
                <a:spcPts val="1000"/>
              </a:spcBef>
              <a:spcAft>
                <a:spcPts val="0"/>
              </a:spcAft>
              <a:buClr>
                <a:srgbClr val="FF0000"/>
              </a:buClr>
              <a:buSzPts val="2600"/>
              <a:buNone/>
            </a:pPr>
            <a:r>
              <a:rPr baseline="-25000" lang="en-IN" sz="2600">
                <a:solidFill>
                  <a:srgbClr val="FF0000"/>
                </a:solidFill>
              </a:rPr>
              <a:t>	</a:t>
            </a:r>
            <a:r>
              <a:rPr lang="en-IN" sz="2600"/>
              <a:t>= Rs. 1,60,000 / [Rs. 20,00,000 – Rs. 40,000]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p </a:t>
            </a:r>
            <a:r>
              <a:rPr lang="en-IN" sz="2600">
                <a:solidFill>
                  <a:srgbClr val="FF0000"/>
                </a:solidFill>
              </a:rPr>
              <a:t>= 8.16%</a:t>
            </a:r>
            <a:endParaRPr sz="2600">
              <a:solidFill>
                <a:srgbClr val="FF0000"/>
              </a:solidFill>
            </a:endParaRPr>
          </a:p>
        </p:txBody>
      </p:sp>
      <p:pic>
        <p:nvPicPr>
          <p:cNvPr id="284" name="Google Shape;284;p43"/>
          <p:cNvPicPr preferRelativeResize="0"/>
          <p:nvPr/>
        </p:nvPicPr>
        <p:blipFill rotWithShape="1">
          <a:blip r:embed="rId3">
            <a:alphaModFix/>
          </a:blip>
          <a:srcRect b="69295" l="47545" r="49107" t="23559"/>
          <a:stretch/>
        </p:blipFill>
        <p:spPr>
          <a:xfrm>
            <a:off x="5196114" y="2322284"/>
            <a:ext cx="647473" cy="663804"/>
          </a:xfrm>
          <a:prstGeom prst="rect">
            <a:avLst/>
          </a:prstGeom>
          <a:noFill/>
          <a:ln>
            <a:noFill/>
          </a:ln>
        </p:spPr>
      </p:pic>
      <p:pic>
        <p:nvPicPr>
          <p:cNvPr descr="Image result for sastra logo" id="285" name="Google Shape;285;p43"/>
          <p:cNvPicPr preferRelativeResize="0"/>
          <p:nvPr/>
        </p:nvPicPr>
        <p:blipFill rotWithShape="1">
          <a:blip r:embed="rId4">
            <a:alphaModFix/>
          </a:blip>
          <a:srcRect b="0" l="0" r="0" t="0"/>
          <a:stretch/>
        </p:blipFill>
        <p:spPr>
          <a:xfrm>
            <a:off x="9537700" y="241074"/>
            <a:ext cx="1816100" cy="5572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idx="1" type="body"/>
          </p:nvPr>
        </p:nvSpPr>
        <p:spPr>
          <a:xfrm>
            <a:off x="838200" y="870857"/>
            <a:ext cx="10515600" cy="53061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lang="en-IN" sz="2600">
                <a:solidFill>
                  <a:srgbClr val="FF0000"/>
                </a:solidFill>
              </a:rPr>
              <a:t>b) Issued at 10% premium:</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p </a:t>
            </a:r>
            <a:r>
              <a:rPr lang="en-IN" sz="2600">
                <a:solidFill>
                  <a:srgbClr val="FF0000"/>
                </a:solidFill>
              </a:rPr>
              <a:t>=</a:t>
            </a:r>
            <a:r>
              <a:rPr baseline="-25000" lang="en-IN" sz="2600">
                <a:solidFill>
                  <a:srgbClr val="FF0000"/>
                </a:solidFill>
              </a:rPr>
              <a:t> </a:t>
            </a:r>
            <a:r>
              <a:rPr lang="en-IN" sz="2600">
                <a:solidFill>
                  <a:srgbClr val="FF0000"/>
                </a:solidFill>
              </a:rPr>
              <a:t>D/N</a:t>
            </a:r>
            <a:r>
              <a:rPr baseline="-25000" lang="en-IN" sz="2600">
                <a:solidFill>
                  <a:srgbClr val="FF0000"/>
                </a:solidFill>
              </a:rPr>
              <a:t>P</a:t>
            </a:r>
            <a:endParaRPr/>
          </a:p>
          <a:p>
            <a:pPr indent="0" lvl="0" marL="0" rtl="0" algn="just">
              <a:lnSpc>
                <a:spcPct val="90000"/>
              </a:lnSpc>
              <a:spcBef>
                <a:spcPts val="1000"/>
              </a:spcBef>
              <a:spcAft>
                <a:spcPts val="0"/>
              </a:spcAft>
              <a:buClr>
                <a:schemeClr val="dk1"/>
              </a:buClr>
              <a:buSzPts val="2600"/>
              <a:buNone/>
            </a:pPr>
            <a:r>
              <a:rPr lang="en-IN" sz="2600"/>
              <a:t>	D = Rs. 1,60,000, </a:t>
            </a:r>
            <a:endParaRPr/>
          </a:p>
          <a:p>
            <a:pPr indent="0" lvl="0" marL="0" rtl="0" algn="just">
              <a:lnSpc>
                <a:spcPct val="90000"/>
              </a:lnSpc>
              <a:spcBef>
                <a:spcPts val="1000"/>
              </a:spcBef>
              <a:spcAft>
                <a:spcPts val="0"/>
              </a:spcAft>
              <a:buClr>
                <a:schemeClr val="dk1"/>
              </a:buClr>
              <a:buSzPts val="2600"/>
              <a:buNone/>
            </a:pPr>
            <a:r>
              <a:rPr lang="en-IN" sz="2600"/>
              <a:t>	Np = FV + Premium – Floatation cost</a:t>
            </a:r>
            <a:endParaRPr/>
          </a:p>
          <a:p>
            <a:pPr indent="0" lvl="0" marL="0" rtl="0" algn="just">
              <a:lnSpc>
                <a:spcPct val="90000"/>
              </a:lnSpc>
              <a:spcBef>
                <a:spcPts val="1000"/>
              </a:spcBef>
              <a:spcAft>
                <a:spcPts val="0"/>
              </a:spcAft>
              <a:buClr>
                <a:schemeClr val="dk1"/>
              </a:buClr>
              <a:buSzPts val="2600"/>
              <a:buNone/>
            </a:pPr>
            <a:r>
              <a:rPr lang="en-IN" sz="2600"/>
              <a:t>	= Rs. 20,00,000 + Rs. 2,00,000 – Rs. 40,000</a:t>
            </a:r>
            <a:endParaRPr sz="2600"/>
          </a:p>
          <a:p>
            <a:pPr indent="0" lvl="0" marL="0" rtl="0" algn="just">
              <a:lnSpc>
                <a:spcPct val="90000"/>
              </a:lnSpc>
              <a:spcBef>
                <a:spcPts val="1000"/>
              </a:spcBef>
              <a:spcAft>
                <a:spcPts val="0"/>
              </a:spcAft>
              <a:buClr>
                <a:schemeClr val="dk1"/>
              </a:buClr>
              <a:buSzPts val="2600"/>
              <a:buNone/>
            </a:pPr>
            <a:r>
              <a:rPr lang="en-IN" sz="2600"/>
              <a:t>	= Rs. 21,60,000</a:t>
            </a:r>
            <a:endParaRPr/>
          </a:p>
          <a:p>
            <a:pPr indent="0" lvl="0" marL="0" rtl="0" algn="just">
              <a:lnSpc>
                <a:spcPct val="90000"/>
              </a:lnSpc>
              <a:spcBef>
                <a:spcPts val="1000"/>
              </a:spcBef>
              <a:spcAft>
                <a:spcPts val="0"/>
              </a:spcAft>
              <a:buClr>
                <a:schemeClr val="dk1"/>
              </a:buClr>
              <a:buSzPts val="2600"/>
              <a:buNone/>
            </a:pPr>
            <a:r>
              <a:rPr lang="en-IN" sz="2600"/>
              <a:t>	= Rs. 1,60,000 / Rs. 21,60,000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p </a:t>
            </a:r>
            <a:r>
              <a:rPr lang="en-IN" sz="2600">
                <a:solidFill>
                  <a:srgbClr val="FF0000"/>
                </a:solidFill>
              </a:rPr>
              <a:t>= 7.40%</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291" name="Google Shape;291;p44"/>
          <p:cNvPicPr preferRelativeResize="0"/>
          <p:nvPr/>
        </p:nvPicPr>
        <p:blipFill rotWithShape="1">
          <a:blip r:embed="rId3">
            <a:alphaModFix/>
          </a:blip>
          <a:srcRect b="0" l="0" r="0" t="0"/>
          <a:stretch/>
        </p:blipFill>
        <p:spPr>
          <a:xfrm>
            <a:off x="9672611" y="313645"/>
            <a:ext cx="1816100" cy="55721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c) Issued at 6% discount:</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K</a:t>
            </a:r>
            <a:r>
              <a:rPr baseline="-25000" lang="en-IN" sz="2600">
                <a:solidFill>
                  <a:srgbClr val="FF0000"/>
                </a:solidFill>
              </a:rPr>
              <a:t>p </a:t>
            </a:r>
            <a:r>
              <a:rPr lang="en-IN" sz="2600">
                <a:solidFill>
                  <a:srgbClr val="FF0000"/>
                </a:solidFill>
              </a:rPr>
              <a:t>=</a:t>
            </a:r>
            <a:r>
              <a:rPr baseline="-25000" lang="en-IN" sz="2600">
                <a:solidFill>
                  <a:srgbClr val="FF0000"/>
                </a:solidFill>
              </a:rPr>
              <a:t> </a:t>
            </a:r>
            <a:r>
              <a:rPr lang="en-IN" sz="2600">
                <a:solidFill>
                  <a:srgbClr val="FF0000"/>
                </a:solidFill>
              </a:rPr>
              <a:t>D/Np</a:t>
            </a:r>
            <a:endParaRPr/>
          </a:p>
          <a:p>
            <a:pPr indent="0" lvl="0" marL="0" rtl="0" algn="just">
              <a:lnSpc>
                <a:spcPct val="90000"/>
              </a:lnSpc>
              <a:spcBef>
                <a:spcPts val="1000"/>
              </a:spcBef>
              <a:spcAft>
                <a:spcPts val="0"/>
              </a:spcAft>
              <a:buClr>
                <a:schemeClr val="dk1"/>
              </a:buClr>
              <a:buSzPts val="2600"/>
              <a:buNone/>
            </a:pPr>
            <a:r>
              <a:rPr lang="en-IN" sz="2600"/>
              <a:t>	D = Rs. 1,60,000, </a:t>
            </a:r>
            <a:endParaRPr/>
          </a:p>
          <a:p>
            <a:pPr indent="0" lvl="0" marL="0" rtl="0" algn="just">
              <a:lnSpc>
                <a:spcPct val="90000"/>
              </a:lnSpc>
              <a:spcBef>
                <a:spcPts val="1000"/>
              </a:spcBef>
              <a:spcAft>
                <a:spcPts val="0"/>
              </a:spcAft>
              <a:buClr>
                <a:schemeClr val="dk1"/>
              </a:buClr>
              <a:buSzPts val="2600"/>
              <a:buNone/>
            </a:pPr>
            <a:r>
              <a:rPr lang="en-IN" sz="2600"/>
              <a:t>	Np = FV - Discount – Floatation cost</a:t>
            </a:r>
            <a:endParaRPr/>
          </a:p>
          <a:p>
            <a:pPr indent="0" lvl="0" marL="0" rtl="0" algn="just">
              <a:lnSpc>
                <a:spcPct val="90000"/>
              </a:lnSpc>
              <a:spcBef>
                <a:spcPts val="1000"/>
              </a:spcBef>
              <a:spcAft>
                <a:spcPts val="0"/>
              </a:spcAft>
              <a:buClr>
                <a:schemeClr val="dk1"/>
              </a:buClr>
              <a:buSzPts val="2600"/>
              <a:buNone/>
            </a:pPr>
            <a:r>
              <a:rPr lang="en-IN" sz="2600"/>
              <a:t>	= Rs. 20,00,000 - Rs. 1,20,000 – Rs. 40,000</a:t>
            </a:r>
            <a:endParaRPr sz="2600"/>
          </a:p>
          <a:p>
            <a:pPr indent="0" lvl="0" marL="0" rtl="0" algn="just">
              <a:lnSpc>
                <a:spcPct val="90000"/>
              </a:lnSpc>
              <a:spcBef>
                <a:spcPts val="1000"/>
              </a:spcBef>
              <a:spcAft>
                <a:spcPts val="0"/>
              </a:spcAft>
              <a:buClr>
                <a:schemeClr val="dk1"/>
              </a:buClr>
              <a:buSzPts val="2600"/>
              <a:buNone/>
            </a:pPr>
            <a:r>
              <a:rPr lang="en-IN" sz="2600"/>
              <a:t>	= Rs. 18,40,000</a:t>
            </a:r>
            <a:endParaRPr sz="2600"/>
          </a:p>
          <a:p>
            <a:pPr indent="0" lvl="0" marL="0" rtl="0" algn="just">
              <a:lnSpc>
                <a:spcPct val="90000"/>
              </a:lnSpc>
              <a:spcBef>
                <a:spcPts val="1000"/>
              </a:spcBef>
              <a:spcAft>
                <a:spcPts val="0"/>
              </a:spcAft>
              <a:buClr>
                <a:schemeClr val="dk1"/>
              </a:buClr>
              <a:buSzPts val="2600"/>
              <a:buNone/>
            </a:pPr>
            <a:r>
              <a:rPr lang="en-IN" sz="2600"/>
              <a:t>	= Rs. 1,60,000/Rs. 18,40,000</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p </a:t>
            </a:r>
            <a:r>
              <a:rPr lang="en-IN" sz="2600">
                <a:solidFill>
                  <a:srgbClr val="FF0000"/>
                </a:solidFill>
              </a:rPr>
              <a:t>= 8.69%</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297" name="Google Shape;297;p45"/>
          <p:cNvPicPr preferRelativeResize="0"/>
          <p:nvPr/>
        </p:nvPicPr>
        <p:blipFill rotWithShape="1">
          <a:blip r:embed="rId3">
            <a:alphaModFix/>
          </a:blip>
          <a:srcRect b="0" l="0" r="0" t="0"/>
          <a:stretch/>
        </p:blipFill>
        <p:spPr>
          <a:xfrm>
            <a:off x="9537700" y="357188"/>
            <a:ext cx="1816100" cy="5572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idx="1" type="body"/>
          </p:nvPr>
        </p:nvSpPr>
        <p:spPr>
          <a:xfrm>
            <a:off x="838200" y="857250"/>
            <a:ext cx="10515600" cy="542925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600"/>
              <a:buNone/>
            </a:pPr>
            <a:r>
              <a:rPr lang="en-IN" sz="2600"/>
              <a:t>P4. ABC Ltd. issues 20,000, 8% preference shares of Rs. 100 each. Redeemable after 8 years at a premium of 10%. The cost of issue is Rs. 2 per share. Calculate the cost of preference share capital.</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Cost of preference shares =</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D = Rs. 1,60,000, P = Rs. 22,00,000, Np = Rs. 19,60,000, n= 8 </a:t>
            </a:r>
            <a:endParaRPr/>
          </a:p>
          <a:p>
            <a:pPr indent="0" lvl="0" marL="0" rtl="0" algn="just">
              <a:lnSpc>
                <a:spcPct val="90000"/>
              </a:lnSpc>
              <a:spcBef>
                <a:spcPts val="1000"/>
              </a:spcBef>
              <a:spcAft>
                <a:spcPts val="0"/>
              </a:spcAft>
              <a:buClr>
                <a:schemeClr val="dk1"/>
              </a:buClr>
              <a:buSzPts val="2600"/>
              <a:buNone/>
            </a:pPr>
            <a:r>
              <a:rPr lang="en-IN" sz="2600"/>
              <a:t>	= Rs. 1,60,000 + {[Rs. 22,00,000 – Rs. 19,60,000] / 8} / {[Rs. 22,00,000  + Rs. 19,60,000] / 2}</a:t>
            </a:r>
            <a:endParaRPr/>
          </a:p>
          <a:p>
            <a:pPr indent="0" lvl="0" marL="0" rtl="0" algn="just">
              <a:lnSpc>
                <a:spcPct val="90000"/>
              </a:lnSpc>
              <a:spcBef>
                <a:spcPts val="1000"/>
              </a:spcBef>
              <a:spcAft>
                <a:spcPts val="0"/>
              </a:spcAft>
              <a:buClr>
                <a:schemeClr val="dk1"/>
              </a:buClr>
              <a:buSzPts val="2600"/>
              <a:buNone/>
            </a:pPr>
            <a:r>
              <a:rPr lang="en-IN" sz="2600"/>
              <a:t>	= Rs. 1,60,000 + Rs. 30,000 / Rs. 20,80,000</a:t>
            </a:r>
            <a:endParaRPr/>
          </a:p>
          <a:p>
            <a:pPr indent="0" lvl="0" marL="0" rtl="0" algn="just">
              <a:lnSpc>
                <a:spcPct val="90000"/>
              </a:lnSpc>
              <a:spcBef>
                <a:spcPts val="1000"/>
              </a:spcBef>
              <a:spcAft>
                <a:spcPts val="0"/>
              </a:spcAft>
              <a:buClr>
                <a:schemeClr val="dk1"/>
              </a:buClr>
              <a:buSzPts val="2600"/>
              <a:buNone/>
            </a:pPr>
            <a:r>
              <a:rPr lang="en-IN" sz="2600"/>
              <a:t>	= 1,90,000/20,80,000</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 9.13%</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a:t>
            </a:r>
            <a:endParaRPr sz="2600">
              <a:solidFill>
                <a:srgbClr val="FF0000"/>
              </a:solidFill>
            </a:endParaRPr>
          </a:p>
        </p:txBody>
      </p:sp>
      <p:pic>
        <p:nvPicPr>
          <p:cNvPr id="303" name="Google Shape;303;p46"/>
          <p:cNvPicPr preferRelativeResize="0"/>
          <p:nvPr/>
        </p:nvPicPr>
        <p:blipFill rotWithShape="1">
          <a:blip r:embed="rId3">
            <a:alphaModFix/>
          </a:blip>
          <a:srcRect b="42312" l="44088" r="43864" t="51735"/>
          <a:stretch/>
        </p:blipFill>
        <p:spPr>
          <a:xfrm>
            <a:off x="4637137" y="2228633"/>
            <a:ext cx="2363107" cy="899886"/>
          </a:xfrm>
          <a:prstGeom prst="rect">
            <a:avLst/>
          </a:prstGeom>
          <a:noFill/>
          <a:ln>
            <a:noFill/>
          </a:ln>
        </p:spPr>
      </p:pic>
      <p:pic>
        <p:nvPicPr>
          <p:cNvPr descr="Image result for sastra logo" id="304" name="Google Shape;304;p46"/>
          <p:cNvPicPr preferRelativeResize="0"/>
          <p:nvPr/>
        </p:nvPicPr>
        <p:blipFill rotWithShape="1">
          <a:blip r:embed="rId4">
            <a:alphaModFix/>
          </a:blip>
          <a:srcRect b="0" l="0" r="0" t="0"/>
          <a:stretch/>
        </p:blipFill>
        <p:spPr>
          <a:xfrm>
            <a:off x="9537700" y="300038"/>
            <a:ext cx="1816100" cy="5572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7"/>
          <p:cNvSpPr txBox="1"/>
          <p:nvPr>
            <p:ph idx="1" type="body"/>
          </p:nvPr>
        </p:nvSpPr>
        <p:spPr>
          <a:xfrm>
            <a:off x="838200" y="742950"/>
            <a:ext cx="10515600" cy="543401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3. Cost of Equity (K</a:t>
            </a:r>
            <a:r>
              <a:rPr b="1" baseline="-25000" lang="en-IN" sz="2600">
                <a:solidFill>
                  <a:srgbClr val="FF0000"/>
                </a:solidFill>
              </a:rPr>
              <a:t>e</a:t>
            </a:r>
            <a:r>
              <a:rPr b="1" lang="en-IN" sz="2600">
                <a:solidFill>
                  <a:srgbClr val="FF0000"/>
                </a:solidFill>
              </a:rPr>
              <a:t>): </a:t>
            </a:r>
            <a:endParaRPr/>
          </a:p>
          <a:p>
            <a:pPr indent="0" lvl="0" marL="0" rtl="0" algn="just">
              <a:lnSpc>
                <a:spcPct val="90000"/>
              </a:lnSpc>
              <a:spcBef>
                <a:spcPts val="1000"/>
              </a:spcBef>
              <a:spcAft>
                <a:spcPts val="0"/>
              </a:spcAft>
              <a:buClr>
                <a:schemeClr val="dk1"/>
              </a:buClr>
              <a:buSzPts val="2600"/>
              <a:buNone/>
            </a:pPr>
            <a:r>
              <a:rPr lang="en-IN" sz="2600"/>
              <a:t>Cost of equity capital is the rate at which investors discount the expected dividends of the firm to determine its share value. Conceptually the cost of equity capital (K</a:t>
            </a:r>
            <a:r>
              <a:rPr baseline="-25000" lang="en-IN" sz="2600"/>
              <a:t>e</a:t>
            </a:r>
            <a:r>
              <a:rPr lang="en-IN" sz="2600"/>
              <a:t>) defined as the </a:t>
            </a:r>
            <a:r>
              <a:rPr lang="en-IN" sz="2600">
                <a:solidFill>
                  <a:srgbClr val="FF0000"/>
                </a:solidFill>
              </a:rPr>
              <a:t>“Minimum rate of return that a firm must earn on the equity financed portion of an investment project in order to leave unchanged the market price of the shares”.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Cost of equity can be calculated from the following approach: </a:t>
            </a:r>
            <a:endParaRPr sz="2600"/>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Dividend price approach (D/P)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Dividend price plus growth approach (D/P + g)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Earning price approach (E/P)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Realized yield approach.</a:t>
            </a:r>
            <a:endParaRPr/>
          </a:p>
        </p:txBody>
      </p:sp>
      <p:pic>
        <p:nvPicPr>
          <p:cNvPr descr="Image result for sastra logo" id="310" name="Google Shape;310;p47"/>
          <p:cNvPicPr preferRelativeResize="0"/>
          <p:nvPr/>
        </p:nvPicPr>
        <p:blipFill rotWithShape="1">
          <a:blip r:embed="rId3">
            <a:alphaModFix/>
          </a:blip>
          <a:srcRect b="0" l="0" r="0" t="0"/>
          <a:stretch/>
        </p:blipFill>
        <p:spPr>
          <a:xfrm>
            <a:off x="9537700" y="185738"/>
            <a:ext cx="1816100" cy="5572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8"/>
          <p:cNvSpPr txBox="1"/>
          <p:nvPr>
            <p:ph idx="1" type="body"/>
          </p:nvPr>
        </p:nvSpPr>
        <p:spPr>
          <a:xfrm>
            <a:off x="838200" y="771525"/>
            <a:ext cx="10515600" cy="54054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a) Dividend Price Approach(D/P): </a:t>
            </a:r>
            <a:endParaRPr/>
          </a:p>
          <a:p>
            <a:pPr indent="0" lvl="0" marL="0" rtl="0" algn="just">
              <a:lnSpc>
                <a:spcPct val="90000"/>
              </a:lnSpc>
              <a:spcBef>
                <a:spcPts val="1000"/>
              </a:spcBef>
              <a:spcAft>
                <a:spcPts val="0"/>
              </a:spcAft>
              <a:buClr>
                <a:schemeClr val="dk1"/>
              </a:buClr>
              <a:buSzPts val="2600"/>
              <a:buNone/>
            </a:pPr>
            <a:r>
              <a:rPr lang="en-IN" sz="2600"/>
              <a:t>The cost of equity capital will be that rate of expected dividend which will maintain the present market price of equity shares. Dividend price approach can be measured with the help of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Ke = Cost of equity capital </a:t>
            </a:r>
            <a:endParaRPr sz="2600"/>
          </a:p>
          <a:p>
            <a:pPr indent="0" lvl="0" marL="0" rtl="0" algn="just">
              <a:lnSpc>
                <a:spcPct val="90000"/>
              </a:lnSpc>
              <a:spcBef>
                <a:spcPts val="1000"/>
              </a:spcBef>
              <a:spcAft>
                <a:spcPts val="0"/>
              </a:spcAft>
              <a:buClr>
                <a:schemeClr val="dk1"/>
              </a:buClr>
              <a:buSzPts val="2600"/>
              <a:buNone/>
            </a:pPr>
            <a:r>
              <a:rPr lang="en-IN" sz="2600"/>
              <a:t>D = Dividend per equity share </a:t>
            </a:r>
            <a:endParaRPr sz="2600"/>
          </a:p>
          <a:p>
            <a:pPr indent="0" lvl="0" marL="0" rtl="0" algn="just">
              <a:lnSpc>
                <a:spcPct val="90000"/>
              </a:lnSpc>
              <a:spcBef>
                <a:spcPts val="1000"/>
              </a:spcBef>
              <a:spcAft>
                <a:spcPts val="0"/>
              </a:spcAft>
              <a:buClr>
                <a:schemeClr val="dk1"/>
              </a:buClr>
              <a:buSzPts val="2600"/>
              <a:buNone/>
            </a:pPr>
            <a:r>
              <a:rPr lang="en-IN" sz="2600"/>
              <a:t>Np = Net proceeds of an equity share (FV)</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id="316" name="Google Shape;316;p48"/>
          <p:cNvPicPr preferRelativeResize="0"/>
          <p:nvPr/>
        </p:nvPicPr>
        <p:blipFill rotWithShape="1">
          <a:blip r:embed="rId3">
            <a:alphaModFix/>
          </a:blip>
          <a:srcRect b="52653" l="44180" r="50988" t="40401"/>
          <a:stretch/>
        </p:blipFill>
        <p:spPr>
          <a:xfrm>
            <a:off x="5815014" y="2486026"/>
            <a:ext cx="1128712" cy="785812"/>
          </a:xfrm>
          <a:prstGeom prst="rect">
            <a:avLst/>
          </a:prstGeom>
          <a:noFill/>
          <a:ln>
            <a:noFill/>
          </a:ln>
        </p:spPr>
      </p:pic>
      <p:pic>
        <p:nvPicPr>
          <p:cNvPr descr="Image result for sastra logo" id="317" name="Google Shape;317;p48"/>
          <p:cNvPicPr preferRelativeResize="0"/>
          <p:nvPr/>
        </p:nvPicPr>
        <p:blipFill rotWithShape="1">
          <a:blip r:embed="rId4">
            <a:alphaModFix/>
          </a:blip>
          <a:srcRect b="0" l="0" r="0" t="0"/>
          <a:stretch/>
        </p:blipFill>
        <p:spPr>
          <a:xfrm>
            <a:off x="9537700" y="214313"/>
            <a:ext cx="1816100" cy="55721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idx="1" type="body"/>
          </p:nvPr>
        </p:nvSpPr>
        <p:spPr>
          <a:xfrm>
            <a:off x="781050" y="871538"/>
            <a:ext cx="10515600" cy="53340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P6. A company issues 10,000 equity shares of Rs. 100 each at a premium of 10%. The company has been paying 25% dividend to equity shareholders for the past five years and expects to maintain the same in the future also. Compute the cost of equity capital. Will it make any difference if the market price of equity share is Rs. 175?</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 Calculation of K</a:t>
            </a:r>
            <a:r>
              <a:rPr b="1" baseline="-25000" lang="en-IN" sz="2600">
                <a:solidFill>
                  <a:srgbClr val="FF0000"/>
                </a:solidFill>
              </a:rPr>
              <a:t>e</a:t>
            </a:r>
            <a:r>
              <a:rPr b="1" lang="en-IN" sz="2600">
                <a:solidFill>
                  <a:srgbClr val="FF0000"/>
                </a:solidFill>
              </a:rPr>
              <a:t>:</a:t>
            </a:r>
            <a:endParaRPr/>
          </a:p>
          <a:p>
            <a:pPr indent="0" lvl="0" marL="0" rtl="0" algn="just">
              <a:lnSpc>
                <a:spcPct val="90000"/>
              </a:lnSpc>
              <a:spcBef>
                <a:spcPts val="1000"/>
              </a:spcBef>
              <a:spcAft>
                <a:spcPts val="0"/>
              </a:spcAft>
              <a:buClr>
                <a:schemeClr val="dk1"/>
              </a:buClr>
              <a:buSzPts val="2600"/>
              <a:buNone/>
            </a:pPr>
            <a:r>
              <a:rPr lang="en-IN" sz="2600"/>
              <a:t>	K</a:t>
            </a:r>
            <a:r>
              <a:rPr baseline="-25000" lang="en-IN" sz="2600"/>
              <a:t>e</a:t>
            </a:r>
            <a:r>
              <a:rPr lang="en-IN" sz="2600"/>
              <a:t> = D/N</a:t>
            </a:r>
            <a:r>
              <a:rPr baseline="-25000" lang="en-IN" sz="2600"/>
              <a:t>p</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Rs.25/Rs.110 [Rs. 100+Rs.10]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22.73%</a:t>
            </a:r>
            <a:endParaRPr/>
          </a:p>
        </p:txBody>
      </p:sp>
      <p:pic>
        <p:nvPicPr>
          <p:cNvPr descr="Image result for sastra logo" id="323" name="Google Shape;323;p49"/>
          <p:cNvPicPr preferRelativeResize="0"/>
          <p:nvPr/>
        </p:nvPicPr>
        <p:blipFill rotWithShape="1">
          <a:blip r:embed="rId3">
            <a:alphaModFix/>
          </a:blip>
          <a:srcRect b="0" l="0" r="0" t="0"/>
          <a:stretch/>
        </p:blipFill>
        <p:spPr>
          <a:xfrm>
            <a:off x="9480550" y="314326"/>
            <a:ext cx="1816100" cy="55721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body"/>
          </p:nvPr>
        </p:nvSpPr>
        <p:spPr>
          <a:xfrm>
            <a:off x="838200" y="1000125"/>
            <a:ext cx="10515600" cy="51768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b) If the market price of a equity share is Rs. 175.</a:t>
            </a:r>
            <a:endParaRPr/>
          </a:p>
          <a:p>
            <a:pPr indent="0" lvl="0" marL="0" rtl="0" algn="just">
              <a:lnSpc>
                <a:spcPct val="90000"/>
              </a:lnSpc>
              <a:spcBef>
                <a:spcPts val="1000"/>
              </a:spcBef>
              <a:spcAft>
                <a:spcPts val="0"/>
              </a:spcAft>
              <a:buClr>
                <a:schemeClr val="dk1"/>
              </a:buClr>
              <a:buSzPts val="2600"/>
              <a:buNone/>
            </a:pPr>
            <a:r>
              <a:rPr lang="en-IN" sz="2600"/>
              <a:t>	K</a:t>
            </a:r>
            <a:r>
              <a:rPr baseline="-25000" lang="en-IN" sz="2600"/>
              <a:t>e</a:t>
            </a:r>
            <a:r>
              <a:rPr lang="en-IN" sz="2600"/>
              <a:t> = D/MP</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	     = Rs. 25/Rs. 175</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Ke = 14.28%</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pic>
        <p:nvPicPr>
          <p:cNvPr descr="Image result for sastra logo" id="329" name="Google Shape;329;p50"/>
          <p:cNvPicPr preferRelativeResize="0"/>
          <p:nvPr/>
        </p:nvPicPr>
        <p:blipFill rotWithShape="1">
          <a:blip r:embed="rId3">
            <a:alphaModFix/>
          </a:blip>
          <a:srcRect b="0" l="0" r="0" t="0"/>
          <a:stretch/>
        </p:blipFill>
        <p:spPr>
          <a:xfrm>
            <a:off x="9537700" y="442913"/>
            <a:ext cx="1816100" cy="5572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idx="1" type="body"/>
          </p:nvPr>
        </p:nvSpPr>
        <p:spPr>
          <a:xfrm>
            <a:off x="838200" y="842963"/>
            <a:ext cx="10515600" cy="53340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Dividend Price Plus Growth Approach (D/P + g): </a:t>
            </a:r>
            <a:endParaRPr/>
          </a:p>
          <a:p>
            <a:pPr indent="0" lvl="0" marL="0" rtl="0" algn="just">
              <a:lnSpc>
                <a:spcPct val="90000"/>
              </a:lnSpc>
              <a:spcBef>
                <a:spcPts val="1000"/>
              </a:spcBef>
              <a:spcAft>
                <a:spcPts val="0"/>
              </a:spcAft>
              <a:buClr>
                <a:schemeClr val="dk1"/>
              </a:buClr>
              <a:buSzPts val="2600"/>
              <a:buNone/>
            </a:pPr>
            <a:r>
              <a:rPr lang="en-IN" sz="2600"/>
              <a:t>The cost of equity is calculated on the basis of the expected dividend rate per share plus growth in dividend. It can be measured with the help of the following formula:</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a:t>
            </a:r>
            <a:r>
              <a:rPr baseline="-25000" lang="en-IN" sz="2600"/>
              <a:t>e</a:t>
            </a:r>
            <a:r>
              <a:rPr lang="en-IN" sz="2600"/>
              <a:t> = Cost of equity capital </a:t>
            </a:r>
            <a:endParaRPr sz="2600"/>
          </a:p>
          <a:p>
            <a:pPr indent="0" lvl="0" marL="0" rtl="0" algn="just">
              <a:lnSpc>
                <a:spcPct val="90000"/>
              </a:lnSpc>
              <a:spcBef>
                <a:spcPts val="1000"/>
              </a:spcBef>
              <a:spcAft>
                <a:spcPts val="0"/>
              </a:spcAft>
              <a:buClr>
                <a:schemeClr val="dk1"/>
              </a:buClr>
              <a:buSzPts val="2600"/>
              <a:buNone/>
            </a:pPr>
            <a:r>
              <a:rPr lang="en-IN" sz="2600"/>
              <a:t>D = Dividend per equity share </a:t>
            </a:r>
            <a:endParaRPr sz="2600"/>
          </a:p>
          <a:p>
            <a:pPr indent="0" lvl="0" marL="0" rtl="0" algn="just">
              <a:lnSpc>
                <a:spcPct val="90000"/>
              </a:lnSpc>
              <a:spcBef>
                <a:spcPts val="1000"/>
              </a:spcBef>
              <a:spcAft>
                <a:spcPts val="0"/>
              </a:spcAft>
              <a:buClr>
                <a:schemeClr val="dk1"/>
              </a:buClr>
              <a:buSzPts val="2600"/>
              <a:buNone/>
            </a:pPr>
            <a:r>
              <a:rPr lang="en-IN" sz="2600"/>
              <a:t>g = Growth in expected dividend </a:t>
            </a:r>
            <a:endParaRPr sz="2600"/>
          </a:p>
          <a:p>
            <a:pPr indent="0" lvl="0" marL="0" rtl="0" algn="just">
              <a:lnSpc>
                <a:spcPct val="90000"/>
              </a:lnSpc>
              <a:spcBef>
                <a:spcPts val="1000"/>
              </a:spcBef>
              <a:spcAft>
                <a:spcPts val="0"/>
              </a:spcAft>
              <a:buClr>
                <a:schemeClr val="dk1"/>
              </a:buClr>
              <a:buSzPts val="2600"/>
              <a:buNone/>
            </a:pPr>
            <a:r>
              <a:rPr lang="en-IN" sz="2600"/>
              <a:t>N</a:t>
            </a:r>
            <a:r>
              <a:rPr baseline="-25000" lang="en-IN" sz="2600"/>
              <a:t>p</a:t>
            </a:r>
            <a:r>
              <a:rPr lang="en-IN" sz="2600"/>
              <a:t> = Net proceeds of an equity share</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335" name="Google Shape;335;p51"/>
          <p:cNvPicPr preferRelativeResize="0"/>
          <p:nvPr/>
        </p:nvPicPr>
        <p:blipFill rotWithShape="1">
          <a:blip r:embed="rId3">
            <a:alphaModFix/>
          </a:blip>
          <a:srcRect b="44922" l="41910" r="50732" t="47852"/>
          <a:stretch/>
        </p:blipFill>
        <p:spPr>
          <a:xfrm>
            <a:off x="4510088" y="2528888"/>
            <a:ext cx="1585912" cy="757237"/>
          </a:xfrm>
          <a:prstGeom prst="rect">
            <a:avLst/>
          </a:prstGeom>
          <a:noFill/>
          <a:ln>
            <a:noFill/>
          </a:ln>
        </p:spPr>
      </p:pic>
      <p:pic>
        <p:nvPicPr>
          <p:cNvPr descr="Image result for sastra logo" id="336" name="Google Shape;336;p51"/>
          <p:cNvPicPr preferRelativeResize="0"/>
          <p:nvPr/>
        </p:nvPicPr>
        <p:blipFill rotWithShape="1">
          <a:blip r:embed="rId4">
            <a:alphaModFix/>
          </a:blip>
          <a:srcRect b="0" l="0" r="0" t="0"/>
          <a:stretch/>
        </p:blipFill>
        <p:spPr>
          <a:xfrm>
            <a:off x="9537700" y="285751"/>
            <a:ext cx="1816100" cy="55721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2"/>
          <p:cNvSpPr txBox="1"/>
          <p:nvPr>
            <p:ph idx="1" type="body"/>
          </p:nvPr>
        </p:nvSpPr>
        <p:spPr>
          <a:xfrm>
            <a:off x="838200" y="842964"/>
            <a:ext cx="10515600" cy="53340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P7. A company plans to issue 10,000 new shares of Rs. 100 each at a par. The floatation costs are expected to be 4% of the share price. The company pays a dividend of Rs. 12 per share initially and growth in dividends is expected to be 5%. Compute the cost of new issue of equity shares. If the current market price of an equity share is Rs. 120. Calculate the cost of existing equity share capital.</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 Calculation of cost of equity: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{Rs. 12/[Rs. 100 – 4]} + 5%</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12.5 % + 5%</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a:t>
            </a:r>
            <a:r>
              <a:rPr lang="en-IN" sz="2600"/>
              <a:t> </a:t>
            </a:r>
            <a:r>
              <a:rPr lang="en-IN" sz="2600">
                <a:solidFill>
                  <a:srgbClr val="FF0000"/>
                </a:solidFill>
              </a:rPr>
              <a:t>Ke = 17.5%</a:t>
            </a:r>
            <a:endParaRPr sz="2600">
              <a:solidFill>
                <a:srgbClr val="FF0000"/>
              </a:solidFill>
            </a:endParaRPr>
          </a:p>
        </p:txBody>
      </p:sp>
      <p:pic>
        <p:nvPicPr>
          <p:cNvPr descr="Image result for sastra logo" id="342" name="Google Shape;342;p52"/>
          <p:cNvPicPr preferRelativeResize="0"/>
          <p:nvPr/>
        </p:nvPicPr>
        <p:blipFill rotWithShape="1">
          <a:blip r:embed="rId3">
            <a:alphaModFix/>
          </a:blip>
          <a:srcRect b="0" l="0" r="0" t="0"/>
          <a:stretch/>
        </p:blipFill>
        <p:spPr>
          <a:xfrm>
            <a:off x="9537700" y="285752"/>
            <a:ext cx="1816100" cy="55721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3"/>
          <p:cNvSpPr txBox="1"/>
          <p:nvPr>
            <p:ph idx="1" type="body"/>
          </p:nvPr>
        </p:nvSpPr>
        <p:spPr>
          <a:xfrm>
            <a:off x="838200" y="828675"/>
            <a:ext cx="10515600" cy="53482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b) Calculation of cost of equity:</a:t>
            </a:r>
            <a:endParaRPr/>
          </a:p>
          <a:p>
            <a:pPr indent="0" lvl="0" marL="0" rtl="0" algn="l">
              <a:lnSpc>
                <a:spcPct val="90000"/>
              </a:lnSpc>
              <a:spcBef>
                <a:spcPts val="1000"/>
              </a:spcBef>
              <a:spcAft>
                <a:spcPts val="0"/>
              </a:spcAft>
              <a:buClr>
                <a:schemeClr val="dk1"/>
              </a:buClr>
              <a:buSzPts val="2600"/>
              <a:buNone/>
            </a:pPr>
            <a:r>
              <a:rPr lang="en-IN" sz="2600"/>
              <a:t>If the Market price of equity share is Rs.120.</a:t>
            </a:r>
            <a:endParaRPr/>
          </a:p>
          <a:p>
            <a:pPr indent="0" lvl="0" marL="0" rtl="0" algn="l">
              <a:lnSpc>
                <a:spcPct val="90000"/>
              </a:lnSpc>
              <a:spcBef>
                <a:spcPts val="1000"/>
              </a:spcBef>
              <a:spcAft>
                <a:spcPts val="0"/>
              </a:spcAft>
              <a:buClr>
                <a:schemeClr val="dk1"/>
              </a:buClr>
              <a:buSzPts val="2600"/>
              <a:buNone/>
            </a:pPr>
            <a:r>
              <a:rPr lang="en-IN" sz="2600"/>
              <a:t>	= [Rs. 12/Rs. 120] +5%</a:t>
            </a:r>
            <a:endParaRPr/>
          </a:p>
          <a:p>
            <a:pPr indent="0" lvl="0" marL="0" rtl="0" algn="l">
              <a:lnSpc>
                <a:spcPct val="90000"/>
              </a:lnSpc>
              <a:spcBef>
                <a:spcPts val="1000"/>
              </a:spcBef>
              <a:spcAft>
                <a:spcPts val="0"/>
              </a:spcAft>
              <a:buClr>
                <a:schemeClr val="dk1"/>
              </a:buClr>
              <a:buSzPts val="2600"/>
              <a:buNone/>
            </a:pPr>
            <a:r>
              <a:rPr lang="en-IN" sz="2600"/>
              <a:t>	= 10% +5%</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a:t>
            </a:r>
            <a:r>
              <a:rPr lang="en-IN" sz="2600"/>
              <a:t> </a:t>
            </a:r>
            <a:r>
              <a:rPr lang="en-IN" sz="2600">
                <a:solidFill>
                  <a:srgbClr val="FF0000"/>
                </a:solidFill>
              </a:rPr>
              <a:t>K</a:t>
            </a:r>
            <a:r>
              <a:rPr baseline="-25000" lang="en-IN" sz="2600">
                <a:solidFill>
                  <a:srgbClr val="FF0000"/>
                </a:solidFill>
              </a:rPr>
              <a:t>e </a:t>
            </a:r>
            <a:r>
              <a:rPr lang="en-IN" sz="2600">
                <a:solidFill>
                  <a:srgbClr val="FF0000"/>
                </a:solidFill>
              </a:rPr>
              <a:t>= 15%</a:t>
            </a:r>
            <a:endParaRPr sz="2600">
              <a:solidFill>
                <a:srgbClr val="FF0000"/>
              </a:solidFill>
            </a:endParaRPr>
          </a:p>
        </p:txBody>
      </p:sp>
      <p:pic>
        <p:nvPicPr>
          <p:cNvPr descr="Image result for sastra logo" id="348" name="Google Shape;348;p53"/>
          <p:cNvPicPr preferRelativeResize="0"/>
          <p:nvPr/>
        </p:nvPicPr>
        <p:blipFill rotWithShape="1">
          <a:blip r:embed="rId3">
            <a:alphaModFix/>
          </a:blip>
          <a:srcRect b="0" l="0" r="0" t="0"/>
          <a:stretch/>
        </p:blipFill>
        <p:spPr>
          <a:xfrm>
            <a:off x="9537700" y="271463"/>
            <a:ext cx="1816100" cy="55721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body"/>
          </p:nvPr>
        </p:nvSpPr>
        <p:spPr>
          <a:xfrm>
            <a:off x="838200" y="814388"/>
            <a:ext cx="10515600" cy="536257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P8. The current market price of the shares of A Ltd. is Rs. 95. The floatation costs are Rs. 5 per share. The amount of dividend per share is Rs. 4.50 and is expected to grow at a rate of 7%. You are required to calculate the cost of equity share capital.</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Calculation of K</a:t>
            </a:r>
            <a:r>
              <a:rPr b="1" baseline="-25000" lang="en-IN" sz="2600">
                <a:solidFill>
                  <a:srgbClr val="FF0000"/>
                </a:solidFill>
              </a:rPr>
              <a:t>e</a:t>
            </a:r>
            <a:r>
              <a:rPr b="1" lang="en-IN" sz="2600">
                <a:solidFill>
                  <a:srgbClr val="FF0000"/>
                </a:solidFill>
              </a:rPr>
              <a: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[Rs. 4.50 / Rs. 95]+ 7%</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4.73% + 7%</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11.73%</a:t>
            </a:r>
            <a:endParaRPr/>
          </a:p>
        </p:txBody>
      </p:sp>
      <p:pic>
        <p:nvPicPr>
          <p:cNvPr descr="Image result for sastra logo" id="354" name="Google Shape;354;p54"/>
          <p:cNvPicPr preferRelativeResize="0"/>
          <p:nvPr/>
        </p:nvPicPr>
        <p:blipFill rotWithShape="1">
          <a:blip r:embed="rId3">
            <a:alphaModFix/>
          </a:blip>
          <a:srcRect b="0" l="0" r="0" t="0"/>
          <a:stretch/>
        </p:blipFill>
        <p:spPr>
          <a:xfrm>
            <a:off x="9537700" y="257176"/>
            <a:ext cx="1816100" cy="55721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5"/>
          <p:cNvSpPr txBox="1"/>
          <p:nvPr>
            <p:ph idx="1" type="body"/>
          </p:nvPr>
        </p:nvSpPr>
        <p:spPr>
          <a:xfrm>
            <a:off x="838200" y="814388"/>
            <a:ext cx="10515600" cy="536257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 Earning Price Approach:</a:t>
            </a:r>
            <a:endParaRPr/>
          </a:p>
          <a:p>
            <a:pPr indent="0" lvl="0" marL="0" rtl="0" algn="just">
              <a:lnSpc>
                <a:spcPct val="90000"/>
              </a:lnSpc>
              <a:spcBef>
                <a:spcPts val="1000"/>
              </a:spcBef>
              <a:spcAft>
                <a:spcPts val="0"/>
              </a:spcAft>
              <a:buClr>
                <a:schemeClr val="dk1"/>
              </a:buClr>
              <a:buSzPts val="2600"/>
              <a:buNone/>
            </a:pPr>
            <a:r>
              <a:rPr lang="en-IN" sz="2600"/>
              <a:t>Cost of equity determines the market price of the shares. It is based on the future earning prospects of the equity. The formula for calculating the cost of equity according to this approach is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a:t>
            </a:r>
            <a:r>
              <a:rPr baseline="-25000" lang="en-IN" sz="2600"/>
              <a:t>e</a:t>
            </a:r>
            <a:r>
              <a:rPr lang="en-IN" sz="2600"/>
              <a:t> = Cost of equity capital </a:t>
            </a:r>
            <a:endParaRPr sz="2600"/>
          </a:p>
          <a:p>
            <a:pPr indent="0" lvl="0" marL="0" rtl="0" algn="just">
              <a:lnSpc>
                <a:spcPct val="90000"/>
              </a:lnSpc>
              <a:spcBef>
                <a:spcPts val="1000"/>
              </a:spcBef>
              <a:spcAft>
                <a:spcPts val="0"/>
              </a:spcAft>
              <a:buClr>
                <a:schemeClr val="dk1"/>
              </a:buClr>
              <a:buSzPts val="2600"/>
              <a:buNone/>
            </a:pPr>
            <a:r>
              <a:rPr lang="en-IN" sz="2600"/>
              <a:t>E = Earning per share </a:t>
            </a:r>
            <a:endParaRPr sz="2600"/>
          </a:p>
          <a:p>
            <a:pPr indent="0" lvl="0" marL="0" rtl="0" algn="just">
              <a:lnSpc>
                <a:spcPct val="90000"/>
              </a:lnSpc>
              <a:spcBef>
                <a:spcPts val="1000"/>
              </a:spcBef>
              <a:spcAft>
                <a:spcPts val="0"/>
              </a:spcAft>
              <a:buClr>
                <a:schemeClr val="dk1"/>
              </a:buClr>
              <a:buSzPts val="2600"/>
              <a:buNone/>
            </a:pPr>
            <a:r>
              <a:rPr lang="en-IN" sz="2600"/>
              <a:t>N</a:t>
            </a:r>
            <a:r>
              <a:rPr baseline="-25000" lang="en-IN" sz="2600"/>
              <a:t>p</a:t>
            </a:r>
            <a:r>
              <a:rPr lang="en-IN" sz="2600"/>
              <a:t> = Net proceeds of an equity share</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360" name="Google Shape;360;p55"/>
          <p:cNvPicPr preferRelativeResize="0"/>
          <p:nvPr/>
        </p:nvPicPr>
        <p:blipFill rotWithShape="1">
          <a:blip r:embed="rId3">
            <a:alphaModFix/>
          </a:blip>
          <a:srcRect b="42578" l="45864" r="48425" t="50586"/>
          <a:stretch/>
        </p:blipFill>
        <p:spPr>
          <a:xfrm>
            <a:off x="5329238" y="2543174"/>
            <a:ext cx="1071562" cy="628651"/>
          </a:xfrm>
          <a:prstGeom prst="rect">
            <a:avLst/>
          </a:prstGeom>
          <a:noFill/>
          <a:ln>
            <a:noFill/>
          </a:ln>
        </p:spPr>
      </p:pic>
      <p:pic>
        <p:nvPicPr>
          <p:cNvPr descr="Image result for sastra logo" id="361" name="Google Shape;361;p55"/>
          <p:cNvPicPr preferRelativeResize="0"/>
          <p:nvPr/>
        </p:nvPicPr>
        <p:blipFill rotWithShape="1">
          <a:blip r:embed="rId4">
            <a:alphaModFix/>
          </a:blip>
          <a:srcRect b="0" l="0" r="0" t="0"/>
          <a:stretch/>
        </p:blipFill>
        <p:spPr>
          <a:xfrm>
            <a:off x="9537700" y="257176"/>
            <a:ext cx="1816100" cy="5572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6"/>
          <p:cNvSpPr txBox="1"/>
          <p:nvPr>
            <p:ph idx="1" type="body"/>
          </p:nvPr>
        </p:nvSpPr>
        <p:spPr>
          <a:xfrm>
            <a:off x="838200" y="814388"/>
            <a:ext cx="10515600" cy="536257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P9. A firm is considering an expenditure of Rs. 75 lakhs for expanding its operations. The relevant information is as follows : </a:t>
            </a:r>
            <a:endParaRPr sz="2600"/>
          </a:p>
          <a:p>
            <a:pPr indent="0" lvl="0" marL="0" rtl="0" algn="just">
              <a:lnSpc>
                <a:spcPct val="90000"/>
              </a:lnSpc>
              <a:spcBef>
                <a:spcPts val="1000"/>
              </a:spcBef>
              <a:spcAft>
                <a:spcPts val="0"/>
              </a:spcAft>
              <a:buClr>
                <a:schemeClr val="dk1"/>
              </a:buClr>
              <a:buSzPts val="2600"/>
              <a:buNone/>
            </a:pPr>
            <a:r>
              <a:rPr lang="en-IN" sz="2600"/>
              <a:t>Number of existing equity shares = 10 lakhs </a:t>
            </a:r>
            <a:endParaRPr sz="2600"/>
          </a:p>
          <a:p>
            <a:pPr indent="0" lvl="0" marL="0" rtl="0" algn="just">
              <a:lnSpc>
                <a:spcPct val="90000"/>
              </a:lnSpc>
              <a:spcBef>
                <a:spcPts val="1000"/>
              </a:spcBef>
              <a:spcAft>
                <a:spcPts val="0"/>
              </a:spcAft>
              <a:buClr>
                <a:schemeClr val="dk1"/>
              </a:buClr>
              <a:buSzPts val="2600"/>
              <a:buNone/>
            </a:pPr>
            <a:r>
              <a:rPr lang="en-IN" sz="2600"/>
              <a:t>Market value of existing share = Rs.100 </a:t>
            </a:r>
            <a:endParaRPr/>
          </a:p>
          <a:p>
            <a:pPr indent="0" lvl="0" marL="0" rtl="0" algn="just">
              <a:lnSpc>
                <a:spcPct val="90000"/>
              </a:lnSpc>
              <a:spcBef>
                <a:spcPts val="1000"/>
              </a:spcBef>
              <a:spcAft>
                <a:spcPts val="0"/>
              </a:spcAft>
              <a:buClr>
                <a:schemeClr val="dk1"/>
              </a:buClr>
              <a:buSzPts val="2600"/>
              <a:buNone/>
            </a:pPr>
            <a:r>
              <a:rPr lang="en-IN" sz="2600"/>
              <a:t>Net earnings = Rs.100 lakhs </a:t>
            </a:r>
            <a:endParaRPr sz="2600"/>
          </a:p>
          <a:p>
            <a:pPr indent="0" lvl="0" marL="0" rtl="0" algn="just">
              <a:lnSpc>
                <a:spcPct val="90000"/>
              </a:lnSpc>
              <a:spcBef>
                <a:spcPts val="1000"/>
              </a:spcBef>
              <a:spcAft>
                <a:spcPts val="0"/>
              </a:spcAft>
              <a:buClr>
                <a:schemeClr val="dk1"/>
              </a:buClr>
              <a:buSzPts val="2600"/>
              <a:buNone/>
            </a:pPr>
            <a:r>
              <a:rPr lang="en-IN" sz="2600"/>
              <a:t>Compute the cost of existing equity share capital and of new equity capital assuming that new shares will be issued at a price of Rs. 92 per share and the costs of new issue will be Rs. 2 per share.</a:t>
            </a:r>
            <a:endParaRPr/>
          </a:p>
        </p:txBody>
      </p:sp>
      <p:pic>
        <p:nvPicPr>
          <p:cNvPr descr="Image result for sastra logo" id="367" name="Google Shape;367;p56"/>
          <p:cNvPicPr preferRelativeResize="0"/>
          <p:nvPr/>
        </p:nvPicPr>
        <p:blipFill rotWithShape="1">
          <a:blip r:embed="rId3">
            <a:alphaModFix/>
          </a:blip>
          <a:srcRect b="0" l="0" r="0" t="0"/>
          <a:stretch/>
        </p:blipFill>
        <p:spPr>
          <a:xfrm>
            <a:off x="9537700" y="257176"/>
            <a:ext cx="1816100" cy="5572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7"/>
          <p:cNvSpPr txBox="1"/>
          <p:nvPr>
            <p:ph idx="1" type="body"/>
          </p:nvPr>
        </p:nvSpPr>
        <p:spPr>
          <a:xfrm>
            <a:off x="838200" y="857250"/>
            <a:ext cx="10515600" cy="531971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Calculation of K</a:t>
            </a:r>
            <a:r>
              <a:rPr b="1" baseline="-25000" lang="en-IN" sz="2600">
                <a:solidFill>
                  <a:srgbClr val="FF0000"/>
                </a:solidFill>
              </a:rPr>
              <a:t>e</a:t>
            </a:r>
            <a:r>
              <a:rPr b="1" lang="en-IN" sz="2600">
                <a:solidFill>
                  <a:srgbClr val="FF0000"/>
                </a:solidFill>
              </a:rPr>
              <a:t>:</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e</a:t>
            </a:r>
            <a:r>
              <a:rPr lang="en-IN" sz="2600">
                <a:solidFill>
                  <a:srgbClr val="FF0000"/>
                </a:solidFill>
              </a:rPr>
              <a:t> = E/N</a:t>
            </a:r>
            <a:r>
              <a:rPr baseline="-25000" lang="en-IN" sz="2600">
                <a:solidFill>
                  <a:srgbClr val="FF0000"/>
                </a:solidFill>
              </a:rPr>
              <a:t>p</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E = Net earnings / No of equity shares</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 100 lakh / 10 lakh</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 10 Per share</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K</a:t>
            </a:r>
            <a:r>
              <a:rPr baseline="-25000" lang="en-IN" sz="2600">
                <a:solidFill>
                  <a:srgbClr val="FF0000"/>
                </a:solidFill>
              </a:rPr>
              <a:t>e</a:t>
            </a:r>
            <a:r>
              <a:rPr lang="en-IN" sz="2600">
                <a:solidFill>
                  <a:srgbClr val="FF0000"/>
                </a:solidFill>
              </a:rPr>
              <a:t> = 10 / [Rs. 92 – Rs. 2] × 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 11.11%</a:t>
            </a:r>
            <a:endParaRPr/>
          </a:p>
        </p:txBody>
      </p:sp>
      <p:pic>
        <p:nvPicPr>
          <p:cNvPr descr="Image result for sastra logo" id="373" name="Google Shape;373;p57"/>
          <p:cNvPicPr preferRelativeResize="0"/>
          <p:nvPr/>
        </p:nvPicPr>
        <p:blipFill rotWithShape="1">
          <a:blip r:embed="rId3">
            <a:alphaModFix/>
          </a:blip>
          <a:srcRect b="0" l="0" r="0" t="0"/>
          <a:stretch/>
        </p:blipFill>
        <p:spPr>
          <a:xfrm>
            <a:off x="9537700" y="300038"/>
            <a:ext cx="1816100" cy="55721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8"/>
          <p:cNvSpPr txBox="1"/>
          <p:nvPr>
            <p:ph idx="1" type="body"/>
          </p:nvPr>
        </p:nvSpPr>
        <p:spPr>
          <a:xfrm>
            <a:off x="838200" y="985838"/>
            <a:ext cx="10515600" cy="519112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d) Realized Yield Approach:</a:t>
            </a:r>
            <a:endParaRPr/>
          </a:p>
          <a:p>
            <a:pPr indent="0" lvl="0" marL="0" rtl="0" algn="just">
              <a:lnSpc>
                <a:spcPct val="90000"/>
              </a:lnSpc>
              <a:spcBef>
                <a:spcPts val="1000"/>
              </a:spcBef>
              <a:spcAft>
                <a:spcPts val="0"/>
              </a:spcAft>
              <a:buClr>
                <a:schemeClr val="dk1"/>
              </a:buClr>
              <a:buSzPts val="2600"/>
              <a:buNone/>
            </a:pPr>
            <a:r>
              <a:rPr lang="en-IN" sz="2600"/>
              <a:t> It is the easy method for calculating cost of equity capital. Under this method, cost of equity is calculated on the basis of return actually realized by the investor in a company on their equity capital.</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Where:  </a:t>
            </a:r>
            <a:endParaRPr/>
          </a:p>
          <a:p>
            <a:pPr indent="0" lvl="0" marL="0" rtl="0" algn="just">
              <a:lnSpc>
                <a:spcPct val="90000"/>
              </a:lnSpc>
              <a:spcBef>
                <a:spcPts val="1000"/>
              </a:spcBef>
              <a:spcAft>
                <a:spcPts val="0"/>
              </a:spcAft>
              <a:buClr>
                <a:schemeClr val="dk1"/>
              </a:buClr>
              <a:buSzPts val="2600"/>
              <a:buNone/>
            </a:pPr>
            <a:r>
              <a:rPr lang="en-IN" sz="2600"/>
              <a:t>Ke = Cost of equity capital. </a:t>
            </a:r>
            <a:endParaRPr sz="2600"/>
          </a:p>
          <a:p>
            <a:pPr indent="0" lvl="0" marL="0" rtl="0" algn="just">
              <a:lnSpc>
                <a:spcPct val="90000"/>
              </a:lnSpc>
              <a:spcBef>
                <a:spcPts val="1000"/>
              </a:spcBef>
              <a:spcAft>
                <a:spcPts val="0"/>
              </a:spcAft>
              <a:buClr>
                <a:schemeClr val="dk1"/>
              </a:buClr>
              <a:buSzPts val="2600"/>
              <a:buNone/>
            </a:pPr>
            <a:r>
              <a:rPr lang="en-IN" sz="2600"/>
              <a:t>PVƒ = Present value of discount factor. </a:t>
            </a:r>
            <a:endParaRPr sz="2600"/>
          </a:p>
          <a:p>
            <a:pPr indent="0" lvl="0" marL="0" rtl="0" algn="just">
              <a:lnSpc>
                <a:spcPct val="90000"/>
              </a:lnSpc>
              <a:spcBef>
                <a:spcPts val="1000"/>
              </a:spcBef>
              <a:spcAft>
                <a:spcPts val="0"/>
              </a:spcAft>
              <a:buClr>
                <a:schemeClr val="dk1"/>
              </a:buClr>
              <a:buSzPts val="2600"/>
              <a:buNone/>
            </a:pPr>
            <a:r>
              <a:rPr lang="en-IN" sz="2600"/>
              <a:t>D = Dividend per share.</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id="380" name="Google Shape;380;p58"/>
          <p:cNvPicPr preferRelativeResize="0"/>
          <p:nvPr/>
        </p:nvPicPr>
        <p:blipFill rotWithShape="1">
          <a:blip r:embed="rId3">
            <a:alphaModFix/>
          </a:blip>
          <a:srcRect b="32078" l="44024" r="48231" t="63839"/>
          <a:stretch/>
        </p:blipFill>
        <p:spPr>
          <a:xfrm>
            <a:off x="4833257" y="2612572"/>
            <a:ext cx="1978090" cy="537028"/>
          </a:xfrm>
          <a:prstGeom prst="rect">
            <a:avLst/>
          </a:prstGeom>
          <a:noFill/>
          <a:ln>
            <a:noFill/>
          </a:ln>
        </p:spPr>
      </p:pic>
      <p:pic>
        <p:nvPicPr>
          <p:cNvPr descr="Image result for sastra logo" id="381" name="Google Shape;381;p58"/>
          <p:cNvPicPr preferRelativeResize="0"/>
          <p:nvPr/>
        </p:nvPicPr>
        <p:blipFill rotWithShape="1">
          <a:blip r:embed="rId4">
            <a:alphaModFix/>
          </a:blip>
          <a:srcRect b="0" l="0" r="0" t="0"/>
          <a:stretch/>
        </p:blipFill>
        <p:spPr>
          <a:xfrm>
            <a:off x="9537700" y="419726"/>
            <a:ext cx="1816100" cy="5661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9"/>
          <p:cNvSpPr txBox="1"/>
          <p:nvPr>
            <p:ph idx="1" type="body"/>
          </p:nvPr>
        </p:nvSpPr>
        <p:spPr>
          <a:xfrm>
            <a:off x="838200" y="884420"/>
            <a:ext cx="10515600" cy="529254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4. Cost of retained earnings (K</a:t>
            </a:r>
            <a:r>
              <a:rPr b="1" baseline="-25000" lang="en-IN" sz="2600">
                <a:solidFill>
                  <a:srgbClr val="FF0000"/>
                </a:solidFill>
              </a:rPr>
              <a:t>r</a:t>
            </a:r>
            <a:r>
              <a:rPr b="1" lang="en-IN" sz="2600">
                <a:solidFill>
                  <a:srgbClr val="FF0000"/>
                </a:solidFill>
              </a:rPr>
              <a:t>):</a:t>
            </a:r>
            <a:endParaRPr/>
          </a:p>
          <a:p>
            <a:pPr indent="0" lvl="0" marL="0" rtl="0" algn="just">
              <a:lnSpc>
                <a:spcPct val="90000"/>
              </a:lnSpc>
              <a:spcBef>
                <a:spcPts val="1000"/>
              </a:spcBef>
              <a:spcAft>
                <a:spcPts val="0"/>
              </a:spcAft>
              <a:buClr>
                <a:schemeClr val="dk1"/>
              </a:buClr>
              <a:buSzPts val="2600"/>
              <a:buNone/>
            </a:pPr>
            <a:r>
              <a:rPr lang="en-IN" sz="2600"/>
              <a:t>The company do not generally distribute the entire profits earned by them by way of dividend among the shareholders. </a:t>
            </a:r>
            <a:r>
              <a:rPr b="1" lang="en-IN" sz="2600">
                <a:solidFill>
                  <a:srgbClr val="FF0000"/>
                </a:solidFill>
              </a:rPr>
              <a:t>Some profits are retained by them for future expansion of the business.</a:t>
            </a:r>
            <a:r>
              <a:rPr lang="en-IN" sz="2600"/>
              <a:t> </a:t>
            </a:r>
            <a:r>
              <a:rPr b="1" lang="en-IN" sz="2600">
                <a:solidFill>
                  <a:srgbClr val="00B050"/>
                </a:solidFill>
              </a:rPr>
              <a:t>Many people feel that such retained earnings are absolutely cost free.</a:t>
            </a:r>
            <a:r>
              <a:rPr lang="en-IN" sz="2600"/>
              <a:t> This is not the correct approach because the amount received by company, if it had been distributed among the shareholders by way of dividend, would have given them some return</a:t>
            </a:r>
            <a:r>
              <a:rPr lang="en-IN" sz="2600">
                <a:solidFill>
                  <a:srgbClr val="FF0000"/>
                </a:solidFill>
              </a:rPr>
              <a:t>. </a:t>
            </a:r>
            <a:r>
              <a:rPr lang="en-IN" sz="2600"/>
              <a:t>The has deprived the shareholders of this earnings by retaining a part of profit with it. </a:t>
            </a:r>
            <a:r>
              <a:rPr b="1" lang="en-IN" sz="2600">
                <a:solidFill>
                  <a:srgbClr val="FF0000"/>
                </a:solidFill>
              </a:rPr>
              <a:t>Thus , the cost of retained earnings is the earnings forgone by the shareholders. </a:t>
            </a:r>
            <a:endParaRPr/>
          </a:p>
          <a:p>
            <a:pPr indent="0" lvl="0" marL="0" rtl="0" algn="just">
              <a:lnSpc>
                <a:spcPct val="90000"/>
              </a:lnSpc>
              <a:spcBef>
                <a:spcPts val="1000"/>
              </a:spcBef>
              <a:spcAft>
                <a:spcPts val="0"/>
              </a:spcAft>
              <a:buClr>
                <a:schemeClr val="dk1"/>
              </a:buClr>
              <a:buSzPts val="2600"/>
              <a:buNone/>
            </a:pPr>
            <a:r>
              <a:rPr lang="en-IN" sz="2600"/>
              <a:t>In other words, </a:t>
            </a:r>
            <a:r>
              <a:rPr b="1" lang="en-IN" sz="2600">
                <a:solidFill>
                  <a:srgbClr val="FF0000"/>
                </a:solidFill>
              </a:rPr>
              <a:t>the opportunity cost of retained earnings my be taken as the cost of the retained earnings. </a:t>
            </a:r>
            <a:r>
              <a:rPr lang="en-IN" sz="2600"/>
              <a:t>It is equal to the income that the shareholders could have otherwise earned by placing these funds in alternative investments.</a:t>
            </a:r>
            <a:endParaRPr sz="2600"/>
          </a:p>
        </p:txBody>
      </p:sp>
      <p:pic>
        <p:nvPicPr>
          <p:cNvPr descr="Image result for sastra logo" id="387" name="Google Shape;387;p59"/>
          <p:cNvPicPr preferRelativeResize="0"/>
          <p:nvPr/>
        </p:nvPicPr>
        <p:blipFill rotWithShape="1">
          <a:blip r:embed="rId3">
            <a:alphaModFix/>
          </a:blip>
          <a:srcRect b="0" l="0" r="0" t="0"/>
          <a:stretch/>
        </p:blipFill>
        <p:spPr>
          <a:xfrm>
            <a:off x="9537700" y="344774"/>
            <a:ext cx="1816100" cy="53964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0"/>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For example, if the shareholders could have invested the funds in alternative channels, they could have to get a return of 10%. This return of 10% has been forgone by them because of the company not distributing the full profits to them. </a:t>
            </a:r>
            <a:r>
              <a:rPr lang="en-IN" sz="2600">
                <a:solidFill>
                  <a:srgbClr val="FF0000"/>
                </a:solidFill>
              </a:rPr>
              <a:t>The cost of retained earnings may, therefore, be taken at 10%.</a:t>
            </a:r>
            <a:endParaRPr/>
          </a:p>
          <a:p>
            <a:pPr indent="0" lvl="0" marL="0" rtl="0" algn="just">
              <a:lnSpc>
                <a:spcPct val="90000"/>
              </a:lnSpc>
              <a:spcBef>
                <a:spcPts val="1000"/>
              </a:spcBef>
              <a:spcAft>
                <a:spcPts val="0"/>
              </a:spcAft>
              <a:buClr>
                <a:schemeClr val="dk1"/>
              </a:buClr>
              <a:buSzPts val="2600"/>
              <a:buNone/>
            </a:pPr>
            <a:r>
              <a:rPr lang="en-IN" sz="2600"/>
              <a:t>The following adjustment are made for ascertaining the cost of retained earnings:</a:t>
            </a:r>
            <a:endParaRPr/>
          </a:p>
          <a:p>
            <a:pPr indent="-514350" lvl="0" marL="514350" rtl="0" algn="just">
              <a:lnSpc>
                <a:spcPct val="90000"/>
              </a:lnSpc>
              <a:spcBef>
                <a:spcPts val="1000"/>
              </a:spcBef>
              <a:spcAft>
                <a:spcPts val="0"/>
              </a:spcAft>
              <a:buClr>
                <a:srgbClr val="FF0000"/>
              </a:buClr>
              <a:buSzPts val="2600"/>
              <a:buAutoNum type="alphaLcParenR"/>
            </a:pPr>
            <a:r>
              <a:rPr lang="en-IN" sz="2600">
                <a:solidFill>
                  <a:srgbClr val="FF0000"/>
                </a:solidFill>
              </a:rPr>
              <a:t>Income tax adjustment</a:t>
            </a:r>
            <a:endParaRPr/>
          </a:p>
          <a:p>
            <a:pPr indent="-514350" lvl="0" marL="514350" rtl="0" algn="just">
              <a:lnSpc>
                <a:spcPct val="90000"/>
              </a:lnSpc>
              <a:spcBef>
                <a:spcPts val="1000"/>
              </a:spcBef>
              <a:spcAft>
                <a:spcPts val="0"/>
              </a:spcAft>
              <a:buClr>
                <a:srgbClr val="FF0000"/>
              </a:buClr>
              <a:buSzPts val="2600"/>
              <a:buAutoNum type="alphaLcParenR"/>
            </a:pPr>
            <a:r>
              <a:rPr lang="en-IN" sz="2600">
                <a:solidFill>
                  <a:srgbClr val="FF0000"/>
                </a:solidFill>
              </a:rPr>
              <a:t>Brokerage cost adjustment</a:t>
            </a:r>
            <a:endParaRPr/>
          </a:p>
          <a:p>
            <a:pPr indent="0" lvl="0" marL="0" rtl="0" algn="just">
              <a:lnSpc>
                <a:spcPct val="90000"/>
              </a:lnSpc>
              <a:spcBef>
                <a:spcPts val="1000"/>
              </a:spcBef>
              <a:spcAft>
                <a:spcPts val="0"/>
              </a:spcAft>
              <a:buClr>
                <a:schemeClr val="dk1"/>
              </a:buClr>
              <a:buSzPts val="2600"/>
              <a:buNone/>
            </a:pPr>
            <a:r>
              <a:rPr lang="en-IN" sz="2600"/>
              <a:t>The opportunity cost of retained earnings to the shareholders is, therefore, the rate of return that they can obtain by investing the net dividends </a:t>
            </a:r>
            <a:r>
              <a:rPr lang="en-IN" sz="2600">
                <a:solidFill>
                  <a:srgbClr val="FF0000"/>
                </a:solidFill>
              </a:rPr>
              <a:t>(i.e., after tax and brokerage)</a:t>
            </a:r>
            <a:r>
              <a:rPr lang="en-IN" sz="2600"/>
              <a:t> in alternative opportunity of equal quality.</a:t>
            </a:r>
            <a:endParaRPr sz="2600"/>
          </a:p>
        </p:txBody>
      </p:sp>
      <p:pic>
        <p:nvPicPr>
          <p:cNvPr descr="Image result for sastra logo" id="393" name="Google Shape;393;p60"/>
          <p:cNvPicPr preferRelativeResize="0"/>
          <p:nvPr/>
        </p:nvPicPr>
        <p:blipFill rotWithShape="1">
          <a:blip r:embed="rId3">
            <a:alphaModFix/>
          </a:blip>
          <a:srcRect b="0" l="0" r="0" t="0"/>
          <a:stretch/>
        </p:blipFill>
        <p:spPr>
          <a:xfrm>
            <a:off x="9537700" y="348288"/>
            <a:ext cx="1816100" cy="5661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1"/>
          <p:cNvSpPr txBox="1"/>
          <p:nvPr>
            <p:ph idx="1" type="body"/>
          </p:nvPr>
        </p:nvSpPr>
        <p:spPr>
          <a:xfrm>
            <a:off x="838200" y="839449"/>
            <a:ext cx="10515600" cy="533751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Solved problem:</a:t>
            </a:r>
            <a:endParaRPr/>
          </a:p>
          <a:p>
            <a:pPr indent="0" lvl="0" marL="0" rtl="0" algn="just">
              <a:lnSpc>
                <a:spcPct val="90000"/>
              </a:lnSpc>
              <a:spcBef>
                <a:spcPts val="1000"/>
              </a:spcBef>
              <a:spcAft>
                <a:spcPts val="0"/>
              </a:spcAft>
              <a:buClr>
                <a:schemeClr val="dk1"/>
              </a:buClr>
              <a:buSzPts val="2600"/>
              <a:buNone/>
            </a:pPr>
            <a:r>
              <a:rPr lang="en-IN" sz="2600"/>
              <a:t>P10. ABC Ltd. is earning a net profit of Rs. 50,000 per annum. The shareholders required rate of return is 10%. It is expected that retained earnings, if distributed among the shareholders,  can be invested by them in securities of similar type carrying return of 10% per annum. It is further expected that the shareholders will have to incur 2% of the net dividends received by them as brokerage cost for making new investments. The shareholders of the company are in 30% tax bracket.</a:t>
            </a:r>
            <a:endParaRPr/>
          </a:p>
          <a:p>
            <a:pPr indent="0" lvl="0" marL="0" rtl="0" algn="just">
              <a:lnSpc>
                <a:spcPct val="90000"/>
              </a:lnSpc>
              <a:spcBef>
                <a:spcPts val="1000"/>
              </a:spcBef>
              <a:spcAft>
                <a:spcPts val="0"/>
              </a:spcAft>
              <a:buClr>
                <a:schemeClr val="dk1"/>
              </a:buClr>
              <a:buSzPts val="2600"/>
              <a:buNone/>
            </a:pPr>
            <a:r>
              <a:rPr lang="en-IN" sz="2600"/>
              <a:t>You are required to calculate the cost of retained earnings to the company.</a:t>
            </a:r>
            <a:endParaRPr sz="2600"/>
          </a:p>
        </p:txBody>
      </p:sp>
      <p:pic>
        <p:nvPicPr>
          <p:cNvPr descr="Image result for sastra logo" id="399" name="Google Shape;399;p61"/>
          <p:cNvPicPr preferRelativeResize="0"/>
          <p:nvPr/>
        </p:nvPicPr>
        <p:blipFill rotWithShape="1">
          <a:blip r:embed="rId3">
            <a:alphaModFix/>
          </a:blip>
          <a:srcRect b="0" l="0" r="0" t="0"/>
          <a:stretch/>
        </p:blipFill>
        <p:spPr>
          <a:xfrm>
            <a:off x="9432769" y="485776"/>
            <a:ext cx="1816100" cy="55721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2"/>
          <p:cNvSpPr txBox="1"/>
          <p:nvPr>
            <p:ph idx="1" type="body"/>
          </p:nvPr>
        </p:nvSpPr>
        <p:spPr>
          <a:xfrm>
            <a:off x="838200" y="869430"/>
            <a:ext cx="10515600" cy="530753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chemeClr val="dk1"/>
              </a:buClr>
              <a:buSzPts val="2600"/>
              <a:buNone/>
            </a:pPr>
            <a:r>
              <a:rPr lang="en-IN" sz="2600"/>
              <a:t>Calculation of net amount available for investment</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Since the shareholders have the investment opportunity of earning 10%, The amount of earning received by them on their investment will amount to be Rs. 3,430.</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05" name="Google Shape;405;p62"/>
          <p:cNvGraphicFramePr/>
          <p:nvPr/>
        </p:nvGraphicFramePr>
        <p:xfrm>
          <a:off x="838200" y="1783968"/>
          <a:ext cx="3000000" cy="3000000"/>
        </p:xfrm>
        <a:graphic>
          <a:graphicData uri="http://schemas.openxmlformats.org/drawingml/2006/table">
            <a:tbl>
              <a:tblPr bandRow="1" firstRow="1">
                <a:noFill/>
                <a:tableStyleId>{3CD1E0FF-FAF5-4487-BE71-2FD66BCB489A}</a:tableStyleId>
              </a:tblPr>
              <a:tblGrid>
                <a:gridCol w="780750"/>
                <a:gridCol w="8424475"/>
                <a:gridCol w="1310400"/>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r">
                        <a:spcBef>
                          <a:spcPts val="0"/>
                        </a:spcBef>
                        <a:spcAft>
                          <a:spcPts val="0"/>
                        </a:spcAft>
                        <a:buNone/>
                      </a:pPr>
                      <a:r>
                        <a:rPr lang="en-IN" sz="2000"/>
                        <a:t>Rs. </a:t>
                      </a:r>
                      <a:endParaRPr sz="20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Dividend payable to shareholders </a:t>
                      </a:r>
                      <a:endParaRPr sz="2600"/>
                    </a:p>
                  </a:txBody>
                  <a:tcPr marT="45725" marB="45725" marR="91450" marL="91450"/>
                </a:tc>
                <a:tc>
                  <a:txBody>
                    <a:bodyPr/>
                    <a:lstStyle/>
                    <a:p>
                      <a:pPr indent="0" lvl="0" marL="0" marR="0" rtl="0" algn="r">
                        <a:spcBef>
                          <a:spcPts val="0"/>
                        </a:spcBef>
                        <a:spcAft>
                          <a:spcPts val="0"/>
                        </a:spcAft>
                        <a:buNone/>
                      </a:pPr>
                      <a:r>
                        <a:rPr lang="en-IN" sz="2600"/>
                        <a:t>50,000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Income tax @ 30% of Rs. 50,000</a:t>
                      </a:r>
                      <a:endParaRPr sz="2600"/>
                    </a:p>
                  </a:txBody>
                  <a:tcPr marT="45725" marB="45725" marR="91450" marL="91450"/>
                </a:tc>
                <a:tc>
                  <a:txBody>
                    <a:bodyPr/>
                    <a:lstStyle/>
                    <a:p>
                      <a:pPr indent="0" lvl="0" marL="0" marR="0" rtl="0" algn="r">
                        <a:spcBef>
                          <a:spcPts val="0"/>
                        </a:spcBef>
                        <a:spcAft>
                          <a:spcPts val="0"/>
                        </a:spcAft>
                        <a:buNone/>
                      </a:pPr>
                      <a:r>
                        <a:rPr lang="en-IN" sz="2600"/>
                        <a:t>15,000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After tax dividend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35,000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Brokerage</a:t>
                      </a:r>
                      <a:r>
                        <a:rPr lang="en-IN" sz="2600"/>
                        <a:t> cost @ 2% of Rs. 35,000</a:t>
                      </a:r>
                      <a:endParaRPr sz="2600"/>
                    </a:p>
                  </a:txBody>
                  <a:tcPr marT="45725" marB="45725" marR="91450" marL="91450"/>
                </a:tc>
                <a:tc>
                  <a:txBody>
                    <a:bodyPr/>
                    <a:lstStyle/>
                    <a:p>
                      <a:pPr indent="0" lvl="0" marL="0" marR="0" rtl="0" algn="r">
                        <a:spcBef>
                          <a:spcPts val="0"/>
                        </a:spcBef>
                        <a:spcAft>
                          <a:spcPts val="0"/>
                        </a:spcAft>
                        <a:buNone/>
                      </a:pPr>
                      <a:r>
                        <a:rPr lang="en-IN" sz="2600"/>
                        <a:t>700</a:t>
                      </a:r>
                      <a:endParaRPr sz="26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Net amount available for investment</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34,300</a:t>
                      </a:r>
                      <a:endParaRPr b="1" sz="2600">
                        <a:solidFill>
                          <a:srgbClr val="FF0000"/>
                        </a:solidFill>
                      </a:endParaRPr>
                    </a:p>
                  </a:txBody>
                  <a:tcPr marT="45725" marB="45725" marR="91450" marL="91450"/>
                </a:tc>
              </a:tr>
            </a:tbl>
          </a:graphicData>
        </a:graphic>
      </p:graphicFrame>
      <p:pic>
        <p:nvPicPr>
          <p:cNvPr descr="Image result for sastra logo" id="406" name="Google Shape;406;p62"/>
          <p:cNvPicPr preferRelativeResize="0"/>
          <p:nvPr/>
        </p:nvPicPr>
        <p:blipFill rotWithShape="1">
          <a:blip r:embed="rId3">
            <a:alphaModFix/>
          </a:blip>
          <a:srcRect b="0" l="0" r="0" t="0"/>
          <a:stretch/>
        </p:blipFill>
        <p:spPr>
          <a:xfrm>
            <a:off x="9432769" y="485776"/>
            <a:ext cx="1816100" cy="55721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3"/>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In case the earnings had not been distributed by the company among its shareholders, the company could have full Rs. 50,000 for investment. Since no personal income tax and brokerage cost as above, would have been payable. The company could have paid a sum of Rs. 3430 to the shareholders if it could earn a return of 6.86% calculated as follows: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[Rs.3,430/Rs. 50,000]×100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6.86%</a:t>
            </a:r>
            <a:endParaRPr/>
          </a:p>
          <a:p>
            <a:pPr indent="0" lvl="0" marL="0" rtl="0" algn="just">
              <a:lnSpc>
                <a:spcPct val="90000"/>
              </a:lnSpc>
              <a:spcBef>
                <a:spcPts val="1000"/>
              </a:spcBef>
              <a:spcAft>
                <a:spcPts val="0"/>
              </a:spcAft>
              <a:buClr>
                <a:schemeClr val="dk1"/>
              </a:buClr>
              <a:buSzPts val="2600"/>
              <a:buNone/>
            </a:pPr>
            <a:r>
              <a:rPr lang="en-IN" sz="2600"/>
              <a:t>The rate of return expected by the shareholders from the company on their rationed earnings comes to 6.86%.  </a:t>
            </a:r>
            <a:r>
              <a:rPr lang="en-IN" sz="2600">
                <a:solidFill>
                  <a:srgbClr val="FF0000"/>
                </a:solidFill>
              </a:rPr>
              <a:t>Therefore, It may taken as cost of retained earnings.</a:t>
            </a:r>
            <a:endParaRPr sz="2600">
              <a:solidFill>
                <a:srgbClr val="FF0000"/>
              </a:solidFill>
            </a:endParaRPr>
          </a:p>
        </p:txBody>
      </p:sp>
      <p:pic>
        <p:nvPicPr>
          <p:cNvPr descr="Image result for sastra logo" id="412" name="Google Shape;412;p63"/>
          <p:cNvPicPr preferRelativeResize="0"/>
          <p:nvPr/>
        </p:nvPicPr>
        <p:blipFill rotWithShape="1">
          <a:blip r:embed="rId3">
            <a:alphaModFix/>
          </a:blip>
          <a:srcRect b="0" l="0" r="0" t="0"/>
          <a:stretch/>
        </p:blipFill>
        <p:spPr>
          <a:xfrm>
            <a:off x="9432769" y="357188"/>
            <a:ext cx="1816100" cy="55721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4"/>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cost of retained earnings after making adjustment for income tax and brokerage cost payable by the shareholders can be determined according to the following formula:</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K</a:t>
            </a:r>
            <a:r>
              <a:rPr b="1" baseline="-25000" lang="en-IN" sz="2600">
                <a:solidFill>
                  <a:srgbClr val="FF0000"/>
                </a:solidFill>
              </a:rPr>
              <a:t>r</a:t>
            </a:r>
            <a:r>
              <a:rPr b="1" lang="en-IN" sz="2600">
                <a:solidFill>
                  <a:srgbClr val="FF0000"/>
                </a:solidFill>
              </a:rPr>
              <a:t> = K</a:t>
            </a:r>
            <a:r>
              <a:rPr b="1" baseline="-25000" lang="en-IN" sz="2600">
                <a:solidFill>
                  <a:srgbClr val="FF0000"/>
                </a:solidFill>
              </a:rPr>
              <a:t>e</a:t>
            </a:r>
            <a:r>
              <a:rPr b="1" lang="en-IN" sz="2600">
                <a:solidFill>
                  <a:srgbClr val="FF0000"/>
                </a:solidFill>
              </a:rPr>
              <a:t> (1-T) (1-B)</a:t>
            </a:r>
            <a:endParaRPr/>
          </a:p>
          <a:p>
            <a:pPr indent="0" lvl="0" marL="0" rtl="0" algn="just">
              <a:lnSpc>
                <a:spcPct val="90000"/>
              </a:lnSpc>
              <a:spcBef>
                <a:spcPts val="1000"/>
              </a:spcBef>
              <a:spcAft>
                <a:spcPts val="0"/>
              </a:spcAft>
              <a:buClr>
                <a:schemeClr val="dk1"/>
              </a:buClr>
              <a:buSzPts val="2600"/>
              <a:buNone/>
            </a:pPr>
            <a:r>
              <a:rPr lang="en-IN" sz="2600"/>
              <a:t>Where:</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r</a:t>
            </a:r>
            <a:r>
              <a:rPr lang="en-IN" sz="2600">
                <a:solidFill>
                  <a:srgbClr val="FF0000"/>
                </a:solidFill>
              </a:rPr>
              <a:t> = Required rate of return on retained earnings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e</a:t>
            </a:r>
            <a:r>
              <a:rPr lang="en-IN" sz="2600">
                <a:solidFill>
                  <a:srgbClr val="FF0000"/>
                </a:solidFill>
              </a:rPr>
              <a:t> = Share holders required rate of return</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T = Shareholders marginal tax rate</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B= Brokerage cost</a:t>
            </a:r>
            <a:endParaRPr sz="2600">
              <a:solidFill>
                <a:srgbClr val="FF0000"/>
              </a:solidFill>
            </a:endParaRPr>
          </a:p>
        </p:txBody>
      </p:sp>
      <p:pic>
        <p:nvPicPr>
          <p:cNvPr descr="Image result for sastra logo" id="418" name="Google Shape;418;p64"/>
          <p:cNvPicPr preferRelativeResize="0"/>
          <p:nvPr/>
        </p:nvPicPr>
        <p:blipFill rotWithShape="1">
          <a:blip r:embed="rId3">
            <a:alphaModFix/>
          </a:blip>
          <a:srcRect b="0" l="0" r="0" t="0"/>
          <a:stretch/>
        </p:blipFill>
        <p:spPr>
          <a:xfrm>
            <a:off x="9432769" y="342198"/>
            <a:ext cx="1816100" cy="55721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5"/>
          <p:cNvSpPr txBox="1"/>
          <p:nvPr>
            <p:ph idx="1" type="body"/>
          </p:nvPr>
        </p:nvSpPr>
        <p:spPr>
          <a:xfrm>
            <a:off x="793229" y="854440"/>
            <a:ext cx="10515600" cy="526154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cost retained earnings using the data given in the P10. can be calculated according to the above formula as follows: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r</a:t>
            </a:r>
            <a:r>
              <a:rPr lang="en-IN" sz="2600">
                <a:solidFill>
                  <a:srgbClr val="FF0000"/>
                </a:solidFill>
              </a:rPr>
              <a:t> = K</a:t>
            </a:r>
            <a:r>
              <a:rPr baseline="-25000" lang="en-IN" sz="2600">
                <a:solidFill>
                  <a:srgbClr val="FF0000"/>
                </a:solidFill>
              </a:rPr>
              <a:t>e</a:t>
            </a:r>
            <a:r>
              <a:rPr lang="en-IN" sz="2600">
                <a:solidFill>
                  <a:srgbClr val="FF0000"/>
                </a:solidFill>
              </a:rPr>
              <a:t> (1-T) (1-B)</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10% (1 - 0.30) (1 - 0.02)</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10% (0.70) ( 0.98)</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6.86%</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424" name="Google Shape;424;p65"/>
          <p:cNvPicPr preferRelativeResize="0"/>
          <p:nvPr/>
        </p:nvPicPr>
        <p:blipFill rotWithShape="1">
          <a:blip r:embed="rId3">
            <a:alphaModFix/>
          </a:blip>
          <a:srcRect b="0" l="0" r="0" t="0"/>
          <a:stretch/>
        </p:blipFill>
        <p:spPr>
          <a:xfrm>
            <a:off x="9492729" y="297228"/>
            <a:ext cx="1816100" cy="5572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6"/>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P10. A firm’s Ke (return available to shareholders) is 20%, the average tax rate of shareholders is 30% and it is expected that 2% is brokerage cost that shareholders will have to pay while investing their dividends in alternative securities. What is the cost of retained earnings?</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Calculation of K</a:t>
            </a:r>
            <a:r>
              <a:rPr b="1" baseline="-25000" lang="en-IN" sz="2600">
                <a:solidFill>
                  <a:srgbClr val="FF0000"/>
                </a:solidFill>
              </a:rPr>
              <a:t>r</a:t>
            </a:r>
            <a:r>
              <a:rPr b="1" lang="en-IN" sz="2600">
                <a:solidFill>
                  <a:srgbClr val="FF0000"/>
                </a:solidFill>
              </a:rPr>
              <a: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r</a:t>
            </a:r>
            <a:r>
              <a:rPr lang="en-IN" sz="2600">
                <a:solidFill>
                  <a:srgbClr val="FF0000"/>
                </a:solidFill>
              </a:rPr>
              <a:t> = K</a:t>
            </a:r>
            <a:r>
              <a:rPr baseline="-25000" lang="en-IN" sz="2600">
                <a:solidFill>
                  <a:srgbClr val="FF0000"/>
                </a:solidFill>
              </a:rPr>
              <a:t>e</a:t>
            </a:r>
            <a:r>
              <a:rPr lang="en-IN" sz="2600">
                <a:solidFill>
                  <a:srgbClr val="FF0000"/>
                </a:solidFill>
              </a:rPr>
              <a:t> (1-T) (1-B)</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20% (1 - 0.30) (1 - 0.02)</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20% (0.70) ( 0.98)</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13.72%</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7"/>
          <p:cNvSpPr txBox="1"/>
          <p:nvPr>
            <p:ph idx="1" type="body"/>
          </p:nvPr>
        </p:nvSpPr>
        <p:spPr>
          <a:xfrm>
            <a:off x="838200" y="824459"/>
            <a:ext cx="10515600" cy="5352504"/>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600"/>
              <a:buNone/>
            </a:pPr>
            <a:r>
              <a:rPr lang="en-IN" sz="2600"/>
              <a:t>P12. The company issues 10% irredeemable debentures of Rs. 1,00,000. The company is in the 55% tax bracket. Calculate the cost debt if the debentures are issued at a) par b) 10% premium and c) 10% discount.</a:t>
            </a:r>
            <a:endParaRPr/>
          </a:p>
          <a:p>
            <a:pPr indent="0" lvl="0" marL="0" rtl="0" algn="just">
              <a:lnSpc>
                <a:spcPct val="90000"/>
              </a:lnSpc>
              <a:spcBef>
                <a:spcPts val="1000"/>
              </a:spcBef>
              <a:spcAft>
                <a:spcPts val="0"/>
              </a:spcAft>
              <a:buClr>
                <a:schemeClr val="dk1"/>
              </a:buClr>
              <a:buSzPts val="2600"/>
              <a:buNone/>
            </a:pPr>
            <a:r>
              <a:rPr lang="en-IN" sz="2600"/>
              <a:t>P13. The firm issues debentures of Rs. 1,00,000 and realises Rs. 98,000 after allowing 2% commission to brokers. The debentures carry an interest of 10%. The debentureholders are due for maturity at the end of the 10</a:t>
            </a:r>
            <a:r>
              <a:rPr baseline="30000" lang="en-IN" sz="2600"/>
              <a:t>th</a:t>
            </a:r>
            <a:r>
              <a:rPr lang="en-IN" sz="2600"/>
              <a:t> year. you are required to calculate the cost if debt.</a:t>
            </a:r>
            <a:endParaRPr/>
          </a:p>
          <a:p>
            <a:pPr indent="0" lvl="0" marL="0" rtl="0" algn="just">
              <a:lnSpc>
                <a:spcPct val="90000"/>
              </a:lnSpc>
              <a:spcBef>
                <a:spcPts val="1000"/>
              </a:spcBef>
              <a:spcAft>
                <a:spcPts val="0"/>
              </a:spcAft>
              <a:buClr>
                <a:schemeClr val="dk1"/>
              </a:buClr>
              <a:buSzPts val="2600"/>
              <a:buNone/>
            </a:pPr>
            <a:r>
              <a:rPr lang="en-IN" sz="2600"/>
              <a:t>P14. A company raised preference share capital of Rs. 1,00,000 by issue of 10% preference shares of Rs. 10 each. Calculate the cost of preference capital when they are issued at a) par, b) 10 premium and c) 10% discount.</a:t>
            </a:r>
            <a:endParaRPr/>
          </a:p>
          <a:p>
            <a:pPr indent="0" lvl="0" marL="0" rtl="0" algn="just">
              <a:lnSpc>
                <a:spcPct val="90000"/>
              </a:lnSpc>
              <a:spcBef>
                <a:spcPts val="1000"/>
              </a:spcBef>
              <a:spcAft>
                <a:spcPts val="0"/>
              </a:spcAft>
              <a:buClr>
                <a:schemeClr val="dk1"/>
              </a:buClr>
              <a:buSzPts val="2600"/>
              <a:buNone/>
            </a:pPr>
            <a:r>
              <a:rPr lang="en-IN" sz="2600"/>
              <a:t>P15. A company has 10% Rs. 1,00,000 redeemable preference shares redeemable at the end of the 10</a:t>
            </a:r>
            <a:r>
              <a:rPr baseline="30000" lang="en-IN" sz="2600"/>
              <a:t>th</a:t>
            </a:r>
            <a:r>
              <a:rPr lang="en-IN" sz="2600"/>
              <a:t> year from the year of their issue. The underwriting cost came at %. Calculate the effective coat of preference share capital.</a:t>
            </a:r>
            <a:endParaRPr sz="2600"/>
          </a:p>
        </p:txBody>
      </p:sp>
      <p:pic>
        <p:nvPicPr>
          <p:cNvPr descr="Image result for sastra logo" id="435" name="Google Shape;435;p67"/>
          <p:cNvPicPr preferRelativeResize="0"/>
          <p:nvPr/>
        </p:nvPicPr>
        <p:blipFill rotWithShape="1">
          <a:blip r:embed="rId3">
            <a:alphaModFix/>
          </a:blip>
          <a:srcRect b="0" l="0" r="0" t="0"/>
          <a:stretch/>
        </p:blipFill>
        <p:spPr>
          <a:xfrm>
            <a:off x="9537700" y="267247"/>
            <a:ext cx="1816100" cy="55721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8"/>
          <p:cNvSpPr txBox="1"/>
          <p:nvPr>
            <p:ph idx="1" type="body"/>
          </p:nvPr>
        </p:nvSpPr>
        <p:spPr>
          <a:xfrm>
            <a:off x="824459" y="884420"/>
            <a:ext cx="10559322" cy="550139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P16. A  company offers for public subscription  equity shares of Rs. 10 each at a premium of 10%. The company pays 5% of the issue price as underwriting commission. The rate of dividend expected by the equity shareholders is 20%. You are required to calculate the cost of equity capital. Will your cost of equity capital be different if it is to be calculated on the present market value of the equity share, which is Rs. 15?</a:t>
            </a:r>
            <a:endParaRPr/>
          </a:p>
          <a:p>
            <a:pPr indent="0" lvl="0" marL="0" rtl="0" algn="just">
              <a:lnSpc>
                <a:spcPct val="90000"/>
              </a:lnSpc>
              <a:spcBef>
                <a:spcPts val="1000"/>
              </a:spcBef>
              <a:spcAft>
                <a:spcPts val="0"/>
              </a:spcAft>
              <a:buClr>
                <a:schemeClr val="dk1"/>
              </a:buClr>
              <a:buSzPts val="2600"/>
              <a:buNone/>
            </a:pPr>
            <a:r>
              <a:rPr lang="en-IN" sz="2600"/>
              <a:t>P17. The current market price of an equity share of a company is Rs. 90. The current dividend per share is Rs. 4.50. In case the dividends are expected to grow at the rate of 7%. Calculate the cost of equity.</a:t>
            </a:r>
            <a:endParaRPr/>
          </a:p>
          <a:p>
            <a:pPr indent="0" lvl="0" marL="0" rtl="0" algn="just">
              <a:lnSpc>
                <a:spcPct val="90000"/>
              </a:lnSpc>
              <a:spcBef>
                <a:spcPts val="1000"/>
              </a:spcBef>
              <a:spcAft>
                <a:spcPts val="0"/>
              </a:spcAft>
              <a:buClr>
                <a:schemeClr val="dk1"/>
              </a:buClr>
              <a:buSzPts val="2600"/>
              <a:buNone/>
            </a:pPr>
            <a:r>
              <a:rPr lang="en-IN" sz="2600"/>
              <a:t>P18. The entire capital employed by  a company consists of  one lakh equity shares of Rs. 100 each. Its current earnings are Rs. 10 lakhs per annum. The company wants to raise additional funds of Rs. 25 lakhs by issuing new shares. The floatation costs are expected to be 10% of the face value of the shares. You are required to calculate the cost of equity.</a:t>
            </a:r>
            <a:endParaRPr sz="2600"/>
          </a:p>
        </p:txBody>
      </p:sp>
      <p:pic>
        <p:nvPicPr>
          <p:cNvPr descr="Image result for sastra logo" id="441" name="Google Shape;441;p68"/>
          <p:cNvPicPr preferRelativeResize="0"/>
          <p:nvPr/>
        </p:nvPicPr>
        <p:blipFill rotWithShape="1">
          <a:blip r:embed="rId3">
            <a:alphaModFix/>
          </a:blip>
          <a:srcRect b="0" l="0" r="0" t="0"/>
          <a:stretch/>
        </p:blipFill>
        <p:spPr>
          <a:xfrm>
            <a:off x="9432769" y="327208"/>
            <a:ext cx="1816100" cy="55721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9"/>
          <p:cNvSpPr txBox="1"/>
          <p:nvPr>
            <p:ph idx="1" type="body"/>
          </p:nvPr>
        </p:nvSpPr>
        <p:spPr>
          <a:xfrm>
            <a:off x="838200" y="812800"/>
            <a:ext cx="10515600" cy="53641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Weighted Average Cost of Capital [</a:t>
            </a:r>
            <a:r>
              <a:rPr b="1" lang="en-IN" sz="2400">
                <a:solidFill>
                  <a:srgbClr val="FF0000"/>
                </a:solidFill>
              </a:rPr>
              <a:t>W</a:t>
            </a:r>
            <a:r>
              <a:rPr b="1" baseline="-25000" lang="en-IN" sz="2400">
                <a:solidFill>
                  <a:srgbClr val="FF0000"/>
                </a:solidFill>
              </a:rPr>
              <a:t>o </a:t>
            </a:r>
            <a:r>
              <a:rPr b="1" lang="en-IN" sz="2400">
                <a:solidFill>
                  <a:srgbClr val="FF0000"/>
                </a:solidFill>
              </a:rPr>
              <a:t>K</a:t>
            </a:r>
            <a:r>
              <a:rPr b="1" baseline="-25000" lang="en-IN" sz="2400">
                <a:solidFill>
                  <a:srgbClr val="FF0000"/>
                </a:solidFill>
              </a:rPr>
              <a:t>o </a:t>
            </a:r>
            <a:r>
              <a:rPr b="1" lang="en-IN" sz="2400">
                <a:solidFill>
                  <a:srgbClr val="FF0000"/>
                </a:solidFill>
              </a:rPr>
              <a:t>]:</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It is also called as </a:t>
            </a:r>
            <a:r>
              <a:rPr lang="en-IN" sz="2600">
                <a:solidFill>
                  <a:srgbClr val="FF0000"/>
                </a:solidFill>
              </a:rPr>
              <a:t>overall cost of capital and composite cost of capital.</a:t>
            </a:r>
            <a:r>
              <a:rPr lang="en-IN" sz="2600"/>
              <a:t> Weighted average cost of capital is the expected average future cost of funds over the long run found by weighting the cost of each specific type of capital by its proportion in the firms capital structure. The computation of the overall cost of capital (W</a:t>
            </a:r>
            <a:r>
              <a:rPr baseline="-25000" lang="en-IN" sz="2600"/>
              <a:t>o</a:t>
            </a:r>
            <a:r>
              <a:rPr lang="en-IN" sz="2600"/>
              <a:t> K</a:t>
            </a:r>
            <a:r>
              <a:rPr baseline="-25000" lang="en-IN" sz="2600"/>
              <a:t>o</a:t>
            </a:r>
            <a:r>
              <a:rPr lang="en-IN" sz="2600"/>
              <a:t>) involves the following steps. </a:t>
            </a:r>
            <a:endParaRPr sz="2600"/>
          </a:p>
          <a:p>
            <a:pPr indent="-514350" lvl="0" marL="514350" rtl="0" algn="just">
              <a:lnSpc>
                <a:spcPct val="90000"/>
              </a:lnSpc>
              <a:spcBef>
                <a:spcPts val="1000"/>
              </a:spcBef>
              <a:spcAft>
                <a:spcPts val="0"/>
              </a:spcAft>
              <a:buClr>
                <a:srgbClr val="FF0000"/>
              </a:buClr>
              <a:buSzPts val="2600"/>
              <a:buAutoNum type="alphaLcParenBoth"/>
            </a:pPr>
            <a:r>
              <a:rPr lang="en-IN" sz="2600">
                <a:solidFill>
                  <a:srgbClr val="FF0000"/>
                </a:solidFill>
              </a:rPr>
              <a:t>Calculate the cost of each specific source of funds.</a:t>
            </a:r>
            <a:endParaRPr/>
          </a:p>
          <a:p>
            <a:pPr indent="-514350" lvl="0" marL="514350" rtl="0" algn="just">
              <a:lnSpc>
                <a:spcPct val="90000"/>
              </a:lnSpc>
              <a:spcBef>
                <a:spcPts val="1000"/>
              </a:spcBef>
              <a:spcAft>
                <a:spcPts val="0"/>
              </a:spcAft>
              <a:buClr>
                <a:srgbClr val="FF0000"/>
              </a:buClr>
              <a:buSzPts val="2600"/>
              <a:buAutoNum type="alphaLcParenBoth"/>
            </a:pPr>
            <a:r>
              <a:rPr lang="en-IN" sz="2600">
                <a:solidFill>
                  <a:srgbClr val="FF0000"/>
                </a:solidFill>
              </a:rPr>
              <a:t>Assigning weights to specific costs.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This involves determination of the proportion of each source of funds in the total capital structure of the company. This may be done according to nay of the following method:</a:t>
            </a:r>
            <a:endParaRPr sz="2600"/>
          </a:p>
        </p:txBody>
      </p:sp>
      <p:pic>
        <p:nvPicPr>
          <p:cNvPr descr="Image result for sastra logo" id="447" name="Google Shape;447;p69"/>
          <p:cNvPicPr preferRelativeResize="0"/>
          <p:nvPr/>
        </p:nvPicPr>
        <p:blipFill rotWithShape="1">
          <a:blip r:embed="rId3">
            <a:alphaModFix/>
          </a:blip>
          <a:srcRect b="0" l="0" r="0" t="0"/>
          <a:stretch/>
        </p:blipFill>
        <p:spPr>
          <a:xfrm>
            <a:off x="9537700" y="255588"/>
            <a:ext cx="1816100" cy="55721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0"/>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1. Marginal weights method:</a:t>
            </a:r>
            <a:endParaRPr/>
          </a:p>
          <a:p>
            <a:pPr indent="0" lvl="0" marL="0" rtl="0" algn="just">
              <a:lnSpc>
                <a:spcPct val="90000"/>
              </a:lnSpc>
              <a:spcBef>
                <a:spcPts val="1000"/>
              </a:spcBef>
              <a:spcAft>
                <a:spcPts val="0"/>
              </a:spcAft>
              <a:buClr>
                <a:schemeClr val="dk1"/>
              </a:buClr>
              <a:buSzPts val="2600"/>
              <a:buNone/>
            </a:pPr>
            <a:r>
              <a:rPr lang="en-IN" sz="2600"/>
              <a:t>In case of this method weights are assigned in each source of funds, in proportion of financing inputs the firm intends to employ. This method is based on this logic that our concern is with the </a:t>
            </a:r>
            <a:r>
              <a:rPr b="1" lang="en-IN" sz="2600">
                <a:solidFill>
                  <a:srgbClr val="FF0000"/>
                </a:solidFill>
              </a:rPr>
              <a:t>new or incremental capital</a:t>
            </a:r>
            <a:r>
              <a:rPr lang="en-IN" sz="2600"/>
              <a:t> and </a:t>
            </a:r>
            <a:r>
              <a:rPr b="1" lang="en-IN" sz="2600">
                <a:solidFill>
                  <a:srgbClr val="00B050"/>
                </a:solidFill>
              </a:rPr>
              <a:t>not with capital raised in the past.</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2. Historical weights method:</a:t>
            </a:r>
            <a:endParaRPr/>
          </a:p>
          <a:p>
            <a:pPr indent="0" lvl="0" marL="0" rtl="0" algn="just">
              <a:lnSpc>
                <a:spcPct val="90000"/>
              </a:lnSpc>
              <a:spcBef>
                <a:spcPts val="1000"/>
              </a:spcBef>
              <a:spcAft>
                <a:spcPts val="0"/>
              </a:spcAft>
              <a:buClr>
                <a:schemeClr val="dk1"/>
              </a:buClr>
              <a:buSzPts val="2600"/>
              <a:buNone/>
            </a:pPr>
            <a:r>
              <a:rPr lang="en-IN" sz="2600"/>
              <a:t>According to this method the relative proportion of various sources to the existing capital structure are used to assign weights. </a:t>
            </a:r>
            <a:r>
              <a:rPr b="1" lang="en-IN" sz="2600">
                <a:solidFill>
                  <a:srgbClr val="FF0000"/>
                </a:solidFill>
              </a:rPr>
              <a:t>Thus, in case of this method the basis of weights is the fund already employed by the firm. </a:t>
            </a:r>
            <a:r>
              <a:rPr lang="en-IN" sz="2600"/>
              <a:t>Thus this based on the assumption that the firm‘s present capital structure is optimum and it should be maintained in the future also.</a:t>
            </a:r>
            <a:endParaRPr sz="2600"/>
          </a:p>
        </p:txBody>
      </p:sp>
      <p:pic>
        <p:nvPicPr>
          <p:cNvPr descr="Image result for sastra logo" id="453" name="Google Shape;453;p70"/>
          <p:cNvPicPr preferRelativeResize="0"/>
          <p:nvPr/>
        </p:nvPicPr>
        <p:blipFill rotWithShape="1">
          <a:blip r:embed="rId3">
            <a:alphaModFix/>
          </a:blip>
          <a:srcRect b="0" l="0" r="0" t="0"/>
          <a:stretch/>
        </p:blipFill>
        <p:spPr>
          <a:xfrm>
            <a:off x="9432769" y="357188"/>
            <a:ext cx="1816100" cy="55721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1"/>
          <p:cNvSpPr txBox="1"/>
          <p:nvPr>
            <p:ph idx="1" type="body"/>
          </p:nvPr>
        </p:nvSpPr>
        <p:spPr>
          <a:xfrm>
            <a:off x="838200" y="749508"/>
            <a:ext cx="10515600" cy="542745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(c) Multiplying the </a:t>
            </a:r>
            <a:r>
              <a:rPr b="1" lang="en-IN" sz="2600">
                <a:solidFill>
                  <a:srgbClr val="FF0000"/>
                </a:solidFill>
              </a:rPr>
              <a:t>cost of each of the sources by the appropriate weights.</a:t>
            </a:r>
            <a:endParaRPr/>
          </a:p>
          <a:p>
            <a:pPr indent="0" lvl="0" marL="0" rtl="0" algn="just">
              <a:lnSpc>
                <a:spcPct val="90000"/>
              </a:lnSpc>
              <a:spcBef>
                <a:spcPts val="1000"/>
              </a:spcBef>
              <a:spcAft>
                <a:spcPts val="0"/>
              </a:spcAft>
              <a:buClr>
                <a:schemeClr val="dk1"/>
              </a:buClr>
              <a:buSzPts val="2600"/>
              <a:buNone/>
            </a:pPr>
            <a:r>
              <a:rPr lang="en-IN" sz="2600"/>
              <a:t>(d) Adding of the </a:t>
            </a:r>
            <a:r>
              <a:rPr b="1" lang="en-IN" sz="2600">
                <a:solidFill>
                  <a:srgbClr val="FF0000"/>
                </a:solidFill>
              </a:rPr>
              <a:t>weighted cost of all sources of funds </a:t>
            </a:r>
            <a:r>
              <a:rPr lang="en-IN" sz="2600"/>
              <a:t>to get an overall weighted average cost of capital.</a:t>
            </a:r>
            <a:endParaRPr/>
          </a:p>
          <a:p>
            <a:pPr indent="0" lvl="0" marL="0" rtl="0" algn="just">
              <a:lnSpc>
                <a:spcPct val="90000"/>
              </a:lnSpc>
              <a:spcBef>
                <a:spcPts val="1000"/>
              </a:spcBef>
              <a:spcAft>
                <a:spcPts val="0"/>
              </a:spcAft>
              <a:buClr>
                <a:schemeClr val="dk1"/>
              </a:buClr>
              <a:buSzPts val="2600"/>
              <a:buNone/>
            </a:pPr>
            <a:r>
              <a:rPr lang="en-IN" sz="2600"/>
              <a:t>The overall cost of capital can be calculated with the help of the following formula:</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W</a:t>
            </a:r>
            <a:r>
              <a:rPr b="1" baseline="-25000" lang="en-IN" sz="2600">
                <a:solidFill>
                  <a:srgbClr val="00B050"/>
                </a:solidFill>
              </a:rPr>
              <a:t>o </a:t>
            </a:r>
            <a:r>
              <a:rPr b="1" lang="en-IN" sz="2600">
                <a:solidFill>
                  <a:srgbClr val="00B050"/>
                </a:solidFill>
              </a:rPr>
              <a:t>K</a:t>
            </a:r>
            <a:r>
              <a:rPr b="1" baseline="-25000" lang="en-IN" sz="2600">
                <a:solidFill>
                  <a:srgbClr val="00B050"/>
                </a:solidFill>
              </a:rPr>
              <a:t>o </a:t>
            </a:r>
            <a:r>
              <a:rPr b="1" lang="en-IN" sz="2600">
                <a:solidFill>
                  <a:srgbClr val="00B050"/>
                </a:solidFill>
              </a:rPr>
              <a:t>= W</a:t>
            </a:r>
            <a:r>
              <a:rPr b="1" baseline="-25000" lang="en-IN" sz="2600">
                <a:solidFill>
                  <a:srgbClr val="00B050"/>
                </a:solidFill>
              </a:rPr>
              <a:t>d</a:t>
            </a:r>
            <a:r>
              <a:rPr b="1" lang="en-IN" sz="2600">
                <a:solidFill>
                  <a:srgbClr val="00B050"/>
                </a:solidFill>
              </a:rPr>
              <a:t> K</a:t>
            </a:r>
            <a:r>
              <a:rPr b="1" baseline="-25000" lang="en-IN" sz="2600">
                <a:solidFill>
                  <a:srgbClr val="00B050"/>
                </a:solidFill>
              </a:rPr>
              <a:t>d</a:t>
            </a:r>
            <a:r>
              <a:rPr b="1" lang="en-IN" sz="2600">
                <a:solidFill>
                  <a:srgbClr val="00B050"/>
                </a:solidFill>
              </a:rPr>
              <a:t> + W</a:t>
            </a:r>
            <a:r>
              <a:rPr b="1" baseline="-25000" lang="en-IN" sz="2600">
                <a:solidFill>
                  <a:srgbClr val="00B050"/>
                </a:solidFill>
              </a:rPr>
              <a:t>p</a:t>
            </a:r>
            <a:r>
              <a:rPr b="1" lang="en-IN" sz="2600">
                <a:solidFill>
                  <a:srgbClr val="00B050"/>
                </a:solidFill>
              </a:rPr>
              <a:t> K</a:t>
            </a:r>
            <a:r>
              <a:rPr b="1" baseline="-25000" lang="en-IN" sz="2600">
                <a:solidFill>
                  <a:srgbClr val="00B050"/>
                </a:solidFill>
              </a:rPr>
              <a:t>p</a:t>
            </a:r>
            <a:r>
              <a:rPr b="1" lang="en-IN" sz="2600">
                <a:solidFill>
                  <a:srgbClr val="00B050"/>
                </a:solidFill>
              </a:rPr>
              <a:t> + W</a:t>
            </a:r>
            <a:r>
              <a:rPr b="1" baseline="-25000" lang="en-IN" sz="2600">
                <a:solidFill>
                  <a:srgbClr val="00B050"/>
                </a:solidFill>
              </a:rPr>
              <a:t>e</a:t>
            </a:r>
            <a:r>
              <a:rPr b="1" lang="en-IN" sz="2600">
                <a:solidFill>
                  <a:srgbClr val="00B050"/>
                </a:solidFill>
              </a:rPr>
              <a:t> K</a:t>
            </a:r>
            <a:r>
              <a:rPr b="1" baseline="-25000" lang="en-IN" sz="2600">
                <a:solidFill>
                  <a:srgbClr val="00B050"/>
                </a:solidFill>
              </a:rPr>
              <a:t>e</a:t>
            </a:r>
            <a:r>
              <a:rPr b="1" lang="en-IN" sz="2600">
                <a:solidFill>
                  <a:srgbClr val="00B050"/>
                </a:solidFill>
              </a:rPr>
              <a:t> +  W</a:t>
            </a:r>
            <a:r>
              <a:rPr b="1" baseline="-25000" lang="en-IN" sz="2600">
                <a:solidFill>
                  <a:srgbClr val="00B050"/>
                </a:solidFill>
              </a:rPr>
              <a:t>r</a:t>
            </a:r>
            <a:r>
              <a:rPr b="1" lang="en-IN" sz="2600">
                <a:solidFill>
                  <a:srgbClr val="00B050"/>
                </a:solidFill>
              </a:rPr>
              <a:t> K</a:t>
            </a:r>
            <a:r>
              <a:rPr b="1" baseline="-25000" lang="en-IN" sz="2600">
                <a:solidFill>
                  <a:srgbClr val="00B050"/>
                </a:solidFill>
              </a:rPr>
              <a:t>r</a:t>
            </a:r>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459" name="Google Shape;459;p71"/>
          <p:cNvPicPr preferRelativeResize="0"/>
          <p:nvPr/>
        </p:nvPicPr>
        <p:blipFill rotWithShape="1">
          <a:blip r:embed="rId3">
            <a:alphaModFix/>
          </a:blip>
          <a:srcRect b="0" l="0" r="0" t="0"/>
          <a:stretch/>
        </p:blipFill>
        <p:spPr>
          <a:xfrm>
            <a:off x="9537700" y="192296"/>
            <a:ext cx="1816100" cy="55721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2"/>
          <p:cNvSpPr txBox="1"/>
          <p:nvPr>
            <p:ph idx="1" type="body"/>
          </p:nvPr>
        </p:nvSpPr>
        <p:spPr>
          <a:xfrm>
            <a:off x="838200" y="827314"/>
            <a:ext cx="10515600" cy="534964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Where:</a:t>
            </a:r>
            <a:endParaRPr/>
          </a:p>
          <a:p>
            <a:pPr indent="0" lvl="0" marL="0" rtl="0" algn="l">
              <a:lnSpc>
                <a:spcPct val="90000"/>
              </a:lnSpc>
              <a:spcBef>
                <a:spcPts val="1000"/>
              </a:spcBef>
              <a:spcAft>
                <a:spcPts val="0"/>
              </a:spcAft>
              <a:buClr>
                <a:schemeClr val="dk1"/>
              </a:buClr>
              <a:buSzPts val="2600"/>
              <a:buNone/>
            </a:pPr>
            <a:r>
              <a:rPr lang="en-IN" sz="2600"/>
              <a:t>W</a:t>
            </a:r>
            <a:r>
              <a:rPr baseline="-25000" lang="en-IN" sz="2600"/>
              <a:t>o </a:t>
            </a:r>
            <a:r>
              <a:rPr lang="en-IN" sz="2600"/>
              <a:t>K</a:t>
            </a:r>
            <a:r>
              <a:rPr baseline="-25000" lang="en-IN" sz="2600"/>
              <a:t>o </a:t>
            </a:r>
            <a:r>
              <a:rPr lang="en-IN" sz="2600"/>
              <a:t>= Weighted average cost of capital</a:t>
            </a:r>
            <a:endParaRPr/>
          </a:p>
          <a:p>
            <a:pPr indent="0" lvl="0" marL="0" rtl="0" algn="l">
              <a:lnSpc>
                <a:spcPct val="90000"/>
              </a:lnSpc>
              <a:spcBef>
                <a:spcPts val="1000"/>
              </a:spcBef>
              <a:spcAft>
                <a:spcPts val="0"/>
              </a:spcAft>
              <a:buClr>
                <a:schemeClr val="dk1"/>
              </a:buClr>
              <a:buSzPts val="2600"/>
              <a:buNone/>
            </a:pPr>
            <a:r>
              <a:rPr lang="en-IN" sz="2600"/>
              <a:t>K</a:t>
            </a:r>
            <a:r>
              <a:rPr baseline="-25000" lang="en-IN" sz="2600"/>
              <a:t>o</a:t>
            </a:r>
            <a:r>
              <a:rPr lang="en-IN" sz="2600"/>
              <a:t> = Overall cost of capital </a:t>
            </a:r>
            <a:endParaRPr sz="2600"/>
          </a:p>
          <a:p>
            <a:pPr indent="0" lvl="0" marL="0" rtl="0" algn="l">
              <a:lnSpc>
                <a:spcPct val="90000"/>
              </a:lnSpc>
              <a:spcBef>
                <a:spcPts val="1000"/>
              </a:spcBef>
              <a:spcAft>
                <a:spcPts val="0"/>
              </a:spcAft>
              <a:buClr>
                <a:schemeClr val="dk1"/>
              </a:buClr>
              <a:buSzPts val="2600"/>
              <a:buNone/>
            </a:pPr>
            <a:r>
              <a:rPr lang="en-IN" sz="2600"/>
              <a:t>K</a:t>
            </a:r>
            <a:r>
              <a:rPr baseline="-25000" lang="en-IN" sz="2600"/>
              <a:t>d </a:t>
            </a:r>
            <a:r>
              <a:rPr lang="en-IN" sz="2600"/>
              <a:t>= Cost of debt </a:t>
            </a:r>
            <a:endParaRPr sz="2600"/>
          </a:p>
          <a:p>
            <a:pPr indent="0" lvl="0" marL="0" rtl="0" algn="l">
              <a:lnSpc>
                <a:spcPct val="90000"/>
              </a:lnSpc>
              <a:spcBef>
                <a:spcPts val="1000"/>
              </a:spcBef>
              <a:spcAft>
                <a:spcPts val="0"/>
              </a:spcAft>
              <a:buClr>
                <a:schemeClr val="dk1"/>
              </a:buClr>
              <a:buSzPts val="2600"/>
              <a:buNone/>
            </a:pPr>
            <a:r>
              <a:rPr lang="en-IN" sz="2600"/>
              <a:t>K</a:t>
            </a:r>
            <a:r>
              <a:rPr baseline="-25000" lang="en-IN" sz="2600"/>
              <a:t>p</a:t>
            </a:r>
            <a:r>
              <a:rPr lang="en-IN" sz="2600"/>
              <a:t> = Cost of preference share </a:t>
            </a:r>
            <a:endParaRPr sz="2600"/>
          </a:p>
          <a:p>
            <a:pPr indent="0" lvl="0" marL="0" rtl="0" algn="l">
              <a:lnSpc>
                <a:spcPct val="90000"/>
              </a:lnSpc>
              <a:spcBef>
                <a:spcPts val="1000"/>
              </a:spcBef>
              <a:spcAft>
                <a:spcPts val="0"/>
              </a:spcAft>
              <a:buClr>
                <a:schemeClr val="dk1"/>
              </a:buClr>
              <a:buSzPts val="2600"/>
              <a:buNone/>
            </a:pPr>
            <a:r>
              <a:rPr lang="en-IN" sz="2600"/>
              <a:t>K</a:t>
            </a:r>
            <a:r>
              <a:rPr baseline="-25000" lang="en-IN" sz="2600"/>
              <a:t>e</a:t>
            </a:r>
            <a:r>
              <a:rPr lang="en-IN" sz="2600"/>
              <a:t> = Cost of equity </a:t>
            </a:r>
            <a:endParaRPr sz="2600"/>
          </a:p>
          <a:p>
            <a:pPr indent="0" lvl="0" marL="0" rtl="0" algn="l">
              <a:lnSpc>
                <a:spcPct val="90000"/>
              </a:lnSpc>
              <a:spcBef>
                <a:spcPts val="1000"/>
              </a:spcBef>
              <a:spcAft>
                <a:spcPts val="0"/>
              </a:spcAft>
              <a:buClr>
                <a:schemeClr val="dk1"/>
              </a:buClr>
              <a:buSzPts val="2600"/>
              <a:buNone/>
            </a:pPr>
            <a:r>
              <a:rPr lang="en-IN" sz="2600"/>
              <a:t>K</a:t>
            </a:r>
            <a:r>
              <a:rPr baseline="-25000" lang="en-IN" sz="2600"/>
              <a:t>r</a:t>
            </a:r>
            <a:r>
              <a:rPr lang="en-IN" sz="2600"/>
              <a:t> = Cost of retained earnings </a:t>
            </a:r>
            <a:endParaRPr sz="2600"/>
          </a:p>
          <a:p>
            <a:pPr indent="0" lvl="0" marL="0" rtl="0" algn="l">
              <a:lnSpc>
                <a:spcPct val="90000"/>
              </a:lnSpc>
              <a:spcBef>
                <a:spcPts val="1000"/>
              </a:spcBef>
              <a:spcAft>
                <a:spcPts val="0"/>
              </a:spcAft>
              <a:buClr>
                <a:schemeClr val="dk1"/>
              </a:buClr>
              <a:buSzPts val="2600"/>
              <a:buNone/>
            </a:pPr>
            <a:r>
              <a:rPr lang="en-IN" sz="2600"/>
              <a:t>W</a:t>
            </a:r>
            <a:r>
              <a:rPr baseline="-25000" lang="en-IN" sz="2600"/>
              <a:t>d</a:t>
            </a:r>
            <a:r>
              <a:rPr lang="en-IN" sz="2600"/>
              <a:t> = Percentage of debt  to total capital</a:t>
            </a:r>
            <a:endParaRPr/>
          </a:p>
          <a:p>
            <a:pPr indent="0" lvl="0" marL="0" rtl="0" algn="l">
              <a:lnSpc>
                <a:spcPct val="90000"/>
              </a:lnSpc>
              <a:spcBef>
                <a:spcPts val="1000"/>
              </a:spcBef>
              <a:spcAft>
                <a:spcPts val="0"/>
              </a:spcAft>
              <a:buClr>
                <a:schemeClr val="dk1"/>
              </a:buClr>
              <a:buSzPts val="2600"/>
              <a:buNone/>
            </a:pPr>
            <a:r>
              <a:rPr lang="en-IN" sz="2600"/>
              <a:t>W</a:t>
            </a:r>
            <a:r>
              <a:rPr baseline="-25000" lang="en-IN" sz="2600"/>
              <a:t>p</a:t>
            </a:r>
            <a:r>
              <a:rPr lang="en-IN" sz="2600"/>
              <a:t> = Percentage of preference share to total capital </a:t>
            </a:r>
            <a:endParaRPr sz="2600"/>
          </a:p>
          <a:p>
            <a:pPr indent="0" lvl="0" marL="0" rtl="0" algn="l">
              <a:lnSpc>
                <a:spcPct val="90000"/>
              </a:lnSpc>
              <a:spcBef>
                <a:spcPts val="1000"/>
              </a:spcBef>
              <a:spcAft>
                <a:spcPts val="0"/>
              </a:spcAft>
              <a:buClr>
                <a:schemeClr val="dk1"/>
              </a:buClr>
              <a:buSzPts val="2600"/>
              <a:buNone/>
            </a:pPr>
            <a:r>
              <a:rPr lang="en-IN" sz="2600"/>
              <a:t>W</a:t>
            </a:r>
            <a:r>
              <a:rPr baseline="-25000" lang="en-IN" sz="2600"/>
              <a:t>e </a:t>
            </a:r>
            <a:r>
              <a:rPr lang="en-IN" sz="2600"/>
              <a:t>= Percentage of equity to total capital </a:t>
            </a:r>
            <a:endParaRPr sz="2600"/>
          </a:p>
          <a:p>
            <a:pPr indent="0" lvl="0" marL="0" rtl="0" algn="l">
              <a:lnSpc>
                <a:spcPct val="90000"/>
              </a:lnSpc>
              <a:spcBef>
                <a:spcPts val="1000"/>
              </a:spcBef>
              <a:spcAft>
                <a:spcPts val="0"/>
              </a:spcAft>
              <a:buClr>
                <a:schemeClr val="dk1"/>
              </a:buClr>
              <a:buSzPts val="2600"/>
              <a:buNone/>
            </a:pPr>
            <a:r>
              <a:rPr lang="en-IN" sz="2600"/>
              <a:t>W</a:t>
            </a:r>
            <a:r>
              <a:rPr baseline="-25000" lang="en-IN" sz="2600"/>
              <a:t>r </a:t>
            </a:r>
            <a:r>
              <a:rPr lang="en-IN" sz="2600"/>
              <a:t>= Percentage of retained earnings to total capital</a:t>
            </a:r>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465" name="Google Shape;465;p72"/>
          <p:cNvPicPr preferRelativeResize="0"/>
          <p:nvPr/>
        </p:nvPicPr>
        <p:blipFill rotWithShape="1">
          <a:blip r:embed="rId3">
            <a:alphaModFix/>
          </a:blip>
          <a:srcRect b="0" l="0" r="0" t="0"/>
          <a:stretch/>
        </p:blipFill>
        <p:spPr>
          <a:xfrm>
            <a:off x="9537700" y="270102"/>
            <a:ext cx="1816100" cy="55721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3"/>
          <p:cNvSpPr txBox="1"/>
          <p:nvPr>
            <p:ph idx="1" type="body"/>
          </p:nvPr>
        </p:nvSpPr>
        <p:spPr>
          <a:xfrm>
            <a:off x="838199" y="839450"/>
            <a:ext cx="10515600" cy="557634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Solved problem:</a:t>
            </a:r>
            <a:endParaRPr/>
          </a:p>
          <a:p>
            <a:pPr indent="0" lvl="0" marL="0" rtl="0" algn="just">
              <a:lnSpc>
                <a:spcPct val="90000"/>
              </a:lnSpc>
              <a:spcBef>
                <a:spcPts val="1000"/>
              </a:spcBef>
              <a:spcAft>
                <a:spcPts val="0"/>
              </a:spcAft>
              <a:buClr>
                <a:schemeClr val="dk1"/>
              </a:buClr>
              <a:buSzPts val="2600"/>
              <a:buNone/>
            </a:pPr>
            <a:r>
              <a:rPr lang="en-IN" sz="2600"/>
              <a:t>P19. From the following capital structure of a company, calculate the overall cost of capital using a) Book Value Weights and b) Market Value Weights.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The after tax cost of different source of finance is as follows:</a:t>
            </a:r>
            <a:endParaRPr sz="2600"/>
          </a:p>
          <a:p>
            <a:pPr indent="0" lvl="0" marL="0" rtl="0" algn="just">
              <a:lnSpc>
                <a:spcPct val="90000"/>
              </a:lnSpc>
              <a:spcBef>
                <a:spcPts val="1000"/>
              </a:spcBef>
              <a:spcAft>
                <a:spcPts val="0"/>
              </a:spcAft>
              <a:buClr>
                <a:schemeClr val="dk1"/>
              </a:buClr>
              <a:buSzPts val="2600"/>
              <a:buNone/>
            </a:pPr>
            <a:r>
              <a:rPr lang="en-IN" sz="2600"/>
              <a:t>Equity Share Capital: 14%, Retained Earnings: 13%, Preference Share Capital; 10% and Debentures: 5%.</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 </a:t>
            </a:r>
            <a:endParaRPr sz="2600">
              <a:solidFill>
                <a:srgbClr val="FF0000"/>
              </a:solidFill>
            </a:endParaRPr>
          </a:p>
        </p:txBody>
      </p:sp>
      <p:graphicFrame>
        <p:nvGraphicFramePr>
          <p:cNvPr id="472" name="Google Shape;472;p73"/>
          <p:cNvGraphicFramePr/>
          <p:nvPr/>
        </p:nvGraphicFramePr>
        <p:xfrm>
          <a:off x="838199" y="2137910"/>
          <a:ext cx="3000000" cy="3000000"/>
        </p:xfrm>
        <a:graphic>
          <a:graphicData uri="http://schemas.openxmlformats.org/drawingml/2006/table">
            <a:tbl>
              <a:tblPr bandRow="1" firstRow="1">
                <a:noFill/>
                <a:tableStyleId>{3CD1E0FF-FAF5-4487-BE71-2FD66BCB489A}</a:tableStyleId>
              </a:tblPr>
              <a:tblGrid>
                <a:gridCol w="6593125"/>
                <a:gridCol w="1907550"/>
                <a:gridCol w="2014925"/>
              </a:tblGrid>
              <a:tr h="370850">
                <a:tc>
                  <a:txBody>
                    <a:bodyPr/>
                    <a:lstStyle/>
                    <a:p>
                      <a:pPr indent="0" lvl="0" marL="457200" marR="0" rtl="0" algn="ctr">
                        <a:lnSpc>
                          <a:spcPct val="115000"/>
                        </a:lnSpc>
                        <a:spcBef>
                          <a:spcPts val="0"/>
                        </a:spcBef>
                        <a:spcAft>
                          <a:spcPts val="0"/>
                        </a:spcAft>
                        <a:buNone/>
                      </a:pPr>
                      <a:r>
                        <a:rPr b="1" lang="en-IN" sz="2000">
                          <a:latin typeface="Calibri"/>
                          <a:ea typeface="Calibri"/>
                          <a:cs typeface="Calibri"/>
                          <a:sym typeface="Calibri"/>
                        </a:rPr>
                        <a:t>Source</a:t>
                      </a:r>
                      <a:endParaRPr sz="2000">
                        <a:latin typeface="Calibri"/>
                        <a:ea typeface="Calibri"/>
                        <a:cs typeface="Calibri"/>
                        <a:sym typeface="Calibri"/>
                      </a:endParaRPr>
                    </a:p>
                  </a:txBody>
                  <a:tcPr marT="0" marB="0" marR="68575" marL="68575" anchor="ctr"/>
                </a:tc>
                <a:tc>
                  <a:txBody>
                    <a:bodyPr/>
                    <a:lstStyle/>
                    <a:p>
                      <a:pPr indent="0" lvl="0" marL="457200" marR="0" rtl="0" algn="r">
                        <a:lnSpc>
                          <a:spcPct val="115000"/>
                        </a:lnSpc>
                        <a:spcBef>
                          <a:spcPts val="0"/>
                        </a:spcBef>
                        <a:spcAft>
                          <a:spcPts val="0"/>
                        </a:spcAft>
                        <a:buNone/>
                      </a:pPr>
                      <a:r>
                        <a:rPr b="1" lang="en-IN" sz="2000">
                          <a:latin typeface="Calibri"/>
                          <a:ea typeface="Calibri"/>
                          <a:cs typeface="Calibri"/>
                          <a:sym typeface="Calibri"/>
                        </a:rPr>
                        <a:t>Book Value </a:t>
                      </a:r>
                      <a:endParaRPr b="1" sz="2000">
                        <a:latin typeface="Calibri"/>
                        <a:ea typeface="Calibri"/>
                        <a:cs typeface="Calibri"/>
                        <a:sym typeface="Calibri"/>
                      </a:endParaRPr>
                    </a:p>
                    <a:p>
                      <a:pPr indent="0" lvl="0" marL="457200" marR="0" rtl="0" algn="r">
                        <a:lnSpc>
                          <a:spcPct val="115000"/>
                        </a:lnSpc>
                        <a:spcBef>
                          <a:spcPts val="0"/>
                        </a:spcBef>
                        <a:spcAft>
                          <a:spcPts val="0"/>
                        </a:spcAft>
                        <a:buNone/>
                      </a:pPr>
                      <a:r>
                        <a:rPr b="1" lang="en-IN" sz="2000">
                          <a:latin typeface="Calibri"/>
                          <a:ea typeface="Calibri"/>
                          <a:cs typeface="Calibri"/>
                          <a:sym typeface="Calibri"/>
                        </a:rPr>
                        <a:t>(Rs.)</a:t>
                      </a:r>
                      <a:endParaRPr sz="2000">
                        <a:latin typeface="Calibri"/>
                        <a:ea typeface="Calibri"/>
                        <a:cs typeface="Calibri"/>
                        <a:sym typeface="Calibri"/>
                      </a:endParaRPr>
                    </a:p>
                  </a:txBody>
                  <a:tcPr marT="0" marB="0" marR="68575" marL="68575" anchor="ctr"/>
                </a:tc>
                <a:tc>
                  <a:txBody>
                    <a:bodyPr/>
                    <a:lstStyle/>
                    <a:p>
                      <a:pPr indent="0" lvl="0" marL="457200" marR="0" rtl="0" algn="r">
                        <a:lnSpc>
                          <a:spcPct val="115000"/>
                        </a:lnSpc>
                        <a:spcBef>
                          <a:spcPts val="0"/>
                        </a:spcBef>
                        <a:spcAft>
                          <a:spcPts val="0"/>
                        </a:spcAft>
                        <a:buNone/>
                      </a:pPr>
                      <a:r>
                        <a:rPr b="1" lang="en-IN" sz="2000">
                          <a:latin typeface="Calibri"/>
                          <a:ea typeface="Calibri"/>
                          <a:cs typeface="Calibri"/>
                          <a:sym typeface="Calibri"/>
                        </a:rPr>
                        <a:t>Market Value </a:t>
                      </a:r>
                      <a:endParaRPr b="1" sz="2000">
                        <a:latin typeface="Calibri"/>
                        <a:ea typeface="Calibri"/>
                        <a:cs typeface="Calibri"/>
                        <a:sym typeface="Calibri"/>
                      </a:endParaRPr>
                    </a:p>
                    <a:p>
                      <a:pPr indent="0" lvl="0" marL="457200" marR="0" rtl="0" algn="r">
                        <a:lnSpc>
                          <a:spcPct val="115000"/>
                        </a:lnSpc>
                        <a:spcBef>
                          <a:spcPts val="0"/>
                        </a:spcBef>
                        <a:spcAft>
                          <a:spcPts val="0"/>
                        </a:spcAft>
                        <a:buNone/>
                      </a:pPr>
                      <a:r>
                        <a:rPr b="1" lang="en-IN" sz="2000">
                          <a:latin typeface="Calibri"/>
                          <a:ea typeface="Calibri"/>
                          <a:cs typeface="Calibri"/>
                          <a:sym typeface="Calibri"/>
                        </a:rPr>
                        <a:t>(Rs.)</a:t>
                      </a:r>
                      <a:endParaRPr sz="2000">
                        <a:latin typeface="Calibri"/>
                        <a:ea typeface="Calibri"/>
                        <a:cs typeface="Calibri"/>
                        <a:sym typeface="Calibri"/>
                      </a:endParaRPr>
                    </a:p>
                  </a:txBody>
                  <a:tcPr marT="0" marB="0" marR="68575" marL="68575" anchor="ctr"/>
                </a:tc>
              </a:tr>
              <a:tr h="370850">
                <a:tc>
                  <a:txBody>
                    <a:bodyPr/>
                    <a:lstStyle/>
                    <a:p>
                      <a:pPr indent="0" lvl="0" marL="457200" marR="0" rtl="0" algn="l">
                        <a:lnSpc>
                          <a:spcPct val="115000"/>
                        </a:lnSpc>
                        <a:spcBef>
                          <a:spcPts val="0"/>
                        </a:spcBef>
                        <a:spcAft>
                          <a:spcPts val="0"/>
                        </a:spcAft>
                        <a:buNone/>
                      </a:pPr>
                      <a:r>
                        <a:rPr lang="en-IN" sz="2600">
                          <a:latin typeface="Calibri"/>
                          <a:ea typeface="Calibri"/>
                          <a:cs typeface="Calibri"/>
                          <a:sym typeface="Calibri"/>
                        </a:rPr>
                        <a:t>Equity Share Capital @ Rs. 10 each</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45,000</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90,000</a:t>
                      </a:r>
                      <a:endParaRPr sz="2600">
                        <a:latin typeface="Calibri"/>
                        <a:ea typeface="Calibri"/>
                        <a:cs typeface="Calibri"/>
                        <a:sym typeface="Calibri"/>
                      </a:endParaRPr>
                    </a:p>
                  </a:txBody>
                  <a:tcPr marT="0" marB="0" marR="68575" marL="68575"/>
                </a:tc>
              </a:tr>
              <a:tr h="370850">
                <a:tc>
                  <a:txBody>
                    <a:bodyPr/>
                    <a:lstStyle/>
                    <a:p>
                      <a:pPr indent="0" lvl="0" marL="457200" marR="0" rtl="0" algn="l">
                        <a:lnSpc>
                          <a:spcPct val="115000"/>
                        </a:lnSpc>
                        <a:spcBef>
                          <a:spcPts val="0"/>
                        </a:spcBef>
                        <a:spcAft>
                          <a:spcPts val="0"/>
                        </a:spcAft>
                        <a:buNone/>
                      </a:pPr>
                      <a:r>
                        <a:rPr lang="en-IN" sz="2600">
                          <a:latin typeface="Calibri"/>
                          <a:ea typeface="Calibri"/>
                          <a:cs typeface="Calibri"/>
                          <a:sym typeface="Calibri"/>
                        </a:rPr>
                        <a:t>Retained Earnings</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15,000</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Nil</a:t>
                      </a:r>
                      <a:endParaRPr sz="2600">
                        <a:latin typeface="Calibri"/>
                        <a:ea typeface="Calibri"/>
                        <a:cs typeface="Calibri"/>
                        <a:sym typeface="Calibri"/>
                      </a:endParaRPr>
                    </a:p>
                  </a:txBody>
                  <a:tcPr marT="0" marB="0" marR="68575" marL="68575"/>
                </a:tc>
              </a:tr>
              <a:tr h="370850">
                <a:tc>
                  <a:txBody>
                    <a:bodyPr/>
                    <a:lstStyle/>
                    <a:p>
                      <a:pPr indent="0" lvl="0" marL="457200" marR="0" rtl="0" algn="l">
                        <a:lnSpc>
                          <a:spcPct val="115000"/>
                        </a:lnSpc>
                        <a:spcBef>
                          <a:spcPts val="0"/>
                        </a:spcBef>
                        <a:spcAft>
                          <a:spcPts val="0"/>
                        </a:spcAft>
                        <a:buNone/>
                      </a:pPr>
                      <a:r>
                        <a:rPr lang="en-IN" sz="2600">
                          <a:latin typeface="Calibri"/>
                          <a:ea typeface="Calibri"/>
                          <a:cs typeface="Calibri"/>
                          <a:sym typeface="Calibri"/>
                        </a:rPr>
                        <a:t>Preference Capital </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10,000</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10,000</a:t>
                      </a:r>
                      <a:endParaRPr sz="2600">
                        <a:latin typeface="Calibri"/>
                        <a:ea typeface="Calibri"/>
                        <a:cs typeface="Calibri"/>
                        <a:sym typeface="Calibri"/>
                      </a:endParaRPr>
                    </a:p>
                  </a:txBody>
                  <a:tcPr marT="0" marB="0" marR="68575" marL="68575"/>
                </a:tc>
              </a:tr>
              <a:tr h="455400">
                <a:tc>
                  <a:txBody>
                    <a:bodyPr/>
                    <a:lstStyle/>
                    <a:p>
                      <a:pPr indent="0" lvl="0" marL="457200" marR="0" rtl="0" algn="l">
                        <a:lnSpc>
                          <a:spcPct val="115000"/>
                        </a:lnSpc>
                        <a:spcBef>
                          <a:spcPts val="0"/>
                        </a:spcBef>
                        <a:spcAft>
                          <a:spcPts val="0"/>
                        </a:spcAft>
                        <a:buNone/>
                      </a:pPr>
                      <a:r>
                        <a:rPr lang="en-IN" sz="2600">
                          <a:latin typeface="Calibri"/>
                          <a:ea typeface="Calibri"/>
                          <a:cs typeface="Calibri"/>
                          <a:sym typeface="Calibri"/>
                        </a:rPr>
                        <a:t>Debentures</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30,000</a:t>
                      </a:r>
                      <a:endParaRPr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600">
                          <a:latin typeface="Calibri"/>
                          <a:ea typeface="Calibri"/>
                          <a:cs typeface="Calibri"/>
                          <a:sym typeface="Calibri"/>
                        </a:rPr>
                        <a:t>30,000</a:t>
                      </a:r>
                      <a:endParaRPr sz="2600">
                        <a:latin typeface="Calibri"/>
                        <a:ea typeface="Calibri"/>
                        <a:cs typeface="Calibri"/>
                        <a:sym typeface="Calibri"/>
                      </a:endParaRPr>
                    </a:p>
                  </a:txBody>
                  <a:tcPr marT="0" marB="0" marR="68575" marL="68575"/>
                </a:tc>
              </a:tr>
              <a:tr h="370850">
                <a:tc>
                  <a:txBody>
                    <a:bodyPr/>
                    <a:lstStyle/>
                    <a:p>
                      <a:pPr indent="0" lvl="0" marL="457200" marR="0" rtl="0" algn="ctr">
                        <a:lnSpc>
                          <a:spcPct val="115000"/>
                        </a:lnSpc>
                        <a:spcBef>
                          <a:spcPts val="0"/>
                        </a:spcBef>
                        <a:spcAft>
                          <a:spcPts val="0"/>
                        </a:spcAft>
                        <a:buNone/>
                      </a:pPr>
                      <a:r>
                        <a:rPr b="0" lang="en-IN" sz="2600">
                          <a:latin typeface="Calibri"/>
                          <a:ea typeface="Calibri"/>
                          <a:cs typeface="Calibri"/>
                          <a:sym typeface="Calibri"/>
                        </a:rPr>
                        <a:t>Total</a:t>
                      </a:r>
                      <a:endParaRPr b="0"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b="0" lang="en-IN" sz="2600">
                          <a:latin typeface="Calibri"/>
                          <a:ea typeface="Calibri"/>
                          <a:cs typeface="Calibri"/>
                          <a:sym typeface="Calibri"/>
                        </a:rPr>
                        <a:t>1,00,000</a:t>
                      </a:r>
                      <a:endParaRPr b="0" sz="26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b="0" lang="en-IN" sz="2600">
                          <a:latin typeface="Calibri"/>
                          <a:ea typeface="Calibri"/>
                          <a:cs typeface="Calibri"/>
                          <a:sym typeface="Calibri"/>
                        </a:rPr>
                        <a:t>1,30,000</a:t>
                      </a:r>
                      <a:endParaRPr b="0" sz="2600">
                        <a:latin typeface="Calibri"/>
                        <a:ea typeface="Calibri"/>
                        <a:cs typeface="Calibri"/>
                        <a:sym typeface="Calibri"/>
                      </a:endParaRPr>
                    </a:p>
                  </a:txBody>
                  <a:tcPr marT="0" marB="0" marR="68575" marL="68575"/>
                </a:tc>
              </a:tr>
            </a:tbl>
          </a:graphicData>
        </a:graphic>
      </p:graphicFrame>
      <p:pic>
        <p:nvPicPr>
          <p:cNvPr descr="Image result for sastra logo" id="473" name="Google Shape;473;p73"/>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4"/>
          <p:cNvSpPr txBox="1"/>
          <p:nvPr>
            <p:ph idx="1" type="body"/>
          </p:nvPr>
        </p:nvSpPr>
        <p:spPr>
          <a:xfrm>
            <a:off x="838200" y="769257"/>
            <a:ext cx="10515600" cy="54077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a:t>
            </a:r>
            <a:endParaRPr/>
          </a:p>
          <a:p>
            <a:pPr indent="-514350" lvl="0" marL="514350" rtl="0" algn="l">
              <a:lnSpc>
                <a:spcPct val="90000"/>
              </a:lnSpc>
              <a:spcBef>
                <a:spcPts val="1000"/>
              </a:spcBef>
              <a:spcAft>
                <a:spcPts val="0"/>
              </a:spcAft>
              <a:buClr>
                <a:srgbClr val="FF0000"/>
              </a:buClr>
              <a:buSzPts val="2600"/>
              <a:buAutoNum type="alphaLcParenR"/>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[Book value weights]</a:t>
            </a:r>
            <a:endParaRPr/>
          </a:p>
          <a:p>
            <a:pPr indent="0" lvl="0" marL="0" rtl="0" algn="ctr">
              <a:lnSpc>
                <a:spcPct val="90000"/>
              </a:lnSpc>
              <a:spcBef>
                <a:spcPts val="1000"/>
              </a:spcBef>
              <a:spcAft>
                <a:spcPts val="0"/>
              </a:spcAft>
              <a:buClr>
                <a:schemeClr val="dk1"/>
              </a:buClr>
              <a:buSzPts val="2800"/>
              <a:buNone/>
            </a:pPr>
            <a:r>
              <a:t/>
            </a:r>
            <a:endParaRPr>
              <a:solidFill>
                <a:srgbClr val="FF0000"/>
              </a:solidFill>
            </a:endParaRPr>
          </a:p>
        </p:txBody>
      </p:sp>
      <p:graphicFrame>
        <p:nvGraphicFramePr>
          <p:cNvPr id="479" name="Google Shape;479;p74"/>
          <p:cNvGraphicFramePr/>
          <p:nvPr/>
        </p:nvGraphicFramePr>
        <p:xfrm>
          <a:off x="838199" y="2198457"/>
          <a:ext cx="3000000" cy="3000000"/>
        </p:xfrm>
        <a:graphic>
          <a:graphicData uri="http://schemas.openxmlformats.org/drawingml/2006/table">
            <a:tbl>
              <a:tblPr bandRow="1" firstRow="1">
                <a:noFill/>
                <a:tableStyleId>{3CD1E0FF-FAF5-4487-BE71-2FD66BCB489A}</a:tableStyleId>
              </a:tblPr>
              <a:tblGrid>
                <a:gridCol w="4749800"/>
                <a:gridCol w="1465950"/>
                <a:gridCol w="1233725"/>
                <a:gridCol w="1335325"/>
                <a:gridCol w="1730825"/>
              </a:tblGrid>
              <a:tr h="3708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a:t>
                      </a:r>
                      <a:endParaRPr/>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0850">
                <a:tc>
                  <a:txBody>
                    <a:bodyPr/>
                    <a:lstStyle/>
                    <a:p>
                      <a:pPr indent="0" lvl="0" marL="0" marR="0" rtl="0" algn="l">
                        <a:spcBef>
                          <a:spcPts val="0"/>
                        </a:spcBef>
                        <a:spcAft>
                          <a:spcPts val="0"/>
                        </a:spcAft>
                        <a:buNone/>
                      </a:pPr>
                      <a:r>
                        <a:rPr lang="en-IN" sz="2600"/>
                        <a:t>Equity Share capital @ Rs. 10 each</a:t>
                      </a:r>
                      <a:endParaRPr sz="2600"/>
                    </a:p>
                  </a:txBody>
                  <a:tcPr marT="0" marB="0" marR="68575" marL="68575"/>
                </a:tc>
                <a:tc>
                  <a:txBody>
                    <a:bodyPr/>
                    <a:lstStyle/>
                    <a:p>
                      <a:pPr indent="0" lvl="0" marL="0" marR="0" rtl="0" algn="r">
                        <a:spcBef>
                          <a:spcPts val="0"/>
                        </a:spcBef>
                        <a:spcAft>
                          <a:spcPts val="0"/>
                        </a:spcAft>
                        <a:buNone/>
                      </a:pPr>
                      <a:r>
                        <a:rPr lang="en-IN" sz="2600"/>
                        <a:t>45,000</a:t>
                      </a:r>
                      <a:endParaRPr sz="2600"/>
                    </a:p>
                  </a:txBody>
                  <a:tcPr marT="0" marB="0" marR="68575" marL="68575"/>
                </a:tc>
                <a:tc>
                  <a:txBody>
                    <a:bodyPr/>
                    <a:lstStyle/>
                    <a:p>
                      <a:pPr indent="0" lvl="0" marL="0" marR="0" rtl="0" algn="ctr">
                        <a:spcBef>
                          <a:spcPts val="0"/>
                        </a:spcBef>
                        <a:spcAft>
                          <a:spcPts val="0"/>
                        </a:spcAft>
                        <a:buNone/>
                      </a:pPr>
                      <a:r>
                        <a:rPr lang="en-IN" sz="2600"/>
                        <a:t>0.45</a:t>
                      </a:r>
                      <a:endParaRPr sz="2600"/>
                    </a:p>
                  </a:txBody>
                  <a:tcPr marT="45725" marB="45725" marR="91450" marL="91450"/>
                </a:tc>
                <a:tc>
                  <a:txBody>
                    <a:bodyPr/>
                    <a:lstStyle/>
                    <a:p>
                      <a:pPr indent="0" lvl="0" marL="0" marR="0" rtl="0" algn="ctr">
                        <a:spcBef>
                          <a:spcPts val="0"/>
                        </a:spcBef>
                        <a:spcAft>
                          <a:spcPts val="0"/>
                        </a:spcAft>
                        <a:buNone/>
                      </a:pPr>
                      <a:r>
                        <a:rPr lang="en-IN" sz="2600"/>
                        <a:t>14%</a:t>
                      </a:r>
                      <a:endParaRPr sz="2600"/>
                    </a:p>
                  </a:txBody>
                  <a:tcPr marT="45725" marB="45725" marR="91450" marL="91450"/>
                </a:tc>
                <a:tc>
                  <a:txBody>
                    <a:bodyPr/>
                    <a:lstStyle/>
                    <a:p>
                      <a:pPr indent="0" lvl="0" marL="0" marR="0" rtl="0" algn="ctr">
                        <a:spcBef>
                          <a:spcPts val="0"/>
                        </a:spcBef>
                        <a:spcAft>
                          <a:spcPts val="0"/>
                        </a:spcAft>
                        <a:buNone/>
                      </a:pPr>
                      <a:r>
                        <a:rPr lang="en-IN" sz="2600"/>
                        <a:t>6.30%</a:t>
                      </a:r>
                      <a:endParaRPr sz="2600"/>
                    </a:p>
                  </a:txBody>
                  <a:tcPr marT="45725" marB="45725" marR="91450" marL="91450"/>
                </a:tc>
              </a:tr>
              <a:tr h="367450">
                <a:tc>
                  <a:txBody>
                    <a:bodyPr/>
                    <a:lstStyle/>
                    <a:p>
                      <a:pPr indent="0" lvl="0" marL="0" marR="0" rtl="0" algn="l">
                        <a:spcBef>
                          <a:spcPts val="0"/>
                        </a:spcBef>
                        <a:spcAft>
                          <a:spcPts val="0"/>
                        </a:spcAft>
                        <a:buNone/>
                      </a:pPr>
                      <a:r>
                        <a:rPr lang="en-IN" sz="2600"/>
                        <a:t>Retained earnings</a:t>
                      </a:r>
                      <a:endParaRPr sz="2600"/>
                    </a:p>
                  </a:txBody>
                  <a:tcPr marT="0" marB="0" marR="68575" marL="68575"/>
                </a:tc>
                <a:tc>
                  <a:txBody>
                    <a:bodyPr/>
                    <a:lstStyle/>
                    <a:p>
                      <a:pPr indent="0" lvl="0" marL="0" marR="0" rtl="0" algn="r">
                        <a:spcBef>
                          <a:spcPts val="0"/>
                        </a:spcBef>
                        <a:spcAft>
                          <a:spcPts val="0"/>
                        </a:spcAft>
                        <a:buNone/>
                      </a:pPr>
                      <a:r>
                        <a:rPr lang="en-IN" sz="2600"/>
                        <a:t>15,000</a:t>
                      </a:r>
                      <a:endParaRPr sz="2600"/>
                    </a:p>
                  </a:txBody>
                  <a:tcPr marT="0" marB="0" marR="68575" marL="68575"/>
                </a:tc>
                <a:tc>
                  <a:txBody>
                    <a:bodyPr/>
                    <a:lstStyle/>
                    <a:p>
                      <a:pPr indent="0" lvl="0" marL="0" marR="0" rtl="0" algn="ctr">
                        <a:spcBef>
                          <a:spcPts val="0"/>
                        </a:spcBef>
                        <a:spcAft>
                          <a:spcPts val="0"/>
                        </a:spcAft>
                        <a:buNone/>
                      </a:pPr>
                      <a:r>
                        <a:rPr lang="en-IN" sz="2600"/>
                        <a:t>0.15</a:t>
                      </a:r>
                      <a:endParaRPr sz="2600"/>
                    </a:p>
                  </a:txBody>
                  <a:tcPr marT="45725" marB="45725" marR="91450" marL="91450"/>
                </a:tc>
                <a:tc>
                  <a:txBody>
                    <a:bodyPr/>
                    <a:lstStyle/>
                    <a:p>
                      <a:pPr indent="0" lvl="0" marL="0" marR="0" rtl="0" algn="ctr">
                        <a:spcBef>
                          <a:spcPts val="0"/>
                        </a:spcBef>
                        <a:spcAft>
                          <a:spcPts val="0"/>
                        </a:spcAft>
                        <a:buNone/>
                      </a:pPr>
                      <a:r>
                        <a:rPr lang="en-IN" sz="2600"/>
                        <a:t>13%</a:t>
                      </a:r>
                      <a:endParaRPr sz="2600"/>
                    </a:p>
                  </a:txBody>
                  <a:tcPr marT="45725" marB="45725" marR="91450" marL="91450"/>
                </a:tc>
                <a:tc>
                  <a:txBody>
                    <a:bodyPr/>
                    <a:lstStyle/>
                    <a:p>
                      <a:pPr indent="0" lvl="0" marL="0" marR="0" rtl="0" algn="ctr">
                        <a:spcBef>
                          <a:spcPts val="0"/>
                        </a:spcBef>
                        <a:spcAft>
                          <a:spcPts val="0"/>
                        </a:spcAft>
                        <a:buNone/>
                      </a:pPr>
                      <a:r>
                        <a:rPr lang="en-IN" sz="2600"/>
                        <a:t>1.95%</a:t>
                      </a:r>
                      <a:endParaRPr sz="2600"/>
                    </a:p>
                  </a:txBody>
                  <a:tcPr marT="45725" marB="45725" marR="91450" marL="91450"/>
                </a:tc>
              </a:tr>
              <a:tr h="370850">
                <a:tc>
                  <a:txBody>
                    <a:bodyPr/>
                    <a:lstStyle/>
                    <a:p>
                      <a:pPr indent="0" lvl="0" marL="0" marR="0" rtl="0" algn="l">
                        <a:spcBef>
                          <a:spcPts val="0"/>
                        </a:spcBef>
                        <a:spcAft>
                          <a:spcPts val="0"/>
                        </a:spcAft>
                        <a:buNone/>
                      </a:pPr>
                      <a:r>
                        <a:rPr lang="en-IN" sz="2600"/>
                        <a:t>Preference share capital</a:t>
                      </a:r>
                      <a:endParaRPr sz="2600"/>
                    </a:p>
                  </a:txBody>
                  <a:tcPr marT="0" marB="0" marR="68575" marL="68575"/>
                </a:tc>
                <a:tc>
                  <a:txBody>
                    <a:bodyPr/>
                    <a:lstStyle/>
                    <a:p>
                      <a:pPr indent="0" lvl="0" marL="0" marR="0" rtl="0" algn="r">
                        <a:spcBef>
                          <a:spcPts val="0"/>
                        </a:spcBef>
                        <a:spcAft>
                          <a:spcPts val="0"/>
                        </a:spcAft>
                        <a:buNone/>
                      </a:pPr>
                      <a:r>
                        <a:rPr lang="en-IN" sz="2600"/>
                        <a:t>10,000</a:t>
                      </a:r>
                      <a:endParaRPr sz="2600"/>
                    </a:p>
                  </a:txBody>
                  <a:tcPr marT="0" marB="0" marR="68575" marL="68575"/>
                </a:tc>
                <a:tc>
                  <a:txBody>
                    <a:bodyPr/>
                    <a:lstStyle/>
                    <a:p>
                      <a:pPr indent="0" lvl="0" marL="0" marR="0" rtl="0" algn="ctr">
                        <a:spcBef>
                          <a:spcPts val="0"/>
                        </a:spcBef>
                        <a:spcAft>
                          <a:spcPts val="0"/>
                        </a:spcAft>
                        <a:buNone/>
                      </a:pPr>
                      <a:r>
                        <a:rPr lang="en-IN" sz="2600"/>
                        <a:t>0.10</a:t>
                      </a:r>
                      <a:endParaRPr sz="2600"/>
                    </a:p>
                  </a:txBody>
                  <a:tcPr marT="45725" marB="45725" marR="91450" marL="91450"/>
                </a:tc>
                <a:tc>
                  <a:txBody>
                    <a:bodyPr/>
                    <a:lstStyle/>
                    <a:p>
                      <a:pPr indent="0" lvl="0" marL="0" marR="0" rtl="0" algn="ctr">
                        <a:spcBef>
                          <a:spcPts val="0"/>
                        </a:spcBef>
                        <a:spcAft>
                          <a:spcPts val="0"/>
                        </a:spcAft>
                        <a:buNone/>
                      </a:pPr>
                      <a:r>
                        <a:rPr lang="en-IN" sz="2600"/>
                        <a:t>10%</a:t>
                      </a:r>
                      <a:endParaRPr sz="2600"/>
                    </a:p>
                  </a:txBody>
                  <a:tcPr marT="45725" marB="45725" marR="91450" marL="91450"/>
                </a:tc>
                <a:tc>
                  <a:txBody>
                    <a:bodyPr/>
                    <a:lstStyle/>
                    <a:p>
                      <a:pPr indent="0" lvl="0" marL="0" marR="0" rtl="0" algn="ctr">
                        <a:spcBef>
                          <a:spcPts val="0"/>
                        </a:spcBef>
                        <a:spcAft>
                          <a:spcPts val="0"/>
                        </a:spcAft>
                        <a:buNone/>
                      </a:pPr>
                      <a:r>
                        <a:rPr lang="en-IN" sz="2600"/>
                        <a:t>1.00%</a:t>
                      </a:r>
                      <a:endParaRPr sz="2600"/>
                    </a:p>
                  </a:txBody>
                  <a:tcPr marT="45725" marB="45725" marR="91450" marL="91450"/>
                </a:tc>
              </a:tr>
              <a:tr h="370850">
                <a:tc>
                  <a:txBody>
                    <a:bodyPr/>
                    <a:lstStyle/>
                    <a:p>
                      <a:pPr indent="0" lvl="0" marL="0" marR="0" rtl="0" algn="l">
                        <a:spcBef>
                          <a:spcPts val="0"/>
                        </a:spcBef>
                        <a:spcAft>
                          <a:spcPts val="0"/>
                        </a:spcAft>
                        <a:buNone/>
                      </a:pPr>
                      <a:r>
                        <a:rPr lang="en-IN" sz="2600"/>
                        <a:t>Debentures</a:t>
                      </a:r>
                      <a:endParaRPr sz="2600"/>
                    </a:p>
                  </a:txBody>
                  <a:tcPr marT="0" marB="0" marR="68575" marL="68575"/>
                </a:tc>
                <a:tc>
                  <a:txBody>
                    <a:bodyPr/>
                    <a:lstStyle/>
                    <a:p>
                      <a:pPr indent="0" lvl="0" marL="0" marR="0" rtl="0" algn="r">
                        <a:spcBef>
                          <a:spcPts val="0"/>
                        </a:spcBef>
                        <a:spcAft>
                          <a:spcPts val="0"/>
                        </a:spcAft>
                        <a:buNone/>
                      </a:pPr>
                      <a:r>
                        <a:rPr lang="en-IN" sz="2600"/>
                        <a:t>30,000</a:t>
                      </a:r>
                      <a:endParaRPr sz="2600"/>
                    </a:p>
                  </a:txBody>
                  <a:tcPr marT="0" marB="0" marR="68575" marL="68575"/>
                </a:tc>
                <a:tc>
                  <a:txBody>
                    <a:bodyPr/>
                    <a:lstStyle/>
                    <a:p>
                      <a:pPr indent="0" lvl="0" marL="0" marR="0" rtl="0" algn="ctr">
                        <a:spcBef>
                          <a:spcPts val="0"/>
                        </a:spcBef>
                        <a:spcAft>
                          <a:spcPts val="0"/>
                        </a:spcAft>
                        <a:buNone/>
                      </a:pPr>
                      <a:r>
                        <a:rPr lang="en-IN" sz="2600"/>
                        <a:t>0.30</a:t>
                      </a:r>
                      <a:endParaRPr sz="2600"/>
                    </a:p>
                  </a:txBody>
                  <a:tcPr marT="45725" marB="45725" marR="91450" marL="91450"/>
                </a:tc>
                <a:tc>
                  <a:txBody>
                    <a:bodyPr/>
                    <a:lstStyle/>
                    <a:p>
                      <a:pPr indent="0" lvl="0" marL="0" marR="0" rtl="0" algn="ctr">
                        <a:spcBef>
                          <a:spcPts val="0"/>
                        </a:spcBef>
                        <a:spcAft>
                          <a:spcPts val="0"/>
                        </a:spcAft>
                        <a:buNone/>
                      </a:pPr>
                      <a:r>
                        <a:rPr lang="en-IN" sz="2600"/>
                        <a:t>5%</a:t>
                      </a:r>
                      <a:endParaRPr sz="2600"/>
                    </a:p>
                  </a:txBody>
                  <a:tcPr marT="45725" marB="45725" marR="91450" marL="91450"/>
                </a:tc>
                <a:tc>
                  <a:txBody>
                    <a:bodyPr/>
                    <a:lstStyle/>
                    <a:p>
                      <a:pPr indent="0" lvl="0" marL="0" marR="0" rtl="0" algn="ctr">
                        <a:spcBef>
                          <a:spcPts val="0"/>
                        </a:spcBef>
                        <a:spcAft>
                          <a:spcPts val="0"/>
                        </a:spcAft>
                        <a:buNone/>
                      </a:pPr>
                      <a:r>
                        <a:rPr lang="en-IN" sz="2600"/>
                        <a:t>1.50%</a:t>
                      </a:r>
                      <a:endParaRPr sz="2600"/>
                    </a:p>
                  </a:txBody>
                  <a:tcPr marT="45725" marB="45725" marR="91450" marL="91450"/>
                </a:tc>
              </a:tr>
              <a:tr h="370850">
                <a:tc>
                  <a:txBody>
                    <a:bodyPr/>
                    <a:lstStyle/>
                    <a:p>
                      <a:pPr indent="0" lvl="0" marL="457200" marR="0" rtl="0" algn="ctr">
                        <a:lnSpc>
                          <a:spcPct val="115000"/>
                        </a:lnSpc>
                        <a:spcBef>
                          <a:spcPts val="0"/>
                        </a:spcBef>
                        <a:spcAft>
                          <a:spcPts val="0"/>
                        </a:spcAft>
                        <a:buNone/>
                      </a:pPr>
                      <a:r>
                        <a:rPr b="1" lang="en-IN" sz="2600">
                          <a:solidFill>
                            <a:srgbClr val="FF0000"/>
                          </a:solidFill>
                          <a:latin typeface="Calibri"/>
                          <a:ea typeface="Calibri"/>
                          <a:cs typeface="Calibri"/>
                          <a:sym typeface="Calibri"/>
                        </a:rPr>
                        <a:t>Total</a:t>
                      </a:r>
                      <a:endParaRPr b="1" sz="2600">
                        <a:solidFill>
                          <a:srgbClr val="FF0000"/>
                        </a:solidFill>
                        <a:latin typeface="Calibri"/>
                        <a:ea typeface="Calibri"/>
                        <a:cs typeface="Calibri"/>
                        <a:sym typeface="Calibri"/>
                      </a:endParaRPr>
                    </a:p>
                  </a:txBody>
                  <a:tcPr marT="0" marB="0" marR="68575" marL="68575"/>
                </a:tc>
                <a:tc>
                  <a:txBody>
                    <a:bodyPr/>
                    <a:lstStyle/>
                    <a:p>
                      <a:pPr indent="0" lvl="0" marL="0" marR="0" rtl="0" algn="r">
                        <a:spcBef>
                          <a:spcPts val="0"/>
                        </a:spcBef>
                        <a:spcAft>
                          <a:spcPts val="0"/>
                        </a:spcAft>
                        <a:buNone/>
                      </a:pPr>
                      <a:r>
                        <a:rPr b="1" lang="en-IN" sz="2600">
                          <a:solidFill>
                            <a:srgbClr val="FF0000"/>
                          </a:solidFill>
                        </a:rPr>
                        <a:t>1,00,000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10.75%</a:t>
                      </a:r>
                      <a:endParaRPr b="1" sz="2600">
                        <a:solidFill>
                          <a:srgbClr val="FF0000"/>
                        </a:solidFill>
                      </a:endParaRPr>
                    </a:p>
                  </a:txBody>
                  <a:tcPr marT="45725" marB="45725" marR="91450" marL="91450"/>
                </a:tc>
              </a:tr>
            </a:tbl>
          </a:graphicData>
        </a:graphic>
      </p:graphicFrame>
      <p:pic>
        <p:nvPicPr>
          <p:cNvPr descr="Image result for sastra logo" id="480" name="Google Shape;480;p74"/>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5"/>
          <p:cNvSpPr txBox="1"/>
          <p:nvPr>
            <p:ph idx="1" type="body"/>
          </p:nvPr>
        </p:nvSpPr>
        <p:spPr>
          <a:xfrm>
            <a:off x="838200" y="957943"/>
            <a:ext cx="10515600" cy="521902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[Market value weights]</a:t>
            </a:r>
            <a:endParaRPr/>
          </a:p>
          <a:p>
            <a:pPr indent="0" lvl="0" marL="0" rtl="0" algn="just">
              <a:lnSpc>
                <a:spcPct val="90000"/>
              </a:lnSpc>
              <a:spcBef>
                <a:spcPts val="1000"/>
              </a:spcBef>
              <a:spcAft>
                <a:spcPts val="0"/>
              </a:spcAft>
              <a:buClr>
                <a:schemeClr val="dk1"/>
              </a:buClr>
              <a:buSzPts val="2600"/>
              <a:buNone/>
            </a:pPr>
            <a:r>
              <a:t/>
            </a:r>
            <a:endParaRPr b="1" sz="2600">
              <a:solidFill>
                <a:srgbClr val="FF0000"/>
              </a:solidFill>
            </a:endParaRPr>
          </a:p>
        </p:txBody>
      </p:sp>
      <p:graphicFrame>
        <p:nvGraphicFramePr>
          <p:cNvPr id="486" name="Google Shape;486;p75"/>
          <p:cNvGraphicFramePr/>
          <p:nvPr/>
        </p:nvGraphicFramePr>
        <p:xfrm>
          <a:off x="838200" y="1953380"/>
          <a:ext cx="3000000" cy="3000000"/>
        </p:xfrm>
        <a:graphic>
          <a:graphicData uri="http://schemas.openxmlformats.org/drawingml/2006/table">
            <a:tbl>
              <a:tblPr bandRow="1" firstRow="1">
                <a:noFill/>
                <a:tableStyleId>{3CD1E0FF-FAF5-4487-BE71-2FD66BCB489A}</a:tableStyleId>
              </a:tblPr>
              <a:tblGrid>
                <a:gridCol w="4285350"/>
                <a:gridCol w="1393375"/>
                <a:gridCol w="1553025"/>
                <a:gridCol w="1509475"/>
                <a:gridCol w="1774375"/>
              </a:tblGrid>
              <a:tr h="3708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a:t>
                      </a:r>
                      <a:endParaRPr/>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0850">
                <a:tc>
                  <a:txBody>
                    <a:bodyPr/>
                    <a:lstStyle/>
                    <a:p>
                      <a:pPr indent="0" lvl="0" marL="0" marR="0" rtl="0" algn="l">
                        <a:spcBef>
                          <a:spcPts val="0"/>
                        </a:spcBef>
                        <a:spcAft>
                          <a:spcPts val="0"/>
                        </a:spcAft>
                        <a:buNone/>
                      </a:pPr>
                      <a:r>
                        <a:rPr lang="en-IN" sz="2600"/>
                        <a:t>Equity Share capital @ Rs. 10 each</a:t>
                      </a:r>
                      <a:endParaRPr sz="2600"/>
                    </a:p>
                  </a:txBody>
                  <a:tcPr marT="0" marB="0" marR="68575" marL="68575"/>
                </a:tc>
                <a:tc>
                  <a:txBody>
                    <a:bodyPr/>
                    <a:lstStyle/>
                    <a:p>
                      <a:pPr indent="0" lvl="0" marL="0" marR="0" rtl="0" algn="r">
                        <a:spcBef>
                          <a:spcPts val="0"/>
                        </a:spcBef>
                        <a:spcAft>
                          <a:spcPts val="0"/>
                        </a:spcAft>
                        <a:buNone/>
                      </a:pPr>
                      <a:r>
                        <a:rPr lang="en-IN" sz="2600"/>
                        <a:t>90,000</a:t>
                      </a:r>
                      <a:endParaRPr sz="2600"/>
                    </a:p>
                  </a:txBody>
                  <a:tcPr marT="0" marB="0" marR="68575" marL="68575"/>
                </a:tc>
                <a:tc>
                  <a:txBody>
                    <a:bodyPr/>
                    <a:lstStyle/>
                    <a:p>
                      <a:pPr indent="0" lvl="0" marL="0" marR="0" rtl="0" algn="ctr">
                        <a:spcBef>
                          <a:spcPts val="0"/>
                        </a:spcBef>
                        <a:spcAft>
                          <a:spcPts val="0"/>
                        </a:spcAft>
                        <a:buNone/>
                      </a:pPr>
                      <a:r>
                        <a:rPr lang="en-IN" sz="2600"/>
                        <a:t>0.692</a:t>
                      </a:r>
                      <a:endParaRPr sz="2600"/>
                    </a:p>
                  </a:txBody>
                  <a:tcPr marT="45725" marB="45725" marR="91450" marL="91450"/>
                </a:tc>
                <a:tc>
                  <a:txBody>
                    <a:bodyPr/>
                    <a:lstStyle/>
                    <a:p>
                      <a:pPr indent="0" lvl="0" marL="0" marR="0" rtl="0" algn="ctr">
                        <a:spcBef>
                          <a:spcPts val="0"/>
                        </a:spcBef>
                        <a:spcAft>
                          <a:spcPts val="0"/>
                        </a:spcAft>
                        <a:buNone/>
                      </a:pPr>
                      <a:r>
                        <a:rPr lang="en-IN" sz="2600"/>
                        <a:t>14%</a:t>
                      </a:r>
                      <a:endParaRPr sz="2600"/>
                    </a:p>
                  </a:txBody>
                  <a:tcPr marT="45725" marB="45725" marR="91450" marL="91450"/>
                </a:tc>
                <a:tc>
                  <a:txBody>
                    <a:bodyPr/>
                    <a:lstStyle/>
                    <a:p>
                      <a:pPr indent="0" lvl="0" marL="0" marR="0" rtl="0" algn="ctr">
                        <a:spcBef>
                          <a:spcPts val="0"/>
                        </a:spcBef>
                        <a:spcAft>
                          <a:spcPts val="0"/>
                        </a:spcAft>
                        <a:buNone/>
                      </a:pPr>
                      <a:r>
                        <a:rPr lang="en-IN" sz="2600"/>
                        <a:t>9.688%</a:t>
                      </a:r>
                      <a:endParaRPr sz="2600"/>
                    </a:p>
                  </a:txBody>
                  <a:tcPr marT="45725" marB="45725" marR="91450" marL="91450"/>
                </a:tc>
              </a:tr>
              <a:tr h="370850">
                <a:tc>
                  <a:txBody>
                    <a:bodyPr/>
                    <a:lstStyle/>
                    <a:p>
                      <a:pPr indent="0" lvl="0" marL="0" marR="0" rtl="0" algn="l">
                        <a:spcBef>
                          <a:spcPts val="0"/>
                        </a:spcBef>
                        <a:spcAft>
                          <a:spcPts val="0"/>
                        </a:spcAft>
                        <a:buNone/>
                      </a:pPr>
                      <a:r>
                        <a:rPr lang="en-IN" sz="2600"/>
                        <a:t>Preference share capital</a:t>
                      </a:r>
                      <a:endParaRPr sz="2600"/>
                    </a:p>
                  </a:txBody>
                  <a:tcPr marT="0" marB="0" marR="68575" marL="68575"/>
                </a:tc>
                <a:tc>
                  <a:txBody>
                    <a:bodyPr/>
                    <a:lstStyle/>
                    <a:p>
                      <a:pPr indent="0" lvl="0" marL="0" marR="0" rtl="0" algn="r">
                        <a:spcBef>
                          <a:spcPts val="0"/>
                        </a:spcBef>
                        <a:spcAft>
                          <a:spcPts val="0"/>
                        </a:spcAft>
                        <a:buNone/>
                      </a:pPr>
                      <a:r>
                        <a:rPr lang="en-IN" sz="2600"/>
                        <a:t>10,000</a:t>
                      </a:r>
                      <a:endParaRPr sz="2600"/>
                    </a:p>
                  </a:txBody>
                  <a:tcPr marT="0" marB="0" marR="68575" marL="68575"/>
                </a:tc>
                <a:tc>
                  <a:txBody>
                    <a:bodyPr/>
                    <a:lstStyle/>
                    <a:p>
                      <a:pPr indent="0" lvl="0" marL="0" marR="0" rtl="0" algn="ctr">
                        <a:spcBef>
                          <a:spcPts val="0"/>
                        </a:spcBef>
                        <a:spcAft>
                          <a:spcPts val="0"/>
                        </a:spcAft>
                        <a:buNone/>
                      </a:pPr>
                      <a:r>
                        <a:rPr lang="en-IN" sz="2600"/>
                        <a:t>0.077</a:t>
                      </a:r>
                      <a:endParaRPr sz="2600"/>
                    </a:p>
                  </a:txBody>
                  <a:tcPr marT="45725" marB="45725" marR="91450" marL="91450"/>
                </a:tc>
                <a:tc>
                  <a:txBody>
                    <a:bodyPr/>
                    <a:lstStyle/>
                    <a:p>
                      <a:pPr indent="0" lvl="0" marL="0" marR="0" rtl="0" algn="ctr">
                        <a:spcBef>
                          <a:spcPts val="0"/>
                        </a:spcBef>
                        <a:spcAft>
                          <a:spcPts val="0"/>
                        </a:spcAft>
                        <a:buNone/>
                      </a:pPr>
                      <a:r>
                        <a:rPr lang="en-IN" sz="2600"/>
                        <a:t>10%</a:t>
                      </a:r>
                      <a:endParaRPr sz="2600"/>
                    </a:p>
                  </a:txBody>
                  <a:tcPr marT="45725" marB="45725" marR="91450" marL="91450"/>
                </a:tc>
                <a:tc>
                  <a:txBody>
                    <a:bodyPr/>
                    <a:lstStyle/>
                    <a:p>
                      <a:pPr indent="0" lvl="0" marL="0" marR="0" rtl="0" algn="ctr">
                        <a:spcBef>
                          <a:spcPts val="0"/>
                        </a:spcBef>
                        <a:spcAft>
                          <a:spcPts val="0"/>
                        </a:spcAft>
                        <a:buNone/>
                      </a:pPr>
                      <a:r>
                        <a:rPr lang="en-IN" sz="2600"/>
                        <a:t>0.770%</a:t>
                      </a:r>
                      <a:endParaRPr sz="2600"/>
                    </a:p>
                  </a:txBody>
                  <a:tcPr marT="45725" marB="45725" marR="91450" marL="91450"/>
                </a:tc>
              </a:tr>
              <a:tr h="370850">
                <a:tc>
                  <a:txBody>
                    <a:bodyPr/>
                    <a:lstStyle/>
                    <a:p>
                      <a:pPr indent="0" lvl="0" marL="0" marR="0" rtl="0" algn="l">
                        <a:spcBef>
                          <a:spcPts val="0"/>
                        </a:spcBef>
                        <a:spcAft>
                          <a:spcPts val="0"/>
                        </a:spcAft>
                        <a:buNone/>
                      </a:pPr>
                      <a:r>
                        <a:rPr lang="en-IN" sz="2600"/>
                        <a:t>Debentures</a:t>
                      </a:r>
                      <a:endParaRPr sz="2600"/>
                    </a:p>
                  </a:txBody>
                  <a:tcPr marT="0" marB="0" marR="68575" marL="68575"/>
                </a:tc>
                <a:tc>
                  <a:txBody>
                    <a:bodyPr/>
                    <a:lstStyle/>
                    <a:p>
                      <a:pPr indent="0" lvl="0" marL="0" marR="0" rtl="0" algn="r">
                        <a:spcBef>
                          <a:spcPts val="0"/>
                        </a:spcBef>
                        <a:spcAft>
                          <a:spcPts val="0"/>
                        </a:spcAft>
                        <a:buNone/>
                      </a:pPr>
                      <a:r>
                        <a:rPr lang="en-IN" sz="2600"/>
                        <a:t>30,000</a:t>
                      </a:r>
                      <a:endParaRPr sz="2600"/>
                    </a:p>
                  </a:txBody>
                  <a:tcPr marT="0" marB="0" marR="68575" marL="68575"/>
                </a:tc>
                <a:tc>
                  <a:txBody>
                    <a:bodyPr/>
                    <a:lstStyle/>
                    <a:p>
                      <a:pPr indent="0" lvl="0" marL="0" marR="0" rtl="0" algn="ctr">
                        <a:spcBef>
                          <a:spcPts val="0"/>
                        </a:spcBef>
                        <a:spcAft>
                          <a:spcPts val="0"/>
                        </a:spcAft>
                        <a:buNone/>
                      </a:pPr>
                      <a:r>
                        <a:rPr lang="en-IN" sz="2600"/>
                        <a:t>0.231</a:t>
                      </a:r>
                      <a:endParaRPr sz="2600"/>
                    </a:p>
                  </a:txBody>
                  <a:tcPr marT="45725" marB="45725" marR="91450" marL="91450"/>
                </a:tc>
                <a:tc>
                  <a:txBody>
                    <a:bodyPr/>
                    <a:lstStyle/>
                    <a:p>
                      <a:pPr indent="0" lvl="0" marL="0" marR="0" rtl="0" algn="ctr">
                        <a:spcBef>
                          <a:spcPts val="0"/>
                        </a:spcBef>
                        <a:spcAft>
                          <a:spcPts val="0"/>
                        </a:spcAft>
                        <a:buNone/>
                      </a:pPr>
                      <a:r>
                        <a:rPr lang="en-IN" sz="2600"/>
                        <a:t>5%</a:t>
                      </a:r>
                      <a:endParaRPr sz="2600"/>
                    </a:p>
                  </a:txBody>
                  <a:tcPr marT="45725" marB="45725" marR="91450" marL="91450"/>
                </a:tc>
                <a:tc>
                  <a:txBody>
                    <a:bodyPr/>
                    <a:lstStyle/>
                    <a:p>
                      <a:pPr indent="0" lvl="0" marL="0" marR="0" rtl="0" algn="ctr">
                        <a:spcBef>
                          <a:spcPts val="0"/>
                        </a:spcBef>
                        <a:spcAft>
                          <a:spcPts val="0"/>
                        </a:spcAft>
                        <a:buNone/>
                      </a:pPr>
                      <a:r>
                        <a:rPr lang="en-IN" sz="2600"/>
                        <a:t>1.155%</a:t>
                      </a:r>
                      <a:endParaRPr sz="2600"/>
                    </a:p>
                  </a:txBody>
                  <a:tcPr marT="45725" marB="45725" marR="91450" marL="91450"/>
                </a:tc>
              </a:tr>
              <a:tr h="370850">
                <a:tc>
                  <a:txBody>
                    <a:bodyPr/>
                    <a:lstStyle/>
                    <a:p>
                      <a:pPr indent="0" lvl="0" marL="457200" marR="0" rtl="0" algn="ctr">
                        <a:lnSpc>
                          <a:spcPct val="115000"/>
                        </a:lnSpc>
                        <a:spcBef>
                          <a:spcPts val="0"/>
                        </a:spcBef>
                        <a:spcAft>
                          <a:spcPts val="0"/>
                        </a:spcAft>
                        <a:buNone/>
                      </a:pPr>
                      <a:r>
                        <a:rPr b="1" lang="en-IN" sz="2600">
                          <a:solidFill>
                            <a:srgbClr val="FF0000"/>
                          </a:solidFill>
                          <a:latin typeface="Calibri"/>
                          <a:ea typeface="Calibri"/>
                          <a:cs typeface="Calibri"/>
                          <a:sym typeface="Calibri"/>
                        </a:rPr>
                        <a:t>Total</a:t>
                      </a:r>
                      <a:endParaRPr b="1" sz="2600">
                        <a:solidFill>
                          <a:srgbClr val="FF0000"/>
                        </a:solidFill>
                        <a:latin typeface="Calibri"/>
                        <a:ea typeface="Calibri"/>
                        <a:cs typeface="Calibri"/>
                        <a:sym typeface="Calibri"/>
                      </a:endParaRPr>
                    </a:p>
                  </a:txBody>
                  <a:tcPr marT="0" marB="0" marR="68575" marL="68575"/>
                </a:tc>
                <a:tc>
                  <a:txBody>
                    <a:bodyPr/>
                    <a:lstStyle/>
                    <a:p>
                      <a:pPr indent="0" lvl="0" marL="0" marR="0" rtl="0" algn="r">
                        <a:spcBef>
                          <a:spcPts val="0"/>
                        </a:spcBef>
                        <a:spcAft>
                          <a:spcPts val="0"/>
                        </a:spcAft>
                        <a:buNone/>
                      </a:pPr>
                      <a:r>
                        <a:rPr b="1" lang="en-IN" sz="2600">
                          <a:solidFill>
                            <a:srgbClr val="FF0000"/>
                          </a:solidFill>
                        </a:rPr>
                        <a:t>1,30,000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11.613%</a:t>
                      </a:r>
                      <a:endParaRPr b="1" sz="2600">
                        <a:solidFill>
                          <a:srgbClr val="FF0000"/>
                        </a:solidFill>
                      </a:endParaRPr>
                    </a:p>
                  </a:txBody>
                  <a:tcPr marT="45725" marB="45725" marR="91450" marL="91450"/>
                </a:tc>
              </a:tr>
            </a:tbl>
          </a:graphicData>
        </a:graphic>
      </p:graphicFrame>
      <p:pic>
        <p:nvPicPr>
          <p:cNvPr descr="Image result for sastra logo" id="487" name="Google Shape;487;p75"/>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6"/>
          <p:cNvSpPr txBox="1"/>
          <p:nvPr>
            <p:ph idx="1" type="body"/>
          </p:nvPr>
        </p:nvSpPr>
        <p:spPr>
          <a:xfrm>
            <a:off x="838200" y="899410"/>
            <a:ext cx="10515600" cy="527755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P20. A Limited company has the following capital structure:</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The market price of the company’s equity share is Rs. 20. It is expected that company will pay a current dividend of Rs. 2 per share which will grow at 7% for ever. The tax rate may be presumed at 50%. You are required to compute the following:</a:t>
            </a:r>
            <a:endParaRPr/>
          </a:p>
          <a:p>
            <a:pPr indent="0" lvl="0" marL="0" rtl="0" algn="just">
              <a:lnSpc>
                <a:spcPct val="90000"/>
              </a:lnSpc>
              <a:spcBef>
                <a:spcPts val="1000"/>
              </a:spcBef>
              <a:spcAft>
                <a:spcPts val="0"/>
              </a:spcAft>
              <a:buClr>
                <a:schemeClr val="dk1"/>
              </a:buClr>
              <a:buSzPts val="2600"/>
              <a:buNone/>
            </a:pPr>
            <a:r>
              <a:rPr lang="en-IN" sz="2600"/>
              <a:t>a) A weighted average cost of capital based on existing capital structure.</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93" name="Google Shape;493;p76"/>
          <p:cNvGraphicFramePr/>
          <p:nvPr/>
        </p:nvGraphicFramePr>
        <p:xfrm>
          <a:off x="838200" y="1394223"/>
          <a:ext cx="3000000" cy="3000000"/>
        </p:xfrm>
        <a:graphic>
          <a:graphicData uri="http://schemas.openxmlformats.org/drawingml/2006/table">
            <a:tbl>
              <a:tblPr bandRow="1" firstRow="1">
                <a:noFill/>
                <a:tableStyleId>{3CD1E0FF-FAF5-4487-BE71-2FD66BCB489A}</a:tableStyleId>
              </a:tblPr>
              <a:tblGrid>
                <a:gridCol w="8845450"/>
                <a:gridCol w="1670150"/>
              </a:tblGrid>
              <a:tr h="370850">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l">
                        <a:spcBef>
                          <a:spcPts val="0"/>
                        </a:spcBef>
                        <a:spcAft>
                          <a:spcPts val="0"/>
                        </a:spcAft>
                        <a:buNone/>
                      </a:pPr>
                      <a:r>
                        <a:rPr lang="en-IN" sz="2600"/>
                        <a:t>Equity share capital (2,00,000 shares) </a:t>
                      </a:r>
                      <a:endParaRPr sz="2600"/>
                    </a:p>
                  </a:txBody>
                  <a:tcPr marT="45725" marB="45725" marR="91450" marL="91450"/>
                </a:tc>
                <a:tc>
                  <a:txBody>
                    <a:bodyPr/>
                    <a:lstStyle/>
                    <a:p>
                      <a:pPr indent="0" lvl="0" marL="0" marR="0" rtl="0" algn="r">
                        <a:spcBef>
                          <a:spcPts val="0"/>
                        </a:spcBef>
                        <a:spcAft>
                          <a:spcPts val="0"/>
                        </a:spcAft>
                        <a:buNone/>
                      </a:pPr>
                      <a:r>
                        <a:rPr lang="en-IN" sz="2600"/>
                        <a:t>40,00,000</a:t>
                      </a:r>
                      <a:endParaRPr sz="2600"/>
                    </a:p>
                  </a:txBody>
                  <a:tcPr marT="45725" marB="45725" marR="91450" marL="91450"/>
                </a:tc>
              </a:tr>
              <a:tr h="370850">
                <a:tc>
                  <a:txBody>
                    <a:bodyPr/>
                    <a:lstStyle/>
                    <a:p>
                      <a:pPr indent="0" lvl="0" marL="0" marR="0" rtl="0" algn="l">
                        <a:spcBef>
                          <a:spcPts val="0"/>
                        </a:spcBef>
                        <a:spcAft>
                          <a:spcPts val="0"/>
                        </a:spcAft>
                        <a:buNone/>
                      </a:pPr>
                      <a:r>
                        <a:rPr lang="en-IN" sz="2600"/>
                        <a:t>6% Preference shares </a:t>
                      </a:r>
                      <a:endParaRPr sz="2600"/>
                    </a:p>
                  </a:txBody>
                  <a:tcPr marT="45725" marB="45725" marR="91450" marL="91450"/>
                </a:tc>
                <a:tc>
                  <a:txBody>
                    <a:bodyPr/>
                    <a:lstStyle/>
                    <a:p>
                      <a:pPr indent="0" lvl="0" marL="0" marR="0" rtl="0" algn="r">
                        <a:spcBef>
                          <a:spcPts val="0"/>
                        </a:spcBef>
                        <a:spcAft>
                          <a:spcPts val="0"/>
                        </a:spcAft>
                        <a:buNone/>
                      </a:pPr>
                      <a:r>
                        <a:rPr lang="en-IN" sz="2600"/>
                        <a:t>10,00,000</a:t>
                      </a:r>
                      <a:endParaRPr sz="2600"/>
                    </a:p>
                  </a:txBody>
                  <a:tcPr marT="45725" marB="45725" marR="91450" marL="91450"/>
                </a:tc>
              </a:tr>
              <a:tr h="370850">
                <a:tc>
                  <a:txBody>
                    <a:bodyPr/>
                    <a:lstStyle/>
                    <a:p>
                      <a:pPr indent="0" lvl="0" marL="0" marR="0" rtl="0" algn="l">
                        <a:spcBef>
                          <a:spcPts val="0"/>
                        </a:spcBef>
                        <a:spcAft>
                          <a:spcPts val="0"/>
                        </a:spcAft>
                        <a:buNone/>
                      </a:pPr>
                      <a:r>
                        <a:rPr lang="en-IN" sz="2600"/>
                        <a:t>8%</a:t>
                      </a:r>
                      <a:r>
                        <a:rPr lang="en-IN" sz="2600"/>
                        <a:t> Debentures </a:t>
                      </a:r>
                      <a:endParaRPr sz="2600"/>
                    </a:p>
                  </a:txBody>
                  <a:tcPr marT="45725" marB="45725" marR="91450" marL="91450"/>
                </a:tc>
                <a:tc>
                  <a:txBody>
                    <a:bodyPr/>
                    <a:lstStyle/>
                    <a:p>
                      <a:pPr indent="0" lvl="0" marL="0" marR="0" rtl="0" algn="r">
                        <a:spcBef>
                          <a:spcPts val="0"/>
                        </a:spcBef>
                        <a:spcAft>
                          <a:spcPts val="0"/>
                        </a:spcAft>
                        <a:buNone/>
                      </a:pPr>
                      <a:r>
                        <a:rPr lang="en-IN" sz="2600"/>
                        <a:t>30,00,000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Total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80,00,000</a:t>
                      </a:r>
                      <a:endParaRPr sz="2600">
                        <a:solidFill>
                          <a:srgbClr val="FF0000"/>
                        </a:solidFill>
                      </a:endParaRPr>
                    </a:p>
                  </a:txBody>
                  <a:tcPr marT="45725" marB="45725" marR="91450" marL="91450"/>
                </a:tc>
              </a:tr>
            </a:tbl>
          </a:graphicData>
        </a:graphic>
      </p:graphicFrame>
      <p:pic>
        <p:nvPicPr>
          <p:cNvPr descr="Image result for sastra logo" id="494" name="Google Shape;494;p76"/>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7"/>
          <p:cNvSpPr txBox="1"/>
          <p:nvPr>
            <p:ph idx="1" type="body"/>
          </p:nvPr>
        </p:nvSpPr>
        <p:spPr>
          <a:xfrm>
            <a:off x="838200" y="959370"/>
            <a:ext cx="10515600" cy="521759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600"/>
              <a:buNone/>
            </a:pPr>
            <a:r>
              <a:rPr lang="en-IN" sz="2600"/>
              <a:t>b) The new weighted average cost of capital if the company raises an additional Rs. 20,00,000 debt by issuing 10% debentures. This would result in increasing the expected dividend to Rs. 3 and leave the </a:t>
            </a:r>
            <a:r>
              <a:rPr lang="en-IN" sz="2600">
                <a:solidFill>
                  <a:srgbClr val="FF0000"/>
                </a:solidFill>
              </a:rPr>
              <a:t>growth rate unchanged </a:t>
            </a:r>
            <a:r>
              <a:rPr lang="en-IN" sz="2600"/>
              <a:t>but the, price of the share will fall to Rs. 15 per share.</a:t>
            </a:r>
            <a:endParaRPr/>
          </a:p>
          <a:p>
            <a:pPr indent="0" lvl="0" marL="0" rtl="0" algn="just">
              <a:lnSpc>
                <a:spcPct val="90000"/>
              </a:lnSpc>
              <a:spcBef>
                <a:spcPts val="1000"/>
              </a:spcBef>
              <a:spcAft>
                <a:spcPts val="0"/>
              </a:spcAft>
              <a:buClr>
                <a:schemeClr val="dk1"/>
              </a:buClr>
              <a:buSzPts val="2600"/>
              <a:buNone/>
            </a:pPr>
            <a:r>
              <a:rPr lang="en-IN" sz="2600"/>
              <a:t>c) The cost of capital if in (b)  above, </a:t>
            </a:r>
            <a:r>
              <a:rPr lang="en-IN" sz="2600">
                <a:solidFill>
                  <a:srgbClr val="FF0000"/>
                </a:solidFill>
              </a:rPr>
              <a:t>growth rate increases to 10 per cent.</a:t>
            </a:r>
            <a:endParaRPr/>
          </a:p>
          <a:p>
            <a:pPr indent="0" lvl="0" marL="0" rtl="0" algn="just">
              <a:lnSpc>
                <a:spcPct val="90000"/>
              </a:lnSpc>
              <a:spcBef>
                <a:spcPts val="1000"/>
              </a:spcBef>
              <a:spcAft>
                <a:spcPts val="0"/>
              </a:spcAft>
              <a:buClr>
                <a:schemeClr val="dk1"/>
              </a:buClr>
              <a:buSzPts val="2600"/>
              <a:buNone/>
            </a:pPr>
            <a:r>
              <a:rPr lang="en-IN" sz="2600"/>
              <a:t>Solution:</a:t>
            </a:r>
            <a:endParaRPr/>
          </a:p>
          <a:p>
            <a:pPr indent="-514350" lvl="0" marL="514350" rtl="0" algn="just">
              <a:lnSpc>
                <a:spcPct val="90000"/>
              </a:lnSpc>
              <a:spcBef>
                <a:spcPts val="1000"/>
              </a:spcBef>
              <a:spcAft>
                <a:spcPts val="0"/>
              </a:spcAft>
              <a:buClr>
                <a:srgbClr val="FF0000"/>
              </a:buClr>
              <a:buSzPts val="2600"/>
              <a:buAutoNum type="alphaLcParenR"/>
            </a:pPr>
            <a:r>
              <a:rPr b="1" lang="en-IN" sz="2600">
                <a:solidFill>
                  <a:srgbClr val="FF0000"/>
                </a:solidFill>
              </a:rPr>
              <a:t>Working note:</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1. Calculation of K</a:t>
            </a:r>
            <a:r>
              <a:rPr b="1" baseline="-25000" lang="en-IN" sz="2600">
                <a:solidFill>
                  <a:srgbClr val="FF0000"/>
                </a:solidFill>
              </a:rPr>
              <a:t>e</a:t>
            </a:r>
            <a:r>
              <a:rPr b="1" lang="en-IN" sz="2600">
                <a:solidFill>
                  <a:srgbClr val="FF0000"/>
                </a:solidFill>
              </a:rPr>
              <a: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e </a:t>
            </a:r>
            <a:r>
              <a:rPr lang="en-IN" sz="2600">
                <a:solidFill>
                  <a:srgbClr val="FF0000"/>
                </a:solidFill>
              </a:rPr>
              <a:t>= [D/MP] + Growth Rate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[Rs. 2/Rs. 20] + 7%</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10% + 7%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17%</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500" name="Google Shape;500;p77"/>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8"/>
          <p:cNvSpPr txBox="1"/>
          <p:nvPr>
            <p:ph idx="1" type="body"/>
          </p:nvPr>
        </p:nvSpPr>
        <p:spPr>
          <a:xfrm>
            <a:off x="838200" y="794479"/>
            <a:ext cx="10515600" cy="538248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2. Calculation of Kd:</a:t>
            </a:r>
            <a:endParaRPr/>
          </a:p>
          <a:p>
            <a:pPr indent="0" lvl="0" marL="0" rtl="0" algn="l">
              <a:lnSpc>
                <a:spcPct val="90000"/>
              </a:lnSpc>
              <a:spcBef>
                <a:spcPts val="1000"/>
              </a:spcBef>
              <a:spcAft>
                <a:spcPts val="0"/>
              </a:spcAft>
              <a:buClr>
                <a:schemeClr val="dk1"/>
              </a:buClr>
              <a:buSzPts val="2600"/>
              <a:buNone/>
            </a:pPr>
            <a:r>
              <a:rPr lang="en-IN" sz="2600"/>
              <a:t>Kd = [1-T]R or [I/Np] × [1-T) = [Rs. 2,40,000/Rs. 30,00,000] × [1- 0.50]</a:t>
            </a:r>
            <a:endParaRPr/>
          </a:p>
          <a:p>
            <a:pPr indent="0" lvl="0" marL="0" rtl="0" algn="l">
              <a:lnSpc>
                <a:spcPct val="90000"/>
              </a:lnSpc>
              <a:spcBef>
                <a:spcPts val="1000"/>
              </a:spcBef>
              <a:spcAft>
                <a:spcPts val="0"/>
              </a:spcAft>
              <a:buClr>
                <a:schemeClr val="dk1"/>
              </a:buClr>
              <a:buSzPts val="2600"/>
              <a:buNone/>
            </a:pPr>
            <a:r>
              <a:rPr lang="en-IN" sz="2600"/>
              <a:t>= [1- 0.50] 8%</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4%</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3. Calculation of Kp:</a:t>
            </a:r>
            <a:endParaRPr/>
          </a:p>
          <a:p>
            <a:pPr indent="0" lvl="0" marL="0" rtl="0" algn="l">
              <a:lnSpc>
                <a:spcPct val="90000"/>
              </a:lnSpc>
              <a:spcBef>
                <a:spcPts val="1000"/>
              </a:spcBef>
              <a:spcAft>
                <a:spcPts val="0"/>
              </a:spcAft>
              <a:buClr>
                <a:schemeClr val="dk1"/>
              </a:buClr>
              <a:buSzPts val="2600"/>
              <a:buNone/>
            </a:pPr>
            <a:r>
              <a:rPr lang="en-IN" sz="2600"/>
              <a:t>Kp = D/NP</a:t>
            </a:r>
            <a:endParaRPr/>
          </a:p>
          <a:p>
            <a:pPr indent="0" lvl="0" marL="0" rtl="0" algn="l">
              <a:lnSpc>
                <a:spcPct val="90000"/>
              </a:lnSpc>
              <a:spcBef>
                <a:spcPts val="1000"/>
              </a:spcBef>
              <a:spcAft>
                <a:spcPts val="0"/>
              </a:spcAft>
              <a:buClr>
                <a:schemeClr val="dk1"/>
              </a:buClr>
              <a:buSzPts val="2600"/>
              <a:buNone/>
            </a:pPr>
            <a:r>
              <a:rPr lang="en-IN" sz="2600"/>
              <a:t>= [Rs.60,000/Rs. 10,00,000]×100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6%</a:t>
            </a:r>
            <a:endParaRPr sz="2600">
              <a:solidFill>
                <a:srgbClr val="FF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9"/>
          <p:cNvSpPr txBox="1"/>
          <p:nvPr>
            <p:ph idx="1" type="body"/>
          </p:nvPr>
        </p:nvSpPr>
        <p:spPr>
          <a:xfrm>
            <a:off x="838200" y="959370"/>
            <a:ext cx="10515600" cy="521759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(As per the existing capital structure)</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511" name="Google Shape;511;p79"/>
          <p:cNvGraphicFramePr/>
          <p:nvPr/>
        </p:nvGraphicFramePr>
        <p:xfrm>
          <a:off x="838200" y="1929289"/>
          <a:ext cx="3000000" cy="3000000"/>
        </p:xfrm>
        <a:graphic>
          <a:graphicData uri="http://schemas.openxmlformats.org/drawingml/2006/table">
            <a:tbl>
              <a:tblPr bandRow="1" firstRow="1">
                <a:noFill/>
                <a:tableStyleId>{3CD1E0FF-FAF5-4487-BE71-2FD66BCB489A}</a:tableStyleId>
              </a:tblPr>
              <a:tblGrid>
                <a:gridCol w="3643850"/>
                <a:gridCol w="1993700"/>
                <a:gridCol w="1543975"/>
                <a:gridCol w="1693900"/>
                <a:gridCol w="1640175"/>
              </a:tblGrid>
              <a:tr h="918850">
                <a:tc>
                  <a:txBody>
                    <a:bodyPr/>
                    <a:lstStyle/>
                    <a:p>
                      <a:pPr indent="0" lvl="0" marL="0" marR="0" rtl="0" algn="ctr">
                        <a:spcBef>
                          <a:spcPts val="0"/>
                        </a:spcBef>
                        <a:spcAft>
                          <a:spcPts val="0"/>
                        </a:spcAft>
                        <a:buNone/>
                      </a:pPr>
                      <a:r>
                        <a:rPr lang="en-IN" sz="2000"/>
                        <a:t>Source</a:t>
                      </a:r>
                      <a:endParaRPr/>
                    </a:p>
                    <a:p>
                      <a:pPr indent="0" lvl="0" marL="0" marR="0" rtl="0" algn="ctr">
                        <a:spcBef>
                          <a:spcPts val="0"/>
                        </a:spcBef>
                        <a:spcAft>
                          <a:spcPts val="0"/>
                        </a:spcAft>
                        <a:buNone/>
                      </a:pPr>
                      <a:r>
                        <a:rPr lang="en-IN" sz="2000"/>
                        <a:t>(1) </a:t>
                      </a:r>
                      <a:endParaRPr sz="2000"/>
                    </a:p>
                  </a:txBody>
                  <a:tcPr marT="45725" marB="45725" marR="91450" marL="91450"/>
                </a:tc>
                <a:tc>
                  <a:txBody>
                    <a:bodyPr/>
                    <a:lstStyle/>
                    <a:p>
                      <a:pPr indent="0" lvl="0" marL="0" marR="0" rtl="0" algn="ctr">
                        <a:spcBef>
                          <a:spcPts val="0"/>
                        </a:spcBef>
                        <a:spcAft>
                          <a:spcPts val="0"/>
                        </a:spcAft>
                        <a:buNone/>
                      </a:pPr>
                      <a:r>
                        <a:rPr lang="en-IN" sz="2000"/>
                        <a:t>Amount</a:t>
                      </a:r>
                      <a:endParaRPr/>
                    </a:p>
                    <a:p>
                      <a:pPr indent="0" lvl="0" marL="0" marR="0" rtl="0" algn="ctr">
                        <a:spcBef>
                          <a:spcPts val="0"/>
                        </a:spcBef>
                        <a:spcAft>
                          <a:spcPts val="0"/>
                        </a:spcAft>
                        <a:buNone/>
                      </a:pPr>
                      <a:r>
                        <a:rPr lang="en-IN" sz="2000"/>
                        <a:t>Rs.</a:t>
                      </a:r>
                      <a:endParaRPr/>
                    </a:p>
                    <a:p>
                      <a:pPr indent="0" lvl="0" marL="0" marR="0" rtl="0" algn="ctr">
                        <a:spcBef>
                          <a:spcPts val="0"/>
                        </a:spcBef>
                        <a:spcAft>
                          <a:spcPts val="0"/>
                        </a:spcAft>
                        <a:buNone/>
                      </a:pPr>
                      <a:r>
                        <a:rPr lang="en-IN" sz="2000"/>
                        <a:t>(2)</a:t>
                      </a:r>
                      <a:endParaRPr sz="2000"/>
                    </a:p>
                  </a:txBody>
                  <a:tcPr marT="45725" marB="45725" marR="91450" marL="91450"/>
                </a:tc>
                <a:tc>
                  <a:txBody>
                    <a:bodyPr/>
                    <a:lstStyle/>
                    <a:p>
                      <a:pPr indent="0" lvl="0" marL="0" marR="0" rtl="0" algn="ctr">
                        <a:spcBef>
                          <a:spcPts val="0"/>
                        </a:spcBef>
                        <a:spcAft>
                          <a:spcPts val="0"/>
                        </a:spcAft>
                        <a:buNone/>
                      </a:pPr>
                      <a:r>
                        <a:rPr lang="en-IN" sz="2000"/>
                        <a:t>Proportion </a:t>
                      </a:r>
                      <a:endParaRPr/>
                    </a:p>
                    <a:p>
                      <a:pPr indent="0" lvl="0" marL="0" marR="0" rtl="0" algn="ctr">
                        <a:spcBef>
                          <a:spcPts val="0"/>
                        </a:spcBef>
                        <a:spcAft>
                          <a:spcPts val="0"/>
                        </a:spcAft>
                        <a:buNone/>
                      </a:pPr>
                      <a:r>
                        <a:rPr lang="en-IN" sz="2000"/>
                        <a:t>W</a:t>
                      </a:r>
                      <a:r>
                        <a:rPr baseline="-25000" lang="en-IN" sz="2000"/>
                        <a:t>o</a:t>
                      </a:r>
                      <a:endParaRPr/>
                    </a:p>
                    <a:p>
                      <a:pPr indent="0" lvl="0" marL="0" marR="0" rtl="0" algn="ctr">
                        <a:spcBef>
                          <a:spcPts val="0"/>
                        </a:spcBef>
                        <a:spcAft>
                          <a:spcPts val="0"/>
                        </a:spcAft>
                        <a:buNone/>
                      </a:pPr>
                      <a:r>
                        <a:rPr lang="en-IN" sz="2000"/>
                        <a:t>(3) </a:t>
                      </a:r>
                      <a:endParaRPr/>
                    </a:p>
                  </a:txBody>
                  <a:tcPr marT="45725" marB="45725" marR="91450" marL="91450"/>
                </a:tc>
                <a:tc>
                  <a:txBody>
                    <a:bodyPr/>
                    <a:lstStyle/>
                    <a:p>
                      <a:pPr indent="0" lvl="0" marL="0" marR="0" rtl="0" algn="ctr">
                        <a:spcBef>
                          <a:spcPts val="0"/>
                        </a:spcBef>
                        <a:spcAft>
                          <a:spcPts val="0"/>
                        </a:spcAft>
                        <a:buNone/>
                      </a:pPr>
                      <a:r>
                        <a:rPr lang="en-IN" sz="2000"/>
                        <a:t>After tax </a:t>
                      </a:r>
                      <a:endParaRPr/>
                    </a:p>
                    <a:p>
                      <a:pPr indent="0" lvl="0" marL="0" marR="0" rtl="0" algn="ctr">
                        <a:spcBef>
                          <a:spcPts val="0"/>
                        </a:spcBef>
                        <a:spcAft>
                          <a:spcPts val="0"/>
                        </a:spcAft>
                        <a:buNone/>
                      </a:pPr>
                      <a:r>
                        <a:rPr lang="en-IN" sz="2000"/>
                        <a:t>cost</a:t>
                      </a:r>
                      <a:endParaRPr/>
                    </a:p>
                    <a:p>
                      <a:pPr indent="0" lvl="0" marL="0" marR="0" rtl="0" algn="ctr">
                        <a:spcBef>
                          <a:spcPts val="0"/>
                        </a:spcBef>
                        <a:spcAft>
                          <a:spcPts val="0"/>
                        </a:spcAft>
                        <a:buNone/>
                      </a:pPr>
                      <a:r>
                        <a:rPr lang="en-IN" sz="2000"/>
                        <a:t>(4)  </a:t>
                      </a:r>
                      <a:endParaRPr sz="2000"/>
                    </a:p>
                  </a:txBody>
                  <a:tcPr marT="45725" marB="45725" marR="91450" marL="91450"/>
                </a:tc>
                <a:tc>
                  <a:txBody>
                    <a:bodyPr/>
                    <a:lstStyle/>
                    <a:p>
                      <a:pPr indent="0" lvl="0" marL="0" marR="0" rtl="0" algn="ctr">
                        <a:spcBef>
                          <a:spcPts val="0"/>
                        </a:spcBef>
                        <a:spcAft>
                          <a:spcPts val="0"/>
                        </a:spcAft>
                        <a:buNone/>
                      </a:pPr>
                      <a:r>
                        <a:rPr lang="en-IN" sz="2000"/>
                        <a:t>Weighted after tax cost </a:t>
                      </a:r>
                      <a:endParaRPr/>
                    </a:p>
                    <a:p>
                      <a:pPr indent="0" lvl="0" marL="0" marR="0" rtl="0" algn="ctr">
                        <a:spcBef>
                          <a:spcPts val="0"/>
                        </a:spcBef>
                        <a:spcAft>
                          <a:spcPts val="0"/>
                        </a:spcAft>
                        <a:buNone/>
                      </a:pPr>
                      <a:r>
                        <a:rPr lang="en-IN" sz="2000"/>
                        <a:t>(5) = (3) × (4)</a:t>
                      </a:r>
                      <a:endParaRPr sz="2000"/>
                    </a:p>
                  </a:txBody>
                  <a:tcPr marT="45725" marB="45725" marR="91450" marL="91450"/>
                </a:tc>
              </a:tr>
              <a:tr h="361875">
                <a:tc>
                  <a:txBody>
                    <a:bodyPr/>
                    <a:lstStyle/>
                    <a:p>
                      <a:pPr indent="0" lvl="0" marL="0" marR="0" rtl="0" algn="l">
                        <a:spcBef>
                          <a:spcPts val="0"/>
                        </a:spcBef>
                        <a:spcAft>
                          <a:spcPts val="0"/>
                        </a:spcAft>
                        <a:buNone/>
                      </a:pPr>
                      <a:r>
                        <a:rPr lang="en-IN" sz="2600"/>
                        <a:t>Equity Share Capital </a:t>
                      </a:r>
                      <a:endParaRPr sz="2600"/>
                    </a:p>
                  </a:txBody>
                  <a:tcPr marT="45725" marB="45725" marR="91450" marL="91450"/>
                </a:tc>
                <a:tc>
                  <a:txBody>
                    <a:bodyPr/>
                    <a:lstStyle/>
                    <a:p>
                      <a:pPr indent="0" lvl="0" marL="0" marR="0" rtl="0" algn="ctr">
                        <a:spcBef>
                          <a:spcPts val="0"/>
                        </a:spcBef>
                        <a:spcAft>
                          <a:spcPts val="0"/>
                        </a:spcAft>
                        <a:buNone/>
                      </a:pPr>
                      <a:r>
                        <a:rPr lang="en-IN" sz="2600"/>
                        <a:t>40,00,000</a:t>
                      </a:r>
                      <a:endParaRPr sz="2600"/>
                    </a:p>
                  </a:txBody>
                  <a:tcPr marT="45725" marB="45725" marR="91450" marL="91450"/>
                </a:tc>
                <a:tc>
                  <a:txBody>
                    <a:bodyPr/>
                    <a:lstStyle/>
                    <a:p>
                      <a:pPr indent="0" lvl="0" marL="0" marR="0" rtl="0" algn="ctr">
                        <a:spcBef>
                          <a:spcPts val="0"/>
                        </a:spcBef>
                        <a:spcAft>
                          <a:spcPts val="0"/>
                        </a:spcAft>
                        <a:buNone/>
                      </a:pPr>
                      <a:r>
                        <a:rPr lang="en-IN" sz="2600"/>
                        <a:t>0.500</a:t>
                      </a:r>
                      <a:endParaRPr sz="2600"/>
                    </a:p>
                  </a:txBody>
                  <a:tcPr marT="45725" marB="45725" marR="91450" marL="91450"/>
                </a:tc>
                <a:tc>
                  <a:txBody>
                    <a:bodyPr/>
                    <a:lstStyle/>
                    <a:p>
                      <a:pPr indent="0" lvl="0" marL="0" marR="0" rtl="0" algn="ctr">
                        <a:spcBef>
                          <a:spcPts val="0"/>
                        </a:spcBef>
                        <a:spcAft>
                          <a:spcPts val="0"/>
                        </a:spcAft>
                        <a:buNone/>
                      </a:pPr>
                      <a:r>
                        <a:rPr lang="en-IN" sz="2600"/>
                        <a:t>0.17</a:t>
                      </a:r>
                      <a:endParaRPr sz="2600"/>
                    </a:p>
                  </a:txBody>
                  <a:tcPr marT="45725" marB="45725" marR="91450" marL="91450"/>
                </a:tc>
                <a:tc>
                  <a:txBody>
                    <a:bodyPr/>
                    <a:lstStyle/>
                    <a:p>
                      <a:pPr indent="0" lvl="0" marL="0" marR="0" rtl="0" algn="ctr">
                        <a:spcBef>
                          <a:spcPts val="0"/>
                        </a:spcBef>
                        <a:spcAft>
                          <a:spcPts val="0"/>
                        </a:spcAft>
                        <a:buNone/>
                      </a:pPr>
                      <a:r>
                        <a:rPr lang="en-IN" sz="2600"/>
                        <a:t>0.0850</a:t>
                      </a:r>
                      <a:endParaRPr sz="2600"/>
                    </a:p>
                  </a:txBody>
                  <a:tcPr marT="45725" marB="45725" marR="91450" marL="91450"/>
                </a:tc>
              </a:tr>
              <a:tr h="361875">
                <a:tc>
                  <a:txBody>
                    <a:bodyPr/>
                    <a:lstStyle/>
                    <a:p>
                      <a:pPr indent="0" lvl="0" marL="0" marR="0" rtl="0" algn="l">
                        <a:spcBef>
                          <a:spcPts val="0"/>
                        </a:spcBef>
                        <a:spcAft>
                          <a:spcPts val="0"/>
                        </a:spcAft>
                        <a:buNone/>
                      </a:pPr>
                      <a:r>
                        <a:rPr lang="en-IN" sz="2600"/>
                        <a:t>Preference Share Capital</a:t>
                      </a:r>
                      <a:endParaRPr sz="2600"/>
                    </a:p>
                  </a:txBody>
                  <a:tcPr marT="45725" marB="45725" marR="91450" marL="91450"/>
                </a:tc>
                <a:tc>
                  <a:txBody>
                    <a:bodyPr/>
                    <a:lstStyle/>
                    <a:p>
                      <a:pPr indent="0" lvl="0" marL="0" marR="0" rtl="0" algn="ctr">
                        <a:spcBef>
                          <a:spcPts val="0"/>
                        </a:spcBef>
                        <a:spcAft>
                          <a:spcPts val="0"/>
                        </a:spcAft>
                        <a:buNone/>
                      </a:pPr>
                      <a:r>
                        <a:rPr lang="en-IN" sz="2600"/>
                        <a:t>10,00,000</a:t>
                      </a:r>
                      <a:endParaRPr sz="2600"/>
                    </a:p>
                  </a:txBody>
                  <a:tcPr marT="45725" marB="45725" marR="91450" marL="91450"/>
                </a:tc>
                <a:tc>
                  <a:txBody>
                    <a:bodyPr/>
                    <a:lstStyle/>
                    <a:p>
                      <a:pPr indent="0" lvl="0" marL="0" marR="0" rtl="0" algn="ctr">
                        <a:spcBef>
                          <a:spcPts val="0"/>
                        </a:spcBef>
                        <a:spcAft>
                          <a:spcPts val="0"/>
                        </a:spcAft>
                        <a:buNone/>
                      </a:pPr>
                      <a:r>
                        <a:rPr lang="en-IN" sz="2600"/>
                        <a:t>0.125</a:t>
                      </a:r>
                      <a:endParaRPr sz="2600"/>
                    </a:p>
                  </a:txBody>
                  <a:tcPr marT="45725" marB="45725" marR="91450" marL="91450"/>
                </a:tc>
                <a:tc>
                  <a:txBody>
                    <a:bodyPr/>
                    <a:lstStyle/>
                    <a:p>
                      <a:pPr indent="0" lvl="0" marL="0" marR="0" rtl="0" algn="ctr">
                        <a:spcBef>
                          <a:spcPts val="0"/>
                        </a:spcBef>
                        <a:spcAft>
                          <a:spcPts val="0"/>
                        </a:spcAft>
                        <a:buNone/>
                      </a:pPr>
                      <a:r>
                        <a:rPr lang="en-IN" sz="2600"/>
                        <a:t>0.06</a:t>
                      </a:r>
                      <a:endParaRPr sz="2600"/>
                    </a:p>
                  </a:txBody>
                  <a:tcPr marT="45725" marB="45725" marR="91450" marL="91450"/>
                </a:tc>
                <a:tc>
                  <a:txBody>
                    <a:bodyPr/>
                    <a:lstStyle/>
                    <a:p>
                      <a:pPr indent="0" lvl="0" marL="0" marR="0" rtl="0" algn="ctr">
                        <a:spcBef>
                          <a:spcPts val="0"/>
                        </a:spcBef>
                        <a:spcAft>
                          <a:spcPts val="0"/>
                        </a:spcAft>
                        <a:buNone/>
                      </a:pPr>
                      <a:r>
                        <a:rPr lang="en-IN" sz="2600"/>
                        <a:t>0.0075</a:t>
                      </a:r>
                      <a:endParaRPr sz="2600"/>
                    </a:p>
                  </a:txBody>
                  <a:tcPr marT="45725" marB="45725" marR="91450" marL="91450"/>
                </a:tc>
              </a:tr>
              <a:tr h="361875">
                <a:tc>
                  <a:txBody>
                    <a:bodyPr/>
                    <a:lstStyle/>
                    <a:p>
                      <a:pPr indent="0" lvl="0" marL="0" marR="0" rtl="0" algn="l">
                        <a:spcBef>
                          <a:spcPts val="0"/>
                        </a:spcBef>
                        <a:spcAft>
                          <a:spcPts val="0"/>
                        </a:spcAft>
                        <a:buNone/>
                      </a:pPr>
                      <a:r>
                        <a:rPr lang="en-IN" sz="2600"/>
                        <a:t>Debentures </a:t>
                      </a:r>
                      <a:endParaRPr sz="2600"/>
                    </a:p>
                  </a:txBody>
                  <a:tcPr marT="45725" marB="45725" marR="91450" marL="91450"/>
                </a:tc>
                <a:tc>
                  <a:txBody>
                    <a:bodyPr/>
                    <a:lstStyle/>
                    <a:p>
                      <a:pPr indent="0" lvl="0" marL="0" marR="0" rtl="0" algn="ctr">
                        <a:spcBef>
                          <a:spcPts val="0"/>
                        </a:spcBef>
                        <a:spcAft>
                          <a:spcPts val="0"/>
                        </a:spcAft>
                        <a:buNone/>
                      </a:pPr>
                      <a:r>
                        <a:rPr lang="en-IN" sz="2600"/>
                        <a:t>30,00,000</a:t>
                      </a:r>
                      <a:endParaRPr sz="2600"/>
                    </a:p>
                  </a:txBody>
                  <a:tcPr marT="45725" marB="45725" marR="91450" marL="91450"/>
                </a:tc>
                <a:tc>
                  <a:txBody>
                    <a:bodyPr/>
                    <a:lstStyle/>
                    <a:p>
                      <a:pPr indent="0" lvl="0" marL="0" marR="0" rtl="0" algn="ctr">
                        <a:spcBef>
                          <a:spcPts val="0"/>
                        </a:spcBef>
                        <a:spcAft>
                          <a:spcPts val="0"/>
                        </a:spcAft>
                        <a:buNone/>
                      </a:pPr>
                      <a:r>
                        <a:rPr lang="en-IN" sz="2600"/>
                        <a:t>0.375</a:t>
                      </a:r>
                      <a:endParaRPr sz="2600"/>
                    </a:p>
                  </a:txBody>
                  <a:tcPr marT="45725" marB="45725" marR="91450" marL="91450"/>
                </a:tc>
                <a:tc>
                  <a:txBody>
                    <a:bodyPr/>
                    <a:lstStyle/>
                    <a:p>
                      <a:pPr indent="0" lvl="0" marL="0" marR="0" rtl="0" algn="ctr">
                        <a:spcBef>
                          <a:spcPts val="0"/>
                        </a:spcBef>
                        <a:spcAft>
                          <a:spcPts val="0"/>
                        </a:spcAft>
                        <a:buNone/>
                      </a:pPr>
                      <a:r>
                        <a:rPr lang="en-IN" sz="2600"/>
                        <a:t>0.04</a:t>
                      </a:r>
                      <a:endParaRPr sz="2600"/>
                    </a:p>
                  </a:txBody>
                  <a:tcPr marT="45725" marB="45725" marR="91450" marL="91450"/>
                </a:tc>
                <a:tc>
                  <a:txBody>
                    <a:bodyPr/>
                    <a:lstStyle/>
                    <a:p>
                      <a:pPr indent="0" lvl="0" marL="0" marR="0" rtl="0" algn="ctr">
                        <a:spcBef>
                          <a:spcPts val="0"/>
                        </a:spcBef>
                        <a:spcAft>
                          <a:spcPts val="0"/>
                        </a:spcAft>
                        <a:buNone/>
                      </a:pPr>
                      <a:r>
                        <a:rPr lang="en-IN" sz="2600"/>
                        <a:t>0.0150</a:t>
                      </a:r>
                      <a:endParaRPr sz="2600"/>
                    </a:p>
                  </a:txBody>
                  <a:tcPr marT="45725" marB="45725" marR="91450" marL="91450"/>
                </a:tc>
              </a:tr>
              <a:tr h="361875">
                <a:tc>
                  <a:txBody>
                    <a:bodyPr/>
                    <a:lstStyle/>
                    <a:p>
                      <a:pPr indent="0" lvl="0" marL="0" marR="0" rtl="0" algn="ctr">
                        <a:spcBef>
                          <a:spcPts val="0"/>
                        </a:spcBef>
                        <a:spcAft>
                          <a:spcPts val="0"/>
                        </a:spcAft>
                        <a:buNone/>
                      </a:pPr>
                      <a:r>
                        <a:rPr b="1" lang="en-IN" sz="2600">
                          <a:solidFill>
                            <a:srgbClr val="FF0000"/>
                          </a:solidFill>
                        </a:rPr>
                        <a:t>Total</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80,00,000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10.75%</a:t>
                      </a:r>
                      <a:endParaRPr b="1" sz="2600">
                        <a:solidFill>
                          <a:srgbClr val="FF0000"/>
                        </a:solidFill>
                      </a:endParaRPr>
                    </a:p>
                  </a:txBody>
                  <a:tcPr marT="45725" marB="45725" marR="91450" marL="91450"/>
                </a:tc>
              </a:tr>
            </a:tbl>
          </a:graphicData>
        </a:graphic>
      </p:graphicFrame>
      <p:pic>
        <p:nvPicPr>
          <p:cNvPr descr="Image result for sastra logo" id="512" name="Google Shape;512;p79"/>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80"/>
          <p:cNvSpPr txBox="1"/>
          <p:nvPr>
            <p:ph idx="1" type="body"/>
          </p:nvPr>
        </p:nvSpPr>
        <p:spPr>
          <a:xfrm>
            <a:off x="838200" y="839449"/>
            <a:ext cx="10515600" cy="533751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b) Working note:</a:t>
            </a:r>
            <a:endParaRPr/>
          </a:p>
          <a:p>
            <a:pPr indent="-514350" lvl="0" marL="514350" rtl="0" algn="l">
              <a:lnSpc>
                <a:spcPct val="90000"/>
              </a:lnSpc>
              <a:spcBef>
                <a:spcPts val="1000"/>
              </a:spcBef>
              <a:spcAft>
                <a:spcPts val="0"/>
              </a:spcAft>
              <a:buClr>
                <a:srgbClr val="FF0000"/>
              </a:buClr>
              <a:buSzPts val="2600"/>
              <a:buAutoNum type="arabicPeriod"/>
            </a:pPr>
            <a:r>
              <a:rPr b="1" lang="en-IN" sz="2600">
                <a:solidFill>
                  <a:srgbClr val="FF0000"/>
                </a:solidFill>
              </a:rPr>
              <a:t>Cost of K</a:t>
            </a:r>
            <a:r>
              <a:rPr b="1" baseline="-25000" lang="en-IN" sz="2600">
                <a:solidFill>
                  <a:srgbClr val="FF0000"/>
                </a:solidFill>
              </a:rPr>
              <a:t>e</a:t>
            </a:r>
            <a:r>
              <a:rPr b="1" lang="en-IN" sz="2600">
                <a:solidFill>
                  <a:srgbClr val="FF0000"/>
                </a:solidFill>
              </a:rPr>
              <a: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e </a:t>
            </a:r>
            <a:r>
              <a:rPr lang="en-IN" sz="2600">
                <a:solidFill>
                  <a:srgbClr val="FF0000"/>
                </a:solidFill>
              </a:rPr>
              <a:t>= [D/MP] + Growth Rate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[Rs. 3/Rs. 15] + 7%</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20% + 7%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27%</a:t>
            </a:r>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518" name="Google Shape;518;p80"/>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1"/>
          <p:cNvSpPr txBox="1"/>
          <p:nvPr>
            <p:ph idx="1" type="body"/>
          </p:nvPr>
        </p:nvSpPr>
        <p:spPr>
          <a:xfrm>
            <a:off x="838200" y="1034321"/>
            <a:ext cx="10515600" cy="514264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(As per the proposed capital structure)</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524" name="Google Shape;524;p81"/>
          <p:cNvGraphicFramePr/>
          <p:nvPr/>
        </p:nvGraphicFramePr>
        <p:xfrm>
          <a:off x="838200" y="1993830"/>
          <a:ext cx="3000000" cy="3000000"/>
        </p:xfrm>
        <a:graphic>
          <a:graphicData uri="http://schemas.openxmlformats.org/drawingml/2006/table">
            <a:tbl>
              <a:tblPr bandRow="1" firstRow="1">
                <a:noFill/>
                <a:tableStyleId>{3CD1E0FF-FAF5-4487-BE71-2FD66BCB489A}</a:tableStyleId>
              </a:tblPr>
              <a:tblGrid>
                <a:gridCol w="4048600"/>
                <a:gridCol w="1813800"/>
                <a:gridCol w="1484025"/>
                <a:gridCol w="1304150"/>
                <a:gridCol w="1865025"/>
              </a:tblGrid>
              <a:tr h="370850">
                <a:tc>
                  <a:txBody>
                    <a:bodyPr/>
                    <a:lstStyle/>
                    <a:p>
                      <a:pPr indent="0" lvl="0" marL="0" marR="0" rtl="0" algn="ctr">
                        <a:spcBef>
                          <a:spcPts val="0"/>
                        </a:spcBef>
                        <a:spcAft>
                          <a:spcPts val="0"/>
                        </a:spcAft>
                        <a:buNone/>
                      </a:pPr>
                      <a:r>
                        <a:rPr lang="en-IN" sz="2000"/>
                        <a:t>Source</a:t>
                      </a:r>
                      <a:endParaRPr/>
                    </a:p>
                    <a:p>
                      <a:pPr indent="0" lvl="0" marL="0" marR="0" rtl="0" algn="ctr">
                        <a:spcBef>
                          <a:spcPts val="0"/>
                        </a:spcBef>
                        <a:spcAft>
                          <a:spcPts val="0"/>
                        </a:spcAft>
                        <a:buNone/>
                      </a:pPr>
                      <a:r>
                        <a:rPr lang="en-IN" sz="2000"/>
                        <a:t>(1) </a:t>
                      </a:r>
                      <a:endParaRPr sz="2000"/>
                    </a:p>
                  </a:txBody>
                  <a:tcPr marT="45725" marB="45725" marR="91450" marL="91450"/>
                </a:tc>
                <a:tc>
                  <a:txBody>
                    <a:bodyPr/>
                    <a:lstStyle/>
                    <a:p>
                      <a:pPr indent="0" lvl="0" marL="0" marR="0" rtl="0" algn="ctr">
                        <a:spcBef>
                          <a:spcPts val="0"/>
                        </a:spcBef>
                        <a:spcAft>
                          <a:spcPts val="0"/>
                        </a:spcAft>
                        <a:buNone/>
                      </a:pPr>
                      <a:r>
                        <a:rPr lang="en-IN" sz="2000"/>
                        <a:t>Amount</a:t>
                      </a:r>
                      <a:endParaRPr/>
                    </a:p>
                    <a:p>
                      <a:pPr indent="0" lvl="0" marL="0" marR="0" rtl="0" algn="ctr">
                        <a:spcBef>
                          <a:spcPts val="0"/>
                        </a:spcBef>
                        <a:spcAft>
                          <a:spcPts val="0"/>
                        </a:spcAft>
                        <a:buNone/>
                      </a:pPr>
                      <a:r>
                        <a:rPr lang="en-IN" sz="2000"/>
                        <a:t>Rs.</a:t>
                      </a:r>
                      <a:endParaRPr/>
                    </a:p>
                    <a:p>
                      <a:pPr indent="0" lvl="0" marL="0" marR="0" rtl="0" algn="ctr">
                        <a:spcBef>
                          <a:spcPts val="0"/>
                        </a:spcBef>
                        <a:spcAft>
                          <a:spcPts val="0"/>
                        </a:spcAft>
                        <a:buNone/>
                      </a:pPr>
                      <a:r>
                        <a:rPr lang="en-IN" sz="2000"/>
                        <a:t>(2)</a:t>
                      </a:r>
                      <a:endParaRPr sz="2000"/>
                    </a:p>
                  </a:txBody>
                  <a:tcPr marT="45725" marB="45725" marR="91450" marL="91450"/>
                </a:tc>
                <a:tc>
                  <a:txBody>
                    <a:bodyPr/>
                    <a:lstStyle/>
                    <a:p>
                      <a:pPr indent="0" lvl="0" marL="0" marR="0" rtl="0" algn="ctr">
                        <a:spcBef>
                          <a:spcPts val="0"/>
                        </a:spcBef>
                        <a:spcAft>
                          <a:spcPts val="0"/>
                        </a:spcAft>
                        <a:buNone/>
                      </a:pPr>
                      <a:r>
                        <a:rPr lang="en-IN" sz="2000"/>
                        <a:t>Proportion </a:t>
                      </a:r>
                      <a:endParaRPr/>
                    </a:p>
                    <a:p>
                      <a:pPr indent="0" lvl="0" marL="0" marR="0" rtl="0" algn="ctr">
                        <a:spcBef>
                          <a:spcPts val="0"/>
                        </a:spcBef>
                        <a:spcAft>
                          <a:spcPts val="0"/>
                        </a:spcAft>
                        <a:buNone/>
                      </a:pPr>
                      <a:r>
                        <a:rPr lang="en-IN" sz="2000"/>
                        <a:t>W</a:t>
                      </a:r>
                      <a:r>
                        <a:rPr baseline="-25000" lang="en-IN" sz="2000"/>
                        <a:t>o</a:t>
                      </a:r>
                      <a:endParaRPr/>
                    </a:p>
                    <a:p>
                      <a:pPr indent="0" lvl="0" marL="0" marR="0" rtl="0" algn="ctr">
                        <a:spcBef>
                          <a:spcPts val="0"/>
                        </a:spcBef>
                        <a:spcAft>
                          <a:spcPts val="0"/>
                        </a:spcAft>
                        <a:buNone/>
                      </a:pPr>
                      <a:r>
                        <a:rPr lang="en-IN" sz="2000"/>
                        <a:t>(3) </a:t>
                      </a:r>
                      <a:endParaRPr/>
                    </a:p>
                  </a:txBody>
                  <a:tcPr marT="45725" marB="45725" marR="91450" marL="91450"/>
                </a:tc>
                <a:tc>
                  <a:txBody>
                    <a:bodyPr/>
                    <a:lstStyle/>
                    <a:p>
                      <a:pPr indent="0" lvl="0" marL="0" marR="0" rtl="0" algn="ctr">
                        <a:spcBef>
                          <a:spcPts val="0"/>
                        </a:spcBef>
                        <a:spcAft>
                          <a:spcPts val="0"/>
                        </a:spcAft>
                        <a:buNone/>
                      </a:pPr>
                      <a:r>
                        <a:rPr lang="en-IN" sz="2000"/>
                        <a:t>After tax </a:t>
                      </a:r>
                      <a:endParaRPr/>
                    </a:p>
                    <a:p>
                      <a:pPr indent="0" lvl="0" marL="0" marR="0" rtl="0" algn="ctr">
                        <a:spcBef>
                          <a:spcPts val="0"/>
                        </a:spcBef>
                        <a:spcAft>
                          <a:spcPts val="0"/>
                        </a:spcAft>
                        <a:buNone/>
                      </a:pPr>
                      <a:r>
                        <a:rPr lang="en-IN" sz="2000"/>
                        <a:t>cost</a:t>
                      </a:r>
                      <a:endParaRPr/>
                    </a:p>
                    <a:p>
                      <a:pPr indent="0" lvl="0" marL="0" marR="0" rtl="0" algn="ctr">
                        <a:spcBef>
                          <a:spcPts val="0"/>
                        </a:spcBef>
                        <a:spcAft>
                          <a:spcPts val="0"/>
                        </a:spcAft>
                        <a:buNone/>
                      </a:pPr>
                      <a:r>
                        <a:rPr lang="en-IN" sz="2000"/>
                        <a:t>(4)  </a:t>
                      </a:r>
                      <a:endParaRPr sz="2000"/>
                    </a:p>
                  </a:txBody>
                  <a:tcPr marT="45725" marB="45725" marR="91450" marL="91450"/>
                </a:tc>
                <a:tc>
                  <a:txBody>
                    <a:bodyPr/>
                    <a:lstStyle/>
                    <a:p>
                      <a:pPr indent="0" lvl="0" marL="0" marR="0" rtl="0" algn="ctr">
                        <a:spcBef>
                          <a:spcPts val="0"/>
                        </a:spcBef>
                        <a:spcAft>
                          <a:spcPts val="0"/>
                        </a:spcAft>
                        <a:buNone/>
                      </a:pPr>
                      <a:r>
                        <a:rPr lang="en-IN" sz="2000"/>
                        <a:t>Weighted after tax cost </a:t>
                      </a:r>
                      <a:endParaRPr/>
                    </a:p>
                    <a:p>
                      <a:pPr indent="0" lvl="0" marL="0" marR="0" rtl="0" algn="ctr">
                        <a:spcBef>
                          <a:spcPts val="0"/>
                        </a:spcBef>
                        <a:spcAft>
                          <a:spcPts val="0"/>
                        </a:spcAft>
                        <a:buNone/>
                      </a:pPr>
                      <a:r>
                        <a:rPr lang="en-IN" sz="2000"/>
                        <a:t>(5) = (3) × (4)</a:t>
                      </a:r>
                      <a:endParaRPr sz="2000"/>
                    </a:p>
                  </a:txBody>
                  <a:tcPr marT="45725" marB="45725" marR="91450" marL="91450"/>
                </a:tc>
              </a:tr>
              <a:tr h="370850">
                <a:tc>
                  <a:txBody>
                    <a:bodyPr/>
                    <a:lstStyle/>
                    <a:p>
                      <a:pPr indent="0" lvl="0" marL="0" marR="0" rtl="0" algn="l">
                        <a:spcBef>
                          <a:spcPts val="0"/>
                        </a:spcBef>
                        <a:spcAft>
                          <a:spcPts val="0"/>
                        </a:spcAft>
                        <a:buNone/>
                      </a:pPr>
                      <a:r>
                        <a:rPr lang="en-IN" sz="2600"/>
                        <a:t>Equity Share Capital </a:t>
                      </a:r>
                      <a:endParaRPr sz="2600"/>
                    </a:p>
                  </a:txBody>
                  <a:tcPr marT="45725" marB="45725" marR="91450" marL="91450"/>
                </a:tc>
                <a:tc>
                  <a:txBody>
                    <a:bodyPr/>
                    <a:lstStyle/>
                    <a:p>
                      <a:pPr indent="0" lvl="0" marL="0" marR="0" rtl="0" algn="ctr">
                        <a:spcBef>
                          <a:spcPts val="0"/>
                        </a:spcBef>
                        <a:spcAft>
                          <a:spcPts val="0"/>
                        </a:spcAft>
                        <a:buNone/>
                      </a:pPr>
                      <a:r>
                        <a:rPr lang="en-IN" sz="2600"/>
                        <a:t>40,00,000</a:t>
                      </a:r>
                      <a:endParaRPr sz="2600"/>
                    </a:p>
                  </a:txBody>
                  <a:tcPr marT="45725" marB="45725" marR="91450" marL="91450"/>
                </a:tc>
                <a:tc>
                  <a:txBody>
                    <a:bodyPr/>
                    <a:lstStyle/>
                    <a:p>
                      <a:pPr indent="0" lvl="0" marL="0" marR="0" rtl="0" algn="ctr">
                        <a:spcBef>
                          <a:spcPts val="0"/>
                        </a:spcBef>
                        <a:spcAft>
                          <a:spcPts val="0"/>
                        </a:spcAft>
                        <a:buNone/>
                      </a:pPr>
                      <a:r>
                        <a:rPr lang="en-IN" sz="2600"/>
                        <a:t>0.40</a:t>
                      </a:r>
                      <a:endParaRPr sz="2600"/>
                    </a:p>
                  </a:txBody>
                  <a:tcPr marT="45725" marB="45725" marR="91450" marL="91450"/>
                </a:tc>
                <a:tc>
                  <a:txBody>
                    <a:bodyPr/>
                    <a:lstStyle/>
                    <a:p>
                      <a:pPr indent="0" lvl="0" marL="0" marR="0" rtl="0" algn="ctr">
                        <a:spcBef>
                          <a:spcPts val="0"/>
                        </a:spcBef>
                        <a:spcAft>
                          <a:spcPts val="0"/>
                        </a:spcAft>
                        <a:buNone/>
                      </a:pPr>
                      <a:r>
                        <a:rPr lang="en-IN" sz="2600"/>
                        <a:t>0.27</a:t>
                      </a:r>
                      <a:endParaRPr sz="2600"/>
                    </a:p>
                  </a:txBody>
                  <a:tcPr marT="45725" marB="45725" marR="91450" marL="91450"/>
                </a:tc>
                <a:tc>
                  <a:txBody>
                    <a:bodyPr/>
                    <a:lstStyle/>
                    <a:p>
                      <a:pPr indent="0" lvl="0" marL="0" marR="0" rtl="0" algn="ctr">
                        <a:spcBef>
                          <a:spcPts val="0"/>
                        </a:spcBef>
                        <a:spcAft>
                          <a:spcPts val="0"/>
                        </a:spcAft>
                        <a:buNone/>
                      </a:pPr>
                      <a:r>
                        <a:rPr lang="en-IN" sz="2600"/>
                        <a:t>0.108</a:t>
                      </a:r>
                      <a:endParaRPr sz="2600"/>
                    </a:p>
                  </a:txBody>
                  <a:tcPr marT="45725" marB="45725" marR="91450" marL="91450"/>
                </a:tc>
              </a:tr>
              <a:tr h="370850">
                <a:tc>
                  <a:txBody>
                    <a:bodyPr/>
                    <a:lstStyle/>
                    <a:p>
                      <a:pPr indent="0" lvl="0" marL="0" marR="0" rtl="0" algn="l">
                        <a:spcBef>
                          <a:spcPts val="0"/>
                        </a:spcBef>
                        <a:spcAft>
                          <a:spcPts val="0"/>
                        </a:spcAft>
                        <a:buNone/>
                      </a:pPr>
                      <a:r>
                        <a:rPr lang="en-IN" sz="2600"/>
                        <a:t>6% Preference Share Capital</a:t>
                      </a:r>
                      <a:endParaRPr sz="2600"/>
                    </a:p>
                  </a:txBody>
                  <a:tcPr marT="45725" marB="45725" marR="91450" marL="91450"/>
                </a:tc>
                <a:tc>
                  <a:txBody>
                    <a:bodyPr/>
                    <a:lstStyle/>
                    <a:p>
                      <a:pPr indent="0" lvl="0" marL="0" marR="0" rtl="0" algn="ctr">
                        <a:spcBef>
                          <a:spcPts val="0"/>
                        </a:spcBef>
                        <a:spcAft>
                          <a:spcPts val="0"/>
                        </a:spcAft>
                        <a:buNone/>
                      </a:pPr>
                      <a:r>
                        <a:rPr lang="en-IN" sz="2600"/>
                        <a:t>10,00,000</a:t>
                      </a:r>
                      <a:endParaRPr sz="2600"/>
                    </a:p>
                  </a:txBody>
                  <a:tcPr marT="45725" marB="45725" marR="91450" marL="91450"/>
                </a:tc>
                <a:tc>
                  <a:txBody>
                    <a:bodyPr/>
                    <a:lstStyle/>
                    <a:p>
                      <a:pPr indent="0" lvl="0" marL="0" marR="0" rtl="0" algn="ctr">
                        <a:spcBef>
                          <a:spcPts val="0"/>
                        </a:spcBef>
                        <a:spcAft>
                          <a:spcPts val="0"/>
                        </a:spcAft>
                        <a:buNone/>
                      </a:pPr>
                      <a:r>
                        <a:rPr lang="en-IN" sz="2600"/>
                        <a:t>0.10</a:t>
                      </a:r>
                      <a:endParaRPr sz="2600"/>
                    </a:p>
                  </a:txBody>
                  <a:tcPr marT="45725" marB="45725" marR="91450" marL="91450"/>
                </a:tc>
                <a:tc>
                  <a:txBody>
                    <a:bodyPr/>
                    <a:lstStyle/>
                    <a:p>
                      <a:pPr indent="0" lvl="0" marL="0" marR="0" rtl="0" algn="ctr">
                        <a:spcBef>
                          <a:spcPts val="0"/>
                        </a:spcBef>
                        <a:spcAft>
                          <a:spcPts val="0"/>
                        </a:spcAft>
                        <a:buNone/>
                      </a:pPr>
                      <a:r>
                        <a:rPr lang="en-IN" sz="2600"/>
                        <a:t>0.06</a:t>
                      </a:r>
                      <a:endParaRPr sz="2600"/>
                    </a:p>
                  </a:txBody>
                  <a:tcPr marT="45725" marB="45725" marR="91450" marL="91450"/>
                </a:tc>
                <a:tc>
                  <a:txBody>
                    <a:bodyPr/>
                    <a:lstStyle/>
                    <a:p>
                      <a:pPr indent="0" lvl="0" marL="0" marR="0" rtl="0" algn="ctr">
                        <a:spcBef>
                          <a:spcPts val="0"/>
                        </a:spcBef>
                        <a:spcAft>
                          <a:spcPts val="0"/>
                        </a:spcAft>
                        <a:buNone/>
                      </a:pPr>
                      <a:r>
                        <a:rPr lang="en-IN" sz="2600"/>
                        <a:t>0.006</a:t>
                      </a:r>
                      <a:endParaRPr sz="2600"/>
                    </a:p>
                  </a:txBody>
                  <a:tcPr marT="45725" marB="45725" marR="91450" marL="91450"/>
                </a:tc>
              </a:tr>
              <a:tr h="370850">
                <a:tc>
                  <a:txBody>
                    <a:bodyPr/>
                    <a:lstStyle/>
                    <a:p>
                      <a:pPr indent="0" lvl="0" marL="0" marR="0" rtl="0" algn="l">
                        <a:spcBef>
                          <a:spcPts val="0"/>
                        </a:spcBef>
                        <a:spcAft>
                          <a:spcPts val="0"/>
                        </a:spcAft>
                        <a:buNone/>
                      </a:pPr>
                      <a:r>
                        <a:rPr lang="en-IN" sz="2600"/>
                        <a:t>8%Debentures </a:t>
                      </a:r>
                      <a:endParaRPr sz="2600"/>
                    </a:p>
                  </a:txBody>
                  <a:tcPr marT="45725" marB="45725" marR="91450" marL="91450"/>
                </a:tc>
                <a:tc>
                  <a:txBody>
                    <a:bodyPr/>
                    <a:lstStyle/>
                    <a:p>
                      <a:pPr indent="0" lvl="0" marL="0" marR="0" rtl="0" algn="ctr">
                        <a:spcBef>
                          <a:spcPts val="0"/>
                        </a:spcBef>
                        <a:spcAft>
                          <a:spcPts val="0"/>
                        </a:spcAft>
                        <a:buNone/>
                      </a:pPr>
                      <a:r>
                        <a:rPr lang="en-IN" sz="2600"/>
                        <a:t>30,00,000</a:t>
                      </a:r>
                      <a:endParaRPr sz="2600"/>
                    </a:p>
                  </a:txBody>
                  <a:tcPr marT="45725" marB="45725" marR="91450" marL="91450"/>
                </a:tc>
                <a:tc>
                  <a:txBody>
                    <a:bodyPr/>
                    <a:lstStyle/>
                    <a:p>
                      <a:pPr indent="0" lvl="0" marL="0" marR="0" rtl="0" algn="ctr">
                        <a:spcBef>
                          <a:spcPts val="0"/>
                        </a:spcBef>
                        <a:spcAft>
                          <a:spcPts val="0"/>
                        </a:spcAft>
                        <a:buNone/>
                      </a:pPr>
                      <a:r>
                        <a:rPr lang="en-IN" sz="2600"/>
                        <a:t>0.30</a:t>
                      </a:r>
                      <a:endParaRPr sz="2600"/>
                    </a:p>
                  </a:txBody>
                  <a:tcPr marT="45725" marB="45725" marR="91450" marL="91450"/>
                </a:tc>
                <a:tc>
                  <a:txBody>
                    <a:bodyPr/>
                    <a:lstStyle/>
                    <a:p>
                      <a:pPr indent="0" lvl="0" marL="0" marR="0" rtl="0" algn="ctr">
                        <a:spcBef>
                          <a:spcPts val="0"/>
                        </a:spcBef>
                        <a:spcAft>
                          <a:spcPts val="0"/>
                        </a:spcAft>
                        <a:buNone/>
                      </a:pPr>
                      <a:r>
                        <a:rPr lang="en-IN" sz="2600"/>
                        <a:t>0.04</a:t>
                      </a:r>
                      <a:endParaRPr sz="2600"/>
                    </a:p>
                  </a:txBody>
                  <a:tcPr marT="45725" marB="45725" marR="91450" marL="91450"/>
                </a:tc>
                <a:tc>
                  <a:txBody>
                    <a:bodyPr/>
                    <a:lstStyle/>
                    <a:p>
                      <a:pPr indent="0" lvl="0" marL="0" marR="0" rtl="0" algn="ctr">
                        <a:spcBef>
                          <a:spcPts val="0"/>
                        </a:spcBef>
                        <a:spcAft>
                          <a:spcPts val="0"/>
                        </a:spcAft>
                        <a:buNone/>
                      </a:pPr>
                      <a:r>
                        <a:rPr lang="en-IN" sz="2600"/>
                        <a:t>0.012</a:t>
                      </a:r>
                      <a:endParaRPr sz="2600"/>
                    </a:p>
                  </a:txBody>
                  <a:tcPr marT="45725" marB="45725" marR="91450" marL="91450"/>
                </a:tc>
              </a:tr>
              <a:tr h="370850">
                <a:tc>
                  <a:txBody>
                    <a:bodyPr/>
                    <a:lstStyle/>
                    <a:p>
                      <a:pPr indent="0" lvl="0" marL="0" marR="0" rtl="0" algn="l">
                        <a:spcBef>
                          <a:spcPts val="0"/>
                        </a:spcBef>
                        <a:spcAft>
                          <a:spcPts val="0"/>
                        </a:spcAft>
                        <a:buNone/>
                      </a:pPr>
                      <a:r>
                        <a:rPr lang="en-IN" sz="2600"/>
                        <a:t>10% Debentures </a:t>
                      </a:r>
                      <a:endParaRPr sz="2600"/>
                    </a:p>
                  </a:txBody>
                  <a:tcPr marT="45725" marB="45725" marR="91450" marL="91450"/>
                </a:tc>
                <a:tc>
                  <a:txBody>
                    <a:bodyPr/>
                    <a:lstStyle/>
                    <a:p>
                      <a:pPr indent="0" lvl="0" marL="0" marR="0" rtl="0" algn="ctr">
                        <a:spcBef>
                          <a:spcPts val="0"/>
                        </a:spcBef>
                        <a:spcAft>
                          <a:spcPts val="0"/>
                        </a:spcAft>
                        <a:buNone/>
                      </a:pPr>
                      <a:r>
                        <a:rPr lang="en-IN" sz="2600"/>
                        <a:t>20,00,000</a:t>
                      </a:r>
                      <a:endParaRPr sz="2600"/>
                    </a:p>
                  </a:txBody>
                  <a:tcPr marT="45725" marB="45725" marR="91450" marL="91450"/>
                </a:tc>
                <a:tc>
                  <a:txBody>
                    <a:bodyPr/>
                    <a:lstStyle/>
                    <a:p>
                      <a:pPr indent="0" lvl="0" marL="0" marR="0" rtl="0" algn="ctr">
                        <a:spcBef>
                          <a:spcPts val="0"/>
                        </a:spcBef>
                        <a:spcAft>
                          <a:spcPts val="0"/>
                        </a:spcAft>
                        <a:buNone/>
                      </a:pPr>
                      <a:r>
                        <a:rPr lang="en-IN" sz="2600"/>
                        <a:t>0.20</a:t>
                      </a:r>
                      <a:endParaRPr sz="2600"/>
                    </a:p>
                  </a:txBody>
                  <a:tcPr marT="45725" marB="45725" marR="91450" marL="91450"/>
                </a:tc>
                <a:tc>
                  <a:txBody>
                    <a:bodyPr/>
                    <a:lstStyle/>
                    <a:p>
                      <a:pPr indent="0" lvl="0" marL="0" marR="0" rtl="0" algn="ctr">
                        <a:spcBef>
                          <a:spcPts val="0"/>
                        </a:spcBef>
                        <a:spcAft>
                          <a:spcPts val="0"/>
                        </a:spcAft>
                        <a:buNone/>
                      </a:pPr>
                      <a:r>
                        <a:rPr lang="en-IN" sz="2600"/>
                        <a:t>0.05</a:t>
                      </a:r>
                      <a:endParaRPr sz="2600"/>
                    </a:p>
                  </a:txBody>
                  <a:tcPr marT="45725" marB="45725" marR="91450" marL="91450"/>
                </a:tc>
                <a:tc>
                  <a:txBody>
                    <a:bodyPr/>
                    <a:lstStyle/>
                    <a:p>
                      <a:pPr indent="0" lvl="0" marL="0" marR="0" rtl="0" algn="ctr">
                        <a:spcBef>
                          <a:spcPts val="0"/>
                        </a:spcBef>
                        <a:spcAft>
                          <a:spcPts val="0"/>
                        </a:spcAft>
                        <a:buNone/>
                      </a:pPr>
                      <a:r>
                        <a:rPr lang="en-IN" sz="2600"/>
                        <a:t>0.010</a:t>
                      </a:r>
                      <a:endParaRPr sz="2600"/>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Total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1,00,00,000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13.60%</a:t>
                      </a:r>
                      <a:endParaRPr b="1" sz="2600">
                        <a:solidFill>
                          <a:srgbClr val="FF0000"/>
                        </a:solidFill>
                      </a:endParaRPr>
                    </a:p>
                  </a:txBody>
                  <a:tcPr marT="45725" marB="45725" marR="91450" marL="91450"/>
                </a:tc>
              </a:tr>
            </a:tbl>
          </a:graphicData>
        </a:graphic>
      </p:graphicFrame>
      <p:pic>
        <p:nvPicPr>
          <p:cNvPr descr="Image result for sastra logo" id="525" name="Google Shape;525;p81"/>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2"/>
          <p:cNvSpPr txBox="1"/>
          <p:nvPr>
            <p:ph idx="1" type="body"/>
          </p:nvPr>
        </p:nvSpPr>
        <p:spPr>
          <a:xfrm>
            <a:off x="838200" y="854439"/>
            <a:ext cx="10515600" cy="532252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c) Working note:</a:t>
            </a:r>
            <a:endParaRPr/>
          </a:p>
          <a:p>
            <a:pPr indent="-514350" lvl="0" marL="514350" rtl="0" algn="l">
              <a:lnSpc>
                <a:spcPct val="90000"/>
              </a:lnSpc>
              <a:spcBef>
                <a:spcPts val="1000"/>
              </a:spcBef>
              <a:spcAft>
                <a:spcPts val="0"/>
              </a:spcAft>
              <a:buClr>
                <a:srgbClr val="FF0000"/>
              </a:buClr>
              <a:buSzPts val="2600"/>
              <a:buAutoNum type="arabicPeriod"/>
            </a:pPr>
            <a:r>
              <a:rPr b="1" lang="en-IN" sz="2600">
                <a:solidFill>
                  <a:srgbClr val="FF0000"/>
                </a:solidFill>
              </a:rPr>
              <a:t>Calculation of K</a:t>
            </a:r>
            <a:r>
              <a:rPr b="1" baseline="-25000" lang="en-IN" sz="2600">
                <a:solidFill>
                  <a:srgbClr val="FF0000"/>
                </a:solidFill>
              </a:rPr>
              <a:t>e</a:t>
            </a:r>
            <a:r>
              <a:rPr b="1" lang="en-IN" sz="2600">
                <a:solidFill>
                  <a:srgbClr val="FF0000"/>
                </a:solidFill>
              </a:rPr>
              <a: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e </a:t>
            </a:r>
            <a:r>
              <a:rPr lang="en-IN" sz="2600">
                <a:solidFill>
                  <a:srgbClr val="FF0000"/>
                </a:solidFill>
              </a:rPr>
              <a:t>= [D/MP] + Growth Rate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[Rs. 3/Rs. 15] + 10%</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20% + 10%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30%</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531" name="Google Shape;531;p82"/>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83"/>
          <p:cNvSpPr txBox="1"/>
          <p:nvPr>
            <p:ph idx="1" type="body"/>
          </p:nvPr>
        </p:nvSpPr>
        <p:spPr>
          <a:xfrm>
            <a:off x="838200" y="929390"/>
            <a:ext cx="10515600" cy="524757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(As per the proposed capital structure)</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537" name="Google Shape;537;p83"/>
          <p:cNvGraphicFramePr/>
          <p:nvPr/>
        </p:nvGraphicFramePr>
        <p:xfrm>
          <a:off x="838200" y="1933869"/>
          <a:ext cx="3000000" cy="3000000"/>
        </p:xfrm>
        <a:graphic>
          <a:graphicData uri="http://schemas.openxmlformats.org/drawingml/2006/table">
            <a:tbl>
              <a:tblPr bandRow="1" firstRow="1">
                <a:noFill/>
                <a:tableStyleId>{3CD1E0FF-FAF5-4487-BE71-2FD66BCB489A}</a:tableStyleId>
              </a:tblPr>
              <a:tblGrid>
                <a:gridCol w="4063575"/>
                <a:gridCol w="1843800"/>
                <a:gridCol w="1454050"/>
                <a:gridCol w="1289150"/>
                <a:gridCol w="1865025"/>
              </a:tblGrid>
              <a:tr h="370850">
                <a:tc>
                  <a:txBody>
                    <a:bodyPr/>
                    <a:lstStyle/>
                    <a:p>
                      <a:pPr indent="0" lvl="0" marL="0" marR="0" rtl="0" algn="ctr">
                        <a:spcBef>
                          <a:spcPts val="0"/>
                        </a:spcBef>
                        <a:spcAft>
                          <a:spcPts val="0"/>
                        </a:spcAft>
                        <a:buNone/>
                      </a:pPr>
                      <a:r>
                        <a:rPr lang="en-IN" sz="2000"/>
                        <a:t>Source</a:t>
                      </a:r>
                      <a:endParaRPr/>
                    </a:p>
                    <a:p>
                      <a:pPr indent="0" lvl="0" marL="0" marR="0" rtl="0" algn="ctr">
                        <a:spcBef>
                          <a:spcPts val="0"/>
                        </a:spcBef>
                        <a:spcAft>
                          <a:spcPts val="0"/>
                        </a:spcAft>
                        <a:buNone/>
                      </a:pPr>
                      <a:r>
                        <a:rPr lang="en-IN" sz="2000"/>
                        <a:t>(1) </a:t>
                      </a:r>
                      <a:endParaRPr sz="2000"/>
                    </a:p>
                  </a:txBody>
                  <a:tcPr marT="45725" marB="45725" marR="91450" marL="91450"/>
                </a:tc>
                <a:tc>
                  <a:txBody>
                    <a:bodyPr/>
                    <a:lstStyle/>
                    <a:p>
                      <a:pPr indent="0" lvl="0" marL="0" marR="0" rtl="0" algn="ctr">
                        <a:spcBef>
                          <a:spcPts val="0"/>
                        </a:spcBef>
                        <a:spcAft>
                          <a:spcPts val="0"/>
                        </a:spcAft>
                        <a:buNone/>
                      </a:pPr>
                      <a:r>
                        <a:rPr lang="en-IN" sz="2000"/>
                        <a:t>Amount</a:t>
                      </a:r>
                      <a:endParaRPr/>
                    </a:p>
                    <a:p>
                      <a:pPr indent="0" lvl="0" marL="0" marR="0" rtl="0" algn="ctr">
                        <a:spcBef>
                          <a:spcPts val="0"/>
                        </a:spcBef>
                        <a:spcAft>
                          <a:spcPts val="0"/>
                        </a:spcAft>
                        <a:buNone/>
                      </a:pPr>
                      <a:r>
                        <a:rPr lang="en-IN" sz="2000"/>
                        <a:t>Rs.</a:t>
                      </a:r>
                      <a:endParaRPr/>
                    </a:p>
                    <a:p>
                      <a:pPr indent="0" lvl="0" marL="0" marR="0" rtl="0" algn="ctr">
                        <a:spcBef>
                          <a:spcPts val="0"/>
                        </a:spcBef>
                        <a:spcAft>
                          <a:spcPts val="0"/>
                        </a:spcAft>
                        <a:buNone/>
                      </a:pPr>
                      <a:r>
                        <a:rPr lang="en-IN" sz="2000"/>
                        <a:t>(2)</a:t>
                      </a:r>
                      <a:endParaRPr sz="2000"/>
                    </a:p>
                  </a:txBody>
                  <a:tcPr marT="45725" marB="45725" marR="91450" marL="91450"/>
                </a:tc>
                <a:tc>
                  <a:txBody>
                    <a:bodyPr/>
                    <a:lstStyle/>
                    <a:p>
                      <a:pPr indent="0" lvl="0" marL="0" marR="0" rtl="0" algn="ctr">
                        <a:spcBef>
                          <a:spcPts val="0"/>
                        </a:spcBef>
                        <a:spcAft>
                          <a:spcPts val="0"/>
                        </a:spcAft>
                        <a:buNone/>
                      </a:pPr>
                      <a:r>
                        <a:rPr lang="en-IN" sz="2000"/>
                        <a:t>Proportion </a:t>
                      </a:r>
                      <a:endParaRPr/>
                    </a:p>
                    <a:p>
                      <a:pPr indent="0" lvl="0" marL="0" marR="0" rtl="0" algn="ctr">
                        <a:spcBef>
                          <a:spcPts val="0"/>
                        </a:spcBef>
                        <a:spcAft>
                          <a:spcPts val="0"/>
                        </a:spcAft>
                        <a:buNone/>
                      </a:pPr>
                      <a:r>
                        <a:rPr lang="en-IN" sz="2000"/>
                        <a:t>W</a:t>
                      </a:r>
                      <a:r>
                        <a:rPr baseline="-25000" lang="en-IN" sz="2000"/>
                        <a:t>o</a:t>
                      </a:r>
                      <a:endParaRPr/>
                    </a:p>
                    <a:p>
                      <a:pPr indent="0" lvl="0" marL="0" marR="0" rtl="0" algn="ctr">
                        <a:spcBef>
                          <a:spcPts val="0"/>
                        </a:spcBef>
                        <a:spcAft>
                          <a:spcPts val="0"/>
                        </a:spcAft>
                        <a:buNone/>
                      </a:pPr>
                      <a:r>
                        <a:rPr lang="en-IN" sz="2000"/>
                        <a:t>(3) </a:t>
                      </a:r>
                      <a:endParaRPr/>
                    </a:p>
                  </a:txBody>
                  <a:tcPr marT="45725" marB="45725" marR="91450" marL="91450"/>
                </a:tc>
                <a:tc>
                  <a:txBody>
                    <a:bodyPr/>
                    <a:lstStyle/>
                    <a:p>
                      <a:pPr indent="0" lvl="0" marL="0" marR="0" rtl="0" algn="ctr">
                        <a:spcBef>
                          <a:spcPts val="0"/>
                        </a:spcBef>
                        <a:spcAft>
                          <a:spcPts val="0"/>
                        </a:spcAft>
                        <a:buNone/>
                      </a:pPr>
                      <a:r>
                        <a:rPr lang="en-IN" sz="2000"/>
                        <a:t>After tax </a:t>
                      </a:r>
                      <a:endParaRPr/>
                    </a:p>
                    <a:p>
                      <a:pPr indent="0" lvl="0" marL="0" marR="0" rtl="0" algn="ctr">
                        <a:spcBef>
                          <a:spcPts val="0"/>
                        </a:spcBef>
                        <a:spcAft>
                          <a:spcPts val="0"/>
                        </a:spcAft>
                        <a:buNone/>
                      </a:pPr>
                      <a:r>
                        <a:rPr lang="en-IN" sz="2000"/>
                        <a:t>cost</a:t>
                      </a:r>
                      <a:endParaRPr/>
                    </a:p>
                    <a:p>
                      <a:pPr indent="0" lvl="0" marL="0" marR="0" rtl="0" algn="ctr">
                        <a:spcBef>
                          <a:spcPts val="0"/>
                        </a:spcBef>
                        <a:spcAft>
                          <a:spcPts val="0"/>
                        </a:spcAft>
                        <a:buNone/>
                      </a:pPr>
                      <a:r>
                        <a:rPr lang="en-IN" sz="2000"/>
                        <a:t>(4)  </a:t>
                      </a:r>
                      <a:endParaRPr sz="2000"/>
                    </a:p>
                  </a:txBody>
                  <a:tcPr marT="45725" marB="45725" marR="91450" marL="91450"/>
                </a:tc>
                <a:tc>
                  <a:txBody>
                    <a:bodyPr/>
                    <a:lstStyle/>
                    <a:p>
                      <a:pPr indent="0" lvl="0" marL="0" marR="0" rtl="0" algn="ctr">
                        <a:spcBef>
                          <a:spcPts val="0"/>
                        </a:spcBef>
                        <a:spcAft>
                          <a:spcPts val="0"/>
                        </a:spcAft>
                        <a:buNone/>
                      </a:pPr>
                      <a:r>
                        <a:rPr lang="en-IN" sz="2000"/>
                        <a:t>Weighted after tax cost </a:t>
                      </a:r>
                      <a:endParaRPr/>
                    </a:p>
                    <a:p>
                      <a:pPr indent="0" lvl="0" marL="0" marR="0" rtl="0" algn="ctr">
                        <a:spcBef>
                          <a:spcPts val="0"/>
                        </a:spcBef>
                        <a:spcAft>
                          <a:spcPts val="0"/>
                        </a:spcAft>
                        <a:buNone/>
                      </a:pPr>
                      <a:r>
                        <a:rPr lang="en-IN" sz="2000"/>
                        <a:t>(5) = (3) × (4)</a:t>
                      </a:r>
                      <a:endParaRPr sz="2000"/>
                    </a:p>
                  </a:txBody>
                  <a:tcPr marT="45725" marB="45725" marR="91450" marL="91450"/>
                </a:tc>
              </a:tr>
              <a:tr h="370850">
                <a:tc>
                  <a:txBody>
                    <a:bodyPr/>
                    <a:lstStyle/>
                    <a:p>
                      <a:pPr indent="0" lvl="0" marL="0" marR="0" rtl="0" algn="l">
                        <a:spcBef>
                          <a:spcPts val="0"/>
                        </a:spcBef>
                        <a:spcAft>
                          <a:spcPts val="0"/>
                        </a:spcAft>
                        <a:buNone/>
                      </a:pPr>
                      <a:r>
                        <a:rPr lang="en-IN" sz="2600"/>
                        <a:t>Equity Share Capital </a:t>
                      </a:r>
                      <a:endParaRPr sz="2600"/>
                    </a:p>
                  </a:txBody>
                  <a:tcPr marT="45725" marB="45725" marR="91450" marL="91450"/>
                </a:tc>
                <a:tc>
                  <a:txBody>
                    <a:bodyPr/>
                    <a:lstStyle/>
                    <a:p>
                      <a:pPr indent="0" lvl="0" marL="0" marR="0" rtl="0" algn="ctr">
                        <a:spcBef>
                          <a:spcPts val="0"/>
                        </a:spcBef>
                        <a:spcAft>
                          <a:spcPts val="0"/>
                        </a:spcAft>
                        <a:buNone/>
                      </a:pPr>
                      <a:r>
                        <a:rPr lang="en-IN" sz="2600"/>
                        <a:t>40,00,000</a:t>
                      </a:r>
                      <a:endParaRPr sz="2600"/>
                    </a:p>
                  </a:txBody>
                  <a:tcPr marT="45725" marB="45725" marR="91450" marL="91450"/>
                </a:tc>
                <a:tc>
                  <a:txBody>
                    <a:bodyPr/>
                    <a:lstStyle/>
                    <a:p>
                      <a:pPr indent="0" lvl="0" marL="0" marR="0" rtl="0" algn="ctr">
                        <a:spcBef>
                          <a:spcPts val="0"/>
                        </a:spcBef>
                        <a:spcAft>
                          <a:spcPts val="0"/>
                        </a:spcAft>
                        <a:buNone/>
                      </a:pPr>
                      <a:r>
                        <a:rPr lang="en-IN" sz="2600"/>
                        <a:t>0.40</a:t>
                      </a:r>
                      <a:endParaRPr sz="2600"/>
                    </a:p>
                  </a:txBody>
                  <a:tcPr marT="45725" marB="45725" marR="91450" marL="91450"/>
                </a:tc>
                <a:tc>
                  <a:txBody>
                    <a:bodyPr/>
                    <a:lstStyle/>
                    <a:p>
                      <a:pPr indent="0" lvl="0" marL="0" marR="0" rtl="0" algn="ctr">
                        <a:spcBef>
                          <a:spcPts val="0"/>
                        </a:spcBef>
                        <a:spcAft>
                          <a:spcPts val="0"/>
                        </a:spcAft>
                        <a:buNone/>
                      </a:pPr>
                      <a:r>
                        <a:rPr lang="en-IN" sz="2600"/>
                        <a:t>0.30</a:t>
                      </a:r>
                      <a:endParaRPr sz="2600"/>
                    </a:p>
                  </a:txBody>
                  <a:tcPr marT="45725" marB="45725" marR="91450" marL="91450"/>
                </a:tc>
                <a:tc>
                  <a:txBody>
                    <a:bodyPr/>
                    <a:lstStyle/>
                    <a:p>
                      <a:pPr indent="0" lvl="0" marL="0" marR="0" rtl="0" algn="ctr">
                        <a:spcBef>
                          <a:spcPts val="0"/>
                        </a:spcBef>
                        <a:spcAft>
                          <a:spcPts val="0"/>
                        </a:spcAft>
                        <a:buNone/>
                      </a:pPr>
                      <a:r>
                        <a:rPr lang="en-IN" sz="2600"/>
                        <a:t>0.120</a:t>
                      </a:r>
                      <a:endParaRPr sz="2600"/>
                    </a:p>
                  </a:txBody>
                  <a:tcPr marT="45725" marB="45725" marR="91450" marL="91450"/>
                </a:tc>
              </a:tr>
              <a:tr h="370850">
                <a:tc>
                  <a:txBody>
                    <a:bodyPr/>
                    <a:lstStyle/>
                    <a:p>
                      <a:pPr indent="0" lvl="0" marL="0" marR="0" rtl="0" algn="l">
                        <a:spcBef>
                          <a:spcPts val="0"/>
                        </a:spcBef>
                        <a:spcAft>
                          <a:spcPts val="0"/>
                        </a:spcAft>
                        <a:buNone/>
                      </a:pPr>
                      <a:r>
                        <a:rPr lang="en-IN" sz="2600"/>
                        <a:t>6% Preference Share Capital</a:t>
                      </a:r>
                      <a:endParaRPr sz="2600"/>
                    </a:p>
                  </a:txBody>
                  <a:tcPr marT="45725" marB="45725" marR="91450" marL="91450"/>
                </a:tc>
                <a:tc>
                  <a:txBody>
                    <a:bodyPr/>
                    <a:lstStyle/>
                    <a:p>
                      <a:pPr indent="0" lvl="0" marL="0" marR="0" rtl="0" algn="ctr">
                        <a:spcBef>
                          <a:spcPts val="0"/>
                        </a:spcBef>
                        <a:spcAft>
                          <a:spcPts val="0"/>
                        </a:spcAft>
                        <a:buNone/>
                      </a:pPr>
                      <a:r>
                        <a:rPr lang="en-IN" sz="2600"/>
                        <a:t>10,00,000</a:t>
                      </a:r>
                      <a:endParaRPr sz="2600"/>
                    </a:p>
                  </a:txBody>
                  <a:tcPr marT="45725" marB="45725" marR="91450" marL="91450"/>
                </a:tc>
                <a:tc>
                  <a:txBody>
                    <a:bodyPr/>
                    <a:lstStyle/>
                    <a:p>
                      <a:pPr indent="0" lvl="0" marL="0" marR="0" rtl="0" algn="ctr">
                        <a:spcBef>
                          <a:spcPts val="0"/>
                        </a:spcBef>
                        <a:spcAft>
                          <a:spcPts val="0"/>
                        </a:spcAft>
                        <a:buNone/>
                      </a:pPr>
                      <a:r>
                        <a:rPr lang="en-IN" sz="2600"/>
                        <a:t>0.10</a:t>
                      </a:r>
                      <a:endParaRPr sz="2600"/>
                    </a:p>
                  </a:txBody>
                  <a:tcPr marT="45725" marB="45725" marR="91450" marL="91450"/>
                </a:tc>
                <a:tc>
                  <a:txBody>
                    <a:bodyPr/>
                    <a:lstStyle/>
                    <a:p>
                      <a:pPr indent="0" lvl="0" marL="0" marR="0" rtl="0" algn="ctr">
                        <a:spcBef>
                          <a:spcPts val="0"/>
                        </a:spcBef>
                        <a:spcAft>
                          <a:spcPts val="0"/>
                        </a:spcAft>
                        <a:buNone/>
                      </a:pPr>
                      <a:r>
                        <a:rPr lang="en-IN" sz="2600"/>
                        <a:t>0.06</a:t>
                      </a:r>
                      <a:endParaRPr sz="2600"/>
                    </a:p>
                  </a:txBody>
                  <a:tcPr marT="45725" marB="45725" marR="91450" marL="91450"/>
                </a:tc>
                <a:tc>
                  <a:txBody>
                    <a:bodyPr/>
                    <a:lstStyle/>
                    <a:p>
                      <a:pPr indent="0" lvl="0" marL="0" marR="0" rtl="0" algn="ctr">
                        <a:spcBef>
                          <a:spcPts val="0"/>
                        </a:spcBef>
                        <a:spcAft>
                          <a:spcPts val="0"/>
                        </a:spcAft>
                        <a:buNone/>
                      </a:pPr>
                      <a:r>
                        <a:rPr lang="en-IN" sz="2600"/>
                        <a:t>0.006</a:t>
                      </a:r>
                      <a:endParaRPr sz="2600"/>
                    </a:p>
                  </a:txBody>
                  <a:tcPr marT="45725" marB="45725" marR="91450" marL="91450"/>
                </a:tc>
              </a:tr>
              <a:tr h="370850">
                <a:tc>
                  <a:txBody>
                    <a:bodyPr/>
                    <a:lstStyle/>
                    <a:p>
                      <a:pPr indent="0" lvl="0" marL="0" marR="0" rtl="0" algn="l">
                        <a:spcBef>
                          <a:spcPts val="0"/>
                        </a:spcBef>
                        <a:spcAft>
                          <a:spcPts val="0"/>
                        </a:spcAft>
                        <a:buNone/>
                      </a:pPr>
                      <a:r>
                        <a:rPr lang="en-IN" sz="2600"/>
                        <a:t>8%Debentures </a:t>
                      </a:r>
                      <a:endParaRPr sz="2600"/>
                    </a:p>
                  </a:txBody>
                  <a:tcPr marT="45725" marB="45725" marR="91450" marL="91450"/>
                </a:tc>
                <a:tc>
                  <a:txBody>
                    <a:bodyPr/>
                    <a:lstStyle/>
                    <a:p>
                      <a:pPr indent="0" lvl="0" marL="0" marR="0" rtl="0" algn="ctr">
                        <a:spcBef>
                          <a:spcPts val="0"/>
                        </a:spcBef>
                        <a:spcAft>
                          <a:spcPts val="0"/>
                        </a:spcAft>
                        <a:buNone/>
                      </a:pPr>
                      <a:r>
                        <a:rPr lang="en-IN" sz="2600"/>
                        <a:t>30,00,000</a:t>
                      </a:r>
                      <a:endParaRPr sz="2600"/>
                    </a:p>
                  </a:txBody>
                  <a:tcPr marT="45725" marB="45725" marR="91450" marL="91450"/>
                </a:tc>
                <a:tc>
                  <a:txBody>
                    <a:bodyPr/>
                    <a:lstStyle/>
                    <a:p>
                      <a:pPr indent="0" lvl="0" marL="0" marR="0" rtl="0" algn="ctr">
                        <a:spcBef>
                          <a:spcPts val="0"/>
                        </a:spcBef>
                        <a:spcAft>
                          <a:spcPts val="0"/>
                        </a:spcAft>
                        <a:buNone/>
                      </a:pPr>
                      <a:r>
                        <a:rPr lang="en-IN" sz="2600"/>
                        <a:t>0.30</a:t>
                      </a:r>
                      <a:endParaRPr sz="2600"/>
                    </a:p>
                  </a:txBody>
                  <a:tcPr marT="45725" marB="45725" marR="91450" marL="91450"/>
                </a:tc>
                <a:tc>
                  <a:txBody>
                    <a:bodyPr/>
                    <a:lstStyle/>
                    <a:p>
                      <a:pPr indent="0" lvl="0" marL="0" marR="0" rtl="0" algn="ctr">
                        <a:spcBef>
                          <a:spcPts val="0"/>
                        </a:spcBef>
                        <a:spcAft>
                          <a:spcPts val="0"/>
                        </a:spcAft>
                        <a:buNone/>
                      </a:pPr>
                      <a:r>
                        <a:rPr lang="en-IN" sz="2600"/>
                        <a:t>0.04</a:t>
                      </a:r>
                      <a:endParaRPr sz="2600"/>
                    </a:p>
                  </a:txBody>
                  <a:tcPr marT="45725" marB="45725" marR="91450" marL="91450"/>
                </a:tc>
                <a:tc>
                  <a:txBody>
                    <a:bodyPr/>
                    <a:lstStyle/>
                    <a:p>
                      <a:pPr indent="0" lvl="0" marL="0" marR="0" rtl="0" algn="ctr">
                        <a:spcBef>
                          <a:spcPts val="0"/>
                        </a:spcBef>
                        <a:spcAft>
                          <a:spcPts val="0"/>
                        </a:spcAft>
                        <a:buNone/>
                      </a:pPr>
                      <a:r>
                        <a:rPr lang="en-IN" sz="2600"/>
                        <a:t>0.012</a:t>
                      </a:r>
                      <a:endParaRPr sz="2600"/>
                    </a:p>
                  </a:txBody>
                  <a:tcPr marT="45725" marB="45725" marR="91450" marL="91450"/>
                </a:tc>
              </a:tr>
              <a:tr h="370850">
                <a:tc>
                  <a:txBody>
                    <a:bodyPr/>
                    <a:lstStyle/>
                    <a:p>
                      <a:pPr indent="0" lvl="0" marL="0" marR="0" rtl="0" algn="l">
                        <a:spcBef>
                          <a:spcPts val="0"/>
                        </a:spcBef>
                        <a:spcAft>
                          <a:spcPts val="0"/>
                        </a:spcAft>
                        <a:buNone/>
                      </a:pPr>
                      <a:r>
                        <a:rPr lang="en-IN" sz="2600"/>
                        <a:t>10% Debentures </a:t>
                      </a:r>
                      <a:endParaRPr sz="2600"/>
                    </a:p>
                  </a:txBody>
                  <a:tcPr marT="45725" marB="45725" marR="91450" marL="91450"/>
                </a:tc>
                <a:tc>
                  <a:txBody>
                    <a:bodyPr/>
                    <a:lstStyle/>
                    <a:p>
                      <a:pPr indent="0" lvl="0" marL="0" marR="0" rtl="0" algn="ctr">
                        <a:spcBef>
                          <a:spcPts val="0"/>
                        </a:spcBef>
                        <a:spcAft>
                          <a:spcPts val="0"/>
                        </a:spcAft>
                        <a:buNone/>
                      </a:pPr>
                      <a:r>
                        <a:rPr lang="en-IN" sz="2600"/>
                        <a:t>20,00,000</a:t>
                      </a:r>
                      <a:endParaRPr sz="2600"/>
                    </a:p>
                  </a:txBody>
                  <a:tcPr marT="45725" marB="45725" marR="91450" marL="91450"/>
                </a:tc>
                <a:tc>
                  <a:txBody>
                    <a:bodyPr/>
                    <a:lstStyle/>
                    <a:p>
                      <a:pPr indent="0" lvl="0" marL="0" marR="0" rtl="0" algn="ctr">
                        <a:spcBef>
                          <a:spcPts val="0"/>
                        </a:spcBef>
                        <a:spcAft>
                          <a:spcPts val="0"/>
                        </a:spcAft>
                        <a:buNone/>
                      </a:pPr>
                      <a:r>
                        <a:rPr lang="en-IN" sz="2600"/>
                        <a:t>0.20</a:t>
                      </a:r>
                      <a:endParaRPr sz="2600"/>
                    </a:p>
                  </a:txBody>
                  <a:tcPr marT="45725" marB="45725" marR="91450" marL="91450"/>
                </a:tc>
                <a:tc>
                  <a:txBody>
                    <a:bodyPr/>
                    <a:lstStyle/>
                    <a:p>
                      <a:pPr indent="0" lvl="0" marL="0" marR="0" rtl="0" algn="ctr">
                        <a:spcBef>
                          <a:spcPts val="0"/>
                        </a:spcBef>
                        <a:spcAft>
                          <a:spcPts val="0"/>
                        </a:spcAft>
                        <a:buNone/>
                      </a:pPr>
                      <a:r>
                        <a:rPr lang="en-IN" sz="2600"/>
                        <a:t>0.05</a:t>
                      </a:r>
                      <a:endParaRPr sz="2600"/>
                    </a:p>
                  </a:txBody>
                  <a:tcPr marT="45725" marB="45725" marR="91450" marL="91450"/>
                </a:tc>
                <a:tc>
                  <a:txBody>
                    <a:bodyPr/>
                    <a:lstStyle/>
                    <a:p>
                      <a:pPr indent="0" lvl="0" marL="0" marR="0" rtl="0" algn="ctr">
                        <a:spcBef>
                          <a:spcPts val="0"/>
                        </a:spcBef>
                        <a:spcAft>
                          <a:spcPts val="0"/>
                        </a:spcAft>
                        <a:buNone/>
                      </a:pPr>
                      <a:r>
                        <a:rPr lang="en-IN" sz="2600"/>
                        <a:t>0.010</a:t>
                      </a:r>
                      <a:endParaRPr sz="2600"/>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Total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1,00,00,000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14.87%</a:t>
                      </a:r>
                      <a:endParaRPr b="1" sz="2600">
                        <a:solidFill>
                          <a:srgbClr val="FF0000"/>
                        </a:solidFill>
                      </a:endParaRPr>
                    </a:p>
                  </a:txBody>
                  <a:tcPr marT="45725" marB="45725" marR="91450" marL="91450"/>
                </a:tc>
              </a:tr>
            </a:tbl>
          </a:graphicData>
        </a:graphic>
      </p:graphicFrame>
      <p:pic>
        <p:nvPicPr>
          <p:cNvPr descr="Image result for sastra logo" id="538" name="Google Shape;538;p83"/>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4"/>
          <p:cNvSpPr txBox="1"/>
          <p:nvPr>
            <p:ph idx="1" type="body"/>
          </p:nvPr>
        </p:nvSpPr>
        <p:spPr>
          <a:xfrm>
            <a:off x="838200" y="928914"/>
            <a:ext cx="10515600" cy="524804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P21. Your company share is quoted in the market at Rs. 20 currently. The company pays a dividend of Re. 1 per share and the investor expects a growth rate of 5% per year. Compute: </a:t>
            </a:r>
            <a:endParaRPr/>
          </a:p>
          <a:p>
            <a:pPr indent="-514350" lvl="0" marL="514350" rtl="0" algn="just">
              <a:lnSpc>
                <a:spcPct val="90000"/>
              </a:lnSpc>
              <a:spcBef>
                <a:spcPts val="1000"/>
              </a:spcBef>
              <a:spcAft>
                <a:spcPts val="0"/>
              </a:spcAft>
              <a:buClr>
                <a:schemeClr val="dk1"/>
              </a:buClr>
              <a:buSzPts val="2600"/>
              <a:buAutoNum type="alphaLcParenR"/>
            </a:pPr>
            <a:r>
              <a:rPr lang="en-IN" sz="2600"/>
              <a:t>The company’s cost if capital.</a:t>
            </a:r>
            <a:endParaRPr/>
          </a:p>
          <a:p>
            <a:pPr indent="-514350" lvl="0" marL="514350" rtl="0" algn="just">
              <a:lnSpc>
                <a:spcPct val="90000"/>
              </a:lnSpc>
              <a:spcBef>
                <a:spcPts val="1000"/>
              </a:spcBef>
              <a:spcAft>
                <a:spcPts val="0"/>
              </a:spcAft>
              <a:buClr>
                <a:schemeClr val="dk1"/>
              </a:buClr>
              <a:buSzPts val="2600"/>
              <a:buAutoNum type="alphaLcParenR"/>
            </a:pPr>
            <a:r>
              <a:rPr lang="en-IN" sz="2600"/>
              <a:t>If the anticipated growth rate is 6% p.a., calculate the indicated market price of the share.</a:t>
            </a:r>
            <a:endParaRPr/>
          </a:p>
          <a:p>
            <a:pPr indent="-514350" lvl="0" marL="514350" rtl="0" algn="just">
              <a:lnSpc>
                <a:spcPct val="90000"/>
              </a:lnSpc>
              <a:spcBef>
                <a:spcPts val="1000"/>
              </a:spcBef>
              <a:spcAft>
                <a:spcPts val="0"/>
              </a:spcAft>
              <a:buClr>
                <a:schemeClr val="dk1"/>
              </a:buClr>
              <a:buSzPts val="2600"/>
              <a:buAutoNum type="alphaLcParenR"/>
            </a:pPr>
            <a:r>
              <a:rPr lang="en-IN" sz="2600"/>
              <a:t>If the company’s cost of capital is 8% and anticipated growth rate is 5% p.a., calculate the indicated market price of the dividend of Re. 1 per share is to be maintained.</a:t>
            </a:r>
            <a:endParaRPr sz="2600"/>
          </a:p>
        </p:txBody>
      </p:sp>
      <p:pic>
        <p:nvPicPr>
          <p:cNvPr descr="Image result for sastra logo" id="544" name="Google Shape;544;p84"/>
          <p:cNvPicPr preferRelativeResize="0"/>
          <p:nvPr/>
        </p:nvPicPr>
        <p:blipFill rotWithShape="1">
          <a:blip r:embed="rId3">
            <a:alphaModFix/>
          </a:blip>
          <a:srcRect b="0" l="0" r="0" t="0"/>
          <a:stretch/>
        </p:blipFill>
        <p:spPr>
          <a:xfrm>
            <a:off x="9537699" y="282238"/>
            <a:ext cx="1816100" cy="55721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85"/>
          <p:cNvSpPr txBox="1"/>
          <p:nvPr>
            <p:ph idx="1" type="body"/>
          </p:nvPr>
        </p:nvSpPr>
        <p:spPr>
          <a:xfrm>
            <a:off x="838199" y="972457"/>
            <a:ext cx="10515600" cy="520450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chemeClr val="dk1"/>
              </a:buClr>
              <a:buSzPts val="2600"/>
              <a:buNone/>
            </a:pPr>
            <a:r>
              <a:rPr lang="en-IN" sz="2600"/>
              <a:t>The relationship among coat of capital, dividend , price and growth rate is given by the formula:</a:t>
            </a:r>
            <a:endParaRPr/>
          </a:p>
          <a:p>
            <a:pPr indent="0" lvl="0" marL="0" rtl="0" algn="just">
              <a:lnSpc>
                <a:spcPct val="90000"/>
              </a:lnSpc>
              <a:spcBef>
                <a:spcPts val="1000"/>
              </a:spcBef>
              <a:spcAft>
                <a:spcPts val="0"/>
              </a:spcAft>
              <a:buClr>
                <a:schemeClr val="dk1"/>
              </a:buClr>
              <a:buSzPts val="2600"/>
              <a:buNone/>
            </a:pPr>
            <a:r>
              <a:rPr lang="en-IN" sz="2600"/>
              <a:t>Ke = [(D/MP) ×100] + Growth rate </a:t>
            </a:r>
            <a:endParaRPr/>
          </a:p>
          <a:p>
            <a:pPr indent="-514350" lvl="0" marL="514350" rtl="0" algn="just">
              <a:lnSpc>
                <a:spcPct val="90000"/>
              </a:lnSpc>
              <a:spcBef>
                <a:spcPts val="1000"/>
              </a:spcBef>
              <a:spcAft>
                <a:spcPts val="0"/>
              </a:spcAft>
              <a:buClr>
                <a:srgbClr val="FF0000"/>
              </a:buClr>
              <a:buSzPts val="2600"/>
              <a:buAutoNum type="alphaLcParenR"/>
            </a:pPr>
            <a:r>
              <a:rPr b="1" lang="en-IN" sz="2600">
                <a:solidFill>
                  <a:srgbClr val="FF0000"/>
                </a:solidFill>
              </a:rPr>
              <a:t>Calculation of cost of capital:</a:t>
            </a:r>
            <a:endParaRPr/>
          </a:p>
          <a:p>
            <a:pPr indent="0" lvl="0" marL="0" rtl="0" algn="just">
              <a:lnSpc>
                <a:spcPct val="90000"/>
              </a:lnSpc>
              <a:spcBef>
                <a:spcPts val="1000"/>
              </a:spcBef>
              <a:spcAft>
                <a:spcPts val="0"/>
              </a:spcAft>
              <a:buClr>
                <a:schemeClr val="dk1"/>
              </a:buClr>
              <a:buSzPts val="2600"/>
              <a:buNone/>
            </a:pPr>
            <a:r>
              <a:rPr lang="en-IN" sz="2600"/>
              <a:t>K</a:t>
            </a:r>
            <a:r>
              <a:rPr baseline="-25000" lang="en-IN" sz="2600"/>
              <a:t>e</a:t>
            </a:r>
            <a:r>
              <a:rPr lang="en-IN" sz="2600"/>
              <a:t> = [(Re.1/Rs.20) × 100] + 5%</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a:t>
            </a:r>
            <a:r>
              <a:rPr baseline="-25000" lang="en-IN" sz="2600">
                <a:solidFill>
                  <a:srgbClr val="FF0000"/>
                </a:solidFill>
              </a:rPr>
              <a:t>e</a:t>
            </a:r>
            <a:r>
              <a:rPr lang="en-IN" sz="2600">
                <a:solidFill>
                  <a:srgbClr val="FF0000"/>
                </a:solidFill>
              </a:rPr>
              <a:t> = 10%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b) Market price per share: </a:t>
            </a:r>
            <a:endParaRPr/>
          </a:p>
          <a:p>
            <a:pPr indent="0" lvl="0" marL="0" rtl="0" algn="just">
              <a:lnSpc>
                <a:spcPct val="90000"/>
              </a:lnSpc>
              <a:spcBef>
                <a:spcPts val="1000"/>
              </a:spcBef>
              <a:spcAft>
                <a:spcPts val="0"/>
              </a:spcAft>
              <a:buClr>
                <a:schemeClr val="dk1"/>
              </a:buClr>
              <a:buSzPts val="2600"/>
              <a:buNone/>
            </a:pPr>
            <a:r>
              <a:rPr lang="en-IN" sz="2600"/>
              <a:t>MP = [Dividend / [Cost of equity – Growth rate)]</a:t>
            </a:r>
            <a:endParaRPr/>
          </a:p>
          <a:p>
            <a:pPr indent="0" lvl="0" marL="0" rtl="0" algn="just">
              <a:lnSpc>
                <a:spcPct val="90000"/>
              </a:lnSpc>
              <a:spcBef>
                <a:spcPts val="1000"/>
              </a:spcBef>
              <a:spcAft>
                <a:spcPts val="0"/>
              </a:spcAft>
              <a:buClr>
                <a:schemeClr val="dk1"/>
              </a:buClr>
              <a:buSzPts val="2600"/>
              <a:buNone/>
            </a:pPr>
            <a:r>
              <a:rPr lang="en-IN" sz="2600"/>
              <a:t>= [Re. 1 / [10% - 6%)]</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MP = Rs. 25 </a:t>
            </a:r>
            <a:endParaRPr sz="2600">
              <a:solidFill>
                <a:srgbClr val="FF0000"/>
              </a:solidFill>
            </a:endParaRPr>
          </a:p>
        </p:txBody>
      </p:sp>
      <p:pic>
        <p:nvPicPr>
          <p:cNvPr descr="Image result for sastra logo" id="550" name="Google Shape;550;p85"/>
          <p:cNvPicPr preferRelativeResize="0"/>
          <p:nvPr/>
        </p:nvPicPr>
        <p:blipFill rotWithShape="1">
          <a:blip r:embed="rId3">
            <a:alphaModFix/>
          </a:blip>
          <a:srcRect b="0" l="0" r="0" t="0"/>
          <a:stretch/>
        </p:blipFill>
        <p:spPr>
          <a:xfrm>
            <a:off x="9537699" y="348343"/>
            <a:ext cx="1816100" cy="62411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6"/>
          <p:cNvSpPr txBox="1"/>
          <p:nvPr>
            <p:ph idx="1" type="body"/>
          </p:nvPr>
        </p:nvSpPr>
        <p:spPr>
          <a:xfrm>
            <a:off x="838200" y="943429"/>
            <a:ext cx="10515600" cy="523353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c) Calculation of Market price:</a:t>
            </a:r>
            <a:endParaRPr/>
          </a:p>
          <a:p>
            <a:pPr indent="0" lvl="0" marL="0" rtl="0" algn="just">
              <a:lnSpc>
                <a:spcPct val="90000"/>
              </a:lnSpc>
              <a:spcBef>
                <a:spcPts val="1000"/>
              </a:spcBef>
              <a:spcAft>
                <a:spcPts val="0"/>
              </a:spcAft>
              <a:buClr>
                <a:schemeClr val="dk1"/>
              </a:buClr>
              <a:buSzPts val="2600"/>
              <a:buNone/>
            </a:pPr>
            <a:r>
              <a:rPr lang="en-IN" sz="2600"/>
              <a:t>MP = MP = [Dividend / [Cost of equity – Growth rate)]</a:t>
            </a:r>
            <a:endParaRPr/>
          </a:p>
          <a:p>
            <a:pPr indent="0" lvl="0" marL="0" rtl="0" algn="just">
              <a:lnSpc>
                <a:spcPct val="90000"/>
              </a:lnSpc>
              <a:spcBef>
                <a:spcPts val="1000"/>
              </a:spcBef>
              <a:spcAft>
                <a:spcPts val="0"/>
              </a:spcAft>
              <a:buClr>
                <a:schemeClr val="dk1"/>
              </a:buClr>
              <a:buSzPts val="2600"/>
              <a:buNone/>
            </a:pPr>
            <a:r>
              <a:rPr lang="en-IN" sz="2600"/>
              <a:t>= [Re. 1 / [8% - 5%)]</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MP = Rs. 33.33</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556" name="Google Shape;556;p86"/>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87"/>
          <p:cNvSpPr txBox="1"/>
          <p:nvPr>
            <p:ph idx="1" type="body"/>
          </p:nvPr>
        </p:nvSpPr>
        <p:spPr>
          <a:xfrm>
            <a:off x="838200" y="1019330"/>
            <a:ext cx="10515600" cy="536647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P22. You are required to determine the weighted average cost of capital of KC Ltd., using (i) Book value weights and (ii) Market value weights. The following information is available for your perusal:</a:t>
            </a:r>
            <a:endParaRPr/>
          </a:p>
          <a:p>
            <a:pPr indent="0" lvl="0" marL="0" rtl="0" algn="just">
              <a:lnSpc>
                <a:spcPct val="90000"/>
              </a:lnSpc>
              <a:spcBef>
                <a:spcPts val="1000"/>
              </a:spcBef>
              <a:spcAft>
                <a:spcPts val="0"/>
              </a:spcAft>
              <a:buClr>
                <a:schemeClr val="dk1"/>
              </a:buClr>
              <a:buSzPts val="2600"/>
              <a:buNone/>
            </a:pPr>
            <a:r>
              <a:rPr lang="en-IN" sz="2600"/>
              <a:t>The KC Ltd.’s present book value of capital structure is: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All these securities are traded in the capital markets. Recent prices are, Debentures @ Rs. 110, Preference shares @ Rs. 120 and Equity shares @ Rs. 22. </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562" name="Google Shape;562;p87"/>
          <p:cNvGraphicFramePr/>
          <p:nvPr/>
        </p:nvGraphicFramePr>
        <p:xfrm>
          <a:off x="838200" y="2679500"/>
          <a:ext cx="3000000" cy="3000000"/>
        </p:xfrm>
        <a:graphic>
          <a:graphicData uri="http://schemas.openxmlformats.org/drawingml/2006/table">
            <a:tbl>
              <a:tblPr bandRow="1" firstRow="1">
                <a:noFill/>
                <a:tableStyleId>{3CD1E0FF-FAF5-4487-BE71-2FD66BCB489A}</a:tableStyleId>
              </a:tblPr>
              <a:tblGrid>
                <a:gridCol w="8965375"/>
                <a:gridCol w="1550225"/>
              </a:tblGrid>
              <a:tr h="370850">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l">
                        <a:spcBef>
                          <a:spcPts val="0"/>
                        </a:spcBef>
                        <a:spcAft>
                          <a:spcPts val="0"/>
                        </a:spcAft>
                        <a:buNone/>
                      </a:pPr>
                      <a:r>
                        <a:rPr lang="en-IN" sz="2600"/>
                        <a:t>Debentures [Rs. 100 per debentures]</a:t>
                      </a:r>
                      <a:endParaRPr sz="2600"/>
                    </a:p>
                  </a:txBody>
                  <a:tcPr marT="45725" marB="45725" marR="91450" marL="91450"/>
                </a:tc>
                <a:tc>
                  <a:txBody>
                    <a:bodyPr/>
                    <a:lstStyle/>
                    <a:p>
                      <a:pPr indent="0" lvl="0" marL="0" marR="0" rtl="0" algn="r">
                        <a:spcBef>
                          <a:spcPts val="0"/>
                        </a:spcBef>
                        <a:spcAft>
                          <a:spcPts val="0"/>
                        </a:spcAft>
                        <a:buNone/>
                      </a:pPr>
                      <a:r>
                        <a:rPr lang="en-IN" sz="2600"/>
                        <a:t>8,00,000</a:t>
                      </a:r>
                      <a:endParaRPr sz="2600"/>
                    </a:p>
                  </a:txBody>
                  <a:tcPr marT="45725" marB="45725" marR="91450" marL="91450"/>
                </a:tc>
              </a:tr>
              <a:tr h="370850">
                <a:tc>
                  <a:txBody>
                    <a:bodyPr/>
                    <a:lstStyle/>
                    <a:p>
                      <a:pPr indent="0" lvl="0" marL="0" marR="0" rtl="0" algn="l">
                        <a:spcBef>
                          <a:spcPts val="0"/>
                        </a:spcBef>
                        <a:spcAft>
                          <a:spcPts val="0"/>
                        </a:spcAft>
                        <a:buNone/>
                      </a:pPr>
                      <a:r>
                        <a:rPr lang="en-IN" sz="2600"/>
                        <a:t>Preference shares [Rs. 100 per share]</a:t>
                      </a:r>
                      <a:endParaRPr sz="2600"/>
                    </a:p>
                  </a:txBody>
                  <a:tcPr marT="45725" marB="45725" marR="91450" marL="91450"/>
                </a:tc>
                <a:tc>
                  <a:txBody>
                    <a:bodyPr/>
                    <a:lstStyle/>
                    <a:p>
                      <a:pPr indent="0" lvl="0" marL="0" marR="0" rtl="0" algn="r">
                        <a:spcBef>
                          <a:spcPts val="0"/>
                        </a:spcBef>
                        <a:spcAft>
                          <a:spcPts val="0"/>
                        </a:spcAft>
                        <a:buNone/>
                      </a:pPr>
                      <a:r>
                        <a:rPr lang="en-IN" sz="2600"/>
                        <a:t>2,00,000</a:t>
                      </a:r>
                      <a:endParaRPr sz="2600"/>
                    </a:p>
                  </a:txBody>
                  <a:tcPr marT="45725" marB="45725" marR="91450" marL="91450"/>
                </a:tc>
              </a:tr>
              <a:tr h="370850">
                <a:tc>
                  <a:txBody>
                    <a:bodyPr/>
                    <a:lstStyle/>
                    <a:p>
                      <a:pPr indent="0" lvl="0" marL="0" marR="0" rtl="0" algn="l">
                        <a:spcBef>
                          <a:spcPts val="0"/>
                        </a:spcBef>
                        <a:spcAft>
                          <a:spcPts val="0"/>
                        </a:spcAft>
                        <a:buNone/>
                      </a:pPr>
                      <a:r>
                        <a:rPr lang="en-IN" sz="2600"/>
                        <a:t>Equity Shares</a:t>
                      </a:r>
                      <a:r>
                        <a:rPr lang="en-IN" sz="2600"/>
                        <a:t> {Rs. 10 per share]</a:t>
                      </a:r>
                      <a:endParaRPr sz="2600"/>
                    </a:p>
                  </a:txBody>
                  <a:tcPr marT="45725" marB="45725" marR="91450" marL="91450"/>
                </a:tc>
                <a:tc>
                  <a:txBody>
                    <a:bodyPr/>
                    <a:lstStyle/>
                    <a:p>
                      <a:pPr indent="0" lvl="0" marL="0" marR="0" rtl="0" algn="r">
                        <a:spcBef>
                          <a:spcPts val="0"/>
                        </a:spcBef>
                        <a:spcAft>
                          <a:spcPts val="0"/>
                        </a:spcAft>
                        <a:buNone/>
                      </a:pPr>
                      <a:r>
                        <a:rPr lang="en-IN" sz="2600"/>
                        <a:t>10,00,000</a:t>
                      </a:r>
                      <a:endParaRPr sz="2600"/>
                    </a:p>
                  </a:txBody>
                  <a:tcPr marT="45725" marB="45725" marR="91450" marL="91450"/>
                </a:tc>
              </a:tr>
              <a:tr h="370850">
                <a:tc>
                  <a:txBody>
                    <a:bodyPr/>
                    <a:lstStyle/>
                    <a:p>
                      <a:pPr indent="0" lvl="0" marL="0" marR="0" rtl="0" algn="ctr">
                        <a:spcBef>
                          <a:spcPts val="0"/>
                        </a:spcBef>
                        <a:spcAft>
                          <a:spcPts val="0"/>
                        </a:spcAft>
                        <a:buNone/>
                      </a:pPr>
                      <a:r>
                        <a:rPr lang="en-IN" sz="2600"/>
                        <a:t>Total </a:t>
                      </a:r>
                      <a:endParaRPr sz="2600"/>
                    </a:p>
                  </a:txBody>
                  <a:tcPr marT="45725" marB="45725" marR="91450" marL="91450"/>
                </a:tc>
                <a:tc>
                  <a:txBody>
                    <a:bodyPr/>
                    <a:lstStyle/>
                    <a:p>
                      <a:pPr indent="0" lvl="0" marL="0" marR="0" rtl="0" algn="ctr">
                        <a:spcBef>
                          <a:spcPts val="0"/>
                        </a:spcBef>
                        <a:spcAft>
                          <a:spcPts val="0"/>
                        </a:spcAft>
                        <a:buNone/>
                      </a:pPr>
                      <a:r>
                        <a:rPr lang="en-IN" sz="2600"/>
                        <a:t>20,00,000</a:t>
                      </a:r>
                      <a:endParaRPr sz="2600"/>
                    </a:p>
                  </a:txBody>
                  <a:tcPr marT="45725" marB="45725" marR="91450" marL="91450"/>
                </a:tc>
              </a:tr>
            </a:tbl>
          </a:graphicData>
        </a:graphic>
      </p:graphicFrame>
      <p:pic>
        <p:nvPicPr>
          <p:cNvPr descr="Image result for sastra logo" id="563" name="Google Shape;563;p87"/>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8"/>
          <p:cNvSpPr txBox="1"/>
          <p:nvPr>
            <p:ph idx="1" type="body"/>
          </p:nvPr>
        </p:nvSpPr>
        <p:spPr>
          <a:xfrm>
            <a:off x="838200" y="974361"/>
            <a:ext cx="10515600" cy="520260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Anticipated external financial opportunities are:</a:t>
            </a:r>
            <a:endParaRPr/>
          </a:p>
          <a:p>
            <a:pPr indent="-514350" lvl="0" marL="514350" rtl="0" algn="just">
              <a:lnSpc>
                <a:spcPct val="90000"/>
              </a:lnSpc>
              <a:spcBef>
                <a:spcPts val="1000"/>
              </a:spcBef>
              <a:spcAft>
                <a:spcPts val="0"/>
              </a:spcAft>
              <a:buClr>
                <a:schemeClr val="dk1"/>
              </a:buClr>
              <a:buSzPts val="2600"/>
              <a:buAutoNum type="alphaLcParenR"/>
            </a:pPr>
            <a:r>
              <a:rPr lang="en-IN" sz="2600"/>
              <a:t>Rs. 100 per debentures redeemable at par, 20 years maturity, 8% coupon rate, 4% floatation cost, sale price Rs. 100.</a:t>
            </a:r>
            <a:endParaRPr/>
          </a:p>
          <a:p>
            <a:pPr indent="-514350" lvl="0" marL="514350" rtl="0" algn="just">
              <a:lnSpc>
                <a:spcPct val="90000"/>
              </a:lnSpc>
              <a:spcBef>
                <a:spcPts val="1000"/>
              </a:spcBef>
              <a:spcAft>
                <a:spcPts val="0"/>
              </a:spcAft>
              <a:buClr>
                <a:schemeClr val="dk1"/>
              </a:buClr>
              <a:buSzPts val="2600"/>
              <a:buAutoNum type="alphaLcParenR"/>
            </a:pPr>
            <a:r>
              <a:rPr lang="en-IN" sz="2600"/>
              <a:t> Rs. 100 preference shares redeemable at par, 15 years maturity, 10% dividend rate, 5% floatation cost and sale price Rs. 100.</a:t>
            </a:r>
            <a:endParaRPr/>
          </a:p>
          <a:p>
            <a:pPr indent="-514350" lvl="0" marL="514350" rtl="0" algn="just">
              <a:lnSpc>
                <a:spcPct val="90000"/>
              </a:lnSpc>
              <a:spcBef>
                <a:spcPts val="1000"/>
              </a:spcBef>
              <a:spcAft>
                <a:spcPts val="0"/>
              </a:spcAft>
              <a:buClr>
                <a:schemeClr val="dk1"/>
              </a:buClr>
              <a:buSzPts val="2600"/>
              <a:buAutoNum type="alphaLcParenR"/>
            </a:pPr>
            <a:r>
              <a:rPr lang="en-IN" sz="2600"/>
              <a:t>Equity shares:  Rs. 2 per share floatation costs, sale price Rs. 22.</a:t>
            </a:r>
            <a:endParaRPr/>
          </a:p>
          <a:p>
            <a:pPr indent="0" lvl="0" marL="0" rtl="0" algn="just">
              <a:lnSpc>
                <a:spcPct val="90000"/>
              </a:lnSpc>
              <a:spcBef>
                <a:spcPts val="1000"/>
              </a:spcBef>
              <a:spcAft>
                <a:spcPts val="0"/>
              </a:spcAft>
              <a:buClr>
                <a:schemeClr val="dk1"/>
              </a:buClr>
              <a:buSzPts val="2600"/>
              <a:buNone/>
            </a:pPr>
            <a:r>
              <a:rPr lang="en-IN" sz="2600"/>
              <a:t>In addition the dividend expected on the equity share at the end of the year in Rs. 2 per share, the anticipated growth rate in dividends is 5% and the company has the practice of paying all its earnings in the form of dividends. The corporate tax rate is 50%.</a:t>
            </a:r>
            <a:endParaRPr sz="2600"/>
          </a:p>
        </p:txBody>
      </p:sp>
      <p:pic>
        <p:nvPicPr>
          <p:cNvPr descr="Image result for sastra logo" id="569" name="Google Shape;569;p88"/>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9"/>
          <p:cNvSpPr txBox="1"/>
          <p:nvPr>
            <p:ph idx="1" type="body"/>
          </p:nvPr>
        </p:nvSpPr>
        <p:spPr>
          <a:xfrm>
            <a:off x="838200" y="989351"/>
            <a:ext cx="10515600" cy="5187612"/>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Working Note:</a:t>
            </a:r>
            <a:endParaRPr/>
          </a:p>
          <a:p>
            <a:pPr indent="-514350" lvl="0" marL="514350" rtl="0" algn="just">
              <a:lnSpc>
                <a:spcPct val="90000"/>
              </a:lnSpc>
              <a:spcBef>
                <a:spcPts val="1000"/>
              </a:spcBef>
              <a:spcAft>
                <a:spcPts val="0"/>
              </a:spcAft>
              <a:buClr>
                <a:srgbClr val="FF0000"/>
              </a:buClr>
              <a:buSzPts val="2600"/>
              <a:buAutoNum type="arabicPeriod"/>
            </a:pPr>
            <a:r>
              <a:rPr b="1" lang="en-IN" sz="2600">
                <a:solidFill>
                  <a:srgbClr val="FF0000"/>
                </a:solidFill>
              </a:rPr>
              <a:t>Calculation of K</a:t>
            </a:r>
            <a:r>
              <a:rPr b="1" baseline="-25000" lang="en-IN" sz="2600">
                <a:solidFill>
                  <a:srgbClr val="FF0000"/>
                </a:solidFill>
              </a:rPr>
              <a:t>d</a:t>
            </a:r>
            <a:r>
              <a:rPr b="1" lang="en-IN" sz="2600">
                <a:solidFill>
                  <a:srgbClr val="FF0000"/>
                </a:solidFill>
              </a:rPr>
              <a:t> (before tax):</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Kd = I+[(RV-SV)/n]/(RV + SV)/2]</a:t>
            </a:r>
            <a:endParaRPr/>
          </a:p>
          <a:p>
            <a:pPr indent="0" lvl="0" marL="0" rtl="0" algn="just">
              <a:lnSpc>
                <a:spcPct val="90000"/>
              </a:lnSpc>
              <a:spcBef>
                <a:spcPts val="1000"/>
              </a:spcBef>
              <a:spcAft>
                <a:spcPts val="0"/>
              </a:spcAft>
              <a:buClr>
                <a:schemeClr val="dk1"/>
              </a:buClr>
              <a:buSzPts val="2600"/>
              <a:buNone/>
            </a:pPr>
            <a:r>
              <a:rPr lang="en-IN" sz="2600"/>
              <a:t>= Rs. 8 + [(Rs. 100 – Rs. 96)/20] / [(Rs. 100 + Rs.96)/2]</a:t>
            </a:r>
            <a:endParaRPr/>
          </a:p>
          <a:p>
            <a:pPr indent="0" lvl="0" marL="0" rtl="0" algn="just">
              <a:lnSpc>
                <a:spcPct val="90000"/>
              </a:lnSpc>
              <a:spcBef>
                <a:spcPts val="1000"/>
              </a:spcBef>
              <a:spcAft>
                <a:spcPts val="0"/>
              </a:spcAft>
              <a:buClr>
                <a:schemeClr val="dk1"/>
              </a:buClr>
              <a:buSzPts val="2600"/>
              <a:buNone/>
            </a:pPr>
            <a:r>
              <a:rPr lang="en-IN" sz="2600"/>
              <a:t>= 8.36%</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Therefore, K</a:t>
            </a:r>
            <a:r>
              <a:rPr b="1" baseline="-25000" lang="en-IN" sz="2600">
                <a:solidFill>
                  <a:srgbClr val="FF0000"/>
                </a:solidFill>
              </a:rPr>
              <a:t>d</a:t>
            </a:r>
            <a:r>
              <a:rPr b="1" lang="en-IN" sz="2600">
                <a:solidFill>
                  <a:srgbClr val="FF0000"/>
                </a:solidFill>
              </a:rPr>
              <a:t> (after tax):</a:t>
            </a:r>
            <a:endParaRPr/>
          </a:p>
          <a:p>
            <a:pPr indent="0" lvl="0" marL="0" rtl="0" algn="just">
              <a:lnSpc>
                <a:spcPct val="90000"/>
              </a:lnSpc>
              <a:spcBef>
                <a:spcPts val="1000"/>
              </a:spcBef>
              <a:spcAft>
                <a:spcPts val="0"/>
              </a:spcAft>
              <a:buClr>
                <a:schemeClr val="dk1"/>
              </a:buClr>
              <a:buSzPts val="2600"/>
              <a:buNone/>
            </a:pPr>
            <a:r>
              <a:rPr lang="en-IN" sz="2600"/>
              <a:t>= Kd (before tax) (1-T)</a:t>
            </a:r>
            <a:endParaRPr/>
          </a:p>
          <a:p>
            <a:pPr indent="0" lvl="0" marL="0" rtl="0" algn="just">
              <a:lnSpc>
                <a:spcPct val="90000"/>
              </a:lnSpc>
              <a:spcBef>
                <a:spcPts val="1000"/>
              </a:spcBef>
              <a:spcAft>
                <a:spcPts val="0"/>
              </a:spcAft>
              <a:buClr>
                <a:schemeClr val="dk1"/>
              </a:buClr>
              <a:buSzPts val="2600"/>
              <a:buNone/>
            </a:pPr>
            <a:r>
              <a:rPr lang="en-IN" sz="2600"/>
              <a:t>= 8.36% (1.0.50)</a:t>
            </a:r>
            <a:endParaRPr/>
          </a:p>
          <a:p>
            <a:pPr indent="0" lvl="0" marL="0" rtl="0" algn="just">
              <a:lnSpc>
                <a:spcPct val="90000"/>
              </a:lnSpc>
              <a:spcBef>
                <a:spcPts val="1000"/>
              </a:spcBef>
              <a:spcAft>
                <a:spcPts val="0"/>
              </a:spcAft>
              <a:buClr>
                <a:schemeClr val="dk1"/>
              </a:buClr>
              <a:buSzPts val="2600"/>
              <a:buNone/>
            </a:pPr>
            <a:r>
              <a:rPr lang="en-IN" sz="2600"/>
              <a:t>= 8.36%(0.50)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Kd = 4.18%</a:t>
            </a:r>
            <a:endParaRPr/>
          </a:p>
        </p:txBody>
      </p:sp>
      <p:pic>
        <p:nvPicPr>
          <p:cNvPr descr="Image result for sastra logo" id="575" name="Google Shape;575;p89"/>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0"/>
          <p:cNvSpPr txBox="1"/>
          <p:nvPr>
            <p:ph idx="1" type="body"/>
          </p:nvPr>
        </p:nvSpPr>
        <p:spPr>
          <a:xfrm>
            <a:off x="838200" y="943429"/>
            <a:ext cx="10515600" cy="529247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2. Calculation of K</a:t>
            </a:r>
            <a:r>
              <a:rPr b="1" baseline="-25000" lang="en-IN" sz="2600">
                <a:solidFill>
                  <a:srgbClr val="FF0000"/>
                </a:solidFill>
              </a:rPr>
              <a:t>p</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Kp = D+[(RV-SV)/n]/(RV + SV)/2]</a:t>
            </a:r>
            <a:endParaRPr sz="2600"/>
          </a:p>
          <a:p>
            <a:pPr indent="0" lvl="0" marL="0" rtl="0" algn="l">
              <a:lnSpc>
                <a:spcPct val="90000"/>
              </a:lnSpc>
              <a:spcBef>
                <a:spcPts val="1000"/>
              </a:spcBef>
              <a:spcAft>
                <a:spcPts val="0"/>
              </a:spcAft>
              <a:buClr>
                <a:schemeClr val="dk1"/>
              </a:buClr>
              <a:buSzPts val="2600"/>
              <a:buNone/>
            </a:pPr>
            <a:r>
              <a:rPr lang="en-IN" sz="2600"/>
              <a:t>= Rs. 10+[(Rs. 100 – Rs. 95)/15] / [(Rs. 100 + Rs.95)/2]</a:t>
            </a:r>
            <a:endParaRPr/>
          </a:p>
          <a:p>
            <a:pPr indent="0" lvl="0" marL="0" rtl="0" algn="l">
              <a:lnSpc>
                <a:spcPct val="90000"/>
              </a:lnSpc>
              <a:spcBef>
                <a:spcPts val="1000"/>
              </a:spcBef>
              <a:spcAft>
                <a:spcPts val="0"/>
              </a:spcAft>
              <a:buClr>
                <a:schemeClr val="dk1"/>
              </a:buClr>
              <a:buSzPts val="2600"/>
              <a:buNone/>
            </a:pPr>
            <a:r>
              <a:rPr lang="en-IN" sz="2600"/>
              <a:t>= Rs. 10.33/ Rs. 97.5</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Kp = 10.59%</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3. Calculation of K</a:t>
            </a:r>
            <a:r>
              <a:rPr b="1" baseline="-25000" lang="en-IN" sz="2600">
                <a:solidFill>
                  <a:srgbClr val="FF0000"/>
                </a:solidFill>
              </a:rPr>
              <a:t>e</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Ke = (D/NP) + g</a:t>
            </a:r>
            <a:endParaRPr/>
          </a:p>
          <a:p>
            <a:pPr indent="0" lvl="0" marL="0" rtl="0" algn="l">
              <a:lnSpc>
                <a:spcPct val="90000"/>
              </a:lnSpc>
              <a:spcBef>
                <a:spcPts val="1000"/>
              </a:spcBef>
              <a:spcAft>
                <a:spcPts val="0"/>
              </a:spcAft>
              <a:buClr>
                <a:schemeClr val="dk1"/>
              </a:buClr>
              <a:buSzPts val="2600"/>
              <a:buNone/>
            </a:pPr>
            <a:r>
              <a:rPr lang="en-IN" sz="2600"/>
              <a:t>= [Rs. 2/(Rs. 22 – Rs. 2)] + 5%</a:t>
            </a:r>
            <a:endParaRPr/>
          </a:p>
          <a:p>
            <a:pPr indent="0" lvl="0" marL="0" rtl="0" algn="l">
              <a:lnSpc>
                <a:spcPct val="90000"/>
              </a:lnSpc>
              <a:spcBef>
                <a:spcPts val="1000"/>
              </a:spcBef>
              <a:spcAft>
                <a:spcPts val="0"/>
              </a:spcAft>
              <a:buClr>
                <a:schemeClr val="dk1"/>
              </a:buClr>
              <a:buSzPts val="2600"/>
              <a:buNone/>
            </a:pPr>
            <a:r>
              <a:rPr lang="en-IN" sz="2600"/>
              <a:t>= 10% + 5%</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Ke = 15%.</a:t>
            </a:r>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581" name="Google Shape;581;p90"/>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1"/>
          <p:cNvSpPr txBox="1"/>
          <p:nvPr>
            <p:ph idx="1" type="body"/>
          </p:nvPr>
        </p:nvSpPr>
        <p:spPr>
          <a:xfrm>
            <a:off x="838200" y="959370"/>
            <a:ext cx="10515600" cy="521759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600"/>
              <a:buAutoNum type="alphaLcParenR"/>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[Book value weights]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587" name="Google Shape;587;p91"/>
          <p:cNvGraphicFramePr/>
          <p:nvPr/>
        </p:nvGraphicFramePr>
        <p:xfrm>
          <a:off x="838200" y="1830806"/>
          <a:ext cx="3000000" cy="3000000"/>
        </p:xfrm>
        <a:graphic>
          <a:graphicData uri="http://schemas.openxmlformats.org/drawingml/2006/table">
            <a:tbl>
              <a:tblPr bandRow="1" firstRow="1">
                <a:noFill/>
                <a:tableStyleId>{3CD1E0FF-FAF5-4487-BE71-2FD66BCB489A}</a:tableStyleId>
              </a:tblPr>
              <a:tblGrid>
                <a:gridCol w="4573250"/>
                <a:gridCol w="1663900"/>
                <a:gridCol w="1349125"/>
                <a:gridCol w="1319125"/>
                <a:gridCol w="1610200"/>
              </a:tblGrid>
              <a:tr h="3783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a:t>
                      </a:r>
                      <a:endParaRPr/>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8350">
                <a:tc>
                  <a:txBody>
                    <a:bodyPr/>
                    <a:lstStyle/>
                    <a:p>
                      <a:pPr indent="0" lvl="0" marL="0" marR="0" rtl="0" algn="l">
                        <a:spcBef>
                          <a:spcPts val="0"/>
                        </a:spcBef>
                        <a:spcAft>
                          <a:spcPts val="0"/>
                        </a:spcAft>
                        <a:buNone/>
                      </a:pPr>
                      <a:r>
                        <a:rPr lang="en-IN" sz="2600"/>
                        <a:t>Debentures</a:t>
                      </a:r>
                      <a:r>
                        <a:rPr lang="en-IN" sz="2600"/>
                        <a:t> (Rs. 100 per debentures) </a:t>
                      </a:r>
                      <a:endParaRPr sz="2600"/>
                    </a:p>
                  </a:txBody>
                  <a:tcPr marT="0" marB="0" marR="68575" marL="68575"/>
                </a:tc>
                <a:tc>
                  <a:txBody>
                    <a:bodyPr/>
                    <a:lstStyle/>
                    <a:p>
                      <a:pPr indent="0" lvl="0" marL="0" marR="0" rtl="0" algn="r">
                        <a:spcBef>
                          <a:spcPts val="0"/>
                        </a:spcBef>
                        <a:spcAft>
                          <a:spcPts val="0"/>
                        </a:spcAft>
                        <a:buNone/>
                      </a:pPr>
                      <a:r>
                        <a:rPr lang="en-IN" sz="2600"/>
                        <a:t>8,00,000</a:t>
                      </a:r>
                      <a:endParaRPr sz="2600"/>
                    </a:p>
                  </a:txBody>
                  <a:tcPr marT="0" marB="0" marR="68575" marL="68575"/>
                </a:tc>
                <a:tc>
                  <a:txBody>
                    <a:bodyPr/>
                    <a:lstStyle/>
                    <a:p>
                      <a:pPr indent="0" lvl="0" marL="0" marR="0" rtl="0" algn="ctr">
                        <a:spcBef>
                          <a:spcPts val="0"/>
                        </a:spcBef>
                        <a:spcAft>
                          <a:spcPts val="0"/>
                        </a:spcAft>
                        <a:buNone/>
                      </a:pPr>
                      <a:r>
                        <a:rPr lang="en-IN" sz="2600"/>
                        <a:t>0.40</a:t>
                      </a:r>
                      <a:endParaRPr sz="2600"/>
                    </a:p>
                  </a:txBody>
                  <a:tcPr marT="45725" marB="45725" marR="91450" marL="91450"/>
                </a:tc>
                <a:tc>
                  <a:txBody>
                    <a:bodyPr/>
                    <a:lstStyle/>
                    <a:p>
                      <a:pPr indent="0" lvl="0" marL="0" marR="0" rtl="0" algn="ctr">
                        <a:spcBef>
                          <a:spcPts val="0"/>
                        </a:spcBef>
                        <a:spcAft>
                          <a:spcPts val="0"/>
                        </a:spcAft>
                        <a:buNone/>
                      </a:pPr>
                      <a:r>
                        <a:rPr lang="en-IN" sz="2600"/>
                        <a:t>0.0418</a:t>
                      </a:r>
                      <a:endParaRPr sz="2600"/>
                    </a:p>
                  </a:txBody>
                  <a:tcPr marT="45725" marB="45725" marR="91450" marL="91450"/>
                </a:tc>
                <a:tc>
                  <a:txBody>
                    <a:bodyPr/>
                    <a:lstStyle/>
                    <a:p>
                      <a:pPr indent="0" lvl="0" marL="0" marR="0" rtl="0" algn="ctr">
                        <a:spcBef>
                          <a:spcPts val="0"/>
                        </a:spcBef>
                        <a:spcAft>
                          <a:spcPts val="0"/>
                        </a:spcAft>
                        <a:buNone/>
                      </a:pPr>
                      <a:r>
                        <a:rPr lang="en-IN" sz="2600"/>
                        <a:t>0.0167</a:t>
                      </a:r>
                      <a:endParaRPr sz="2600"/>
                    </a:p>
                  </a:txBody>
                  <a:tcPr marT="45725" marB="45725" marR="91450" marL="91450"/>
                </a:tc>
              </a:tr>
              <a:tr h="378350">
                <a:tc>
                  <a:txBody>
                    <a:bodyPr/>
                    <a:lstStyle/>
                    <a:p>
                      <a:pPr indent="0" lvl="0" marL="0" marR="0" rtl="0" algn="l">
                        <a:spcBef>
                          <a:spcPts val="0"/>
                        </a:spcBef>
                        <a:spcAft>
                          <a:spcPts val="0"/>
                        </a:spcAft>
                        <a:buNone/>
                      </a:pPr>
                      <a:r>
                        <a:rPr lang="en-IN" sz="2600"/>
                        <a:t>Preference share capital (Rs. 100 per share)</a:t>
                      </a:r>
                      <a:endParaRPr sz="2600"/>
                    </a:p>
                  </a:txBody>
                  <a:tcPr marT="0" marB="0" marR="68575" marL="68575"/>
                </a:tc>
                <a:tc>
                  <a:txBody>
                    <a:bodyPr/>
                    <a:lstStyle/>
                    <a:p>
                      <a:pPr indent="0" lvl="0" marL="0" marR="0" rtl="0" algn="r">
                        <a:spcBef>
                          <a:spcPts val="0"/>
                        </a:spcBef>
                        <a:spcAft>
                          <a:spcPts val="0"/>
                        </a:spcAft>
                        <a:buNone/>
                      </a:pPr>
                      <a:r>
                        <a:rPr lang="en-IN" sz="2600"/>
                        <a:t>2,00,000</a:t>
                      </a:r>
                      <a:endParaRPr sz="2600"/>
                    </a:p>
                  </a:txBody>
                  <a:tcPr marT="0" marB="0" marR="68575" marL="68575"/>
                </a:tc>
                <a:tc>
                  <a:txBody>
                    <a:bodyPr/>
                    <a:lstStyle/>
                    <a:p>
                      <a:pPr indent="0" lvl="0" marL="0" marR="0" rtl="0" algn="ctr">
                        <a:spcBef>
                          <a:spcPts val="0"/>
                        </a:spcBef>
                        <a:spcAft>
                          <a:spcPts val="0"/>
                        </a:spcAft>
                        <a:buNone/>
                      </a:pPr>
                      <a:r>
                        <a:rPr lang="en-IN" sz="2600"/>
                        <a:t>0.10</a:t>
                      </a:r>
                      <a:endParaRPr sz="2600"/>
                    </a:p>
                  </a:txBody>
                  <a:tcPr marT="45725" marB="45725" marR="91450" marL="91450"/>
                </a:tc>
                <a:tc>
                  <a:txBody>
                    <a:bodyPr/>
                    <a:lstStyle/>
                    <a:p>
                      <a:pPr indent="0" lvl="0" marL="0" marR="0" rtl="0" algn="ctr">
                        <a:spcBef>
                          <a:spcPts val="0"/>
                        </a:spcBef>
                        <a:spcAft>
                          <a:spcPts val="0"/>
                        </a:spcAft>
                        <a:buNone/>
                      </a:pPr>
                      <a:r>
                        <a:rPr lang="en-IN" sz="2600"/>
                        <a:t>0.1059</a:t>
                      </a:r>
                      <a:endParaRPr sz="2600"/>
                    </a:p>
                  </a:txBody>
                  <a:tcPr marT="45725" marB="45725" marR="91450" marL="91450"/>
                </a:tc>
                <a:tc>
                  <a:txBody>
                    <a:bodyPr/>
                    <a:lstStyle/>
                    <a:p>
                      <a:pPr indent="0" lvl="0" marL="0" marR="0" rtl="0" algn="ctr">
                        <a:spcBef>
                          <a:spcPts val="0"/>
                        </a:spcBef>
                        <a:spcAft>
                          <a:spcPts val="0"/>
                        </a:spcAft>
                        <a:buNone/>
                      </a:pPr>
                      <a:r>
                        <a:rPr lang="en-IN" sz="2600"/>
                        <a:t>0.0106</a:t>
                      </a:r>
                      <a:endParaRPr sz="2600"/>
                    </a:p>
                  </a:txBody>
                  <a:tcPr marT="45725" marB="45725" marR="91450" marL="91450"/>
                </a:tc>
              </a:tr>
              <a:tr h="378350">
                <a:tc>
                  <a:txBody>
                    <a:bodyPr/>
                    <a:lstStyle/>
                    <a:p>
                      <a:pPr indent="0" lvl="0" marL="0" marR="0" rtl="0" algn="l">
                        <a:spcBef>
                          <a:spcPts val="0"/>
                        </a:spcBef>
                        <a:spcAft>
                          <a:spcPts val="0"/>
                        </a:spcAft>
                        <a:buNone/>
                      </a:pPr>
                      <a:r>
                        <a:rPr lang="en-IN" sz="2600"/>
                        <a:t>Equity shares</a:t>
                      </a:r>
                      <a:r>
                        <a:rPr lang="en-IN" sz="2600"/>
                        <a:t> Rs. 10 per share</a:t>
                      </a:r>
                      <a:endParaRPr sz="2600"/>
                    </a:p>
                  </a:txBody>
                  <a:tcPr marT="0" marB="0" marR="68575" marL="68575"/>
                </a:tc>
                <a:tc>
                  <a:txBody>
                    <a:bodyPr/>
                    <a:lstStyle/>
                    <a:p>
                      <a:pPr indent="0" lvl="0" marL="0" marR="0" rtl="0" algn="r">
                        <a:spcBef>
                          <a:spcPts val="0"/>
                        </a:spcBef>
                        <a:spcAft>
                          <a:spcPts val="0"/>
                        </a:spcAft>
                        <a:buNone/>
                      </a:pPr>
                      <a:r>
                        <a:rPr lang="en-IN" sz="2600"/>
                        <a:t>10,00,000</a:t>
                      </a:r>
                      <a:endParaRPr sz="2600"/>
                    </a:p>
                  </a:txBody>
                  <a:tcPr marT="0" marB="0" marR="68575" marL="68575"/>
                </a:tc>
                <a:tc>
                  <a:txBody>
                    <a:bodyPr/>
                    <a:lstStyle/>
                    <a:p>
                      <a:pPr indent="0" lvl="0" marL="0" marR="0" rtl="0" algn="ctr">
                        <a:spcBef>
                          <a:spcPts val="0"/>
                        </a:spcBef>
                        <a:spcAft>
                          <a:spcPts val="0"/>
                        </a:spcAft>
                        <a:buNone/>
                      </a:pPr>
                      <a:r>
                        <a:rPr lang="en-IN" sz="2600"/>
                        <a:t>0.50</a:t>
                      </a:r>
                      <a:endParaRPr sz="2600"/>
                    </a:p>
                  </a:txBody>
                  <a:tcPr marT="45725" marB="45725" marR="91450" marL="91450"/>
                </a:tc>
                <a:tc>
                  <a:txBody>
                    <a:bodyPr/>
                    <a:lstStyle/>
                    <a:p>
                      <a:pPr indent="0" lvl="0" marL="0" marR="0" rtl="0" algn="ctr">
                        <a:spcBef>
                          <a:spcPts val="0"/>
                        </a:spcBef>
                        <a:spcAft>
                          <a:spcPts val="0"/>
                        </a:spcAft>
                        <a:buNone/>
                      </a:pPr>
                      <a:r>
                        <a:rPr lang="en-IN" sz="2600"/>
                        <a:t>0.1500</a:t>
                      </a:r>
                      <a:endParaRPr sz="2600"/>
                    </a:p>
                  </a:txBody>
                  <a:tcPr marT="45725" marB="45725" marR="91450" marL="91450"/>
                </a:tc>
                <a:tc>
                  <a:txBody>
                    <a:bodyPr/>
                    <a:lstStyle/>
                    <a:p>
                      <a:pPr indent="0" lvl="0" marL="0" marR="0" rtl="0" algn="ctr">
                        <a:spcBef>
                          <a:spcPts val="0"/>
                        </a:spcBef>
                        <a:spcAft>
                          <a:spcPts val="0"/>
                        </a:spcAft>
                        <a:buNone/>
                      </a:pPr>
                      <a:r>
                        <a:rPr lang="en-IN" sz="2600"/>
                        <a:t>0.0750</a:t>
                      </a:r>
                      <a:endParaRPr sz="2600"/>
                    </a:p>
                  </a:txBody>
                  <a:tcPr marT="45725" marB="45725" marR="91450" marL="91450"/>
                </a:tc>
              </a:tr>
              <a:tr h="378350">
                <a:tc>
                  <a:txBody>
                    <a:bodyPr/>
                    <a:lstStyle/>
                    <a:p>
                      <a:pPr indent="0" lvl="0" marL="457200" marR="0" rtl="0" algn="ctr">
                        <a:lnSpc>
                          <a:spcPct val="115000"/>
                        </a:lnSpc>
                        <a:spcBef>
                          <a:spcPts val="0"/>
                        </a:spcBef>
                        <a:spcAft>
                          <a:spcPts val="0"/>
                        </a:spcAft>
                        <a:buNone/>
                      </a:pPr>
                      <a:r>
                        <a:rPr b="1" lang="en-IN" sz="2600">
                          <a:solidFill>
                            <a:srgbClr val="FF0000"/>
                          </a:solidFill>
                          <a:latin typeface="Calibri"/>
                          <a:ea typeface="Calibri"/>
                          <a:cs typeface="Calibri"/>
                          <a:sym typeface="Calibri"/>
                        </a:rPr>
                        <a:t>Total</a:t>
                      </a:r>
                      <a:endParaRPr b="1" sz="2600">
                        <a:solidFill>
                          <a:srgbClr val="FF0000"/>
                        </a:solidFill>
                        <a:latin typeface="Calibri"/>
                        <a:ea typeface="Calibri"/>
                        <a:cs typeface="Calibri"/>
                        <a:sym typeface="Calibri"/>
                      </a:endParaRPr>
                    </a:p>
                  </a:txBody>
                  <a:tcPr marT="0" marB="0" marR="68575" marL="68575"/>
                </a:tc>
                <a:tc>
                  <a:txBody>
                    <a:bodyPr/>
                    <a:lstStyle/>
                    <a:p>
                      <a:pPr indent="0" lvl="0" marL="0" marR="0" rtl="0" algn="r">
                        <a:spcBef>
                          <a:spcPts val="0"/>
                        </a:spcBef>
                        <a:spcAft>
                          <a:spcPts val="0"/>
                        </a:spcAft>
                        <a:buNone/>
                      </a:pPr>
                      <a:r>
                        <a:rPr b="1" lang="en-IN" sz="2600">
                          <a:solidFill>
                            <a:srgbClr val="FF0000"/>
                          </a:solidFill>
                        </a:rPr>
                        <a:t>20,00,000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10.23%</a:t>
                      </a:r>
                      <a:endParaRPr b="1" sz="2600">
                        <a:solidFill>
                          <a:srgbClr val="FF0000"/>
                        </a:solidFill>
                      </a:endParaRPr>
                    </a:p>
                  </a:txBody>
                  <a:tcPr marT="45725" marB="45725" marR="91450" marL="91450"/>
                </a:tc>
              </a:tr>
            </a:tbl>
          </a:graphicData>
        </a:graphic>
      </p:graphicFrame>
      <p:pic>
        <p:nvPicPr>
          <p:cNvPr descr="Image result for sastra logo" id="588" name="Google Shape;588;p91"/>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92"/>
          <p:cNvSpPr txBox="1"/>
          <p:nvPr>
            <p:ph idx="1" type="body"/>
          </p:nvPr>
        </p:nvSpPr>
        <p:spPr>
          <a:xfrm>
            <a:off x="838200" y="944380"/>
            <a:ext cx="10515600" cy="523258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[Market value weight]</a:t>
            </a:r>
            <a:endParaRPr/>
          </a:p>
          <a:p>
            <a:pPr indent="0" lvl="0" marL="0" rtl="0" algn="l">
              <a:lnSpc>
                <a:spcPct val="90000"/>
              </a:lnSpc>
              <a:spcBef>
                <a:spcPts val="1000"/>
              </a:spcBef>
              <a:spcAft>
                <a:spcPts val="0"/>
              </a:spcAft>
              <a:buClr>
                <a:schemeClr val="dk1"/>
              </a:buClr>
              <a:buSzPts val="2600"/>
              <a:buNone/>
            </a:pPr>
            <a:r>
              <a:t/>
            </a:r>
            <a:endParaRPr sz="2600"/>
          </a:p>
        </p:txBody>
      </p:sp>
      <p:graphicFrame>
        <p:nvGraphicFramePr>
          <p:cNvPr id="594" name="Google Shape;594;p92"/>
          <p:cNvGraphicFramePr/>
          <p:nvPr/>
        </p:nvGraphicFramePr>
        <p:xfrm>
          <a:off x="838200" y="1823311"/>
          <a:ext cx="3000000" cy="3000000"/>
        </p:xfrm>
        <a:graphic>
          <a:graphicData uri="http://schemas.openxmlformats.org/drawingml/2006/table">
            <a:tbl>
              <a:tblPr bandRow="1" firstRow="1">
                <a:noFill/>
                <a:tableStyleId>{3CD1E0FF-FAF5-4487-BE71-2FD66BCB489A}</a:tableStyleId>
              </a:tblPr>
              <a:tblGrid>
                <a:gridCol w="4723150"/>
                <a:gridCol w="1573975"/>
                <a:gridCol w="1334125"/>
                <a:gridCol w="1229200"/>
                <a:gridCol w="1655175"/>
              </a:tblGrid>
              <a:tr h="3708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a:t>
                      </a:r>
                      <a:endParaRPr/>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0850">
                <a:tc>
                  <a:txBody>
                    <a:bodyPr/>
                    <a:lstStyle/>
                    <a:p>
                      <a:pPr indent="0" lvl="0" marL="0" marR="0" rtl="0" algn="l">
                        <a:spcBef>
                          <a:spcPts val="0"/>
                        </a:spcBef>
                        <a:spcAft>
                          <a:spcPts val="0"/>
                        </a:spcAft>
                        <a:buNone/>
                      </a:pPr>
                      <a:r>
                        <a:rPr lang="en-IN" sz="2600"/>
                        <a:t>Debentures</a:t>
                      </a:r>
                      <a:r>
                        <a:rPr lang="en-IN" sz="2600"/>
                        <a:t> (Rs. 110 per debentures) </a:t>
                      </a:r>
                      <a:endParaRPr sz="2600"/>
                    </a:p>
                  </a:txBody>
                  <a:tcPr marT="0" marB="0" marR="68575" marL="68575"/>
                </a:tc>
                <a:tc>
                  <a:txBody>
                    <a:bodyPr/>
                    <a:lstStyle/>
                    <a:p>
                      <a:pPr indent="0" lvl="0" marL="0" marR="0" rtl="0" algn="r">
                        <a:spcBef>
                          <a:spcPts val="0"/>
                        </a:spcBef>
                        <a:spcAft>
                          <a:spcPts val="0"/>
                        </a:spcAft>
                        <a:buNone/>
                      </a:pPr>
                      <a:r>
                        <a:rPr lang="en-IN" sz="2600"/>
                        <a:t>8,80,000</a:t>
                      </a:r>
                      <a:endParaRPr sz="2600"/>
                    </a:p>
                  </a:txBody>
                  <a:tcPr marT="0" marB="0" marR="68575" marL="68575"/>
                </a:tc>
                <a:tc>
                  <a:txBody>
                    <a:bodyPr/>
                    <a:lstStyle/>
                    <a:p>
                      <a:pPr indent="0" lvl="0" marL="0" marR="0" rtl="0" algn="ctr">
                        <a:spcBef>
                          <a:spcPts val="0"/>
                        </a:spcBef>
                        <a:spcAft>
                          <a:spcPts val="0"/>
                        </a:spcAft>
                        <a:buNone/>
                      </a:pPr>
                      <a:r>
                        <a:rPr lang="en-IN" sz="2600"/>
                        <a:t>0.2651</a:t>
                      </a:r>
                      <a:endParaRPr sz="2600"/>
                    </a:p>
                  </a:txBody>
                  <a:tcPr marT="45725" marB="45725" marR="91450" marL="91450"/>
                </a:tc>
                <a:tc>
                  <a:txBody>
                    <a:bodyPr/>
                    <a:lstStyle/>
                    <a:p>
                      <a:pPr indent="0" lvl="0" marL="0" marR="0" rtl="0" algn="ctr">
                        <a:spcBef>
                          <a:spcPts val="0"/>
                        </a:spcBef>
                        <a:spcAft>
                          <a:spcPts val="0"/>
                        </a:spcAft>
                        <a:buNone/>
                      </a:pPr>
                      <a:r>
                        <a:rPr lang="en-IN" sz="2600"/>
                        <a:t>0.0418</a:t>
                      </a:r>
                      <a:endParaRPr sz="2600"/>
                    </a:p>
                  </a:txBody>
                  <a:tcPr marT="45725" marB="45725" marR="91450" marL="91450"/>
                </a:tc>
                <a:tc>
                  <a:txBody>
                    <a:bodyPr/>
                    <a:lstStyle/>
                    <a:p>
                      <a:pPr indent="0" lvl="0" marL="0" marR="0" rtl="0" algn="ctr">
                        <a:spcBef>
                          <a:spcPts val="0"/>
                        </a:spcBef>
                        <a:spcAft>
                          <a:spcPts val="0"/>
                        </a:spcAft>
                        <a:buNone/>
                      </a:pPr>
                      <a:r>
                        <a:rPr lang="en-IN" sz="2600"/>
                        <a:t>0.01108</a:t>
                      </a:r>
                      <a:endParaRPr sz="2600"/>
                    </a:p>
                  </a:txBody>
                  <a:tcPr marT="45725" marB="45725" marR="91450" marL="91450"/>
                </a:tc>
              </a:tr>
              <a:tr h="370850">
                <a:tc>
                  <a:txBody>
                    <a:bodyPr/>
                    <a:lstStyle/>
                    <a:p>
                      <a:pPr indent="0" lvl="0" marL="0" marR="0" rtl="0" algn="l">
                        <a:spcBef>
                          <a:spcPts val="0"/>
                        </a:spcBef>
                        <a:spcAft>
                          <a:spcPts val="0"/>
                        </a:spcAft>
                        <a:buNone/>
                      </a:pPr>
                      <a:r>
                        <a:rPr lang="en-IN" sz="2600"/>
                        <a:t>Preference share capital </a:t>
                      </a:r>
                      <a:endParaRPr/>
                    </a:p>
                    <a:p>
                      <a:pPr indent="0" lvl="0" marL="0" marR="0" rtl="0" algn="l">
                        <a:spcBef>
                          <a:spcPts val="0"/>
                        </a:spcBef>
                        <a:spcAft>
                          <a:spcPts val="0"/>
                        </a:spcAft>
                        <a:buNone/>
                      </a:pPr>
                      <a:r>
                        <a:rPr lang="en-IN" sz="2600"/>
                        <a:t>(Rs. 120 per share)</a:t>
                      </a:r>
                      <a:endParaRPr sz="2600"/>
                    </a:p>
                  </a:txBody>
                  <a:tcPr marT="0" marB="0" marR="68575" marL="68575"/>
                </a:tc>
                <a:tc>
                  <a:txBody>
                    <a:bodyPr/>
                    <a:lstStyle/>
                    <a:p>
                      <a:pPr indent="0" lvl="0" marL="0" marR="0" rtl="0" algn="r">
                        <a:spcBef>
                          <a:spcPts val="0"/>
                        </a:spcBef>
                        <a:spcAft>
                          <a:spcPts val="0"/>
                        </a:spcAft>
                        <a:buNone/>
                      </a:pPr>
                      <a:r>
                        <a:rPr lang="en-IN" sz="2600"/>
                        <a:t>2,40,000</a:t>
                      </a:r>
                      <a:endParaRPr sz="2600"/>
                    </a:p>
                  </a:txBody>
                  <a:tcPr marT="0" marB="0" marR="68575" marL="68575"/>
                </a:tc>
                <a:tc>
                  <a:txBody>
                    <a:bodyPr/>
                    <a:lstStyle/>
                    <a:p>
                      <a:pPr indent="0" lvl="0" marL="0" marR="0" rtl="0" algn="ctr">
                        <a:spcBef>
                          <a:spcPts val="0"/>
                        </a:spcBef>
                        <a:spcAft>
                          <a:spcPts val="0"/>
                        </a:spcAft>
                        <a:buNone/>
                      </a:pPr>
                      <a:r>
                        <a:rPr lang="en-IN" sz="2600"/>
                        <a:t>0.0723</a:t>
                      </a:r>
                      <a:endParaRPr sz="2600"/>
                    </a:p>
                  </a:txBody>
                  <a:tcPr marT="45725" marB="45725" marR="91450" marL="91450"/>
                </a:tc>
                <a:tc>
                  <a:txBody>
                    <a:bodyPr/>
                    <a:lstStyle/>
                    <a:p>
                      <a:pPr indent="0" lvl="0" marL="0" marR="0" rtl="0" algn="ctr">
                        <a:spcBef>
                          <a:spcPts val="0"/>
                        </a:spcBef>
                        <a:spcAft>
                          <a:spcPts val="0"/>
                        </a:spcAft>
                        <a:buNone/>
                      </a:pPr>
                      <a:r>
                        <a:rPr lang="en-IN" sz="2600"/>
                        <a:t>0.1059</a:t>
                      </a:r>
                      <a:endParaRPr sz="2600"/>
                    </a:p>
                  </a:txBody>
                  <a:tcPr marT="45725" marB="45725" marR="91450" marL="91450"/>
                </a:tc>
                <a:tc>
                  <a:txBody>
                    <a:bodyPr/>
                    <a:lstStyle/>
                    <a:p>
                      <a:pPr indent="0" lvl="0" marL="0" marR="0" rtl="0" algn="ctr">
                        <a:spcBef>
                          <a:spcPts val="0"/>
                        </a:spcBef>
                        <a:spcAft>
                          <a:spcPts val="0"/>
                        </a:spcAft>
                        <a:buNone/>
                      </a:pPr>
                      <a:r>
                        <a:rPr lang="en-IN" sz="2600"/>
                        <a:t>0.00766</a:t>
                      </a:r>
                      <a:endParaRPr sz="2600"/>
                    </a:p>
                  </a:txBody>
                  <a:tcPr marT="45725" marB="45725" marR="91450" marL="91450"/>
                </a:tc>
              </a:tr>
              <a:tr h="370850">
                <a:tc>
                  <a:txBody>
                    <a:bodyPr/>
                    <a:lstStyle/>
                    <a:p>
                      <a:pPr indent="0" lvl="0" marL="0" marR="0" rtl="0" algn="l">
                        <a:spcBef>
                          <a:spcPts val="0"/>
                        </a:spcBef>
                        <a:spcAft>
                          <a:spcPts val="0"/>
                        </a:spcAft>
                        <a:buNone/>
                      </a:pPr>
                      <a:r>
                        <a:rPr lang="en-IN" sz="2600"/>
                        <a:t>Equity shares</a:t>
                      </a:r>
                      <a:r>
                        <a:rPr lang="en-IN" sz="2600"/>
                        <a:t> Rs. 22 per share</a:t>
                      </a:r>
                      <a:endParaRPr sz="2600"/>
                    </a:p>
                  </a:txBody>
                  <a:tcPr marT="0" marB="0" marR="68575" marL="68575"/>
                </a:tc>
                <a:tc>
                  <a:txBody>
                    <a:bodyPr/>
                    <a:lstStyle/>
                    <a:p>
                      <a:pPr indent="0" lvl="0" marL="0" marR="0" rtl="0" algn="r">
                        <a:spcBef>
                          <a:spcPts val="0"/>
                        </a:spcBef>
                        <a:spcAft>
                          <a:spcPts val="0"/>
                        </a:spcAft>
                        <a:buNone/>
                      </a:pPr>
                      <a:r>
                        <a:rPr lang="en-IN" sz="2600"/>
                        <a:t>22,00,000</a:t>
                      </a:r>
                      <a:endParaRPr sz="2600"/>
                    </a:p>
                  </a:txBody>
                  <a:tcPr marT="0" marB="0" marR="68575" marL="68575"/>
                </a:tc>
                <a:tc>
                  <a:txBody>
                    <a:bodyPr/>
                    <a:lstStyle/>
                    <a:p>
                      <a:pPr indent="0" lvl="0" marL="0" marR="0" rtl="0" algn="ctr">
                        <a:spcBef>
                          <a:spcPts val="0"/>
                        </a:spcBef>
                        <a:spcAft>
                          <a:spcPts val="0"/>
                        </a:spcAft>
                        <a:buNone/>
                      </a:pPr>
                      <a:r>
                        <a:rPr lang="en-IN" sz="2600"/>
                        <a:t>0.6626</a:t>
                      </a:r>
                      <a:endParaRPr sz="2600"/>
                    </a:p>
                  </a:txBody>
                  <a:tcPr marT="45725" marB="45725" marR="91450" marL="91450"/>
                </a:tc>
                <a:tc>
                  <a:txBody>
                    <a:bodyPr/>
                    <a:lstStyle/>
                    <a:p>
                      <a:pPr indent="0" lvl="0" marL="0" marR="0" rtl="0" algn="ctr">
                        <a:spcBef>
                          <a:spcPts val="0"/>
                        </a:spcBef>
                        <a:spcAft>
                          <a:spcPts val="0"/>
                        </a:spcAft>
                        <a:buNone/>
                      </a:pPr>
                      <a:r>
                        <a:rPr lang="en-IN" sz="2600"/>
                        <a:t>0.1500</a:t>
                      </a:r>
                      <a:endParaRPr sz="2600"/>
                    </a:p>
                  </a:txBody>
                  <a:tcPr marT="45725" marB="45725" marR="91450" marL="91450"/>
                </a:tc>
                <a:tc>
                  <a:txBody>
                    <a:bodyPr/>
                    <a:lstStyle/>
                    <a:p>
                      <a:pPr indent="0" lvl="0" marL="0" marR="0" rtl="0" algn="ctr">
                        <a:spcBef>
                          <a:spcPts val="0"/>
                        </a:spcBef>
                        <a:spcAft>
                          <a:spcPts val="0"/>
                        </a:spcAft>
                        <a:buNone/>
                      </a:pPr>
                      <a:r>
                        <a:rPr lang="en-IN" sz="2600"/>
                        <a:t>0.09939</a:t>
                      </a:r>
                      <a:endParaRPr sz="2600"/>
                    </a:p>
                  </a:txBody>
                  <a:tcPr marT="45725" marB="45725" marR="91450" marL="91450"/>
                </a:tc>
              </a:tr>
              <a:tr h="370850">
                <a:tc>
                  <a:txBody>
                    <a:bodyPr/>
                    <a:lstStyle/>
                    <a:p>
                      <a:pPr indent="0" lvl="0" marL="457200" marR="0" rtl="0" algn="ctr">
                        <a:lnSpc>
                          <a:spcPct val="115000"/>
                        </a:lnSpc>
                        <a:spcBef>
                          <a:spcPts val="0"/>
                        </a:spcBef>
                        <a:spcAft>
                          <a:spcPts val="0"/>
                        </a:spcAft>
                        <a:buNone/>
                      </a:pPr>
                      <a:r>
                        <a:rPr b="1" lang="en-IN" sz="2600">
                          <a:solidFill>
                            <a:srgbClr val="FF0000"/>
                          </a:solidFill>
                          <a:latin typeface="Calibri"/>
                          <a:ea typeface="Calibri"/>
                          <a:cs typeface="Calibri"/>
                          <a:sym typeface="Calibri"/>
                        </a:rPr>
                        <a:t>Total</a:t>
                      </a:r>
                      <a:endParaRPr b="1" sz="2600">
                        <a:solidFill>
                          <a:srgbClr val="FF0000"/>
                        </a:solidFill>
                        <a:latin typeface="Calibri"/>
                        <a:ea typeface="Calibri"/>
                        <a:cs typeface="Calibri"/>
                        <a:sym typeface="Calibri"/>
                      </a:endParaRPr>
                    </a:p>
                  </a:txBody>
                  <a:tcPr marT="0" marB="0" marR="68575" marL="68575"/>
                </a:tc>
                <a:tc>
                  <a:txBody>
                    <a:bodyPr/>
                    <a:lstStyle/>
                    <a:p>
                      <a:pPr indent="0" lvl="0" marL="0" marR="0" rtl="0" algn="r">
                        <a:spcBef>
                          <a:spcPts val="0"/>
                        </a:spcBef>
                        <a:spcAft>
                          <a:spcPts val="0"/>
                        </a:spcAft>
                        <a:buNone/>
                      </a:pPr>
                      <a:r>
                        <a:rPr b="1" lang="en-IN" sz="2600">
                          <a:solidFill>
                            <a:srgbClr val="FF0000"/>
                          </a:solidFill>
                        </a:rPr>
                        <a:t>33,20,000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11.81%</a:t>
                      </a:r>
                      <a:endParaRPr b="1" sz="2600">
                        <a:solidFill>
                          <a:srgbClr val="FF0000"/>
                        </a:solidFill>
                      </a:endParaRPr>
                    </a:p>
                  </a:txBody>
                  <a:tcPr marT="45725" marB="45725" marR="91450" marL="91450"/>
                </a:tc>
              </a:tr>
            </a:tbl>
          </a:graphicData>
        </a:graphic>
      </p:graphicFrame>
      <p:pic>
        <p:nvPicPr>
          <p:cNvPr descr="Image result for sastra logo" id="595" name="Google Shape;595;p92"/>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93"/>
          <p:cNvSpPr txBox="1"/>
          <p:nvPr>
            <p:ph idx="1" type="body"/>
          </p:nvPr>
        </p:nvSpPr>
        <p:spPr>
          <a:xfrm>
            <a:off x="838200" y="1019330"/>
            <a:ext cx="10515600" cy="536647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P23. The KC Ltd.’s present book value of capital structure is: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601" name="Google Shape;601;p93"/>
          <p:cNvGraphicFramePr/>
          <p:nvPr/>
        </p:nvGraphicFramePr>
        <p:xfrm>
          <a:off x="857250" y="1440965"/>
          <a:ext cx="3000000" cy="3000000"/>
        </p:xfrm>
        <a:graphic>
          <a:graphicData uri="http://schemas.openxmlformats.org/drawingml/2006/table">
            <a:tbl>
              <a:tblPr bandRow="1" firstRow="1">
                <a:noFill/>
                <a:tableStyleId>{3CD1E0FF-FAF5-4487-BE71-2FD66BCB489A}</a:tableStyleId>
              </a:tblPr>
              <a:tblGrid>
                <a:gridCol w="8324850"/>
                <a:gridCol w="2171700"/>
              </a:tblGrid>
              <a:tr h="370850">
                <a:tc>
                  <a:txBody>
                    <a:bodyPr/>
                    <a:lstStyle/>
                    <a:p>
                      <a:pPr indent="0" lvl="0" marL="0" marR="0" rtl="0" algn="ctr">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Rs.</a:t>
                      </a:r>
                      <a:endParaRPr sz="2200"/>
                    </a:p>
                  </a:txBody>
                  <a:tcPr marT="45725" marB="45725" marR="91450" marL="91450"/>
                </a:tc>
              </a:tr>
              <a:tr h="3708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Equity capital (in shares of Rs.10 each, fully paid up</a:t>
                      </a:r>
                      <a:r>
                        <a:rPr lang="en-IN" sz="2600">
                          <a:solidFill>
                            <a:schemeClr val="dk1"/>
                          </a:solidFill>
                          <a:latin typeface="Calibri"/>
                          <a:ea typeface="Calibri"/>
                          <a:cs typeface="Calibri"/>
                          <a:sym typeface="Calibri"/>
                        </a:rPr>
                        <a:t> </a:t>
                      </a:r>
                      <a:r>
                        <a:rPr lang="en-IN" sz="2600">
                          <a:solidFill>
                            <a:schemeClr val="dk1"/>
                          </a:solidFill>
                          <a:latin typeface="Calibri"/>
                          <a:ea typeface="Calibri"/>
                          <a:cs typeface="Calibri"/>
                          <a:sym typeface="Calibri"/>
                        </a:rPr>
                        <a:t>at par) </a:t>
                      </a:r>
                      <a:endParaRPr sz="2600"/>
                    </a:p>
                  </a:txBody>
                  <a:tcPr marT="45725" marB="45725" marR="91450" marL="91450"/>
                </a:tc>
                <a:tc>
                  <a:txBody>
                    <a:bodyPr/>
                    <a:lstStyle/>
                    <a:p>
                      <a:pPr indent="0" lvl="0" marL="0" marR="0" rtl="0" algn="l">
                        <a:spcBef>
                          <a:spcPts val="0"/>
                        </a:spcBef>
                        <a:spcAft>
                          <a:spcPts val="0"/>
                        </a:spcAft>
                        <a:buNone/>
                      </a:pPr>
                      <a:r>
                        <a:rPr lang="en-IN" sz="2600"/>
                        <a:t>Rs.      15 Crore</a:t>
                      </a:r>
                      <a:endParaRPr sz="2600"/>
                    </a:p>
                  </a:txBody>
                  <a:tcPr marT="45725" marB="45725" marR="91450" marL="91450"/>
                </a:tc>
              </a:tr>
              <a:tr h="3708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11% Preference capital (Rs.100 each, fully paid up at par) </a:t>
                      </a:r>
                      <a:endParaRPr sz="2600"/>
                    </a:p>
                  </a:txBody>
                  <a:tcPr marT="45725" marB="45725" marR="91450" marL="91450"/>
                </a:tc>
                <a:tc>
                  <a:txBody>
                    <a:bodyPr/>
                    <a:lstStyle/>
                    <a:p>
                      <a:pPr indent="0" lvl="0" marL="0" marR="0" rtl="0" algn="l">
                        <a:spcBef>
                          <a:spcPts val="0"/>
                        </a:spcBef>
                        <a:spcAft>
                          <a:spcPts val="0"/>
                        </a:spcAft>
                        <a:buNone/>
                      </a:pPr>
                      <a:r>
                        <a:rPr lang="en-IN" sz="2600"/>
                        <a:t>Rs.        1</a:t>
                      </a:r>
                      <a:r>
                        <a:rPr lang="en-IN" sz="2600"/>
                        <a:t> Crore</a:t>
                      </a:r>
                      <a:endParaRPr sz="2600"/>
                    </a:p>
                  </a:txBody>
                  <a:tcPr marT="45725" marB="45725" marR="91450" marL="91450"/>
                </a:tc>
              </a:tr>
              <a:tr h="370850">
                <a:tc>
                  <a:txBody>
                    <a:bodyPr/>
                    <a:lstStyle/>
                    <a:p>
                      <a:pPr indent="0" lvl="0" marL="0" marR="0" rtl="0" algn="l">
                        <a:spcBef>
                          <a:spcPts val="0"/>
                        </a:spcBef>
                        <a:spcAft>
                          <a:spcPts val="0"/>
                        </a:spcAft>
                        <a:buNone/>
                      </a:pPr>
                      <a:r>
                        <a:rPr lang="en-IN" sz="2600"/>
                        <a:t>Retained earnings</a:t>
                      </a:r>
                      <a:endParaRPr sz="2600"/>
                    </a:p>
                  </a:txBody>
                  <a:tcPr marT="45725" marB="45725" marR="91450" marL="91450"/>
                </a:tc>
                <a:tc>
                  <a:txBody>
                    <a:bodyPr/>
                    <a:lstStyle/>
                    <a:p>
                      <a:pPr indent="0" lvl="0" marL="0" marR="0" rtl="0" algn="l">
                        <a:spcBef>
                          <a:spcPts val="0"/>
                        </a:spcBef>
                        <a:spcAft>
                          <a:spcPts val="0"/>
                        </a:spcAft>
                        <a:buNone/>
                      </a:pPr>
                      <a:r>
                        <a:rPr lang="en-IN" sz="2600"/>
                        <a:t>Rs.</a:t>
                      </a:r>
                      <a:r>
                        <a:rPr lang="en-IN" sz="2600"/>
                        <a:t>      20 </a:t>
                      </a:r>
                      <a:r>
                        <a:rPr lang="en-IN" sz="2600"/>
                        <a:t>Crore</a:t>
                      </a:r>
                      <a:endParaRPr sz="2600"/>
                    </a:p>
                  </a:txBody>
                  <a:tcPr marT="45725" marB="45725" marR="91450" marL="91450"/>
                </a:tc>
              </a:tr>
              <a:tr h="3708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13.5% Debentures (of Rs.100 each)</a:t>
                      </a:r>
                      <a:endParaRPr sz="2600"/>
                    </a:p>
                  </a:txBody>
                  <a:tcPr marT="45725" marB="45725" marR="91450" marL="91450"/>
                </a:tc>
                <a:tc>
                  <a:txBody>
                    <a:bodyPr/>
                    <a:lstStyle/>
                    <a:p>
                      <a:pPr indent="0" lvl="0" marL="0" marR="0" rtl="0" algn="l">
                        <a:spcBef>
                          <a:spcPts val="0"/>
                        </a:spcBef>
                        <a:spcAft>
                          <a:spcPts val="0"/>
                        </a:spcAft>
                        <a:buNone/>
                      </a:pPr>
                      <a:r>
                        <a:rPr lang="en-IN" sz="2600"/>
                        <a:t>Rs.      10 Crore</a:t>
                      </a:r>
                      <a:endParaRPr sz="2600"/>
                    </a:p>
                  </a:txBody>
                  <a:tcPr marT="45725" marB="45725" marR="91450" marL="91450"/>
                </a:tc>
              </a:tr>
              <a:tr h="370850">
                <a:tc>
                  <a:txBody>
                    <a:bodyPr/>
                    <a:lstStyle/>
                    <a:p>
                      <a:pPr indent="0" lvl="0" marL="0" marR="0" rtl="0" algn="l">
                        <a:spcBef>
                          <a:spcPts val="0"/>
                        </a:spcBef>
                        <a:spcAft>
                          <a:spcPts val="0"/>
                        </a:spcAft>
                        <a:buNone/>
                      </a:pPr>
                      <a:r>
                        <a:rPr lang="en-IN" sz="2600"/>
                        <a:t>15% Term loans</a:t>
                      </a:r>
                      <a:endParaRPr sz="2600"/>
                    </a:p>
                  </a:txBody>
                  <a:tcPr marT="45725" marB="45725" marR="91450" marL="91450"/>
                </a:tc>
                <a:tc>
                  <a:txBody>
                    <a:bodyPr/>
                    <a:lstStyle/>
                    <a:p>
                      <a:pPr indent="0" lvl="0" marL="0" marR="0" rtl="0" algn="l">
                        <a:spcBef>
                          <a:spcPts val="0"/>
                        </a:spcBef>
                        <a:spcAft>
                          <a:spcPts val="0"/>
                        </a:spcAft>
                        <a:buNone/>
                      </a:pPr>
                      <a:r>
                        <a:rPr lang="en-IN" sz="2600"/>
                        <a:t>Rs.  12.5 Crore</a:t>
                      </a:r>
                      <a:endParaRPr sz="2600"/>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Total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 Rs. 58.5 </a:t>
                      </a:r>
                      <a:r>
                        <a:rPr lang="en-IN" sz="2600"/>
                        <a:t>Crore</a:t>
                      </a:r>
                      <a:endParaRPr sz="2600"/>
                    </a:p>
                  </a:txBody>
                  <a:tcPr marT="45725" marB="45725" marR="91450" marL="91450"/>
                </a:tc>
              </a:tr>
            </a:tbl>
          </a:graphicData>
        </a:graphic>
      </p:graphicFrame>
      <p:pic>
        <p:nvPicPr>
          <p:cNvPr descr="Image result for sastra logo" id="602" name="Google Shape;602;p93"/>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94"/>
          <p:cNvSpPr txBox="1"/>
          <p:nvPr>
            <p:ph idx="1" type="body"/>
          </p:nvPr>
        </p:nvSpPr>
        <p:spPr>
          <a:xfrm>
            <a:off x="838200" y="943429"/>
            <a:ext cx="10515600" cy="454121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next expected dividend on equity shares per share is Rs.3.60; the dividend per share is expected to grow at the rate of 7 percent.  The market price per share is Rs.40.  Preference stock, redeemable after ten years, is currently selling at Rs.75 per share.  Debentures, redeemable after six years, are selling at Rs.80 per debenture.  The Income-tax rate for the company is 40 percent. Required: Calculate the weighted average cost of capital using:</a:t>
            </a:r>
            <a:endParaRPr sz="2600"/>
          </a:p>
          <a:p>
            <a:pPr indent="-514350" lvl="0" marL="514350" rtl="0" algn="just">
              <a:lnSpc>
                <a:spcPct val="90000"/>
              </a:lnSpc>
              <a:spcBef>
                <a:spcPts val="1000"/>
              </a:spcBef>
              <a:spcAft>
                <a:spcPts val="0"/>
              </a:spcAft>
              <a:buClr>
                <a:schemeClr val="dk1"/>
              </a:buClr>
              <a:buSzPts val="2600"/>
              <a:buAutoNum type="alphaLcParenR"/>
            </a:pPr>
            <a:r>
              <a:rPr lang="en-IN" sz="2600"/>
              <a:t>Book value proportions; and </a:t>
            </a:r>
            <a:endParaRPr sz="2600"/>
          </a:p>
          <a:p>
            <a:pPr indent="-514350" lvl="0" marL="514350" rtl="0" algn="just">
              <a:lnSpc>
                <a:spcPct val="90000"/>
              </a:lnSpc>
              <a:spcBef>
                <a:spcPts val="1000"/>
              </a:spcBef>
              <a:spcAft>
                <a:spcPts val="0"/>
              </a:spcAft>
              <a:buClr>
                <a:schemeClr val="dk1"/>
              </a:buClr>
              <a:buSzPts val="2600"/>
              <a:buAutoNum type="alphaLcParenR"/>
            </a:pPr>
            <a:r>
              <a:rPr lang="en-IN" sz="2600"/>
              <a:t>Market value proportions.</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608" name="Google Shape;608;p94"/>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95"/>
          <p:cNvSpPr txBox="1"/>
          <p:nvPr>
            <p:ph idx="1" type="body"/>
          </p:nvPr>
        </p:nvSpPr>
        <p:spPr>
          <a:xfrm>
            <a:off x="838200" y="989351"/>
            <a:ext cx="10515600" cy="5187612"/>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Working Note:</a:t>
            </a:r>
            <a:endParaRPr/>
          </a:p>
          <a:p>
            <a:pPr indent="-514350" lvl="0" marL="514350" rtl="0" algn="just">
              <a:lnSpc>
                <a:spcPct val="90000"/>
              </a:lnSpc>
              <a:spcBef>
                <a:spcPts val="1000"/>
              </a:spcBef>
              <a:spcAft>
                <a:spcPts val="0"/>
              </a:spcAft>
              <a:buClr>
                <a:srgbClr val="FF0000"/>
              </a:buClr>
              <a:buSzPts val="2600"/>
              <a:buAutoNum type="arabicPeriod"/>
            </a:pPr>
            <a:r>
              <a:rPr b="1" lang="en-IN" sz="2600">
                <a:solidFill>
                  <a:srgbClr val="FF0000"/>
                </a:solidFill>
              </a:rPr>
              <a:t>Calculation of K</a:t>
            </a:r>
            <a:r>
              <a:rPr b="1" baseline="-25000" lang="en-IN" sz="2600">
                <a:solidFill>
                  <a:srgbClr val="FF0000"/>
                </a:solidFill>
              </a:rPr>
              <a:t>d</a:t>
            </a:r>
            <a:r>
              <a:rPr b="1" lang="en-IN" sz="2600">
                <a:solidFill>
                  <a:srgbClr val="FF0000"/>
                </a:solidFill>
              </a:rPr>
              <a:t> (before tax):</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Kd = I+[(RV-SV)/n]/(RV + SV)/2]</a:t>
            </a:r>
            <a:endParaRPr/>
          </a:p>
          <a:p>
            <a:pPr indent="0" lvl="0" marL="0" rtl="0" algn="just">
              <a:lnSpc>
                <a:spcPct val="90000"/>
              </a:lnSpc>
              <a:spcBef>
                <a:spcPts val="1000"/>
              </a:spcBef>
              <a:spcAft>
                <a:spcPts val="0"/>
              </a:spcAft>
              <a:buClr>
                <a:schemeClr val="dk1"/>
              </a:buClr>
              <a:buSzPts val="2600"/>
              <a:buNone/>
            </a:pPr>
            <a:r>
              <a:rPr lang="en-IN" sz="2600"/>
              <a:t>= Rs. 13.5 + [(Rs. 100 – Rs. 80)/6] / [(Rs. 100 + Rs.80)/2]</a:t>
            </a:r>
            <a:endParaRPr/>
          </a:p>
          <a:p>
            <a:pPr indent="0" lvl="0" marL="0" rtl="0" algn="just">
              <a:lnSpc>
                <a:spcPct val="90000"/>
              </a:lnSpc>
              <a:spcBef>
                <a:spcPts val="1000"/>
              </a:spcBef>
              <a:spcAft>
                <a:spcPts val="0"/>
              </a:spcAft>
              <a:buClr>
                <a:schemeClr val="dk1"/>
              </a:buClr>
              <a:buSzPts val="2600"/>
              <a:buNone/>
            </a:pPr>
            <a:r>
              <a:rPr lang="en-IN" sz="2600"/>
              <a:t>= 18.7%</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Therefore, K</a:t>
            </a:r>
            <a:r>
              <a:rPr b="1" baseline="-25000" lang="en-IN" sz="2600">
                <a:solidFill>
                  <a:srgbClr val="FF0000"/>
                </a:solidFill>
              </a:rPr>
              <a:t>d</a:t>
            </a:r>
            <a:r>
              <a:rPr b="1" lang="en-IN" sz="2600">
                <a:solidFill>
                  <a:srgbClr val="FF0000"/>
                </a:solidFill>
              </a:rPr>
              <a:t> (after tax):</a:t>
            </a:r>
            <a:endParaRPr/>
          </a:p>
          <a:p>
            <a:pPr indent="0" lvl="0" marL="0" rtl="0" algn="just">
              <a:lnSpc>
                <a:spcPct val="90000"/>
              </a:lnSpc>
              <a:spcBef>
                <a:spcPts val="1000"/>
              </a:spcBef>
              <a:spcAft>
                <a:spcPts val="0"/>
              </a:spcAft>
              <a:buClr>
                <a:schemeClr val="dk1"/>
              </a:buClr>
              <a:buSzPts val="2600"/>
              <a:buNone/>
            </a:pPr>
            <a:r>
              <a:rPr lang="en-IN" sz="2600"/>
              <a:t>= Kd (before tax) (1-T)</a:t>
            </a:r>
            <a:endParaRPr/>
          </a:p>
          <a:p>
            <a:pPr indent="0" lvl="0" marL="0" rtl="0" algn="just">
              <a:lnSpc>
                <a:spcPct val="90000"/>
              </a:lnSpc>
              <a:spcBef>
                <a:spcPts val="1000"/>
              </a:spcBef>
              <a:spcAft>
                <a:spcPts val="0"/>
              </a:spcAft>
              <a:buClr>
                <a:schemeClr val="dk1"/>
              </a:buClr>
              <a:buSzPts val="2600"/>
              <a:buNone/>
            </a:pPr>
            <a:r>
              <a:rPr lang="en-IN" sz="2600"/>
              <a:t>= 18.7% (0.60)</a:t>
            </a:r>
            <a:endParaRPr/>
          </a:p>
          <a:p>
            <a:pPr indent="0" lvl="0" marL="0" rtl="0" algn="just">
              <a:lnSpc>
                <a:spcPct val="90000"/>
              </a:lnSpc>
              <a:spcBef>
                <a:spcPts val="1000"/>
              </a:spcBef>
              <a:spcAft>
                <a:spcPts val="0"/>
              </a:spcAft>
              <a:buClr>
                <a:schemeClr val="dk1"/>
              </a:buClr>
              <a:buSzPts val="2600"/>
              <a:buNone/>
            </a:pPr>
            <a:r>
              <a:rPr lang="en-IN" sz="2600"/>
              <a:t>= 18.70%(0.60)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Kd = 11.22%</a:t>
            </a:r>
            <a:endParaRPr/>
          </a:p>
        </p:txBody>
      </p:sp>
      <p:pic>
        <p:nvPicPr>
          <p:cNvPr descr="Image result for sastra logo" id="614" name="Google Shape;614;p95"/>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96"/>
          <p:cNvSpPr txBox="1"/>
          <p:nvPr>
            <p:ph idx="1" type="body"/>
          </p:nvPr>
        </p:nvSpPr>
        <p:spPr>
          <a:xfrm>
            <a:off x="762000" y="1072056"/>
            <a:ext cx="10515600" cy="510490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2. Cost of Term Loans (K</a:t>
            </a:r>
            <a:r>
              <a:rPr b="1" baseline="-25000" lang="en-IN" sz="2600">
                <a:solidFill>
                  <a:srgbClr val="FF0000"/>
                </a:solidFill>
              </a:rPr>
              <a:t>T</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a:t>
            </a:r>
            <a:r>
              <a:rPr baseline="-25000" lang="en-IN" sz="2600"/>
              <a:t>T </a:t>
            </a:r>
            <a:r>
              <a:rPr lang="en-IN" sz="2600"/>
              <a:t>= R (1-T)</a:t>
            </a:r>
            <a:endParaRPr/>
          </a:p>
          <a:p>
            <a:pPr indent="0" lvl="0" marL="0" rtl="0" algn="l">
              <a:lnSpc>
                <a:spcPct val="90000"/>
              </a:lnSpc>
              <a:spcBef>
                <a:spcPts val="1000"/>
              </a:spcBef>
              <a:spcAft>
                <a:spcPts val="0"/>
              </a:spcAft>
              <a:buClr>
                <a:schemeClr val="dk1"/>
              </a:buClr>
              <a:buSzPts val="2600"/>
              <a:buNone/>
            </a:pPr>
            <a:r>
              <a:rPr lang="en-IN" sz="2600"/>
              <a:t>    = 15%(0.60)</a:t>
            </a:r>
            <a:endParaRPr/>
          </a:p>
          <a:p>
            <a:pPr indent="0" lvl="0" marL="0" rtl="0" algn="l">
              <a:lnSpc>
                <a:spcPct val="90000"/>
              </a:lnSpc>
              <a:spcBef>
                <a:spcPts val="1000"/>
              </a:spcBef>
              <a:spcAft>
                <a:spcPts val="0"/>
              </a:spcAft>
              <a:buClr>
                <a:schemeClr val="dk1"/>
              </a:buClr>
              <a:buSzPts val="2600"/>
              <a:buNone/>
            </a:pPr>
            <a:r>
              <a:rPr lang="en-IN" sz="2600"/>
              <a:t>    = 9%</a:t>
            </a:r>
            <a:endParaRPr/>
          </a:p>
          <a:p>
            <a:pPr indent="0" lvl="0" marL="0" rtl="0" algn="l">
              <a:lnSpc>
                <a:spcPct val="90000"/>
              </a:lnSpc>
              <a:spcBef>
                <a:spcPts val="1000"/>
              </a:spcBef>
              <a:spcAft>
                <a:spcPts val="0"/>
              </a:spcAft>
              <a:buClr>
                <a:schemeClr val="dk1"/>
              </a:buClr>
              <a:buSzPts val="2600"/>
              <a:buNone/>
            </a:pPr>
            <a:r>
              <a:rPr lang="en-IN" sz="2600"/>
              <a:t>      </a:t>
            </a:r>
            <a:endParaRPr sz="2600"/>
          </a:p>
        </p:txBody>
      </p:sp>
      <p:pic>
        <p:nvPicPr>
          <p:cNvPr descr="Image result for sastra logo" id="620" name="Google Shape;620;p96"/>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97"/>
          <p:cNvSpPr txBox="1"/>
          <p:nvPr>
            <p:ph idx="1" type="body"/>
          </p:nvPr>
        </p:nvSpPr>
        <p:spPr>
          <a:xfrm>
            <a:off x="838200" y="943429"/>
            <a:ext cx="10515600" cy="529247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3. Calculation of K</a:t>
            </a:r>
            <a:r>
              <a:rPr b="1" baseline="-25000" lang="en-IN" sz="2600">
                <a:solidFill>
                  <a:srgbClr val="FF0000"/>
                </a:solidFill>
              </a:rPr>
              <a:t>p</a:t>
            </a:r>
            <a:r>
              <a:rPr b="1" lang="en-IN" sz="2600">
                <a:solidFill>
                  <a:srgbClr val="FF0000"/>
                </a:solidFill>
              </a:rPr>
              <a:t>:</a:t>
            </a:r>
            <a:endParaRPr/>
          </a:p>
          <a:p>
            <a:pPr indent="0" lvl="0" marL="0" rtl="0" algn="just">
              <a:lnSpc>
                <a:spcPct val="90000"/>
              </a:lnSpc>
              <a:spcBef>
                <a:spcPts val="1000"/>
              </a:spcBef>
              <a:spcAft>
                <a:spcPts val="0"/>
              </a:spcAft>
              <a:buClr>
                <a:schemeClr val="dk1"/>
              </a:buClr>
              <a:buSzPts val="2600"/>
              <a:buNone/>
            </a:pPr>
            <a:r>
              <a:rPr lang="en-IN" sz="2600"/>
              <a:t>Kp = D+[(RV-SV)/n]/(RV + SV)/2]</a:t>
            </a:r>
            <a:endParaRPr/>
          </a:p>
          <a:p>
            <a:pPr indent="0" lvl="0" marL="0" rtl="0" algn="l">
              <a:lnSpc>
                <a:spcPct val="90000"/>
              </a:lnSpc>
              <a:spcBef>
                <a:spcPts val="1000"/>
              </a:spcBef>
              <a:spcAft>
                <a:spcPts val="0"/>
              </a:spcAft>
              <a:buClr>
                <a:schemeClr val="dk1"/>
              </a:buClr>
              <a:buSzPts val="2600"/>
              <a:buNone/>
            </a:pPr>
            <a:r>
              <a:rPr lang="en-IN" sz="2600"/>
              <a:t>= Rs. 11+[(Rs. 100 – Rs. 75)/10] / [(Rs. 100 + Rs.75)/2]</a:t>
            </a:r>
            <a:endParaRPr/>
          </a:p>
          <a:p>
            <a:pPr indent="0" lvl="0" marL="0" rtl="0" algn="l">
              <a:lnSpc>
                <a:spcPct val="90000"/>
              </a:lnSpc>
              <a:spcBef>
                <a:spcPts val="1000"/>
              </a:spcBef>
              <a:spcAft>
                <a:spcPts val="0"/>
              </a:spcAft>
              <a:buClr>
                <a:schemeClr val="dk1"/>
              </a:buClr>
              <a:buSzPts val="2600"/>
              <a:buNone/>
            </a:pPr>
            <a:r>
              <a:rPr lang="en-IN" sz="2600"/>
              <a:t>= Rs. 13.50/ Rs. 87.5</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Kp = 15.43%</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4. Calculation of K</a:t>
            </a:r>
            <a:r>
              <a:rPr b="1" baseline="-25000" lang="en-IN" sz="2600">
                <a:solidFill>
                  <a:srgbClr val="FF0000"/>
                </a:solidFill>
              </a:rPr>
              <a:t>e</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Ke = (D/NP) + g</a:t>
            </a:r>
            <a:endParaRPr/>
          </a:p>
          <a:p>
            <a:pPr indent="0" lvl="0" marL="0" rtl="0" algn="l">
              <a:lnSpc>
                <a:spcPct val="90000"/>
              </a:lnSpc>
              <a:spcBef>
                <a:spcPts val="1000"/>
              </a:spcBef>
              <a:spcAft>
                <a:spcPts val="0"/>
              </a:spcAft>
              <a:buClr>
                <a:schemeClr val="dk1"/>
              </a:buClr>
              <a:buSzPts val="2600"/>
              <a:buNone/>
            </a:pPr>
            <a:r>
              <a:rPr lang="en-IN" sz="2600"/>
              <a:t>= [Rs.3.60/(Rs. 40)] + 7%</a:t>
            </a:r>
            <a:endParaRPr sz="2600"/>
          </a:p>
          <a:p>
            <a:pPr indent="0" lvl="0" marL="0" rtl="0" algn="l">
              <a:lnSpc>
                <a:spcPct val="90000"/>
              </a:lnSpc>
              <a:spcBef>
                <a:spcPts val="1000"/>
              </a:spcBef>
              <a:spcAft>
                <a:spcPts val="0"/>
              </a:spcAft>
              <a:buClr>
                <a:schemeClr val="dk1"/>
              </a:buClr>
              <a:buSzPts val="2600"/>
              <a:buNone/>
            </a:pPr>
            <a:r>
              <a:rPr lang="en-IN" sz="2600"/>
              <a:t>= 9% + 7%</a:t>
            </a:r>
            <a:endParaRPr sz="2600"/>
          </a:p>
          <a:p>
            <a:pPr indent="0" lvl="0" marL="0" rtl="0" algn="l">
              <a:lnSpc>
                <a:spcPct val="90000"/>
              </a:lnSpc>
              <a:spcBef>
                <a:spcPts val="1000"/>
              </a:spcBef>
              <a:spcAft>
                <a:spcPts val="0"/>
              </a:spcAft>
              <a:buClr>
                <a:srgbClr val="FF0000"/>
              </a:buClr>
              <a:buSzPts val="2600"/>
              <a:buNone/>
            </a:pPr>
            <a:r>
              <a:rPr lang="en-IN" sz="2600">
                <a:solidFill>
                  <a:srgbClr val="FF0000"/>
                </a:solidFill>
              </a:rPr>
              <a:t>Ke = 16%.</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626" name="Google Shape;626;p97"/>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98"/>
          <p:cNvSpPr txBox="1"/>
          <p:nvPr>
            <p:ph idx="1" type="body"/>
          </p:nvPr>
        </p:nvSpPr>
        <p:spPr>
          <a:xfrm>
            <a:off x="838200" y="959370"/>
            <a:ext cx="10515600" cy="521759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600"/>
              <a:buAutoNum type="alphaLcParenR"/>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[Book value weights]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632" name="Google Shape;632;p98"/>
          <p:cNvGraphicFramePr/>
          <p:nvPr/>
        </p:nvGraphicFramePr>
        <p:xfrm>
          <a:off x="838200" y="1946396"/>
          <a:ext cx="3000000" cy="3000000"/>
        </p:xfrm>
        <a:graphic>
          <a:graphicData uri="http://schemas.openxmlformats.org/drawingml/2006/table">
            <a:tbl>
              <a:tblPr bandRow="1" firstRow="1">
                <a:noFill/>
                <a:tableStyleId>{3CD1E0FF-FAF5-4487-BE71-2FD66BCB489A}</a:tableStyleId>
              </a:tblPr>
              <a:tblGrid>
                <a:gridCol w="4573250"/>
                <a:gridCol w="1663900"/>
                <a:gridCol w="1349125"/>
                <a:gridCol w="1319125"/>
                <a:gridCol w="1610200"/>
              </a:tblGrid>
              <a:tr h="3783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 In</a:t>
                      </a:r>
                      <a:r>
                        <a:rPr lang="en-IN" sz="1800"/>
                        <a:t> crore</a:t>
                      </a:r>
                      <a:endParaRPr sz="1800"/>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83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Equity capital </a:t>
                      </a:r>
                      <a:endParaRPr sz="2600"/>
                    </a:p>
                  </a:txBody>
                  <a:tcPr marT="45725" marB="45725" marR="91450" marL="91450"/>
                </a:tc>
                <a:tc>
                  <a:txBody>
                    <a:bodyPr/>
                    <a:lstStyle/>
                    <a:p>
                      <a:pPr indent="0" lvl="0" marL="0" marR="0" rtl="0" algn="ctr">
                        <a:spcBef>
                          <a:spcPts val="0"/>
                        </a:spcBef>
                        <a:spcAft>
                          <a:spcPts val="0"/>
                        </a:spcAft>
                        <a:buNone/>
                      </a:pPr>
                      <a:r>
                        <a:rPr lang="en-IN" sz="2600"/>
                        <a:t>15.0 </a:t>
                      </a:r>
                      <a:endParaRPr sz="2600"/>
                    </a:p>
                  </a:txBody>
                  <a:tcPr marT="45725" marB="45725" marR="91450" marL="91450"/>
                </a:tc>
                <a:tc>
                  <a:txBody>
                    <a:bodyPr/>
                    <a:lstStyle/>
                    <a:p>
                      <a:pPr indent="0" lvl="0" marL="0" marR="0" rtl="0" algn="ctr">
                        <a:spcBef>
                          <a:spcPts val="0"/>
                        </a:spcBef>
                        <a:spcAft>
                          <a:spcPts val="0"/>
                        </a:spcAft>
                        <a:buNone/>
                      </a:pPr>
                      <a:r>
                        <a:rPr lang="en-IN" sz="2600"/>
                        <a:t>0.256</a:t>
                      </a:r>
                      <a:endParaRPr sz="2600"/>
                    </a:p>
                  </a:txBody>
                  <a:tcPr marT="45725" marB="45725" marR="91450" marL="91450"/>
                </a:tc>
                <a:tc>
                  <a:txBody>
                    <a:bodyPr/>
                    <a:lstStyle/>
                    <a:p>
                      <a:pPr indent="0" lvl="0" marL="0" marR="0" rtl="0" algn="ctr">
                        <a:spcBef>
                          <a:spcPts val="0"/>
                        </a:spcBef>
                        <a:spcAft>
                          <a:spcPts val="0"/>
                        </a:spcAft>
                        <a:buNone/>
                      </a:pPr>
                      <a:r>
                        <a:rPr lang="en-IN" sz="2600"/>
                        <a:t>0.1600</a:t>
                      </a:r>
                      <a:endParaRPr sz="2600"/>
                    </a:p>
                  </a:txBody>
                  <a:tcPr marT="45725" marB="45725" marR="91450" marL="91450"/>
                </a:tc>
                <a:tc>
                  <a:txBody>
                    <a:bodyPr/>
                    <a:lstStyle/>
                    <a:p>
                      <a:pPr indent="0" lvl="0" marL="0" marR="0" rtl="0" algn="ctr">
                        <a:spcBef>
                          <a:spcPts val="0"/>
                        </a:spcBef>
                        <a:spcAft>
                          <a:spcPts val="0"/>
                        </a:spcAft>
                        <a:buNone/>
                      </a:pPr>
                      <a:r>
                        <a:rPr lang="en-IN" sz="2600"/>
                        <a:t>0.04096</a:t>
                      </a:r>
                      <a:endParaRPr sz="2600"/>
                    </a:p>
                  </a:txBody>
                  <a:tcPr marT="45725" marB="45725" marR="91450" marL="91450"/>
                </a:tc>
              </a:tr>
              <a:tr h="3783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11% Preference capital </a:t>
                      </a:r>
                      <a:endParaRPr sz="2600"/>
                    </a:p>
                  </a:txBody>
                  <a:tcPr marT="45725" marB="45725" marR="91450" marL="91450"/>
                </a:tc>
                <a:tc>
                  <a:txBody>
                    <a:bodyPr/>
                    <a:lstStyle/>
                    <a:p>
                      <a:pPr indent="0" lvl="0" marL="0" marR="0" rtl="0" algn="ctr">
                        <a:spcBef>
                          <a:spcPts val="0"/>
                        </a:spcBef>
                        <a:spcAft>
                          <a:spcPts val="0"/>
                        </a:spcAft>
                        <a:buNone/>
                      </a:pPr>
                      <a:r>
                        <a:rPr lang="en-IN" sz="2600"/>
                        <a:t>   1.0</a:t>
                      </a:r>
                      <a:r>
                        <a:rPr lang="en-IN" sz="2600"/>
                        <a:t> </a:t>
                      </a:r>
                      <a:endParaRPr sz="2600"/>
                    </a:p>
                  </a:txBody>
                  <a:tcPr marT="45725" marB="45725" marR="91450" marL="91450"/>
                </a:tc>
                <a:tc>
                  <a:txBody>
                    <a:bodyPr/>
                    <a:lstStyle/>
                    <a:p>
                      <a:pPr indent="0" lvl="0" marL="0" marR="0" rtl="0" algn="ctr">
                        <a:spcBef>
                          <a:spcPts val="0"/>
                        </a:spcBef>
                        <a:spcAft>
                          <a:spcPts val="0"/>
                        </a:spcAft>
                        <a:buNone/>
                      </a:pPr>
                      <a:r>
                        <a:rPr lang="en-IN" sz="2600"/>
                        <a:t>0.017</a:t>
                      </a:r>
                      <a:endParaRPr sz="2600"/>
                    </a:p>
                  </a:txBody>
                  <a:tcPr marT="45725" marB="45725" marR="91450" marL="91450"/>
                </a:tc>
                <a:tc>
                  <a:txBody>
                    <a:bodyPr/>
                    <a:lstStyle/>
                    <a:p>
                      <a:pPr indent="0" lvl="0" marL="0" marR="0" rtl="0" algn="ctr">
                        <a:spcBef>
                          <a:spcPts val="0"/>
                        </a:spcBef>
                        <a:spcAft>
                          <a:spcPts val="0"/>
                        </a:spcAft>
                        <a:buNone/>
                      </a:pPr>
                      <a:r>
                        <a:rPr lang="en-IN" sz="2600"/>
                        <a:t>0.1543</a:t>
                      </a:r>
                      <a:endParaRPr sz="2600"/>
                    </a:p>
                  </a:txBody>
                  <a:tcPr marT="45725" marB="45725" marR="91450" marL="91450"/>
                </a:tc>
                <a:tc>
                  <a:txBody>
                    <a:bodyPr/>
                    <a:lstStyle/>
                    <a:p>
                      <a:pPr indent="0" lvl="0" marL="0" marR="0" rtl="0" algn="ctr">
                        <a:spcBef>
                          <a:spcPts val="0"/>
                        </a:spcBef>
                        <a:spcAft>
                          <a:spcPts val="0"/>
                        </a:spcAft>
                        <a:buNone/>
                      </a:pPr>
                      <a:r>
                        <a:rPr lang="en-IN" sz="2600"/>
                        <a:t>0.00262</a:t>
                      </a:r>
                      <a:endParaRPr sz="2600"/>
                    </a:p>
                  </a:txBody>
                  <a:tcPr marT="45725" marB="45725" marR="91450" marL="91450"/>
                </a:tc>
              </a:tr>
              <a:tr h="378350">
                <a:tc>
                  <a:txBody>
                    <a:bodyPr/>
                    <a:lstStyle/>
                    <a:p>
                      <a:pPr indent="0" lvl="0" marL="0" marR="0" rtl="0" algn="l">
                        <a:spcBef>
                          <a:spcPts val="0"/>
                        </a:spcBef>
                        <a:spcAft>
                          <a:spcPts val="0"/>
                        </a:spcAft>
                        <a:buNone/>
                      </a:pPr>
                      <a:r>
                        <a:rPr lang="en-IN" sz="2600"/>
                        <a:t>Retained earnings</a:t>
                      </a:r>
                      <a:endParaRPr sz="2600"/>
                    </a:p>
                  </a:txBody>
                  <a:tcPr marT="45725" marB="45725" marR="91450" marL="91450"/>
                </a:tc>
                <a:tc>
                  <a:txBody>
                    <a:bodyPr/>
                    <a:lstStyle/>
                    <a:p>
                      <a:pPr indent="0" lvl="0" marL="0" marR="0" rtl="0" algn="ctr">
                        <a:spcBef>
                          <a:spcPts val="0"/>
                        </a:spcBef>
                        <a:spcAft>
                          <a:spcPts val="0"/>
                        </a:spcAft>
                        <a:buNone/>
                      </a:pPr>
                      <a:r>
                        <a:rPr lang="en-IN" sz="2600"/>
                        <a:t> 20.0</a:t>
                      </a:r>
                      <a:endParaRPr sz="2600"/>
                    </a:p>
                  </a:txBody>
                  <a:tcPr marT="45725" marB="45725" marR="91450" marL="91450"/>
                </a:tc>
                <a:tc>
                  <a:txBody>
                    <a:bodyPr/>
                    <a:lstStyle/>
                    <a:p>
                      <a:pPr indent="0" lvl="0" marL="0" marR="0" rtl="0" algn="ctr">
                        <a:spcBef>
                          <a:spcPts val="0"/>
                        </a:spcBef>
                        <a:spcAft>
                          <a:spcPts val="0"/>
                        </a:spcAft>
                        <a:buNone/>
                      </a:pPr>
                      <a:r>
                        <a:rPr lang="en-IN" sz="2600"/>
                        <a:t>0.342</a:t>
                      </a:r>
                      <a:endParaRPr sz="2600"/>
                    </a:p>
                  </a:txBody>
                  <a:tcPr marT="45725" marB="45725" marR="91450" marL="91450"/>
                </a:tc>
                <a:tc>
                  <a:txBody>
                    <a:bodyPr/>
                    <a:lstStyle/>
                    <a:p>
                      <a:pPr indent="0" lvl="0" marL="0" marR="0" rtl="0" algn="ctr">
                        <a:spcBef>
                          <a:spcPts val="0"/>
                        </a:spcBef>
                        <a:spcAft>
                          <a:spcPts val="0"/>
                        </a:spcAft>
                        <a:buNone/>
                      </a:pPr>
                      <a:r>
                        <a:rPr lang="en-IN" sz="2600"/>
                        <a:t>0.1600</a:t>
                      </a:r>
                      <a:endParaRPr sz="2600"/>
                    </a:p>
                  </a:txBody>
                  <a:tcPr marT="45725" marB="45725" marR="91450" marL="91450"/>
                </a:tc>
                <a:tc>
                  <a:txBody>
                    <a:bodyPr/>
                    <a:lstStyle/>
                    <a:p>
                      <a:pPr indent="0" lvl="0" marL="0" marR="0" rtl="0" algn="ctr">
                        <a:spcBef>
                          <a:spcPts val="0"/>
                        </a:spcBef>
                        <a:spcAft>
                          <a:spcPts val="0"/>
                        </a:spcAft>
                        <a:buNone/>
                      </a:pPr>
                      <a:r>
                        <a:rPr lang="en-IN" sz="2600"/>
                        <a:t>0.05472</a:t>
                      </a:r>
                      <a:endParaRPr sz="2600"/>
                    </a:p>
                  </a:txBody>
                  <a:tcPr marT="45725" marB="45725" marR="91450" marL="91450"/>
                </a:tc>
              </a:tr>
              <a:tr h="3783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13.5% Debentures</a:t>
                      </a:r>
                      <a:endParaRPr sz="2600"/>
                    </a:p>
                  </a:txBody>
                  <a:tcPr marT="45725" marB="45725" marR="91450" marL="91450"/>
                </a:tc>
                <a:tc>
                  <a:txBody>
                    <a:bodyPr/>
                    <a:lstStyle/>
                    <a:p>
                      <a:pPr indent="0" lvl="0" marL="0" marR="0" rtl="0" algn="ctr">
                        <a:spcBef>
                          <a:spcPts val="0"/>
                        </a:spcBef>
                        <a:spcAft>
                          <a:spcPts val="0"/>
                        </a:spcAft>
                        <a:buNone/>
                      </a:pPr>
                      <a:r>
                        <a:rPr lang="en-IN" sz="2600"/>
                        <a:t>  10.0</a:t>
                      </a:r>
                      <a:endParaRPr sz="2600"/>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0.171</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0.1122</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0.01919</a:t>
                      </a:r>
                      <a:endParaRPr b="0" sz="2600">
                        <a:solidFill>
                          <a:schemeClr val="dk1"/>
                        </a:solidFill>
                      </a:endParaRPr>
                    </a:p>
                  </a:txBody>
                  <a:tcPr marT="45725" marB="45725" marR="91450" marL="91450"/>
                </a:tc>
              </a:tr>
              <a:tr h="378350">
                <a:tc>
                  <a:txBody>
                    <a:bodyPr/>
                    <a:lstStyle/>
                    <a:p>
                      <a:pPr indent="0" lvl="0" marL="0" marR="0" rtl="0" algn="l">
                        <a:spcBef>
                          <a:spcPts val="0"/>
                        </a:spcBef>
                        <a:spcAft>
                          <a:spcPts val="0"/>
                        </a:spcAft>
                        <a:buNone/>
                      </a:pPr>
                      <a:r>
                        <a:rPr lang="en-IN" sz="2600"/>
                        <a:t>15% Term loans</a:t>
                      </a:r>
                      <a:endParaRPr sz="2600"/>
                    </a:p>
                  </a:txBody>
                  <a:tcPr marT="45725" marB="45725" marR="91450" marL="91450"/>
                </a:tc>
                <a:tc>
                  <a:txBody>
                    <a:bodyPr/>
                    <a:lstStyle/>
                    <a:p>
                      <a:pPr indent="0" lvl="0" marL="0" marR="0" rtl="0" algn="ctr">
                        <a:spcBef>
                          <a:spcPts val="0"/>
                        </a:spcBef>
                        <a:spcAft>
                          <a:spcPts val="0"/>
                        </a:spcAft>
                        <a:buNone/>
                      </a:pPr>
                      <a:r>
                        <a:rPr lang="en-IN" sz="2600"/>
                        <a:t>  12.5 </a:t>
                      </a:r>
                      <a:endParaRPr sz="2600"/>
                    </a:p>
                  </a:txBody>
                  <a:tcPr marT="45725" marB="45725" marR="91450" marL="91450"/>
                </a:tc>
                <a:tc>
                  <a:txBody>
                    <a:bodyPr/>
                    <a:lstStyle/>
                    <a:p>
                      <a:pPr indent="0" lvl="0" marL="0" marR="0" rtl="0" algn="ctr">
                        <a:spcBef>
                          <a:spcPts val="0"/>
                        </a:spcBef>
                        <a:spcAft>
                          <a:spcPts val="0"/>
                        </a:spcAft>
                        <a:buNone/>
                      </a:pPr>
                      <a:r>
                        <a:rPr b="0" lang="en-IN" sz="2600">
                          <a:solidFill>
                            <a:srgbClr val="FF0000"/>
                          </a:solidFill>
                        </a:rPr>
                        <a:t>0.214</a:t>
                      </a:r>
                      <a:endParaRPr b="0" sz="2600">
                        <a:solidFill>
                          <a:srgbClr val="FF0000"/>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0.0900</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0.01926</a:t>
                      </a:r>
                      <a:endParaRPr b="0" sz="2600">
                        <a:solidFill>
                          <a:schemeClr val="dk1"/>
                        </a:solidFill>
                      </a:endParaRPr>
                    </a:p>
                  </a:txBody>
                  <a:tcPr marT="45725" marB="45725" marR="91450" marL="91450"/>
                </a:tc>
              </a:tr>
              <a:tr h="378350">
                <a:tc>
                  <a:txBody>
                    <a:bodyPr/>
                    <a:lstStyle/>
                    <a:p>
                      <a:pPr indent="0" lvl="0" marL="0" marR="0" rtl="0" algn="ctr">
                        <a:spcBef>
                          <a:spcPts val="0"/>
                        </a:spcBef>
                        <a:spcAft>
                          <a:spcPts val="0"/>
                        </a:spcAft>
                        <a:buNone/>
                      </a:pPr>
                      <a:r>
                        <a:rPr b="1" lang="en-IN" sz="2600">
                          <a:solidFill>
                            <a:srgbClr val="FF0000"/>
                          </a:solidFill>
                        </a:rPr>
                        <a:t>Total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  58.5 </a:t>
                      </a:r>
                      <a:endParaRPr sz="2600"/>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0.1367</a:t>
                      </a:r>
                      <a:endParaRPr/>
                    </a:p>
                    <a:p>
                      <a:pPr indent="0" lvl="0" marL="0" marR="0" rtl="0" algn="ctr">
                        <a:spcBef>
                          <a:spcPts val="0"/>
                        </a:spcBef>
                        <a:spcAft>
                          <a:spcPts val="0"/>
                        </a:spcAft>
                        <a:buNone/>
                      </a:pPr>
                      <a:r>
                        <a:rPr b="1" lang="en-IN" sz="2600">
                          <a:solidFill>
                            <a:srgbClr val="FF0000"/>
                          </a:solidFill>
                        </a:rPr>
                        <a:t>Or 13.67%</a:t>
                      </a:r>
                      <a:endParaRPr b="1" sz="2600">
                        <a:solidFill>
                          <a:srgbClr val="FF0000"/>
                        </a:solidFill>
                      </a:endParaRPr>
                    </a:p>
                  </a:txBody>
                  <a:tcPr marT="45725" marB="45725" marR="91450" marL="91450"/>
                </a:tc>
              </a:tr>
            </a:tbl>
          </a:graphicData>
        </a:graphic>
      </p:graphicFrame>
      <p:pic>
        <p:nvPicPr>
          <p:cNvPr descr="Image result for sastra logo" id="633" name="Google Shape;633;p98"/>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99"/>
          <p:cNvSpPr txBox="1"/>
          <p:nvPr>
            <p:ph idx="1" type="body"/>
          </p:nvPr>
        </p:nvSpPr>
        <p:spPr>
          <a:xfrm>
            <a:off x="838200" y="944380"/>
            <a:ext cx="10515600" cy="578210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[Market value weight]</a:t>
            </a:r>
            <a:endParaRPr/>
          </a:p>
          <a:p>
            <a:pPr indent="0" lvl="0" marL="0" rtl="0" algn="l">
              <a:lnSpc>
                <a:spcPct val="90000"/>
              </a:lnSpc>
              <a:spcBef>
                <a:spcPts val="1000"/>
              </a:spcBef>
              <a:spcAft>
                <a:spcPts val="0"/>
              </a:spcAft>
              <a:buClr>
                <a:schemeClr val="dk1"/>
              </a:buClr>
              <a:buSzPts val="2600"/>
              <a:buNone/>
            </a:pPr>
            <a:r>
              <a:t/>
            </a:r>
            <a:endParaRPr sz="2600"/>
          </a:p>
        </p:txBody>
      </p:sp>
      <p:graphicFrame>
        <p:nvGraphicFramePr>
          <p:cNvPr id="639" name="Google Shape;639;p99"/>
          <p:cNvGraphicFramePr/>
          <p:nvPr/>
        </p:nvGraphicFramePr>
        <p:xfrm>
          <a:off x="838200" y="1788726"/>
          <a:ext cx="3000000" cy="3000000"/>
        </p:xfrm>
        <a:graphic>
          <a:graphicData uri="http://schemas.openxmlformats.org/drawingml/2006/table">
            <a:tbl>
              <a:tblPr bandRow="1" firstRow="1">
                <a:noFill/>
                <a:tableStyleId>{3CD1E0FF-FAF5-4487-BE71-2FD66BCB489A}</a:tableStyleId>
              </a:tblPr>
              <a:tblGrid>
                <a:gridCol w="4723150"/>
                <a:gridCol w="1478075"/>
                <a:gridCol w="1430025"/>
                <a:gridCol w="1229200"/>
                <a:gridCol w="1655175"/>
              </a:tblGrid>
              <a:tr h="3708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 In crore</a:t>
                      </a:r>
                      <a:endParaRPr/>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08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Equity capital [1.50 Crore shares@ Rs. 40 each]</a:t>
                      </a:r>
                      <a:endParaRPr sz="2600"/>
                    </a:p>
                  </a:txBody>
                  <a:tcPr marT="45725" marB="45725" marR="91450" marL="91450"/>
                </a:tc>
                <a:tc>
                  <a:txBody>
                    <a:bodyPr/>
                    <a:lstStyle/>
                    <a:p>
                      <a:pPr indent="0" lvl="0" marL="0" marR="0" rtl="0" algn="ctr">
                        <a:spcBef>
                          <a:spcPts val="0"/>
                        </a:spcBef>
                        <a:spcAft>
                          <a:spcPts val="0"/>
                        </a:spcAft>
                        <a:buNone/>
                      </a:pPr>
                      <a:r>
                        <a:rPr lang="en-IN" sz="2600"/>
                        <a:t>60.00</a:t>
                      </a:r>
                      <a:endParaRPr sz="2600"/>
                    </a:p>
                  </a:txBody>
                  <a:tcPr marT="45725" marB="45725" marR="91450" marL="91450"/>
                </a:tc>
                <a:tc>
                  <a:txBody>
                    <a:bodyPr/>
                    <a:lstStyle/>
                    <a:p>
                      <a:pPr indent="0" lvl="0" marL="0" marR="0" rtl="0" algn="ctr">
                        <a:spcBef>
                          <a:spcPts val="0"/>
                        </a:spcBef>
                        <a:spcAft>
                          <a:spcPts val="0"/>
                        </a:spcAft>
                        <a:buNone/>
                      </a:pPr>
                      <a:r>
                        <a:rPr lang="en-IN" sz="2600"/>
                        <a:t>0.739</a:t>
                      </a:r>
                      <a:endParaRPr sz="2600"/>
                    </a:p>
                  </a:txBody>
                  <a:tcPr marT="45725" marB="45725" marR="91450" marL="91450"/>
                </a:tc>
                <a:tc>
                  <a:txBody>
                    <a:bodyPr/>
                    <a:lstStyle/>
                    <a:p>
                      <a:pPr indent="0" lvl="0" marL="0" marR="0" rtl="0" algn="ctr">
                        <a:spcBef>
                          <a:spcPts val="0"/>
                        </a:spcBef>
                        <a:spcAft>
                          <a:spcPts val="0"/>
                        </a:spcAft>
                        <a:buNone/>
                      </a:pPr>
                      <a:r>
                        <a:rPr lang="en-IN" sz="2600"/>
                        <a:t>0.1600</a:t>
                      </a:r>
                      <a:endParaRPr sz="2600"/>
                    </a:p>
                  </a:txBody>
                  <a:tcPr marT="45725" marB="45725" marR="91450" marL="91450"/>
                </a:tc>
                <a:tc>
                  <a:txBody>
                    <a:bodyPr/>
                    <a:lstStyle/>
                    <a:p>
                      <a:pPr indent="0" lvl="0" marL="0" marR="0" rtl="0" algn="ctr">
                        <a:spcBef>
                          <a:spcPts val="0"/>
                        </a:spcBef>
                        <a:spcAft>
                          <a:spcPts val="0"/>
                        </a:spcAft>
                        <a:buNone/>
                      </a:pPr>
                      <a:r>
                        <a:rPr lang="en-IN" sz="2600"/>
                        <a:t>0.11824</a:t>
                      </a:r>
                      <a:endParaRPr sz="2600"/>
                    </a:p>
                  </a:txBody>
                  <a:tcPr marT="45725" marB="45725" marR="91450" marL="91450"/>
                </a:tc>
              </a:tr>
              <a:tr h="3708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11% Preference capital [1 Lakh shares @ Rs. 75 each]</a:t>
                      </a:r>
                      <a:endParaRPr sz="2600"/>
                    </a:p>
                  </a:txBody>
                  <a:tcPr marT="45725" marB="45725" marR="91450" marL="91450"/>
                </a:tc>
                <a:tc>
                  <a:txBody>
                    <a:bodyPr/>
                    <a:lstStyle/>
                    <a:p>
                      <a:pPr indent="0" lvl="0" marL="0" marR="0" rtl="0" algn="ctr">
                        <a:spcBef>
                          <a:spcPts val="0"/>
                        </a:spcBef>
                        <a:spcAft>
                          <a:spcPts val="0"/>
                        </a:spcAft>
                        <a:buNone/>
                      </a:pPr>
                      <a:r>
                        <a:rPr lang="en-IN" sz="2600"/>
                        <a:t>   0.75</a:t>
                      </a:r>
                      <a:r>
                        <a:rPr lang="en-IN" sz="2600"/>
                        <a:t> </a:t>
                      </a:r>
                      <a:endParaRPr sz="2600"/>
                    </a:p>
                  </a:txBody>
                  <a:tcPr marT="45725" marB="45725" marR="91450" marL="91450"/>
                </a:tc>
                <a:tc>
                  <a:txBody>
                    <a:bodyPr/>
                    <a:lstStyle/>
                    <a:p>
                      <a:pPr indent="0" lvl="0" marL="0" marR="0" rtl="0" algn="ctr">
                        <a:spcBef>
                          <a:spcPts val="0"/>
                        </a:spcBef>
                        <a:spcAft>
                          <a:spcPts val="0"/>
                        </a:spcAft>
                        <a:buNone/>
                      </a:pPr>
                      <a:r>
                        <a:rPr lang="en-IN" sz="2600"/>
                        <a:t>0.009</a:t>
                      </a:r>
                      <a:endParaRPr sz="2600"/>
                    </a:p>
                  </a:txBody>
                  <a:tcPr marT="45725" marB="45725" marR="91450" marL="91450"/>
                </a:tc>
                <a:tc>
                  <a:txBody>
                    <a:bodyPr/>
                    <a:lstStyle/>
                    <a:p>
                      <a:pPr indent="0" lvl="0" marL="0" marR="0" rtl="0" algn="ctr">
                        <a:spcBef>
                          <a:spcPts val="0"/>
                        </a:spcBef>
                        <a:spcAft>
                          <a:spcPts val="0"/>
                        </a:spcAft>
                        <a:buNone/>
                      </a:pPr>
                      <a:r>
                        <a:rPr lang="en-IN" sz="2600"/>
                        <a:t>0.1543</a:t>
                      </a:r>
                      <a:endParaRPr sz="2600"/>
                    </a:p>
                  </a:txBody>
                  <a:tcPr marT="45725" marB="45725" marR="91450" marL="91450"/>
                </a:tc>
                <a:tc>
                  <a:txBody>
                    <a:bodyPr/>
                    <a:lstStyle/>
                    <a:p>
                      <a:pPr indent="0" lvl="0" marL="0" marR="0" rtl="0" algn="ctr">
                        <a:spcBef>
                          <a:spcPts val="0"/>
                        </a:spcBef>
                        <a:spcAft>
                          <a:spcPts val="0"/>
                        </a:spcAft>
                        <a:buNone/>
                      </a:pPr>
                      <a:r>
                        <a:rPr lang="en-IN" sz="2600"/>
                        <a:t>1.3887</a:t>
                      </a:r>
                      <a:endParaRPr sz="2600"/>
                    </a:p>
                  </a:txBody>
                  <a:tcPr marT="45725" marB="45725" marR="91450" marL="91450"/>
                </a:tc>
              </a:tr>
              <a:tr h="370850">
                <a:tc>
                  <a:txBody>
                    <a:bodyPr/>
                    <a:lstStyle/>
                    <a:p>
                      <a:pPr indent="0" lvl="0" marL="0" marR="0" rtl="0" algn="l">
                        <a:spcBef>
                          <a:spcPts val="0"/>
                        </a:spcBef>
                        <a:spcAft>
                          <a:spcPts val="0"/>
                        </a:spcAft>
                        <a:buNone/>
                      </a:pPr>
                      <a:r>
                        <a:rPr lang="en-IN" sz="2600">
                          <a:solidFill>
                            <a:schemeClr val="dk1"/>
                          </a:solidFill>
                          <a:latin typeface="Calibri"/>
                          <a:ea typeface="Calibri"/>
                          <a:cs typeface="Calibri"/>
                          <a:sym typeface="Calibri"/>
                        </a:rPr>
                        <a:t>13.5% Debentures [10 Lakh Debentures @ Rs. 80</a:t>
                      </a:r>
                      <a:r>
                        <a:rPr lang="en-IN" sz="2600">
                          <a:solidFill>
                            <a:schemeClr val="dk1"/>
                          </a:solidFill>
                          <a:latin typeface="Calibri"/>
                          <a:ea typeface="Calibri"/>
                          <a:cs typeface="Calibri"/>
                          <a:sym typeface="Calibri"/>
                        </a:rPr>
                        <a:t> each]</a:t>
                      </a:r>
                      <a:endParaRPr sz="2600"/>
                    </a:p>
                  </a:txBody>
                  <a:tcPr marT="45725" marB="45725" marR="91450" marL="91450"/>
                </a:tc>
                <a:tc>
                  <a:txBody>
                    <a:bodyPr/>
                    <a:lstStyle/>
                    <a:p>
                      <a:pPr indent="0" lvl="0" marL="0" marR="0" rtl="0" algn="ctr">
                        <a:spcBef>
                          <a:spcPts val="0"/>
                        </a:spcBef>
                        <a:spcAft>
                          <a:spcPts val="0"/>
                        </a:spcAft>
                        <a:buNone/>
                      </a:pPr>
                      <a:r>
                        <a:rPr lang="en-IN" sz="2600"/>
                        <a:t>  8.00</a:t>
                      </a:r>
                      <a:endParaRPr sz="2600"/>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0.098</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0.1122</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0.01099</a:t>
                      </a:r>
                      <a:endParaRPr b="0" sz="2600">
                        <a:solidFill>
                          <a:schemeClr val="dk1"/>
                        </a:solidFill>
                      </a:endParaRPr>
                    </a:p>
                  </a:txBody>
                  <a:tcPr marT="45725" marB="45725" marR="91450" marL="91450"/>
                </a:tc>
              </a:tr>
              <a:tr h="370850">
                <a:tc>
                  <a:txBody>
                    <a:bodyPr/>
                    <a:lstStyle/>
                    <a:p>
                      <a:pPr indent="0" lvl="0" marL="0" marR="0" rtl="0" algn="l">
                        <a:spcBef>
                          <a:spcPts val="0"/>
                        </a:spcBef>
                        <a:spcAft>
                          <a:spcPts val="0"/>
                        </a:spcAft>
                        <a:buNone/>
                      </a:pPr>
                      <a:r>
                        <a:rPr lang="en-IN" sz="2600"/>
                        <a:t>15% Term loans</a:t>
                      </a:r>
                      <a:endParaRPr sz="2600"/>
                    </a:p>
                  </a:txBody>
                  <a:tcPr marT="45725" marB="45725" marR="91450" marL="91450"/>
                </a:tc>
                <a:tc>
                  <a:txBody>
                    <a:bodyPr/>
                    <a:lstStyle/>
                    <a:p>
                      <a:pPr indent="0" lvl="0" marL="0" marR="0" rtl="0" algn="ctr">
                        <a:spcBef>
                          <a:spcPts val="0"/>
                        </a:spcBef>
                        <a:spcAft>
                          <a:spcPts val="0"/>
                        </a:spcAft>
                        <a:buNone/>
                      </a:pPr>
                      <a:r>
                        <a:rPr lang="en-IN" sz="2600"/>
                        <a:t>  12.50</a:t>
                      </a:r>
                      <a:endParaRPr sz="2600"/>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0.154</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0.0900</a:t>
                      </a:r>
                      <a:endParaRPr b="0" sz="2600">
                        <a:solidFill>
                          <a:schemeClr val="dk1"/>
                        </a:solidFill>
                      </a:endParaRPr>
                    </a:p>
                  </a:txBody>
                  <a:tcPr marT="45725" marB="45725" marR="91450" marL="91450"/>
                </a:tc>
                <a:tc>
                  <a:txBody>
                    <a:bodyPr/>
                    <a:lstStyle/>
                    <a:p>
                      <a:pPr indent="0" lvl="0" marL="0" marR="0" rtl="0" algn="ctr">
                        <a:spcBef>
                          <a:spcPts val="0"/>
                        </a:spcBef>
                        <a:spcAft>
                          <a:spcPts val="0"/>
                        </a:spcAft>
                        <a:buNone/>
                      </a:pPr>
                      <a:r>
                        <a:rPr b="0" lang="en-IN" sz="2600">
                          <a:solidFill>
                            <a:schemeClr val="dk1"/>
                          </a:solidFill>
                        </a:rPr>
                        <a:t>0.01386</a:t>
                      </a:r>
                      <a:endParaRPr b="0" sz="2600">
                        <a:solidFill>
                          <a:schemeClr val="dk1"/>
                        </a:solidFill>
                      </a:endParaRPr>
                    </a:p>
                  </a:txBody>
                  <a:tcPr marT="45725" marB="45725" marR="91450" marL="91450"/>
                </a:tc>
              </a:tr>
              <a:tr h="370850">
                <a:tc>
                  <a:txBody>
                    <a:bodyPr/>
                    <a:lstStyle/>
                    <a:p>
                      <a:pPr indent="0" lvl="0" marL="0" marR="0" rtl="0" algn="ctr">
                        <a:spcBef>
                          <a:spcPts val="0"/>
                        </a:spcBef>
                        <a:spcAft>
                          <a:spcPts val="0"/>
                        </a:spcAft>
                        <a:buNone/>
                      </a:pPr>
                      <a:r>
                        <a:rPr b="1" lang="en-IN" sz="2200">
                          <a:solidFill>
                            <a:srgbClr val="FF0000"/>
                          </a:solidFill>
                        </a:rPr>
                        <a:t>Total </a:t>
                      </a:r>
                      <a:endParaRPr b="1" sz="22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200">
                          <a:solidFill>
                            <a:srgbClr val="FF0000"/>
                          </a:solidFill>
                        </a:rPr>
                        <a:t>  81.25 </a:t>
                      </a:r>
                      <a:endParaRPr sz="2200"/>
                    </a:p>
                  </a:txBody>
                  <a:tcPr marT="45725" marB="45725" marR="91450" marL="91450"/>
                </a:tc>
                <a:tc>
                  <a:txBody>
                    <a:bodyPr/>
                    <a:lstStyle/>
                    <a:p>
                      <a:pPr indent="0" lvl="0" marL="0" marR="0" rtl="0" algn="ctr">
                        <a:spcBef>
                          <a:spcPts val="0"/>
                        </a:spcBef>
                        <a:spcAft>
                          <a:spcPts val="0"/>
                        </a:spcAft>
                        <a:buNone/>
                      </a:pPr>
                      <a:r>
                        <a:rPr b="1" lang="en-IN" sz="2200">
                          <a:solidFill>
                            <a:srgbClr val="FF0000"/>
                          </a:solidFill>
                        </a:rPr>
                        <a:t>1.000</a:t>
                      </a:r>
                      <a:endParaRPr b="1" sz="22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2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200">
                          <a:solidFill>
                            <a:srgbClr val="FF0000"/>
                          </a:solidFill>
                        </a:rPr>
                        <a:t>0.15317</a:t>
                      </a:r>
                      <a:endParaRPr/>
                    </a:p>
                    <a:p>
                      <a:pPr indent="0" lvl="0" marL="0" marR="0" rtl="0" algn="ctr">
                        <a:spcBef>
                          <a:spcPts val="0"/>
                        </a:spcBef>
                        <a:spcAft>
                          <a:spcPts val="0"/>
                        </a:spcAft>
                        <a:buNone/>
                      </a:pPr>
                      <a:r>
                        <a:rPr b="1" lang="en-IN" sz="2200">
                          <a:solidFill>
                            <a:srgbClr val="FF0000"/>
                          </a:solidFill>
                        </a:rPr>
                        <a:t>Or 15.32%</a:t>
                      </a:r>
                      <a:endParaRPr b="1" sz="2200">
                        <a:solidFill>
                          <a:srgbClr val="FF0000"/>
                        </a:solidFill>
                      </a:endParaRPr>
                    </a:p>
                  </a:txBody>
                  <a:tcPr marT="45725" marB="45725" marR="91450" marL="91450"/>
                </a:tc>
              </a:tr>
            </a:tbl>
          </a:graphicData>
        </a:graphic>
      </p:graphicFrame>
      <p:pic>
        <p:nvPicPr>
          <p:cNvPr descr="Image result for sastra logo" id="640" name="Google Shape;640;p99"/>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0"/>
          <p:cNvSpPr txBox="1"/>
          <p:nvPr>
            <p:ph idx="1" type="body"/>
          </p:nvPr>
        </p:nvSpPr>
        <p:spPr>
          <a:xfrm>
            <a:off x="838200" y="1019330"/>
            <a:ext cx="10515600" cy="536647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P23. The capital structure of Anand Ltd in book value terms is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646" name="Google Shape;646;p100"/>
          <p:cNvGraphicFramePr/>
          <p:nvPr/>
        </p:nvGraphicFramePr>
        <p:xfrm>
          <a:off x="857250" y="1440965"/>
          <a:ext cx="3000000" cy="3000000"/>
        </p:xfrm>
        <a:graphic>
          <a:graphicData uri="http://schemas.openxmlformats.org/drawingml/2006/table">
            <a:tbl>
              <a:tblPr bandRow="1" firstRow="1">
                <a:noFill/>
                <a:tableStyleId>{3CD1E0FF-FAF5-4487-BE71-2FD66BCB489A}</a:tableStyleId>
              </a:tblPr>
              <a:tblGrid>
                <a:gridCol w="8722175"/>
                <a:gridCol w="1774375"/>
              </a:tblGrid>
              <a:tr h="370850">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ctr">
                        <a:spcBef>
                          <a:spcPts val="0"/>
                        </a:spcBef>
                        <a:spcAft>
                          <a:spcPts val="0"/>
                        </a:spcAft>
                        <a:buNone/>
                      </a:pPr>
                      <a:r>
                        <a:rPr lang="en-IN" sz="2000"/>
                        <a:t>Rs.</a:t>
                      </a:r>
                      <a:endParaRPr/>
                    </a:p>
                    <a:p>
                      <a:pPr indent="0" lvl="0" marL="0" marR="0" rtl="0" algn="ctr">
                        <a:spcBef>
                          <a:spcPts val="0"/>
                        </a:spcBef>
                        <a:spcAft>
                          <a:spcPts val="0"/>
                        </a:spcAft>
                        <a:buNone/>
                      </a:pPr>
                      <a:r>
                        <a:rPr lang="en-IN" sz="2000"/>
                        <a:t>(In Million)</a:t>
                      </a:r>
                      <a:endParaRPr sz="2000"/>
                    </a:p>
                  </a:txBody>
                  <a:tcPr marT="45725" marB="45725" marR="91450" marL="91450"/>
                </a:tc>
              </a:tr>
              <a:tr h="370850">
                <a:tc>
                  <a:txBody>
                    <a:bodyPr/>
                    <a:lstStyle/>
                    <a:p>
                      <a:pPr indent="0" lvl="0" marL="0" marR="0" rtl="0" algn="l">
                        <a:spcBef>
                          <a:spcPts val="0"/>
                        </a:spcBef>
                        <a:spcAft>
                          <a:spcPts val="0"/>
                        </a:spcAft>
                        <a:buNone/>
                      </a:pPr>
                      <a:r>
                        <a:rPr lang="en-IN" sz="2600"/>
                        <a:t>Equity Capital (20 Million Shares, Rs. 10 par)	</a:t>
                      </a:r>
                      <a:endParaRPr sz="2600"/>
                    </a:p>
                  </a:txBody>
                  <a:tcPr marT="45725" marB="45725" marR="91450" marL="91450"/>
                </a:tc>
                <a:tc>
                  <a:txBody>
                    <a:bodyPr/>
                    <a:lstStyle/>
                    <a:p>
                      <a:pPr indent="0" lvl="0" marL="0" marR="0" rtl="0" algn="ctr">
                        <a:spcBef>
                          <a:spcPts val="0"/>
                        </a:spcBef>
                        <a:spcAft>
                          <a:spcPts val="0"/>
                        </a:spcAft>
                        <a:buNone/>
                      </a:pPr>
                      <a:r>
                        <a:rPr lang="en-IN" sz="2600"/>
                        <a:t>200</a:t>
                      </a:r>
                      <a:endParaRPr sz="2600"/>
                    </a:p>
                  </a:txBody>
                  <a:tcPr marT="45725" marB="45725" marR="91450" marL="91450"/>
                </a:tc>
              </a:tr>
              <a:tr h="370850">
                <a:tc>
                  <a:txBody>
                    <a:bodyPr/>
                    <a:lstStyle/>
                    <a:p>
                      <a:pPr indent="0" lvl="0" marL="0" marR="0" rtl="0" algn="l">
                        <a:spcBef>
                          <a:spcPts val="0"/>
                        </a:spcBef>
                        <a:spcAft>
                          <a:spcPts val="0"/>
                        </a:spcAft>
                        <a:buNone/>
                      </a:pPr>
                      <a:r>
                        <a:rPr lang="en-IN" sz="2600"/>
                        <a:t>12% Preference Capital (5 Lakh Shares, Rs. 100 par)</a:t>
                      </a:r>
                      <a:endParaRPr sz="2600"/>
                    </a:p>
                  </a:txBody>
                  <a:tcPr marT="45725" marB="45725" marR="91450" marL="91450"/>
                </a:tc>
                <a:tc>
                  <a:txBody>
                    <a:bodyPr/>
                    <a:lstStyle/>
                    <a:p>
                      <a:pPr indent="0" lvl="0" marL="0" marR="0" rtl="0" algn="ctr">
                        <a:spcBef>
                          <a:spcPts val="0"/>
                        </a:spcBef>
                        <a:spcAft>
                          <a:spcPts val="0"/>
                        </a:spcAft>
                        <a:buNone/>
                      </a:pPr>
                      <a:r>
                        <a:rPr lang="en-IN" sz="2600"/>
                        <a:t>50</a:t>
                      </a:r>
                      <a:endParaRPr sz="2600"/>
                    </a:p>
                  </a:txBody>
                  <a:tcPr marT="45725" marB="45725" marR="91450" marL="91450"/>
                </a:tc>
              </a:tr>
              <a:tr h="370850">
                <a:tc>
                  <a:txBody>
                    <a:bodyPr/>
                    <a:lstStyle/>
                    <a:p>
                      <a:pPr indent="0" lvl="0" marL="0" marR="0" rtl="0" algn="l">
                        <a:spcBef>
                          <a:spcPts val="0"/>
                        </a:spcBef>
                        <a:spcAft>
                          <a:spcPts val="0"/>
                        </a:spcAft>
                        <a:buNone/>
                      </a:pPr>
                      <a:r>
                        <a:rPr lang="en-IN" sz="2600"/>
                        <a:t>Retained Earnings</a:t>
                      </a:r>
                      <a:endParaRPr sz="2600"/>
                    </a:p>
                  </a:txBody>
                  <a:tcPr marT="45725" marB="45725" marR="91450" marL="91450"/>
                </a:tc>
                <a:tc>
                  <a:txBody>
                    <a:bodyPr/>
                    <a:lstStyle/>
                    <a:p>
                      <a:pPr indent="0" lvl="0" marL="0" marR="0" rtl="0" algn="ctr">
                        <a:spcBef>
                          <a:spcPts val="0"/>
                        </a:spcBef>
                        <a:spcAft>
                          <a:spcPts val="0"/>
                        </a:spcAft>
                        <a:buNone/>
                      </a:pPr>
                      <a:r>
                        <a:rPr lang="en-IN" sz="2600"/>
                        <a:t>350</a:t>
                      </a:r>
                      <a:endParaRPr sz="2600"/>
                    </a:p>
                  </a:txBody>
                  <a:tcPr marT="45725" marB="45725" marR="91450" marL="91450"/>
                </a:tc>
              </a:tr>
              <a:tr h="370850">
                <a:tc>
                  <a:txBody>
                    <a:bodyPr/>
                    <a:lstStyle/>
                    <a:p>
                      <a:pPr indent="0" lvl="0" marL="0" marR="0" rtl="0" algn="just">
                        <a:spcBef>
                          <a:spcPts val="0"/>
                        </a:spcBef>
                        <a:spcAft>
                          <a:spcPts val="0"/>
                        </a:spcAft>
                        <a:buClr>
                          <a:schemeClr val="dk1"/>
                        </a:buClr>
                        <a:buSzPts val="2600"/>
                        <a:buFont typeface="Calibri"/>
                        <a:buNone/>
                      </a:pPr>
                      <a:r>
                        <a:rPr lang="en-IN" sz="2600"/>
                        <a:t>14% Debentures </a:t>
                      </a:r>
                      <a:r>
                        <a:rPr lang="en-IN" sz="2600"/>
                        <a:t> </a:t>
                      </a:r>
                      <a:r>
                        <a:rPr lang="en-IN" sz="2600"/>
                        <a:t>(12</a:t>
                      </a:r>
                      <a:r>
                        <a:rPr lang="en-IN" sz="2600"/>
                        <a:t> Lakh</a:t>
                      </a:r>
                      <a:r>
                        <a:rPr lang="en-IN" sz="2600"/>
                        <a:t> Debentures, Rs. 100 par)</a:t>
                      </a:r>
                      <a:endParaRPr sz="2600"/>
                    </a:p>
                  </a:txBody>
                  <a:tcPr marT="45725" marB="45725" marR="91450" marL="91450"/>
                </a:tc>
                <a:tc>
                  <a:txBody>
                    <a:bodyPr/>
                    <a:lstStyle/>
                    <a:p>
                      <a:pPr indent="0" lvl="0" marL="0" marR="0" rtl="0" algn="ctr">
                        <a:spcBef>
                          <a:spcPts val="0"/>
                        </a:spcBef>
                        <a:spcAft>
                          <a:spcPts val="0"/>
                        </a:spcAft>
                        <a:buNone/>
                      </a:pPr>
                      <a:r>
                        <a:rPr lang="en-IN" sz="2600"/>
                        <a:t>120</a:t>
                      </a:r>
                      <a:endParaRPr sz="2600"/>
                    </a:p>
                  </a:txBody>
                  <a:tcPr marT="45725" marB="45725" marR="91450" marL="91450"/>
                </a:tc>
              </a:tr>
              <a:tr h="370850">
                <a:tc>
                  <a:txBody>
                    <a:bodyPr/>
                    <a:lstStyle/>
                    <a:p>
                      <a:pPr indent="0" lvl="0" marL="0" marR="0" rtl="0" algn="l">
                        <a:spcBef>
                          <a:spcPts val="0"/>
                        </a:spcBef>
                        <a:spcAft>
                          <a:spcPts val="0"/>
                        </a:spcAft>
                        <a:buNone/>
                      </a:pPr>
                      <a:r>
                        <a:rPr lang="en-IN" sz="2600"/>
                        <a:t>13% Term Loans</a:t>
                      </a:r>
                      <a:endParaRPr sz="2600"/>
                    </a:p>
                  </a:txBody>
                  <a:tcPr marT="45725" marB="45725" marR="91450" marL="91450"/>
                </a:tc>
                <a:tc>
                  <a:txBody>
                    <a:bodyPr/>
                    <a:lstStyle/>
                    <a:p>
                      <a:pPr indent="0" lvl="0" marL="0" marR="0" rtl="0" algn="ctr">
                        <a:spcBef>
                          <a:spcPts val="0"/>
                        </a:spcBef>
                        <a:spcAft>
                          <a:spcPts val="0"/>
                        </a:spcAft>
                        <a:buNone/>
                      </a:pPr>
                      <a:r>
                        <a:rPr lang="en-IN" sz="2600"/>
                        <a:t>80</a:t>
                      </a:r>
                      <a:endParaRPr sz="2600"/>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Total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t>800</a:t>
                      </a:r>
                      <a:endParaRPr sz="2600"/>
                    </a:p>
                  </a:txBody>
                  <a:tcPr marT="45725" marB="45725" marR="91450" marL="91450"/>
                </a:tc>
              </a:tr>
            </a:tbl>
          </a:graphicData>
        </a:graphic>
      </p:graphicFrame>
      <p:pic>
        <p:nvPicPr>
          <p:cNvPr descr="Image result for sastra logo" id="647" name="Google Shape;647;p100"/>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01"/>
          <p:cNvSpPr txBox="1"/>
          <p:nvPr>
            <p:ph idx="1" type="body"/>
          </p:nvPr>
        </p:nvSpPr>
        <p:spPr>
          <a:xfrm>
            <a:off x="838200" y="943429"/>
            <a:ext cx="10515600" cy="501491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next expected dividend per share is Rs 2.00. The dividend per share is expected to grow at the rate of 12%. Market price per share is Rs 50.00. Preference stock redeemable after 10 years, is currently selling for Rs 85.00 per share. Debentures, redeemable after 5 years are selling for Rs 90.00 per debenture. The tax rate for the company is 30%.  Calculate the weighted average cost of capital. </a:t>
            </a:r>
            <a:endParaRPr sz="2600"/>
          </a:p>
          <a:p>
            <a:pPr indent="-514350" lvl="0" marL="514350" rtl="0" algn="just">
              <a:lnSpc>
                <a:spcPct val="90000"/>
              </a:lnSpc>
              <a:spcBef>
                <a:spcPts val="1000"/>
              </a:spcBef>
              <a:spcAft>
                <a:spcPts val="0"/>
              </a:spcAft>
              <a:buClr>
                <a:schemeClr val="dk1"/>
              </a:buClr>
              <a:buSzPts val="2600"/>
              <a:buAutoNum type="alphaLcParenR"/>
            </a:pPr>
            <a:r>
              <a:rPr lang="en-IN" sz="2600"/>
              <a:t>Book value proportions; and </a:t>
            </a:r>
            <a:endParaRPr/>
          </a:p>
          <a:p>
            <a:pPr indent="-514350" lvl="0" marL="514350" rtl="0" algn="just">
              <a:lnSpc>
                <a:spcPct val="90000"/>
              </a:lnSpc>
              <a:spcBef>
                <a:spcPts val="1000"/>
              </a:spcBef>
              <a:spcAft>
                <a:spcPts val="0"/>
              </a:spcAft>
              <a:buClr>
                <a:schemeClr val="dk1"/>
              </a:buClr>
              <a:buSzPts val="2600"/>
              <a:buAutoNum type="alphaLcParenR"/>
            </a:pPr>
            <a:r>
              <a:rPr lang="en-IN" sz="2600"/>
              <a:t>Market value proportions.</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653" name="Google Shape;653;p101"/>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02"/>
          <p:cNvSpPr txBox="1"/>
          <p:nvPr>
            <p:ph idx="1" type="body"/>
          </p:nvPr>
        </p:nvSpPr>
        <p:spPr>
          <a:xfrm>
            <a:off x="838200" y="989351"/>
            <a:ext cx="10515600" cy="522038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Working Note:</a:t>
            </a:r>
            <a:endParaRPr/>
          </a:p>
          <a:p>
            <a:pPr indent="-514350" lvl="0" marL="514350" rtl="0" algn="just">
              <a:lnSpc>
                <a:spcPct val="90000"/>
              </a:lnSpc>
              <a:spcBef>
                <a:spcPts val="1000"/>
              </a:spcBef>
              <a:spcAft>
                <a:spcPts val="0"/>
              </a:spcAft>
              <a:buClr>
                <a:srgbClr val="FF0000"/>
              </a:buClr>
              <a:buSzPts val="2600"/>
              <a:buAutoNum type="arabicPeriod"/>
            </a:pPr>
            <a:r>
              <a:rPr b="1" lang="en-IN" sz="2600">
                <a:solidFill>
                  <a:srgbClr val="FF0000"/>
                </a:solidFill>
              </a:rPr>
              <a:t>Calculation of K</a:t>
            </a:r>
            <a:r>
              <a:rPr b="1" baseline="-25000" lang="en-IN" sz="2600">
                <a:solidFill>
                  <a:srgbClr val="FF0000"/>
                </a:solidFill>
              </a:rPr>
              <a:t>d</a:t>
            </a:r>
            <a:r>
              <a:rPr b="1" lang="en-IN" sz="2600">
                <a:solidFill>
                  <a:srgbClr val="FF0000"/>
                </a:solidFill>
              </a:rPr>
              <a:t> (before tax):</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Kd = 14+[(RV-SV)/n]/(RV + SV)/2]</a:t>
            </a:r>
            <a:endParaRPr/>
          </a:p>
          <a:p>
            <a:pPr indent="0" lvl="0" marL="0" rtl="0" algn="just">
              <a:lnSpc>
                <a:spcPct val="90000"/>
              </a:lnSpc>
              <a:spcBef>
                <a:spcPts val="1000"/>
              </a:spcBef>
              <a:spcAft>
                <a:spcPts val="0"/>
              </a:spcAft>
              <a:buClr>
                <a:schemeClr val="dk1"/>
              </a:buClr>
              <a:buSzPts val="2600"/>
              <a:buNone/>
            </a:pPr>
            <a:r>
              <a:rPr lang="en-IN" sz="2600"/>
              <a:t>= Rs. 14 + [(Rs. 100 – Rs. 90)/5] / [(Rs. 100 + Rs.90)/2]</a:t>
            </a:r>
            <a:endParaRPr/>
          </a:p>
          <a:p>
            <a:pPr indent="0" lvl="0" marL="0" rtl="0" algn="just">
              <a:lnSpc>
                <a:spcPct val="90000"/>
              </a:lnSpc>
              <a:spcBef>
                <a:spcPts val="1000"/>
              </a:spcBef>
              <a:spcAft>
                <a:spcPts val="0"/>
              </a:spcAft>
              <a:buClr>
                <a:schemeClr val="dk1"/>
              </a:buClr>
              <a:buSzPts val="2600"/>
              <a:buNone/>
            </a:pPr>
            <a:r>
              <a:rPr lang="en-IN" sz="2600"/>
              <a:t>= 16.84%</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Therefore, K</a:t>
            </a:r>
            <a:r>
              <a:rPr b="1" baseline="-25000" lang="en-IN" sz="2600">
                <a:solidFill>
                  <a:srgbClr val="FF0000"/>
                </a:solidFill>
              </a:rPr>
              <a:t>d</a:t>
            </a:r>
            <a:r>
              <a:rPr b="1" lang="en-IN" sz="2600">
                <a:solidFill>
                  <a:srgbClr val="FF0000"/>
                </a:solidFill>
              </a:rPr>
              <a:t> (after tax):</a:t>
            </a:r>
            <a:endParaRPr/>
          </a:p>
          <a:p>
            <a:pPr indent="0" lvl="0" marL="0" rtl="0" algn="just">
              <a:lnSpc>
                <a:spcPct val="90000"/>
              </a:lnSpc>
              <a:spcBef>
                <a:spcPts val="1000"/>
              </a:spcBef>
              <a:spcAft>
                <a:spcPts val="0"/>
              </a:spcAft>
              <a:buClr>
                <a:schemeClr val="dk1"/>
              </a:buClr>
              <a:buSzPts val="2600"/>
              <a:buNone/>
            </a:pPr>
            <a:r>
              <a:rPr lang="en-IN" sz="2600"/>
              <a:t>= Kd (before tax) (1-T)</a:t>
            </a:r>
            <a:endParaRPr/>
          </a:p>
          <a:p>
            <a:pPr indent="0" lvl="0" marL="0" rtl="0" algn="just">
              <a:lnSpc>
                <a:spcPct val="90000"/>
              </a:lnSpc>
              <a:spcBef>
                <a:spcPts val="1000"/>
              </a:spcBef>
              <a:spcAft>
                <a:spcPts val="0"/>
              </a:spcAft>
              <a:buClr>
                <a:schemeClr val="dk1"/>
              </a:buClr>
              <a:buSzPts val="2600"/>
              <a:buNone/>
            </a:pPr>
            <a:r>
              <a:rPr lang="en-IN" sz="2600"/>
              <a:t>= 16.84% (0.70)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Kd = 11.78%</a:t>
            </a:r>
            <a:endParaRPr/>
          </a:p>
        </p:txBody>
      </p:sp>
      <p:pic>
        <p:nvPicPr>
          <p:cNvPr descr="Image result for sastra logo" id="659" name="Google Shape;659;p102"/>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03"/>
          <p:cNvSpPr txBox="1"/>
          <p:nvPr>
            <p:ph idx="1" type="body"/>
          </p:nvPr>
        </p:nvSpPr>
        <p:spPr>
          <a:xfrm>
            <a:off x="762000" y="1072056"/>
            <a:ext cx="10515600" cy="510490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2. Cost of Term Loans (K</a:t>
            </a:r>
            <a:r>
              <a:rPr b="1" baseline="-25000" lang="en-IN" sz="2600">
                <a:solidFill>
                  <a:srgbClr val="FF0000"/>
                </a:solidFill>
              </a:rPr>
              <a:t>T</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a:t>
            </a:r>
            <a:r>
              <a:rPr baseline="-25000" lang="en-IN" sz="2600"/>
              <a:t>T </a:t>
            </a:r>
            <a:r>
              <a:rPr lang="en-IN" sz="2600"/>
              <a:t>= R (1-T)</a:t>
            </a:r>
            <a:endParaRPr/>
          </a:p>
          <a:p>
            <a:pPr indent="0" lvl="0" marL="0" rtl="0" algn="l">
              <a:lnSpc>
                <a:spcPct val="90000"/>
              </a:lnSpc>
              <a:spcBef>
                <a:spcPts val="1000"/>
              </a:spcBef>
              <a:spcAft>
                <a:spcPts val="0"/>
              </a:spcAft>
              <a:buClr>
                <a:schemeClr val="dk1"/>
              </a:buClr>
              <a:buSzPts val="2600"/>
              <a:buNone/>
            </a:pPr>
            <a:r>
              <a:rPr lang="en-IN" sz="2600"/>
              <a:t>    = 13%(0.70)</a:t>
            </a:r>
            <a:endParaRPr/>
          </a:p>
          <a:p>
            <a:pPr indent="0" lvl="0" marL="0" rtl="0" algn="l">
              <a:lnSpc>
                <a:spcPct val="90000"/>
              </a:lnSpc>
              <a:spcBef>
                <a:spcPts val="1000"/>
              </a:spcBef>
              <a:spcAft>
                <a:spcPts val="0"/>
              </a:spcAft>
              <a:buClr>
                <a:schemeClr val="dk1"/>
              </a:buClr>
              <a:buSzPts val="2600"/>
              <a:buNone/>
            </a:pPr>
            <a:r>
              <a:rPr lang="en-IN" sz="2600"/>
              <a:t>    = 9.1%</a:t>
            </a:r>
            <a:endParaRPr/>
          </a:p>
          <a:p>
            <a:pPr indent="0" lvl="0" marL="0" rtl="0" algn="l">
              <a:lnSpc>
                <a:spcPct val="90000"/>
              </a:lnSpc>
              <a:spcBef>
                <a:spcPts val="1000"/>
              </a:spcBef>
              <a:spcAft>
                <a:spcPts val="0"/>
              </a:spcAft>
              <a:buClr>
                <a:schemeClr val="dk1"/>
              </a:buClr>
              <a:buSzPts val="2600"/>
              <a:buNone/>
            </a:pPr>
            <a:r>
              <a:rPr lang="en-IN" sz="2600"/>
              <a:t>      </a:t>
            </a:r>
            <a:endParaRPr sz="2600"/>
          </a:p>
        </p:txBody>
      </p:sp>
      <p:pic>
        <p:nvPicPr>
          <p:cNvPr descr="Image result for sastra logo" id="665" name="Google Shape;665;p103"/>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04"/>
          <p:cNvSpPr txBox="1"/>
          <p:nvPr>
            <p:ph idx="1" type="body"/>
          </p:nvPr>
        </p:nvSpPr>
        <p:spPr>
          <a:xfrm>
            <a:off x="838200" y="943429"/>
            <a:ext cx="10515600" cy="529247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3. Calculation of K</a:t>
            </a:r>
            <a:r>
              <a:rPr b="1" baseline="-25000" lang="en-IN" sz="2600">
                <a:solidFill>
                  <a:srgbClr val="FF0000"/>
                </a:solidFill>
              </a:rPr>
              <a:t>p</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Kp = D+[(RV-SV)/n]/(RV + SV)/2]</a:t>
            </a:r>
            <a:endParaRPr sz="2600"/>
          </a:p>
          <a:p>
            <a:pPr indent="0" lvl="0" marL="0" rtl="0" algn="l">
              <a:lnSpc>
                <a:spcPct val="90000"/>
              </a:lnSpc>
              <a:spcBef>
                <a:spcPts val="1000"/>
              </a:spcBef>
              <a:spcAft>
                <a:spcPts val="0"/>
              </a:spcAft>
              <a:buClr>
                <a:schemeClr val="dk1"/>
              </a:buClr>
              <a:buSzPts val="2600"/>
              <a:buNone/>
            </a:pPr>
            <a:r>
              <a:rPr lang="en-IN" sz="2600"/>
              <a:t>= Rs. 12+[(Rs. 100 – Rs. 85)/10] / [(Rs. 100 + Rs.85)/2]</a:t>
            </a:r>
            <a:endParaRPr/>
          </a:p>
          <a:p>
            <a:pPr indent="0" lvl="0" marL="0" rtl="0" algn="l">
              <a:lnSpc>
                <a:spcPct val="90000"/>
              </a:lnSpc>
              <a:spcBef>
                <a:spcPts val="1000"/>
              </a:spcBef>
              <a:spcAft>
                <a:spcPts val="0"/>
              </a:spcAft>
              <a:buClr>
                <a:schemeClr val="dk1"/>
              </a:buClr>
              <a:buSzPts val="2600"/>
              <a:buNone/>
            </a:pPr>
            <a:r>
              <a:rPr lang="en-IN" sz="2600"/>
              <a:t>= Rs. 13.5/ Rs. 92.5</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Kp = 14.59%</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4. Calculation of K</a:t>
            </a:r>
            <a:r>
              <a:rPr b="1" baseline="-25000" lang="en-IN" sz="2600">
                <a:solidFill>
                  <a:srgbClr val="FF0000"/>
                </a:solidFill>
              </a:rPr>
              <a:t>e</a:t>
            </a:r>
            <a:r>
              <a:rPr b="1" lang="en-IN" sz="2600">
                <a:solidFill>
                  <a:srgbClr val="FF0000"/>
                </a:solidFill>
              </a:rPr>
              <a:t>:</a:t>
            </a:r>
            <a:endParaRPr/>
          </a:p>
          <a:p>
            <a:pPr indent="0" lvl="0" marL="0" rtl="0" algn="l">
              <a:lnSpc>
                <a:spcPct val="90000"/>
              </a:lnSpc>
              <a:spcBef>
                <a:spcPts val="1000"/>
              </a:spcBef>
              <a:spcAft>
                <a:spcPts val="0"/>
              </a:spcAft>
              <a:buClr>
                <a:schemeClr val="dk1"/>
              </a:buClr>
              <a:buSzPts val="2600"/>
              <a:buNone/>
            </a:pPr>
            <a:r>
              <a:rPr lang="en-IN" sz="2600"/>
              <a:t>Ke = (D/NP) + g</a:t>
            </a:r>
            <a:endParaRPr/>
          </a:p>
          <a:p>
            <a:pPr indent="0" lvl="0" marL="0" rtl="0" algn="l">
              <a:lnSpc>
                <a:spcPct val="90000"/>
              </a:lnSpc>
              <a:spcBef>
                <a:spcPts val="1000"/>
              </a:spcBef>
              <a:spcAft>
                <a:spcPts val="0"/>
              </a:spcAft>
              <a:buClr>
                <a:schemeClr val="dk1"/>
              </a:buClr>
              <a:buSzPts val="2600"/>
              <a:buNone/>
            </a:pPr>
            <a:r>
              <a:rPr lang="en-IN" sz="2600"/>
              <a:t>= [Rs.2/(Rs. 50)] + 12%</a:t>
            </a:r>
            <a:endParaRPr sz="2600"/>
          </a:p>
          <a:p>
            <a:pPr indent="0" lvl="0" marL="0" rtl="0" algn="l">
              <a:lnSpc>
                <a:spcPct val="90000"/>
              </a:lnSpc>
              <a:spcBef>
                <a:spcPts val="1000"/>
              </a:spcBef>
              <a:spcAft>
                <a:spcPts val="0"/>
              </a:spcAft>
              <a:buClr>
                <a:schemeClr val="dk1"/>
              </a:buClr>
              <a:buSzPts val="2600"/>
              <a:buNone/>
            </a:pPr>
            <a:r>
              <a:rPr lang="en-IN" sz="2600"/>
              <a:t>= 4% + 12%</a:t>
            </a:r>
            <a:endParaRPr sz="2600"/>
          </a:p>
          <a:p>
            <a:pPr indent="0" lvl="0" marL="0" rtl="0" algn="l">
              <a:lnSpc>
                <a:spcPct val="90000"/>
              </a:lnSpc>
              <a:spcBef>
                <a:spcPts val="1000"/>
              </a:spcBef>
              <a:spcAft>
                <a:spcPts val="0"/>
              </a:spcAft>
              <a:buClr>
                <a:srgbClr val="FF0000"/>
              </a:buClr>
              <a:buSzPts val="2600"/>
              <a:buNone/>
            </a:pPr>
            <a:r>
              <a:rPr lang="en-IN" sz="2600">
                <a:solidFill>
                  <a:srgbClr val="FF0000"/>
                </a:solidFill>
              </a:rPr>
              <a:t>Ke = 16%.</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671" name="Google Shape;671;p104"/>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05"/>
          <p:cNvSpPr txBox="1"/>
          <p:nvPr>
            <p:ph idx="1" type="body"/>
          </p:nvPr>
        </p:nvSpPr>
        <p:spPr>
          <a:xfrm>
            <a:off x="838200" y="959370"/>
            <a:ext cx="10515600" cy="521759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600"/>
              <a:buAutoNum type="alphaLcParenR"/>
            </a:pPr>
            <a:r>
              <a:rPr b="1" lang="en-IN" sz="2600">
                <a:solidFill>
                  <a:srgbClr val="FF0000"/>
                </a:solidFill>
              </a:rPr>
              <a:t>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[Book value weights]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677" name="Google Shape;677;p105"/>
          <p:cNvGraphicFramePr/>
          <p:nvPr/>
        </p:nvGraphicFramePr>
        <p:xfrm>
          <a:off x="838200" y="1946396"/>
          <a:ext cx="3000000" cy="3000000"/>
        </p:xfrm>
        <a:graphic>
          <a:graphicData uri="http://schemas.openxmlformats.org/drawingml/2006/table">
            <a:tbl>
              <a:tblPr bandRow="1" firstRow="1">
                <a:noFill/>
                <a:tableStyleId>{3CD1E0FF-FAF5-4487-BE71-2FD66BCB489A}</a:tableStyleId>
              </a:tblPr>
              <a:tblGrid>
                <a:gridCol w="5235050"/>
                <a:gridCol w="1285500"/>
                <a:gridCol w="1219200"/>
                <a:gridCol w="1165675"/>
                <a:gridCol w="1610200"/>
              </a:tblGrid>
              <a:tr h="3783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 In</a:t>
                      </a:r>
                      <a:r>
                        <a:rPr lang="en-IN" sz="1800"/>
                        <a:t> crore</a:t>
                      </a:r>
                      <a:endParaRPr sz="1800"/>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8350">
                <a:tc>
                  <a:txBody>
                    <a:bodyPr/>
                    <a:lstStyle/>
                    <a:p>
                      <a:pPr indent="0" lvl="0" marL="0" marR="0" rtl="0" algn="l">
                        <a:spcBef>
                          <a:spcPts val="0"/>
                        </a:spcBef>
                        <a:spcAft>
                          <a:spcPts val="0"/>
                        </a:spcAft>
                        <a:buNone/>
                      </a:pPr>
                      <a:r>
                        <a:rPr lang="en-IN" sz="2600"/>
                        <a:t>Equity Capita</a:t>
                      </a:r>
                      <a:r>
                        <a:rPr lang="en-IN" sz="2000"/>
                        <a:t>l </a:t>
                      </a:r>
                      <a:r>
                        <a:rPr b="1" lang="en-IN" sz="2000">
                          <a:solidFill>
                            <a:srgbClr val="FF0000"/>
                          </a:solidFill>
                        </a:rPr>
                        <a:t>(20 Million Shares, Rs. 50 par)</a:t>
                      </a:r>
                      <a:endParaRPr b="1" sz="20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200.00</a:t>
                      </a:r>
                      <a:endParaRPr sz="2600"/>
                    </a:p>
                  </a:txBody>
                  <a:tcPr marT="45725" marB="45725" marR="91450" marL="91450"/>
                </a:tc>
                <a:tc>
                  <a:txBody>
                    <a:bodyPr/>
                    <a:lstStyle/>
                    <a:p>
                      <a:pPr indent="0" lvl="0" marL="0" marR="0" rtl="0" algn="ctr">
                        <a:spcBef>
                          <a:spcPts val="0"/>
                        </a:spcBef>
                        <a:spcAft>
                          <a:spcPts val="0"/>
                        </a:spcAft>
                        <a:buNone/>
                      </a:pPr>
                      <a:r>
                        <a:rPr lang="en-IN" sz="2600"/>
                        <a:t>0.2500</a:t>
                      </a:r>
                      <a:endParaRPr sz="2600"/>
                    </a:p>
                  </a:txBody>
                  <a:tcPr marT="45725" marB="45725" marR="91450" marL="91450"/>
                </a:tc>
                <a:tc>
                  <a:txBody>
                    <a:bodyPr/>
                    <a:lstStyle/>
                    <a:p>
                      <a:pPr indent="0" lvl="0" marL="0" marR="0" rtl="0" algn="ctr">
                        <a:spcBef>
                          <a:spcPts val="0"/>
                        </a:spcBef>
                        <a:spcAft>
                          <a:spcPts val="0"/>
                        </a:spcAft>
                        <a:buNone/>
                      </a:pPr>
                      <a:r>
                        <a:rPr lang="en-IN" sz="2600"/>
                        <a:t>0.1600</a:t>
                      </a:r>
                      <a:endParaRPr sz="2600"/>
                    </a:p>
                  </a:txBody>
                  <a:tcPr marT="45725" marB="45725" marR="91450" marL="91450"/>
                </a:tc>
                <a:tc>
                  <a:txBody>
                    <a:bodyPr/>
                    <a:lstStyle/>
                    <a:p>
                      <a:pPr indent="0" lvl="0" marL="0" marR="0" rtl="0" algn="ctr">
                        <a:spcBef>
                          <a:spcPts val="0"/>
                        </a:spcBef>
                        <a:spcAft>
                          <a:spcPts val="0"/>
                        </a:spcAft>
                        <a:buNone/>
                      </a:pPr>
                      <a:r>
                        <a:rPr lang="en-IN" sz="2600"/>
                        <a:t>0.0400</a:t>
                      </a:r>
                      <a:endParaRPr sz="2600"/>
                    </a:p>
                  </a:txBody>
                  <a:tcPr marT="45725" marB="45725" marR="91450" marL="91450"/>
                </a:tc>
              </a:tr>
              <a:tr h="378350">
                <a:tc>
                  <a:txBody>
                    <a:bodyPr/>
                    <a:lstStyle/>
                    <a:p>
                      <a:pPr indent="0" lvl="0" marL="0" marR="0" rtl="0" algn="l">
                        <a:spcBef>
                          <a:spcPts val="0"/>
                        </a:spcBef>
                        <a:spcAft>
                          <a:spcPts val="0"/>
                        </a:spcAft>
                        <a:buNone/>
                      </a:pPr>
                      <a:r>
                        <a:rPr lang="en-IN" sz="2600"/>
                        <a:t>12% Preference Capital </a:t>
                      </a:r>
                      <a:r>
                        <a:rPr b="1" lang="en-IN" sz="2000">
                          <a:solidFill>
                            <a:srgbClr val="FF0000"/>
                          </a:solidFill>
                        </a:rPr>
                        <a:t>(5 Lakh Shares, Rs. 100 par)</a:t>
                      </a:r>
                      <a:endParaRPr b="1" sz="20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50.00</a:t>
                      </a:r>
                      <a:endParaRPr sz="2600"/>
                    </a:p>
                  </a:txBody>
                  <a:tcPr marT="45725" marB="45725" marR="91450" marL="91450"/>
                </a:tc>
                <a:tc>
                  <a:txBody>
                    <a:bodyPr/>
                    <a:lstStyle/>
                    <a:p>
                      <a:pPr indent="0" lvl="0" marL="0" marR="0" rtl="0" algn="ctr">
                        <a:spcBef>
                          <a:spcPts val="0"/>
                        </a:spcBef>
                        <a:spcAft>
                          <a:spcPts val="0"/>
                        </a:spcAft>
                        <a:buNone/>
                      </a:pPr>
                      <a:r>
                        <a:rPr lang="en-IN" sz="2600"/>
                        <a:t>0.0625</a:t>
                      </a:r>
                      <a:endParaRPr sz="2600"/>
                    </a:p>
                  </a:txBody>
                  <a:tcPr marT="45725" marB="45725" marR="91450" marL="91450"/>
                </a:tc>
                <a:tc>
                  <a:txBody>
                    <a:bodyPr/>
                    <a:lstStyle/>
                    <a:p>
                      <a:pPr indent="0" lvl="0" marL="0" marR="0" rtl="0" algn="ctr">
                        <a:spcBef>
                          <a:spcPts val="0"/>
                        </a:spcBef>
                        <a:spcAft>
                          <a:spcPts val="0"/>
                        </a:spcAft>
                        <a:buNone/>
                      </a:pPr>
                      <a:r>
                        <a:rPr lang="en-IN" sz="2600"/>
                        <a:t>0.1459</a:t>
                      </a:r>
                      <a:endParaRPr sz="2600"/>
                    </a:p>
                  </a:txBody>
                  <a:tcPr marT="45725" marB="45725" marR="91450" marL="91450"/>
                </a:tc>
                <a:tc>
                  <a:txBody>
                    <a:bodyPr/>
                    <a:lstStyle/>
                    <a:p>
                      <a:pPr indent="0" lvl="0" marL="0" marR="0" rtl="0" algn="ctr">
                        <a:spcBef>
                          <a:spcPts val="0"/>
                        </a:spcBef>
                        <a:spcAft>
                          <a:spcPts val="0"/>
                        </a:spcAft>
                        <a:buNone/>
                      </a:pPr>
                      <a:r>
                        <a:rPr lang="en-IN" sz="2600"/>
                        <a:t>0.0091</a:t>
                      </a:r>
                      <a:endParaRPr sz="2600"/>
                    </a:p>
                  </a:txBody>
                  <a:tcPr marT="45725" marB="45725" marR="91450" marL="91450"/>
                </a:tc>
              </a:tr>
              <a:tr h="378350">
                <a:tc>
                  <a:txBody>
                    <a:bodyPr/>
                    <a:lstStyle/>
                    <a:p>
                      <a:pPr indent="0" lvl="0" marL="0" marR="0" rtl="0" algn="l">
                        <a:spcBef>
                          <a:spcPts val="0"/>
                        </a:spcBef>
                        <a:spcAft>
                          <a:spcPts val="0"/>
                        </a:spcAft>
                        <a:buNone/>
                      </a:pPr>
                      <a:r>
                        <a:rPr lang="en-IN" sz="2600"/>
                        <a:t>Retained Earnings</a:t>
                      </a:r>
                      <a:endParaRPr sz="2600"/>
                    </a:p>
                  </a:txBody>
                  <a:tcPr marT="45725" marB="45725" marR="91450" marL="91450"/>
                </a:tc>
                <a:tc>
                  <a:txBody>
                    <a:bodyPr/>
                    <a:lstStyle/>
                    <a:p>
                      <a:pPr indent="0" lvl="0" marL="0" marR="0" rtl="0" algn="r">
                        <a:spcBef>
                          <a:spcPts val="0"/>
                        </a:spcBef>
                        <a:spcAft>
                          <a:spcPts val="0"/>
                        </a:spcAft>
                        <a:buNone/>
                      </a:pPr>
                      <a:r>
                        <a:rPr lang="en-IN" sz="2600"/>
                        <a:t>350.00</a:t>
                      </a:r>
                      <a:endParaRPr sz="2600"/>
                    </a:p>
                  </a:txBody>
                  <a:tcPr marT="45725" marB="45725" marR="91450" marL="91450"/>
                </a:tc>
                <a:tc>
                  <a:txBody>
                    <a:bodyPr/>
                    <a:lstStyle/>
                    <a:p>
                      <a:pPr indent="0" lvl="0" marL="0" marR="0" rtl="0" algn="ctr">
                        <a:spcBef>
                          <a:spcPts val="0"/>
                        </a:spcBef>
                        <a:spcAft>
                          <a:spcPts val="0"/>
                        </a:spcAft>
                        <a:buNone/>
                      </a:pPr>
                      <a:r>
                        <a:rPr lang="en-IN" sz="2600"/>
                        <a:t>0.4375</a:t>
                      </a:r>
                      <a:endParaRPr sz="2600"/>
                    </a:p>
                  </a:txBody>
                  <a:tcPr marT="45725" marB="45725" marR="91450" marL="91450"/>
                </a:tc>
                <a:tc>
                  <a:txBody>
                    <a:bodyPr/>
                    <a:lstStyle/>
                    <a:p>
                      <a:pPr indent="0" lvl="0" marL="0" marR="0" rtl="0" algn="ctr">
                        <a:spcBef>
                          <a:spcPts val="0"/>
                        </a:spcBef>
                        <a:spcAft>
                          <a:spcPts val="0"/>
                        </a:spcAft>
                        <a:buNone/>
                      </a:pPr>
                      <a:r>
                        <a:rPr lang="en-IN" sz="2600"/>
                        <a:t>0.1600</a:t>
                      </a:r>
                      <a:endParaRPr sz="2600"/>
                    </a:p>
                  </a:txBody>
                  <a:tcPr marT="45725" marB="45725" marR="91450" marL="91450"/>
                </a:tc>
                <a:tc>
                  <a:txBody>
                    <a:bodyPr/>
                    <a:lstStyle/>
                    <a:p>
                      <a:pPr indent="0" lvl="0" marL="0" marR="0" rtl="0" algn="ctr">
                        <a:spcBef>
                          <a:spcPts val="0"/>
                        </a:spcBef>
                        <a:spcAft>
                          <a:spcPts val="0"/>
                        </a:spcAft>
                        <a:buNone/>
                      </a:pPr>
                      <a:r>
                        <a:rPr lang="en-IN" sz="2600"/>
                        <a:t>0.0700</a:t>
                      </a:r>
                      <a:endParaRPr sz="2600"/>
                    </a:p>
                  </a:txBody>
                  <a:tcPr marT="45725" marB="45725" marR="91450" marL="91450"/>
                </a:tc>
              </a:tr>
              <a:tr h="378350">
                <a:tc>
                  <a:txBody>
                    <a:bodyPr/>
                    <a:lstStyle/>
                    <a:p>
                      <a:pPr indent="0" lvl="0" marL="0" marR="0" rtl="0" algn="l">
                        <a:spcBef>
                          <a:spcPts val="0"/>
                        </a:spcBef>
                        <a:spcAft>
                          <a:spcPts val="0"/>
                        </a:spcAft>
                        <a:buClr>
                          <a:schemeClr val="dk1"/>
                        </a:buClr>
                        <a:buSzPts val="2600"/>
                        <a:buFont typeface="Calibri"/>
                        <a:buNone/>
                      </a:pPr>
                      <a:r>
                        <a:rPr lang="en-IN" sz="2600"/>
                        <a:t>14% Debentures </a:t>
                      </a:r>
                      <a:r>
                        <a:rPr lang="en-IN" sz="2600"/>
                        <a:t> </a:t>
                      </a:r>
                      <a:r>
                        <a:rPr b="1" lang="en-IN" sz="2000">
                          <a:solidFill>
                            <a:srgbClr val="FF0000"/>
                          </a:solidFill>
                        </a:rPr>
                        <a:t>(12</a:t>
                      </a:r>
                      <a:r>
                        <a:rPr b="1" lang="en-IN" sz="2000">
                          <a:solidFill>
                            <a:srgbClr val="FF0000"/>
                          </a:solidFill>
                        </a:rPr>
                        <a:t> Lakh</a:t>
                      </a:r>
                      <a:r>
                        <a:rPr b="1" lang="en-IN" sz="2000">
                          <a:solidFill>
                            <a:srgbClr val="FF0000"/>
                          </a:solidFill>
                        </a:rPr>
                        <a:t> Debentures, Rs. 100 par)</a:t>
                      </a:r>
                      <a:endParaRPr b="1" sz="20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120.00</a:t>
                      </a:r>
                      <a:endParaRPr sz="2600"/>
                    </a:p>
                  </a:txBody>
                  <a:tcPr marT="45725" marB="45725" marR="91450" marL="91450"/>
                </a:tc>
                <a:tc>
                  <a:txBody>
                    <a:bodyPr/>
                    <a:lstStyle/>
                    <a:p>
                      <a:pPr indent="0" lvl="0" marL="0" marR="0" rtl="0" algn="ctr">
                        <a:spcBef>
                          <a:spcPts val="0"/>
                        </a:spcBef>
                        <a:spcAft>
                          <a:spcPts val="0"/>
                        </a:spcAft>
                        <a:buNone/>
                      </a:pPr>
                      <a:r>
                        <a:rPr lang="en-IN" sz="2600"/>
                        <a:t>0.1500</a:t>
                      </a:r>
                      <a:endParaRPr sz="2600"/>
                    </a:p>
                  </a:txBody>
                  <a:tcPr marT="45725" marB="45725" marR="91450" marL="91450"/>
                </a:tc>
                <a:tc>
                  <a:txBody>
                    <a:bodyPr/>
                    <a:lstStyle/>
                    <a:p>
                      <a:pPr indent="0" lvl="0" marL="0" marR="0" rtl="0" algn="ctr">
                        <a:lnSpc>
                          <a:spcPct val="100000"/>
                        </a:lnSpc>
                        <a:spcBef>
                          <a:spcPts val="0"/>
                        </a:spcBef>
                        <a:spcAft>
                          <a:spcPts val="0"/>
                        </a:spcAft>
                        <a:buClr>
                          <a:schemeClr val="dk1"/>
                        </a:buClr>
                        <a:buSzPts val="2600"/>
                        <a:buFont typeface="Calibri"/>
                        <a:buNone/>
                      </a:pPr>
                      <a:r>
                        <a:rPr lang="en-IN" sz="2600"/>
                        <a:t>0.1178</a:t>
                      </a:r>
                      <a:endParaRPr/>
                    </a:p>
                    <a:p>
                      <a:pPr indent="0" lvl="0" marL="0" marR="0" rtl="0" algn="ctr">
                        <a:spcBef>
                          <a:spcPts val="0"/>
                        </a:spcBef>
                        <a:spcAft>
                          <a:spcPts val="0"/>
                        </a:spcAft>
                        <a:buNone/>
                      </a:pPr>
                      <a:r>
                        <a:t/>
                      </a:r>
                      <a:endParaRPr sz="2600"/>
                    </a:p>
                  </a:txBody>
                  <a:tcPr marT="45725" marB="45725" marR="91450" marL="91450"/>
                </a:tc>
                <a:tc>
                  <a:txBody>
                    <a:bodyPr/>
                    <a:lstStyle/>
                    <a:p>
                      <a:pPr indent="0" lvl="0" marL="0" marR="0" rtl="0" algn="ctr">
                        <a:spcBef>
                          <a:spcPts val="0"/>
                        </a:spcBef>
                        <a:spcAft>
                          <a:spcPts val="0"/>
                        </a:spcAft>
                        <a:buNone/>
                      </a:pPr>
                      <a:r>
                        <a:rPr lang="en-IN" sz="2600"/>
                        <a:t>0.0177</a:t>
                      </a:r>
                      <a:endParaRPr sz="2600"/>
                    </a:p>
                  </a:txBody>
                  <a:tcPr marT="45725" marB="45725" marR="91450" marL="91450"/>
                </a:tc>
              </a:tr>
              <a:tr h="378350">
                <a:tc>
                  <a:txBody>
                    <a:bodyPr/>
                    <a:lstStyle/>
                    <a:p>
                      <a:pPr indent="0" lvl="0" marL="0" marR="0" rtl="0" algn="l">
                        <a:spcBef>
                          <a:spcPts val="0"/>
                        </a:spcBef>
                        <a:spcAft>
                          <a:spcPts val="0"/>
                        </a:spcAft>
                        <a:buNone/>
                      </a:pPr>
                      <a:r>
                        <a:rPr lang="en-IN" sz="2600"/>
                        <a:t>13% Term Loans</a:t>
                      </a:r>
                      <a:endParaRPr sz="2600"/>
                    </a:p>
                  </a:txBody>
                  <a:tcPr marT="45725" marB="45725" marR="91450" marL="91450"/>
                </a:tc>
                <a:tc>
                  <a:txBody>
                    <a:bodyPr/>
                    <a:lstStyle/>
                    <a:p>
                      <a:pPr indent="0" lvl="0" marL="0" marR="0" rtl="0" algn="r">
                        <a:spcBef>
                          <a:spcPts val="0"/>
                        </a:spcBef>
                        <a:spcAft>
                          <a:spcPts val="0"/>
                        </a:spcAft>
                        <a:buNone/>
                      </a:pPr>
                      <a:r>
                        <a:rPr lang="en-IN" sz="2600"/>
                        <a:t>80.00</a:t>
                      </a:r>
                      <a:endParaRPr sz="2600"/>
                    </a:p>
                  </a:txBody>
                  <a:tcPr marT="45725" marB="45725" marR="91450" marL="91450"/>
                </a:tc>
                <a:tc>
                  <a:txBody>
                    <a:bodyPr/>
                    <a:lstStyle/>
                    <a:p>
                      <a:pPr indent="0" lvl="0" marL="0" marR="0" rtl="0" algn="ctr">
                        <a:spcBef>
                          <a:spcPts val="0"/>
                        </a:spcBef>
                        <a:spcAft>
                          <a:spcPts val="0"/>
                        </a:spcAft>
                        <a:buNone/>
                      </a:pPr>
                      <a:r>
                        <a:rPr lang="en-IN" sz="2600"/>
                        <a:t>0.1000</a:t>
                      </a:r>
                      <a:endParaRPr sz="2600"/>
                    </a:p>
                  </a:txBody>
                  <a:tcPr marT="45725" marB="45725" marR="91450" marL="91450"/>
                </a:tc>
                <a:tc>
                  <a:txBody>
                    <a:bodyPr/>
                    <a:lstStyle/>
                    <a:p>
                      <a:pPr indent="0" lvl="0" marL="0" marR="0" rtl="0" algn="ctr">
                        <a:spcBef>
                          <a:spcPts val="0"/>
                        </a:spcBef>
                        <a:spcAft>
                          <a:spcPts val="0"/>
                        </a:spcAft>
                        <a:buNone/>
                      </a:pPr>
                      <a:r>
                        <a:rPr lang="en-IN" sz="2600"/>
                        <a:t>0.0910</a:t>
                      </a:r>
                      <a:endParaRPr sz="2600"/>
                    </a:p>
                  </a:txBody>
                  <a:tcPr marT="45725" marB="45725" marR="91450" marL="91450"/>
                </a:tc>
                <a:tc>
                  <a:txBody>
                    <a:bodyPr/>
                    <a:lstStyle/>
                    <a:p>
                      <a:pPr indent="0" lvl="0" marL="0" marR="0" rtl="0" algn="ctr">
                        <a:spcBef>
                          <a:spcPts val="0"/>
                        </a:spcBef>
                        <a:spcAft>
                          <a:spcPts val="0"/>
                        </a:spcAft>
                        <a:buNone/>
                      </a:pPr>
                      <a:r>
                        <a:rPr lang="en-IN" sz="2600"/>
                        <a:t>0.0091</a:t>
                      </a:r>
                      <a:endParaRPr sz="2600"/>
                    </a:p>
                  </a:txBody>
                  <a:tcPr marT="45725" marB="45725" marR="91450" marL="91450"/>
                </a:tc>
              </a:tr>
              <a:tr h="378350">
                <a:tc>
                  <a:txBody>
                    <a:bodyPr/>
                    <a:lstStyle/>
                    <a:p>
                      <a:pPr indent="0" lvl="0" marL="0" marR="0" rtl="0" algn="ctr">
                        <a:spcBef>
                          <a:spcPts val="0"/>
                        </a:spcBef>
                        <a:spcAft>
                          <a:spcPts val="0"/>
                        </a:spcAft>
                        <a:buNone/>
                      </a:pPr>
                      <a:r>
                        <a:rPr b="1" lang="en-IN" sz="2600">
                          <a:solidFill>
                            <a:srgbClr val="FF0000"/>
                          </a:solidFill>
                        </a:rPr>
                        <a:t>Total </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800.00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14.59%</a:t>
                      </a:r>
                      <a:endParaRPr b="1" sz="2600">
                        <a:solidFill>
                          <a:srgbClr val="FF0000"/>
                        </a:solidFill>
                      </a:endParaRPr>
                    </a:p>
                  </a:txBody>
                  <a:tcPr marT="45725" marB="45725" marR="91450" marL="91450"/>
                </a:tc>
              </a:tr>
            </a:tbl>
          </a:graphicData>
        </a:graphic>
      </p:graphicFrame>
      <p:pic>
        <p:nvPicPr>
          <p:cNvPr descr="Image result for sastra logo" id="678" name="Google Shape;678;p105"/>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06"/>
          <p:cNvSpPr txBox="1"/>
          <p:nvPr>
            <p:ph idx="1" type="body"/>
          </p:nvPr>
        </p:nvSpPr>
        <p:spPr>
          <a:xfrm>
            <a:off x="838200" y="944380"/>
            <a:ext cx="10515600" cy="578210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Computation of weighted average cost of capital [W</a:t>
            </a:r>
            <a:r>
              <a:rPr b="1" baseline="-25000" lang="en-IN" sz="2600">
                <a:solidFill>
                  <a:srgbClr val="FF0000"/>
                </a:solidFill>
              </a:rPr>
              <a:t>o </a:t>
            </a:r>
            <a:r>
              <a:rPr b="1" lang="en-IN" sz="2600">
                <a:solidFill>
                  <a:srgbClr val="FF0000"/>
                </a:solidFill>
              </a:rPr>
              <a:t>K</a:t>
            </a:r>
            <a:r>
              <a:rPr b="1" baseline="-25000" lang="en-IN" sz="2600">
                <a:solidFill>
                  <a:srgbClr val="FF0000"/>
                </a:solidFill>
              </a:rPr>
              <a:t>o </a:t>
            </a:r>
            <a:r>
              <a:rPr b="1" lang="en-IN" sz="2600">
                <a:solidFill>
                  <a:srgbClr val="FF0000"/>
                </a:solidFill>
              </a:rPr>
              <a:t>]</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[Market value weight]</a:t>
            </a:r>
            <a:endParaRPr/>
          </a:p>
          <a:p>
            <a:pPr indent="0" lvl="0" marL="0" rtl="0" algn="l">
              <a:lnSpc>
                <a:spcPct val="90000"/>
              </a:lnSpc>
              <a:spcBef>
                <a:spcPts val="1000"/>
              </a:spcBef>
              <a:spcAft>
                <a:spcPts val="0"/>
              </a:spcAft>
              <a:buClr>
                <a:schemeClr val="dk1"/>
              </a:buClr>
              <a:buSzPts val="2600"/>
              <a:buNone/>
            </a:pPr>
            <a:r>
              <a:t/>
            </a:r>
            <a:endParaRPr sz="2600"/>
          </a:p>
        </p:txBody>
      </p:sp>
      <p:graphicFrame>
        <p:nvGraphicFramePr>
          <p:cNvPr id="684" name="Google Shape;684;p106"/>
          <p:cNvGraphicFramePr/>
          <p:nvPr/>
        </p:nvGraphicFramePr>
        <p:xfrm>
          <a:off x="838200" y="1788726"/>
          <a:ext cx="3000000" cy="3000000"/>
        </p:xfrm>
        <a:graphic>
          <a:graphicData uri="http://schemas.openxmlformats.org/drawingml/2006/table">
            <a:tbl>
              <a:tblPr bandRow="1" firstRow="1">
                <a:noFill/>
                <a:tableStyleId>{3CD1E0FF-FAF5-4487-BE71-2FD66BCB489A}</a:tableStyleId>
              </a:tblPr>
              <a:tblGrid>
                <a:gridCol w="4723150"/>
                <a:gridCol w="1478075"/>
                <a:gridCol w="1430025"/>
                <a:gridCol w="1229200"/>
                <a:gridCol w="1655175"/>
              </a:tblGrid>
              <a:tr h="370850">
                <a:tc>
                  <a:txBody>
                    <a:bodyPr/>
                    <a:lstStyle/>
                    <a:p>
                      <a:pPr indent="0" lvl="0" marL="0" marR="0" rtl="0" algn="ctr">
                        <a:spcBef>
                          <a:spcPts val="0"/>
                        </a:spcBef>
                        <a:spcAft>
                          <a:spcPts val="0"/>
                        </a:spcAft>
                        <a:buNone/>
                      </a:pPr>
                      <a:r>
                        <a:rPr lang="en-IN" sz="1800"/>
                        <a:t>Source</a:t>
                      </a:r>
                      <a:endParaRPr/>
                    </a:p>
                    <a:p>
                      <a:pPr indent="0" lvl="0" marL="0" marR="0" rtl="0" algn="ctr">
                        <a:spcBef>
                          <a:spcPts val="0"/>
                        </a:spcBef>
                        <a:spcAft>
                          <a:spcPts val="0"/>
                        </a:spcAft>
                        <a:buNone/>
                      </a:pPr>
                      <a:r>
                        <a:rPr lang="en-IN" sz="1800"/>
                        <a:t>(1) </a:t>
                      </a:r>
                      <a:endParaRPr sz="1800"/>
                    </a:p>
                  </a:txBody>
                  <a:tcPr marT="45725" marB="45725" marR="91450" marL="91450"/>
                </a:tc>
                <a:tc>
                  <a:txBody>
                    <a:bodyPr/>
                    <a:lstStyle/>
                    <a:p>
                      <a:pPr indent="0" lvl="0" marL="0" marR="0" rtl="0" algn="r">
                        <a:spcBef>
                          <a:spcPts val="0"/>
                        </a:spcBef>
                        <a:spcAft>
                          <a:spcPts val="0"/>
                        </a:spcAft>
                        <a:buNone/>
                      </a:pPr>
                      <a:r>
                        <a:rPr lang="en-IN" sz="1800"/>
                        <a:t>Amount</a:t>
                      </a:r>
                      <a:endParaRPr/>
                    </a:p>
                    <a:p>
                      <a:pPr indent="0" lvl="0" marL="0" marR="0" rtl="0" algn="r">
                        <a:spcBef>
                          <a:spcPts val="0"/>
                        </a:spcBef>
                        <a:spcAft>
                          <a:spcPts val="0"/>
                        </a:spcAft>
                        <a:buNone/>
                      </a:pPr>
                      <a:r>
                        <a:rPr lang="en-IN" sz="1800"/>
                        <a:t>Rs. In crore</a:t>
                      </a:r>
                      <a:endParaRPr/>
                    </a:p>
                    <a:p>
                      <a:pPr indent="0" lvl="0" marL="0" marR="0" rtl="0" algn="r">
                        <a:spcBef>
                          <a:spcPts val="0"/>
                        </a:spcBef>
                        <a:spcAft>
                          <a:spcPts val="0"/>
                        </a:spcAft>
                        <a:buNone/>
                      </a:pPr>
                      <a:r>
                        <a:rPr lang="en-IN" sz="1800"/>
                        <a:t>(2)</a:t>
                      </a:r>
                      <a:endParaRPr sz="1800"/>
                    </a:p>
                  </a:txBody>
                  <a:tcPr marT="45725" marB="45725" marR="91450" marL="91450"/>
                </a:tc>
                <a:tc>
                  <a:txBody>
                    <a:bodyPr/>
                    <a:lstStyle/>
                    <a:p>
                      <a:pPr indent="0" lvl="0" marL="0" marR="0" rtl="0" algn="ctr">
                        <a:spcBef>
                          <a:spcPts val="0"/>
                        </a:spcBef>
                        <a:spcAft>
                          <a:spcPts val="0"/>
                        </a:spcAft>
                        <a:buNone/>
                      </a:pPr>
                      <a:r>
                        <a:rPr lang="en-IN" sz="1800"/>
                        <a:t>Proportion </a:t>
                      </a:r>
                      <a:endParaRPr/>
                    </a:p>
                    <a:p>
                      <a:pPr indent="0" lvl="0" marL="0" marR="0" rtl="0" algn="ctr">
                        <a:spcBef>
                          <a:spcPts val="0"/>
                        </a:spcBef>
                        <a:spcAft>
                          <a:spcPts val="0"/>
                        </a:spcAft>
                        <a:buNone/>
                      </a:pPr>
                      <a:r>
                        <a:rPr lang="en-IN" sz="1800"/>
                        <a:t>W</a:t>
                      </a:r>
                      <a:r>
                        <a:rPr baseline="-25000" lang="en-IN" sz="1800"/>
                        <a:t>o</a:t>
                      </a:r>
                      <a:endParaRPr/>
                    </a:p>
                    <a:p>
                      <a:pPr indent="0" lvl="0" marL="0" marR="0" rtl="0" algn="ctr">
                        <a:spcBef>
                          <a:spcPts val="0"/>
                        </a:spcBef>
                        <a:spcAft>
                          <a:spcPts val="0"/>
                        </a:spcAft>
                        <a:buNone/>
                      </a:pPr>
                      <a:r>
                        <a:rPr lang="en-IN" sz="1800"/>
                        <a:t>(3) </a:t>
                      </a:r>
                      <a:endParaRPr sz="1800"/>
                    </a:p>
                  </a:txBody>
                  <a:tcPr marT="45725" marB="45725" marR="91450" marL="91450"/>
                </a:tc>
                <a:tc>
                  <a:txBody>
                    <a:bodyPr/>
                    <a:lstStyle/>
                    <a:p>
                      <a:pPr indent="0" lvl="0" marL="0" marR="0" rtl="0" algn="ctr">
                        <a:spcBef>
                          <a:spcPts val="0"/>
                        </a:spcBef>
                        <a:spcAft>
                          <a:spcPts val="0"/>
                        </a:spcAft>
                        <a:buNone/>
                      </a:pPr>
                      <a:r>
                        <a:rPr lang="en-IN" sz="1800"/>
                        <a:t>After tax </a:t>
                      </a:r>
                      <a:endParaRPr/>
                    </a:p>
                    <a:p>
                      <a:pPr indent="0" lvl="0" marL="0" marR="0" rtl="0" algn="ctr">
                        <a:spcBef>
                          <a:spcPts val="0"/>
                        </a:spcBef>
                        <a:spcAft>
                          <a:spcPts val="0"/>
                        </a:spcAft>
                        <a:buNone/>
                      </a:pPr>
                      <a:r>
                        <a:rPr lang="en-IN" sz="1800"/>
                        <a:t>cost</a:t>
                      </a:r>
                      <a:endParaRPr/>
                    </a:p>
                    <a:p>
                      <a:pPr indent="0" lvl="0" marL="0" marR="0" rtl="0" algn="ctr">
                        <a:spcBef>
                          <a:spcPts val="0"/>
                        </a:spcBef>
                        <a:spcAft>
                          <a:spcPts val="0"/>
                        </a:spcAft>
                        <a:buNone/>
                      </a:pPr>
                      <a:r>
                        <a:rPr lang="en-IN" sz="1800"/>
                        <a:t>(4)  </a:t>
                      </a:r>
                      <a:endParaRPr sz="1800"/>
                    </a:p>
                  </a:txBody>
                  <a:tcPr marT="45725" marB="45725" marR="91450" marL="91450"/>
                </a:tc>
                <a:tc>
                  <a:txBody>
                    <a:bodyPr/>
                    <a:lstStyle/>
                    <a:p>
                      <a:pPr indent="0" lvl="0" marL="0" marR="0" rtl="0" algn="ctr">
                        <a:spcBef>
                          <a:spcPts val="0"/>
                        </a:spcBef>
                        <a:spcAft>
                          <a:spcPts val="0"/>
                        </a:spcAft>
                        <a:buNone/>
                      </a:pPr>
                      <a:r>
                        <a:rPr lang="en-IN" sz="1800"/>
                        <a:t>Weighted after tax cost </a:t>
                      </a:r>
                      <a:endParaRPr/>
                    </a:p>
                    <a:p>
                      <a:pPr indent="0" lvl="0" marL="0" marR="0" rtl="0" algn="ctr">
                        <a:spcBef>
                          <a:spcPts val="0"/>
                        </a:spcBef>
                        <a:spcAft>
                          <a:spcPts val="0"/>
                        </a:spcAft>
                        <a:buNone/>
                      </a:pPr>
                      <a:r>
                        <a:rPr lang="en-IN" sz="1800"/>
                        <a:t>(5) = (3) × (4)</a:t>
                      </a:r>
                      <a:endParaRPr sz="1800"/>
                    </a:p>
                  </a:txBody>
                  <a:tcPr marT="45725" marB="45725" marR="91450" marL="91450"/>
                </a:tc>
              </a:tr>
              <a:tr h="370850">
                <a:tc>
                  <a:txBody>
                    <a:bodyPr/>
                    <a:lstStyle/>
                    <a:p>
                      <a:pPr indent="0" lvl="0" marL="0" marR="0" rtl="0" algn="l">
                        <a:spcBef>
                          <a:spcPts val="0"/>
                        </a:spcBef>
                        <a:spcAft>
                          <a:spcPts val="0"/>
                        </a:spcAft>
                        <a:buNone/>
                      </a:pPr>
                      <a:r>
                        <a:rPr lang="en-IN" sz="2600"/>
                        <a:t>Equity Capital (20 Million Shares, Rs. 50 par)	</a:t>
                      </a:r>
                      <a:endParaRPr sz="2600"/>
                    </a:p>
                  </a:txBody>
                  <a:tcPr marT="45725" marB="45725" marR="91450" marL="91450"/>
                </a:tc>
                <a:tc>
                  <a:txBody>
                    <a:bodyPr/>
                    <a:lstStyle/>
                    <a:p>
                      <a:pPr indent="0" lvl="0" marL="0" marR="0" rtl="0" algn="r">
                        <a:spcBef>
                          <a:spcPts val="0"/>
                        </a:spcBef>
                        <a:spcAft>
                          <a:spcPts val="0"/>
                        </a:spcAft>
                        <a:buNone/>
                      </a:pPr>
                      <a:r>
                        <a:rPr lang="en-IN" sz="2600"/>
                        <a:t>1000.00</a:t>
                      </a:r>
                      <a:endParaRPr sz="2600"/>
                    </a:p>
                  </a:txBody>
                  <a:tcPr marT="45725" marB="45725" marR="91450" marL="91450"/>
                </a:tc>
                <a:tc>
                  <a:txBody>
                    <a:bodyPr/>
                    <a:lstStyle/>
                    <a:p>
                      <a:pPr indent="0" lvl="0" marL="0" marR="0" rtl="0" algn="ctr">
                        <a:spcBef>
                          <a:spcPts val="0"/>
                        </a:spcBef>
                        <a:spcAft>
                          <a:spcPts val="0"/>
                        </a:spcAft>
                        <a:buNone/>
                      </a:pPr>
                      <a:r>
                        <a:rPr lang="en-IN" sz="2600"/>
                        <a:t>0.8127</a:t>
                      </a:r>
                      <a:endParaRPr sz="2600"/>
                    </a:p>
                  </a:txBody>
                  <a:tcPr marT="45725" marB="45725" marR="91450" marL="91450"/>
                </a:tc>
                <a:tc>
                  <a:txBody>
                    <a:bodyPr/>
                    <a:lstStyle/>
                    <a:p>
                      <a:pPr indent="0" lvl="0" marL="0" marR="0" rtl="0" algn="ctr">
                        <a:spcBef>
                          <a:spcPts val="0"/>
                        </a:spcBef>
                        <a:spcAft>
                          <a:spcPts val="0"/>
                        </a:spcAft>
                        <a:buNone/>
                      </a:pPr>
                      <a:r>
                        <a:rPr lang="en-IN" sz="2600"/>
                        <a:t>0.1600</a:t>
                      </a:r>
                      <a:endParaRPr sz="2600"/>
                    </a:p>
                  </a:txBody>
                  <a:tcPr marT="45725" marB="45725" marR="91450" marL="91450"/>
                </a:tc>
                <a:tc>
                  <a:txBody>
                    <a:bodyPr/>
                    <a:lstStyle/>
                    <a:p>
                      <a:pPr indent="0" lvl="0" marL="0" marR="0" rtl="0" algn="ctr">
                        <a:spcBef>
                          <a:spcPts val="0"/>
                        </a:spcBef>
                        <a:spcAft>
                          <a:spcPts val="0"/>
                        </a:spcAft>
                        <a:buNone/>
                      </a:pPr>
                      <a:r>
                        <a:rPr lang="en-IN" sz="2600"/>
                        <a:t>0.1300</a:t>
                      </a:r>
                      <a:endParaRPr sz="2600"/>
                    </a:p>
                  </a:txBody>
                  <a:tcPr marT="45725" marB="45725" marR="91450" marL="91450"/>
                </a:tc>
              </a:tr>
              <a:tr h="370850">
                <a:tc>
                  <a:txBody>
                    <a:bodyPr/>
                    <a:lstStyle/>
                    <a:p>
                      <a:pPr indent="0" lvl="0" marL="0" marR="0" rtl="0" algn="l">
                        <a:spcBef>
                          <a:spcPts val="0"/>
                        </a:spcBef>
                        <a:spcAft>
                          <a:spcPts val="0"/>
                        </a:spcAft>
                        <a:buNone/>
                      </a:pPr>
                      <a:r>
                        <a:rPr lang="en-IN" sz="2600"/>
                        <a:t>12% Preference Capital (5 Lakh Shares, Rs. 85 par)</a:t>
                      </a:r>
                      <a:endParaRPr sz="2600"/>
                    </a:p>
                  </a:txBody>
                  <a:tcPr marT="45725" marB="45725" marR="91450" marL="91450"/>
                </a:tc>
                <a:tc>
                  <a:txBody>
                    <a:bodyPr/>
                    <a:lstStyle/>
                    <a:p>
                      <a:pPr indent="0" lvl="0" marL="0" marR="0" rtl="0" algn="r">
                        <a:spcBef>
                          <a:spcPts val="0"/>
                        </a:spcBef>
                        <a:spcAft>
                          <a:spcPts val="0"/>
                        </a:spcAft>
                        <a:buNone/>
                      </a:pPr>
                      <a:r>
                        <a:rPr lang="en-IN" sz="2600"/>
                        <a:t>42.50</a:t>
                      </a:r>
                      <a:endParaRPr sz="2600"/>
                    </a:p>
                  </a:txBody>
                  <a:tcPr marT="45725" marB="45725" marR="91450" marL="91450"/>
                </a:tc>
                <a:tc>
                  <a:txBody>
                    <a:bodyPr/>
                    <a:lstStyle/>
                    <a:p>
                      <a:pPr indent="0" lvl="0" marL="0" marR="0" rtl="0" algn="ctr">
                        <a:spcBef>
                          <a:spcPts val="0"/>
                        </a:spcBef>
                        <a:spcAft>
                          <a:spcPts val="0"/>
                        </a:spcAft>
                        <a:buNone/>
                      </a:pPr>
                      <a:r>
                        <a:rPr lang="en-IN" sz="2600"/>
                        <a:t>0.0345</a:t>
                      </a:r>
                      <a:endParaRPr sz="2600"/>
                    </a:p>
                  </a:txBody>
                  <a:tcPr marT="45725" marB="45725" marR="91450" marL="91450"/>
                </a:tc>
                <a:tc>
                  <a:txBody>
                    <a:bodyPr/>
                    <a:lstStyle/>
                    <a:p>
                      <a:pPr indent="0" lvl="0" marL="0" marR="0" rtl="0" algn="ctr">
                        <a:spcBef>
                          <a:spcPts val="0"/>
                        </a:spcBef>
                        <a:spcAft>
                          <a:spcPts val="0"/>
                        </a:spcAft>
                        <a:buNone/>
                      </a:pPr>
                      <a:r>
                        <a:rPr lang="en-IN" sz="2600"/>
                        <a:t>0.1459</a:t>
                      </a:r>
                      <a:endParaRPr sz="2600"/>
                    </a:p>
                  </a:txBody>
                  <a:tcPr marT="45725" marB="45725" marR="91450" marL="91450"/>
                </a:tc>
                <a:tc>
                  <a:txBody>
                    <a:bodyPr/>
                    <a:lstStyle/>
                    <a:p>
                      <a:pPr indent="0" lvl="0" marL="0" marR="0" rtl="0" algn="ctr">
                        <a:spcBef>
                          <a:spcPts val="0"/>
                        </a:spcBef>
                        <a:spcAft>
                          <a:spcPts val="0"/>
                        </a:spcAft>
                        <a:buNone/>
                      </a:pPr>
                      <a:r>
                        <a:rPr lang="en-IN" sz="2600"/>
                        <a:t>0.0050</a:t>
                      </a:r>
                      <a:endParaRPr sz="2600"/>
                    </a:p>
                  </a:txBody>
                  <a:tcPr marT="45725" marB="45725" marR="91450" marL="91450"/>
                </a:tc>
              </a:tr>
              <a:tr h="370850">
                <a:tc>
                  <a:txBody>
                    <a:bodyPr/>
                    <a:lstStyle/>
                    <a:p>
                      <a:pPr indent="0" lvl="0" marL="0" marR="0" rtl="0" algn="l">
                        <a:spcBef>
                          <a:spcPts val="0"/>
                        </a:spcBef>
                        <a:spcAft>
                          <a:spcPts val="0"/>
                        </a:spcAft>
                        <a:buClr>
                          <a:schemeClr val="dk1"/>
                        </a:buClr>
                        <a:buSzPts val="2600"/>
                        <a:buFont typeface="Calibri"/>
                        <a:buNone/>
                      </a:pPr>
                      <a:r>
                        <a:rPr lang="en-IN" sz="2600"/>
                        <a:t>14% Debentures </a:t>
                      </a:r>
                      <a:r>
                        <a:rPr lang="en-IN" sz="2600"/>
                        <a:t> </a:t>
                      </a:r>
                      <a:r>
                        <a:rPr lang="en-IN" sz="2600"/>
                        <a:t>(12</a:t>
                      </a:r>
                      <a:r>
                        <a:rPr lang="en-IN" sz="2600"/>
                        <a:t> Lakh</a:t>
                      </a:r>
                      <a:r>
                        <a:rPr lang="en-IN" sz="2600"/>
                        <a:t> Debentures, Rs. 90 par)</a:t>
                      </a:r>
                      <a:endParaRPr sz="2600"/>
                    </a:p>
                  </a:txBody>
                  <a:tcPr marT="45725" marB="45725" marR="91450" marL="91450"/>
                </a:tc>
                <a:tc>
                  <a:txBody>
                    <a:bodyPr/>
                    <a:lstStyle/>
                    <a:p>
                      <a:pPr indent="0" lvl="0" marL="0" marR="0" rtl="0" algn="r">
                        <a:spcBef>
                          <a:spcPts val="0"/>
                        </a:spcBef>
                        <a:spcAft>
                          <a:spcPts val="0"/>
                        </a:spcAft>
                        <a:buNone/>
                      </a:pPr>
                      <a:r>
                        <a:rPr lang="en-IN" sz="2600"/>
                        <a:t>108.00</a:t>
                      </a:r>
                      <a:endParaRPr sz="2600"/>
                    </a:p>
                  </a:txBody>
                  <a:tcPr marT="45725" marB="45725" marR="91450" marL="91450"/>
                </a:tc>
                <a:tc>
                  <a:txBody>
                    <a:bodyPr/>
                    <a:lstStyle/>
                    <a:p>
                      <a:pPr indent="0" lvl="0" marL="0" marR="0" rtl="0" algn="ctr">
                        <a:spcBef>
                          <a:spcPts val="0"/>
                        </a:spcBef>
                        <a:spcAft>
                          <a:spcPts val="0"/>
                        </a:spcAft>
                        <a:buNone/>
                      </a:pPr>
                      <a:r>
                        <a:rPr lang="en-IN" sz="2600"/>
                        <a:t>0.0878</a:t>
                      </a:r>
                      <a:endParaRPr sz="2600"/>
                    </a:p>
                  </a:txBody>
                  <a:tcPr marT="45725" marB="45725" marR="91450" marL="91450"/>
                </a:tc>
                <a:tc>
                  <a:txBody>
                    <a:bodyPr/>
                    <a:lstStyle/>
                    <a:p>
                      <a:pPr indent="0" lvl="0" marL="0" marR="0" rtl="0" algn="ctr">
                        <a:lnSpc>
                          <a:spcPct val="100000"/>
                        </a:lnSpc>
                        <a:spcBef>
                          <a:spcPts val="0"/>
                        </a:spcBef>
                        <a:spcAft>
                          <a:spcPts val="0"/>
                        </a:spcAft>
                        <a:buClr>
                          <a:schemeClr val="dk1"/>
                        </a:buClr>
                        <a:buSzPts val="2600"/>
                        <a:buFont typeface="Calibri"/>
                        <a:buNone/>
                      </a:pPr>
                      <a:r>
                        <a:rPr lang="en-IN" sz="2600"/>
                        <a:t>0.1178</a:t>
                      </a:r>
                      <a:endParaRPr/>
                    </a:p>
                  </a:txBody>
                  <a:tcPr marT="45725" marB="45725" marR="91450" marL="91450"/>
                </a:tc>
                <a:tc>
                  <a:txBody>
                    <a:bodyPr/>
                    <a:lstStyle/>
                    <a:p>
                      <a:pPr indent="0" lvl="0" marL="0" marR="0" rtl="0" algn="ctr">
                        <a:spcBef>
                          <a:spcPts val="0"/>
                        </a:spcBef>
                        <a:spcAft>
                          <a:spcPts val="0"/>
                        </a:spcAft>
                        <a:buNone/>
                      </a:pPr>
                      <a:r>
                        <a:rPr lang="en-IN" sz="2600"/>
                        <a:t>0.0103</a:t>
                      </a:r>
                      <a:endParaRPr sz="2600"/>
                    </a:p>
                  </a:txBody>
                  <a:tcPr marT="45725" marB="45725" marR="91450" marL="91450"/>
                </a:tc>
              </a:tr>
              <a:tr h="370850">
                <a:tc>
                  <a:txBody>
                    <a:bodyPr/>
                    <a:lstStyle/>
                    <a:p>
                      <a:pPr indent="0" lvl="0" marL="0" marR="0" rtl="0" algn="l">
                        <a:spcBef>
                          <a:spcPts val="0"/>
                        </a:spcBef>
                        <a:spcAft>
                          <a:spcPts val="0"/>
                        </a:spcAft>
                        <a:buNone/>
                      </a:pPr>
                      <a:r>
                        <a:rPr lang="en-IN" sz="2600"/>
                        <a:t>13% Term Loans</a:t>
                      </a:r>
                      <a:endParaRPr sz="2600"/>
                    </a:p>
                  </a:txBody>
                  <a:tcPr marT="45725" marB="45725" marR="91450" marL="91450"/>
                </a:tc>
                <a:tc>
                  <a:txBody>
                    <a:bodyPr/>
                    <a:lstStyle/>
                    <a:p>
                      <a:pPr indent="0" lvl="0" marL="0" marR="0" rtl="0" algn="r">
                        <a:spcBef>
                          <a:spcPts val="0"/>
                        </a:spcBef>
                        <a:spcAft>
                          <a:spcPts val="0"/>
                        </a:spcAft>
                        <a:buNone/>
                      </a:pPr>
                      <a:r>
                        <a:rPr lang="en-IN" sz="2600"/>
                        <a:t>80.00</a:t>
                      </a:r>
                      <a:endParaRPr sz="2600"/>
                    </a:p>
                  </a:txBody>
                  <a:tcPr marT="45725" marB="45725" marR="91450" marL="91450"/>
                </a:tc>
                <a:tc>
                  <a:txBody>
                    <a:bodyPr/>
                    <a:lstStyle/>
                    <a:p>
                      <a:pPr indent="0" lvl="0" marL="0" marR="0" rtl="0" algn="ctr">
                        <a:spcBef>
                          <a:spcPts val="0"/>
                        </a:spcBef>
                        <a:spcAft>
                          <a:spcPts val="0"/>
                        </a:spcAft>
                        <a:buNone/>
                      </a:pPr>
                      <a:r>
                        <a:rPr lang="en-IN" sz="2600"/>
                        <a:t>0.0650</a:t>
                      </a:r>
                      <a:endParaRPr sz="2600"/>
                    </a:p>
                  </a:txBody>
                  <a:tcPr marT="45725" marB="45725" marR="91450" marL="91450"/>
                </a:tc>
                <a:tc>
                  <a:txBody>
                    <a:bodyPr/>
                    <a:lstStyle/>
                    <a:p>
                      <a:pPr indent="0" lvl="0" marL="0" marR="0" rtl="0" algn="ctr">
                        <a:spcBef>
                          <a:spcPts val="0"/>
                        </a:spcBef>
                        <a:spcAft>
                          <a:spcPts val="0"/>
                        </a:spcAft>
                        <a:buNone/>
                      </a:pPr>
                      <a:r>
                        <a:rPr lang="en-IN" sz="2600"/>
                        <a:t>0.0910</a:t>
                      </a:r>
                      <a:endParaRPr sz="2600"/>
                    </a:p>
                  </a:txBody>
                  <a:tcPr marT="45725" marB="45725" marR="91450" marL="91450"/>
                </a:tc>
                <a:tc>
                  <a:txBody>
                    <a:bodyPr/>
                    <a:lstStyle/>
                    <a:p>
                      <a:pPr indent="0" lvl="0" marL="0" marR="0" rtl="0" algn="ctr">
                        <a:spcBef>
                          <a:spcPts val="0"/>
                        </a:spcBef>
                        <a:spcAft>
                          <a:spcPts val="0"/>
                        </a:spcAft>
                        <a:buNone/>
                      </a:pPr>
                      <a:r>
                        <a:rPr lang="en-IN" sz="2600"/>
                        <a:t>0.0059</a:t>
                      </a:r>
                      <a:endParaRPr sz="2600"/>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Total</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1230.50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1.0000</a:t>
                      </a:r>
                      <a:endParaRPr b="1" sz="26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600">
                          <a:solidFill>
                            <a:srgbClr val="FF0000"/>
                          </a:solidFill>
                        </a:rPr>
                        <a:t>15.12%</a:t>
                      </a:r>
                      <a:endParaRPr b="1" sz="2600">
                        <a:solidFill>
                          <a:srgbClr val="FF0000"/>
                        </a:solidFill>
                      </a:endParaRPr>
                    </a:p>
                  </a:txBody>
                  <a:tcPr marT="45725" marB="45725" marR="91450" marL="91450"/>
                </a:tc>
              </a:tr>
            </a:tbl>
          </a:graphicData>
        </a:graphic>
      </p:graphicFrame>
      <p:pic>
        <p:nvPicPr>
          <p:cNvPr descr="Image result for sastra logo" id="685" name="Google Shape;685;p106"/>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107"/>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None/>
            </a:pPr>
            <a:r>
              <a:t/>
            </a:r>
            <a:endParaRPr sz="4400">
              <a:solidFill>
                <a:srgbClr val="FF0000"/>
              </a:solidFill>
              <a:latin typeface="Bell MT"/>
              <a:ea typeface="Bell MT"/>
              <a:cs typeface="Bell MT"/>
              <a:sym typeface="Bell MT"/>
            </a:endParaRPr>
          </a:p>
          <a:p>
            <a:pPr indent="0" lvl="0" marL="0" rtl="0" algn="ctr">
              <a:lnSpc>
                <a:spcPct val="90000"/>
              </a:lnSpc>
              <a:spcBef>
                <a:spcPts val="1000"/>
              </a:spcBef>
              <a:spcAft>
                <a:spcPts val="0"/>
              </a:spcAft>
              <a:buClr>
                <a:schemeClr val="dk1"/>
              </a:buClr>
              <a:buSzPts val="4400"/>
              <a:buNone/>
            </a:pPr>
            <a:r>
              <a:t/>
            </a:r>
            <a:endParaRPr sz="4400">
              <a:solidFill>
                <a:srgbClr val="FF0000"/>
              </a:solidFill>
              <a:latin typeface="Bell MT"/>
              <a:ea typeface="Bell MT"/>
              <a:cs typeface="Bell MT"/>
              <a:sym typeface="Bell MT"/>
            </a:endParaRPr>
          </a:p>
          <a:p>
            <a:pPr indent="0" lvl="0" marL="0" rtl="0" algn="ctr">
              <a:lnSpc>
                <a:spcPct val="90000"/>
              </a:lnSpc>
              <a:spcBef>
                <a:spcPts val="1000"/>
              </a:spcBef>
              <a:spcAft>
                <a:spcPts val="0"/>
              </a:spcAft>
              <a:buClr>
                <a:schemeClr val="dk1"/>
              </a:buClr>
              <a:buSzPts val="4400"/>
              <a:buNone/>
            </a:pPr>
            <a:r>
              <a:t/>
            </a:r>
            <a:endParaRPr sz="4400">
              <a:solidFill>
                <a:srgbClr val="FF0000"/>
              </a:solidFill>
              <a:latin typeface="Bell MT"/>
              <a:ea typeface="Bell MT"/>
              <a:cs typeface="Bell MT"/>
              <a:sym typeface="Bell MT"/>
            </a:endParaRPr>
          </a:p>
          <a:p>
            <a:pPr indent="0" lvl="0" marL="0" rtl="0" algn="ctr">
              <a:lnSpc>
                <a:spcPct val="90000"/>
              </a:lnSpc>
              <a:spcBef>
                <a:spcPts val="1000"/>
              </a:spcBef>
              <a:spcAft>
                <a:spcPts val="0"/>
              </a:spcAft>
              <a:buClr>
                <a:srgbClr val="FF0000"/>
              </a:buClr>
              <a:buSzPts val="4400"/>
              <a:buNone/>
            </a:pPr>
            <a:r>
              <a:rPr b="1" lang="en-IN" sz="4400">
                <a:solidFill>
                  <a:srgbClr val="FF0000"/>
                </a:solidFill>
                <a:latin typeface="Bell MT"/>
                <a:ea typeface="Bell MT"/>
                <a:cs typeface="Bell MT"/>
                <a:sym typeface="Bell MT"/>
              </a:rPr>
              <a:t>Thank You</a:t>
            </a:r>
            <a:endParaRPr b="1" sz="4400">
              <a:solidFill>
                <a:srgbClr val="FF0000"/>
              </a:solidFill>
              <a:latin typeface="Bell MT"/>
              <a:ea typeface="Bell MT"/>
              <a:cs typeface="Bell MT"/>
              <a:sym typeface="Bell MT"/>
            </a:endParaRPr>
          </a:p>
        </p:txBody>
      </p:sp>
      <p:pic>
        <p:nvPicPr>
          <p:cNvPr descr="Image result for sastra logo" id="691" name="Google Shape;691;p107"/>
          <p:cNvPicPr preferRelativeResize="0"/>
          <p:nvPr/>
        </p:nvPicPr>
        <p:blipFill rotWithShape="1">
          <a:blip r:embed="rId3">
            <a:alphaModFix/>
          </a:blip>
          <a:srcRect b="0" l="0" r="0" t="0"/>
          <a:stretch/>
        </p:blipFill>
        <p:spPr>
          <a:xfrm>
            <a:off x="9537700" y="348343"/>
            <a:ext cx="1816100" cy="5950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