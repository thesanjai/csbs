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0" r:id="rId2"/>
    <p:sldId id="257" r:id="rId3"/>
    <p:sldId id="261" r:id="rId4"/>
    <p:sldId id="318" r:id="rId5"/>
    <p:sldId id="326" r:id="rId6"/>
    <p:sldId id="323" r:id="rId7"/>
    <p:sldId id="324" r:id="rId8"/>
    <p:sldId id="325" r:id="rId9"/>
    <p:sldId id="262" r:id="rId10"/>
    <p:sldId id="263" r:id="rId11"/>
    <p:sldId id="327" r:id="rId12"/>
    <p:sldId id="272" r:id="rId13"/>
    <p:sldId id="273" r:id="rId14"/>
    <p:sldId id="274" r:id="rId15"/>
    <p:sldId id="308" r:id="rId16"/>
    <p:sldId id="275" r:id="rId17"/>
    <p:sldId id="307" r:id="rId18"/>
    <p:sldId id="277" r:id="rId19"/>
    <p:sldId id="264" r:id="rId20"/>
    <p:sldId id="265" r:id="rId21"/>
    <p:sldId id="266" r:id="rId22"/>
    <p:sldId id="317" r:id="rId23"/>
    <p:sldId id="276" r:id="rId24"/>
    <p:sldId id="309" r:id="rId25"/>
    <p:sldId id="267" r:id="rId26"/>
    <p:sldId id="268" r:id="rId27"/>
    <p:sldId id="310" r:id="rId28"/>
    <p:sldId id="269" r:id="rId29"/>
    <p:sldId id="270" r:id="rId30"/>
    <p:sldId id="311" r:id="rId31"/>
    <p:sldId id="271" r:id="rId32"/>
    <p:sldId id="314" r:id="rId33"/>
    <p:sldId id="315" r:id="rId34"/>
    <p:sldId id="31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70" d="100"/>
          <a:sy n="70" d="100"/>
        </p:scale>
        <p:origin x="66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C838737-60E6-403C-981A-D091F6EF7B72}"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3516C7-7517-4788-9690-D7A29FB6C328}" type="slidenum">
              <a:rPr lang="en-IN" smtClean="0"/>
              <a:t>‹#›</a:t>
            </a:fld>
            <a:endParaRPr lang="en-IN"/>
          </a:p>
        </p:txBody>
      </p:sp>
    </p:spTree>
    <p:extLst>
      <p:ext uri="{BB962C8B-B14F-4D97-AF65-F5344CB8AC3E}">
        <p14:creationId xmlns:p14="http://schemas.microsoft.com/office/powerpoint/2010/main" val="1698676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C838737-60E6-403C-981A-D091F6EF7B72}"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3516C7-7517-4788-9690-D7A29FB6C328}" type="slidenum">
              <a:rPr lang="en-IN" smtClean="0"/>
              <a:t>‹#›</a:t>
            </a:fld>
            <a:endParaRPr lang="en-IN"/>
          </a:p>
        </p:txBody>
      </p:sp>
    </p:spTree>
    <p:extLst>
      <p:ext uri="{BB962C8B-B14F-4D97-AF65-F5344CB8AC3E}">
        <p14:creationId xmlns:p14="http://schemas.microsoft.com/office/powerpoint/2010/main" val="1691351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C838737-60E6-403C-981A-D091F6EF7B72}"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3516C7-7517-4788-9690-D7A29FB6C328}" type="slidenum">
              <a:rPr lang="en-IN" smtClean="0"/>
              <a:t>‹#›</a:t>
            </a:fld>
            <a:endParaRPr lang="en-IN"/>
          </a:p>
        </p:txBody>
      </p:sp>
    </p:spTree>
    <p:extLst>
      <p:ext uri="{BB962C8B-B14F-4D97-AF65-F5344CB8AC3E}">
        <p14:creationId xmlns:p14="http://schemas.microsoft.com/office/powerpoint/2010/main" val="4042160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C838737-60E6-403C-981A-D091F6EF7B72}" type="datetimeFigureOut">
              <a:rPr lang="en-IN" smtClean="0"/>
              <a:t>18-07-2025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3516C7-7517-4788-9690-D7A29FB6C328}" type="slidenum">
              <a:rPr lang="en-IN" smtClean="0"/>
              <a:t>‹#›</a:t>
            </a:fld>
            <a:endParaRPr lang="en-IN"/>
          </a:p>
        </p:txBody>
      </p:sp>
    </p:spTree>
    <p:extLst>
      <p:ext uri="{BB962C8B-B14F-4D97-AF65-F5344CB8AC3E}">
        <p14:creationId xmlns:p14="http://schemas.microsoft.com/office/powerpoint/2010/main" val="2762705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C838737-60E6-403C-981A-D091F6EF7B72}" type="datetimeFigureOut">
              <a:rPr lang="en-IN" smtClean="0"/>
              <a:t>18-07-2025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63516C7-7517-4788-9690-D7A29FB6C328}" type="slidenum">
              <a:rPr lang="en-IN" smtClean="0"/>
              <a:t>‹#›</a:t>
            </a:fld>
            <a:endParaRPr lang="en-IN"/>
          </a:p>
        </p:txBody>
      </p:sp>
    </p:spTree>
    <p:extLst>
      <p:ext uri="{BB962C8B-B14F-4D97-AF65-F5344CB8AC3E}">
        <p14:creationId xmlns:p14="http://schemas.microsoft.com/office/powerpoint/2010/main" val="2613668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C838737-60E6-403C-981A-D091F6EF7B72}" type="datetimeFigureOut">
              <a:rPr lang="en-IN" smtClean="0"/>
              <a:t>18-07-2025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63516C7-7517-4788-9690-D7A29FB6C328}" type="slidenum">
              <a:rPr lang="en-IN" smtClean="0"/>
              <a:t>‹#›</a:t>
            </a:fld>
            <a:endParaRPr lang="en-IN"/>
          </a:p>
        </p:txBody>
      </p:sp>
    </p:spTree>
    <p:extLst>
      <p:ext uri="{BB962C8B-B14F-4D97-AF65-F5344CB8AC3E}">
        <p14:creationId xmlns:p14="http://schemas.microsoft.com/office/powerpoint/2010/main" val="2397471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838737-60E6-403C-981A-D091F6EF7B72}" type="datetimeFigureOut">
              <a:rPr lang="en-IN" smtClean="0"/>
              <a:t>18-07-2025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63516C7-7517-4788-9690-D7A29FB6C328}" type="slidenum">
              <a:rPr lang="en-IN" smtClean="0"/>
              <a:t>‹#›</a:t>
            </a:fld>
            <a:endParaRPr lang="en-IN"/>
          </a:p>
        </p:txBody>
      </p:sp>
    </p:spTree>
    <p:extLst>
      <p:ext uri="{BB962C8B-B14F-4D97-AF65-F5344CB8AC3E}">
        <p14:creationId xmlns:p14="http://schemas.microsoft.com/office/powerpoint/2010/main" val="53650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C838737-60E6-403C-981A-D091F6EF7B72}" type="datetimeFigureOut">
              <a:rPr lang="en-IN" smtClean="0"/>
              <a:t>18-07-2025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3516C7-7517-4788-9690-D7A29FB6C328}" type="slidenum">
              <a:rPr lang="en-IN" smtClean="0"/>
              <a:t>‹#›</a:t>
            </a:fld>
            <a:endParaRPr lang="en-IN"/>
          </a:p>
        </p:txBody>
      </p:sp>
    </p:spTree>
    <p:extLst>
      <p:ext uri="{BB962C8B-B14F-4D97-AF65-F5344CB8AC3E}">
        <p14:creationId xmlns:p14="http://schemas.microsoft.com/office/powerpoint/2010/main" val="2492521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C838737-60E6-403C-981A-D091F6EF7B72}" type="datetimeFigureOut">
              <a:rPr lang="en-IN" smtClean="0"/>
              <a:t>18-07-2025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3516C7-7517-4788-9690-D7A29FB6C328}" type="slidenum">
              <a:rPr lang="en-IN" smtClean="0"/>
              <a:t>‹#›</a:t>
            </a:fld>
            <a:endParaRPr lang="en-IN"/>
          </a:p>
        </p:txBody>
      </p:sp>
    </p:spTree>
    <p:extLst>
      <p:ext uri="{BB962C8B-B14F-4D97-AF65-F5344CB8AC3E}">
        <p14:creationId xmlns:p14="http://schemas.microsoft.com/office/powerpoint/2010/main" val="3828898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C838737-60E6-403C-981A-D091F6EF7B72}"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3516C7-7517-4788-9690-D7A29FB6C328}" type="slidenum">
              <a:rPr lang="en-IN" smtClean="0"/>
              <a:t>‹#›</a:t>
            </a:fld>
            <a:endParaRPr lang="en-IN"/>
          </a:p>
        </p:txBody>
      </p:sp>
    </p:spTree>
    <p:extLst>
      <p:ext uri="{BB962C8B-B14F-4D97-AF65-F5344CB8AC3E}">
        <p14:creationId xmlns:p14="http://schemas.microsoft.com/office/powerpoint/2010/main" val="3514184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C838737-60E6-403C-981A-D091F6EF7B72}"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3516C7-7517-4788-9690-D7A29FB6C328}" type="slidenum">
              <a:rPr lang="en-IN" smtClean="0"/>
              <a:t>‹#›</a:t>
            </a:fld>
            <a:endParaRPr lang="en-IN"/>
          </a:p>
        </p:txBody>
      </p:sp>
    </p:spTree>
    <p:extLst>
      <p:ext uri="{BB962C8B-B14F-4D97-AF65-F5344CB8AC3E}">
        <p14:creationId xmlns:p14="http://schemas.microsoft.com/office/powerpoint/2010/main" val="1410990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838737-60E6-403C-981A-D091F6EF7B72}" type="datetimeFigureOut">
              <a:rPr lang="en-IN" smtClean="0"/>
              <a:t>18-07-2025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3516C7-7517-4788-9690-D7A29FB6C328}" type="slidenum">
              <a:rPr lang="en-IN" smtClean="0"/>
              <a:t>‹#›</a:t>
            </a:fld>
            <a:endParaRPr lang="en-IN"/>
          </a:p>
        </p:txBody>
      </p:sp>
    </p:spTree>
    <p:extLst>
      <p:ext uri="{BB962C8B-B14F-4D97-AF65-F5344CB8AC3E}">
        <p14:creationId xmlns:p14="http://schemas.microsoft.com/office/powerpoint/2010/main" val="159788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891" y="1302327"/>
            <a:ext cx="10515600" cy="1468582"/>
          </a:xfrm>
        </p:spPr>
        <p:txBody>
          <a:bodyPr>
            <a:normAutofit/>
          </a:bodyPr>
          <a:lstStyle/>
          <a:p>
            <a:pPr algn="ctr"/>
            <a:r>
              <a:rPr lang="en-IN" sz="4900" b="1" dirty="0" smtClean="0">
                <a:solidFill>
                  <a:srgbClr val="FF0000"/>
                </a:solidFill>
                <a:latin typeface="Bell MT" panose="02020503060305020303" pitchFamily="18" charset="0"/>
              </a:rPr>
              <a:t>Introduction</a:t>
            </a:r>
            <a:r>
              <a:rPr lang="en-IN" sz="4900" b="1" dirty="0">
                <a:solidFill>
                  <a:srgbClr val="FF0000"/>
                </a:solidFill>
                <a:latin typeface="Bell MT" panose="02020503060305020303" pitchFamily="18" charset="0"/>
              </a:rPr>
              <a:t/>
            </a:r>
            <a:br>
              <a:rPr lang="en-IN" sz="4900" b="1" dirty="0">
                <a:solidFill>
                  <a:srgbClr val="FF0000"/>
                </a:solidFill>
                <a:latin typeface="Bell MT" panose="02020503060305020303" pitchFamily="18" charset="0"/>
              </a:rPr>
            </a:br>
            <a:r>
              <a:rPr lang="en-IN" sz="2000" b="1" dirty="0" smtClean="0">
                <a:solidFill>
                  <a:srgbClr val="FF0000"/>
                </a:solidFill>
                <a:latin typeface="Bell MT" panose="02020503060305020303" pitchFamily="18" charset="0"/>
              </a:rPr>
              <a:t>(Unit-I)</a:t>
            </a:r>
            <a:endParaRPr lang="en-IN" sz="2000" b="1" dirty="0">
              <a:solidFill>
                <a:srgbClr val="FF0000"/>
              </a:solidFill>
              <a:latin typeface="Bell MT" panose="02020503060305020303" pitchFamily="18" charset="0"/>
            </a:endParaRPr>
          </a:p>
        </p:txBody>
      </p:sp>
      <p:sp>
        <p:nvSpPr>
          <p:cNvPr id="4" name="Content Placeholder 2"/>
          <p:cNvSpPr>
            <a:spLocks noGrp="1"/>
          </p:cNvSpPr>
          <p:nvPr>
            <p:ph idx="1"/>
          </p:nvPr>
        </p:nvSpPr>
        <p:spPr>
          <a:xfrm>
            <a:off x="3171372" y="2888342"/>
            <a:ext cx="5763491" cy="2824163"/>
          </a:xfrm>
        </p:spPr>
        <p:txBody>
          <a:bodyPr>
            <a:normAutofit fontScale="92500" lnSpcReduction="10000"/>
          </a:bodyPr>
          <a:lstStyle/>
          <a:p>
            <a:pPr marL="0" indent="0" algn="ctr">
              <a:buNone/>
            </a:pPr>
            <a:endParaRPr lang="en-IN" sz="3600" dirty="0" smtClean="0">
              <a:solidFill>
                <a:schemeClr val="accent5">
                  <a:lumMod val="50000"/>
                </a:schemeClr>
              </a:solidFill>
              <a:latin typeface="Bodoni MT" panose="02070603080606020203" pitchFamily="18" charset="0"/>
              <a:cs typeface="Arial" panose="020B0604020202020204" pitchFamily="34" charset="0"/>
            </a:endParaRPr>
          </a:p>
          <a:p>
            <a:pPr marL="0" indent="0" algn="ctr">
              <a:buNone/>
            </a:pPr>
            <a:r>
              <a:rPr lang="en-IN" sz="3600" b="1" dirty="0" smtClean="0">
                <a:solidFill>
                  <a:schemeClr val="accent5">
                    <a:lumMod val="50000"/>
                  </a:schemeClr>
                </a:solidFill>
                <a:latin typeface="Bodoni MT" panose="02070603080606020203" pitchFamily="18" charset="0"/>
                <a:cs typeface="Arial" panose="020B0604020202020204" pitchFamily="34" charset="0"/>
              </a:rPr>
              <a:t>Dr.M.Velavan</a:t>
            </a:r>
            <a:endParaRPr lang="en-IN" sz="3600" b="1" dirty="0">
              <a:solidFill>
                <a:schemeClr val="accent5">
                  <a:lumMod val="50000"/>
                </a:schemeClr>
              </a:solidFill>
              <a:latin typeface="Bodoni MT" panose="02070603080606020203" pitchFamily="18" charset="0"/>
              <a:cs typeface="Arial" panose="020B0604020202020204" pitchFamily="34" charset="0"/>
            </a:endParaRPr>
          </a:p>
          <a:p>
            <a:pPr marL="0" indent="0" algn="ctr">
              <a:buNone/>
            </a:pPr>
            <a:r>
              <a:rPr lang="en-IN" dirty="0">
                <a:solidFill>
                  <a:schemeClr val="accent5">
                    <a:lumMod val="50000"/>
                  </a:schemeClr>
                </a:solidFill>
                <a:latin typeface="Bodoni MT" panose="02070603080606020203" pitchFamily="18" charset="0"/>
                <a:cs typeface="Arial" panose="020B0604020202020204" pitchFamily="34" charset="0"/>
              </a:rPr>
              <a:t>Faculty</a:t>
            </a:r>
          </a:p>
          <a:p>
            <a:pPr marL="0" indent="0" algn="ctr">
              <a:buNone/>
            </a:pPr>
            <a:r>
              <a:rPr lang="en-IN" dirty="0">
                <a:solidFill>
                  <a:schemeClr val="accent5">
                    <a:lumMod val="50000"/>
                  </a:schemeClr>
                </a:solidFill>
                <a:latin typeface="Bodoni MT" panose="02070603080606020203" pitchFamily="18" charset="0"/>
                <a:cs typeface="Arial" panose="020B0604020202020204" pitchFamily="34" charset="0"/>
              </a:rPr>
              <a:t>School of Management</a:t>
            </a:r>
          </a:p>
          <a:p>
            <a:pPr marL="0" indent="0" algn="ctr">
              <a:buNone/>
            </a:pPr>
            <a:r>
              <a:rPr lang="en-IN" dirty="0">
                <a:solidFill>
                  <a:schemeClr val="accent5">
                    <a:lumMod val="50000"/>
                  </a:schemeClr>
                </a:solidFill>
                <a:latin typeface="Bodoni MT" panose="02070603080606020203" pitchFamily="18" charset="0"/>
                <a:cs typeface="Arial" panose="020B0604020202020204" pitchFamily="34" charset="0"/>
              </a:rPr>
              <a:t>SASTRA Deemed University</a:t>
            </a:r>
          </a:p>
          <a:p>
            <a:pPr marL="0" indent="0" algn="ctr">
              <a:buNone/>
            </a:pPr>
            <a:r>
              <a:rPr lang="en-IN" dirty="0">
                <a:solidFill>
                  <a:schemeClr val="accent5">
                    <a:lumMod val="50000"/>
                  </a:schemeClr>
                </a:solidFill>
                <a:latin typeface="Bodoni MT" panose="02070603080606020203" pitchFamily="18" charset="0"/>
                <a:cs typeface="Arial" panose="020B0604020202020204" pitchFamily="34" charset="0"/>
              </a:rPr>
              <a:t>Thanjavur </a:t>
            </a:r>
            <a:r>
              <a:rPr lang="en-IN" dirty="0" smtClean="0">
                <a:solidFill>
                  <a:schemeClr val="accent5">
                    <a:lumMod val="50000"/>
                  </a:schemeClr>
                </a:solidFill>
                <a:latin typeface="Bodoni MT" panose="02070603080606020203" pitchFamily="18" charset="0"/>
                <a:cs typeface="Arial" panose="020B0604020202020204" pitchFamily="34" charset="0"/>
              </a:rPr>
              <a:t>– 613 401</a:t>
            </a:r>
            <a:endParaRPr lang="en-IN" dirty="0">
              <a:solidFill>
                <a:schemeClr val="accent5">
                  <a:lumMod val="50000"/>
                </a:schemeClr>
              </a:solidFill>
              <a:latin typeface="Bodoni MT" panose="02070603080606020203" pitchFamily="18" charset="0"/>
              <a:cs typeface="Arial" panose="020B0604020202020204" pitchFamily="34" charset="0"/>
            </a:endParaRPr>
          </a:p>
          <a:p>
            <a:endParaRPr lang="en-IN" dirty="0"/>
          </a:p>
        </p:txBody>
      </p:sp>
      <p:pic>
        <p:nvPicPr>
          <p:cNvPr id="5"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2391" y="287916"/>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83704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39092"/>
            <a:ext cx="10515600" cy="5137871"/>
          </a:xfrm>
        </p:spPr>
        <p:txBody>
          <a:bodyPr>
            <a:normAutofit/>
          </a:bodyPr>
          <a:lstStyle/>
          <a:p>
            <a:pPr marL="0" indent="0" algn="just">
              <a:buNone/>
            </a:pPr>
            <a:r>
              <a:rPr lang="en-IN" sz="2600" b="1" dirty="0" smtClean="0">
                <a:solidFill>
                  <a:srgbClr val="FF0000"/>
                </a:solidFill>
              </a:rPr>
              <a:t>1. Introduction:</a:t>
            </a:r>
          </a:p>
          <a:p>
            <a:pPr marL="0" indent="0" algn="just">
              <a:buNone/>
            </a:pPr>
            <a:r>
              <a:rPr lang="en-IN" sz="2600" dirty="0" smtClean="0"/>
              <a:t>Finance is the </a:t>
            </a:r>
            <a:r>
              <a:rPr lang="en-IN" sz="2600" dirty="0" smtClean="0">
                <a:solidFill>
                  <a:srgbClr val="FF0000"/>
                </a:solidFill>
              </a:rPr>
              <a:t>life blood of a business</a:t>
            </a:r>
            <a:r>
              <a:rPr lang="en-IN" sz="2600" dirty="0" smtClean="0"/>
              <a:t>. The Financial Management study about the process of </a:t>
            </a:r>
            <a:r>
              <a:rPr lang="en-IN" sz="2600" dirty="0" smtClean="0">
                <a:solidFill>
                  <a:srgbClr val="FF0000"/>
                </a:solidFill>
              </a:rPr>
              <a:t>procuring and judicious use of financial resources </a:t>
            </a:r>
            <a:r>
              <a:rPr lang="en-IN" sz="2600" dirty="0" smtClean="0"/>
              <a:t>with a </a:t>
            </a:r>
            <a:r>
              <a:rPr lang="en-IN" sz="2600" dirty="0"/>
              <a:t>v</a:t>
            </a:r>
            <a:r>
              <a:rPr lang="en-IN" sz="2600" dirty="0" smtClean="0"/>
              <a:t>iew to </a:t>
            </a:r>
            <a:r>
              <a:rPr lang="en-IN" sz="2600" dirty="0" smtClean="0">
                <a:solidFill>
                  <a:srgbClr val="FF0000"/>
                </a:solidFill>
              </a:rPr>
              <a:t>maximising the value of the firm </a:t>
            </a:r>
            <a:r>
              <a:rPr lang="en-IN" sz="2600" dirty="0" smtClean="0"/>
              <a:t>there by the </a:t>
            </a:r>
            <a:r>
              <a:rPr lang="en-IN" sz="2600" dirty="0" smtClean="0">
                <a:solidFill>
                  <a:srgbClr val="FF0000"/>
                </a:solidFill>
              </a:rPr>
              <a:t>value of the owners (equity shareholders).</a:t>
            </a:r>
          </a:p>
          <a:p>
            <a:pPr marL="0" indent="0" algn="just">
              <a:buNone/>
            </a:pPr>
            <a:r>
              <a:rPr lang="en-IN" sz="2600" dirty="0" smtClean="0"/>
              <a:t>The traditional view of the Financial Management looks in to the following functions, that a finance a manager of a business firm will perform:</a:t>
            </a:r>
          </a:p>
          <a:p>
            <a:pPr algn="just"/>
            <a:r>
              <a:rPr lang="en-IN" sz="2600" dirty="0" smtClean="0">
                <a:solidFill>
                  <a:srgbClr val="FF0000"/>
                </a:solidFill>
              </a:rPr>
              <a:t>Arrangement of short term and long term funds from financial institutions.</a:t>
            </a:r>
          </a:p>
          <a:p>
            <a:pPr algn="just"/>
            <a:r>
              <a:rPr lang="en-IN" sz="2600" dirty="0" smtClean="0">
                <a:solidFill>
                  <a:srgbClr val="FF0000"/>
                </a:solidFill>
              </a:rPr>
              <a:t>Mobilisation of funds through financial instruments.</a:t>
            </a:r>
          </a:p>
          <a:p>
            <a:pPr algn="just"/>
            <a:r>
              <a:rPr lang="en-IN" sz="2600" dirty="0" smtClean="0">
                <a:solidFill>
                  <a:srgbClr val="FF0000"/>
                </a:solidFill>
              </a:rPr>
              <a:t>Orientation of Finance Function with Accounting Function and compliance of legal provisions relating to funds procurement, use and distribution.</a:t>
            </a: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260207"/>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25850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17417"/>
            <a:ext cx="10515600" cy="5133007"/>
          </a:xfrm>
        </p:spPr>
        <p:txBody>
          <a:bodyPr>
            <a:normAutofit/>
          </a:bodyPr>
          <a:lstStyle/>
          <a:p>
            <a:pPr marL="0" indent="0" algn="just">
              <a:buNone/>
            </a:pPr>
            <a:r>
              <a:rPr lang="en-IN" sz="2600" b="1" dirty="0" smtClean="0">
                <a:solidFill>
                  <a:srgbClr val="FF0000"/>
                </a:solidFill>
              </a:rPr>
              <a:t>2. Meaning and definition of Financial </a:t>
            </a:r>
            <a:r>
              <a:rPr lang="en-IN" sz="2600" b="1" dirty="0">
                <a:solidFill>
                  <a:srgbClr val="FF0000"/>
                </a:solidFill>
              </a:rPr>
              <a:t>M</a:t>
            </a:r>
            <a:r>
              <a:rPr lang="en-IN" sz="2600" b="1" dirty="0" smtClean="0">
                <a:solidFill>
                  <a:srgbClr val="FF0000"/>
                </a:solidFill>
              </a:rPr>
              <a:t>anagement: </a:t>
            </a:r>
          </a:p>
          <a:p>
            <a:pPr marL="0" indent="0" algn="just">
              <a:buNone/>
            </a:pPr>
            <a:r>
              <a:rPr lang="en-IN" sz="2600" dirty="0" smtClean="0">
                <a:solidFill>
                  <a:srgbClr val="FF0000"/>
                </a:solidFill>
              </a:rPr>
              <a:t>Meaning:</a:t>
            </a:r>
          </a:p>
          <a:p>
            <a:pPr marL="0" indent="0" algn="just">
              <a:buNone/>
            </a:pPr>
            <a:r>
              <a:rPr lang="en-IN" sz="2600" dirty="0" smtClean="0"/>
              <a:t>Financial management is managerial activity which is concerned with the </a:t>
            </a:r>
            <a:r>
              <a:rPr lang="en-IN" sz="2600" dirty="0" smtClean="0">
                <a:solidFill>
                  <a:srgbClr val="FF0000"/>
                </a:solidFill>
              </a:rPr>
              <a:t>planning and controlling of the firm’s financial resources.</a:t>
            </a:r>
            <a:r>
              <a:rPr lang="en-IN" sz="2600" dirty="0" smtClean="0"/>
              <a:t> </a:t>
            </a:r>
          </a:p>
          <a:p>
            <a:pPr marL="0" indent="0" algn="just">
              <a:buNone/>
            </a:pPr>
            <a:r>
              <a:rPr lang="en-IN" sz="2600" dirty="0" smtClean="0">
                <a:solidFill>
                  <a:srgbClr val="FF0000"/>
                </a:solidFill>
              </a:rPr>
              <a:t>Definitions: </a:t>
            </a:r>
          </a:p>
          <a:p>
            <a:pPr marL="0" indent="0" algn="just">
              <a:buNone/>
            </a:pPr>
            <a:r>
              <a:rPr lang="en-IN" sz="2600" dirty="0" smtClean="0">
                <a:solidFill>
                  <a:srgbClr val="FF0000"/>
                </a:solidFill>
              </a:rPr>
              <a:t>Howard and Uptron</a:t>
            </a:r>
            <a:r>
              <a:rPr lang="en-IN" sz="2600" dirty="0" smtClean="0"/>
              <a:t> define financial management “as an application of general managerial principles to the area of financial decision-making”.</a:t>
            </a:r>
          </a:p>
          <a:p>
            <a:pPr marL="0" indent="0" algn="just">
              <a:buNone/>
            </a:pPr>
            <a:r>
              <a:rPr lang="en-IN" sz="2600" dirty="0" smtClean="0"/>
              <a:t> </a:t>
            </a:r>
            <a:r>
              <a:rPr lang="en-IN" sz="2600" dirty="0" smtClean="0">
                <a:solidFill>
                  <a:srgbClr val="FF0000"/>
                </a:solidFill>
              </a:rPr>
              <a:t>Weston and Brighem </a:t>
            </a:r>
            <a:r>
              <a:rPr lang="en-IN" sz="2600" dirty="0" smtClean="0"/>
              <a:t>define financial management “as an area of financial decision making, harmonizing individual motives and enterprise goal”. </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249382"/>
            <a:ext cx="1816100" cy="56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20625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12952"/>
            <a:ext cx="10515600" cy="5057847"/>
          </a:xfrm>
        </p:spPr>
        <p:txBody>
          <a:bodyPr>
            <a:normAutofit/>
          </a:bodyPr>
          <a:lstStyle/>
          <a:p>
            <a:pPr marL="0" indent="0" algn="just">
              <a:buNone/>
            </a:pPr>
            <a:r>
              <a:rPr lang="en-IN" sz="2600" dirty="0"/>
              <a:t>“Financial management is concerned with the efficient use of an important economic resource, namely capital funds” - </a:t>
            </a:r>
            <a:r>
              <a:rPr lang="en-IN" sz="2600" dirty="0">
                <a:solidFill>
                  <a:srgbClr val="FF0000"/>
                </a:solidFill>
              </a:rPr>
              <a:t>Solomon Ezra &amp; J. John Pringle. </a:t>
            </a:r>
          </a:p>
          <a:p>
            <a:pPr marL="0" indent="0" algn="just">
              <a:buNone/>
            </a:pPr>
            <a:r>
              <a:rPr lang="en-IN" sz="2600" dirty="0"/>
              <a:t>“Financial management is the operational activity of a business that is responsible for obtaining and effectively utilizing the funds necessary for efficient business operations”- </a:t>
            </a:r>
            <a:r>
              <a:rPr lang="en-IN" sz="2600" dirty="0">
                <a:solidFill>
                  <a:srgbClr val="FF0000"/>
                </a:solidFill>
              </a:rPr>
              <a:t>J.L. Massie.</a:t>
            </a:r>
          </a:p>
          <a:p>
            <a:pPr marL="0" indent="0">
              <a:buNone/>
            </a:pPr>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44917"/>
            <a:ext cx="1816100" cy="56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74132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91821"/>
            <a:ext cx="10515600" cy="5085142"/>
          </a:xfrm>
        </p:spPr>
        <p:txBody>
          <a:bodyPr>
            <a:normAutofit/>
          </a:bodyPr>
          <a:lstStyle/>
          <a:p>
            <a:pPr marL="0" indent="0" algn="just">
              <a:buNone/>
            </a:pPr>
            <a:r>
              <a:rPr lang="en-IN" sz="2600" dirty="0"/>
              <a:t>There are </a:t>
            </a:r>
            <a:r>
              <a:rPr lang="en-IN" sz="2600" b="1" dirty="0">
                <a:solidFill>
                  <a:srgbClr val="FF0000"/>
                </a:solidFill>
              </a:rPr>
              <a:t>two basic aspects of financial management viz., procurement of funds </a:t>
            </a:r>
            <a:r>
              <a:rPr lang="en-IN" sz="2600" b="1" dirty="0" smtClean="0">
                <a:solidFill>
                  <a:srgbClr val="FF0000"/>
                </a:solidFill>
              </a:rPr>
              <a:t>and an </a:t>
            </a:r>
            <a:r>
              <a:rPr lang="en-IN" sz="2600" b="1" dirty="0">
                <a:solidFill>
                  <a:srgbClr val="FF0000"/>
                </a:solidFill>
              </a:rPr>
              <a:t>effective use of these funds</a:t>
            </a:r>
            <a:r>
              <a:rPr lang="en-IN" sz="2600" dirty="0"/>
              <a:t> to achieve business </a:t>
            </a:r>
            <a:r>
              <a:rPr lang="en-IN" sz="2600" dirty="0" smtClean="0"/>
              <a:t>objectives:</a:t>
            </a:r>
          </a:p>
          <a:p>
            <a:pPr marL="0" indent="0" algn="just">
              <a:buNone/>
            </a:pPr>
            <a:endParaRPr lang="en-IN" sz="2600" dirty="0"/>
          </a:p>
        </p:txBody>
      </p:sp>
      <p:pic>
        <p:nvPicPr>
          <p:cNvPr id="4" name="Content Placeholder 3"/>
          <p:cNvPicPr>
            <a:picLocks noChangeAspect="1"/>
          </p:cNvPicPr>
          <p:nvPr/>
        </p:nvPicPr>
        <p:blipFill rotWithShape="1">
          <a:blip r:embed="rId2"/>
          <a:srcRect l="25232" t="37047" r="28235" b="34314"/>
          <a:stretch/>
        </p:blipFill>
        <p:spPr>
          <a:xfrm>
            <a:off x="1637732" y="2085371"/>
            <a:ext cx="8802806" cy="28960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6" descr="Image result for sastra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7700" y="344917"/>
            <a:ext cx="1816100" cy="56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45131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78173"/>
            <a:ext cx="10515600" cy="5098790"/>
          </a:xfrm>
        </p:spPr>
        <p:txBody>
          <a:bodyPr>
            <a:normAutofit/>
          </a:bodyPr>
          <a:lstStyle/>
          <a:p>
            <a:pPr marL="0" indent="0">
              <a:buNone/>
            </a:pPr>
            <a:r>
              <a:rPr lang="en-IN" sz="2600" b="1" dirty="0" smtClean="0">
                <a:solidFill>
                  <a:srgbClr val="FF0000"/>
                </a:solidFill>
              </a:rPr>
              <a:t>1. Procurement of Funds:</a:t>
            </a:r>
            <a:endParaRPr lang="en-IN" sz="2600" b="1" dirty="0">
              <a:solidFill>
                <a:srgbClr val="FF0000"/>
              </a:solidFill>
            </a:endParaRPr>
          </a:p>
          <a:p>
            <a:pPr marL="0" indent="0">
              <a:buNone/>
            </a:pPr>
            <a:endParaRPr lang="en-IN" sz="2600" b="1" dirty="0">
              <a:solidFill>
                <a:srgbClr val="FF0000"/>
              </a:solidFill>
            </a:endParaRPr>
          </a:p>
        </p:txBody>
      </p:sp>
      <p:pic>
        <p:nvPicPr>
          <p:cNvPr id="4" name="Picture 3"/>
          <p:cNvPicPr>
            <a:picLocks noChangeAspect="1"/>
          </p:cNvPicPr>
          <p:nvPr/>
        </p:nvPicPr>
        <p:blipFill rotWithShape="1">
          <a:blip r:embed="rId2"/>
          <a:srcRect l="32518" t="35028" r="35804" b="14785"/>
          <a:stretch/>
        </p:blipFill>
        <p:spPr>
          <a:xfrm>
            <a:off x="2970662" y="1542197"/>
            <a:ext cx="6250675" cy="48176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6" descr="Image result for sastra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7700" y="344917"/>
            <a:ext cx="1816100" cy="56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5530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82639"/>
            <a:ext cx="10515600" cy="5194324"/>
          </a:xfrm>
        </p:spPr>
        <p:txBody>
          <a:bodyPr>
            <a:normAutofit/>
          </a:bodyPr>
          <a:lstStyle/>
          <a:p>
            <a:pPr marL="0" indent="0" algn="just">
              <a:buNone/>
            </a:pPr>
            <a:r>
              <a:rPr lang="en-IN" sz="2600" b="1" dirty="0" smtClean="0">
                <a:solidFill>
                  <a:srgbClr val="FF0000"/>
                </a:solidFill>
              </a:rPr>
              <a:t>2. Utilisation of Funds:</a:t>
            </a:r>
          </a:p>
          <a:p>
            <a:pPr marL="514350" indent="-514350" algn="just">
              <a:buAutoNum type="alphaLcParenR"/>
            </a:pPr>
            <a:r>
              <a:rPr lang="en-IN" sz="2600" b="1" dirty="0" smtClean="0">
                <a:solidFill>
                  <a:srgbClr val="FF0000"/>
                </a:solidFill>
              </a:rPr>
              <a:t>Utilization </a:t>
            </a:r>
            <a:r>
              <a:rPr lang="en-IN" sz="2600" b="1" dirty="0">
                <a:solidFill>
                  <a:srgbClr val="FF0000"/>
                </a:solidFill>
              </a:rPr>
              <a:t>for Fixed Assets: </a:t>
            </a:r>
            <a:endParaRPr lang="en-IN" sz="2600" b="1" dirty="0" smtClean="0">
              <a:solidFill>
                <a:srgbClr val="FF0000"/>
              </a:solidFill>
            </a:endParaRPr>
          </a:p>
          <a:p>
            <a:pPr marL="0" indent="0" algn="just">
              <a:buNone/>
            </a:pPr>
            <a:r>
              <a:rPr lang="en-IN" sz="2600" dirty="0" smtClean="0"/>
              <a:t>The </a:t>
            </a:r>
            <a:r>
              <a:rPr lang="en-IN" sz="2600" dirty="0"/>
              <a:t>funds are to be invested in </a:t>
            </a:r>
            <a:r>
              <a:rPr lang="en-IN" sz="2600" dirty="0" smtClean="0"/>
              <a:t>a </a:t>
            </a:r>
            <a:r>
              <a:rPr lang="en-IN" sz="2600" dirty="0"/>
              <a:t>manner so </a:t>
            </a:r>
            <a:r>
              <a:rPr lang="en-IN" sz="2600" dirty="0" smtClean="0"/>
              <a:t>that the </a:t>
            </a:r>
            <a:r>
              <a:rPr lang="en-IN" sz="2600" dirty="0"/>
              <a:t>company can produce at its optimum level without endangering its </a:t>
            </a:r>
            <a:r>
              <a:rPr lang="en-IN" sz="2600" dirty="0" smtClean="0"/>
              <a:t>financial solvency</a:t>
            </a:r>
            <a:r>
              <a:rPr lang="en-IN" sz="2600" dirty="0"/>
              <a:t>. </a:t>
            </a:r>
            <a:r>
              <a:rPr lang="en-IN" sz="2600" b="1" dirty="0">
                <a:solidFill>
                  <a:srgbClr val="FF0000"/>
                </a:solidFill>
              </a:rPr>
              <a:t>For this, the finance manager would be required to possess </a:t>
            </a:r>
            <a:r>
              <a:rPr lang="en-IN" sz="2600" b="1" dirty="0" smtClean="0">
                <a:solidFill>
                  <a:srgbClr val="FF0000"/>
                </a:solidFill>
              </a:rPr>
              <a:t>sound knowledge </a:t>
            </a:r>
            <a:r>
              <a:rPr lang="en-IN" sz="2600" b="1" dirty="0">
                <a:solidFill>
                  <a:srgbClr val="FF0000"/>
                </a:solidFill>
              </a:rPr>
              <a:t>of techniques of capital budgeting.</a:t>
            </a:r>
            <a:r>
              <a:rPr lang="en-IN" sz="2600" dirty="0"/>
              <a:t> Capital budgeting (or </a:t>
            </a:r>
            <a:r>
              <a:rPr lang="en-IN" sz="2600" dirty="0" smtClean="0"/>
              <a:t>investment appraisal</a:t>
            </a:r>
            <a:r>
              <a:rPr lang="en-IN" sz="2600" dirty="0"/>
              <a:t>) is the planning process used to determine whether a firm’s </a:t>
            </a:r>
            <a:r>
              <a:rPr lang="en-IN" sz="2600" dirty="0" smtClean="0"/>
              <a:t>long-term investments </a:t>
            </a:r>
            <a:r>
              <a:rPr lang="en-IN" sz="2600" dirty="0"/>
              <a:t>such as </a:t>
            </a:r>
            <a:r>
              <a:rPr lang="en-IN" sz="2600" b="1" dirty="0">
                <a:solidFill>
                  <a:srgbClr val="FF0000"/>
                </a:solidFill>
              </a:rPr>
              <a:t>new machinery, replacement machinery, new plants, </a:t>
            </a:r>
            <a:r>
              <a:rPr lang="en-IN" sz="2600" b="1" dirty="0" smtClean="0">
                <a:solidFill>
                  <a:srgbClr val="FF0000"/>
                </a:solidFill>
              </a:rPr>
              <a:t>new products</a:t>
            </a:r>
            <a:r>
              <a:rPr lang="en-IN" sz="2600" b="1" dirty="0">
                <a:solidFill>
                  <a:srgbClr val="FF0000"/>
                </a:solidFill>
              </a:rPr>
              <a:t>, and research development projects </a:t>
            </a:r>
            <a:r>
              <a:rPr lang="en-IN" sz="2600" dirty="0"/>
              <a:t>would provide the desired </a:t>
            </a:r>
            <a:r>
              <a:rPr lang="en-IN" sz="2600" dirty="0" smtClean="0"/>
              <a:t>return (profit</a:t>
            </a:r>
            <a:r>
              <a:rPr lang="en-IN" sz="2600" dirty="0"/>
              <a:t>).</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44917"/>
            <a:ext cx="1816100" cy="56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09835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23582"/>
            <a:ext cx="10515600" cy="5153381"/>
          </a:xfrm>
        </p:spPr>
        <p:txBody>
          <a:bodyPr>
            <a:normAutofit/>
          </a:bodyPr>
          <a:lstStyle/>
          <a:p>
            <a:pPr marL="0" indent="0" algn="just">
              <a:buNone/>
            </a:pPr>
            <a:r>
              <a:rPr lang="en-IN" sz="2600" b="1" dirty="0" smtClean="0">
                <a:solidFill>
                  <a:srgbClr val="FF0000"/>
                </a:solidFill>
              </a:rPr>
              <a:t>b) Utilization </a:t>
            </a:r>
            <a:r>
              <a:rPr lang="en-IN" sz="2600" b="1" dirty="0">
                <a:solidFill>
                  <a:srgbClr val="FF0000"/>
                </a:solidFill>
              </a:rPr>
              <a:t>for Working Capital: </a:t>
            </a:r>
            <a:endParaRPr lang="en-IN" sz="2600" b="1" dirty="0" smtClean="0">
              <a:solidFill>
                <a:srgbClr val="FF0000"/>
              </a:solidFill>
            </a:endParaRPr>
          </a:p>
          <a:p>
            <a:pPr marL="0" indent="0" algn="just">
              <a:buNone/>
            </a:pPr>
            <a:r>
              <a:rPr lang="en-IN" sz="2600" dirty="0" smtClean="0"/>
              <a:t>The </a:t>
            </a:r>
            <a:r>
              <a:rPr lang="en-IN" sz="2600" dirty="0"/>
              <a:t>finance manager must also keep in </a:t>
            </a:r>
            <a:r>
              <a:rPr lang="en-IN" sz="2600" dirty="0" smtClean="0"/>
              <a:t>view </a:t>
            </a:r>
            <a:r>
              <a:rPr lang="en-IN" sz="2600" b="1" dirty="0" smtClean="0">
                <a:solidFill>
                  <a:srgbClr val="FF0000"/>
                </a:solidFill>
              </a:rPr>
              <a:t>the </a:t>
            </a:r>
            <a:r>
              <a:rPr lang="en-IN" sz="2600" b="1" dirty="0">
                <a:solidFill>
                  <a:srgbClr val="FF0000"/>
                </a:solidFill>
              </a:rPr>
              <a:t>need for adequate working capital </a:t>
            </a:r>
            <a:r>
              <a:rPr lang="en-IN" sz="2600" dirty="0"/>
              <a:t>and ensure that while the </a:t>
            </a:r>
            <a:r>
              <a:rPr lang="en-IN" sz="2600" b="1" dirty="0">
                <a:solidFill>
                  <a:srgbClr val="FF0000"/>
                </a:solidFill>
              </a:rPr>
              <a:t>firms enjoy </a:t>
            </a:r>
            <a:r>
              <a:rPr lang="en-IN" sz="2600" b="1" dirty="0" smtClean="0">
                <a:solidFill>
                  <a:srgbClr val="FF0000"/>
                </a:solidFill>
              </a:rPr>
              <a:t>an optimum </a:t>
            </a:r>
            <a:r>
              <a:rPr lang="en-IN" sz="2600" b="1" dirty="0">
                <a:solidFill>
                  <a:srgbClr val="FF0000"/>
                </a:solidFill>
              </a:rPr>
              <a:t>level of working capital</a:t>
            </a:r>
            <a:r>
              <a:rPr lang="en-IN" sz="2600" dirty="0"/>
              <a:t> they do not keep too </a:t>
            </a:r>
            <a:r>
              <a:rPr lang="en-IN" sz="2600" dirty="0" smtClean="0"/>
              <a:t>many </a:t>
            </a:r>
            <a:r>
              <a:rPr lang="en-IN" sz="2600" dirty="0"/>
              <a:t>funds blocked </a:t>
            </a:r>
            <a:r>
              <a:rPr lang="en-IN" sz="2600" dirty="0" smtClean="0"/>
              <a:t>in inventories, </a:t>
            </a:r>
            <a:r>
              <a:rPr lang="en-IN" sz="2600" dirty="0"/>
              <a:t>book debts, </a:t>
            </a:r>
            <a:r>
              <a:rPr lang="en-IN" sz="2600" dirty="0" smtClean="0"/>
              <a:t>cash, etc.</a:t>
            </a:r>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44917"/>
            <a:ext cx="1816100" cy="56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46424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48145"/>
            <a:ext cx="10515600" cy="5428818"/>
          </a:xfrm>
        </p:spPr>
        <p:txBody>
          <a:bodyPr>
            <a:normAutofit fontScale="92500" lnSpcReduction="10000"/>
          </a:bodyPr>
          <a:lstStyle/>
          <a:p>
            <a:pPr marL="0" indent="0" algn="just">
              <a:buNone/>
            </a:pPr>
            <a:r>
              <a:rPr lang="en-IN" b="1" dirty="0" smtClean="0">
                <a:solidFill>
                  <a:srgbClr val="FF0000"/>
                </a:solidFill>
              </a:rPr>
              <a:t>3. Scope of financial management: </a:t>
            </a:r>
          </a:p>
          <a:p>
            <a:pPr marL="0" indent="0" algn="just">
              <a:buNone/>
            </a:pPr>
            <a:r>
              <a:rPr lang="en-IN" dirty="0" smtClean="0"/>
              <a:t>Financial Management today covers the entire gamut of activities and functions given below. The head of finance is considered to be importantly of the CEO in most organizations and performs a strategic role. His responsibilities include :</a:t>
            </a:r>
          </a:p>
          <a:p>
            <a:pPr marL="0" indent="0" algn="just">
              <a:buNone/>
            </a:pPr>
            <a:r>
              <a:rPr lang="en-IN" dirty="0" smtClean="0">
                <a:solidFill>
                  <a:srgbClr val="FF0000"/>
                </a:solidFill>
              </a:rPr>
              <a:t>a. Estimating the total requirements of funds for a given period. </a:t>
            </a:r>
          </a:p>
          <a:p>
            <a:pPr marL="0" indent="0" algn="just">
              <a:buNone/>
            </a:pPr>
            <a:r>
              <a:rPr lang="en-IN" dirty="0" smtClean="0">
                <a:solidFill>
                  <a:srgbClr val="FF0000"/>
                </a:solidFill>
              </a:rPr>
              <a:t>b. Raising funds through various sources, both national and international, keeping in mind the cost effectiveness.</a:t>
            </a:r>
          </a:p>
          <a:p>
            <a:pPr marL="0" indent="0" algn="just">
              <a:buNone/>
            </a:pPr>
            <a:r>
              <a:rPr lang="en-IN" dirty="0" smtClean="0">
                <a:solidFill>
                  <a:srgbClr val="FF0000"/>
                </a:solidFill>
              </a:rPr>
              <a:t>c. Investing the funds in both long term as well as short term capital needs. </a:t>
            </a:r>
          </a:p>
          <a:p>
            <a:pPr marL="0" indent="0" algn="just">
              <a:buNone/>
            </a:pPr>
            <a:r>
              <a:rPr lang="en-IN" dirty="0" smtClean="0">
                <a:solidFill>
                  <a:srgbClr val="FF0000"/>
                </a:solidFill>
              </a:rPr>
              <a:t>d. Funding day-to-day working capital requirements of business. </a:t>
            </a:r>
          </a:p>
          <a:p>
            <a:pPr marL="0" indent="0" algn="just">
              <a:buNone/>
            </a:pPr>
            <a:r>
              <a:rPr lang="en-IN" dirty="0" smtClean="0">
                <a:solidFill>
                  <a:srgbClr val="FF0000"/>
                </a:solidFill>
              </a:rPr>
              <a:t>e. Collecting on time from debtors and paying to creditors on time.</a:t>
            </a:r>
          </a:p>
          <a:p>
            <a:pPr marL="0" indent="0" algn="just">
              <a:buNone/>
            </a:pPr>
            <a:r>
              <a:rPr lang="en-IN" dirty="0" smtClean="0">
                <a:solidFill>
                  <a:srgbClr val="FF0000"/>
                </a:solidFill>
              </a:rPr>
              <a:t>f. Managing funds and treasury operations</a:t>
            </a:r>
            <a:r>
              <a:rPr lang="en-IN" dirty="0">
                <a:solidFill>
                  <a:srgbClr val="FF0000"/>
                </a:solidFill>
              </a:rPr>
              <a:t>.</a:t>
            </a:r>
            <a:r>
              <a:rPr lang="en-IN" dirty="0" smtClean="0">
                <a:solidFill>
                  <a:srgbClr val="FF0000"/>
                </a:solidFill>
              </a:rPr>
              <a:t> </a:t>
            </a:r>
          </a:p>
          <a:p>
            <a:pPr marL="0" indent="0" algn="just">
              <a:buNone/>
            </a:pPr>
            <a:r>
              <a:rPr lang="en-IN" dirty="0" smtClean="0">
                <a:solidFill>
                  <a:srgbClr val="FF0000"/>
                </a:solidFill>
              </a:rPr>
              <a:t>g. Ensuring a satisfactory return to all the stake holders.</a:t>
            </a:r>
            <a:endParaRPr lang="en-IN" dirty="0">
              <a:solidFill>
                <a:srgbClr val="FF000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190933"/>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33647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14400"/>
            <a:ext cx="10515600" cy="5262563"/>
          </a:xfrm>
        </p:spPr>
        <p:txBody>
          <a:bodyPr>
            <a:normAutofit/>
          </a:bodyPr>
          <a:lstStyle/>
          <a:p>
            <a:pPr marL="0" indent="0" algn="just">
              <a:buNone/>
            </a:pPr>
            <a:r>
              <a:rPr lang="en-IN" sz="2600" dirty="0" smtClean="0">
                <a:solidFill>
                  <a:srgbClr val="FF0000"/>
                </a:solidFill>
              </a:rPr>
              <a:t>h. Paying interest on borrowings. </a:t>
            </a:r>
          </a:p>
          <a:p>
            <a:pPr marL="0" indent="0" algn="just">
              <a:buNone/>
            </a:pPr>
            <a:r>
              <a:rPr lang="en-IN" sz="2600" dirty="0" err="1" smtClean="0">
                <a:solidFill>
                  <a:srgbClr val="FF0000"/>
                </a:solidFill>
              </a:rPr>
              <a:t>i</a:t>
            </a:r>
            <a:r>
              <a:rPr lang="en-IN" sz="2600" dirty="0" smtClean="0">
                <a:solidFill>
                  <a:srgbClr val="FF0000"/>
                </a:solidFill>
              </a:rPr>
              <a:t>. Repaying lenders on due dates;</a:t>
            </a:r>
          </a:p>
          <a:p>
            <a:pPr marL="0" indent="0" algn="just">
              <a:buNone/>
            </a:pPr>
            <a:r>
              <a:rPr lang="en-IN" sz="2600" dirty="0" smtClean="0">
                <a:solidFill>
                  <a:srgbClr val="FF0000"/>
                </a:solidFill>
              </a:rPr>
              <a:t> j. Maximizing the wealth of the shareholders over the long term; </a:t>
            </a:r>
          </a:p>
          <a:p>
            <a:pPr marL="0" indent="0" algn="just">
              <a:buNone/>
            </a:pPr>
            <a:r>
              <a:rPr lang="en-IN" sz="2600" dirty="0" smtClean="0">
                <a:solidFill>
                  <a:srgbClr val="FF0000"/>
                </a:solidFill>
              </a:rPr>
              <a:t>k. Interfacing with the capital markets. </a:t>
            </a:r>
          </a:p>
          <a:p>
            <a:pPr marL="0" indent="0" algn="just">
              <a:buNone/>
            </a:pPr>
            <a:r>
              <a:rPr lang="en-IN" sz="2600" dirty="0" smtClean="0">
                <a:solidFill>
                  <a:srgbClr val="FF0000"/>
                </a:solidFill>
              </a:rPr>
              <a:t>l. Awareness to all the latest developments in the financial markets. </a:t>
            </a:r>
          </a:p>
          <a:p>
            <a:pPr marL="0" indent="0" algn="just">
              <a:buNone/>
            </a:pPr>
            <a:r>
              <a:rPr lang="en-IN" sz="2600" dirty="0" smtClean="0">
                <a:solidFill>
                  <a:srgbClr val="FF0000"/>
                </a:solidFill>
              </a:rPr>
              <a:t>m. Increasing the firm’s competitive financial strength in the market. </a:t>
            </a:r>
          </a:p>
          <a:p>
            <a:pPr marL="0" indent="0" algn="just">
              <a:buNone/>
            </a:pPr>
            <a:r>
              <a:rPr lang="en-IN" sz="2600" dirty="0" smtClean="0">
                <a:solidFill>
                  <a:srgbClr val="FF0000"/>
                </a:solidFill>
              </a:rPr>
              <a:t>n. Adhering to the requirements of corporate governance.</a:t>
            </a:r>
          </a:p>
          <a:p>
            <a:pPr marL="0" indent="0" algn="just">
              <a:buNone/>
            </a:pPr>
            <a:endParaRPr lang="en-IN" sz="2600" dirty="0">
              <a:solidFill>
                <a:srgbClr val="FF000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57188"/>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09020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l="27271" t="32406" r="26438" b="11658"/>
          <a:stretch/>
        </p:blipFill>
        <p:spPr>
          <a:xfrm>
            <a:off x="2727468" y="1091819"/>
            <a:ext cx="6810232" cy="51997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6" descr="Image result for sastra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7700" y="357188"/>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23915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43266"/>
            <a:ext cx="10515600" cy="5456527"/>
          </a:xfrm>
        </p:spPr>
        <p:txBody>
          <a:bodyPr>
            <a:normAutofit lnSpcReduction="10000"/>
          </a:bodyPr>
          <a:lstStyle/>
          <a:p>
            <a:pPr marL="0" indent="0" algn="just">
              <a:buNone/>
            </a:pPr>
            <a:r>
              <a:rPr lang="en-IN" sz="2600" b="1" dirty="0" smtClean="0">
                <a:solidFill>
                  <a:srgbClr val="FF0000"/>
                </a:solidFill>
              </a:rPr>
              <a:t>4. Functions of FM or Modern Approach to Financial Management:</a:t>
            </a:r>
          </a:p>
          <a:p>
            <a:pPr marL="0" indent="0" algn="just">
              <a:buNone/>
            </a:pPr>
            <a:r>
              <a:rPr lang="en-IN" sz="2600" dirty="0" smtClean="0"/>
              <a:t>In view of the modern approach, the </a:t>
            </a:r>
            <a:r>
              <a:rPr lang="en-IN" sz="2600" dirty="0" smtClean="0">
                <a:solidFill>
                  <a:srgbClr val="FF0000"/>
                </a:solidFill>
              </a:rPr>
              <a:t>Finanace Manager </a:t>
            </a:r>
            <a:r>
              <a:rPr lang="en-IN" sz="2600" dirty="0" smtClean="0"/>
              <a:t>is expected to analyse the firm and to determine the following:</a:t>
            </a:r>
          </a:p>
          <a:p>
            <a:pPr algn="just"/>
            <a:r>
              <a:rPr lang="en-IN" sz="2600" dirty="0" smtClean="0">
                <a:solidFill>
                  <a:srgbClr val="FF0000"/>
                </a:solidFill>
              </a:rPr>
              <a:t>The total funds requirement of the firm.</a:t>
            </a:r>
          </a:p>
          <a:p>
            <a:pPr algn="just"/>
            <a:r>
              <a:rPr lang="en-IN" sz="2600" dirty="0" smtClean="0">
                <a:solidFill>
                  <a:srgbClr val="FF0000"/>
                </a:solidFill>
              </a:rPr>
              <a:t>The assets to be acquired.</a:t>
            </a:r>
          </a:p>
          <a:p>
            <a:pPr algn="just"/>
            <a:r>
              <a:rPr lang="en-IN" sz="2600" dirty="0" smtClean="0">
                <a:solidFill>
                  <a:srgbClr val="FF0000"/>
                </a:solidFill>
              </a:rPr>
              <a:t>The pattern of financing the assets.</a:t>
            </a:r>
          </a:p>
          <a:p>
            <a:pPr marL="0" indent="0" algn="just">
              <a:buNone/>
            </a:pPr>
            <a:r>
              <a:rPr lang="en-IN" sz="2600" dirty="0" smtClean="0"/>
              <a:t>The Financial Manager of a modern business firm will generally involve in the following </a:t>
            </a:r>
            <a:r>
              <a:rPr lang="en-IN" sz="2600" dirty="0" smtClean="0">
                <a:solidFill>
                  <a:srgbClr val="FF0000"/>
                </a:solidFill>
              </a:rPr>
              <a:t>three types of decisions.</a:t>
            </a:r>
          </a:p>
          <a:p>
            <a:pPr marL="514350" indent="-514350" algn="just">
              <a:buFont typeface="+mj-lt"/>
              <a:buAutoNum type="arabicPeriod"/>
            </a:pPr>
            <a:r>
              <a:rPr lang="en-IN" sz="2600" dirty="0" smtClean="0">
                <a:solidFill>
                  <a:srgbClr val="FF0000"/>
                </a:solidFill>
              </a:rPr>
              <a:t>Investment decisions [I]</a:t>
            </a:r>
          </a:p>
          <a:p>
            <a:pPr marL="514350" indent="-514350" algn="just">
              <a:buFont typeface="+mj-lt"/>
              <a:buAutoNum type="arabicPeriod"/>
            </a:pPr>
            <a:r>
              <a:rPr lang="en-IN" sz="2600" dirty="0" smtClean="0">
                <a:solidFill>
                  <a:srgbClr val="FF0000"/>
                </a:solidFill>
              </a:rPr>
              <a:t>Financial decisions [F]</a:t>
            </a:r>
          </a:p>
          <a:p>
            <a:pPr marL="514350" indent="-514350" algn="just">
              <a:buFont typeface="+mj-lt"/>
              <a:buAutoNum type="arabicPeriod"/>
            </a:pPr>
            <a:r>
              <a:rPr lang="en-IN" sz="2600" dirty="0" smtClean="0">
                <a:solidFill>
                  <a:srgbClr val="FF0000"/>
                </a:solidFill>
              </a:rPr>
              <a:t>Dividend decisions [D]</a:t>
            </a:r>
          </a:p>
          <a:p>
            <a:pPr marL="0" indent="0" algn="just">
              <a:buNone/>
            </a:pPr>
            <a:r>
              <a:rPr lang="en-IN" sz="2600" b="1" dirty="0" smtClean="0">
                <a:solidFill>
                  <a:srgbClr val="00B050"/>
                </a:solidFill>
              </a:rPr>
              <a:t>V = f[I,F,D]</a:t>
            </a:r>
            <a:endParaRPr lang="en-IN" sz="2600" b="1" dirty="0">
              <a:solidFill>
                <a:srgbClr val="00B05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163224"/>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56166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26415" t="40509" r="27770" b="24149"/>
          <a:stretch/>
        </p:blipFill>
        <p:spPr>
          <a:xfrm>
            <a:off x="1828800" y="1173708"/>
            <a:ext cx="8447965" cy="44139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6" descr="Image result for sastra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9841" y="390165"/>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58458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3771"/>
            <a:ext cx="10515600" cy="5172892"/>
          </a:xfrm>
        </p:spPr>
        <p:txBody>
          <a:bodyPr>
            <a:normAutofit/>
          </a:bodyPr>
          <a:lstStyle/>
          <a:p>
            <a:pPr marL="0" indent="0" algn="just">
              <a:buNone/>
            </a:pPr>
            <a:r>
              <a:rPr lang="en-IN" sz="2600" b="1" dirty="0">
                <a:solidFill>
                  <a:srgbClr val="FF0000"/>
                </a:solidFill>
              </a:rPr>
              <a:t>1</a:t>
            </a:r>
            <a:r>
              <a:rPr lang="en-IN" sz="2600" b="1" dirty="0" smtClean="0">
                <a:solidFill>
                  <a:srgbClr val="FF0000"/>
                </a:solidFill>
              </a:rPr>
              <a:t>. Investment Decisions:</a:t>
            </a:r>
            <a:endParaRPr lang="en-IN" sz="2600" b="1" dirty="0">
              <a:solidFill>
                <a:srgbClr val="FF0000"/>
              </a:solidFill>
            </a:endParaRPr>
          </a:p>
          <a:p>
            <a:pPr marL="0" indent="0" algn="just">
              <a:buNone/>
            </a:pPr>
            <a:r>
              <a:rPr lang="en-IN" sz="2600" dirty="0" smtClean="0"/>
              <a:t>Investment decisions relate to the </a:t>
            </a:r>
            <a:r>
              <a:rPr lang="en-IN" sz="2600" dirty="0" smtClean="0">
                <a:solidFill>
                  <a:srgbClr val="FF0000"/>
                </a:solidFill>
              </a:rPr>
              <a:t>careful selection of viable and profitable investment proposals, allocation of funds to the investment proposals</a:t>
            </a:r>
            <a:r>
              <a:rPr lang="en-IN" sz="2600" dirty="0" smtClean="0"/>
              <a:t> with view to obtain net present value of the future earnings of the company and to maximize its value. The investment decisions of a Finance Manger cover the following areas:</a:t>
            </a:r>
          </a:p>
          <a:p>
            <a:pPr algn="just"/>
            <a:r>
              <a:rPr lang="en-IN" sz="2600" dirty="0" smtClean="0">
                <a:solidFill>
                  <a:srgbClr val="FF0000"/>
                </a:solidFill>
              </a:rPr>
              <a:t>Ascertainment of total volume of funds, a firm can commit.</a:t>
            </a:r>
          </a:p>
          <a:p>
            <a:pPr algn="just"/>
            <a:r>
              <a:rPr lang="en-IN" sz="2600" dirty="0" smtClean="0">
                <a:solidFill>
                  <a:srgbClr val="FF0000"/>
                </a:solidFill>
              </a:rPr>
              <a:t>Appraisal and selection of capital investment proposals.</a:t>
            </a:r>
          </a:p>
          <a:p>
            <a:pPr algn="just"/>
            <a:r>
              <a:rPr lang="en-IN" sz="2600" dirty="0" smtClean="0">
                <a:solidFill>
                  <a:srgbClr val="FF0000"/>
                </a:solidFill>
              </a:rPr>
              <a:t>Measurement of risk and uncertainty in the investment proposals.</a:t>
            </a:r>
          </a:p>
          <a:p>
            <a:pPr algn="just"/>
            <a:r>
              <a:rPr lang="en-IN" sz="2600" dirty="0" smtClean="0">
                <a:solidFill>
                  <a:srgbClr val="FF0000"/>
                </a:solidFill>
              </a:rPr>
              <a:t>Prioritisation of investment decisions.</a:t>
            </a:r>
          </a:p>
          <a:p>
            <a:pPr algn="just"/>
            <a:r>
              <a:rPr lang="en-IN" sz="2600" dirty="0" smtClean="0">
                <a:solidFill>
                  <a:srgbClr val="FF0000"/>
                </a:solidFill>
              </a:rPr>
              <a:t>Fund allocation and its rationing.</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102322"/>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66519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5094" y="940526"/>
            <a:ext cx="10515600" cy="4106884"/>
          </a:xfrm>
        </p:spPr>
        <p:txBody>
          <a:bodyPr>
            <a:normAutofit/>
          </a:bodyPr>
          <a:lstStyle/>
          <a:p>
            <a:pPr algn="just"/>
            <a:r>
              <a:rPr lang="en-IN" sz="2600" dirty="0">
                <a:solidFill>
                  <a:srgbClr val="FF0000"/>
                </a:solidFill>
              </a:rPr>
              <a:t>Determination of fixed assets to be required.</a:t>
            </a:r>
          </a:p>
          <a:p>
            <a:pPr algn="just"/>
            <a:r>
              <a:rPr lang="en-IN" sz="2600" dirty="0">
                <a:solidFill>
                  <a:srgbClr val="FF0000"/>
                </a:solidFill>
              </a:rPr>
              <a:t>Determination of level of investment in current assets.</a:t>
            </a:r>
          </a:p>
          <a:p>
            <a:pPr algn="just"/>
            <a:r>
              <a:rPr lang="en-IN" sz="2600" dirty="0">
                <a:solidFill>
                  <a:srgbClr val="FF0000"/>
                </a:solidFill>
              </a:rPr>
              <a:t>Buy or lease decision.</a:t>
            </a:r>
          </a:p>
          <a:p>
            <a:pPr algn="just"/>
            <a:r>
              <a:rPr lang="en-IN" sz="2600" dirty="0">
                <a:solidFill>
                  <a:srgbClr val="FF0000"/>
                </a:solidFill>
              </a:rPr>
              <a:t>Assets replacement decisions.</a:t>
            </a:r>
          </a:p>
          <a:p>
            <a:pPr algn="just"/>
            <a:r>
              <a:rPr lang="en-IN" sz="2600" dirty="0">
                <a:solidFill>
                  <a:srgbClr val="FF0000"/>
                </a:solidFill>
              </a:rPr>
              <a:t>Restructuring, reorganisation, merger and acquisition.</a:t>
            </a:r>
          </a:p>
          <a:p>
            <a:pPr algn="just"/>
            <a:r>
              <a:rPr lang="en-IN" sz="2600" dirty="0">
                <a:solidFill>
                  <a:srgbClr val="FF0000"/>
                </a:solidFill>
              </a:rPr>
              <a:t>Securities analysis and portfolio management.</a:t>
            </a:r>
          </a:p>
          <a:p>
            <a:pPr marL="0" indent="0">
              <a:buNone/>
            </a:pPr>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4594" y="290760"/>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02125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8097"/>
            <a:ext cx="10515600" cy="5117937"/>
          </a:xfrm>
        </p:spPr>
        <p:txBody>
          <a:bodyPr>
            <a:normAutofit/>
          </a:bodyPr>
          <a:lstStyle/>
          <a:p>
            <a:pPr marL="0" indent="0" algn="just">
              <a:buNone/>
            </a:pPr>
            <a:r>
              <a:rPr lang="en-IN" sz="2600" b="1" dirty="0">
                <a:solidFill>
                  <a:srgbClr val="FF0000"/>
                </a:solidFill>
              </a:rPr>
              <a:t>2</a:t>
            </a:r>
            <a:r>
              <a:rPr lang="en-IN" sz="2600" b="1" dirty="0" smtClean="0">
                <a:solidFill>
                  <a:srgbClr val="FF0000"/>
                </a:solidFill>
              </a:rPr>
              <a:t>. Financing decisions:</a:t>
            </a:r>
          </a:p>
          <a:p>
            <a:pPr marL="0" indent="0" algn="just">
              <a:buNone/>
            </a:pPr>
            <a:r>
              <a:rPr lang="en-IN" sz="2600" dirty="0" smtClean="0"/>
              <a:t>It is one of the important functions of a Finance Manger is procurement of funds for the firm’s investment proposals and its working capital requirements. The finance Manager involve in following finance decisions:</a:t>
            </a:r>
          </a:p>
          <a:p>
            <a:pPr algn="just"/>
            <a:r>
              <a:rPr lang="en-IN" sz="2600" dirty="0" smtClean="0">
                <a:solidFill>
                  <a:srgbClr val="FF0000"/>
                </a:solidFill>
              </a:rPr>
              <a:t>Determination of degree or level of gearing.</a:t>
            </a:r>
          </a:p>
          <a:p>
            <a:pPr algn="just"/>
            <a:r>
              <a:rPr lang="en-IN" sz="2600" dirty="0" smtClean="0">
                <a:solidFill>
                  <a:srgbClr val="FF0000"/>
                </a:solidFill>
              </a:rPr>
              <a:t>Determination of financing pattern of long-term funds requirements.</a:t>
            </a:r>
          </a:p>
          <a:p>
            <a:pPr algn="just"/>
            <a:r>
              <a:rPr lang="en-IN" sz="2600" dirty="0" smtClean="0">
                <a:solidFill>
                  <a:srgbClr val="FF0000"/>
                </a:solidFill>
              </a:rPr>
              <a:t>Determination of financing pattern of medium and short-term funds requirements.</a:t>
            </a:r>
          </a:p>
          <a:p>
            <a:pPr algn="just"/>
            <a:r>
              <a:rPr lang="en-IN" sz="2600" dirty="0" smtClean="0">
                <a:solidFill>
                  <a:srgbClr val="FF0000"/>
                </a:solidFill>
              </a:rPr>
              <a:t>Raising of funds through issue of financial instruments.</a:t>
            </a:r>
          </a:p>
          <a:p>
            <a:pPr algn="just"/>
            <a:r>
              <a:rPr lang="en-IN" sz="2600" dirty="0" smtClean="0">
                <a:solidFill>
                  <a:srgbClr val="FF0000"/>
                </a:solidFill>
              </a:rPr>
              <a:t>Arrangements of funds </a:t>
            </a:r>
            <a:r>
              <a:rPr lang="en-IN" sz="2600" dirty="0">
                <a:solidFill>
                  <a:srgbClr val="FF0000"/>
                </a:solidFill>
              </a:rPr>
              <a:t>f</a:t>
            </a:r>
            <a:r>
              <a:rPr lang="en-IN" sz="2600" dirty="0" smtClean="0">
                <a:solidFill>
                  <a:srgbClr val="FF0000"/>
                </a:solidFill>
              </a:rPr>
              <a:t>rom banks and financial institutions for long-term requirements.</a:t>
            </a:r>
          </a:p>
          <a:p>
            <a:pPr marL="0" indent="0" algn="just">
              <a:buNone/>
            </a:pPr>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150885"/>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113950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74059"/>
            <a:ext cx="10515600" cy="3966882"/>
          </a:xfrm>
        </p:spPr>
        <p:txBody>
          <a:bodyPr>
            <a:normAutofit/>
          </a:bodyPr>
          <a:lstStyle/>
          <a:p>
            <a:pPr algn="just"/>
            <a:r>
              <a:rPr lang="en-IN" sz="2600" dirty="0">
                <a:solidFill>
                  <a:srgbClr val="FF0000"/>
                </a:solidFill>
              </a:rPr>
              <a:t>Arrangements of funds for working capital requirements.</a:t>
            </a:r>
          </a:p>
          <a:p>
            <a:pPr algn="just"/>
            <a:r>
              <a:rPr lang="en-IN" sz="2600" dirty="0">
                <a:solidFill>
                  <a:srgbClr val="FF0000"/>
                </a:solidFill>
              </a:rPr>
              <a:t>Consideration of interest burden on the firm.</a:t>
            </a:r>
          </a:p>
          <a:p>
            <a:pPr algn="just"/>
            <a:r>
              <a:rPr lang="en-IN" sz="2600" dirty="0">
                <a:solidFill>
                  <a:srgbClr val="FF0000"/>
                </a:solidFill>
              </a:rPr>
              <a:t>Consideration of debt level changes</a:t>
            </a:r>
          </a:p>
          <a:p>
            <a:pPr algn="just"/>
            <a:r>
              <a:rPr lang="en-IN" sz="2600" dirty="0">
                <a:solidFill>
                  <a:srgbClr val="FF0000"/>
                </a:solidFill>
              </a:rPr>
              <a:t>Taking advantages of interest and depreciation</a:t>
            </a:r>
          </a:p>
          <a:p>
            <a:pPr algn="just"/>
            <a:r>
              <a:rPr lang="en-IN" sz="2600" dirty="0">
                <a:solidFill>
                  <a:srgbClr val="FF0000"/>
                </a:solidFill>
              </a:rPr>
              <a:t>Portfolio Management.</a:t>
            </a:r>
          </a:p>
          <a:p>
            <a:pPr algn="just"/>
            <a:r>
              <a:rPr lang="en-IN" sz="2600" dirty="0">
                <a:solidFill>
                  <a:srgbClr val="FF0000"/>
                </a:solidFill>
              </a:rPr>
              <a:t>Maintenance of balance between owners capital and outside capital</a:t>
            </a:r>
          </a:p>
          <a:p>
            <a:pPr marL="0" indent="0" algn="just">
              <a:buNone/>
            </a:pPr>
            <a:endParaRPr lang="en-IN" sz="2600" dirty="0">
              <a:solidFill>
                <a:srgbClr val="FF0000"/>
              </a:solidFill>
            </a:endParaRPr>
          </a:p>
          <a:p>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16847"/>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995304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73389"/>
            <a:ext cx="10515600" cy="5503574"/>
          </a:xfrm>
        </p:spPr>
        <p:txBody>
          <a:bodyPr>
            <a:normAutofit fontScale="92500" lnSpcReduction="10000"/>
          </a:bodyPr>
          <a:lstStyle/>
          <a:p>
            <a:pPr marL="0" indent="0" algn="just">
              <a:buNone/>
            </a:pPr>
            <a:r>
              <a:rPr lang="en-IN" b="1" dirty="0" smtClean="0">
                <a:solidFill>
                  <a:srgbClr val="FF0000"/>
                </a:solidFill>
              </a:rPr>
              <a:t>3. Dividend Decisions:</a:t>
            </a:r>
          </a:p>
          <a:p>
            <a:pPr marL="0" indent="0" algn="just">
              <a:buNone/>
            </a:pPr>
            <a:r>
              <a:rPr lang="en-IN" dirty="0" smtClean="0"/>
              <a:t>The dividend decisions of a Finance Manager is mainly concerned with the </a:t>
            </a:r>
            <a:r>
              <a:rPr lang="en-IN" dirty="0" smtClean="0">
                <a:solidFill>
                  <a:srgbClr val="FF0000"/>
                </a:solidFill>
              </a:rPr>
              <a:t>decision relating to the distribution of earnings of the firm among its equity shareholders and the amount to be retained by the Firm.</a:t>
            </a:r>
            <a:r>
              <a:rPr lang="en-IN" dirty="0" smtClean="0"/>
              <a:t> </a:t>
            </a:r>
          </a:p>
          <a:p>
            <a:pPr marL="0" indent="0" algn="just">
              <a:buNone/>
            </a:pPr>
            <a:r>
              <a:rPr lang="en-IN" dirty="0" smtClean="0"/>
              <a:t>The Finance Manager will involve in taking the following dividend decisions:</a:t>
            </a:r>
          </a:p>
          <a:p>
            <a:pPr algn="just"/>
            <a:r>
              <a:rPr lang="en-IN" dirty="0" smtClean="0">
                <a:solidFill>
                  <a:srgbClr val="FF0000"/>
                </a:solidFill>
              </a:rPr>
              <a:t>Determination of dividend and retention policy of the firm.</a:t>
            </a:r>
          </a:p>
          <a:p>
            <a:pPr algn="just"/>
            <a:r>
              <a:rPr lang="en-IN" dirty="0" smtClean="0">
                <a:solidFill>
                  <a:srgbClr val="FF0000"/>
                </a:solidFill>
              </a:rPr>
              <a:t>Consideration of impact of level dividend and retention of earnings on the market value of the share and the future earnings of the Company.</a:t>
            </a:r>
          </a:p>
          <a:p>
            <a:pPr algn="just"/>
            <a:r>
              <a:rPr lang="en-IN" dirty="0" smtClean="0">
                <a:solidFill>
                  <a:srgbClr val="FF0000"/>
                </a:solidFill>
              </a:rPr>
              <a:t>Consideration of possible requirements of funds by the firm for expansion and diversification proposals for financing existing business requirements.</a:t>
            </a:r>
          </a:p>
          <a:p>
            <a:pPr algn="just"/>
            <a:r>
              <a:rPr lang="en-IN" dirty="0" smtClean="0">
                <a:solidFill>
                  <a:srgbClr val="FF0000"/>
                </a:solidFill>
              </a:rPr>
              <a:t>Reconsideration of distribution and retentions policies in boom and recession period.</a:t>
            </a:r>
          </a:p>
          <a:p>
            <a:pPr algn="just"/>
            <a:r>
              <a:rPr lang="en-IN" dirty="0" smtClean="0">
                <a:solidFill>
                  <a:srgbClr val="FF0000"/>
                </a:solidFill>
              </a:rPr>
              <a:t>Consideration of impact of legal and cash flow constraints on dividend decisions.</a:t>
            </a:r>
          </a:p>
          <a:p>
            <a:pPr marL="0" indent="0" algn="just">
              <a:buNone/>
            </a:pPr>
            <a:endParaRPr lang="en-IN" dirty="0" smtClean="0"/>
          </a:p>
          <a:p>
            <a:pPr marL="0" indent="0" algn="just">
              <a:buNone/>
            </a:pPr>
            <a:endParaRPr lang="en-IN"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116177"/>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22066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3771"/>
            <a:ext cx="10515600" cy="5644738"/>
          </a:xfrm>
        </p:spPr>
        <p:txBody>
          <a:bodyPr>
            <a:normAutofit/>
          </a:bodyPr>
          <a:lstStyle/>
          <a:p>
            <a:pPr marL="0" indent="0" algn="just">
              <a:buNone/>
            </a:pPr>
            <a:r>
              <a:rPr lang="en-IN" sz="2600" b="1" dirty="0" smtClean="0">
                <a:solidFill>
                  <a:srgbClr val="FF0000"/>
                </a:solidFill>
              </a:rPr>
              <a:t>5. Objectives of financial management: </a:t>
            </a:r>
          </a:p>
          <a:p>
            <a:pPr marL="0" indent="0" algn="just">
              <a:buNone/>
            </a:pPr>
            <a:r>
              <a:rPr lang="en-IN" sz="2600" b="1" dirty="0" smtClean="0">
                <a:solidFill>
                  <a:srgbClr val="00B050"/>
                </a:solidFill>
              </a:rPr>
              <a:t>Effective</a:t>
            </a:r>
            <a:r>
              <a:rPr lang="en-IN" sz="2600" dirty="0" smtClean="0"/>
              <a:t> </a:t>
            </a:r>
            <a:r>
              <a:rPr lang="en-IN" sz="2600" b="1" dirty="0" smtClean="0">
                <a:solidFill>
                  <a:srgbClr val="00B050"/>
                </a:solidFill>
              </a:rPr>
              <a:t>procurement and efficient use of finance</a:t>
            </a:r>
            <a:r>
              <a:rPr lang="en-IN" sz="2600" dirty="0" smtClean="0"/>
              <a:t> lead to proper utilization of the finance by the business concern. </a:t>
            </a:r>
            <a:r>
              <a:rPr lang="en-IN" sz="2600" dirty="0" smtClean="0">
                <a:solidFill>
                  <a:srgbClr val="FF0000"/>
                </a:solidFill>
              </a:rPr>
              <a:t>It is the essential part of the financial manager.</a:t>
            </a:r>
            <a:r>
              <a:rPr lang="en-IN" sz="2600" dirty="0" smtClean="0"/>
              <a:t> Hence, the financial manager must determine the basic objectives of the financial management. </a:t>
            </a:r>
          </a:p>
          <a:p>
            <a:pPr marL="0" indent="0" algn="just">
              <a:buNone/>
            </a:pPr>
            <a:r>
              <a:rPr lang="en-IN" sz="2600" dirty="0" smtClean="0"/>
              <a:t>Objectives of Financial Management may be broadly divided into two parts such as: </a:t>
            </a:r>
          </a:p>
          <a:p>
            <a:pPr algn="just"/>
            <a:r>
              <a:rPr lang="en-IN" sz="2600" dirty="0" smtClean="0">
                <a:solidFill>
                  <a:srgbClr val="FF0000"/>
                </a:solidFill>
              </a:rPr>
              <a:t>Profit maximization </a:t>
            </a:r>
          </a:p>
          <a:p>
            <a:pPr algn="just"/>
            <a:r>
              <a:rPr lang="en-IN" sz="2600" dirty="0" smtClean="0">
                <a:solidFill>
                  <a:srgbClr val="FF0000"/>
                </a:solidFill>
              </a:rPr>
              <a:t>Wealth maximization.</a:t>
            </a:r>
            <a:endParaRPr lang="en-IN" sz="2600" dirty="0">
              <a:solidFill>
                <a:srgbClr val="FF0000"/>
              </a:solidFill>
            </a:endParaRPr>
          </a:p>
        </p:txBody>
      </p:sp>
      <p:pic>
        <p:nvPicPr>
          <p:cNvPr id="4" name="Picture 3"/>
          <p:cNvPicPr>
            <a:picLocks noChangeAspect="1"/>
          </p:cNvPicPr>
          <p:nvPr/>
        </p:nvPicPr>
        <p:blipFill rotWithShape="1">
          <a:blip r:embed="rId2"/>
          <a:srcRect l="41907" t="28981" r="41755" b="51311"/>
          <a:stretch/>
        </p:blipFill>
        <p:spPr>
          <a:xfrm>
            <a:off x="4100946" y="3560618"/>
            <a:ext cx="4308764" cy="2867891"/>
          </a:xfrm>
          <a:prstGeom prst="rect">
            <a:avLst/>
          </a:prstGeom>
        </p:spPr>
      </p:pic>
      <p:pic>
        <p:nvPicPr>
          <p:cNvPr id="6" name="Picture 6" descr="Image result for sastra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37700" y="116177"/>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52226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73389"/>
            <a:ext cx="10515600" cy="5685846"/>
          </a:xfrm>
        </p:spPr>
        <p:txBody>
          <a:bodyPr>
            <a:normAutofit fontScale="92500" lnSpcReduction="10000"/>
          </a:bodyPr>
          <a:lstStyle/>
          <a:p>
            <a:pPr marL="0" indent="0" algn="just">
              <a:buNone/>
            </a:pPr>
            <a:r>
              <a:rPr lang="en-IN" b="1" dirty="0" smtClean="0">
                <a:solidFill>
                  <a:srgbClr val="FF0000"/>
                </a:solidFill>
              </a:rPr>
              <a:t>a) Profit Maximization:</a:t>
            </a:r>
          </a:p>
          <a:p>
            <a:pPr marL="0" indent="0" algn="just">
              <a:buNone/>
            </a:pPr>
            <a:r>
              <a:rPr lang="en-IN" dirty="0" smtClean="0"/>
              <a:t>Main aim of any kind of economic activity is </a:t>
            </a:r>
            <a:r>
              <a:rPr lang="en-IN" b="1" dirty="0" smtClean="0">
                <a:solidFill>
                  <a:srgbClr val="00B050"/>
                </a:solidFill>
              </a:rPr>
              <a:t>earning profit</a:t>
            </a:r>
            <a:r>
              <a:rPr lang="en-IN" dirty="0" smtClean="0"/>
              <a:t>. A business concern is also functioning mainly for the purpose of earning profit. </a:t>
            </a:r>
            <a:r>
              <a:rPr lang="en-IN" b="1" dirty="0" smtClean="0">
                <a:solidFill>
                  <a:srgbClr val="00B050"/>
                </a:solidFill>
              </a:rPr>
              <a:t>Profit is the measuring techniques to understand the business efficiency </a:t>
            </a:r>
            <a:r>
              <a:rPr lang="en-IN" dirty="0" smtClean="0"/>
              <a:t>of the concern. </a:t>
            </a:r>
          </a:p>
          <a:p>
            <a:pPr marL="0" indent="0" algn="just">
              <a:buNone/>
            </a:pPr>
            <a:r>
              <a:rPr lang="en-IN" dirty="0" smtClean="0"/>
              <a:t>Profit maximization is also the traditional and narrow approach, which aims at, maximizes the profit of the concern. Profit maximization consists of the following important features. </a:t>
            </a:r>
          </a:p>
          <a:p>
            <a:pPr marL="0" indent="0" algn="just">
              <a:buNone/>
            </a:pPr>
            <a:r>
              <a:rPr lang="en-IN" dirty="0" smtClean="0">
                <a:solidFill>
                  <a:srgbClr val="FF0000"/>
                </a:solidFill>
              </a:rPr>
              <a:t>1. Profit maximization is also called as cashing per share maximization. It leads to maximize the business operation for profit maximization. </a:t>
            </a:r>
          </a:p>
          <a:p>
            <a:pPr marL="0" indent="0" algn="just">
              <a:buNone/>
            </a:pPr>
            <a:r>
              <a:rPr lang="en-IN" dirty="0" smtClean="0">
                <a:solidFill>
                  <a:srgbClr val="FF0000"/>
                </a:solidFill>
              </a:rPr>
              <a:t>2. Ultimate aim of the business concern is earning profit, hence, it considers all the possible ways to increase the profitability of the concern. </a:t>
            </a:r>
          </a:p>
          <a:p>
            <a:pPr marL="0" indent="0" algn="just">
              <a:buNone/>
            </a:pPr>
            <a:r>
              <a:rPr lang="en-IN" dirty="0" smtClean="0">
                <a:solidFill>
                  <a:srgbClr val="FF0000"/>
                </a:solidFill>
              </a:rPr>
              <a:t>3.Profit is the parameter of measuring the efficiency of the business concern. So it shows the entire position of the business concern. </a:t>
            </a:r>
          </a:p>
          <a:p>
            <a:pPr marL="0" indent="0" algn="just">
              <a:buNone/>
            </a:pPr>
            <a:r>
              <a:rPr lang="en-IN" dirty="0" smtClean="0">
                <a:solidFill>
                  <a:srgbClr val="FF0000"/>
                </a:solidFill>
              </a:rPr>
              <a:t>4. Profit maximization objectives help to reduce the risk of the business.</a:t>
            </a:r>
            <a:endParaRPr lang="en-IN" dirty="0">
              <a:solidFill>
                <a:srgbClr val="FF000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116177"/>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00332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9709"/>
            <a:ext cx="10515600" cy="5387254"/>
          </a:xfrm>
        </p:spPr>
        <p:txBody>
          <a:bodyPr>
            <a:normAutofit/>
          </a:bodyPr>
          <a:lstStyle/>
          <a:p>
            <a:pPr marL="0" indent="0" algn="just">
              <a:buNone/>
            </a:pPr>
            <a:r>
              <a:rPr lang="en-IN" sz="2600" b="1" dirty="0" smtClean="0">
                <a:solidFill>
                  <a:srgbClr val="FF0000"/>
                </a:solidFill>
              </a:rPr>
              <a:t>b) Wealth Maximization:</a:t>
            </a:r>
          </a:p>
          <a:p>
            <a:pPr marL="0" indent="0" algn="just">
              <a:buNone/>
            </a:pPr>
            <a:r>
              <a:rPr lang="en-IN" sz="2600" dirty="0" smtClean="0"/>
              <a:t>Wealth maximization is one of the modern approaches, which involves latest innovations and improvements in the field of the business concern. </a:t>
            </a:r>
            <a:r>
              <a:rPr lang="en-IN" sz="2600" dirty="0" smtClean="0">
                <a:solidFill>
                  <a:srgbClr val="FF0000"/>
                </a:solidFill>
              </a:rPr>
              <a:t>The term wealth means shareholder wealth or the wealth of the persons those who are involved in the business concern. </a:t>
            </a:r>
          </a:p>
          <a:p>
            <a:pPr marL="0" indent="0" algn="just">
              <a:buNone/>
            </a:pPr>
            <a:r>
              <a:rPr lang="en-IN" sz="2600" dirty="0" smtClean="0"/>
              <a:t>Wealth maximization is also known </a:t>
            </a:r>
            <a:r>
              <a:rPr lang="en-IN" sz="2600" dirty="0" smtClean="0">
                <a:solidFill>
                  <a:srgbClr val="FF0000"/>
                </a:solidFill>
              </a:rPr>
              <a:t>as value maximization or net present worth maximization</a:t>
            </a:r>
            <a:r>
              <a:rPr lang="en-IN" sz="2600" dirty="0" smtClean="0"/>
              <a:t>. This objective is an universally accepted concept in the field of business</a:t>
            </a:r>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232497"/>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rotWithShape="1">
          <a:blip r:embed="rId3"/>
          <a:srcRect l="29267" t="28498" r="29720" b="67023"/>
          <a:stretch/>
        </p:blipFill>
        <p:spPr>
          <a:xfrm>
            <a:off x="1856096" y="3991429"/>
            <a:ext cx="8052179" cy="464457"/>
          </a:xfrm>
          <a:prstGeom prst="rect">
            <a:avLst/>
          </a:prstGeom>
        </p:spPr>
      </p:pic>
    </p:spTree>
    <p:extLst>
      <p:ext uri="{BB962C8B-B14F-4D97-AF65-F5344CB8AC3E}">
        <p14:creationId xmlns:p14="http://schemas.microsoft.com/office/powerpoint/2010/main" val="27526419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73457"/>
            <a:ext cx="10515600" cy="5112438"/>
          </a:xfrm>
        </p:spPr>
        <p:txBody>
          <a:bodyPr>
            <a:normAutofit/>
          </a:bodyPr>
          <a:lstStyle/>
          <a:p>
            <a:pPr marL="0" indent="0">
              <a:buNone/>
            </a:pPr>
            <a:r>
              <a:rPr lang="en-IN" sz="2600" b="1" dirty="0">
                <a:solidFill>
                  <a:srgbClr val="FF0000"/>
                </a:solidFill>
              </a:rPr>
              <a:t>c</a:t>
            </a:r>
            <a:r>
              <a:rPr lang="en-IN" sz="2600" b="1" dirty="0" smtClean="0">
                <a:solidFill>
                  <a:srgbClr val="FF0000"/>
                </a:solidFill>
              </a:rPr>
              <a:t>) Other objectives of Financial Management:</a:t>
            </a:r>
          </a:p>
          <a:p>
            <a:pPr marL="514350" indent="-514350">
              <a:buAutoNum type="arabicPeriod"/>
            </a:pPr>
            <a:r>
              <a:rPr lang="en-IN" sz="2600" dirty="0" smtClean="0"/>
              <a:t>Return on capital employed and return on investment</a:t>
            </a:r>
          </a:p>
          <a:p>
            <a:pPr marL="514350" indent="-514350">
              <a:buAutoNum type="arabicPeriod"/>
            </a:pPr>
            <a:r>
              <a:rPr lang="en-IN" sz="2600" dirty="0" smtClean="0"/>
              <a:t>Value addition and profitability</a:t>
            </a:r>
          </a:p>
          <a:p>
            <a:pPr marL="514350" indent="-514350">
              <a:buAutoNum type="arabicPeriod"/>
            </a:pPr>
            <a:r>
              <a:rPr lang="en-IN" sz="2600" dirty="0" smtClean="0"/>
              <a:t>Growth in earnings per share </a:t>
            </a:r>
            <a:r>
              <a:rPr lang="en-IN" sz="2600" smtClean="0"/>
              <a:t>and price </a:t>
            </a:r>
            <a:r>
              <a:rPr lang="en-IN" sz="2600" dirty="0" smtClean="0"/>
              <a:t>earning ratio</a:t>
            </a:r>
          </a:p>
          <a:p>
            <a:pPr marL="514350" indent="-514350">
              <a:buAutoNum type="arabicPeriod"/>
            </a:pPr>
            <a:r>
              <a:rPr lang="en-IN" sz="2600" dirty="0" smtClean="0"/>
              <a:t>Growth in the market value of a share</a:t>
            </a:r>
          </a:p>
          <a:p>
            <a:pPr marL="514350" indent="-514350">
              <a:buAutoNum type="arabicPeriod"/>
            </a:pPr>
            <a:r>
              <a:rPr lang="en-IN" sz="2600" dirty="0" smtClean="0"/>
              <a:t>Growth in dividends to shareholders</a:t>
            </a:r>
          </a:p>
          <a:p>
            <a:pPr marL="514350" indent="-514350">
              <a:buAutoNum type="arabicPeriod"/>
            </a:pPr>
            <a:r>
              <a:rPr lang="en-IN" sz="2600" dirty="0" smtClean="0"/>
              <a:t>The optimum level of leverage</a:t>
            </a:r>
          </a:p>
          <a:p>
            <a:pPr marL="514350" indent="-514350">
              <a:buAutoNum type="arabicPeriod"/>
            </a:pPr>
            <a:r>
              <a:rPr lang="en-IN" sz="2600" dirty="0" smtClean="0"/>
              <a:t>Survival and growth of the firm</a:t>
            </a:r>
          </a:p>
          <a:p>
            <a:pPr marL="514350" indent="-514350">
              <a:buAutoNum type="arabicPeriod"/>
            </a:pPr>
            <a:r>
              <a:rPr lang="en-IN" sz="2600" dirty="0" smtClean="0"/>
              <a:t>Minimization of financial charges </a:t>
            </a:r>
          </a:p>
          <a:p>
            <a:pPr marL="514350" indent="-514350">
              <a:buAutoNum type="arabicPeriod"/>
            </a:pPr>
            <a:r>
              <a:rPr lang="en-IN" sz="2600" dirty="0" smtClean="0"/>
              <a:t>Efficient utilization of short, medium, and long-term financing.</a:t>
            </a:r>
          </a:p>
          <a:p>
            <a:pPr marL="514350" indent="-514350">
              <a:buAutoNum type="arabicPeriod"/>
            </a:pPr>
            <a:endParaRPr lang="en-IN" sz="2600" b="1" dirty="0" smtClean="0">
              <a:solidFill>
                <a:srgbClr val="FF0000"/>
              </a:solidFill>
            </a:endParaRPr>
          </a:p>
          <a:p>
            <a:pPr marL="514350" indent="-514350">
              <a:buAutoNum type="arabicPeriod"/>
            </a:pPr>
            <a:endParaRPr lang="en-IN" sz="2600" b="1" dirty="0">
              <a:solidFill>
                <a:srgbClr val="FF0000"/>
              </a:solidFill>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16245"/>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98576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2789"/>
            <a:ext cx="10515600" cy="5136938"/>
          </a:xfrm>
        </p:spPr>
        <p:txBody>
          <a:bodyPr>
            <a:normAutofit/>
          </a:bodyPr>
          <a:lstStyle/>
          <a:p>
            <a:pPr marL="0" indent="0" algn="just">
              <a:buNone/>
            </a:pPr>
            <a:r>
              <a:rPr lang="en-IN" sz="2600" b="1" dirty="0" smtClean="0">
                <a:solidFill>
                  <a:srgbClr val="FF0000"/>
                </a:solidFill>
              </a:rPr>
              <a:t>6. Profit Vs Wealth Maximization:</a:t>
            </a:r>
          </a:p>
          <a:p>
            <a:pPr marL="0" indent="0" algn="just">
              <a:buNone/>
            </a:pPr>
            <a:r>
              <a:rPr lang="en-IN" sz="2600" dirty="0" smtClean="0"/>
              <a:t>Financial Management as the name suggests is </a:t>
            </a:r>
            <a:r>
              <a:rPr lang="en-IN" sz="2600" dirty="0" smtClean="0">
                <a:solidFill>
                  <a:srgbClr val="FF0000"/>
                </a:solidFill>
              </a:rPr>
              <a:t>management of finance</a:t>
            </a:r>
            <a:r>
              <a:rPr lang="en-IN" sz="2600" dirty="0" smtClean="0"/>
              <a:t>. It deals with planning and mobilization of funds required by the firm. There is only one thing which matters for everyone </a:t>
            </a:r>
            <a:r>
              <a:rPr lang="en-IN" sz="2600" dirty="0" smtClean="0">
                <a:solidFill>
                  <a:srgbClr val="FF0000"/>
                </a:solidFill>
              </a:rPr>
              <a:t>right from the owners to the promoters and that is money. </a:t>
            </a:r>
            <a:r>
              <a:rPr lang="en-IN" sz="2600" dirty="0" smtClean="0"/>
              <a:t>Managing </a:t>
            </a:r>
            <a:r>
              <a:rPr lang="en-IN" sz="2600" dirty="0" smtClean="0">
                <a:solidFill>
                  <a:srgbClr val="FF0000"/>
                </a:solidFill>
              </a:rPr>
              <a:t>finance</a:t>
            </a:r>
            <a:r>
              <a:rPr lang="en-IN" sz="2600" dirty="0" smtClean="0"/>
              <a:t> is nothing but managing </a:t>
            </a:r>
            <a:r>
              <a:rPr lang="en-IN" sz="2600" dirty="0" smtClean="0">
                <a:solidFill>
                  <a:srgbClr val="FF0000"/>
                </a:solidFill>
              </a:rPr>
              <a:t>money. </a:t>
            </a:r>
            <a:r>
              <a:rPr lang="en-IN" sz="2600" dirty="0" smtClean="0"/>
              <a:t>Every activity of an organization is reflected in its financial statements. </a:t>
            </a:r>
          </a:p>
          <a:p>
            <a:pPr marL="0" indent="0" algn="just">
              <a:buNone/>
            </a:pPr>
            <a:r>
              <a:rPr lang="en-IN" sz="2600" dirty="0" smtClean="0"/>
              <a:t>Financial Management deals with activities that have financial implications. The very important objective of Financial Management is</a:t>
            </a:r>
            <a:r>
              <a:rPr lang="en-IN" sz="2600" dirty="0" smtClean="0">
                <a:solidFill>
                  <a:srgbClr val="FF0000"/>
                </a:solidFill>
              </a:rPr>
              <a:t> to maximize the wealth of the shareholders by maximizing the value of the firm. </a:t>
            </a:r>
            <a:r>
              <a:rPr lang="en-IN" sz="2600" dirty="0" smtClean="0"/>
              <a:t>This prime objective of Financial Management is</a:t>
            </a:r>
            <a:r>
              <a:rPr lang="en-IN" sz="2600" dirty="0" smtClean="0">
                <a:solidFill>
                  <a:srgbClr val="FF0000"/>
                </a:solidFill>
              </a:rPr>
              <a:t> reflected in the EPS (Earning per Share) and the market price of its shares. </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275576"/>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20002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7388" y="1103409"/>
            <a:ext cx="10515600" cy="4351338"/>
          </a:xfrm>
        </p:spPr>
        <p:txBody>
          <a:bodyPr>
            <a:normAutofit/>
          </a:bodyPr>
          <a:lstStyle/>
          <a:p>
            <a:pPr marL="0" indent="0" algn="just">
              <a:buNone/>
            </a:pPr>
            <a:r>
              <a:rPr lang="en-IN" sz="2600" dirty="0"/>
              <a:t>The earlier objective of profit maximization is now replaced by wealth maximization. Since profit maximization is a limited one it cannot be the sole objective of a firm. The term profit is a vague phenomenon and if given undue importance problems may arise whereas wealth maximization on the other hand overcomes the drawbacks of profit maximization</a:t>
            </a:r>
            <a:r>
              <a:rPr lang="en-IN" sz="2600" dirty="0">
                <a:solidFill>
                  <a:srgbClr val="FF0000"/>
                </a:solidFill>
              </a:rPr>
              <a:t>. Thus the objective of Financial Management is to trade off between risk and return. </a:t>
            </a:r>
            <a:r>
              <a:rPr lang="en-IN" sz="2600" dirty="0"/>
              <a:t>The objective of Financial Management is to make efficient use of economic resources mainly capital.</a:t>
            </a:r>
          </a:p>
          <a:p>
            <a:pPr algn="just"/>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6888" y="337192"/>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37922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52655"/>
            <a:ext cx="10515600" cy="5442672"/>
          </a:xfrm>
        </p:spPr>
        <p:txBody>
          <a:bodyPr>
            <a:normAutofit fontScale="92500" lnSpcReduction="10000"/>
          </a:bodyPr>
          <a:lstStyle/>
          <a:p>
            <a:pPr marL="0" indent="0" algn="just">
              <a:buNone/>
            </a:pPr>
            <a:r>
              <a:rPr lang="en-IN" b="1" dirty="0" smtClean="0">
                <a:solidFill>
                  <a:srgbClr val="FF0000"/>
                </a:solidFill>
              </a:rPr>
              <a:t>7. Functions of Finance Manager: </a:t>
            </a:r>
          </a:p>
          <a:p>
            <a:pPr marL="0" indent="0" algn="just">
              <a:buNone/>
            </a:pPr>
            <a:r>
              <a:rPr lang="en-IN" dirty="0" smtClean="0"/>
              <a:t>Finance function is one of the major parts of business organization, which involves the permanent, and continuous process of the business concern. </a:t>
            </a:r>
          </a:p>
          <a:p>
            <a:pPr marL="0" indent="0" algn="just">
              <a:buNone/>
            </a:pPr>
            <a:r>
              <a:rPr lang="en-IN" dirty="0" smtClean="0"/>
              <a:t>Finance manager performs the following major functions: </a:t>
            </a:r>
          </a:p>
          <a:p>
            <a:pPr marL="0" indent="0" algn="just">
              <a:buNone/>
            </a:pPr>
            <a:r>
              <a:rPr lang="en-IN" b="1" dirty="0" smtClean="0">
                <a:solidFill>
                  <a:srgbClr val="FF0000"/>
                </a:solidFill>
              </a:rPr>
              <a:t>1. Forecasting Financial Requirements: </a:t>
            </a:r>
          </a:p>
          <a:p>
            <a:pPr marL="0" indent="0" algn="just">
              <a:buNone/>
            </a:pPr>
            <a:r>
              <a:rPr lang="en-IN" dirty="0" smtClean="0"/>
              <a:t>It is the primary function of the Finance Manager. He is responsible to estimate the financial requirement of the business concern. He should estimate, how much finances required to acquire fixed assets and forecast </a:t>
            </a:r>
            <a:r>
              <a:rPr lang="en-IN" dirty="0" smtClean="0">
                <a:solidFill>
                  <a:srgbClr val="FF0000"/>
                </a:solidFill>
              </a:rPr>
              <a:t>the amount needed to meet the working capital requirements in future. </a:t>
            </a:r>
          </a:p>
          <a:p>
            <a:pPr marL="0" indent="0" algn="just">
              <a:buNone/>
            </a:pPr>
            <a:r>
              <a:rPr lang="en-IN" b="1" dirty="0" smtClean="0">
                <a:solidFill>
                  <a:srgbClr val="FF0000"/>
                </a:solidFill>
              </a:rPr>
              <a:t>2. Acquiring Necessary Capital: </a:t>
            </a:r>
          </a:p>
          <a:p>
            <a:pPr marL="0" indent="0" algn="just">
              <a:buNone/>
            </a:pPr>
            <a:r>
              <a:rPr lang="en-IN" dirty="0" smtClean="0"/>
              <a:t>After deciding the financial requirement, the finance manager should concentrate how the finance is mobilized and where it will be available. It is also highly critical in nature. </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258965"/>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85456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60498"/>
            <a:ext cx="10515600" cy="5277255"/>
          </a:xfrm>
        </p:spPr>
        <p:txBody>
          <a:bodyPr>
            <a:normAutofit/>
          </a:bodyPr>
          <a:lstStyle/>
          <a:p>
            <a:pPr marL="0" indent="0" algn="just">
              <a:buNone/>
            </a:pPr>
            <a:r>
              <a:rPr lang="en-IN" sz="2600" b="1" dirty="0" smtClean="0">
                <a:solidFill>
                  <a:srgbClr val="FF0000"/>
                </a:solidFill>
              </a:rPr>
              <a:t>3. Investment Decision: </a:t>
            </a:r>
          </a:p>
          <a:p>
            <a:pPr marL="0" indent="0" algn="just">
              <a:buNone/>
            </a:pPr>
            <a:r>
              <a:rPr lang="en-IN" sz="2600" dirty="0" smtClean="0"/>
              <a:t>The finance manager must carefully select best investment alternatives and consider the reasonable and stable return from the investment. He must be well versed in the field of capital budgeting techniques to determine the effective utilization of investment. The finance manager must concentrate to principles of safety, liquidity and profitability while investing capital.</a:t>
            </a:r>
          </a:p>
          <a:p>
            <a:pPr marL="0" indent="0" algn="just">
              <a:buNone/>
            </a:pPr>
            <a:r>
              <a:rPr lang="en-IN" sz="2600" b="1" dirty="0" smtClean="0">
                <a:solidFill>
                  <a:srgbClr val="FF0000"/>
                </a:solidFill>
              </a:rPr>
              <a:t>4. Cash Management: </a:t>
            </a:r>
          </a:p>
          <a:p>
            <a:pPr marL="0" indent="0" algn="just">
              <a:buNone/>
            </a:pPr>
            <a:r>
              <a:rPr lang="en-IN" sz="2600" dirty="0" smtClean="0"/>
              <a:t>Present days cash management plays a major role in the area of finance because proper cash management is not only essential for effective utilization of cash but it also helps to meet the short-term liquidity position of the concern. </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03286"/>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931749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6577" y="937351"/>
            <a:ext cx="10515600" cy="4351338"/>
          </a:xfrm>
        </p:spPr>
        <p:txBody>
          <a:bodyPr>
            <a:normAutofit/>
          </a:bodyPr>
          <a:lstStyle/>
          <a:p>
            <a:pPr marL="0" indent="0" algn="just">
              <a:buNone/>
            </a:pPr>
            <a:r>
              <a:rPr lang="en-IN" sz="2600" b="1" dirty="0">
                <a:solidFill>
                  <a:srgbClr val="FF0000"/>
                </a:solidFill>
              </a:rPr>
              <a:t>5. Interrelation with Other Departments:</a:t>
            </a:r>
          </a:p>
          <a:p>
            <a:pPr marL="0" indent="0" algn="just">
              <a:buNone/>
            </a:pPr>
            <a:r>
              <a:rPr lang="en-IN" sz="2600" dirty="0"/>
              <a:t>Finance manager deals with various functional departments such as marketing, production, </a:t>
            </a:r>
            <a:r>
              <a:rPr lang="en-IN" sz="2600" dirty="0" smtClean="0"/>
              <a:t>personnel, </a:t>
            </a:r>
            <a:r>
              <a:rPr lang="en-IN" sz="2600" dirty="0"/>
              <a:t>system, research, development, etc. Finance manager should have sound knowledge not only in finance related area but also well versed in other areas. He must maintain a good relationship with all the functional departments of the business organization.</a:t>
            </a:r>
          </a:p>
          <a:p>
            <a:pPr marL="0" indent="0">
              <a:buNone/>
            </a:pPr>
            <a:endParaRPr lang="en-IN" sz="2600" dirty="0"/>
          </a:p>
        </p:txBody>
      </p:sp>
      <p:pic>
        <p:nvPicPr>
          <p:cNvPr id="5"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16077" y="428142"/>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82151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15914"/>
            <a:ext cx="10515600" cy="5512595"/>
          </a:xfrm>
        </p:spPr>
        <p:txBody>
          <a:bodyPr>
            <a:normAutofit/>
          </a:bodyPr>
          <a:lstStyle/>
          <a:p>
            <a:pPr marL="0" indent="0" algn="just">
              <a:buNone/>
            </a:pPr>
            <a:r>
              <a:rPr lang="en-IN" sz="2600" b="1" dirty="0" smtClean="0">
                <a:solidFill>
                  <a:srgbClr val="FF0000"/>
                </a:solidFill>
              </a:rPr>
              <a:t>8. Importance of Financial Management: </a:t>
            </a:r>
          </a:p>
          <a:p>
            <a:pPr marL="0" indent="0" algn="just">
              <a:buNone/>
            </a:pPr>
            <a:r>
              <a:rPr lang="en-IN" sz="2600" dirty="0" smtClean="0"/>
              <a:t>Finance is the lifeblood of business organization. It needs to meet the requirement of the business concern. Each and every business concern must maintain adequate amount of finance for their smooth running of the business concern and also maintain the business carefully to achieve the goal of the business concern. The business goal can be achieved only with the help of effective management of finance. </a:t>
            </a:r>
          </a:p>
          <a:p>
            <a:pPr marL="0" indent="0" algn="just">
              <a:buNone/>
            </a:pPr>
            <a:r>
              <a:rPr lang="en-IN" sz="2600" dirty="0" smtClean="0"/>
              <a:t>Some of the importance of the financial management is as follows: </a:t>
            </a:r>
          </a:p>
          <a:p>
            <a:pPr marL="0" indent="0" algn="just">
              <a:buNone/>
            </a:pPr>
            <a:r>
              <a:rPr lang="en-IN" sz="2600" b="1" dirty="0" smtClean="0">
                <a:solidFill>
                  <a:srgbClr val="FF0000"/>
                </a:solidFill>
              </a:rPr>
              <a:t>1. Financial Planning: </a:t>
            </a:r>
          </a:p>
          <a:p>
            <a:pPr marL="0" indent="0" algn="just">
              <a:buNone/>
            </a:pPr>
            <a:r>
              <a:rPr lang="en-IN" sz="2600" dirty="0" smtClean="0"/>
              <a:t>Financial management helps to determine the financial requirement of the business concern and leads to take financial planning of the concern. Financial planning is an important part of the business concern, which helps to promotion of an enterprise. </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58702"/>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32065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5789"/>
            <a:ext cx="10515600" cy="4639293"/>
          </a:xfrm>
        </p:spPr>
        <p:txBody>
          <a:bodyPr>
            <a:normAutofit/>
          </a:bodyPr>
          <a:lstStyle/>
          <a:p>
            <a:pPr marL="0" indent="0" algn="just">
              <a:buNone/>
            </a:pPr>
            <a:r>
              <a:rPr lang="en-IN" sz="2600" b="1" dirty="0">
                <a:solidFill>
                  <a:srgbClr val="FF0000"/>
                </a:solidFill>
              </a:rPr>
              <a:t>2. Acquisition of Funds: </a:t>
            </a:r>
          </a:p>
          <a:p>
            <a:pPr marL="0" indent="0" algn="just">
              <a:buNone/>
            </a:pPr>
            <a:r>
              <a:rPr lang="en-IN" sz="2600" dirty="0"/>
              <a:t>Financial management involves the acquisition of required finance to the business concern. Acquiring needed funds play a major part of the financial management, which involve possible source of finance at minimum cost</a:t>
            </a:r>
            <a:r>
              <a:rPr lang="en-IN" sz="2600" dirty="0" smtClean="0"/>
              <a:t>.</a:t>
            </a:r>
            <a:endParaRPr lang="en-IN" sz="2600" dirty="0" smtClean="0">
              <a:solidFill>
                <a:srgbClr val="FF0000"/>
              </a:solidFill>
            </a:endParaRPr>
          </a:p>
          <a:p>
            <a:pPr marL="0" indent="0" algn="just">
              <a:buNone/>
            </a:pPr>
            <a:r>
              <a:rPr lang="en-IN" sz="2600" b="1" dirty="0" smtClean="0">
                <a:solidFill>
                  <a:srgbClr val="FF0000"/>
                </a:solidFill>
              </a:rPr>
              <a:t>3. Proper Use of Funds: </a:t>
            </a:r>
          </a:p>
          <a:p>
            <a:pPr marL="0" indent="0" algn="just">
              <a:buNone/>
            </a:pPr>
            <a:r>
              <a:rPr lang="en-IN" sz="2600" dirty="0" smtClean="0"/>
              <a:t>Proper use and allocation of funds leads to improve the operational efficiency of the business concern. When the finance manager uses the funds properly, they can reduce the cost of capital and increase the value of the firm. </a:t>
            </a: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268577"/>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144071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8974"/>
            <a:ext cx="10515600" cy="4852894"/>
          </a:xfrm>
        </p:spPr>
        <p:txBody>
          <a:bodyPr>
            <a:normAutofit/>
          </a:bodyPr>
          <a:lstStyle/>
          <a:p>
            <a:pPr marL="0" indent="0" algn="just">
              <a:buNone/>
            </a:pPr>
            <a:r>
              <a:rPr lang="en-IN" sz="2600" b="1" dirty="0">
                <a:solidFill>
                  <a:srgbClr val="FF0000"/>
                </a:solidFill>
              </a:rPr>
              <a:t>4. Financial Decision: </a:t>
            </a:r>
          </a:p>
          <a:p>
            <a:pPr marL="0" indent="0" algn="just">
              <a:buNone/>
            </a:pPr>
            <a:r>
              <a:rPr lang="en-IN" sz="2600" dirty="0"/>
              <a:t>Financial management helps to </a:t>
            </a:r>
            <a:r>
              <a:rPr lang="en-IN" sz="2600" dirty="0" smtClean="0"/>
              <a:t>make </a:t>
            </a:r>
            <a:r>
              <a:rPr lang="en-IN" sz="2600" dirty="0"/>
              <a:t>sound financial </a:t>
            </a:r>
            <a:r>
              <a:rPr lang="en-IN" sz="2600" dirty="0" smtClean="0"/>
              <a:t>decisions </a:t>
            </a:r>
            <a:r>
              <a:rPr lang="en-IN" sz="2600" dirty="0"/>
              <a:t>in the business concern. Financial </a:t>
            </a:r>
            <a:r>
              <a:rPr lang="en-IN" sz="2600" dirty="0" smtClean="0"/>
              <a:t>decisions </a:t>
            </a:r>
            <a:r>
              <a:rPr lang="en-IN" sz="2600" dirty="0"/>
              <a:t>will affect the entire business operation of the concern. Because there is a direct relationship with various department functions such as marketing, production personnel, etc. </a:t>
            </a:r>
          </a:p>
          <a:p>
            <a:pPr marL="0" indent="0" algn="just">
              <a:buNone/>
            </a:pPr>
            <a:r>
              <a:rPr lang="en-IN" sz="2600" b="1" dirty="0">
                <a:solidFill>
                  <a:srgbClr val="FF0000"/>
                </a:solidFill>
              </a:rPr>
              <a:t>5. Improve Profitability: </a:t>
            </a:r>
          </a:p>
          <a:p>
            <a:pPr marL="0" indent="0" algn="just">
              <a:buNone/>
            </a:pPr>
            <a:r>
              <a:rPr lang="en-IN" sz="2600" dirty="0" smtClean="0"/>
              <a:t>The profitability </a:t>
            </a:r>
            <a:r>
              <a:rPr lang="en-IN" sz="2600" dirty="0"/>
              <a:t>of the concern purely depends on the effectiveness and proper utilization of funds by the business concern. Financial management helps to improve the profitability position of the concern with the help of strong financial control devices such as budgetary control, ratio </a:t>
            </a:r>
            <a:r>
              <a:rPr lang="en-IN" sz="2600" dirty="0" smtClean="0"/>
              <a:t>analysis, </a:t>
            </a:r>
            <a:r>
              <a:rPr lang="en-IN" sz="2600" dirty="0"/>
              <a:t>and cost volume profit analysis.</a:t>
            </a:r>
          </a:p>
          <a:p>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01762"/>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483350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345" y="886484"/>
            <a:ext cx="10515600" cy="5173121"/>
          </a:xfrm>
        </p:spPr>
        <p:txBody>
          <a:bodyPr>
            <a:normAutofit/>
          </a:bodyPr>
          <a:lstStyle/>
          <a:p>
            <a:pPr marL="0" indent="0" algn="just">
              <a:buNone/>
            </a:pPr>
            <a:r>
              <a:rPr lang="en-IN" sz="2600" b="1" dirty="0" smtClean="0">
                <a:solidFill>
                  <a:srgbClr val="FF0000"/>
                </a:solidFill>
              </a:rPr>
              <a:t>6. Increase the Value of the Firm: </a:t>
            </a:r>
          </a:p>
          <a:p>
            <a:pPr marL="0" indent="0" algn="just">
              <a:buNone/>
            </a:pPr>
            <a:r>
              <a:rPr lang="en-IN" sz="2600" dirty="0" smtClean="0"/>
              <a:t>Financial management is very important in the field of increasing the wealth of the investors and the business concern. The ultimate aim of any business concern is to achieve the maximum profit and higher profitability leads to maximizing the wealth of the investors as well as the nation. </a:t>
            </a:r>
          </a:p>
          <a:p>
            <a:pPr marL="0" indent="0" algn="just">
              <a:buNone/>
            </a:pPr>
            <a:endParaRPr lang="en-IN" sz="2600" dirty="0"/>
          </a:p>
          <a:p>
            <a:pPr marL="0" indent="0" algn="just">
              <a:buNone/>
            </a:pPr>
            <a:endParaRPr lang="en-IN" sz="2600" dirty="0" smtClean="0"/>
          </a:p>
          <a:p>
            <a:pPr marL="0" indent="0" algn="just">
              <a:buNone/>
            </a:pPr>
            <a:endParaRPr lang="en-IN" sz="2600" dirty="0" smtClean="0"/>
          </a:p>
          <a:p>
            <a:pPr marL="0" indent="0" algn="just">
              <a:buNone/>
            </a:pPr>
            <a:r>
              <a:rPr lang="en-IN" sz="2600" b="1" dirty="0" smtClean="0">
                <a:solidFill>
                  <a:srgbClr val="FF0000"/>
                </a:solidFill>
              </a:rPr>
              <a:t>7. Promoting Savings: </a:t>
            </a:r>
          </a:p>
          <a:p>
            <a:pPr marL="0" indent="0" algn="just">
              <a:buNone/>
            </a:pPr>
            <a:r>
              <a:rPr lang="en-IN" sz="2600" dirty="0" smtClean="0"/>
              <a:t>Savings are possible only when the business concerned earns higher profitability and maximizes wealth. Effective financial management helps to promote and mobilize individual and corporate savings.</a:t>
            </a:r>
            <a:endParaRPr lang="en-IN" sz="2600" dirty="0"/>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3845" y="329272"/>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rotWithShape="1">
          <a:blip r:embed="rId3"/>
          <a:srcRect l="23077" t="48834" r="26260" b="38852"/>
          <a:stretch/>
        </p:blipFill>
        <p:spPr>
          <a:xfrm>
            <a:off x="2090175" y="2811128"/>
            <a:ext cx="7983940" cy="1323833"/>
          </a:xfrm>
          <a:prstGeom prst="rect">
            <a:avLst/>
          </a:prstGeom>
        </p:spPr>
      </p:pic>
    </p:spTree>
    <p:extLst>
      <p:ext uri="{BB962C8B-B14F-4D97-AF65-F5344CB8AC3E}">
        <p14:creationId xmlns:p14="http://schemas.microsoft.com/office/powerpoint/2010/main" val="140121093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0526"/>
            <a:ext cx="10515600" cy="5236437"/>
          </a:xfrm>
        </p:spPr>
        <p:txBody>
          <a:bodyPr>
            <a:normAutofit fontScale="92500" lnSpcReduction="10000"/>
          </a:bodyPr>
          <a:lstStyle/>
          <a:p>
            <a:pPr marL="0" indent="0" algn="just">
              <a:buNone/>
            </a:pPr>
            <a:r>
              <a:rPr lang="en-IN" b="1" dirty="0" smtClean="0">
                <a:solidFill>
                  <a:srgbClr val="FF0000"/>
                </a:solidFill>
              </a:rPr>
              <a:t>9. Risk-Return Tarde off:</a:t>
            </a:r>
          </a:p>
          <a:p>
            <a:pPr marL="0" indent="0" algn="just">
              <a:buNone/>
            </a:pPr>
            <a:r>
              <a:rPr lang="en-IN" dirty="0" smtClean="0"/>
              <a:t>The prime objective of financial management is </a:t>
            </a:r>
            <a:r>
              <a:rPr lang="en-IN" b="1" dirty="0" smtClean="0">
                <a:solidFill>
                  <a:srgbClr val="00B050"/>
                </a:solidFill>
              </a:rPr>
              <a:t>to maximize the value of the firm, </a:t>
            </a:r>
            <a:r>
              <a:rPr lang="en-IN" dirty="0" smtClean="0"/>
              <a:t>which is possible only when </a:t>
            </a:r>
            <a:r>
              <a:rPr lang="en-IN" b="1" dirty="0" smtClean="0">
                <a:solidFill>
                  <a:srgbClr val="FF0000"/>
                </a:solidFill>
              </a:rPr>
              <a:t>well-balanced financial decisions are taken</a:t>
            </a:r>
            <a:r>
              <a:rPr lang="en-IN" b="1" dirty="0" smtClean="0"/>
              <a:t>.</a:t>
            </a:r>
            <a:r>
              <a:rPr lang="en-IN" dirty="0" smtClean="0"/>
              <a:t> The management should try </a:t>
            </a:r>
            <a:r>
              <a:rPr lang="en-IN" b="1" dirty="0" smtClean="0">
                <a:solidFill>
                  <a:srgbClr val="00B050"/>
                </a:solidFill>
              </a:rPr>
              <a:t>to maximize the average profit while minimizing the risk. </a:t>
            </a:r>
            <a:r>
              <a:rPr lang="en-IN" dirty="0" smtClean="0"/>
              <a:t>The projects promising </a:t>
            </a:r>
            <a:r>
              <a:rPr lang="en-IN" b="1" dirty="0" smtClean="0">
                <a:solidFill>
                  <a:srgbClr val="FF0000"/>
                </a:solidFill>
              </a:rPr>
              <a:t>a high average profit are generally accompanied by high risk. </a:t>
            </a:r>
            <a:r>
              <a:rPr lang="en-IN" dirty="0" smtClean="0"/>
              <a:t>The manager should accept such projects only if they will induce an increase in stock price</a:t>
            </a:r>
            <a:r>
              <a:rPr lang="en-IN" b="1" dirty="0" smtClean="0"/>
              <a:t>. </a:t>
            </a:r>
            <a:r>
              <a:rPr lang="en-IN" dirty="0" smtClean="0"/>
              <a:t>It is known that the</a:t>
            </a:r>
            <a:r>
              <a:rPr lang="en-IN" b="1" dirty="0" smtClean="0">
                <a:solidFill>
                  <a:srgbClr val="00B050"/>
                </a:solidFill>
              </a:rPr>
              <a:t> </a:t>
            </a:r>
            <a:r>
              <a:rPr lang="en-IN" b="1" dirty="0" smtClean="0">
                <a:solidFill>
                  <a:srgbClr val="FF0000"/>
                </a:solidFill>
              </a:rPr>
              <a:t>“higher the return”, other things being equal, the “higher the market value” and vice versa.</a:t>
            </a:r>
          </a:p>
          <a:p>
            <a:pPr marL="0" indent="0" algn="just">
              <a:buNone/>
            </a:pPr>
            <a:r>
              <a:rPr lang="en-IN" b="1" dirty="0" smtClean="0">
                <a:solidFill>
                  <a:srgbClr val="FF0000"/>
                </a:solidFill>
              </a:rPr>
              <a:t>Definition</a:t>
            </a:r>
            <a:r>
              <a:rPr lang="en-IN" b="1" dirty="0">
                <a:solidFill>
                  <a:srgbClr val="FF0000"/>
                </a:solidFill>
              </a:rPr>
              <a:t>: </a:t>
            </a:r>
            <a:endParaRPr lang="en-IN" b="1" dirty="0" smtClean="0">
              <a:solidFill>
                <a:srgbClr val="FF0000"/>
              </a:solidFill>
            </a:endParaRPr>
          </a:p>
          <a:p>
            <a:pPr marL="0" indent="0" algn="just">
              <a:buNone/>
            </a:pPr>
            <a:r>
              <a:rPr lang="en-IN" dirty="0" smtClean="0"/>
              <a:t>Higher</a:t>
            </a:r>
            <a:r>
              <a:rPr lang="en-IN" dirty="0"/>
              <a:t> risk is associated with </a:t>
            </a:r>
            <a:r>
              <a:rPr lang="en-IN" dirty="0" smtClean="0"/>
              <a:t>a </a:t>
            </a:r>
            <a:r>
              <a:rPr lang="en-IN" b="1" dirty="0" smtClean="0">
                <a:solidFill>
                  <a:srgbClr val="00B050"/>
                </a:solidFill>
              </a:rPr>
              <a:t>greater </a:t>
            </a:r>
            <a:r>
              <a:rPr lang="en-IN" b="1" dirty="0">
                <a:solidFill>
                  <a:srgbClr val="00B050"/>
                </a:solidFill>
              </a:rPr>
              <a:t>probability of higher return</a:t>
            </a:r>
            <a:r>
              <a:rPr lang="en-IN" dirty="0"/>
              <a:t> and lower risk with a greater </a:t>
            </a:r>
            <a:r>
              <a:rPr lang="en-IN" b="1" dirty="0">
                <a:solidFill>
                  <a:srgbClr val="FF0000"/>
                </a:solidFill>
              </a:rPr>
              <a:t>probability of smaller return. </a:t>
            </a:r>
            <a:r>
              <a:rPr lang="en-IN" dirty="0"/>
              <a:t>This </a:t>
            </a:r>
            <a:r>
              <a:rPr lang="en-IN" dirty="0" smtClean="0"/>
              <a:t>trade-off</a:t>
            </a:r>
            <a:r>
              <a:rPr lang="en-IN" dirty="0"/>
              <a:t> </a:t>
            </a:r>
            <a:r>
              <a:rPr lang="en-IN" dirty="0" smtClean="0"/>
              <a:t>that </a:t>
            </a:r>
            <a:r>
              <a:rPr lang="en-IN" dirty="0"/>
              <a:t>an </a:t>
            </a:r>
            <a:r>
              <a:rPr lang="en-IN" b="1" dirty="0">
                <a:solidFill>
                  <a:srgbClr val="00B050"/>
                </a:solidFill>
              </a:rPr>
              <a:t>investor faces between </a:t>
            </a:r>
            <a:r>
              <a:rPr lang="en-IN" b="1" dirty="0">
                <a:solidFill>
                  <a:srgbClr val="FF0000"/>
                </a:solidFill>
              </a:rPr>
              <a:t>risk and return</a:t>
            </a:r>
            <a:r>
              <a:rPr lang="en-IN" b="1" dirty="0">
                <a:solidFill>
                  <a:srgbClr val="00B050"/>
                </a:solidFill>
              </a:rPr>
              <a:t> while considering investment decisions </a:t>
            </a:r>
            <a:r>
              <a:rPr lang="en-IN" dirty="0"/>
              <a:t>is called the </a:t>
            </a:r>
            <a:r>
              <a:rPr lang="en-IN" dirty="0" smtClean="0"/>
              <a:t>risk-return trade-off.</a:t>
            </a:r>
            <a:endParaRPr lang="en-IN" dirty="0"/>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83314"/>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33084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86691"/>
            <a:ext cx="10515600" cy="5226726"/>
          </a:xfrm>
        </p:spPr>
        <p:txBody>
          <a:bodyPr>
            <a:normAutofit/>
          </a:bodyPr>
          <a:lstStyle/>
          <a:p>
            <a:pPr marL="0" indent="0">
              <a:buNone/>
            </a:pPr>
            <a:r>
              <a:rPr lang="en-IN" sz="2600" b="1" dirty="0" smtClean="0">
                <a:solidFill>
                  <a:srgbClr val="FF0000"/>
                </a:solidFill>
              </a:rPr>
              <a:t>Risk-Return Trade – off:</a:t>
            </a:r>
          </a:p>
          <a:p>
            <a:pPr marL="0" indent="0" algn="ctr">
              <a:buNone/>
            </a:pPr>
            <a:endParaRPr lang="en-IN" sz="4400" dirty="0">
              <a:solidFill>
                <a:srgbClr val="FF0000"/>
              </a:solidFill>
              <a:latin typeface="Bell MT" panose="02020503060305020303" pitchFamily="18" charset="0"/>
            </a:endParaRPr>
          </a:p>
          <a:p>
            <a:pPr marL="0" indent="0" algn="ctr">
              <a:buNone/>
            </a:pPr>
            <a:endParaRPr lang="en-IN" sz="4400" dirty="0" smtClean="0">
              <a:solidFill>
                <a:srgbClr val="FF0000"/>
              </a:solidFill>
              <a:latin typeface="Bell MT" panose="02020503060305020303" pitchFamily="18" charset="0"/>
            </a:endParaRPr>
          </a:p>
          <a:p>
            <a:pPr marL="0" indent="0" algn="ctr">
              <a:buNone/>
            </a:pPr>
            <a:endParaRPr lang="en-IN" sz="4400" dirty="0">
              <a:solidFill>
                <a:srgbClr val="FF0000"/>
              </a:solidFill>
              <a:latin typeface="Bell MT" panose="02020503060305020303" pitchFamily="18" charset="0"/>
            </a:endParaRPr>
          </a:p>
        </p:txBody>
      </p:sp>
      <p:pic>
        <p:nvPicPr>
          <p:cNvPr id="4" name="Picture 3"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329479"/>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228299" y="1698171"/>
            <a:ext cx="2494613" cy="800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Investment Decisions</a:t>
            </a:r>
            <a:endParaRPr lang="en-IN" sz="2000" b="1" dirty="0"/>
          </a:p>
        </p:txBody>
      </p:sp>
      <p:sp>
        <p:nvSpPr>
          <p:cNvPr id="5" name="Rectangle 4"/>
          <p:cNvSpPr/>
          <p:nvPr/>
        </p:nvSpPr>
        <p:spPr>
          <a:xfrm>
            <a:off x="4781005" y="1698171"/>
            <a:ext cx="2403565" cy="7707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Financing Decisions</a:t>
            </a:r>
            <a:endParaRPr lang="en-IN" sz="2000" b="1" dirty="0"/>
          </a:p>
        </p:txBody>
      </p:sp>
      <p:sp>
        <p:nvSpPr>
          <p:cNvPr id="6" name="Rectangle 5"/>
          <p:cNvSpPr/>
          <p:nvPr/>
        </p:nvSpPr>
        <p:spPr>
          <a:xfrm>
            <a:off x="8242663" y="1698170"/>
            <a:ext cx="2470830" cy="816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Dividend Decisions</a:t>
            </a:r>
            <a:endParaRPr lang="en-IN" sz="2000" b="1" dirty="0"/>
          </a:p>
        </p:txBody>
      </p:sp>
      <p:sp>
        <p:nvSpPr>
          <p:cNvPr id="7" name="Rectangle 6"/>
          <p:cNvSpPr/>
          <p:nvPr/>
        </p:nvSpPr>
        <p:spPr>
          <a:xfrm>
            <a:off x="1946366" y="3502427"/>
            <a:ext cx="1776546" cy="4948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Return</a:t>
            </a:r>
            <a:endParaRPr lang="en-IN" sz="2000" b="1" dirty="0"/>
          </a:p>
        </p:txBody>
      </p:sp>
      <p:sp>
        <p:nvSpPr>
          <p:cNvPr id="8" name="Rectangle 7"/>
          <p:cNvSpPr/>
          <p:nvPr/>
        </p:nvSpPr>
        <p:spPr>
          <a:xfrm>
            <a:off x="8386355" y="3502426"/>
            <a:ext cx="1410788" cy="4948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Risk</a:t>
            </a:r>
            <a:endParaRPr lang="en-IN" sz="2000" b="1" dirty="0"/>
          </a:p>
        </p:txBody>
      </p:sp>
      <p:sp>
        <p:nvSpPr>
          <p:cNvPr id="9" name="Rectangle 8"/>
          <p:cNvSpPr/>
          <p:nvPr/>
        </p:nvSpPr>
        <p:spPr>
          <a:xfrm>
            <a:off x="3722912" y="5001306"/>
            <a:ext cx="4794069" cy="7071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smtClean="0"/>
              <a:t>Market value of firm</a:t>
            </a:r>
            <a:endParaRPr lang="en-IN" sz="2000" b="1" dirty="0"/>
          </a:p>
        </p:txBody>
      </p:sp>
      <p:cxnSp>
        <p:nvCxnSpPr>
          <p:cNvPr id="11" name="Straight Connector 10"/>
          <p:cNvCxnSpPr>
            <a:endCxn id="7" idx="0"/>
          </p:cNvCxnSpPr>
          <p:nvPr/>
        </p:nvCxnSpPr>
        <p:spPr>
          <a:xfrm>
            <a:off x="2834639" y="3072808"/>
            <a:ext cx="0" cy="429619"/>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9176656" y="3072808"/>
            <a:ext cx="1" cy="447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834639" y="3072808"/>
            <a:ext cx="634201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6005647" y="2514599"/>
            <a:ext cx="0" cy="574453"/>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a:endCxn id="6" idx="2"/>
          </p:cNvCxnSpPr>
          <p:nvPr/>
        </p:nvCxnSpPr>
        <p:spPr>
          <a:xfrm flipV="1">
            <a:off x="6008914" y="2514599"/>
            <a:ext cx="3469164" cy="5624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651758" y="2498355"/>
            <a:ext cx="3353889" cy="574453"/>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a:endCxn id="9" idx="0"/>
          </p:cNvCxnSpPr>
          <p:nvPr/>
        </p:nvCxnSpPr>
        <p:spPr>
          <a:xfrm>
            <a:off x="2965269" y="3997234"/>
            <a:ext cx="3154678" cy="1004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V="1">
            <a:off x="6067694" y="4026707"/>
            <a:ext cx="3108962" cy="1004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a:off x="6792686" y="3841270"/>
            <a:ext cx="15936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3722912" y="3841270"/>
            <a:ext cx="17489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485807" y="3566385"/>
            <a:ext cx="1476105" cy="5064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rgbClr val="FF0000"/>
                </a:solidFill>
              </a:rPr>
              <a:t>Trade-off</a:t>
            </a:r>
          </a:p>
        </p:txBody>
      </p:sp>
    </p:spTree>
    <p:extLst>
      <p:ext uri="{BB962C8B-B14F-4D97-AF65-F5344CB8AC3E}">
        <p14:creationId xmlns:p14="http://schemas.microsoft.com/office/powerpoint/2010/main" val="269316260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6651"/>
            <a:ext cx="10515600" cy="5210312"/>
          </a:xfrm>
        </p:spPr>
        <p:txBody>
          <a:bodyPr>
            <a:normAutofit/>
          </a:bodyPr>
          <a:lstStyle/>
          <a:p>
            <a:pPr marL="0" indent="0" algn="ctr">
              <a:buNone/>
            </a:pPr>
            <a:endParaRPr lang="en-IN" sz="4400" dirty="0" smtClean="0">
              <a:solidFill>
                <a:srgbClr val="FF0000"/>
              </a:solidFill>
              <a:latin typeface="Bell MT" panose="02020503060305020303" pitchFamily="18" charset="0"/>
            </a:endParaRPr>
          </a:p>
          <a:p>
            <a:pPr marL="0" indent="0" algn="ctr">
              <a:buNone/>
            </a:pPr>
            <a:endParaRPr lang="en-IN" sz="4400" dirty="0">
              <a:solidFill>
                <a:srgbClr val="FF0000"/>
              </a:solidFill>
              <a:latin typeface="Bell MT" panose="02020503060305020303" pitchFamily="18" charset="0"/>
            </a:endParaRPr>
          </a:p>
          <a:p>
            <a:pPr marL="0" indent="0" algn="ctr">
              <a:buNone/>
            </a:pPr>
            <a:endParaRPr lang="en-IN" sz="4400" dirty="0" smtClean="0">
              <a:solidFill>
                <a:srgbClr val="FF0000"/>
              </a:solidFill>
              <a:latin typeface="Bell MT" panose="02020503060305020303" pitchFamily="18" charset="0"/>
            </a:endParaRPr>
          </a:p>
          <a:p>
            <a:pPr marL="0" indent="0" algn="ctr">
              <a:buNone/>
            </a:pPr>
            <a:r>
              <a:rPr lang="en-IN" sz="4400" b="1" dirty="0" smtClean="0">
                <a:solidFill>
                  <a:srgbClr val="FF0000"/>
                </a:solidFill>
                <a:latin typeface="Bell MT" panose="02020503060305020303" pitchFamily="18" charset="0"/>
              </a:rPr>
              <a:t>Thank You</a:t>
            </a:r>
            <a:endParaRPr lang="en-IN" sz="4400" b="1" dirty="0">
              <a:solidFill>
                <a:srgbClr val="FF0000"/>
              </a:solidFill>
              <a:latin typeface="Bell MT" panose="02020503060305020303" pitchFamily="18" charset="0"/>
            </a:endParaRPr>
          </a:p>
        </p:txBody>
      </p:sp>
      <p:pic>
        <p:nvPicPr>
          <p:cNvPr id="4" name="Picture 6" descr="Image result for sastra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7700" y="426461"/>
            <a:ext cx="18161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752031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1226</TotalTime>
  <Words>2659</Words>
  <Application>Microsoft Office PowerPoint</Application>
  <PresentationFormat>Widescreen</PresentationFormat>
  <Paragraphs>167</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Bell MT</vt:lpstr>
      <vt:lpstr>Bodoni MT</vt:lpstr>
      <vt:lpstr>Calibri</vt:lpstr>
      <vt:lpstr>Calibri Light</vt:lpstr>
      <vt:lpstr>Office Theme</vt:lpstr>
      <vt:lpstr>Introduction (Unit-I)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Sabarish</dc:creator>
  <cp:lastModifiedBy>Sabarish</cp:lastModifiedBy>
  <cp:revision>254</cp:revision>
  <dcterms:created xsi:type="dcterms:W3CDTF">2020-08-14T09:58:37Z</dcterms:created>
  <dcterms:modified xsi:type="dcterms:W3CDTF">2025-07-18T07:52:38Z</dcterms:modified>
</cp:coreProperties>
</file>