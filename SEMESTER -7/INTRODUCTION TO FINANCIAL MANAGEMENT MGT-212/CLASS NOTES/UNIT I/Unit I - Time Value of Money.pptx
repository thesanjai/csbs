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75" r:id="rId3"/>
    <p:sldId id="276" r:id="rId4"/>
    <p:sldId id="277" r:id="rId5"/>
    <p:sldId id="258" r:id="rId6"/>
    <p:sldId id="259" r:id="rId7"/>
    <p:sldId id="260" r:id="rId8"/>
    <p:sldId id="261" r:id="rId9"/>
    <p:sldId id="262" r:id="rId10"/>
    <p:sldId id="263" r:id="rId11"/>
    <p:sldId id="264" r:id="rId12"/>
    <p:sldId id="265" r:id="rId13"/>
    <p:sldId id="266" r:id="rId14"/>
    <p:sldId id="267" r:id="rId15"/>
    <p:sldId id="268" r:id="rId16"/>
    <p:sldId id="333" r:id="rId17"/>
    <p:sldId id="269" r:id="rId18"/>
    <p:sldId id="270" r:id="rId19"/>
    <p:sldId id="273" r:id="rId20"/>
    <p:sldId id="274" r:id="rId21"/>
    <p:sldId id="271" r:id="rId22"/>
    <p:sldId id="272" r:id="rId23"/>
    <p:sldId id="278" r:id="rId24"/>
    <p:sldId id="279" r:id="rId25"/>
    <p:sldId id="280" r:id="rId26"/>
    <p:sldId id="281" r:id="rId27"/>
    <p:sldId id="282" r:id="rId28"/>
    <p:sldId id="287" r:id="rId29"/>
    <p:sldId id="289" r:id="rId30"/>
    <p:sldId id="283" r:id="rId31"/>
    <p:sldId id="284" r:id="rId32"/>
    <p:sldId id="285" r:id="rId33"/>
    <p:sldId id="286" r:id="rId34"/>
    <p:sldId id="288" r:id="rId35"/>
    <p:sldId id="290" r:id="rId36"/>
    <p:sldId id="291" r:id="rId37"/>
    <p:sldId id="292" r:id="rId38"/>
    <p:sldId id="293" r:id="rId39"/>
    <p:sldId id="294" r:id="rId40"/>
    <p:sldId id="295" r:id="rId41"/>
    <p:sldId id="296" r:id="rId42"/>
    <p:sldId id="297" r:id="rId43"/>
    <p:sldId id="298" r:id="rId44"/>
    <p:sldId id="341"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6" r:id="rId61"/>
    <p:sldId id="315" r:id="rId62"/>
    <p:sldId id="323" r:id="rId63"/>
    <p:sldId id="324" r:id="rId64"/>
    <p:sldId id="314" r:id="rId65"/>
    <p:sldId id="32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4"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33006-06A7-49E3-87A3-FDBB1C0C455B}" type="datetimeFigureOut">
              <a:rPr lang="en-IN" smtClean="0"/>
              <a:t>01-08-2025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C27AF-625D-4EFB-9A7E-02E9799F38F8}" type="slidenum">
              <a:rPr lang="en-IN" smtClean="0"/>
              <a:t>‹#›</a:t>
            </a:fld>
            <a:endParaRPr lang="en-IN"/>
          </a:p>
        </p:txBody>
      </p:sp>
    </p:spTree>
    <p:extLst>
      <p:ext uri="{BB962C8B-B14F-4D97-AF65-F5344CB8AC3E}">
        <p14:creationId xmlns:p14="http://schemas.microsoft.com/office/powerpoint/2010/main" val="2203712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F12153B-129B-43A7-AAAB-C67472CC59F2}"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1593824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F12153B-129B-43A7-AAAB-C67472CC59F2}"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1704321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F12153B-129B-43A7-AAAB-C67472CC59F2}"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3184359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F12153B-129B-43A7-AAAB-C67472CC59F2}"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2720517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F12153B-129B-43A7-AAAB-C67472CC59F2}" type="datetimeFigureOut">
              <a:rPr lang="en-IN" smtClean="0"/>
              <a:t>01-08-2025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391754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F12153B-129B-43A7-AAAB-C67472CC59F2}" type="datetimeFigureOut">
              <a:rPr lang="en-IN" smtClean="0"/>
              <a:t>01-08-2025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408333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12153B-129B-43A7-AAAB-C67472CC59F2}" type="datetimeFigureOut">
              <a:rPr lang="en-IN" smtClean="0"/>
              <a:t>01-08-2025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3989909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F12153B-129B-43A7-AAAB-C67472CC59F2}"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293768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F12153B-129B-43A7-AAAB-C67472CC59F2}"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4192034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F12153B-129B-43A7-AAAB-C67472CC59F2}"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173381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F12153B-129B-43A7-AAAB-C67472CC59F2}"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162BF-E665-4C94-BD9B-57A85AD02E1B}" type="slidenum">
              <a:rPr lang="en-IN" smtClean="0"/>
              <a:t>‹#›</a:t>
            </a:fld>
            <a:endParaRPr lang="en-IN"/>
          </a:p>
        </p:txBody>
      </p:sp>
    </p:spTree>
    <p:extLst>
      <p:ext uri="{BB962C8B-B14F-4D97-AF65-F5344CB8AC3E}">
        <p14:creationId xmlns:p14="http://schemas.microsoft.com/office/powerpoint/2010/main" val="384107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2153B-129B-43A7-AAAB-C67472CC59F2}" type="datetimeFigureOut">
              <a:rPr lang="en-IN" smtClean="0"/>
              <a:t>01-08-2025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162BF-E665-4C94-BD9B-57A85AD02E1B}" type="slidenum">
              <a:rPr lang="en-IN" smtClean="0"/>
              <a:t>‹#›</a:t>
            </a:fld>
            <a:endParaRPr lang="en-IN"/>
          </a:p>
        </p:txBody>
      </p:sp>
    </p:spTree>
    <p:extLst>
      <p:ext uri="{BB962C8B-B14F-4D97-AF65-F5344CB8AC3E}">
        <p14:creationId xmlns:p14="http://schemas.microsoft.com/office/powerpoint/2010/main" val="80198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09" y="1015855"/>
            <a:ext cx="10515600" cy="1325563"/>
          </a:xfrm>
        </p:spPr>
        <p:txBody>
          <a:bodyPr/>
          <a:lstStyle/>
          <a:p>
            <a:pPr algn="ctr"/>
            <a:r>
              <a:rPr lang="en-IN" b="1" dirty="0" smtClean="0">
                <a:solidFill>
                  <a:srgbClr val="FF0000"/>
                </a:solidFill>
                <a:latin typeface="Bell MT" panose="02020503060305020303" pitchFamily="18" charset="0"/>
              </a:rPr>
              <a:t>Time Value of Money</a:t>
            </a:r>
            <a:br>
              <a:rPr lang="en-IN" b="1" dirty="0" smtClean="0">
                <a:solidFill>
                  <a:srgbClr val="FF0000"/>
                </a:solidFill>
                <a:latin typeface="Bell MT" panose="02020503060305020303" pitchFamily="18" charset="0"/>
              </a:rPr>
            </a:br>
            <a:r>
              <a:rPr lang="en-IN" sz="2400" b="1" dirty="0" smtClean="0">
                <a:solidFill>
                  <a:srgbClr val="FF0000"/>
                </a:solidFill>
                <a:latin typeface="Bell MT" panose="02020503060305020303" pitchFamily="18" charset="0"/>
              </a:rPr>
              <a:t>(Unit-I)</a:t>
            </a:r>
            <a:endParaRPr lang="en-IN" sz="2400" b="1" dirty="0">
              <a:solidFill>
                <a:srgbClr val="FF0000"/>
              </a:solidFill>
              <a:latin typeface="Bell MT" panose="02020503060305020303" pitchFamily="18" charset="0"/>
            </a:endParaRPr>
          </a:p>
        </p:txBody>
      </p:sp>
      <p:sp>
        <p:nvSpPr>
          <p:cNvPr id="4" name="Content Placeholder 2"/>
          <p:cNvSpPr>
            <a:spLocks noGrp="1"/>
          </p:cNvSpPr>
          <p:nvPr>
            <p:ph idx="1"/>
          </p:nvPr>
        </p:nvSpPr>
        <p:spPr>
          <a:xfrm>
            <a:off x="2715491" y="2341418"/>
            <a:ext cx="6262254" cy="3422074"/>
          </a:xfrm>
        </p:spPr>
        <p:txBody>
          <a:bodyPr>
            <a:normAutofit/>
          </a:bodyPr>
          <a:lstStyle/>
          <a:p>
            <a:pPr marL="0" indent="0" algn="ctr">
              <a:buNone/>
            </a:pPr>
            <a:endParaRPr lang="en-IN" sz="3600" dirty="0" smtClean="0">
              <a:solidFill>
                <a:schemeClr val="accent5">
                  <a:lumMod val="50000"/>
                </a:schemeClr>
              </a:solidFill>
              <a:latin typeface="Bodoni MT" panose="02070603080606020203" pitchFamily="18" charset="0"/>
              <a:cs typeface="Arial" panose="020B0604020202020204" pitchFamily="34" charset="0"/>
            </a:endParaRPr>
          </a:p>
          <a:p>
            <a:pPr marL="0" indent="0" algn="ctr">
              <a:buNone/>
            </a:pPr>
            <a:r>
              <a:rPr lang="en-IN" sz="3600" b="1" dirty="0" smtClean="0">
                <a:solidFill>
                  <a:schemeClr val="accent5">
                    <a:lumMod val="50000"/>
                  </a:schemeClr>
                </a:solidFill>
                <a:latin typeface="Bodoni MT" panose="02070603080606020203" pitchFamily="18" charset="0"/>
                <a:cs typeface="Arial" panose="020B0604020202020204" pitchFamily="34" charset="0"/>
              </a:rPr>
              <a:t>Dr.M.Velavan</a:t>
            </a:r>
            <a:endParaRPr lang="en-IN" sz="3600" b="1" dirty="0">
              <a:solidFill>
                <a:schemeClr val="accent5">
                  <a:lumMod val="50000"/>
                </a:schemeClr>
              </a:solidFill>
              <a:latin typeface="Bodoni MT" panose="02070603080606020203" pitchFamily="18" charset="0"/>
              <a:cs typeface="Arial" panose="020B0604020202020204" pitchFamily="34" charset="0"/>
            </a:endParaRPr>
          </a:p>
          <a:p>
            <a:pPr marL="0" indent="0" algn="ctr">
              <a:buNone/>
            </a:pPr>
            <a:r>
              <a:rPr lang="en-IN" dirty="0" smtClean="0">
                <a:solidFill>
                  <a:schemeClr val="accent5">
                    <a:lumMod val="50000"/>
                  </a:schemeClr>
                </a:solidFill>
                <a:latin typeface="Bodoni MT" panose="02070603080606020203" pitchFamily="18" charset="0"/>
                <a:cs typeface="Arial" panose="020B0604020202020204" pitchFamily="34" charset="0"/>
              </a:rPr>
              <a:t>Faculty</a:t>
            </a:r>
          </a:p>
          <a:p>
            <a:pPr marL="0" indent="0" algn="ctr">
              <a:buNone/>
            </a:pPr>
            <a:r>
              <a:rPr lang="en-IN" dirty="0" smtClean="0">
                <a:solidFill>
                  <a:schemeClr val="accent5">
                    <a:lumMod val="50000"/>
                  </a:schemeClr>
                </a:solidFill>
                <a:latin typeface="Bodoni MT" panose="02070603080606020203" pitchFamily="18" charset="0"/>
                <a:cs typeface="Arial" panose="020B0604020202020204" pitchFamily="34" charset="0"/>
              </a:rPr>
              <a:t>School </a:t>
            </a:r>
            <a:r>
              <a:rPr lang="en-IN" dirty="0">
                <a:solidFill>
                  <a:schemeClr val="accent5">
                    <a:lumMod val="50000"/>
                  </a:schemeClr>
                </a:solidFill>
                <a:latin typeface="Bodoni MT" panose="02070603080606020203" pitchFamily="18" charset="0"/>
                <a:cs typeface="Arial" panose="020B0604020202020204" pitchFamily="34" charset="0"/>
              </a:rPr>
              <a:t>of Management</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SASTRA Deemed University</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Thanjavur </a:t>
            </a:r>
            <a:r>
              <a:rPr lang="en-IN" dirty="0" smtClean="0">
                <a:solidFill>
                  <a:schemeClr val="accent5">
                    <a:lumMod val="50000"/>
                  </a:schemeClr>
                </a:solidFill>
                <a:latin typeface="Bodoni MT" panose="02070603080606020203" pitchFamily="18" charset="0"/>
                <a:cs typeface="Arial" panose="020B0604020202020204" pitchFamily="34" charset="0"/>
              </a:rPr>
              <a:t>– 613 401</a:t>
            </a:r>
            <a:endParaRPr lang="en-IN" dirty="0">
              <a:solidFill>
                <a:schemeClr val="accent5">
                  <a:lumMod val="50000"/>
                </a:schemeClr>
              </a:solidFill>
              <a:latin typeface="Bodoni MT" panose="02070603080606020203" pitchFamily="18" charset="0"/>
              <a:cs typeface="Arial" panose="020B0604020202020204" pitchFamily="34" charset="0"/>
            </a:endParaRPr>
          </a:p>
          <a:p>
            <a:pPr algn="ctr"/>
            <a:endParaRPr lang="en-IN" dirty="0"/>
          </a:p>
        </p:txBody>
      </p:sp>
      <p:pic>
        <p:nvPicPr>
          <p:cNvPr id="5"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5409" y="458643"/>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370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9093"/>
            <a:ext cx="10515600" cy="5317981"/>
          </a:xfrm>
        </p:spPr>
        <p:txBody>
          <a:bodyPr>
            <a:normAutofit/>
          </a:bodyPr>
          <a:lstStyle/>
          <a:p>
            <a:pPr marL="0" indent="0" algn="just">
              <a:buNone/>
            </a:pPr>
            <a:r>
              <a:rPr lang="en-IN" sz="2600" b="1" dirty="0" smtClean="0">
                <a:solidFill>
                  <a:srgbClr val="FF0000"/>
                </a:solidFill>
              </a:rPr>
              <a:t>1. Introduction:</a:t>
            </a:r>
          </a:p>
          <a:p>
            <a:pPr marL="0" indent="0" algn="just">
              <a:buNone/>
            </a:pPr>
            <a:r>
              <a:rPr lang="en-IN" sz="2600" dirty="0" smtClean="0"/>
              <a:t>Conceptually, the time value of money means that</a:t>
            </a:r>
            <a:r>
              <a:rPr lang="en-IN" sz="2600" dirty="0" smtClean="0">
                <a:solidFill>
                  <a:srgbClr val="FF0000"/>
                </a:solidFill>
              </a:rPr>
              <a:t> </a:t>
            </a:r>
            <a:r>
              <a:rPr lang="en-IN" sz="2600" b="1" dirty="0" smtClean="0">
                <a:solidFill>
                  <a:srgbClr val="00B050"/>
                </a:solidFill>
              </a:rPr>
              <a:t>the value of a unit of money is different in different time periods. </a:t>
            </a:r>
            <a:r>
              <a:rPr lang="en-IN" sz="2600" dirty="0" smtClean="0"/>
              <a:t>The value of a sum of money received today is more than its value received after some time. </a:t>
            </a:r>
            <a:r>
              <a:rPr lang="en-IN" sz="2600" b="1" dirty="0" smtClean="0">
                <a:solidFill>
                  <a:srgbClr val="FF0000"/>
                </a:solidFill>
              </a:rPr>
              <a:t>Conversely, the sum of money received in the future is less valuable than it is today. </a:t>
            </a:r>
            <a:r>
              <a:rPr lang="en-IN" sz="2600" dirty="0" smtClean="0"/>
              <a:t>In other words, the present worth of a rupee received after some time will be less than the </a:t>
            </a:r>
            <a:r>
              <a:rPr lang="en-IN" sz="2600" dirty="0"/>
              <a:t>r</a:t>
            </a:r>
            <a:r>
              <a:rPr lang="en-IN" sz="2600" dirty="0" smtClean="0"/>
              <a:t>upee received today. Since a </a:t>
            </a:r>
            <a:r>
              <a:rPr lang="en-IN" sz="2600" b="1" dirty="0" smtClean="0">
                <a:solidFill>
                  <a:srgbClr val="C00000"/>
                </a:solidFill>
              </a:rPr>
              <a:t>rupee received today has more value, </a:t>
            </a:r>
            <a:r>
              <a:rPr lang="en-IN" sz="2600" b="1" dirty="0" smtClean="0">
                <a:solidFill>
                  <a:srgbClr val="00B0F0"/>
                </a:solidFill>
              </a:rPr>
              <a:t>rational investors would prefer current receipts to future receipts. </a:t>
            </a:r>
            <a:r>
              <a:rPr lang="en-IN" sz="2600" b="1" dirty="0" smtClean="0">
                <a:solidFill>
                  <a:srgbClr val="00B050"/>
                </a:solidFill>
              </a:rPr>
              <a:t>The time value of money can also be referred to as time preference for money.</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3188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6242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9764" y="1165123"/>
            <a:ext cx="10515600" cy="4655127"/>
          </a:xfrm>
        </p:spPr>
        <p:txBody>
          <a:bodyPr>
            <a:normAutofit/>
          </a:bodyPr>
          <a:lstStyle/>
          <a:p>
            <a:pPr marL="0" indent="0" algn="just">
              <a:buNone/>
            </a:pPr>
            <a:r>
              <a:rPr lang="en-IN" sz="2600" dirty="0"/>
              <a:t>The main reason for the time preference for money is to be found in the </a:t>
            </a:r>
            <a:r>
              <a:rPr lang="en-IN" sz="2600" dirty="0">
                <a:solidFill>
                  <a:srgbClr val="FF0000"/>
                </a:solidFill>
              </a:rPr>
              <a:t>investment opportunities for funds </a:t>
            </a:r>
            <a:r>
              <a:rPr lang="en-IN" sz="2600" dirty="0" smtClean="0">
                <a:solidFill>
                  <a:srgbClr val="FF0000"/>
                </a:solidFill>
              </a:rPr>
              <a:t>that </a:t>
            </a:r>
            <a:r>
              <a:rPr lang="en-IN" sz="2600" dirty="0">
                <a:solidFill>
                  <a:srgbClr val="FF0000"/>
                </a:solidFill>
              </a:rPr>
              <a:t>are received early. </a:t>
            </a:r>
            <a:r>
              <a:rPr lang="en-IN" sz="2600" b="1" dirty="0">
                <a:solidFill>
                  <a:srgbClr val="00B050"/>
                </a:solidFill>
              </a:rPr>
              <a:t>The funds so invested will earn a rate of return, this would not be possible if the funds are received at a later time.</a:t>
            </a:r>
            <a:r>
              <a:rPr lang="en-IN" sz="2600" dirty="0">
                <a:solidFill>
                  <a:srgbClr val="00B050"/>
                </a:solidFill>
              </a:rPr>
              <a:t> </a:t>
            </a:r>
            <a:r>
              <a:rPr lang="en-IN" sz="2600" dirty="0"/>
              <a:t>The time preference for money is, therefore, expressed generally in terms of </a:t>
            </a:r>
            <a:r>
              <a:rPr lang="en-IN" sz="2600" b="1" dirty="0">
                <a:solidFill>
                  <a:srgbClr val="FF0000"/>
                </a:solidFill>
              </a:rPr>
              <a:t>a rate of return or more popularly as s discount rate or rate of interest</a:t>
            </a:r>
            <a:r>
              <a:rPr lang="en-IN" sz="2600" b="1" dirty="0" smtClean="0">
                <a:solidFill>
                  <a:srgbClr val="FF0000"/>
                </a:solidFill>
              </a:rPr>
              <a:t>.</a:t>
            </a:r>
          </a:p>
          <a:p>
            <a:pPr marL="0" indent="0" algn="just">
              <a:buNone/>
            </a:pPr>
            <a:r>
              <a:rPr lang="en-IN" sz="2600" dirty="0" smtClean="0">
                <a:solidFill>
                  <a:srgbClr val="FF0000"/>
                </a:solidFill>
              </a:rPr>
              <a:t>The expected rate of return as well as the time value of money</a:t>
            </a:r>
            <a:r>
              <a:rPr lang="en-IN" sz="2600" dirty="0" smtClean="0"/>
              <a:t> will vary from individual to individual depending, inter alia, </a:t>
            </a:r>
            <a:r>
              <a:rPr lang="en-IN" sz="2600" b="1" dirty="0" smtClean="0">
                <a:solidFill>
                  <a:srgbClr val="FF0000"/>
                </a:solidFill>
              </a:rPr>
              <a:t>on his perception. </a:t>
            </a:r>
            <a:r>
              <a:rPr lang="en-IN" sz="2600" dirty="0" smtClean="0"/>
              <a:t>The time value of money can be illustrated using a simple example:</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9264" y="35718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7320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2782" y="1080654"/>
            <a:ext cx="10515600" cy="4999327"/>
          </a:xfrm>
        </p:spPr>
        <p:txBody>
          <a:bodyPr>
            <a:normAutofit/>
          </a:bodyPr>
          <a:lstStyle/>
          <a:p>
            <a:pPr marL="0" indent="0" algn="just">
              <a:buNone/>
            </a:pPr>
            <a:r>
              <a:rPr lang="en-IN" sz="2600" dirty="0" smtClean="0"/>
              <a:t>a) Suppose</a:t>
            </a:r>
            <a:r>
              <a:rPr lang="en-IN" sz="2600" dirty="0"/>
              <a:t>, Mr X is given the choice of receiving Rs. </a:t>
            </a:r>
            <a:r>
              <a:rPr lang="en-IN" sz="2600" dirty="0" smtClean="0"/>
              <a:t>1,00,000 </a:t>
            </a:r>
            <a:r>
              <a:rPr lang="en-IN" sz="2600" dirty="0"/>
              <a:t>either now or one later year. </a:t>
            </a:r>
            <a:r>
              <a:rPr lang="en-IN" sz="2600" dirty="0">
                <a:solidFill>
                  <a:srgbClr val="FF0000"/>
                </a:solidFill>
              </a:rPr>
              <a:t>His choice would obviously be for the first alternative as he can deposit in his savings Bank account  and earn a nominal rate of interest, say five percent. </a:t>
            </a:r>
            <a:r>
              <a:rPr lang="en-IN" sz="2600" dirty="0"/>
              <a:t>So at the end of the year, the amount will accumulate to Rs. </a:t>
            </a:r>
            <a:r>
              <a:rPr lang="en-IN" sz="2600" dirty="0" smtClean="0"/>
              <a:t>1,05,000. </a:t>
            </a:r>
            <a:r>
              <a:rPr lang="en-IN" sz="2600" dirty="0"/>
              <a:t>In other words, the before Mr X is between Rs. </a:t>
            </a:r>
            <a:r>
              <a:rPr lang="en-IN" sz="2600" dirty="0" smtClean="0"/>
              <a:t>1,05,000 </a:t>
            </a:r>
            <a:r>
              <a:rPr lang="en-IN" sz="2600" dirty="0"/>
              <a:t>or Rs. </a:t>
            </a:r>
            <a:r>
              <a:rPr lang="en-IN" sz="2600" dirty="0" smtClean="0"/>
              <a:t>1,00,000 </a:t>
            </a:r>
            <a:r>
              <a:rPr lang="en-IN" sz="2600" dirty="0"/>
              <a:t>at the end of the year. </a:t>
            </a:r>
            <a:r>
              <a:rPr lang="en-IN" sz="2600" dirty="0">
                <a:solidFill>
                  <a:srgbClr val="FF0000"/>
                </a:solidFill>
              </a:rPr>
              <a:t>As a rational person, Mr X should be expected to prefer the larger amount i.e., Rs. </a:t>
            </a:r>
            <a:r>
              <a:rPr lang="en-IN" sz="2600" dirty="0" smtClean="0">
                <a:solidFill>
                  <a:srgbClr val="FF0000"/>
                </a:solidFill>
              </a:rPr>
              <a:t>1,05,000. </a:t>
            </a:r>
            <a:r>
              <a:rPr lang="en-IN" sz="2600" dirty="0">
                <a:solidFill>
                  <a:srgbClr val="FF0000"/>
                </a:solidFill>
              </a:rPr>
              <a:t>Here we say that the time value of money, that is, the rate of interest is five percent. </a:t>
            </a:r>
          </a:p>
          <a:p>
            <a:pPr algn="just"/>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82282" y="429164"/>
            <a:ext cx="1816100" cy="49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8706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4812"/>
            <a:ext cx="10515600" cy="5232151"/>
          </a:xfrm>
        </p:spPr>
        <p:txBody>
          <a:bodyPr>
            <a:normAutofit/>
          </a:bodyPr>
          <a:lstStyle/>
          <a:p>
            <a:pPr marL="0" indent="0" algn="just">
              <a:buNone/>
            </a:pPr>
            <a:r>
              <a:rPr lang="en-IN" sz="2600" dirty="0" smtClean="0">
                <a:solidFill>
                  <a:schemeClr val="tx1">
                    <a:lumMod val="95000"/>
                    <a:lumOff val="5000"/>
                  </a:schemeClr>
                </a:solidFill>
              </a:rPr>
              <a:t>b) We </a:t>
            </a:r>
            <a:r>
              <a:rPr lang="en-IN" sz="2600" dirty="0">
                <a:solidFill>
                  <a:schemeClr val="tx1">
                    <a:lumMod val="95000"/>
                    <a:lumOff val="5000"/>
                  </a:schemeClr>
                </a:solidFill>
              </a:rPr>
              <a:t>know that Rs. 100 in hand today is more valuable than Rs. 100 receivable after a year. We will not part with Rs. 100 now if the same sum is repaid after a year. </a:t>
            </a:r>
            <a:r>
              <a:rPr lang="en-IN" sz="2600" dirty="0">
                <a:solidFill>
                  <a:srgbClr val="FF0000"/>
                </a:solidFill>
              </a:rPr>
              <a:t>But we might part with Rs. 100 now if we are assured that Rs. 110 will be paid at the end of the first year. </a:t>
            </a:r>
            <a:r>
              <a:rPr lang="en-IN" sz="2600" dirty="0"/>
              <a:t>This “additional Compensation” required for parting Rs. 100 today, is called </a:t>
            </a:r>
            <a:r>
              <a:rPr lang="en-IN" sz="2600" dirty="0">
                <a:solidFill>
                  <a:srgbClr val="FF0000"/>
                </a:solidFill>
              </a:rPr>
              <a:t>“interest” or “the time value of money”.</a:t>
            </a:r>
            <a:r>
              <a:rPr lang="en-IN" sz="2600" dirty="0"/>
              <a:t> It is expressed in terms of percentage per annum. </a:t>
            </a:r>
            <a:endParaRPr lang="en-IN" sz="2600" dirty="0" smtClean="0"/>
          </a:p>
          <a:p>
            <a:pPr marL="0" indent="0" algn="just">
              <a:buNone/>
            </a:pPr>
            <a:r>
              <a:rPr lang="en-IN" sz="2600" dirty="0" smtClean="0"/>
              <a:t>So </a:t>
            </a:r>
            <a:r>
              <a:rPr lang="en-IN" sz="2600" dirty="0"/>
              <a:t>at the most basic level, the time value of money demonstrates the concept of time value: </a:t>
            </a:r>
            <a:endParaRPr lang="en-IN" sz="2600" dirty="0" smtClean="0"/>
          </a:p>
          <a:p>
            <a:pPr marL="0" indent="0" algn="just">
              <a:buNone/>
            </a:pPr>
            <a:r>
              <a:rPr lang="en-IN" sz="2600" b="1" dirty="0" smtClean="0">
                <a:solidFill>
                  <a:srgbClr val="00B050"/>
                </a:solidFill>
              </a:rPr>
              <a:t>“</a:t>
            </a:r>
            <a:r>
              <a:rPr lang="en-IN" sz="2600" b="1" dirty="0">
                <a:solidFill>
                  <a:srgbClr val="00B050"/>
                </a:solidFill>
              </a:rPr>
              <a:t>A rupee today is worth more than a rupee tomorrow.” </a:t>
            </a:r>
            <a:endParaRPr lang="en-IN" sz="2600" b="1" dirty="0" smtClean="0">
              <a:solidFill>
                <a:srgbClr val="00B050"/>
              </a:solidFill>
            </a:endParaRPr>
          </a:p>
          <a:p>
            <a:pPr marL="0" indent="0" algn="just">
              <a:buNone/>
            </a:pPr>
            <a:r>
              <a:rPr lang="en-IN" sz="2600" dirty="0" smtClean="0">
                <a:solidFill>
                  <a:srgbClr val="002060"/>
                </a:solidFill>
              </a:rPr>
              <a:t>The time </a:t>
            </a:r>
            <a:r>
              <a:rPr lang="en-IN" sz="2600" dirty="0">
                <a:solidFill>
                  <a:srgbClr val="002060"/>
                </a:solidFill>
              </a:rPr>
              <a:t>value of money results from the concept of interest.</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87600"/>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8563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803564"/>
            <a:ext cx="10515600" cy="5112328"/>
          </a:xfrm>
        </p:spPr>
        <p:txBody>
          <a:bodyPr>
            <a:normAutofit/>
          </a:bodyPr>
          <a:lstStyle/>
          <a:p>
            <a:pPr marL="0" indent="0" algn="just">
              <a:buNone/>
            </a:pPr>
            <a:r>
              <a:rPr lang="en-IN" sz="2600" b="1" dirty="0">
                <a:solidFill>
                  <a:srgbClr val="00B050"/>
                </a:solidFill>
              </a:rPr>
              <a:t>Why </a:t>
            </a:r>
            <a:r>
              <a:rPr lang="en-IN" sz="2600" b="1" dirty="0" smtClean="0">
                <a:solidFill>
                  <a:srgbClr val="00B050"/>
                </a:solidFill>
              </a:rPr>
              <a:t>Re.1 </a:t>
            </a:r>
            <a:r>
              <a:rPr lang="en-IN" sz="2600" b="1" dirty="0">
                <a:solidFill>
                  <a:srgbClr val="00B050"/>
                </a:solidFill>
              </a:rPr>
              <a:t>received today is worth more than </a:t>
            </a:r>
            <a:r>
              <a:rPr lang="en-IN" sz="2600" b="1" dirty="0" smtClean="0">
                <a:solidFill>
                  <a:srgbClr val="00B050"/>
                </a:solidFill>
              </a:rPr>
              <a:t>Re.1 </a:t>
            </a:r>
            <a:r>
              <a:rPr lang="en-IN" sz="2600" b="1" dirty="0">
                <a:solidFill>
                  <a:srgbClr val="00B050"/>
                </a:solidFill>
              </a:rPr>
              <a:t>received after a time period </a:t>
            </a:r>
            <a:endParaRPr lang="en-IN" sz="2600" b="1" dirty="0" smtClean="0">
              <a:solidFill>
                <a:srgbClr val="00B050"/>
              </a:solidFill>
            </a:endParaRPr>
          </a:p>
          <a:p>
            <a:pPr marL="0" indent="0" algn="just">
              <a:buNone/>
            </a:pPr>
            <a:r>
              <a:rPr lang="en-IN" sz="2600" dirty="0" smtClean="0"/>
              <a:t>There </a:t>
            </a:r>
            <a:r>
              <a:rPr lang="en-IN" sz="2600" dirty="0"/>
              <a:t>are four primary reasons why a </a:t>
            </a:r>
            <a:r>
              <a:rPr lang="en-IN" sz="2600" dirty="0" smtClean="0"/>
              <a:t>rupee </a:t>
            </a:r>
            <a:r>
              <a:rPr lang="en-IN" sz="2600" dirty="0"/>
              <a:t>to be received in the future is worth less than a </a:t>
            </a:r>
            <a:r>
              <a:rPr lang="en-IN" sz="2600" dirty="0" smtClean="0"/>
              <a:t>rupee </a:t>
            </a:r>
            <a:r>
              <a:rPr lang="en-IN" sz="2600" dirty="0"/>
              <a:t>to be received immediately. </a:t>
            </a:r>
            <a:endParaRPr lang="en-IN" sz="2600" dirty="0" smtClean="0"/>
          </a:p>
          <a:p>
            <a:pPr marL="0" indent="0" algn="just">
              <a:buNone/>
            </a:pPr>
            <a:r>
              <a:rPr lang="en-IN" sz="2600" dirty="0" smtClean="0"/>
              <a:t>1. </a:t>
            </a:r>
            <a:r>
              <a:rPr lang="en-IN" sz="2600" b="1" dirty="0" smtClean="0">
                <a:solidFill>
                  <a:srgbClr val="FF0000"/>
                </a:solidFill>
              </a:rPr>
              <a:t>Presence </a:t>
            </a:r>
            <a:r>
              <a:rPr lang="en-IN" sz="2600" b="1" dirty="0">
                <a:solidFill>
                  <a:srgbClr val="FF0000"/>
                </a:solidFill>
              </a:rPr>
              <a:t>of positive rates of inflation </a:t>
            </a:r>
            <a:r>
              <a:rPr lang="en-IN" sz="2600" dirty="0"/>
              <a:t>which </a:t>
            </a:r>
            <a:r>
              <a:rPr lang="en-IN" sz="2600" b="1" dirty="0">
                <a:solidFill>
                  <a:srgbClr val="FF0000"/>
                </a:solidFill>
              </a:rPr>
              <a:t>reduce the purchasing power of rupees through time.</a:t>
            </a:r>
            <a:r>
              <a:rPr lang="en-IN" sz="2600" dirty="0">
                <a:solidFill>
                  <a:srgbClr val="00B050"/>
                </a:solidFill>
              </a:rPr>
              <a:t> </a:t>
            </a:r>
            <a:r>
              <a:rPr lang="en-IN" sz="2600" dirty="0"/>
              <a:t>Suppose </a:t>
            </a:r>
            <a:r>
              <a:rPr lang="en-IN" sz="2600" dirty="0" smtClean="0"/>
              <a:t>the rate </a:t>
            </a:r>
            <a:r>
              <a:rPr lang="en-IN" sz="2600" dirty="0"/>
              <a:t>of petrol about one year back was R</a:t>
            </a:r>
            <a:r>
              <a:rPr lang="en-IN" sz="2600" dirty="0" smtClean="0"/>
              <a:t>s. 92 </a:t>
            </a:r>
            <a:r>
              <a:rPr lang="en-IN" sz="2600" dirty="0"/>
              <a:t>per litre and now it is </a:t>
            </a:r>
            <a:r>
              <a:rPr lang="en-IN" sz="2600" dirty="0" smtClean="0"/>
              <a:t>Rs.103 </a:t>
            </a:r>
            <a:r>
              <a:rPr lang="en-IN" sz="2600" dirty="0"/>
              <a:t>per litre. This may be observed that in this example </a:t>
            </a:r>
            <a:r>
              <a:rPr lang="en-IN" sz="2600" b="1" dirty="0">
                <a:solidFill>
                  <a:srgbClr val="FF0000"/>
                </a:solidFill>
              </a:rPr>
              <a:t>purchase power of </a:t>
            </a:r>
            <a:r>
              <a:rPr lang="en-IN" sz="2600" b="1" dirty="0" smtClean="0">
                <a:solidFill>
                  <a:srgbClr val="FF0000"/>
                </a:solidFill>
              </a:rPr>
              <a:t>the rupee </a:t>
            </a:r>
            <a:r>
              <a:rPr lang="en-IN" sz="2600" b="1" dirty="0">
                <a:solidFill>
                  <a:srgbClr val="FF0000"/>
                </a:solidFill>
              </a:rPr>
              <a:t>in terms of petrol purchased has decreased from </a:t>
            </a:r>
            <a:r>
              <a:rPr lang="en-IN" sz="2600" b="1" dirty="0" smtClean="0">
                <a:solidFill>
                  <a:srgbClr val="FF0000"/>
                </a:solidFill>
              </a:rPr>
              <a:t>1/92 </a:t>
            </a:r>
            <a:r>
              <a:rPr lang="en-IN" sz="2600" b="1" dirty="0">
                <a:solidFill>
                  <a:srgbClr val="FF0000"/>
                </a:solidFill>
              </a:rPr>
              <a:t>to </a:t>
            </a:r>
            <a:r>
              <a:rPr lang="en-IN" sz="2600" b="1" dirty="0" smtClean="0">
                <a:solidFill>
                  <a:srgbClr val="FF0000"/>
                </a:solidFill>
              </a:rPr>
              <a:t>1/103. </a:t>
            </a:r>
          </a:p>
          <a:p>
            <a:pPr marL="0" indent="0" algn="just">
              <a:buNone/>
            </a:pPr>
            <a:r>
              <a:rPr lang="en-IN" sz="2600" dirty="0" smtClean="0"/>
              <a:t>2</a:t>
            </a:r>
            <a:r>
              <a:rPr lang="en-IN" sz="2600" dirty="0"/>
              <a:t>. </a:t>
            </a:r>
            <a:r>
              <a:rPr lang="en-IN" sz="2600" b="1" dirty="0">
                <a:solidFill>
                  <a:srgbClr val="00B050"/>
                </a:solidFill>
              </a:rPr>
              <a:t>A rupee today is worth more today than in the future because of the opportunity cost of lost earning</a:t>
            </a:r>
            <a:r>
              <a:rPr lang="en-IN" sz="2600" dirty="0">
                <a:solidFill>
                  <a:srgbClr val="00B050"/>
                </a:solidFill>
              </a:rPr>
              <a:t>s </a:t>
            </a:r>
            <a:r>
              <a:rPr lang="en-IN" sz="2600" dirty="0"/>
              <a:t>— that is, it could have been invested and earned a return between today and a point in time in the future. </a:t>
            </a:r>
            <a:endParaRPr lang="en-IN" sz="2600" dirty="0" smtClean="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699" y="25308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6717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6652"/>
            <a:ext cx="10565674" cy="3605348"/>
          </a:xfrm>
        </p:spPr>
        <p:txBody>
          <a:bodyPr>
            <a:normAutofit/>
          </a:bodyPr>
          <a:lstStyle/>
          <a:p>
            <a:pPr marL="0" indent="0" algn="just">
              <a:buNone/>
            </a:pPr>
            <a:r>
              <a:rPr lang="en-IN" sz="2600" dirty="0"/>
              <a:t>3.</a:t>
            </a:r>
            <a:r>
              <a:rPr lang="en-IN" sz="2600" dirty="0">
                <a:solidFill>
                  <a:srgbClr val="FF0000"/>
                </a:solidFill>
              </a:rPr>
              <a:t> Thirdly</a:t>
            </a:r>
            <a:r>
              <a:rPr lang="en-IN" sz="2600" dirty="0"/>
              <a:t>, all future values are in some sense </a:t>
            </a:r>
            <a:r>
              <a:rPr lang="en-IN" sz="2600" b="1" dirty="0">
                <a:solidFill>
                  <a:srgbClr val="FF0000"/>
                </a:solidFill>
              </a:rPr>
              <a:t>only </a:t>
            </a:r>
            <a:r>
              <a:rPr lang="en-IN" sz="2600" b="1" dirty="0" smtClean="0">
                <a:solidFill>
                  <a:srgbClr val="FF0000"/>
                </a:solidFill>
              </a:rPr>
              <a:t>promises</a:t>
            </a:r>
            <a:r>
              <a:rPr lang="en-IN" sz="2600" b="1" dirty="0" smtClean="0"/>
              <a:t> </a:t>
            </a:r>
            <a:r>
              <a:rPr lang="en-IN" sz="2600" dirty="0"/>
              <a:t>and contain some </a:t>
            </a:r>
            <a:r>
              <a:rPr lang="en-IN" sz="2600" b="1" dirty="0">
                <a:solidFill>
                  <a:srgbClr val="FF0000"/>
                </a:solidFill>
              </a:rPr>
              <a:t>uncertainty about their occurrence. </a:t>
            </a:r>
            <a:r>
              <a:rPr lang="en-IN" sz="2600" dirty="0"/>
              <a:t>As a result of the risk of default or non-performance of an investment, a rupee in hand today is worth more than an expected rupee in the future. </a:t>
            </a:r>
          </a:p>
          <a:p>
            <a:pPr marL="0" indent="0" algn="just">
              <a:buNone/>
            </a:pPr>
            <a:r>
              <a:rPr lang="en-IN" sz="2600" dirty="0"/>
              <a:t>4</a:t>
            </a:r>
            <a:r>
              <a:rPr lang="en-IN" sz="2600" dirty="0">
                <a:solidFill>
                  <a:srgbClr val="FF0000"/>
                </a:solidFill>
              </a:rPr>
              <a:t>. Finally, </a:t>
            </a:r>
            <a:r>
              <a:rPr lang="en-IN" sz="2600" dirty="0"/>
              <a:t>human preferences typically involve impatience, or the preference to consume goods and </a:t>
            </a:r>
            <a:r>
              <a:rPr lang="en-IN" sz="2600" b="1" dirty="0">
                <a:solidFill>
                  <a:srgbClr val="FF0000"/>
                </a:solidFill>
              </a:rPr>
              <a:t>services now </a:t>
            </a:r>
            <a:r>
              <a:rPr lang="en-IN" sz="2600" dirty="0"/>
              <a:t>rather than in </a:t>
            </a:r>
            <a:r>
              <a:rPr lang="en-IN" sz="2600" b="1" dirty="0">
                <a:solidFill>
                  <a:srgbClr val="FF0000"/>
                </a:solidFill>
              </a:rPr>
              <a:t>the future. </a:t>
            </a: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7774" y="27881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1509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3514" y="845909"/>
            <a:ext cx="10515600" cy="5308148"/>
          </a:xfrm>
        </p:spPr>
        <p:txBody>
          <a:bodyPr>
            <a:noAutofit/>
          </a:bodyPr>
          <a:lstStyle/>
          <a:p>
            <a:pPr marL="0" indent="0" algn="just">
              <a:buNone/>
            </a:pPr>
            <a:r>
              <a:rPr lang="en-IN" sz="2600" b="1" dirty="0">
                <a:solidFill>
                  <a:srgbClr val="FF0000"/>
                </a:solidFill>
              </a:rPr>
              <a:t>Why should money have time value? </a:t>
            </a:r>
            <a:endParaRPr lang="en-IN" sz="2600" b="1" dirty="0" smtClean="0">
              <a:solidFill>
                <a:srgbClr val="FF0000"/>
              </a:solidFill>
            </a:endParaRPr>
          </a:p>
          <a:p>
            <a:pPr marL="0" indent="0" algn="just">
              <a:buNone/>
            </a:pPr>
            <a:r>
              <a:rPr lang="en-IN" sz="2600" dirty="0" smtClean="0"/>
              <a:t>Money </a:t>
            </a:r>
            <a:r>
              <a:rPr lang="en-IN" sz="2600" dirty="0"/>
              <a:t>should have time value for the following reasons : </a:t>
            </a:r>
            <a:endParaRPr lang="en-IN" sz="2600" dirty="0" smtClean="0"/>
          </a:p>
          <a:p>
            <a:pPr marL="0" indent="0" algn="just">
              <a:buNone/>
            </a:pPr>
            <a:r>
              <a:rPr lang="en-IN" sz="2600" dirty="0" smtClean="0"/>
              <a:t>(a) Money </a:t>
            </a:r>
            <a:r>
              <a:rPr lang="en-IN" sz="2600" dirty="0"/>
              <a:t>can be employed productively to generate real returns; </a:t>
            </a:r>
            <a:endParaRPr lang="en-IN" sz="2600" dirty="0" smtClean="0"/>
          </a:p>
          <a:p>
            <a:pPr marL="0" indent="0" algn="just">
              <a:buNone/>
            </a:pPr>
            <a:r>
              <a:rPr lang="en-IN" sz="2600" dirty="0" smtClean="0">
                <a:solidFill>
                  <a:srgbClr val="FF0000"/>
                </a:solidFill>
              </a:rPr>
              <a:t>(</a:t>
            </a:r>
            <a:r>
              <a:rPr lang="en-IN" sz="2600" dirty="0">
                <a:solidFill>
                  <a:srgbClr val="FF0000"/>
                </a:solidFill>
              </a:rPr>
              <a:t>b) In an inflationary period, a rupee today has higher purchasing power than a rupee in the future; </a:t>
            </a:r>
            <a:endParaRPr lang="en-IN" sz="2600" dirty="0" smtClean="0">
              <a:solidFill>
                <a:srgbClr val="FF0000"/>
              </a:solidFill>
            </a:endParaRPr>
          </a:p>
          <a:p>
            <a:pPr marL="0" indent="0" algn="just">
              <a:buNone/>
            </a:pPr>
            <a:r>
              <a:rPr lang="en-IN" sz="2600" dirty="0" smtClean="0"/>
              <a:t>(</a:t>
            </a:r>
            <a:r>
              <a:rPr lang="en-IN" sz="2600" dirty="0"/>
              <a:t>c) Due to uncertainties in the future, current consumption is preferred to future consumption. </a:t>
            </a:r>
            <a:endParaRPr lang="en-IN" sz="2600" dirty="0" smtClean="0"/>
          </a:p>
          <a:p>
            <a:pPr marL="0" indent="0" algn="just">
              <a:buNone/>
            </a:pPr>
            <a:r>
              <a:rPr lang="en-IN" sz="2600" dirty="0" smtClean="0"/>
              <a:t>The </a:t>
            </a:r>
            <a:r>
              <a:rPr lang="en-IN" sz="2600" dirty="0"/>
              <a:t>three determinants combined together can be expressed to determine the rate of interest as follows : </a:t>
            </a:r>
            <a:endParaRPr lang="en-IN" sz="2600" dirty="0" smtClean="0"/>
          </a:p>
          <a:p>
            <a:pPr marL="0" indent="0" algn="just">
              <a:buNone/>
            </a:pPr>
            <a:r>
              <a:rPr lang="en-IN" sz="2600" b="1" dirty="0" smtClean="0">
                <a:solidFill>
                  <a:srgbClr val="FF0000"/>
                </a:solidFill>
              </a:rPr>
              <a:t>Nominal </a:t>
            </a:r>
            <a:r>
              <a:rPr lang="en-IN" sz="2600" b="1" dirty="0">
                <a:solidFill>
                  <a:srgbClr val="FF0000"/>
                </a:solidFill>
              </a:rPr>
              <a:t>or market interest rate = </a:t>
            </a:r>
            <a:endParaRPr lang="en-IN" sz="2600" b="1" dirty="0" smtClean="0">
              <a:solidFill>
                <a:srgbClr val="FF0000"/>
              </a:solidFill>
            </a:endParaRPr>
          </a:p>
          <a:p>
            <a:pPr marL="0" indent="0" algn="just">
              <a:buNone/>
            </a:pPr>
            <a:r>
              <a:rPr lang="en-IN" sz="2600" b="1" dirty="0" smtClean="0">
                <a:solidFill>
                  <a:srgbClr val="00B050"/>
                </a:solidFill>
              </a:rPr>
              <a:t>Real </a:t>
            </a:r>
            <a:r>
              <a:rPr lang="en-IN" sz="2600" b="1" dirty="0">
                <a:solidFill>
                  <a:srgbClr val="00B050"/>
                </a:solidFill>
              </a:rPr>
              <a:t>rate of interest or return (+) Expected rate of inflation (+) Risk premiums to compensate for uncertainty.</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3014" y="28869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35481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6198"/>
            <a:ext cx="10515600" cy="4585063"/>
          </a:xfrm>
        </p:spPr>
        <p:txBody>
          <a:bodyPr>
            <a:normAutofit/>
          </a:bodyPr>
          <a:lstStyle/>
          <a:p>
            <a:pPr marL="0" indent="0" algn="just">
              <a:buNone/>
            </a:pPr>
            <a:r>
              <a:rPr lang="en-IN" sz="2600" b="1" dirty="0" smtClean="0">
                <a:solidFill>
                  <a:srgbClr val="FF0000"/>
                </a:solidFill>
              </a:rPr>
              <a:t>2. Methods </a:t>
            </a:r>
            <a:r>
              <a:rPr lang="en-IN" sz="2600" b="1" dirty="0">
                <a:solidFill>
                  <a:srgbClr val="FF0000"/>
                </a:solidFill>
              </a:rPr>
              <a:t>of Time Value of </a:t>
            </a:r>
            <a:r>
              <a:rPr lang="en-IN" sz="2600" b="1" dirty="0" smtClean="0">
                <a:solidFill>
                  <a:srgbClr val="FF0000"/>
                </a:solidFill>
              </a:rPr>
              <a:t>Money: </a:t>
            </a:r>
          </a:p>
          <a:p>
            <a:pPr marL="0" indent="0" algn="just">
              <a:buNone/>
            </a:pPr>
            <a:r>
              <a:rPr lang="en-IN" sz="2600" b="1" dirty="0" smtClean="0">
                <a:solidFill>
                  <a:srgbClr val="00B050"/>
                </a:solidFill>
              </a:rPr>
              <a:t>(1) Compounding </a:t>
            </a:r>
            <a:r>
              <a:rPr lang="en-IN" sz="2600" b="1" dirty="0">
                <a:solidFill>
                  <a:srgbClr val="00B050"/>
                </a:solidFill>
              </a:rPr>
              <a:t>: </a:t>
            </a:r>
            <a:endParaRPr lang="en-IN" sz="2600" b="1" dirty="0" smtClean="0">
              <a:solidFill>
                <a:srgbClr val="00B050"/>
              </a:solidFill>
            </a:endParaRPr>
          </a:p>
          <a:p>
            <a:pPr marL="0" indent="0" algn="just">
              <a:buNone/>
            </a:pPr>
            <a:r>
              <a:rPr lang="en-IN" sz="2600" dirty="0" smtClean="0"/>
              <a:t>We </a:t>
            </a:r>
            <a:r>
              <a:rPr lang="en-IN" sz="2600" dirty="0"/>
              <a:t>find the Future Values (FV) of all the cash flows at the end of the </a:t>
            </a:r>
            <a:r>
              <a:rPr lang="en-IN" sz="2600" dirty="0" smtClean="0"/>
              <a:t>period </a:t>
            </a:r>
            <a:r>
              <a:rPr lang="en-IN" sz="2600" dirty="0"/>
              <a:t>at a given rate of interest. </a:t>
            </a:r>
            <a:endParaRPr lang="en-IN" sz="2600" dirty="0" smtClean="0"/>
          </a:p>
          <a:p>
            <a:pPr marL="0" indent="0" algn="just">
              <a:buNone/>
            </a:pPr>
            <a:r>
              <a:rPr lang="en-IN" sz="2600" b="1" dirty="0" smtClean="0">
                <a:solidFill>
                  <a:srgbClr val="00B050"/>
                </a:solidFill>
              </a:rPr>
              <a:t>(</a:t>
            </a:r>
            <a:r>
              <a:rPr lang="en-IN" sz="2600" b="1" dirty="0">
                <a:solidFill>
                  <a:srgbClr val="00B050"/>
                </a:solidFill>
              </a:rPr>
              <a:t>2) Discounting : </a:t>
            </a:r>
            <a:endParaRPr lang="en-IN" sz="2600" b="1" dirty="0" smtClean="0">
              <a:solidFill>
                <a:srgbClr val="00B050"/>
              </a:solidFill>
            </a:endParaRPr>
          </a:p>
          <a:p>
            <a:pPr marL="0" indent="0" algn="just">
              <a:buNone/>
            </a:pPr>
            <a:r>
              <a:rPr lang="en-IN" sz="2600" dirty="0" smtClean="0"/>
              <a:t>We </a:t>
            </a:r>
            <a:r>
              <a:rPr lang="en-IN" sz="2600" dirty="0"/>
              <a:t>determine the Time Value of Money at Time “O” by comparing the initial outflow with the sum of the Present Values (PV) of the future inflows at a given rate of interest</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68986"/>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4168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071" y="910159"/>
            <a:ext cx="10578737" cy="5233096"/>
          </a:xfrm>
        </p:spPr>
        <p:txBody>
          <a:bodyPr>
            <a:normAutofit/>
          </a:bodyPr>
          <a:lstStyle/>
          <a:p>
            <a:pPr marL="0" indent="0">
              <a:buNone/>
            </a:pPr>
            <a:r>
              <a:rPr lang="en-IN" sz="2600" b="1" dirty="0" smtClean="0">
                <a:solidFill>
                  <a:srgbClr val="FF0000"/>
                </a:solidFill>
              </a:rPr>
              <a:t>Methods of Time Value of Money:</a:t>
            </a:r>
            <a:endParaRPr lang="en-IN" sz="2600" b="1" dirty="0">
              <a:solidFill>
                <a:srgbClr val="FF0000"/>
              </a:solidFill>
            </a:endParaRPr>
          </a:p>
        </p:txBody>
      </p:sp>
      <p:sp>
        <p:nvSpPr>
          <p:cNvPr id="6" name="Rectangle 5"/>
          <p:cNvSpPr/>
          <p:nvPr/>
        </p:nvSpPr>
        <p:spPr>
          <a:xfrm>
            <a:off x="4225162" y="1546692"/>
            <a:ext cx="3988527" cy="600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Time Value of Money</a:t>
            </a:r>
            <a:endParaRPr lang="en-IN" sz="2400" b="1" dirty="0"/>
          </a:p>
        </p:txBody>
      </p:sp>
      <p:sp>
        <p:nvSpPr>
          <p:cNvPr id="7" name="Rectangle 6"/>
          <p:cNvSpPr/>
          <p:nvPr/>
        </p:nvSpPr>
        <p:spPr>
          <a:xfrm>
            <a:off x="957483" y="2549646"/>
            <a:ext cx="4438353" cy="19071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smtClean="0">
                <a:solidFill>
                  <a:srgbClr val="FF0000"/>
                </a:solidFill>
              </a:rPr>
              <a:t>Compounding</a:t>
            </a:r>
            <a:r>
              <a:rPr lang="en-IN" sz="2400" b="1" dirty="0">
                <a:solidFill>
                  <a:srgbClr val="FF0000"/>
                </a:solidFill>
              </a:rPr>
              <a:t> </a:t>
            </a:r>
            <a:r>
              <a:rPr lang="en-IN" sz="2400" b="1" dirty="0" smtClean="0">
                <a:solidFill>
                  <a:srgbClr val="FF0000"/>
                </a:solidFill>
              </a:rPr>
              <a:t>- Future Value [FV]</a:t>
            </a:r>
            <a:r>
              <a:rPr lang="en-IN" sz="2400" b="1" dirty="0" smtClean="0"/>
              <a:t> </a:t>
            </a:r>
          </a:p>
          <a:p>
            <a:r>
              <a:rPr lang="en-IN" sz="2600" dirty="0" smtClean="0"/>
              <a:t>(</a:t>
            </a:r>
            <a:r>
              <a:rPr lang="en-IN" sz="2600" dirty="0"/>
              <a:t>a) Single Flow </a:t>
            </a:r>
            <a:endParaRPr lang="en-IN" sz="2600" dirty="0" smtClean="0"/>
          </a:p>
          <a:p>
            <a:r>
              <a:rPr lang="en-IN" sz="2600" dirty="0" smtClean="0"/>
              <a:t>(</a:t>
            </a:r>
            <a:r>
              <a:rPr lang="en-IN" sz="2600" dirty="0"/>
              <a:t>b) Multiple </a:t>
            </a:r>
            <a:r>
              <a:rPr lang="en-IN" sz="2600" dirty="0" smtClean="0"/>
              <a:t>Flows</a:t>
            </a:r>
          </a:p>
          <a:p>
            <a:r>
              <a:rPr lang="en-IN" sz="2600" dirty="0" smtClean="0"/>
              <a:t>(</a:t>
            </a:r>
            <a:r>
              <a:rPr lang="en-IN" sz="2600" dirty="0"/>
              <a:t>c) Annuity</a:t>
            </a:r>
          </a:p>
        </p:txBody>
      </p:sp>
      <p:sp>
        <p:nvSpPr>
          <p:cNvPr id="8" name="Rectangle 7"/>
          <p:cNvSpPr/>
          <p:nvPr/>
        </p:nvSpPr>
        <p:spPr>
          <a:xfrm>
            <a:off x="7127376" y="2551488"/>
            <a:ext cx="4366554" cy="20352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smtClean="0">
                <a:solidFill>
                  <a:srgbClr val="FF0000"/>
                </a:solidFill>
              </a:rPr>
              <a:t>Discounting</a:t>
            </a:r>
            <a:r>
              <a:rPr lang="en-IN" sz="2400" b="1" dirty="0">
                <a:solidFill>
                  <a:srgbClr val="FF0000"/>
                </a:solidFill>
              </a:rPr>
              <a:t> </a:t>
            </a:r>
            <a:r>
              <a:rPr lang="en-IN" sz="2400" b="1" dirty="0" smtClean="0">
                <a:solidFill>
                  <a:srgbClr val="FF0000"/>
                </a:solidFill>
              </a:rPr>
              <a:t>- Present Value [PV]</a:t>
            </a:r>
          </a:p>
          <a:p>
            <a:pPr marL="342900" indent="-342900">
              <a:buAutoNum type="alphaLcParenBoth"/>
            </a:pPr>
            <a:r>
              <a:rPr lang="en-IN" sz="2600" dirty="0" smtClean="0"/>
              <a:t> Single Flow </a:t>
            </a:r>
          </a:p>
          <a:p>
            <a:r>
              <a:rPr lang="en-IN" sz="2600" dirty="0" smtClean="0"/>
              <a:t>(</a:t>
            </a:r>
            <a:r>
              <a:rPr lang="en-IN" sz="2600" dirty="0"/>
              <a:t>b) Uneven Multiple Flows </a:t>
            </a:r>
            <a:endParaRPr lang="en-IN" sz="2600" dirty="0" smtClean="0"/>
          </a:p>
          <a:p>
            <a:r>
              <a:rPr lang="en-IN" sz="2600" dirty="0" smtClean="0"/>
              <a:t>(</a:t>
            </a:r>
            <a:r>
              <a:rPr lang="en-IN" sz="2600" dirty="0"/>
              <a:t>c) Annuity </a:t>
            </a:r>
            <a:endParaRPr lang="en-IN" sz="2600" dirty="0" smtClean="0"/>
          </a:p>
          <a:p>
            <a:r>
              <a:rPr lang="en-IN" sz="2600" dirty="0" smtClean="0"/>
              <a:t>(</a:t>
            </a:r>
            <a:r>
              <a:rPr lang="en-IN" sz="2600" dirty="0"/>
              <a:t>d) Perpetuity</a:t>
            </a:r>
          </a:p>
        </p:txBody>
      </p:sp>
      <p:cxnSp>
        <p:nvCxnSpPr>
          <p:cNvPr id="10" name="Straight Connector 9"/>
          <p:cNvCxnSpPr/>
          <p:nvPr/>
        </p:nvCxnSpPr>
        <p:spPr>
          <a:xfrm>
            <a:off x="8089841" y="1879926"/>
            <a:ext cx="18897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979601" y="1879926"/>
            <a:ext cx="0" cy="669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2658001" y="1796711"/>
            <a:ext cx="1619793"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658000" y="1779998"/>
            <a:ext cx="0" cy="769648"/>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4708" y="35294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p:cNvPicPr>
            <a:picLocks noChangeAspect="1"/>
          </p:cNvPicPr>
          <p:nvPr/>
        </p:nvPicPr>
        <p:blipFill>
          <a:blip r:embed="rId3"/>
          <a:stretch>
            <a:fillRect/>
          </a:stretch>
        </p:blipFill>
        <p:spPr>
          <a:xfrm>
            <a:off x="3619500" y="4699000"/>
            <a:ext cx="5041899" cy="1400491"/>
          </a:xfrm>
          <a:prstGeom prst="rect">
            <a:avLst/>
          </a:prstGeom>
        </p:spPr>
      </p:pic>
    </p:spTree>
    <p:extLst>
      <p:ext uri="{BB962C8B-B14F-4D97-AF65-F5344CB8AC3E}">
        <p14:creationId xmlns:p14="http://schemas.microsoft.com/office/powerpoint/2010/main" val="17195130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2140"/>
            <a:ext cx="10515600" cy="4872446"/>
          </a:xfrm>
        </p:spPr>
        <p:txBody>
          <a:bodyPr>
            <a:normAutofit/>
          </a:bodyPr>
          <a:lstStyle/>
          <a:p>
            <a:pPr marL="0" indent="0" algn="just">
              <a:buNone/>
            </a:pPr>
            <a:r>
              <a:rPr lang="en-IN" sz="2600" b="1" dirty="0" smtClean="0">
                <a:solidFill>
                  <a:srgbClr val="FF0000"/>
                </a:solidFill>
              </a:rPr>
              <a:t>1. Simple Interest: </a:t>
            </a:r>
          </a:p>
          <a:p>
            <a:pPr marL="0" indent="0" algn="just">
              <a:buNone/>
            </a:pPr>
            <a:r>
              <a:rPr lang="en-IN" sz="2600" dirty="0" smtClean="0"/>
              <a:t>Simple interest is the interest that accrues only on the amount originally borrowed. No interest accrues on the interest accrued previously but not paid. A formula for calculating simple interest is given below:</a:t>
            </a:r>
          </a:p>
          <a:p>
            <a:pPr marL="0" indent="0" algn="just">
              <a:buNone/>
            </a:pPr>
            <a:r>
              <a:rPr lang="en-IN" sz="2600" dirty="0" smtClean="0"/>
              <a:t>I = P × r × n </a:t>
            </a:r>
            <a:r>
              <a:rPr lang="en-IN" sz="2600" dirty="0" smtClean="0">
                <a:solidFill>
                  <a:srgbClr val="FF0000"/>
                </a:solidFill>
              </a:rPr>
              <a:t>or</a:t>
            </a:r>
            <a:r>
              <a:rPr lang="en-IN" sz="2600" dirty="0" smtClean="0"/>
              <a:t> Prn</a:t>
            </a:r>
          </a:p>
          <a:p>
            <a:pPr marL="0" indent="0" algn="just">
              <a:buNone/>
            </a:pPr>
            <a:r>
              <a:rPr lang="en-IN" sz="2600" dirty="0" smtClean="0">
                <a:solidFill>
                  <a:srgbClr val="FF0000"/>
                </a:solidFill>
              </a:rPr>
              <a:t>Where:</a:t>
            </a:r>
          </a:p>
          <a:p>
            <a:pPr marL="0" indent="0" algn="just">
              <a:buNone/>
            </a:pPr>
            <a:r>
              <a:rPr lang="en-IN" sz="2600" dirty="0" smtClean="0"/>
              <a:t>P = Principal amount at the beginning of the ’N’ period.</a:t>
            </a:r>
          </a:p>
          <a:p>
            <a:pPr marL="0" indent="0" algn="just">
              <a:buNone/>
            </a:pPr>
            <a:r>
              <a:rPr lang="en-IN" sz="2600" dirty="0" smtClean="0"/>
              <a:t>I = interest</a:t>
            </a:r>
          </a:p>
          <a:p>
            <a:pPr marL="0" indent="0" algn="just">
              <a:buNone/>
            </a:pPr>
            <a:r>
              <a:rPr lang="en-IN" sz="2600" dirty="0"/>
              <a:t>r</a:t>
            </a:r>
            <a:r>
              <a:rPr lang="en-IN" sz="2600" dirty="0" smtClean="0"/>
              <a:t> = Rate of interest</a:t>
            </a:r>
          </a:p>
          <a:p>
            <a:pPr marL="0" indent="0" algn="just">
              <a:buNone/>
            </a:pPr>
            <a:r>
              <a:rPr lang="en-IN" sz="2600" dirty="0"/>
              <a:t>n</a:t>
            </a:r>
            <a:r>
              <a:rPr lang="en-IN" sz="2600" dirty="0" smtClean="0"/>
              <a:t> = Number of years</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3492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67044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37" y="964383"/>
            <a:ext cx="10515600" cy="4911634"/>
          </a:xfrm>
        </p:spPr>
        <p:txBody>
          <a:bodyPr>
            <a:normAutofit/>
          </a:bodyPr>
          <a:lstStyle/>
          <a:p>
            <a:pPr marL="0" indent="0" algn="just">
              <a:buNone/>
            </a:pPr>
            <a:r>
              <a:rPr lang="en-IN" sz="2600" b="1" dirty="0" smtClean="0">
                <a:solidFill>
                  <a:srgbClr val="FF0000"/>
                </a:solidFill>
              </a:rPr>
              <a:t>Note:</a:t>
            </a:r>
          </a:p>
          <a:p>
            <a:pPr marL="0" indent="0" algn="just">
              <a:buNone/>
            </a:pPr>
            <a:r>
              <a:rPr lang="en-IN" sz="2600" dirty="0" smtClean="0"/>
              <a:t>Formula to calculate Future value (FV) and Principal (P):</a:t>
            </a:r>
          </a:p>
          <a:p>
            <a:pPr marL="0" indent="0" algn="just">
              <a:buNone/>
            </a:pPr>
            <a:r>
              <a:rPr lang="en-IN" sz="2600" b="1" dirty="0" smtClean="0">
                <a:solidFill>
                  <a:srgbClr val="FF0000"/>
                </a:solidFill>
              </a:rPr>
              <a:t>a) Future value on a simple interest basis:</a:t>
            </a:r>
          </a:p>
          <a:p>
            <a:pPr marL="0" indent="0" algn="just">
              <a:buNone/>
            </a:pPr>
            <a:r>
              <a:rPr lang="en-IN" sz="2600" dirty="0" smtClean="0"/>
              <a:t>FV = P[1+rn]</a:t>
            </a:r>
          </a:p>
          <a:p>
            <a:pPr marL="0" indent="0" algn="just">
              <a:buNone/>
            </a:pPr>
            <a:r>
              <a:rPr lang="en-IN" sz="2600" b="1" dirty="0" smtClean="0">
                <a:solidFill>
                  <a:srgbClr val="FF0000"/>
                </a:solidFill>
              </a:rPr>
              <a:t>b) Principal value on a simple interest basis:</a:t>
            </a:r>
          </a:p>
          <a:p>
            <a:pPr marL="0" indent="0" algn="just">
              <a:buNone/>
            </a:pPr>
            <a:r>
              <a:rPr lang="en-IN" sz="2600" dirty="0" smtClean="0"/>
              <a:t>P = FV/[1+rn]</a:t>
            </a:r>
            <a:endParaRPr lang="en-IN" sz="2600" baseline="30000" dirty="0" smtClean="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4637" y="40717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6965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3" y="679269"/>
            <a:ext cx="10515600" cy="5810021"/>
          </a:xfrm>
        </p:spPr>
        <p:txBody>
          <a:bodyPr/>
          <a:lstStyle/>
          <a:p>
            <a:pPr marL="0" indent="0" algn="just">
              <a:buNone/>
            </a:pPr>
            <a:r>
              <a:rPr lang="en-IN" sz="2600" b="1" dirty="0">
                <a:solidFill>
                  <a:srgbClr val="FF0000"/>
                </a:solidFill>
              </a:rPr>
              <a:t>Solved Problem</a:t>
            </a:r>
            <a:r>
              <a:rPr lang="en-IN" sz="2600" b="1" dirty="0" smtClean="0">
                <a:solidFill>
                  <a:srgbClr val="FF0000"/>
                </a:solidFill>
              </a:rPr>
              <a:t>:</a:t>
            </a:r>
            <a:endParaRPr lang="en-IN" sz="2600" dirty="0" smtClean="0"/>
          </a:p>
          <a:p>
            <a:pPr marL="0" indent="0" algn="just">
              <a:buNone/>
            </a:pPr>
            <a:r>
              <a:rPr lang="en-IN" dirty="0" smtClean="0"/>
              <a:t>1. </a:t>
            </a:r>
            <a:r>
              <a:rPr lang="en-IN" sz="2600" dirty="0"/>
              <a:t>Calculate simple interest and future value of an amount of Rs. 1,00,000 borrowed at a simple interest rate of 12% per annum for 6 months, one year, 2 years, 1095 </a:t>
            </a:r>
            <a:r>
              <a:rPr lang="en-IN" sz="2600" dirty="0" smtClean="0"/>
              <a:t>days, </a:t>
            </a:r>
            <a:r>
              <a:rPr lang="en-IN" sz="2600" dirty="0"/>
              <a:t>and 90 days.</a:t>
            </a:r>
          </a:p>
          <a:p>
            <a:pPr marL="0" indent="0" algn="just">
              <a:buNone/>
            </a:pPr>
            <a:r>
              <a:rPr lang="en-IN" sz="2600" b="1" dirty="0" smtClean="0">
                <a:solidFill>
                  <a:srgbClr val="FF0000"/>
                </a:solidFill>
              </a:rPr>
              <a:t>Solution:</a:t>
            </a:r>
          </a:p>
          <a:p>
            <a:pPr marL="0" indent="0" algn="ctr">
              <a:buNone/>
            </a:pPr>
            <a:r>
              <a:rPr lang="en-IN" sz="2600" dirty="0" smtClean="0">
                <a:solidFill>
                  <a:srgbClr val="FF0000"/>
                </a:solidFill>
              </a:rPr>
              <a:t>Statement showing the computation of simple interest and FV</a:t>
            </a:r>
          </a:p>
          <a:p>
            <a:pPr marL="0" indent="0" algn="ctr">
              <a:buNone/>
            </a:pPr>
            <a:endParaRPr lang="en-IN"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595508706"/>
              </p:ext>
            </p:extLst>
          </p:nvPr>
        </p:nvGraphicFramePr>
        <p:xfrm>
          <a:off x="838200" y="2769326"/>
          <a:ext cx="10515606" cy="3547534"/>
        </p:xfrm>
        <a:graphic>
          <a:graphicData uri="http://schemas.openxmlformats.org/drawingml/2006/table">
            <a:tbl>
              <a:tblPr firstRow="1" bandRow="1">
                <a:tableStyleId>{5C22544A-7EE6-4342-B048-85BDC9FD1C3A}</a:tableStyleId>
              </a:tblPr>
              <a:tblGrid>
                <a:gridCol w="3424084">
                  <a:extLst>
                    <a:ext uri="{9D8B030D-6E8A-4147-A177-3AD203B41FA5}">
                      <a16:colId xmlns:a16="http://schemas.microsoft.com/office/drawing/2014/main" val="3758205169"/>
                    </a:ext>
                  </a:extLst>
                </a:gridCol>
                <a:gridCol w="1548581">
                  <a:extLst>
                    <a:ext uri="{9D8B030D-6E8A-4147-A177-3AD203B41FA5}">
                      <a16:colId xmlns:a16="http://schemas.microsoft.com/office/drawing/2014/main" val="1501359516"/>
                    </a:ext>
                  </a:extLst>
                </a:gridCol>
                <a:gridCol w="1356851">
                  <a:extLst>
                    <a:ext uri="{9D8B030D-6E8A-4147-A177-3AD203B41FA5}">
                      <a16:colId xmlns:a16="http://schemas.microsoft.com/office/drawing/2014/main" val="34653670"/>
                    </a:ext>
                  </a:extLst>
                </a:gridCol>
                <a:gridCol w="1362336">
                  <a:extLst>
                    <a:ext uri="{9D8B030D-6E8A-4147-A177-3AD203B41FA5}">
                      <a16:colId xmlns:a16="http://schemas.microsoft.com/office/drawing/2014/main" val="74984523"/>
                    </a:ext>
                  </a:extLst>
                </a:gridCol>
                <a:gridCol w="1366116">
                  <a:extLst>
                    <a:ext uri="{9D8B030D-6E8A-4147-A177-3AD203B41FA5}">
                      <a16:colId xmlns:a16="http://schemas.microsoft.com/office/drawing/2014/main" val="1266569458"/>
                    </a:ext>
                  </a:extLst>
                </a:gridCol>
                <a:gridCol w="1457638">
                  <a:extLst>
                    <a:ext uri="{9D8B030D-6E8A-4147-A177-3AD203B41FA5}">
                      <a16:colId xmlns:a16="http://schemas.microsoft.com/office/drawing/2014/main" val="4176168683"/>
                    </a:ext>
                  </a:extLst>
                </a:gridCol>
              </a:tblGrid>
              <a:tr h="597746">
                <a:tc>
                  <a:txBody>
                    <a:bodyPr/>
                    <a:lstStyle/>
                    <a:p>
                      <a:pPr algn="l"/>
                      <a:r>
                        <a:rPr lang="en-IN" sz="2000" dirty="0" smtClean="0"/>
                        <a:t>Particulars</a:t>
                      </a:r>
                      <a:endParaRPr lang="en-IN" sz="2000" dirty="0"/>
                    </a:p>
                  </a:txBody>
                  <a:tcPr/>
                </a:tc>
                <a:tc>
                  <a:txBody>
                    <a:bodyPr/>
                    <a:lstStyle/>
                    <a:p>
                      <a:pPr algn="r"/>
                      <a:r>
                        <a:rPr lang="en-IN" sz="2000" dirty="0" smtClean="0"/>
                        <a:t>For 6 months </a:t>
                      </a:r>
                      <a:endParaRPr lang="en-IN" sz="2000" dirty="0"/>
                    </a:p>
                  </a:txBody>
                  <a:tcPr/>
                </a:tc>
                <a:tc>
                  <a:txBody>
                    <a:bodyPr/>
                    <a:lstStyle/>
                    <a:p>
                      <a:pPr algn="r"/>
                      <a:r>
                        <a:rPr lang="en-IN" sz="2000" dirty="0" smtClean="0"/>
                        <a:t>For 1 year</a:t>
                      </a:r>
                      <a:endParaRPr lang="en-IN" sz="2000" dirty="0"/>
                    </a:p>
                  </a:txBody>
                  <a:tcPr/>
                </a:tc>
                <a:tc>
                  <a:txBody>
                    <a:bodyPr/>
                    <a:lstStyle/>
                    <a:p>
                      <a:pPr algn="r"/>
                      <a:r>
                        <a:rPr lang="en-IN" sz="2000" dirty="0" smtClean="0"/>
                        <a:t>For 2 years </a:t>
                      </a:r>
                      <a:endParaRPr lang="en-IN" sz="2000" dirty="0"/>
                    </a:p>
                  </a:txBody>
                  <a:tcPr/>
                </a:tc>
                <a:tc>
                  <a:txBody>
                    <a:bodyPr/>
                    <a:lstStyle/>
                    <a:p>
                      <a:pPr algn="r"/>
                      <a:r>
                        <a:rPr lang="en-IN" sz="2000" dirty="0" smtClean="0"/>
                        <a:t>For 1095 days</a:t>
                      </a:r>
                      <a:endParaRPr lang="en-IN" sz="2000" dirty="0"/>
                    </a:p>
                  </a:txBody>
                  <a:tcPr/>
                </a:tc>
                <a:tc>
                  <a:txBody>
                    <a:bodyPr/>
                    <a:lstStyle/>
                    <a:p>
                      <a:pPr algn="r"/>
                      <a:r>
                        <a:rPr lang="en-IN" sz="2000" dirty="0" smtClean="0"/>
                        <a:t>For 90 days</a:t>
                      </a:r>
                      <a:endParaRPr lang="en-IN" sz="2000" dirty="0"/>
                    </a:p>
                  </a:txBody>
                  <a:tcPr/>
                </a:tc>
                <a:extLst>
                  <a:ext uri="{0D108BD9-81ED-4DB2-BD59-A6C34878D82A}">
                    <a16:rowId xmlns:a16="http://schemas.microsoft.com/office/drawing/2014/main" val="3307262311"/>
                  </a:ext>
                </a:extLst>
              </a:tr>
              <a:tr h="499534">
                <a:tc>
                  <a:txBody>
                    <a:bodyPr/>
                    <a:lstStyle/>
                    <a:p>
                      <a:pPr algn="l"/>
                      <a:r>
                        <a:rPr lang="en-IN" sz="2600" dirty="0" smtClean="0"/>
                        <a:t>Principal (Rs.)</a:t>
                      </a:r>
                      <a:endParaRPr lang="en-IN" sz="2600" dirty="0"/>
                    </a:p>
                  </a:txBody>
                  <a:tcPr/>
                </a:tc>
                <a:tc>
                  <a:txBody>
                    <a:bodyPr/>
                    <a:lstStyle/>
                    <a:p>
                      <a:pPr algn="r"/>
                      <a:r>
                        <a:rPr lang="en-IN" sz="2600" dirty="0" smtClean="0"/>
                        <a:t>1,00,000</a:t>
                      </a:r>
                      <a:endParaRPr lang="en-IN" sz="2600" dirty="0"/>
                    </a:p>
                  </a:txBody>
                  <a:tcPr/>
                </a:tc>
                <a:tc>
                  <a:txBody>
                    <a:bodyPr/>
                    <a:lstStyle/>
                    <a:p>
                      <a:pPr algn="r"/>
                      <a:r>
                        <a:rPr lang="en-IN" sz="2600" dirty="0" smtClean="0"/>
                        <a:t>1,00,000</a:t>
                      </a:r>
                      <a:endParaRPr lang="en-IN" sz="2600" dirty="0"/>
                    </a:p>
                  </a:txBody>
                  <a:tcPr/>
                </a:tc>
                <a:tc>
                  <a:txBody>
                    <a:bodyPr/>
                    <a:lstStyle/>
                    <a:p>
                      <a:pPr algn="r"/>
                      <a:r>
                        <a:rPr lang="en-IN" sz="2600" dirty="0" smtClean="0"/>
                        <a:t>1,00,000</a:t>
                      </a:r>
                      <a:endParaRPr lang="en-IN" sz="2600" dirty="0"/>
                    </a:p>
                  </a:txBody>
                  <a:tcPr/>
                </a:tc>
                <a:tc>
                  <a:txBody>
                    <a:bodyPr/>
                    <a:lstStyle/>
                    <a:p>
                      <a:pPr algn="r"/>
                      <a:r>
                        <a:rPr lang="en-IN" sz="2600" dirty="0" smtClean="0"/>
                        <a:t>1,00,000</a:t>
                      </a:r>
                      <a:endParaRPr lang="en-IN" sz="2600" dirty="0"/>
                    </a:p>
                  </a:txBody>
                  <a:tcPr/>
                </a:tc>
                <a:tc>
                  <a:txBody>
                    <a:bodyPr/>
                    <a:lstStyle/>
                    <a:p>
                      <a:pPr algn="r"/>
                      <a:r>
                        <a:rPr lang="en-IN" sz="2600" dirty="0" smtClean="0"/>
                        <a:t>1,00,000</a:t>
                      </a:r>
                      <a:endParaRPr lang="en-IN" sz="2600" dirty="0"/>
                    </a:p>
                  </a:txBody>
                  <a:tcPr/>
                </a:tc>
                <a:extLst>
                  <a:ext uri="{0D108BD9-81ED-4DB2-BD59-A6C34878D82A}">
                    <a16:rowId xmlns:a16="http://schemas.microsoft.com/office/drawing/2014/main" val="2534019921"/>
                  </a:ext>
                </a:extLst>
              </a:tr>
              <a:tr h="370840">
                <a:tc>
                  <a:txBody>
                    <a:bodyPr/>
                    <a:lstStyle/>
                    <a:p>
                      <a:pPr algn="l"/>
                      <a:r>
                        <a:rPr lang="en-IN" sz="2600" dirty="0" smtClean="0"/>
                        <a:t>Interest rate p.a.</a:t>
                      </a:r>
                      <a:r>
                        <a:rPr lang="en-IN" sz="2600" baseline="0" dirty="0" smtClean="0"/>
                        <a:t> (r)</a:t>
                      </a:r>
                      <a:endParaRPr lang="en-IN" sz="2600" dirty="0"/>
                    </a:p>
                  </a:txBody>
                  <a:tcPr/>
                </a:tc>
                <a:tc>
                  <a:txBody>
                    <a:bodyPr/>
                    <a:lstStyle/>
                    <a:p>
                      <a:pPr algn="r"/>
                      <a:r>
                        <a:rPr lang="en-IN" sz="2600" dirty="0" smtClean="0"/>
                        <a:t>0.12</a:t>
                      </a:r>
                      <a:endParaRPr lang="en-IN" sz="2600" dirty="0"/>
                    </a:p>
                  </a:txBody>
                  <a:tcPr/>
                </a:tc>
                <a:tc>
                  <a:txBody>
                    <a:bodyPr/>
                    <a:lstStyle/>
                    <a:p>
                      <a:pPr algn="r"/>
                      <a:r>
                        <a:rPr lang="en-IN" sz="2600" dirty="0" smtClean="0"/>
                        <a:t>0.12</a:t>
                      </a:r>
                      <a:endParaRPr lang="en-IN" sz="2600" dirty="0"/>
                    </a:p>
                  </a:txBody>
                  <a:tcPr/>
                </a:tc>
                <a:tc>
                  <a:txBody>
                    <a:bodyPr/>
                    <a:lstStyle/>
                    <a:p>
                      <a:pPr algn="r"/>
                      <a:r>
                        <a:rPr lang="en-IN" sz="2600" dirty="0" smtClean="0"/>
                        <a:t>0.12</a:t>
                      </a:r>
                      <a:endParaRPr lang="en-IN" sz="2600" dirty="0"/>
                    </a:p>
                  </a:txBody>
                  <a:tcPr/>
                </a:tc>
                <a:tc>
                  <a:txBody>
                    <a:bodyPr/>
                    <a:lstStyle/>
                    <a:p>
                      <a:pPr algn="r"/>
                      <a:r>
                        <a:rPr lang="en-IN" sz="2600" dirty="0" smtClean="0"/>
                        <a:t>0.12</a:t>
                      </a:r>
                      <a:endParaRPr lang="en-IN" sz="2600" dirty="0"/>
                    </a:p>
                  </a:txBody>
                  <a:tcPr/>
                </a:tc>
                <a:tc>
                  <a:txBody>
                    <a:bodyPr/>
                    <a:lstStyle/>
                    <a:p>
                      <a:pPr algn="r"/>
                      <a:r>
                        <a:rPr lang="en-IN" sz="2600" dirty="0" smtClean="0"/>
                        <a:t>0.12</a:t>
                      </a:r>
                      <a:endParaRPr lang="en-IN" sz="2600" dirty="0"/>
                    </a:p>
                  </a:txBody>
                  <a:tcPr/>
                </a:tc>
                <a:extLst>
                  <a:ext uri="{0D108BD9-81ED-4DB2-BD59-A6C34878D82A}">
                    <a16:rowId xmlns:a16="http://schemas.microsoft.com/office/drawing/2014/main" val="2538583177"/>
                  </a:ext>
                </a:extLst>
              </a:tr>
              <a:tr h="370840">
                <a:tc>
                  <a:txBody>
                    <a:bodyPr/>
                    <a:lstStyle/>
                    <a:p>
                      <a:pPr algn="l"/>
                      <a:r>
                        <a:rPr lang="en-IN" sz="2600" dirty="0" smtClean="0"/>
                        <a:t>Time period (n)</a:t>
                      </a:r>
                      <a:endParaRPr lang="en-IN" sz="2600" dirty="0"/>
                    </a:p>
                  </a:txBody>
                  <a:tcPr/>
                </a:tc>
                <a:tc>
                  <a:txBody>
                    <a:bodyPr/>
                    <a:lstStyle/>
                    <a:p>
                      <a:pPr algn="r"/>
                      <a:r>
                        <a:rPr lang="en-IN" sz="2600" dirty="0" smtClean="0"/>
                        <a:t>0.5</a:t>
                      </a:r>
                      <a:endParaRPr lang="en-IN" sz="2600" dirty="0"/>
                    </a:p>
                  </a:txBody>
                  <a:tcPr/>
                </a:tc>
                <a:tc>
                  <a:txBody>
                    <a:bodyPr/>
                    <a:lstStyle/>
                    <a:p>
                      <a:pPr algn="r"/>
                      <a:r>
                        <a:rPr lang="en-IN" sz="2600" dirty="0" smtClean="0"/>
                        <a:t>1</a:t>
                      </a:r>
                      <a:endParaRPr lang="en-IN" sz="2600" dirty="0"/>
                    </a:p>
                  </a:txBody>
                  <a:tcPr/>
                </a:tc>
                <a:tc>
                  <a:txBody>
                    <a:bodyPr/>
                    <a:lstStyle/>
                    <a:p>
                      <a:pPr algn="r"/>
                      <a:r>
                        <a:rPr lang="en-IN" sz="2600" dirty="0" smtClean="0"/>
                        <a:t>2</a:t>
                      </a:r>
                      <a:endParaRPr lang="en-IN" sz="2600" dirty="0"/>
                    </a:p>
                  </a:txBody>
                  <a:tcPr/>
                </a:tc>
                <a:tc>
                  <a:txBody>
                    <a:bodyPr/>
                    <a:lstStyle/>
                    <a:p>
                      <a:pPr algn="r"/>
                      <a:r>
                        <a:rPr lang="en-IN" sz="2600" dirty="0" smtClean="0"/>
                        <a:t>3</a:t>
                      </a:r>
                      <a:endParaRPr lang="en-IN" sz="2600" dirty="0"/>
                    </a:p>
                  </a:txBody>
                  <a:tcPr/>
                </a:tc>
                <a:tc>
                  <a:txBody>
                    <a:bodyPr/>
                    <a:lstStyle/>
                    <a:p>
                      <a:pPr algn="r"/>
                      <a:r>
                        <a:rPr lang="en-IN" sz="2600" dirty="0" smtClean="0"/>
                        <a:t>90 days</a:t>
                      </a:r>
                      <a:endParaRPr lang="en-IN" sz="2600" dirty="0"/>
                    </a:p>
                  </a:txBody>
                  <a:tcPr/>
                </a:tc>
                <a:extLst>
                  <a:ext uri="{0D108BD9-81ED-4DB2-BD59-A6C34878D82A}">
                    <a16:rowId xmlns:a16="http://schemas.microsoft.com/office/drawing/2014/main" val="1642181932"/>
                  </a:ext>
                </a:extLst>
              </a:tr>
              <a:tr h="370840">
                <a:tc>
                  <a:txBody>
                    <a:bodyPr/>
                    <a:lstStyle/>
                    <a:p>
                      <a:pPr algn="l"/>
                      <a:r>
                        <a:rPr lang="en-IN" sz="2600" dirty="0" smtClean="0">
                          <a:solidFill>
                            <a:srgbClr val="00B050"/>
                          </a:solidFill>
                        </a:rPr>
                        <a:t>Simple</a:t>
                      </a:r>
                      <a:r>
                        <a:rPr lang="en-IN" sz="2600" baseline="0" dirty="0" smtClean="0">
                          <a:solidFill>
                            <a:srgbClr val="00B050"/>
                          </a:solidFill>
                        </a:rPr>
                        <a:t> interest </a:t>
                      </a:r>
                    </a:p>
                    <a:p>
                      <a:pPr algn="l"/>
                      <a:r>
                        <a:rPr lang="en-IN" sz="2600" baseline="0" dirty="0" smtClean="0">
                          <a:solidFill>
                            <a:srgbClr val="00B050"/>
                          </a:solidFill>
                        </a:rPr>
                        <a:t>( P × r × n) (Rs.)</a:t>
                      </a:r>
                      <a:endParaRPr lang="en-IN" sz="2600" dirty="0">
                        <a:solidFill>
                          <a:srgbClr val="00B050"/>
                        </a:solidFill>
                      </a:endParaRPr>
                    </a:p>
                  </a:txBody>
                  <a:tcPr/>
                </a:tc>
                <a:tc>
                  <a:txBody>
                    <a:bodyPr/>
                    <a:lstStyle/>
                    <a:p>
                      <a:pPr algn="r"/>
                      <a:r>
                        <a:rPr lang="en-IN" sz="2600" dirty="0" smtClean="0">
                          <a:solidFill>
                            <a:srgbClr val="00B050"/>
                          </a:solidFill>
                        </a:rPr>
                        <a:t>6,000</a:t>
                      </a:r>
                      <a:endParaRPr lang="en-IN" sz="2600" dirty="0">
                        <a:solidFill>
                          <a:srgbClr val="00B050"/>
                        </a:solidFill>
                      </a:endParaRPr>
                    </a:p>
                  </a:txBody>
                  <a:tcPr/>
                </a:tc>
                <a:tc>
                  <a:txBody>
                    <a:bodyPr/>
                    <a:lstStyle/>
                    <a:p>
                      <a:pPr algn="r"/>
                      <a:r>
                        <a:rPr lang="en-IN" sz="2600" dirty="0" smtClean="0">
                          <a:solidFill>
                            <a:srgbClr val="00B050"/>
                          </a:solidFill>
                        </a:rPr>
                        <a:t>12,000</a:t>
                      </a:r>
                      <a:endParaRPr lang="en-IN" sz="2600" dirty="0">
                        <a:solidFill>
                          <a:srgbClr val="00B050"/>
                        </a:solidFill>
                      </a:endParaRPr>
                    </a:p>
                  </a:txBody>
                  <a:tcPr/>
                </a:tc>
                <a:tc>
                  <a:txBody>
                    <a:bodyPr/>
                    <a:lstStyle/>
                    <a:p>
                      <a:pPr algn="r"/>
                      <a:r>
                        <a:rPr lang="en-IN" sz="2600" dirty="0" smtClean="0">
                          <a:solidFill>
                            <a:srgbClr val="00B050"/>
                          </a:solidFill>
                        </a:rPr>
                        <a:t>24,000</a:t>
                      </a:r>
                      <a:endParaRPr lang="en-IN" sz="2600" dirty="0">
                        <a:solidFill>
                          <a:srgbClr val="00B050"/>
                        </a:solidFill>
                      </a:endParaRPr>
                    </a:p>
                  </a:txBody>
                  <a:tcPr/>
                </a:tc>
                <a:tc>
                  <a:txBody>
                    <a:bodyPr/>
                    <a:lstStyle/>
                    <a:p>
                      <a:pPr algn="r"/>
                      <a:r>
                        <a:rPr lang="en-IN" sz="2600" dirty="0" smtClean="0">
                          <a:solidFill>
                            <a:srgbClr val="00B050"/>
                          </a:solidFill>
                        </a:rPr>
                        <a:t>36,000</a:t>
                      </a:r>
                      <a:endParaRPr lang="en-IN" sz="2600" dirty="0">
                        <a:solidFill>
                          <a:srgbClr val="00B050"/>
                        </a:solidFill>
                      </a:endParaRPr>
                    </a:p>
                  </a:txBody>
                  <a:tcPr/>
                </a:tc>
                <a:tc>
                  <a:txBody>
                    <a:bodyPr/>
                    <a:lstStyle/>
                    <a:p>
                      <a:pPr algn="r"/>
                      <a:r>
                        <a:rPr lang="en-IN" sz="2600" dirty="0" smtClean="0">
                          <a:solidFill>
                            <a:srgbClr val="00B050"/>
                          </a:solidFill>
                        </a:rPr>
                        <a:t>2,959</a:t>
                      </a:r>
                      <a:endParaRPr lang="en-IN" sz="2600" dirty="0">
                        <a:solidFill>
                          <a:srgbClr val="00B050"/>
                        </a:solidFill>
                      </a:endParaRPr>
                    </a:p>
                  </a:txBody>
                  <a:tcPr/>
                </a:tc>
                <a:extLst>
                  <a:ext uri="{0D108BD9-81ED-4DB2-BD59-A6C34878D82A}">
                    <a16:rowId xmlns:a16="http://schemas.microsoft.com/office/drawing/2014/main" val="1627547012"/>
                  </a:ext>
                </a:extLst>
              </a:tr>
              <a:tr h="370840">
                <a:tc>
                  <a:txBody>
                    <a:bodyPr/>
                    <a:lstStyle/>
                    <a:p>
                      <a:pPr algn="l"/>
                      <a:r>
                        <a:rPr lang="en-IN" sz="2600" dirty="0" smtClean="0">
                          <a:solidFill>
                            <a:srgbClr val="FF0000"/>
                          </a:solidFill>
                        </a:rPr>
                        <a:t>FV</a:t>
                      </a:r>
                      <a:r>
                        <a:rPr lang="en-IN" sz="2600" baseline="0" dirty="0" smtClean="0">
                          <a:solidFill>
                            <a:srgbClr val="FF0000"/>
                          </a:solidFill>
                        </a:rPr>
                        <a:t> ( P + Interest) (Rs.)</a:t>
                      </a:r>
                      <a:endParaRPr lang="en-IN" sz="2600" dirty="0">
                        <a:solidFill>
                          <a:srgbClr val="FF0000"/>
                        </a:solidFill>
                      </a:endParaRPr>
                    </a:p>
                  </a:txBody>
                  <a:tcPr/>
                </a:tc>
                <a:tc>
                  <a:txBody>
                    <a:bodyPr/>
                    <a:lstStyle/>
                    <a:p>
                      <a:pPr algn="r"/>
                      <a:r>
                        <a:rPr lang="en-IN" sz="2600" dirty="0" smtClean="0">
                          <a:solidFill>
                            <a:srgbClr val="FF0000"/>
                          </a:solidFill>
                        </a:rPr>
                        <a:t>1,06,000</a:t>
                      </a:r>
                      <a:endParaRPr lang="en-IN" sz="2600" dirty="0">
                        <a:solidFill>
                          <a:srgbClr val="FF0000"/>
                        </a:solidFill>
                      </a:endParaRPr>
                    </a:p>
                  </a:txBody>
                  <a:tcPr/>
                </a:tc>
                <a:tc>
                  <a:txBody>
                    <a:bodyPr/>
                    <a:lstStyle/>
                    <a:p>
                      <a:pPr algn="r"/>
                      <a:r>
                        <a:rPr lang="en-IN" sz="2600" dirty="0" smtClean="0">
                          <a:solidFill>
                            <a:srgbClr val="FF0000"/>
                          </a:solidFill>
                        </a:rPr>
                        <a:t>1,12,000</a:t>
                      </a:r>
                      <a:endParaRPr lang="en-IN" sz="2600" dirty="0">
                        <a:solidFill>
                          <a:srgbClr val="FF0000"/>
                        </a:solidFill>
                      </a:endParaRPr>
                    </a:p>
                  </a:txBody>
                  <a:tcPr/>
                </a:tc>
                <a:tc>
                  <a:txBody>
                    <a:bodyPr/>
                    <a:lstStyle/>
                    <a:p>
                      <a:pPr algn="r"/>
                      <a:r>
                        <a:rPr lang="en-IN" sz="2600" dirty="0" smtClean="0">
                          <a:solidFill>
                            <a:srgbClr val="FF0000"/>
                          </a:solidFill>
                        </a:rPr>
                        <a:t>1,24,000</a:t>
                      </a:r>
                      <a:endParaRPr lang="en-IN" sz="2600" dirty="0">
                        <a:solidFill>
                          <a:srgbClr val="FF0000"/>
                        </a:solidFill>
                      </a:endParaRPr>
                    </a:p>
                  </a:txBody>
                  <a:tcPr/>
                </a:tc>
                <a:tc>
                  <a:txBody>
                    <a:bodyPr/>
                    <a:lstStyle/>
                    <a:p>
                      <a:pPr algn="r"/>
                      <a:r>
                        <a:rPr lang="en-IN" sz="2600" dirty="0" smtClean="0">
                          <a:solidFill>
                            <a:srgbClr val="FF0000"/>
                          </a:solidFill>
                        </a:rPr>
                        <a:t>1,36,000</a:t>
                      </a:r>
                      <a:endParaRPr lang="en-IN" sz="2600" dirty="0">
                        <a:solidFill>
                          <a:srgbClr val="FF0000"/>
                        </a:solidFill>
                      </a:endParaRPr>
                    </a:p>
                  </a:txBody>
                  <a:tcPr/>
                </a:tc>
                <a:tc>
                  <a:txBody>
                    <a:bodyPr/>
                    <a:lstStyle/>
                    <a:p>
                      <a:pPr algn="r"/>
                      <a:r>
                        <a:rPr lang="en-IN" sz="2600" dirty="0" smtClean="0">
                          <a:solidFill>
                            <a:srgbClr val="FF0000"/>
                          </a:solidFill>
                        </a:rPr>
                        <a:t>1,02,959</a:t>
                      </a:r>
                      <a:endParaRPr lang="en-IN" sz="2600" dirty="0">
                        <a:solidFill>
                          <a:srgbClr val="FF0000"/>
                        </a:solidFill>
                      </a:endParaRPr>
                    </a:p>
                  </a:txBody>
                  <a:tcPr/>
                </a:tc>
                <a:extLst>
                  <a:ext uri="{0D108BD9-81ED-4DB2-BD59-A6C34878D82A}">
                    <a16:rowId xmlns:a16="http://schemas.microsoft.com/office/drawing/2014/main" val="2221100442"/>
                  </a:ext>
                </a:extLst>
              </a:tr>
            </a:tbl>
          </a:graphicData>
        </a:graphic>
      </p:graphicFrame>
      <p:pic>
        <p:nvPicPr>
          <p:cNvPr id="5"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3" y="12205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1033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7083"/>
            <a:ext cx="10515600" cy="5301752"/>
          </a:xfrm>
        </p:spPr>
        <p:txBody>
          <a:bodyPr>
            <a:normAutofit/>
          </a:bodyPr>
          <a:lstStyle/>
          <a:p>
            <a:pPr marL="0" indent="0" algn="just">
              <a:buNone/>
            </a:pPr>
            <a:r>
              <a:rPr lang="en-IN" sz="2600" dirty="0" smtClean="0"/>
              <a:t>2. </a:t>
            </a:r>
            <a:r>
              <a:rPr lang="en-IN" sz="2600" dirty="0"/>
              <a:t>A fixed deposit </a:t>
            </a:r>
            <a:r>
              <a:rPr lang="en-IN" sz="2600" dirty="0" smtClean="0"/>
              <a:t>receipt </a:t>
            </a:r>
            <a:r>
              <a:rPr lang="en-IN" sz="2600" dirty="0"/>
              <a:t>has a maturity value of Rs. 1,30,000. </a:t>
            </a:r>
            <a:r>
              <a:rPr lang="en-IN" sz="2600" dirty="0" smtClean="0"/>
              <a:t>What </a:t>
            </a:r>
            <a:r>
              <a:rPr lang="en-IN" sz="2600" dirty="0"/>
              <a:t>is the amount at which </a:t>
            </a:r>
            <a:r>
              <a:rPr lang="en-IN" sz="2600" dirty="0" smtClean="0"/>
              <a:t>a fixed </a:t>
            </a:r>
            <a:r>
              <a:rPr lang="en-IN" sz="2600" dirty="0"/>
              <a:t>deposit receipt has been initially purchased if </a:t>
            </a:r>
            <a:r>
              <a:rPr lang="en-IN" sz="2600" dirty="0" smtClean="0"/>
              <a:t>the simple </a:t>
            </a:r>
            <a:r>
              <a:rPr lang="en-IN" sz="2600" dirty="0"/>
              <a:t>interest rate is 10% per year and the maturity period is 3 </a:t>
            </a:r>
            <a:r>
              <a:rPr lang="en-IN" sz="2600" dirty="0" smtClean="0"/>
              <a:t>years?</a:t>
            </a:r>
            <a:endParaRPr lang="en-IN" sz="2600" dirty="0" smtClean="0">
              <a:solidFill>
                <a:srgbClr val="FF0000"/>
              </a:solidFill>
            </a:endParaRPr>
          </a:p>
          <a:p>
            <a:pPr marL="0" indent="0" algn="just">
              <a:buNone/>
            </a:pPr>
            <a:r>
              <a:rPr lang="en-IN" sz="2600" b="1" dirty="0" smtClean="0">
                <a:solidFill>
                  <a:srgbClr val="FF0000"/>
                </a:solidFill>
              </a:rPr>
              <a:t>Solution:</a:t>
            </a:r>
          </a:p>
          <a:p>
            <a:pPr marL="0" indent="0" algn="just">
              <a:buNone/>
            </a:pPr>
            <a:r>
              <a:rPr lang="en-IN" sz="2600" dirty="0" smtClean="0"/>
              <a:t>Calculation of Principal (Simple interest):</a:t>
            </a:r>
          </a:p>
          <a:p>
            <a:pPr marL="0" indent="0" algn="just">
              <a:buNone/>
            </a:pPr>
            <a:r>
              <a:rPr lang="en-IN" sz="2600" dirty="0" smtClean="0"/>
              <a:t>Principal (P) 	= FV/[1+rn</a:t>
            </a:r>
            <a:r>
              <a:rPr lang="en-IN" sz="2600" dirty="0"/>
              <a:t>]</a:t>
            </a:r>
            <a:endParaRPr lang="en-IN" sz="2600" dirty="0" smtClean="0"/>
          </a:p>
          <a:p>
            <a:pPr marL="0" indent="0" algn="just">
              <a:buNone/>
            </a:pPr>
            <a:r>
              <a:rPr lang="en-IN" sz="2600" dirty="0" smtClean="0"/>
              <a:t>		= Rs.1,30,000 / [1+0.1(3)]</a:t>
            </a:r>
          </a:p>
          <a:p>
            <a:pPr marL="0" indent="0" algn="just">
              <a:buNone/>
            </a:pPr>
            <a:r>
              <a:rPr lang="en-IN" sz="2600" dirty="0" smtClean="0"/>
              <a:t>		= Rs.1,30,000 / 1.30</a:t>
            </a:r>
          </a:p>
          <a:p>
            <a:pPr marL="0" indent="0" algn="just">
              <a:buNone/>
            </a:pPr>
            <a:r>
              <a:rPr lang="en-IN" sz="2600" dirty="0" smtClean="0"/>
              <a:t>		</a:t>
            </a:r>
            <a:r>
              <a:rPr lang="en-IN" sz="2600" dirty="0" smtClean="0">
                <a:solidFill>
                  <a:srgbClr val="FF0000"/>
                </a:solidFill>
              </a:rPr>
              <a:t>= Rs. 1,00,000</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4987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6773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0155"/>
            <a:ext cx="10515600" cy="5286665"/>
          </a:xfrm>
        </p:spPr>
        <p:txBody>
          <a:bodyPr>
            <a:normAutofit/>
          </a:bodyPr>
          <a:lstStyle/>
          <a:p>
            <a:pPr marL="0" indent="0" algn="just">
              <a:buNone/>
            </a:pPr>
            <a:r>
              <a:rPr lang="en-IN" sz="2600" b="1" dirty="0" smtClean="0">
                <a:solidFill>
                  <a:srgbClr val="FF0000"/>
                </a:solidFill>
              </a:rPr>
              <a:t>2. Compounding </a:t>
            </a:r>
            <a:r>
              <a:rPr lang="en-IN" sz="2600" b="1" dirty="0">
                <a:solidFill>
                  <a:srgbClr val="FF0000"/>
                </a:solidFill>
              </a:rPr>
              <a:t>of </a:t>
            </a:r>
            <a:r>
              <a:rPr lang="en-IN" sz="2600" b="1" dirty="0" smtClean="0">
                <a:solidFill>
                  <a:srgbClr val="FF0000"/>
                </a:solidFill>
              </a:rPr>
              <a:t>interest:</a:t>
            </a:r>
          </a:p>
          <a:p>
            <a:pPr marL="0" indent="0" algn="just">
              <a:buNone/>
            </a:pPr>
            <a:r>
              <a:rPr lang="en-IN" sz="2600" dirty="0" smtClean="0"/>
              <a:t>Compound interest is the interest that accrues not only on the amount originally borrowed but also on the interest accrued previously put not paid or received. A formula for calculating compound interest is given below:</a:t>
            </a:r>
          </a:p>
          <a:p>
            <a:pPr marL="0" indent="0" algn="just">
              <a:buNone/>
            </a:pPr>
            <a:r>
              <a:rPr lang="en-IN" b="1" dirty="0" smtClean="0">
                <a:solidFill>
                  <a:srgbClr val="FF0000"/>
                </a:solidFill>
              </a:rPr>
              <a:t>a) </a:t>
            </a:r>
            <a:r>
              <a:rPr lang="en-IN" b="1" dirty="0">
                <a:solidFill>
                  <a:srgbClr val="FF0000"/>
                </a:solidFill>
              </a:rPr>
              <a:t>Future Value of a Single </a:t>
            </a:r>
            <a:r>
              <a:rPr lang="en-IN" b="1" dirty="0" smtClean="0">
                <a:solidFill>
                  <a:srgbClr val="FF0000"/>
                </a:solidFill>
              </a:rPr>
              <a:t>Flow or Lump sum: </a:t>
            </a:r>
          </a:p>
          <a:p>
            <a:pPr marL="0" indent="0" algn="just">
              <a:buNone/>
            </a:pPr>
            <a:r>
              <a:rPr lang="en-IN" sz="2600" dirty="0" smtClean="0"/>
              <a:t>CI = Future value (FV) – Principal (P)</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12943"/>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2609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3897"/>
            <a:ext cx="10515600" cy="5056086"/>
          </a:xfrm>
        </p:spPr>
        <p:txBody>
          <a:bodyPr>
            <a:normAutofit/>
          </a:bodyPr>
          <a:lstStyle/>
          <a:p>
            <a:pPr marL="0" indent="0" algn="just">
              <a:buNone/>
            </a:pPr>
            <a:r>
              <a:rPr lang="en-IN" sz="2600" b="1" dirty="0">
                <a:solidFill>
                  <a:srgbClr val="FF0000"/>
                </a:solidFill>
              </a:rPr>
              <a:t>Computation of FV and Principal: </a:t>
            </a:r>
          </a:p>
          <a:p>
            <a:pPr marL="0" indent="0" algn="just">
              <a:buNone/>
            </a:pPr>
            <a:r>
              <a:rPr lang="en-IN" sz="2600" dirty="0"/>
              <a:t>FV = P[1+r]</a:t>
            </a:r>
            <a:r>
              <a:rPr lang="en-IN" sz="2600" baseline="30000" dirty="0"/>
              <a:t>n</a:t>
            </a:r>
          </a:p>
          <a:p>
            <a:pPr marL="0" indent="0" algn="just">
              <a:buNone/>
            </a:pPr>
            <a:r>
              <a:rPr lang="en-IN" sz="2600" dirty="0"/>
              <a:t>P = FV/[1+r]</a:t>
            </a:r>
            <a:r>
              <a:rPr lang="en-IN" sz="2600" baseline="30000" dirty="0"/>
              <a:t>n</a:t>
            </a:r>
          </a:p>
          <a:p>
            <a:pPr marL="0" indent="0" algn="just">
              <a:buNone/>
            </a:pPr>
            <a:r>
              <a:rPr lang="en-IN" sz="2600" b="1" dirty="0">
                <a:solidFill>
                  <a:srgbClr val="FF0000"/>
                </a:solidFill>
              </a:rPr>
              <a:t>Where:</a:t>
            </a:r>
          </a:p>
          <a:p>
            <a:pPr marL="0" indent="0" algn="just">
              <a:buNone/>
            </a:pPr>
            <a:r>
              <a:rPr lang="en-IN" sz="2600" dirty="0"/>
              <a:t>FV = Future Value or amount at the end of ‘N’ period.</a:t>
            </a:r>
          </a:p>
          <a:p>
            <a:pPr marL="0" indent="0" algn="just">
              <a:buNone/>
            </a:pPr>
            <a:r>
              <a:rPr lang="en-IN" sz="2600" dirty="0"/>
              <a:t>P  = Principal amount at the beginning of the ‘N’ period.</a:t>
            </a:r>
          </a:p>
          <a:p>
            <a:pPr marL="0" indent="0" algn="just">
              <a:buNone/>
            </a:pPr>
            <a:r>
              <a:rPr lang="en-IN" sz="2600" dirty="0"/>
              <a:t>r = Rate of interest</a:t>
            </a:r>
          </a:p>
          <a:p>
            <a:pPr marL="0" indent="0" algn="just">
              <a:buNone/>
            </a:pPr>
            <a:r>
              <a:rPr lang="en-IN" sz="2600" dirty="0"/>
              <a:t>n = Number of years or periods</a:t>
            </a:r>
          </a:p>
          <a:p>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86685"/>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114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12872"/>
            <a:ext cx="10515600" cy="4624251"/>
          </a:xfrm>
        </p:spPr>
        <p:txBody>
          <a:bodyPr>
            <a:normAutofit/>
          </a:bodyPr>
          <a:lstStyle/>
          <a:p>
            <a:pPr marL="0" indent="0" algn="just">
              <a:buNone/>
            </a:pPr>
            <a:r>
              <a:rPr lang="en-IN" sz="2600" dirty="0" smtClean="0"/>
              <a:t>3. Mr. Sabarish makes an initial deposit of Rs. 2,00,000 in SBI. Interest is compounded at 10% p.a. for 6 years. Compute the amount of maturity.</a:t>
            </a:r>
          </a:p>
          <a:p>
            <a:pPr marL="0" indent="0" algn="just">
              <a:buNone/>
            </a:pPr>
            <a:r>
              <a:rPr lang="en-IN" sz="2600" b="1" dirty="0" smtClean="0">
                <a:solidFill>
                  <a:srgbClr val="FF0000"/>
                </a:solidFill>
              </a:rPr>
              <a:t>Solution:</a:t>
            </a:r>
          </a:p>
          <a:p>
            <a:pPr marL="0" indent="0" algn="just">
              <a:buNone/>
            </a:pPr>
            <a:r>
              <a:rPr lang="en-IN" sz="2600" dirty="0" smtClean="0"/>
              <a:t>Computation of amount of maturity:</a:t>
            </a:r>
          </a:p>
          <a:p>
            <a:pPr marL="0" indent="0" algn="just">
              <a:buNone/>
            </a:pPr>
            <a:r>
              <a:rPr lang="en-IN" sz="2600" dirty="0" smtClean="0"/>
              <a:t>FV = P[1+r]</a:t>
            </a:r>
            <a:r>
              <a:rPr lang="en-IN" sz="2600" baseline="30000" dirty="0" smtClean="0"/>
              <a:t>n</a:t>
            </a:r>
          </a:p>
          <a:p>
            <a:pPr marL="0" indent="0" algn="just">
              <a:buNone/>
            </a:pPr>
            <a:r>
              <a:rPr lang="en-IN" sz="2600" dirty="0" smtClean="0"/>
              <a:t>      = Rs. 2,00,000 (1+0.10)</a:t>
            </a:r>
            <a:r>
              <a:rPr lang="en-IN" sz="2600" baseline="30000" dirty="0" smtClean="0"/>
              <a:t>6</a:t>
            </a:r>
          </a:p>
          <a:p>
            <a:pPr marL="0" indent="0" algn="just">
              <a:buNone/>
            </a:pPr>
            <a:r>
              <a:rPr lang="en-IN" sz="2600" dirty="0" smtClean="0"/>
              <a:t>      = Rs. 2,00,000 (1.10)</a:t>
            </a:r>
            <a:r>
              <a:rPr lang="en-IN" sz="2600" baseline="30000" dirty="0" smtClean="0"/>
              <a:t>6</a:t>
            </a:r>
          </a:p>
          <a:p>
            <a:pPr marL="0" indent="0" algn="just">
              <a:buNone/>
            </a:pPr>
            <a:r>
              <a:rPr lang="en-IN" sz="2600" dirty="0" smtClean="0"/>
              <a:t>      = Rs. 2,00,000 × 1.7716</a:t>
            </a:r>
          </a:p>
          <a:p>
            <a:pPr marL="0" indent="0" algn="just">
              <a:buNone/>
            </a:pPr>
            <a:r>
              <a:rPr lang="en-IN" sz="2600" dirty="0">
                <a:solidFill>
                  <a:srgbClr val="FF0000"/>
                </a:solidFill>
              </a:rPr>
              <a:t> </a:t>
            </a:r>
            <a:r>
              <a:rPr lang="en-IN" sz="2600" dirty="0" smtClean="0">
                <a:solidFill>
                  <a:srgbClr val="FF0000"/>
                </a:solidFill>
              </a:rPr>
              <a:t>FV = </a:t>
            </a:r>
            <a:r>
              <a:rPr lang="en-IN" sz="2600" dirty="0">
                <a:solidFill>
                  <a:srgbClr val="FF0000"/>
                </a:solidFill>
              </a:rPr>
              <a:t>R</a:t>
            </a:r>
            <a:r>
              <a:rPr lang="en-IN" sz="2600" dirty="0" smtClean="0">
                <a:solidFill>
                  <a:srgbClr val="FF0000"/>
                </a:solidFill>
              </a:rPr>
              <a:t>s. 3,54,320</a:t>
            </a: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43767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1939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5209" y="866434"/>
            <a:ext cx="10515600" cy="5354003"/>
          </a:xfrm>
        </p:spPr>
        <p:txBody>
          <a:bodyPr>
            <a:normAutofit/>
          </a:bodyPr>
          <a:lstStyle/>
          <a:p>
            <a:pPr marL="0" indent="0" algn="just">
              <a:buNone/>
            </a:pPr>
            <a:r>
              <a:rPr lang="en-IN" sz="2600" dirty="0" smtClean="0"/>
              <a:t>4. Ms. Illakkiyaa has deposited Rs. 5,00,000 in IOB. Interest is compounded at 6% p.a. for 3 years. Compute the amount of maturity.</a:t>
            </a:r>
          </a:p>
          <a:p>
            <a:pPr marL="0" indent="0" algn="just">
              <a:buNone/>
            </a:pPr>
            <a:r>
              <a:rPr lang="en-IN" sz="2600" b="1" dirty="0">
                <a:solidFill>
                  <a:srgbClr val="FF0000"/>
                </a:solidFill>
              </a:rPr>
              <a:t>Solution:</a:t>
            </a:r>
          </a:p>
          <a:p>
            <a:pPr marL="0" indent="0" algn="just">
              <a:buNone/>
            </a:pPr>
            <a:r>
              <a:rPr lang="en-IN" sz="2600" dirty="0"/>
              <a:t>Computation of amount of maturity:</a:t>
            </a:r>
          </a:p>
          <a:p>
            <a:pPr marL="0" indent="0" algn="just">
              <a:buNone/>
            </a:pPr>
            <a:r>
              <a:rPr lang="en-IN" sz="2600" dirty="0"/>
              <a:t>FV = </a:t>
            </a:r>
            <a:r>
              <a:rPr lang="en-IN" sz="2600" dirty="0" smtClean="0"/>
              <a:t>P[1+r]</a:t>
            </a:r>
            <a:r>
              <a:rPr lang="en-IN" sz="2600" baseline="30000" dirty="0" smtClean="0"/>
              <a:t>n</a:t>
            </a:r>
            <a:endParaRPr lang="en-IN" sz="2600" baseline="30000" dirty="0"/>
          </a:p>
          <a:p>
            <a:pPr marL="0" indent="0" algn="just">
              <a:buNone/>
            </a:pPr>
            <a:r>
              <a:rPr lang="en-IN" sz="2600" dirty="0"/>
              <a:t>      = </a:t>
            </a:r>
            <a:r>
              <a:rPr lang="en-IN" sz="2600" dirty="0" smtClean="0"/>
              <a:t>Rs. 5,00,000 </a:t>
            </a:r>
            <a:r>
              <a:rPr lang="en-IN" sz="2600" dirty="0"/>
              <a:t>(</a:t>
            </a:r>
            <a:r>
              <a:rPr lang="en-IN" sz="2600" dirty="0" smtClean="0"/>
              <a:t>1+0.06)</a:t>
            </a:r>
            <a:r>
              <a:rPr lang="en-IN" sz="2600" baseline="30000" dirty="0" smtClean="0"/>
              <a:t>3</a:t>
            </a:r>
            <a:endParaRPr lang="en-IN" sz="2600" baseline="30000" dirty="0"/>
          </a:p>
          <a:p>
            <a:pPr marL="0" indent="0" algn="just">
              <a:buNone/>
            </a:pPr>
            <a:r>
              <a:rPr lang="en-IN" sz="2600" dirty="0"/>
              <a:t>      = </a:t>
            </a:r>
            <a:r>
              <a:rPr lang="en-IN" sz="2600" dirty="0" smtClean="0"/>
              <a:t>Rs. 5,00,000 </a:t>
            </a:r>
            <a:r>
              <a:rPr lang="en-IN" sz="2600" dirty="0"/>
              <a:t>(</a:t>
            </a:r>
            <a:r>
              <a:rPr lang="en-IN" sz="2600" dirty="0" smtClean="0"/>
              <a:t>1.06)</a:t>
            </a:r>
            <a:r>
              <a:rPr lang="en-IN" sz="2600" baseline="30000" dirty="0" smtClean="0"/>
              <a:t>3</a:t>
            </a:r>
            <a:endParaRPr lang="en-IN" sz="2600" baseline="30000" dirty="0"/>
          </a:p>
          <a:p>
            <a:pPr marL="0" indent="0" algn="just">
              <a:buNone/>
            </a:pPr>
            <a:r>
              <a:rPr lang="en-IN" sz="2600" dirty="0"/>
              <a:t>      = R</a:t>
            </a:r>
            <a:r>
              <a:rPr lang="en-IN" sz="2600" dirty="0" smtClean="0"/>
              <a:t>s. 5,00,000 </a:t>
            </a:r>
            <a:r>
              <a:rPr lang="en-IN" sz="2600" dirty="0"/>
              <a:t>× </a:t>
            </a:r>
            <a:r>
              <a:rPr lang="en-IN" sz="2600" dirty="0" smtClean="0"/>
              <a:t>1.191</a:t>
            </a:r>
            <a:endParaRPr lang="en-IN" sz="2600" dirty="0"/>
          </a:p>
          <a:p>
            <a:pPr marL="0" indent="0" algn="just">
              <a:buNone/>
            </a:pPr>
            <a:r>
              <a:rPr lang="en-IN" sz="2600" dirty="0">
                <a:solidFill>
                  <a:srgbClr val="FF0000"/>
                </a:solidFill>
              </a:rPr>
              <a:t> FV = Rs. </a:t>
            </a:r>
            <a:r>
              <a:rPr lang="en-IN" sz="2600" dirty="0" smtClean="0">
                <a:solidFill>
                  <a:srgbClr val="FF0000"/>
                </a:solidFill>
              </a:rPr>
              <a:t>5,95,508</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4709" y="30922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4245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637" y="900546"/>
            <a:ext cx="10515600" cy="5290272"/>
          </a:xfrm>
        </p:spPr>
        <p:txBody>
          <a:bodyPr>
            <a:normAutofit/>
          </a:bodyPr>
          <a:lstStyle/>
          <a:p>
            <a:pPr marL="0" indent="0" algn="just">
              <a:buNone/>
            </a:pPr>
            <a:r>
              <a:rPr lang="en-IN" sz="2600" dirty="0" smtClean="0"/>
              <a:t>5. Mr. X invests Rs. 20,000 at an interest rate of 12% p.a. The interest is compounded annually. Calculate the compound value for 5 years.</a:t>
            </a:r>
          </a:p>
          <a:p>
            <a:pPr marL="0" indent="0" algn="just">
              <a:buNone/>
            </a:pPr>
            <a:r>
              <a:rPr lang="en-IN" sz="2600" b="1" dirty="0">
                <a:solidFill>
                  <a:srgbClr val="FF0000"/>
                </a:solidFill>
              </a:rPr>
              <a:t>Solution:</a:t>
            </a:r>
          </a:p>
          <a:p>
            <a:pPr marL="0" indent="0" algn="just">
              <a:buNone/>
            </a:pPr>
            <a:r>
              <a:rPr lang="en-IN" sz="2600" dirty="0"/>
              <a:t>Computation of amount of maturity:</a:t>
            </a:r>
          </a:p>
          <a:p>
            <a:pPr marL="0" indent="0" algn="just">
              <a:buNone/>
            </a:pPr>
            <a:r>
              <a:rPr lang="en-IN" sz="2600" dirty="0"/>
              <a:t>FV = </a:t>
            </a:r>
            <a:r>
              <a:rPr lang="en-IN" sz="2600" dirty="0" smtClean="0"/>
              <a:t>P[1+r]</a:t>
            </a:r>
            <a:r>
              <a:rPr lang="en-IN" sz="2600" baseline="30000" dirty="0" smtClean="0"/>
              <a:t>n</a:t>
            </a:r>
            <a:endParaRPr lang="en-IN" sz="2600" baseline="30000" dirty="0"/>
          </a:p>
          <a:p>
            <a:pPr marL="0" indent="0" algn="just">
              <a:buNone/>
            </a:pPr>
            <a:r>
              <a:rPr lang="en-IN" sz="2600" dirty="0"/>
              <a:t>      = </a:t>
            </a:r>
            <a:r>
              <a:rPr lang="en-IN" sz="2600" dirty="0" smtClean="0"/>
              <a:t>Rs. 20 ,000 </a:t>
            </a:r>
            <a:r>
              <a:rPr lang="en-IN" sz="2600" dirty="0"/>
              <a:t>(</a:t>
            </a:r>
            <a:r>
              <a:rPr lang="en-IN" sz="2600" dirty="0" smtClean="0"/>
              <a:t>1+0.12)</a:t>
            </a:r>
            <a:r>
              <a:rPr lang="en-IN" sz="2600" baseline="30000" dirty="0"/>
              <a:t>5</a:t>
            </a:r>
          </a:p>
          <a:p>
            <a:pPr marL="0" indent="0" algn="just">
              <a:buNone/>
            </a:pPr>
            <a:r>
              <a:rPr lang="en-IN" sz="2600" dirty="0"/>
              <a:t>      = </a:t>
            </a:r>
            <a:r>
              <a:rPr lang="en-IN" sz="2600" dirty="0" smtClean="0"/>
              <a:t>Rs. 20,000 </a:t>
            </a:r>
            <a:r>
              <a:rPr lang="en-IN" sz="2600" dirty="0"/>
              <a:t>(</a:t>
            </a:r>
            <a:r>
              <a:rPr lang="en-IN" sz="2600" dirty="0" smtClean="0"/>
              <a:t>1.12)</a:t>
            </a:r>
            <a:r>
              <a:rPr lang="en-IN" sz="2600" baseline="30000" dirty="0"/>
              <a:t>5</a:t>
            </a:r>
          </a:p>
          <a:p>
            <a:pPr marL="0" indent="0" algn="just">
              <a:buNone/>
            </a:pPr>
            <a:r>
              <a:rPr lang="en-IN" sz="2600" dirty="0"/>
              <a:t>      = </a:t>
            </a:r>
            <a:r>
              <a:rPr lang="en-IN" sz="2600" dirty="0" smtClean="0"/>
              <a:t>Rs. 20,000 </a:t>
            </a:r>
            <a:r>
              <a:rPr lang="en-IN" sz="2600" dirty="0"/>
              <a:t>× </a:t>
            </a:r>
            <a:r>
              <a:rPr lang="en-IN" sz="2600" dirty="0" smtClean="0"/>
              <a:t>1.762</a:t>
            </a:r>
            <a:endParaRPr lang="en-IN" sz="2600" dirty="0"/>
          </a:p>
          <a:p>
            <a:pPr marL="0" indent="0" algn="just">
              <a:buNone/>
            </a:pPr>
            <a:r>
              <a:rPr lang="en-IN" sz="2600" dirty="0" smtClean="0">
                <a:solidFill>
                  <a:srgbClr val="FF0000"/>
                </a:solidFill>
              </a:rPr>
              <a:t>FV  = </a:t>
            </a:r>
            <a:r>
              <a:rPr lang="en-IN" sz="2600" dirty="0">
                <a:solidFill>
                  <a:srgbClr val="FF0000"/>
                </a:solidFill>
              </a:rPr>
              <a:t>Rs. </a:t>
            </a:r>
            <a:r>
              <a:rPr lang="en-IN" sz="2600" dirty="0" smtClean="0">
                <a:solidFill>
                  <a:srgbClr val="FF0000"/>
                </a:solidFill>
              </a:rPr>
              <a:t>35,247</a:t>
            </a:r>
            <a:endParaRPr lang="en-IN" sz="2600" dirty="0">
              <a:solidFill>
                <a:srgbClr val="FF0000"/>
              </a:solidFill>
            </a:endParaRP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6137" y="343334"/>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4684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8255"/>
            <a:ext cx="10515600" cy="5248708"/>
          </a:xfrm>
        </p:spPr>
        <p:txBody>
          <a:bodyPr>
            <a:normAutofit/>
          </a:bodyPr>
          <a:lstStyle/>
          <a:p>
            <a:pPr marL="0" indent="0" algn="just">
              <a:buNone/>
            </a:pPr>
            <a:r>
              <a:rPr lang="en-IN" sz="2600" dirty="0" smtClean="0"/>
              <a:t>6. </a:t>
            </a:r>
            <a:r>
              <a:rPr lang="en-IN" sz="2600" dirty="0"/>
              <a:t>Mr. X invests Rs. </a:t>
            </a:r>
            <a:r>
              <a:rPr lang="en-IN" sz="2600" dirty="0" smtClean="0"/>
              <a:t>20,000 at </a:t>
            </a:r>
            <a:r>
              <a:rPr lang="en-IN" sz="2600" dirty="0"/>
              <a:t>an interest rate of 8</a:t>
            </a:r>
            <a:r>
              <a:rPr lang="en-IN" sz="2600" dirty="0" smtClean="0"/>
              <a:t>% </a:t>
            </a:r>
            <a:r>
              <a:rPr lang="en-IN" sz="2600" dirty="0"/>
              <a:t>p.a. The interest is compounded annually. Calculate the compound value for 5 years.</a:t>
            </a:r>
          </a:p>
          <a:p>
            <a:pPr marL="0" indent="0" algn="just">
              <a:buNone/>
            </a:pPr>
            <a:r>
              <a:rPr lang="en-IN" sz="2600" b="1" dirty="0">
                <a:solidFill>
                  <a:srgbClr val="FF0000"/>
                </a:solidFill>
              </a:rPr>
              <a:t>Solution:</a:t>
            </a:r>
          </a:p>
          <a:p>
            <a:pPr marL="0" indent="0" algn="just">
              <a:buNone/>
            </a:pPr>
            <a:r>
              <a:rPr lang="en-IN" sz="2600" dirty="0"/>
              <a:t>Computation of amount of maturity:</a:t>
            </a:r>
          </a:p>
          <a:p>
            <a:pPr marL="0" indent="0" algn="just">
              <a:buNone/>
            </a:pPr>
            <a:r>
              <a:rPr lang="en-IN" sz="2600" dirty="0"/>
              <a:t>FV = </a:t>
            </a:r>
            <a:r>
              <a:rPr lang="en-IN" sz="2600" dirty="0" smtClean="0"/>
              <a:t>P[1+r]</a:t>
            </a:r>
            <a:r>
              <a:rPr lang="en-IN" sz="2600" baseline="30000" dirty="0" smtClean="0"/>
              <a:t>n</a:t>
            </a:r>
            <a:endParaRPr lang="en-IN" sz="2600" baseline="30000" dirty="0"/>
          </a:p>
          <a:p>
            <a:pPr marL="0" indent="0" algn="just">
              <a:buNone/>
            </a:pPr>
            <a:r>
              <a:rPr lang="en-IN" sz="2600" dirty="0"/>
              <a:t>      = </a:t>
            </a:r>
            <a:r>
              <a:rPr lang="en-IN" sz="2600" dirty="0" smtClean="0"/>
              <a:t>Rs. 20 </a:t>
            </a:r>
            <a:r>
              <a:rPr lang="en-IN" sz="2600" dirty="0"/>
              <a:t>,000 (</a:t>
            </a:r>
            <a:r>
              <a:rPr lang="en-IN" sz="2600" dirty="0" smtClean="0"/>
              <a:t>1+.08)</a:t>
            </a:r>
            <a:r>
              <a:rPr lang="en-IN" sz="2600" baseline="30000" dirty="0" smtClean="0"/>
              <a:t>5</a:t>
            </a:r>
            <a:endParaRPr lang="en-IN" sz="2600" baseline="30000" dirty="0"/>
          </a:p>
          <a:p>
            <a:pPr marL="0" indent="0" algn="just">
              <a:buNone/>
            </a:pPr>
            <a:r>
              <a:rPr lang="en-IN" sz="2600" dirty="0"/>
              <a:t>      = </a:t>
            </a:r>
            <a:r>
              <a:rPr lang="en-IN" sz="2600" dirty="0" smtClean="0"/>
              <a:t>Rs. 20,000 </a:t>
            </a:r>
            <a:r>
              <a:rPr lang="en-IN" sz="2600" dirty="0"/>
              <a:t>(</a:t>
            </a:r>
            <a:r>
              <a:rPr lang="en-IN" sz="2600" dirty="0" smtClean="0"/>
              <a:t>1.08)</a:t>
            </a:r>
            <a:r>
              <a:rPr lang="en-IN" sz="2600" baseline="30000" dirty="0" smtClean="0"/>
              <a:t>5</a:t>
            </a:r>
            <a:endParaRPr lang="en-IN" sz="2600" baseline="30000" dirty="0"/>
          </a:p>
          <a:p>
            <a:pPr marL="0" indent="0" algn="just">
              <a:buNone/>
            </a:pPr>
            <a:r>
              <a:rPr lang="en-IN" sz="2600" dirty="0"/>
              <a:t>      = </a:t>
            </a:r>
            <a:r>
              <a:rPr lang="en-IN" sz="2600" dirty="0" smtClean="0"/>
              <a:t>Rs. 20,000 </a:t>
            </a:r>
            <a:r>
              <a:rPr lang="en-IN" sz="2600" dirty="0"/>
              <a:t>× </a:t>
            </a:r>
            <a:r>
              <a:rPr lang="en-IN" sz="2600" dirty="0" smtClean="0"/>
              <a:t>1.469</a:t>
            </a:r>
            <a:endParaRPr lang="en-IN" sz="2600" dirty="0"/>
          </a:p>
          <a:p>
            <a:pPr marL="0" indent="0" algn="just">
              <a:buNone/>
            </a:pPr>
            <a:r>
              <a:rPr lang="en-IN" sz="2600" dirty="0" smtClean="0">
                <a:solidFill>
                  <a:srgbClr val="FF0000"/>
                </a:solidFill>
              </a:rPr>
              <a:t>FV  = </a:t>
            </a:r>
            <a:r>
              <a:rPr lang="en-IN" sz="2600" dirty="0">
                <a:solidFill>
                  <a:srgbClr val="FF0000"/>
                </a:solidFill>
              </a:rPr>
              <a:t>Rs. </a:t>
            </a:r>
            <a:r>
              <a:rPr lang="en-IN" sz="2600" dirty="0" smtClean="0">
                <a:solidFill>
                  <a:srgbClr val="FF0000"/>
                </a:solidFill>
              </a:rPr>
              <a:t>29,387</a:t>
            </a:r>
            <a:endParaRPr lang="en-IN" sz="2600" dirty="0">
              <a:solidFill>
                <a:srgbClr val="FF0000"/>
              </a:solidFill>
            </a:endParaRPr>
          </a:p>
          <a:p>
            <a:pPr marL="0" indent="0">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71043"/>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809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2945"/>
            <a:ext cx="10515600" cy="5124017"/>
          </a:xfrm>
        </p:spPr>
        <p:txBody>
          <a:bodyPr>
            <a:normAutofit/>
          </a:bodyPr>
          <a:lstStyle/>
          <a:p>
            <a:pPr marL="0" indent="0" algn="just">
              <a:buNone/>
            </a:pPr>
            <a:r>
              <a:rPr lang="en-IN" sz="2600" b="1" dirty="0" smtClean="0">
                <a:solidFill>
                  <a:srgbClr val="FF0000"/>
                </a:solidFill>
              </a:rPr>
              <a:t>b) </a:t>
            </a:r>
            <a:r>
              <a:rPr lang="en-IN" sz="2600" b="1" dirty="0">
                <a:solidFill>
                  <a:srgbClr val="FF0000"/>
                </a:solidFill>
              </a:rPr>
              <a:t>Future Value of a </a:t>
            </a:r>
            <a:r>
              <a:rPr lang="en-IN" sz="2600" b="1" dirty="0" smtClean="0">
                <a:solidFill>
                  <a:srgbClr val="FF0000"/>
                </a:solidFill>
              </a:rPr>
              <a:t>multiple compounding period:</a:t>
            </a:r>
          </a:p>
          <a:p>
            <a:pPr marL="0" indent="0" algn="just">
              <a:buNone/>
            </a:pPr>
            <a:r>
              <a:rPr lang="en-IN" sz="2600" dirty="0" smtClean="0"/>
              <a:t>The following formula is used for compounding of interest income over ‘N’ number of compounding periods:</a:t>
            </a:r>
          </a:p>
          <a:p>
            <a:pPr marL="0" indent="0" algn="just">
              <a:buNone/>
            </a:pPr>
            <a:r>
              <a:rPr lang="en-IN" sz="2600" dirty="0"/>
              <a:t>FV = </a:t>
            </a:r>
            <a:r>
              <a:rPr lang="en-IN" sz="2600" dirty="0" smtClean="0"/>
              <a:t>P[1+r/m]</a:t>
            </a:r>
            <a:r>
              <a:rPr lang="en-IN" sz="2600" baseline="30000" dirty="0" err="1"/>
              <a:t>m</a:t>
            </a:r>
            <a:r>
              <a:rPr lang="en-IN" sz="2600" baseline="30000" dirty="0" err="1" smtClean="0"/>
              <a:t>n</a:t>
            </a:r>
            <a:endParaRPr lang="en-IN" sz="2600" baseline="30000" dirty="0"/>
          </a:p>
          <a:p>
            <a:pPr marL="0" indent="0" algn="just">
              <a:buNone/>
            </a:pPr>
            <a:r>
              <a:rPr lang="en-IN" sz="2600" b="1" dirty="0">
                <a:solidFill>
                  <a:srgbClr val="FF0000"/>
                </a:solidFill>
              </a:rPr>
              <a:t>Where:</a:t>
            </a:r>
          </a:p>
          <a:p>
            <a:pPr marL="0" indent="0" algn="just">
              <a:buNone/>
            </a:pPr>
            <a:r>
              <a:rPr lang="en-IN" sz="2600" dirty="0"/>
              <a:t>FV = Future Value or amount at the end of </a:t>
            </a:r>
            <a:r>
              <a:rPr lang="en-IN" sz="2600" dirty="0" smtClean="0"/>
              <a:t>the ‘N</a:t>
            </a:r>
            <a:r>
              <a:rPr lang="en-IN" sz="2600" dirty="0"/>
              <a:t>’ period.</a:t>
            </a:r>
          </a:p>
          <a:p>
            <a:pPr marL="0" indent="0" algn="just">
              <a:buNone/>
            </a:pPr>
            <a:r>
              <a:rPr lang="en-IN" sz="2600" dirty="0"/>
              <a:t>P  = Principal amount at the beginning of the ‘N’ period.</a:t>
            </a:r>
          </a:p>
          <a:p>
            <a:pPr marL="0" indent="0" algn="just">
              <a:buNone/>
            </a:pPr>
            <a:r>
              <a:rPr lang="en-IN" sz="2600" dirty="0"/>
              <a:t>r = Rate of </a:t>
            </a:r>
            <a:r>
              <a:rPr lang="en-IN" sz="2600" dirty="0" smtClean="0"/>
              <a:t>interest</a:t>
            </a:r>
          </a:p>
          <a:p>
            <a:pPr marL="0" indent="0" algn="just">
              <a:buNone/>
            </a:pPr>
            <a:r>
              <a:rPr lang="en-IN" sz="2600" dirty="0"/>
              <a:t>m</a:t>
            </a:r>
            <a:r>
              <a:rPr lang="en-IN" sz="2600" dirty="0" smtClean="0"/>
              <a:t>  = No of compounding or frequency  in a year</a:t>
            </a:r>
            <a:endParaRPr lang="en-IN" sz="2600" dirty="0"/>
          </a:p>
          <a:p>
            <a:pPr marL="0" indent="0" algn="just">
              <a:buNone/>
            </a:pPr>
            <a:r>
              <a:rPr lang="en-IN" sz="2600" dirty="0"/>
              <a:t>n = Number of years or periods</a:t>
            </a:r>
          </a:p>
          <a:p>
            <a:pPr marL="0" indent="0" algn="just">
              <a:buNone/>
            </a:pPr>
            <a:endParaRPr lang="en-IN" sz="2600" dirty="0"/>
          </a:p>
          <a:p>
            <a:pPr marL="0" indent="0" algn="just">
              <a:buNone/>
            </a:pPr>
            <a:endParaRPr lang="en-IN" sz="2600" dirty="0" smtClean="0"/>
          </a:p>
          <a:p>
            <a:pPr marL="0" indent="0" algn="just">
              <a:buNone/>
            </a:pPr>
            <a:endParaRPr lang="en-IN" sz="2600" dirty="0" smtClean="0">
              <a:solidFill>
                <a:srgbClr val="FF0000"/>
              </a:solidFill>
            </a:endParaRP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495734"/>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6386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9818" y="983673"/>
            <a:ext cx="10217727" cy="5193290"/>
          </a:xfrm>
        </p:spPr>
        <p:txBody>
          <a:bodyPr>
            <a:normAutofit/>
          </a:bodyPr>
          <a:lstStyle/>
          <a:p>
            <a:pPr algn="just"/>
            <a:r>
              <a:rPr lang="en-IN" sz="2600" dirty="0" smtClean="0">
                <a:solidFill>
                  <a:srgbClr val="FF0000"/>
                </a:solidFill>
              </a:rPr>
              <a:t>When interest is payable half yearly:</a:t>
            </a:r>
          </a:p>
          <a:p>
            <a:pPr marL="0" indent="0" algn="just">
              <a:buNone/>
            </a:pPr>
            <a:r>
              <a:rPr lang="en-IN" sz="2600" dirty="0" smtClean="0"/>
              <a:t>	FV = P[1+r/</a:t>
            </a:r>
            <a:r>
              <a:rPr lang="en-IN" sz="2000" dirty="0" smtClean="0"/>
              <a:t>2</a:t>
            </a:r>
            <a:r>
              <a:rPr lang="en-IN" sz="2600" dirty="0" smtClean="0"/>
              <a:t>]</a:t>
            </a:r>
            <a:r>
              <a:rPr lang="en-IN" sz="2600" baseline="30000" dirty="0" smtClean="0"/>
              <a:t>2n</a:t>
            </a:r>
          </a:p>
          <a:p>
            <a:pPr algn="just"/>
            <a:r>
              <a:rPr lang="en-IN" sz="2600" dirty="0" smtClean="0">
                <a:solidFill>
                  <a:srgbClr val="FF0000"/>
                </a:solidFill>
              </a:rPr>
              <a:t>When interest is payable quarterly:</a:t>
            </a:r>
          </a:p>
          <a:p>
            <a:pPr marL="0" indent="0" algn="just">
              <a:buNone/>
            </a:pPr>
            <a:r>
              <a:rPr lang="en-IN" sz="2600" dirty="0" smtClean="0"/>
              <a:t>	FV = P[1+r/</a:t>
            </a:r>
            <a:r>
              <a:rPr lang="en-IN" sz="1800" dirty="0" smtClean="0"/>
              <a:t>4</a:t>
            </a:r>
            <a:r>
              <a:rPr lang="en-IN" sz="2600" dirty="0" smtClean="0"/>
              <a:t>]</a:t>
            </a:r>
            <a:r>
              <a:rPr lang="en-IN" sz="2600" baseline="30000" dirty="0" smtClean="0"/>
              <a:t>4n</a:t>
            </a:r>
            <a:endParaRPr lang="en-IN" sz="2600" baseline="30000" dirty="0"/>
          </a:p>
          <a:p>
            <a:pPr algn="just"/>
            <a:r>
              <a:rPr lang="en-IN" sz="2600" dirty="0">
                <a:solidFill>
                  <a:srgbClr val="FF0000"/>
                </a:solidFill>
              </a:rPr>
              <a:t>When interest is payable </a:t>
            </a:r>
            <a:r>
              <a:rPr lang="en-IN" sz="2600" dirty="0" smtClean="0">
                <a:solidFill>
                  <a:srgbClr val="FF0000"/>
                </a:solidFill>
              </a:rPr>
              <a:t>monthly:</a:t>
            </a:r>
            <a:endParaRPr lang="en-IN" sz="2600" dirty="0">
              <a:solidFill>
                <a:srgbClr val="FF0000"/>
              </a:solidFill>
            </a:endParaRPr>
          </a:p>
          <a:p>
            <a:pPr marL="0" indent="0" algn="just">
              <a:buNone/>
            </a:pPr>
            <a:r>
              <a:rPr lang="en-IN" sz="2600" dirty="0" smtClean="0"/>
              <a:t>	FV = P[1+r/</a:t>
            </a:r>
            <a:r>
              <a:rPr lang="en-IN" sz="1800" dirty="0" smtClean="0"/>
              <a:t>12</a:t>
            </a:r>
            <a:r>
              <a:rPr lang="en-IN" sz="2600" dirty="0" smtClean="0"/>
              <a:t>]</a:t>
            </a:r>
            <a:r>
              <a:rPr lang="en-IN" sz="2600" baseline="30000" dirty="0" smtClean="0"/>
              <a:t>12n</a:t>
            </a:r>
            <a:endParaRPr lang="en-IN" sz="2600" baseline="30000" dirty="0"/>
          </a:p>
          <a:p>
            <a:pPr algn="just"/>
            <a:r>
              <a:rPr lang="en-IN" sz="2600" dirty="0">
                <a:solidFill>
                  <a:srgbClr val="FF0000"/>
                </a:solidFill>
              </a:rPr>
              <a:t>When interest is payable </a:t>
            </a:r>
            <a:r>
              <a:rPr lang="en-IN" sz="2600" dirty="0" smtClean="0">
                <a:solidFill>
                  <a:srgbClr val="FF0000"/>
                </a:solidFill>
              </a:rPr>
              <a:t>daily:</a:t>
            </a:r>
            <a:endParaRPr lang="en-IN" sz="2600" dirty="0">
              <a:solidFill>
                <a:srgbClr val="FF0000"/>
              </a:solidFill>
            </a:endParaRPr>
          </a:p>
          <a:p>
            <a:pPr marL="0" indent="0" algn="just">
              <a:buNone/>
            </a:pPr>
            <a:r>
              <a:rPr lang="en-IN" sz="2600" dirty="0" smtClean="0"/>
              <a:t>	FV = P[1+r/</a:t>
            </a:r>
            <a:r>
              <a:rPr lang="en-IN" sz="1800" dirty="0" smtClean="0"/>
              <a:t>365</a:t>
            </a:r>
            <a:r>
              <a:rPr lang="en-IN" sz="2600" dirty="0" smtClean="0"/>
              <a:t>]</a:t>
            </a:r>
            <a:r>
              <a:rPr lang="en-IN" sz="2600" baseline="30000" dirty="0" smtClean="0"/>
              <a:t>365n</a:t>
            </a:r>
            <a:endParaRPr lang="en-IN" sz="2600" baseline="30000" dirty="0"/>
          </a:p>
          <a:p>
            <a:pPr marL="0" indent="0" algn="just">
              <a:buNone/>
            </a:pPr>
            <a:r>
              <a:rPr lang="en-IN" sz="2600" b="1" dirty="0" smtClean="0">
                <a:solidFill>
                  <a:srgbClr val="FF0000"/>
                </a:solidFill>
              </a:rPr>
              <a:t>Note: </a:t>
            </a:r>
          </a:p>
          <a:p>
            <a:pPr marL="0" indent="0" algn="just">
              <a:buNone/>
            </a:pPr>
            <a:r>
              <a:rPr lang="en-IN" sz="2600" b="1" dirty="0" smtClean="0">
                <a:solidFill>
                  <a:srgbClr val="00B050"/>
                </a:solidFill>
              </a:rPr>
              <a:t>When the frequency of compounding is increased ultimately the interest is also increased.</a:t>
            </a:r>
            <a:endParaRPr lang="en-IN" sz="2600" b="1" dirty="0">
              <a:solidFill>
                <a:srgbClr val="00B050"/>
              </a:solidFill>
            </a:endParaRPr>
          </a:p>
          <a:p>
            <a:pPr algn="just"/>
            <a:endParaRPr lang="en-IN" sz="2600" b="1" dirty="0" smtClean="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1445" y="42646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7766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2836"/>
            <a:ext cx="10515600" cy="5304127"/>
          </a:xfrm>
        </p:spPr>
        <p:txBody>
          <a:bodyPr>
            <a:normAutofit/>
          </a:bodyPr>
          <a:lstStyle/>
          <a:p>
            <a:pPr marL="0" indent="0" algn="just">
              <a:buNone/>
            </a:pPr>
            <a:r>
              <a:rPr lang="en-IN" sz="2600" dirty="0" smtClean="0"/>
              <a:t>7. Mr. Raghav invests Rs. 25,000 in a bank at 10% for 5 years. Calculate the maturity value if interest is compounded annually. Will he get more if interest is compounded half-yearly?</a:t>
            </a:r>
          </a:p>
          <a:p>
            <a:pPr marL="0" indent="0" algn="just">
              <a:buNone/>
            </a:pPr>
            <a:r>
              <a:rPr lang="en-IN" sz="2600" b="1" dirty="0" smtClean="0">
                <a:solidFill>
                  <a:srgbClr val="FF0000"/>
                </a:solidFill>
              </a:rPr>
              <a:t>Solution:</a:t>
            </a:r>
          </a:p>
          <a:p>
            <a:pPr marL="0" indent="0" algn="just">
              <a:buNone/>
            </a:pPr>
            <a:r>
              <a:rPr lang="en-IN" sz="2600" dirty="0" smtClean="0"/>
              <a:t>Computation of </a:t>
            </a:r>
            <a:r>
              <a:rPr lang="en-IN" sz="2600" dirty="0"/>
              <a:t>m</a:t>
            </a:r>
            <a:r>
              <a:rPr lang="en-IN" sz="2600" dirty="0" smtClean="0"/>
              <a:t>aturity value:</a:t>
            </a:r>
          </a:p>
          <a:p>
            <a:pPr marL="514350" indent="-514350" algn="just">
              <a:buAutoNum type="alphaLcParenR"/>
            </a:pPr>
            <a:r>
              <a:rPr lang="en-IN" sz="2600" dirty="0" smtClean="0">
                <a:solidFill>
                  <a:srgbClr val="FF0000"/>
                </a:solidFill>
              </a:rPr>
              <a:t>If interest is compounded annually:</a:t>
            </a:r>
          </a:p>
          <a:p>
            <a:pPr marL="0" indent="0" algn="just">
              <a:buNone/>
            </a:pPr>
            <a:r>
              <a:rPr lang="en-IN" sz="2600" dirty="0" smtClean="0"/>
              <a:t>	FV </a:t>
            </a:r>
            <a:r>
              <a:rPr lang="en-IN" sz="2600" dirty="0"/>
              <a:t>= P[1+r/m]</a:t>
            </a:r>
            <a:r>
              <a:rPr lang="en-IN" sz="2600" baseline="30000" dirty="0" err="1"/>
              <a:t>mn</a:t>
            </a:r>
            <a:endParaRPr lang="en-IN" sz="2600" baseline="30000" dirty="0"/>
          </a:p>
          <a:p>
            <a:pPr marL="0" indent="0" algn="just">
              <a:buNone/>
            </a:pPr>
            <a:r>
              <a:rPr lang="en-IN" sz="2600" dirty="0" smtClean="0"/>
              <a:t>	= Rs. 25,000[1+0.10]</a:t>
            </a:r>
            <a:r>
              <a:rPr lang="en-IN" sz="2600" baseline="30000" dirty="0" smtClean="0"/>
              <a:t>5</a:t>
            </a:r>
          </a:p>
          <a:p>
            <a:pPr marL="0" indent="0" algn="just">
              <a:buNone/>
            </a:pPr>
            <a:r>
              <a:rPr lang="en-IN" sz="2600" dirty="0" smtClean="0"/>
              <a:t>	= Rs. 25,000[1.10]</a:t>
            </a:r>
            <a:r>
              <a:rPr lang="en-IN" sz="2600" baseline="30000" dirty="0" smtClean="0"/>
              <a:t>5</a:t>
            </a:r>
          </a:p>
          <a:p>
            <a:pPr marL="0" indent="0" algn="just">
              <a:buNone/>
            </a:pPr>
            <a:r>
              <a:rPr lang="en-IN" sz="2600" dirty="0" smtClean="0"/>
              <a:t>	= Rs. 25,000 × 1.6105</a:t>
            </a:r>
          </a:p>
          <a:p>
            <a:pPr marL="0" indent="0" algn="just">
              <a:buNone/>
            </a:pPr>
            <a:r>
              <a:rPr lang="en-IN" sz="2600" dirty="0" smtClean="0"/>
              <a:t>	</a:t>
            </a:r>
            <a:r>
              <a:rPr lang="en-IN" sz="2600" dirty="0" smtClean="0">
                <a:solidFill>
                  <a:srgbClr val="FF0000"/>
                </a:solidFill>
              </a:rPr>
              <a:t>= Rs, 40,262.50</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15624"/>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358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8254" y="936474"/>
            <a:ext cx="10425545" cy="5401108"/>
          </a:xfrm>
        </p:spPr>
        <p:txBody>
          <a:bodyPr>
            <a:normAutofit/>
          </a:bodyPr>
          <a:lstStyle/>
          <a:p>
            <a:pPr marL="0" indent="0" algn="just">
              <a:buNone/>
            </a:pPr>
            <a:r>
              <a:rPr lang="en-IN" sz="2600" dirty="0" smtClean="0">
                <a:solidFill>
                  <a:srgbClr val="FF0000"/>
                </a:solidFill>
              </a:rPr>
              <a:t>b) If interest is compounded half-yearly:</a:t>
            </a:r>
          </a:p>
          <a:p>
            <a:pPr marL="0" indent="0" algn="just">
              <a:buNone/>
            </a:pPr>
            <a:r>
              <a:rPr lang="en-IN" sz="2600" dirty="0" smtClean="0"/>
              <a:t>	FV </a:t>
            </a:r>
            <a:r>
              <a:rPr lang="en-IN" sz="2600" dirty="0"/>
              <a:t>= </a:t>
            </a:r>
            <a:r>
              <a:rPr lang="en-IN" sz="2600" dirty="0" smtClean="0"/>
              <a:t>P[1+r/2]</a:t>
            </a:r>
            <a:r>
              <a:rPr lang="en-IN" sz="2600" baseline="30000" dirty="0" smtClean="0"/>
              <a:t>2n</a:t>
            </a:r>
          </a:p>
          <a:p>
            <a:pPr marL="0" indent="0" algn="just">
              <a:buNone/>
            </a:pPr>
            <a:r>
              <a:rPr lang="en-IN" sz="2600" dirty="0" smtClean="0"/>
              <a:t>	= Rs. 25,000[1+0.10/2]</a:t>
            </a:r>
            <a:r>
              <a:rPr lang="en-IN" sz="2600" baseline="30000" dirty="0" smtClean="0"/>
              <a:t>2×5</a:t>
            </a:r>
          </a:p>
          <a:p>
            <a:pPr marL="0" indent="0" algn="just">
              <a:buNone/>
            </a:pPr>
            <a:r>
              <a:rPr lang="en-IN" sz="2600" dirty="0" smtClean="0"/>
              <a:t>	= Rs. 25,000[1.05]</a:t>
            </a:r>
            <a:r>
              <a:rPr lang="en-IN" sz="2600" baseline="30000" dirty="0" smtClean="0"/>
              <a:t>10</a:t>
            </a:r>
          </a:p>
          <a:p>
            <a:pPr marL="0" indent="0" algn="just">
              <a:buNone/>
            </a:pPr>
            <a:r>
              <a:rPr lang="en-IN" sz="2600" dirty="0" smtClean="0"/>
              <a:t>	= Rs. 25,000 ×1.6289</a:t>
            </a:r>
          </a:p>
          <a:p>
            <a:pPr marL="0" indent="0" algn="just">
              <a:buNone/>
            </a:pPr>
            <a:r>
              <a:rPr lang="en-IN" sz="2600" dirty="0" smtClean="0">
                <a:solidFill>
                  <a:srgbClr val="FF0000"/>
                </a:solidFill>
              </a:rPr>
              <a:t>	= Rs. 40,722.50</a:t>
            </a:r>
            <a:endParaRPr lang="en-IN" sz="2600" dirty="0">
              <a:solidFill>
                <a:srgbClr val="FF0000"/>
              </a:solidFill>
            </a:endParaRPr>
          </a:p>
          <a:p>
            <a:pPr marL="0" indent="0" algn="just">
              <a:buNone/>
            </a:pPr>
            <a:r>
              <a:rPr lang="en-IN" sz="2600" dirty="0" smtClean="0"/>
              <a:t> </a:t>
            </a:r>
            <a:endParaRPr lang="en-IN" sz="2600" dirty="0"/>
          </a:p>
          <a:p>
            <a:pPr marL="0" indent="0" algn="just">
              <a:buNone/>
            </a:pPr>
            <a:r>
              <a:rPr lang="en-IN" sz="2600" dirty="0" smtClean="0"/>
              <a:t> </a:t>
            </a: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699" y="37926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9131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3060"/>
            <a:ext cx="10515600" cy="5373399"/>
          </a:xfrm>
        </p:spPr>
        <p:txBody>
          <a:bodyPr>
            <a:normAutofit/>
          </a:bodyPr>
          <a:lstStyle/>
          <a:p>
            <a:pPr marL="0" indent="0" algn="just">
              <a:buNone/>
            </a:pPr>
            <a:r>
              <a:rPr lang="en-IN" sz="2600" dirty="0" smtClean="0"/>
              <a:t>8. Calculate the maturity amount of Rs. 2,00,000 invested for 2 years at 12% compounded a) annually, b) semi-annually, c) quarterly, and d) monthly.</a:t>
            </a:r>
          </a:p>
          <a:p>
            <a:pPr marL="0" indent="0" algn="just">
              <a:buNone/>
            </a:pPr>
            <a:r>
              <a:rPr lang="en-IN" sz="2600" b="1" dirty="0" smtClean="0">
                <a:solidFill>
                  <a:srgbClr val="FF0000"/>
                </a:solidFill>
              </a:rPr>
              <a:t>Solution:</a:t>
            </a:r>
          </a:p>
          <a:p>
            <a:pPr marL="0" indent="0" algn="just">
              <a:buNone/>
            </a:pPr>
            <a:r>
              <a:rPr lang="en-IN" sz="2600" dirty="0" smtClean="0"/>
              <a:t>Computation of maturity amount:</a:t>
            </a:r>
          </a:p>
          <a:p>
            <a:pPr marL="514350" indent="-514350" algn="just">
              <a:buAutoNum type="alphaLcParenR"/>
            </a:pPr>
            <a:r>
              <a:rPr lang="en-IN" sz="2600" b="1" dirty="0" smtClean="0">
                <a:solidFill>
                  <a:srgbClr val="FF0000"/>
                </a:solidFill>
              </a:rPr>
              <a:t>If interest is compounded annually:</a:t>
            </a:r>
          </a:p>
          <a:p>
            <a:pPr marL="0" indent="0" algn="just">
              <a:buNone/>
            </a:pPr>
            <a:r>
              <a:rPr lang="en-IN" sz="2600" dirty="0" smtClean="0"/>
              <a:t>	FV = </a:t>
            </a:r>
            <a:r>
              <a:rPr lang="en-IN" sz="2600" dirty="0"/>
              <a:t>P[1+r/m]</a:t>
            </a:r>
            <a:r>
              <a:rPr lang="en-IN" sz="2600" baseline="30000" dirty="0" err="1"/>
              <a:t>mn</a:t>
            </a:r>
            <a:endParaRPr lang="en-IN" sz="2600" baseline="30000" dirty="0"/>
          </a:p>
          <a:p>
            <a:pPr marL="0" indent="0" algn="just">
              <a:buNone/>
            </a:pPr>
            <a:r>
              <a:rPr lang="en-IN" sz="2600" dirty="0"/>
              <a:t>	= </a:t>
            </a:r>
            <a:r>
              <a:rPr lang="en-IN" sz="2600" dirty="0" smtClean="0"/>
              <a:t>Rs. 2,00,000[1+0.12]</a:t>
            </a:r>
            <a:r>
              <a:rPr lang="en-IN" sz="2600" baseline="30000" dirty="0" smtClean="0"/>
              <a:t>2</a:t>
            </a:r>
            <a:endParaRPr lang="en-IN" sz="2600" baseline="30000" dirty="0"/>
          </a:p>
          <a:p>
            <a:pPr marL="0" indent="0" algn="just">
              <a:buNone/>
            </a:pPr>
            <a:r>
              <a:rPr lang="en-IN" sz="2600" dirty="0"/>
              <a:t>	= </a:t>
            </a:r>
            <a:r>
              <a:rPr lang="en-IN" sz="2600" dirty="0" smtClean="0"/>
              <a:t>Rs. 2,00,000[1.12]</a:t>
            </a:r>
            <a:r>
              <a:rPr lang="en-IN" sz="2600" baseline="30000" dirty="0" smtClean="0"/>
              <a:t>2</a:t>
            </a:r>
            <a:endParaRPr lang="en-IN" sz="2600" baseline="30000" dirty="0"/>
          </a:p>
          <a:p>
            <a:pPr marL="0" indent="0" algn="just">
              <a:buNone/>
            </a:pPr>
            <a:r>
              <a:rPr lang="en-IN" sz="2600" dirty="0"/>
              <a:t>	= </a:t>
            </a:r>
            <a:r>
              <a:rPr lang="en-IN" sz="2600" dirty="0" smtClean="0"/>
              <a:t>Rs. 2,00,000 </a:t>
            </a:r>
            <a:r>
              <a:rPr lang="en-IN" sz="2600" dirty="0"/>
              <a:t>× </a:t>
            </a:r>
            <a:r>
              <a:rPr lang="en-IN" sz="2600" dirty="0" smtClean="0"/>
              <a:t>1.2544</a:t>
            </a:r>
            <a:endParaRPr lang="en-IN" sz="2600" dirty="0"/>
          </a:p>
          <a:p>
            <a:pPr marL="0" indent="0" algn="just">
              <a:buNone/>
            </a:pPr>
            <a:r>
              <a:rPr lang="en-IN" sz="2600" dirty="0"/>
              <a:t>	</a:t>
            </a:r>
            <a:r>
              <a:rPr lang="en-IN" sz="2600" dirty="0">
                <a:solidFill>
                  <a:srgbClr val="FF0000"/>
                </a:solidFill>
              </a:rPr>
              <a:t>= </a:t>
            </a:r>
            <a:r>
              <a:rPr lang="en-IN" sz="2600" dirty="0" smtClean="0">
                <a:solidFill>
                  <a:srgbClr val="FF0000"/>
                </a:solidFill>
              </a:rPr>
              <a:t>Rs. 2,50,880</a:t>
            </a:r>
            <a:endParaRPr lang="en-IN" sz="2600" dirty="0">
              <a:solidFill>
                <a:srgbClr val="FF0000"/>
              </a:solidFill>
            </a:endParaRPr>
          </a:p>
          <a:p>
            <a:pPr marL="0" indent="0" algn="just">
              <a:buNone/>
            </a:pP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7584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964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6420"/>
            <a:ext cx="10515600" cy="5718679"/>
          </a:xfrm>
        </p:spPr>
        <p:txBody>
          <a:bodyPr>
            <a:noAutofit/>
          </a:bodyPr>
          <a:lstStyle/>
          <a:p>
            <a:pPr marL="0" indent="0">
              <a:buNone/>
            </a:pPr>
            <a:r>
              <a:rPr lang="en-IN" sz="2600" b="1" dirty="0" smtClean="0">
                <a:solidFill>
                  <a:srgbClr val="FF0000"/>
                </a:solidFill>
              </a:rPr>
              <a:t>b) If interest is compounded semi-annually:</a:t>
            </a:r>
          </a:p>
          <a:p>
            <a:pPr marL="0" indent="0" algn="just">
              <a:buNone/>
            </a:pPr>
            <a:r>
              <a:rPr lang="en-IN" sz="2600" dirty="0">
                <a:solidFill>
                  <a:srgbClr val="FF0000"/>
                </a:solidFill>
              </a:rPr>
              <a:t>	</a:t>
            </a:r>
            <a:r>
              <a:rPr lang="en-IN" sz="2600" dirty="0" smtClean="0"/>
              <a:t>FV </a:t>
            </a:r>
            <a:r>
              <a:rPr lang="en-IN" sz="2600" dirty="0"/>
              <a:t>= </a:t>
            </a:r>
            <a:r>
              <a:rPr lang="en-IN" sz="2600" dirty="0" smtClean="0"/>
              <a:t>P[1+r/</a:t>
            </a:r>
            <a:r>
              <a:rPr lang="en-IN" sz="1800" dirty="0" smtClean="0"/>
              <a:t>2</a:t>
            </a:r>
            <a:r>
              <a:rPr lang="en-IN" sz="2600" dirty="0" smtClean="0"/>
              <a:t>]</a:t>
            </a:r>
            <a:r>
              <a:rPr lang="en-IN" sz="2600" baseline="30000" dirty="0" smtClean="0"/>
              <a:t>2n</a:t>
            </a:r>
            <a:endParaRPr lang="en-IN" sz="2600" baseline="30000" dirty="0"/>
          </a:p>
          <a:p>
            <a:pPr marL="0" indent="0" algn="just">
              <a:buNone/>
            </a:pPr>
            <a:r>
              <a:rPr lang="en-IN" sz="2600" dirty="0"/>
              <a:t>	</a:t>
            </a:r>
            <a:r>
              <a:rPr lang="en-IN" sz="2600" dirty="0" smtClean="0"/>
              <a:t>= Rs. 2,00,000[1+0.06]</a:t>
            </a:r>
            <a:r>
              <a:rPr lang="en-IN" sz="2600" baseline="30000" dirty="0" smtClean="0"/>
              <a:t>2×2</a:t>
            </a:r>
            <a:endParaRPr lang="en-IN" sz="2600" baseline="30000" dirty="0"/>
          </a:p>
          <a:p>
            <a:pPr marL="0" indent="0" algn="just">
              <a:buNone/>
            </a:pPr>
            <a:r>
              <a:rPr lang="en-IN" sz="2600" dirty="0"/>
              <a:t>	= </a:t>
            </a:r>
            <a:r>
              <a:rPr lang="en-IN" sz="2600" dirty="0" smtClean="0"/>
              <a:t>Rs. 2,00,000[1.06]</a:t>
            </a:r>
            <a:r>
              <a:rPr lang="en-IN" sz="2600" baseline="30000" dirty="0" smtClean="0"/>
              <a:t>4</a:t>
            </a:r>
            <a:endParaRPr lang="en-IN" sz="2600" baseline="30000" dirty="0"/>
          </a:p>
          <a:p>
            <a:pPr marL="0" indent="0" algn="just">
              <a:buNone/>
            </a:pPr>
            <a:r>
              <a:rPr lang="en-IN" sz="2600" dirty="0"/>
              <a:t>	= </a:t>
            </a:r>
            <a:r>
              <a:rPr lang="en-IN" sz="2600" dirty="0" smtClean="0"/>
              <a:t>Rs. 2,00,000 </a:t>
            </a:r>
            <a:r>
              <a:rPr lang="en-IN" sz="2600" dirty="0"/>
              <a:t>× </a:t>
            </a:r>
            <a:r>
              <a:rPr lang="en-IN" sz="2600" dirty="0" smtClean="0"/>
              <a:t>1.2625</a:t>
            </a:r>
            <a:endParaRPr lang="en-IN" sz="2600" dirty="0"/>
          </a:p>
          <a:p>
            <a:pPr marL="0" indent="0" algn="just">
              <a:buNone/>
            </a:pPr>
            <a:r>
              <a:rPr lang="en-IN" sz="2600" dirty="0"/>
              <a:t>	</a:t>
            </a:r>
            <a:r>
              <a:rPr lang="en-IN" sz="2600" dirty="0">
                <a:solidFill>
                  <a:srgbClr val="FF0000"/>
                </a:solidFill>
              </a:rPr>
              <a:t>= Rs. </a:t>
            </a:r>
            <a:r>
              <a:rPr lang="en-IN" sz="2600" dirty="0" smtClean="0">
                <a:solidFill>
                  <a:srgbClr val="FF0000"/>
                </a:solidFill>
              </a:rPr>
              <a:t>2,52,500</a:t>
            </a:r>
            <a:endParaRPr lang="en-IN" sz="2600" dirty="0">
              <a:solidFill>
                <a:srgbClr val="FF0000"/>
              </a:solidFill>
            </a:endParaRPr>
          </a:p>
          <a:p>
            <a:pPr marL="0" indent="0">
              <a:buNone/>
            </a:pPr>
            <a:r>
              <a:rPr lang="en-IN" sz="2600" b="1" dirty="0" smtClean="0">
                <a:solidFill>
                  <a:srgbClr val="FF0000"/>
                </a:solidFill>
              </a:rPr>
              <a:t>c) If </a:t>
            </a:r>
            <a:r>
              <a:rPr lang="en-IN" sz="2600" b="1" dirty="0">
                <a:solidFill>
                  <a:srgbClr val="FF0000"/>
                </a:solidFill>
              </a:rPr>
              <a:t>interest is compounded </a:t>
            </a:r>
            <a:r>
              <a:rPr lang="en-IN" sz="2600" b="1" dirty="0" smtClean="0">
                <a:solidFill>
                  <a:srgbClr val="FF0000"/>
                </a:solidFill>
              </a:rPr>
              <a:t>quarterly:</a:t>
            </a:r>
            <a:endParaRPr lang="en-IN" sz="2600" b="1" dirty="0">
              <a:solidFill>
                <a:srgbClr val="FF0000"/>
              </a:solidFill>
            </a:endParaRPr>
          </a:p>
          <a:p>
            <a:pPr marL="0" indent="0" algn="just">
              <a:buNone/>
            </a:pPr>
            <a:r>
              <a:rPr lang="en-IN" sz="2600" dirty="0" smtClean="0"/>
              <a:t>	FV </a:t>
            </a:r>
            <a:r>
              <a:rPr lang="en-IN" sz="2600" dirty="0"/>
              <a:t>= </a:t>
            </a:r>
            <a:r>
              <a:rPr lang="en-IN" sz="2600" dirty="0" smtClean="0"/>
              <a:t>P[1+r/</a:t>
            </a:r>
            <a:r>
              <a:rPr lang="en-IN" sz="1800" dirty="0" smtClean="0"/>
              <a:t>4</a:t>
            </a:r>
            <a:r>
              <a:rPr lang="en-IN" sz="2600" dirty="0" smtClean="0"/>
              <a:t>]</a:t>
            </a:r>
            <a:r>
              <a:rPr lang="en-IN" sz="2600" baseline="30000" dirty="0"/>
              <a:t>4</a:t>
            </a:r>
            <a:r>
              <a:rPr lang="en-IN" sz="2600" baseline="30000" dirty="0" smtClean="0"/>
              <a:t>n</a:t>
            </a:r>
            <a:endParaRPr lang="en-IN" sz="2600" baseline="30000" dirty="0"/>
          </a:p>
          <a:p>
            <a:pPr marL="0" indent="0" algn="just">
              <a:buNone/>
            </a:pPr>
            <a:r>
              <a:rPr lang="en-IN" sz="2600" dirty="0"/>
              <a:t>	= </a:t>
            </a:r>
            <a:r>
              <a:rPr lang="en-IN" sz="2600" dirty="0" smtClean="0"/>
              <a:t>Rs. 2,00,000[1+0.03]</a:t>
            </a:r>
            <a:r>
              <a:rPr lang="en-IN" sz="2600" baseline="30000" dirty="0" smtClean="0"/>
              <a:t>4×2</a:t>
            </a:r>
            <a:endParaRPr lang="en-IN" sz="2600" baseline="30000" dirty="0"/>
          </a:p>
          <a:p>
            <a:pPr marL="0" indent="0" algn="just">
              <a:buNone/>
            </a:pPr>
            <a:r>
              <a:rPr lang="en-IN" sz="2600" dirty="0"/>
              <a:t>	= </a:t>
            </a:r>
            <a:r>
              <a:rPr lang="en-IN" sz="2600" dirty="0" smtClean="0"/>
              <a:t>Rs. 2,00,000[1.03]</a:t>
            </a:r>
            <a:r>
              <a:rPr lang="en-IN" sz="2600" baseline="30000" dirty="0" smtClean="0"/>
              <a:t>8</a:t>
            </a:r>
            <a:endParaRPr lang="en-IN" sz="2600" baseline="30000" dirty="0"/>
          </a:p>
          <a:p>
            <a:pPr marL="0" indent="0" algn="just">
              <a:buNone/>
            </a:pPr>
            <a:r>
              <a:rPr lang="en-IN" sz="2600" dirty="0"/>
              <a:t>	= </a:t>
            </a:r>
            <a:r>
              <a:rPr lang="en-IN" sz="2600" dirty="0" smtClean="0"/>
              <a:t>Rs. 2,00,000 </a:t>
            </a:r>
            <a:r>
              <a:rPr lang="en-IN" sz="2600" dirty="0"/>
              <a:t>× </a:t>
            </a:r>
            <a:r>
              <a:rPr lang="en-IN" sz="2600" dirty="0" smtClean="0"/>
              <a:t>1.2668</a:t>
            </a:r>
            <a:endParaRPr lang="en-IN" sz="2600" dirty="0"/>
          </a:p>
          <a:p>
            <a:pPr marL="0" indent="0" algn="just">
              <a:buNone/>
            </a:pPr>
            <a:r>
              <a:rPr lang="en-IN" sz="2600" dirty="0"/>
              <a:t>	</a:t>
            </a:r>
            <a:r>
              <a:rPr lang="en-IN" sz="2600" dirty="0">
                <a:solidFill>
                  <a:srgbClr val="FF0000"/>
                </a:solidFill>
              </a:rPr>
              <a:t>= Rs. </a:t>
            </a:r>
            <a:r>
              <a:rPr lang="en-IN" sz="2600" dirty="0" smtClean="0">
                <a:solidFill>
                  <a:srgbClr val="FF0000"/>
                </a:solidFill>
              </a:rPr>
              <a:t>2,53,360</a:t>
            </a:r>
            <a:endParaRPr lang="en-IN" sz="2600" dirty="0">
              <a:solidFill>
                <a:srgbClr val="FF0000"/>
              </a:solidFill>
            </a:endParaRPr>
          </a:p>
          <a:p>
            <a:pPr marL="0" indent="0">
              <a:buNone/>
            </a:pP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3920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9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8255"/>
            <a:ext cx="10515600" cy="5276418"/>
          </a:xfrm>
        </p:spPr>
        <p:txBody>
          <a:bodyPr>
            <a:normAutofit/>
          </a:bodyPr>
          <a:lstStyle/>
          <a:p>
            <a:pPr marL="0" indent="0" algn="just">
              <a:buNone/>
            </a:pPr>
            <a:r>
              <a:rPr lang="en-IN" sz="2600" b="1" dirty="0" smtClean="0">
                <a:solidFill>
                  <a:srgbClr val="FF0000"/>
                </a:solidFill>
              </a:rPr>
              <a:t>d) If </a:t>
            </a:r>
            <a:r>
              <a:rPr lang="en-IN" sz="2600" b="1" dirty="0">
                <a:solidFill>
                  <a:srgbClr val="FF0000"/>
                </a:solidFill>
              </a:rPr>
              <a:t>interest is compounded </a:t>
            </a:r>
            <a:r>
              <a:rPr lang="en-IN" sz="2600" b="1" dirty="0" smtClean="0">
                <a:solidFill>
                  <a:srgbClr val="FF0000"/>
                </a:solidFill>
              </a:rPr>
              <a:t>monthly:</a:t>
            </a:r>
            <a:endParaRPr lang="en-IN" sz="2600" b="1" dirty="0">
              <a:solidFill>
                <a:srgbClr val="FF0000"/>
              </a:solidFill>
            </a:endParaRPr>
          </a:p>
          <a:p>
            <a:pPr marL="0" indent="0" algn="just">
              <a:buNone/>
            </a:pPr>
            <a:r>
              <a:rPr lang="en-IN" sz="2600" dirty="0"/>
              <a:t>	</a:t>
            </a:r>
            <a:r>
              <a:rPr lang="en-IN" sz="2600" dirty="0" smtClean="0"/>
              <a:t>FV </a:t>
            </a:r>
            <a:r>
              <a:rPr lang="en-IN" sz="2600" dirty="0"/>
              <a:t>= </a:t>
            </a:r>
            <a:r>
              <a:rPr lang="en-IN" sz="2600" dirty="0" smtClean="0"/>
              <a:t>P[1+r/</a:t>
            </a:r>
            <a:r>
              <a:rPr lang="en-IN" sz="1800" dirty="0" smtClean="0"/>
              <a:t>12</a:t>
            </a:r>
            <a:r>
              <a:rPr lang="en-IN" sz="2600" dirty="0" smtClean="0"/>
              <a:t>]</a:t>
            </a:r>
            <a:r>
              <a:rPr lang="en-IN" sz="2600" baseline="30000" dirty="0" smtClean="0"/>
              <a:t>12n</a:t>
            </a:r>
            <a:endParaRPr lang="en-IN" sz="2600" baseline="30000" dirty="0"/>
          </a:p>
          <a:p>
            <a:pPr marL="0" indent="0" algn="just">
              <a:buNone/>
            </a:pPr>
            <a:r>
              <a:rPr lang="en-IN" sz="2600" dirty="0"/>
              <a:t>	= </a:t>
            </a:r>
            <a:r>
              <a:rPr lang="en-IN" sz="2600" dirty="0" smtClean="0"/>
              <a:t>Rs. 2,00,000[1+0.01]</a:t>
            </a:r>
            <a:r>
              <a:rPr lang="en-IN" sz="2600" baseline="30000" dirty="0" smtClean="0"/>
              <a:t>12×2</a:t>
            </a:r>
            <a:endParaRPr lang="en-IN" sz="2600" baseline="30000" dirty="0"/>
          </a:p>
          <a:p>
            <a:pPr marL="0" indent="0" algn="just">
              <a:buNone/>
            </a:pPr>
            <a:r>
              <a:rPr lang="en-IN" sz="2600" dirty="0"/>
              <a:t>	= </a:t>
            </a:r>
            <a:r>
              <a:rPr lang="en-IN" sz="2600" dirty="0" smtClean="0"/>
              <a:t>Rs. 2,00,000[1.01]</a:t>
            </a:r>
            <a:r>
              <a:rPr lang="en-IN" sz="2600" baseline="30000" dirty="0" smtClean="0"/>
              <a:t>24</a:t>
            </a:r>
            <a:endParaRPr lang="en-IN" sz="2600" baseline="30000" dirty="0"/>
          </a:p>
          <a:p>
            <a:pPr marL="0" indent="0" algn="just">
              <a:buNone/>
            </a:pPr>
            <a:r>
              <a:rPr lang="en-IN" sz="2600" dirty="0"/>
              <a:t>	= </a:t>
            </a:r>
            <a:r>
              <a:rPr lang="en-IN" sz="2600" dirty="0" smtClean="0"/>
              <a:t>Rs. 2,00,000 </a:t>
            </a:r>
            <a:r>
              <a:rPr lang="en-IN" sz="2600" dirty="0"/>
              <a:t>× </a:t>
            </a:r>
            <a:r>
              <a:rPr lang="en-IN" sz="2600" dirty="0" smtClean="0"/>
              <a:t>1.2697</a:t>
            </a:r>
            <a:endParaRPr lang="en-IN" sz="2600" dirty="0"/>
          </a:p>
          <a:p>
            <a:pPr marL="0" indent="0" algn="just">
              <a:buNone/>
            </a:pPr>
            <a:r>
              <a:rPr lang="en-IN" sz="2600" dirty="0"/>
              <a:t>	</a:t>
            </a:r>
            <a:r>
              <a:rPr lang="en-IN" sz="2600" dirty="0">
                <a:solidFill>
                  <a:srgbClr val="FF0000"/>
                </a:solidFill>
              </a:rPr>
              <a:t>= Rs. </a:t>
            </a:r>
            <a:r>
              <a:rPr lang="en-IN" sz="2600" dirty="0" smtClean="0">
                <a:solidFill>
                  <a:srgbClr val="FF0000"/>
                </a:solidFill>
              </a:rPr>
              <a:t>2,53,940</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71043"/>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6104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normAutofit/>
          </a:bodyPr>
          <a:lstStyle/>
          <a:p>
            <a:pPr marL="0" indent="0" algn="just">
              <a:buNone/>
            </a:pPr>
            <a:r>
              <a:rPr lang="en-IN" sz="2600" dirty="0" smtClean="0"/>
              <a:t>9. Mr. Kannan invested Rs. 3,00,000 at 12% p.a. for 6 years. What will be the value of investment if interest is compounded a) annually, b) semi-annually, c) quarterly, and d) monthly? Which is more beneficial to Mr. Kannan.</a:t>
            </a:r>
          </a:p>
          <a:p>
            <a:pPr marL="0" indent="0" algn="just">
              <a:buNone/>
            </a:pPr>
            <a:r>
              <a:rPr lang="en-IN" sz="2600" b="1" dirty="0" smtClean="0">
                <a:solidFill>
                  <a:srgbClr val="FF0000"/>
                </a:solidFill>
              </a:rPr>
              <a:t>Answer:</a:t>
            </a:r>
          </a:p>
          <a:p>
            <a:pPr marL="514350" indent="-514350" algn="just">
              <a:buAutoNum type="alphaLcParenR"/>
            </a:pPr>
            <a:r>
              <a:rPr lang="en-IN" sz="2600" dirty="0" smtClean="0"/>
              <a:t>Rs. 5,92,147</a:t>
            </a:r>
          </a:p>
          <a:p>
            <a:pPr marL="514350" indent="-514350" algn="just">
              <a:buAutoNum type="alphaLcParenR"/>
            </a:pPr>
            <a:r>
              <a:rPr lang="en-IN" sz="2600" dirty="0" smtClean="0"/>
              <a:t>Rs. 6,03,659</a:t>
            </a:r>
          </a:p>
          <a:p>
            <a:pPr marL="514350" indent="-514350" algn="just">
              <a:buAutoNum type="alphaLcParenR"/>
            </a:pPr>
            <a:r>
              <a:rPr lang="en-IN" sz="2600" dirty="0" smtClean="0"/>
              <a:t>Rs. 6,09,838</a:t>
            </a:r>
          </a:p>
          <a:p>
            <a:pPr marL="514350" indent="-514350" algn="just">
              <a:buAutoNum type="alphaLcParenR"/>
            </a:pPr>
            <a:r>
              <a:rPr lang="en-IN" sz="2600" dirty="0" smtClean="0"/>
              <a:t>Rs. 6,14,130</a:t>
            </a:r>
          </a:p>
          <a:p>
            <a:pPr marL="0" indent="0" algn="just">
              <a:buNone/>
            </a:pPr>
            <a:r>
              <a:rPr lang="en-IN" sz="2600" b="1" dirty="0" smtClean="0">
                <a:solidFill>
                  <a:srgbClr val="FF0000"/>
                </a:solidFill>
              </a:rPr>
              <a:t>Comment:</a:t>
            </a:r>
          </a:p>
          <a:p>
            <a:pPr marL="0" indent="0" algn="just">
              <a:buNone/>
            </a:pPr>
            <a:r>
              <a:rPr lang="en-IN" sz="2600" dirty="0" smtClean="0">
                <a:solidFill>
                  <a:srgbClr val="00B050"/>
                </a:solidFill>
              </a:rPr>
              <a:t>Monthly compounding is more beneficial.</a:t>
            </a:r>
            <a:endParaRPr lang="en-IN" sz="2600" dirty="0">
              <a:solidFill>
                <a:srgbClr val="00B05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412606"/>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8760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2109"/>
            <a:ext cx="10515600" cy="5234854"/>
          </a:xfrm>
        </p:spPr>
        <p:txBody>
          <a:bodyPr>
            <a:normAutofit/>
          </a:bodyPr>
          <a:lstStyle/>
          <a:p>
            <a:pPr marL="0" indent="0" algn="just">
              <a:buNone/>
            </a:pPr>
            <a:r>
              <a:rPr lang="en-IN" sz="2600" dirty="0" smtClean="0"/>
              <a:t>10.Mr. Manoj invests Rs. 1,00,000 in a bank at 10% for 5 years. Calculate the maturity value if interest is compounding annually. Will he get more if interest is compounded half-yearly?</a:t>
            </a:r>
          </a:p>
          <a:p>
            <a:pPr marL="0" indent="0" algn="just">
              <a:buNone/>
            </a:pPr>
            <a:r>
              <a:rPr lang="en-IN" sz="2600" b="1" dirty="0" smtClean="0">
                <a:solidFill>
                  <a:srgbClr val="FF0000"/>
                </a:solidFill>
              </a:rPr>
              <a:t>Answer: </a:t>
            </a:r>
          </a:p>
          <a:p>
            <a:pPr marL="514350" indent="-514350" algn="just">
              <a:buAutoNum type="alphaLcParenR"/>
            </a:pPr>
            <a:r>
              <a:rPr lang="en-IN" sz="2600" dirty="0" smtClean="0"/>
              <a:t>Rs. 1,61,051</a:t>
            </a:r>
          </a:p>
          <a:p>
            <a:pPr marL="514350" indent="-514350" algn="just">
              <a:buAutoNum type="alphaLcParenR"/>
            </a:pPr>
            <a:r>
              <a:rPr lang="en-IN" sz="2600" dirty="0" smtClean="0"/>
              <a:t>Rs. 1,62,889</a:t>
            </a:r>
          </a:p>
          <a:p>
            <a:pPr marL="0" indent="0" algn="just">
              <a:buNone/>
            </a:pPr>
            <a:r>
              <a:rPr lang="en-IN" sz="2600" b="1" dirty="0" smtClean="0">
                <a:solidFill>
                  <a:srgbClr val="FF0000"/>
                </a:solidFill>
              </a:rPr>
              <a:t>Comment:</a:t>
            </a:r>
          </a:p>
          <a:p>
            <a:pPr marL="0" indent="0" algn="just">
              <a:buNone/>
            </a:pPr>
            <a:r>
              <a:rPr lang="en-IN" sz="2600" dirty="0" smtClean="0">
                <a:solidFill>
                  <a:srgbClr val="00B050"/>
                </a:solidFill>
              </a:rPr>
              <a:t>Manoj gets Rs. 1,838 more.</a:t>
            </a:r>
            <a:endParaRPr lang="en-IN" sz="2600" dirty="0">
              <a:solidFill>
                <a:srgbClr val="00B05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8489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3053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928" y="969818"/>
            <a:ext cx="10515600" cy="5165582"/>
          </a:xfrm>
        </p:spPr>
        <p:txBody>
          <a:bodyPr>
            <a:normAutofit/>
          </a:bodyPr>
          <a:lstStyle/>
          <a:p>
            <a:pPr marL="0" indent="0" algn="just">
              <a:buNone/>
            </a:pPr>
            <a:r>
              <a:rPr lang="en-IN" sz="2600" b="1" dirty="0" smtClean="0">
                <a:solidFill>
                  <a:srgbClr val="FF0000"/>
                </a:solidFill>
              </a:rPr>
              <a:t>2. Effective Rate of interest:</a:t>
            </a:r>
          </a:p>
          <a:p>
            <a:pPr marL="0" indent="0" algn="just">
              <a:buNone/>
            </a:pPr>
            <a:r>
              <a:rPr lang="en-IN" sz="2600" dirty="0" smtClean="0"/>
              <a:t>The effective rate of interest is the annual compounded rate of interest that is equivalent to an annual interest rate compounded for more than one year</a:t>
            </a:r>
            <a:r>
              <a:rPr lang="en-IN" sz="2600" dirty="0" smtClean="0">
                <a:solidFill>
                  <a:srgbClr val="FF0000"/>
                </a:solidFill>
              </a:rPr>
              <a:t>.</a:t>
            </a:r>
            <a:r>
              <a:rPr lang="en-IN" sz="2600" dirty="0" smtClean="0"/>
              <a:t> </a:t>
            </a:r>
            <a:r>
              <a:rPr lang="en-IN" sz="2600" b="1" dirty="0" smtClean="0">
                <a:solidFill>
                  <a:srgbClr val="FF0000"/>
                </a:solidFill>
              </a:rPr>
              <a:t>It is the real return on any interest-paying investment. </a:t>
            </a:r>
            <a:r>
              <a:rPr lang="en-IN" sz="2600" dirty="0" smtClean="0"/>
              <a:t>The effective rate of interest and the nominal rate of interest are equal whenever they generate the same future value</a:t>
            </a:r>
            <a:r>
              <a:rPr lang="en-IN" sz="2600" dirty="0" smtClean="0">
                <a:solidFill>
                  <a:srgbClr val="FF0000"/>
                </a:solidFill>
              </a:rPr>
              <a:t>. </a:t>
            </a:r>
            <a:r>
              <a:rPr lang="en-IN" sz="2600" dirty="0" smtClean="0"/>
              <a:t>The effective rate of interest can be ascertained by applying the following formula:</a:t>
            </a:r>
          </a:p>
          <a:p>
            <a:pPr marL="0" indent="0" algn="just">
              <a:buNone/>
            </a:pPr>
            <a:r>
              <a:rPr lang="en-IN" sz="2600" dirty="0" smtClean="0"/>
              <a:t>ERI = {[1+r/m]</a:t>
            </a:r>
            <a:r>
              <a:rPr lang="en-IN" sz="2600" baseline="30000" dirty="0" smtClean="0"/>
              <a:t>m</a:t>
            </a:r>
            <a:r>
              <a:rPr lang="en-IN" sz="2600" dirty="0" smtClean="0"/>
              <a:t> } – 1</a:t>
            </a:r>
          </a:p>
          <a:p>
            <a:pPr marL="0" indent="0" algn="just">
              <a:buNone/>
            </a:pPr>
            <a:r>
              <a:rPr lang="en-IN" sz="2600" b="1" dirty="0" smtClean="0">
                <a:solidFill>
                  <a:srgbClr val="FF0000"/>
                </a:solidFill>
              </a:rPr>
              <a:t>Where</a:t>
            </a:r>
            <a:r>
              <a:rPr lang="en-IN" sz="2600" dirty="0" smtClean="0">
                <a:solidFill>
                  <a:srgbClr val="FF0000"/>
                </a:solidFill>
              </a:rPr>
              <a:t>:</a:t>
            </a:r>
          </a:p>
          <a:p>
            <a:pPr marL="0" indent="0" algn="just">
              <a:buNone/>
            </a:pPr>
            <a:r>
              <a:rPr lang="en-IN" sz="2600" dirty="0" smtClean="0"/>
              <a:t>r= Rate of interest</a:t>
            </a:r>
          </a:p>
          <a:p>
            <a:pPr marL="0" indent="0" algn="just">
              <a:buNone/>
            </a:pPr>
            <a:r>
              <a:rPr lang="en-IN" sz="2600" dirty="0"/>
              <a:t>m</a:t>
            </a:r>
            <a:r>
              <a:rPr lang="en-IN" sz="2600" dirty="0" smtClean="0"/>
              <a:t>= Frequency of compounding</a:t>
            </a: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8428" y="412606"/>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9669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5126" y="775855"/>
            <a:ext cx="10508673" cy="5652654"/>
          </a:xfrm>
        </p:spPr>
        <p:txBody>
          <a:bodyPr>
            <a:normAutofit lnSpcReduction="10000"/>
          </a:bodyPr>
          <a:lstStyle/>
          <a:p>
            <a:pPr marL="0" indent="0" algn="just">
              <a:buNone/>
            </a:pPr>
            <a:r>
              <a:rPr lang="en-IN" sz="2600" dirty="0" smtClean="0"/>
              <a:t>11. Alex Industries Ltd., offers 14% interest on fixed deposits. What is the effective rate of interest if compounding is done a) half-yearly, b) quarterly, and c) monthly?</a:t>
            </a:r>
          </a:p>
          <a:p>
            <a:pPr marL="0" indent="0" algn="just">
              <a:buNone/>
            </a:pPr>
            <a:r>
              <a:rPr lang="en-IN" sz="2600" b="1" dirty="0" smtClean="0">
                <a:solidFill>
                  <a:srgbClr val="FF0000"/>
                </a:solidFill>
              </a:rPr>
              <a:t>Solution:</a:t>
            </a:r>
          </a:p>
          <a:p>
            <a:pPr marL="0" indent="0" algn="just">
              <a:buNone/>
            </a:pPr>
            <a:r>
              <a:rPr lang="en-IN" sz="2600" dirty="0" smtClean="0"/>
              <a:t>Computation of effective rate of interest:</a:t>
            </a:r>
          </a:p>
          <a:p>
            <a:pPr marL="0" indent="0" algn="just">
              <a:buNone/>
            </a:pPr>
            <a:r>
              <a:rPr lang="en-IN" sz="2600" dirty="0"/>
              <a:t>ERI = [1+r/m]</a:t>
            </a:r>
            <a:r>
              <a:rPr lang="en-IN" sz="2600" baseline="30000" dirty="0"/>
              <a:t>m</a:t>
            </a:r>
            <a:r>
              <a:rPr lang="en-IN" sz="2600" dirty="0"/>
              <a:t> – </a:t>
            </a:r>
            <a:r>
              <a:rPr lang="en-IN" sz="2600" dirty="0" smtClean="0"/>
              <a:t>1</a:t>
            </a:r>
          </a:p>
          <a:p>
            <a:pPr marL="514350" indent="-514350" algn="just">
              <a:buAutoNum type="alphaLcParenR"/>
            </a:pPr>
            <a:r>
              <a:rPr lang="en-IN" sz="2600" b="1" dirty="0" smtClean="0">
                <a:solidFill>
                  <a:srgbClr val="FF0000"/>
                </a:solidFill>
              </a:rPr>
              <a:t>If interest is compounded half yearly:</a:t>
            </a:r>
          </a:p>
          <a:p>
            <a:pPr marL="0" indent="0" algn="just">
              <a:buNone/>
            </a:pPr>
            <a:r>
              <a:rPr lang="en-IN" dirty="0" smtClean="0"/>
              <a:t>	ERI </a:t>
            </a:r>
            <a:r>
              <a:rPr lang="en-IN" dirty="0"/>
              <a:t>= [1+r/m]</a:t>
            </a:r>
            <a:r>
              <a:rPr lang="en-IN" baseline="30000" dirty="0"/>
              <a:t>m</a:t>
            </a:r>
            <a:r>
              <a:rPr lang="en-IN" dirty="0"/>
              <a:t> – 1</a:t>
            </a:r>
            <a:endParaRPr lang="en-IN" sz="3200" dirty="0"/>
          </a:p>
          <a:p>
            <a:pPr marL="0" indent="0" algn="just">
              <a:buNone/>
            </a:pPr>
            <a:r>
              <a:rPr lang="en-IN" sz="2600" dirty="0" smtClean="0"/>
              <a:t>	= [1+0.14/2]</a:t>
            </a:r>
            <a:r>
              <a:rPr lang="en-IN" sz="2600" baseline="30000" dirty="0" smtClean="0"/>
              <a:t>2 </a:t>
            </a:r>
            <a:r>
              <a:rPr lang="en-IN" sz="2600" dirty="0" smtClean="0"/>
              <a:t>- 1</a:t>
            </a:r>
          </a:p>
          <a:p>
            <a:pPr marL="0" indent="0" algn="just">
              <a:buNone/>
            </a:pPr>
            <a:r>
              <a:rPr lang="en-IN" sz="2600" dirty="0" smtClean="0"/>
              <a:t>	= [1.07]</a:t>
            </a:r>
            <a:r>
              <a:rPr lang="en-IN" sz="2600" baseline="30000" dirty="0" smtClean="0"/>
              <a:t>2 </a:t>
            </a:r>
            <a:r>
              <a:rPr lang="en-IN" sz="2600" dirty="0" smtClean="0"/>
              <a:t>- 1</a:t>
            </a:r>
          </a:p>
          <a:p>
            <a:pPr marL="0" indent="0" algn="just">
              <a:buNone/>
            </a:pPr>
            <a:r>
              <a:rPr lang="en-IN" sz="2600" dirty="0" smtClean="0"/>
              <a:t>	= 1.1449 -1</a:t>
            </a:r>
          </a:p>
          <a:p>
            <a:pPr marL="0" indent="0" algn="just">
              <a:buNone/>
            </a:pPr>
            <a:r>
              <a:rPr lang="en-IN" sz="2600" dirty="0" smtClean="0"/>
              <a:t>	= 0.1449 × 100</a:t>
            </a:r>
          </a:p>
          <a:p>
            <a:pPr marL="0" indent="0" algn="just">
              <a:buNone/>
            </a:pPr>
            <a:r>
              <a:rPr lang="en-IN" sz="2600" dirty="0" smtClean="0"/>
              <a:t>	</a:t>
            </a:r>
            <a:r>
              <a:rPr lang="en-IN" sz="2600" dirty="0" smtClean="0">
                <a:solidFill>
                  <a:srgbClr val="FF0000"/>
                </a:solidFill>
              </a:rPr>
              <a:t>= 14.49%</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699" y="218643"/>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3740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9770"/>
            <a:ext cx="10515600" cy="4748150"/>
          </a:xfrm>
        </p:spPr>
        <p:txBody>
          <a:bodyPr>
            <a:normAutofit/>
          </a:bodyPr>
          <a:lstStyle/>
          <a:p>
            <a:pPr marL="0" indent="0">
              <a:buNone/>
            </a:pPr>
            <a:r>
              <a:rPr lang="en-IN" sz="2600" b="1" dirty="0" smtClean="0">
                <a:solidFill>
                  <a:srgbClr val="FF0000"/>
                </a:solidFill>
              </a:rPr>
              <a:t>b) If interest is compounded quarterly:</a:t>
            </a:r>
          </a:p>
          <a:p>
            <a:pPr marL="0" indent="0" algn="just">
              <a:buNone/>
            </a:pPr>
            <a:r>
              <a:rPr lang="en-IN" sz="2600" dirty="0" smtClean="0"/>
              <a:t>	ERI </a:t>
            </a:r>
            <a:r>
              <a:rPr lang="en-IN" sz="2600" dirty="0"/>
              <a:t>= [1+r/m]</a:t>
            </a:r>
            <a:r>
              <a:rPr lang="en-IN" sz="2600" baseline="30000" dirty="0"/>
              <a:t>m</a:t>
            </a:r>
            <a:r>
              <a:rPr lang="en-IN" sz="2600" dirty="0"/>
              <a:t> – 1</a:t>
            </a:r>
          </a:p>
          <a:p>
            <a:pPr marL="0" indent="0" algn="just">
              <a:buNone/>
            </a:pPr>
            <a:r>
              <a:rPr lang="en-IN" sz="2600" dirty="0"/>
              <a:t>	= [</a:t>
            </a:r>
            <a:r>
              <a:rPr lang="en-IN" sz="2600" dirty="0" smtClean="0"/>
              <a:t>1+0.14/4]</a:t>
            </a:r>
            <a:r>
              <a:rPr lang="en-IN" sz="2600" baseline="30000" dirty="0" smtClean="0"/>
              <a:t>4 </a:t>
            </a:r>
            <a:r>
              <a:rPr lang="en-IN" sz="2600" dirty="0" smtClean="0"/>
              <a:t>- 1</a:t>
            </a:r>
            <a:endParaRPr lang="en-IN" sz="2600" dirty="0"/>
          </a:p>
          <a:p>
            <a:pPr marL="0" indent="0" algn="just">
              <a:buNone/>
            </a:pPr>
            <a:r>
              <a:rPr lang="en-IN" sz="2600" dirty="0"/>
              <a:t>	= [</a:t>
            </a:r>
            <a:r>
              <a:rPr lang="en-IN" sz="2600" dirty="0" smtClean="0"/>
              <a:t>1.035]</a:t>
            </a:r>
            <a:r>
              <a:rPr lang="en-IN" sz="2600" baseline="30000" dirty="0" smtClean="0"/>
              <a:t>4 </a:t>
            </a:r>
            <a:r>
              <a:rPr lang="en-IN" sz="2600" dirty="0" smtClean="0"/>
              <a:t>- 1</a:t>
            </a:r>
            <a:endParaRPr lang="en-IN" sz="2600" dirty="0"/>
          </a:p>
          <a:p>
            <a:pPr marL="0" indent="0" algn="just">
              <a:buNone/>
            </a:pPr>
            <a:r>
              <a:rPr lang="en-IN" sz="2600" dirty="0"/>
              <a:t>	= </a:t>
            </a:r>
            <a:r>
              <a:rPr lang="en-IN" sz="2600" dirty="0" smtClean="0"/>
              <a:t>1.1475 -1</a:t>
            </a:r>
            <a:endParaRPr lang="en-IN" sz="2600" dirty="0"/>
          </a:p>
          <a:p>
            <a:pPr marL="0" indent="0" algn="just">
              <a:buNone/>
            </a:pPr>
            <a:r>
              <a:rPr lang="en-IN" sz="2600" dirty="0"/>
              <a:t>	= </a:t>
            </a:r>
            <a:r>
              <a:rPr lang="en-IN" sz="2600" dirty="0" smtClean="0"/>
              <a:t>0.1475 </a:t>
            </a:r>
            <a:r>
              <a:rPr lang="en-IN" sz="2600" dirty="0"/>
              <a:t>× 100</a:t>
            </a:r>
          </a:p>
          <a:p>
            <a:pPr marL="0" indent="0" algn="just">
              <a:buNone/>
            </a:pPr>
            <a:r>
              <a:rPr lang="en-IN" sz="2600" dirty="0">
                <a:solidFill>
                  <a:srgbClr val="FF0000"/>
                </a:solidFill>
              </a:rPr>
              <a:t>	= </a:t>
            </a:r>
            <a:r>
              <a:rPr lang="en-IN" sz="2600" dirty="0" smtClean="0">
                <a:solidFill>
                  <a:srgbClr val="FF0000"/>
                </a:solidFill>
              </a:rPr>
              <a:t>14.75%</a:t>
            </a:r>
            <a:endParaRPr lang="en-IN" sz="2600" dirty="0">
              <a:solidFill>
                <a:srgbClr val="FF0000"/>
              </a:solidFill>
            </a:endParaRPr>
          </a:p>
        </p:txBody>
      </p:sp>
      <p:pic>
        <p:nvPicPr>
          <p:cNvPr id="6"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7255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7622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3673"/>
            <a:ext cx="10515600" cy="5193290"/>
          </a:xfrm>
        </p:spPr>
        <p:txBody>
          <a:bodyPr>
            <a:normAutofit/>
          </a:bodyPr>
          <a:lstStyle/>
          <a:p>
            <a:pPr marL="0" indent="0">
              <a:buNone/>
            </a:pPr>
            <a:r>
              <a:rPr lang="en-IN" sz="2600" b="1" dirty="0">
                <a:solidFill>
                  <a:srgbClr val="FF0000"/>
                </a:solidFill>
              </a:rPr>
              <a:t>C) If interest is compounded monthly</a:t>
            </a:r>
            <a:r>
              <a:rPr lang="en-IN" sz="2600" b="1" dirty="0" smtClean="0">
                <a:solidFill>
                  <a:srgbClr val="FF0000"/>
                </a:solidFill>
              </a:rPr>
              <a:t>:</a:t>
            </a:r>
          </a:p>
          <a:p>
            <a:pPr marL="0" indent="0" algn="just">
              <a:buNone/>
            </a:pPr>
            <a:r>
              <a:rPr lang="en-IN" sz="2600" dirty="0"/>
              <a:t>ERI = [1+r/m]</a:t>
            </a:r>
            <a:r>
              <a:rPr lang="en-IN" sz="2600" baseline="30000" dirty="0"/>
              <a:t>m</a:t>
            </a:r>
            <a:r>
              <a:rPr lang="en-IN" sz="2600" dirty="0"/>
              <a:t> – 1</a:t>
            </a:r>
          </a:p>
          <a:p>
            <a:pPr marL="0" indent="0" algn="just">
              <a:buNone/>
            </a:pPr>
            <a:r>
              <a:rPr lang="en-IN" sz="2600" dirty="0"/>
              <a:t>	= [</a:t>
            </a:r>
            <a:r>
              <a:rPr lang="en-IN" sz="2600" dirty="0" smtClean="0"/>
              <a:t>1+0.14/12]</a:t>
            </a:r>
            <a:r>
              <a:rPr lang="en-IN" sz="2600" baseline="30000" dirty="0" smtClean="0"/>
              <a:t>12 </a:t>
            </a:r>
            <a:r>
              <a:rPr lang="en-IN" sz="2600" dirty="0" smtClean="0"/>
              <a:t>- 1</a:t>
            </a:r>
            <a:endParaRPr lang="en-IN" sz="2600" dirty="0"/>
          </a:p>
          <a:p>
            <a:pPr marL="0" indent="0" algn="just">
              <a:buNone/>
            </a:pPr>
            <a:r>
              <a:rPr lang="en-IN" sz="2600" dirty="0"/>
              <a:t>	= [</a:t>
            </a:r>
            <a:r>
              <a:rPr lang="en-IN" sz="2600" dirty="0" smtClean="0"/>
              <a:t>1.0117]</a:t>
            </a:r>
            <a:r>
              <a:rPr lang="en-IN" sz="2600" baseline="30000" dirty="0" smtClean="0"/>
              <a:t>12 </a:t>
            </a:r>
            <a:r>
              <a:rPr lang="en-IN" sz="2600" dirty="0" smtClean="0"/>
              <a:t>- 1</a:t>
            </a:r>
            <a:endParaRPr lang="en-IN" sz="2600" dirty="0"/>
          </a:p>
          <a:p>
            <a:pPr marL="0" indent="0" algn="just">
              <a:buNone/>
            </a:pPr>
            <a:r>
              <a:rPr lang="en-IN" sz="2600" dirty="0"/>
              <a:t>	= </a:t>
            </a:r>
            <a:r>
              <a:rPr lang="en-IN" sz="2600" dirty="0" smtClean="0"/>
              <a:t>1.1498 </a:t>
            </a:r>
            <a:r>
              <a:rPr lang="en-IN" sz="2600" dirty="0"/>
              <a:t>-1</a:t>
            </a:r>
          </a:p>
          <a:p>
            <a:pPr marL="0" indent="0" algn="just">
              <a:buNone/>
            </a:pPr>
            <a:r>
              <a:rPr lang="en-IN" sz="2600" dirty="0"/>
              <a:t>	= </a:t>
            </a:r>
            <a:r>
              <a:rPr lang="en-IN" sz="2600" dirty="0" smtClean="0"/>
              <a:t>0.1498 </a:t>
            </a:r>
            <a:r>
              <a:rPr lang="en-IN" sz="2600" dirty="0"/>
              <a:t>× 100</a:t>
            </a:r>
          </a:p>
          <a:p>
            <a:pPr marL="0" indent="0" algn="just">
              <a:buNone/>
            </a:pPr>
            <a:r>
              <a:rPr lang="en-IN" sz="2600" dirty="0"/>
              <a:t>	</a:t>
            </a:r>
            <a:r>
              <a:rPr lang="en-IN" sz="2600" dirty="0">
                <a:solidFill>
                  <a:srgbClr val="FF0000"/>
                </a:solidFill>
              </a:rPr>
              <a:t>= </a:t>
            </a:r>
            <a:r>
              <a:rPr lang="en-IN" sz="2600" dirty="0" smtClean="0">
                <a:solidFill>
                  <a:srgbClr val="FF0000"/>
                </a:solidFill>
              </a:rPr>
              <a:t>14.98%</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42646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7782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7979"/>
            <a:ext cx="10515600" cy="5304127"/>
          </a:xfrm>
        </p:spPr>
        <p:txBody>
          <a:bodyPr>
            <a:normAutofit/>
          </a:bodyPr>
          <a:lstStyle/>
          <a:p>
            <a:pPr marL="0" indent="0" algn="just">
              <a:buNone/>
            </a:pPr>
            <a:r>
              <a:rPr lang="en-IN" sz="2600" dirty="0" smtClean="0"/>
              <a:t>12. Sri Vignesh industries Ltd. offers 12% interest on fixed deposits. What is the effective rate of interest if compounding is done a) half-yearly, b) quarterly, and c) monthly.</a:t>
            </a:r>
          </a:p>
          <a:p>
            <a:pPr marL="0" indent="0" algn="just">
              <a:buNone/>
            </a:pPr>
            <a:r>
              <a:rPr lang="en-IN" sz="2600" b="1" dirty="0" smtClean="0">
                <a:solidFill>
                  <a:srgbClr val="FF0000"/>
                </a:solidFill>
              </a:rPr>
              <a:t>Answer:</a:t>
            </a:r>
          </a:p>
          <a:p>
            <a:pPr marL="514350" indent="-514350" algn="just">
              <a:buAutoNum type="alphaLcParenR"/>
            </a:pPr>
            <a:r>
              <a:rPr lang="en-IN" sz="2600" dirty="0" smtClean="0"/>
              <a:t>12.36%</a:t>
            </a:r>
          </a:p>
          <a:p>
            <a:pPr marL="514350" indent="-514350" algn="just">
              <a:buAutoNum type="alphaLcParenR"/>
            </a:pPr>
            <a:r>
              <a:rPr lang="en-IN" sz="2600" dirty="0" smtClean="0"/>
              <a:t>12.55%</a:t>
            </a:r>
          </a:p>
          <a:p>
            <a:pPr marL="514350" indent="-514350" algn="just">
              <a:buAutoNum type="alphaLcParenR"/>
            </a:pPr>
            <a:r>
              <a:rPr lang="en-IN" sz="2600" dirty="0" smtClean="0"/>
              <a:t>12.68%</a:t>
            </a: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32509"/>
            <a:ext cx="1816100" cy="540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8461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9818"/>
            <a:ext cx="10515600" cy="5207145"/>
          </a:xfrm>
        </p:spPr>
        <p:txBody>
          <a:bodyPr>
            <a:normAutofit/>
          </a:bodyPr>
          <a:lstStyle/>
          <a:p>
            <a:pPr marL="0" indent="0" algn="just">
              <a:buNone/>
            </a:pPr>
            <a:r>
              <a:rPr lang="en-IN" sz="2600" dirty="0" smtClean="0"/>
              <a:t>13. Mr. X makes a fixed deposit of Rs. 10,000 in a bank which pays 10% interest. What is the effective rate of interest if compounding is done a) semi-annually, b) quarterly and c) Monthly.</a:t>
            </a:r>
          </a:p>
          <a:p>
            <a:pPr marL="0" indent="0" algn="just">
              <a:buNone/>
            </a:pPr>
            <a:r>
              <a:rPr lang="en-IN" sz="2600" b="1" dirty="0" smtClean="0">
                <a:solidFill>
                  <a:srgbClr val="FF0000"/>
                </a:solidFill>
              </a:rPr>
              <a:t>Answer:</a:t>
            </a:r>
          </a:p>
          <a:p>
            <a:pPr marL="514350" indent="-514350" algn="just">
              <a:buAutoNum type="alphaLcParenR"/>
            </a:pPr>
            <a:r>
              <a:rPr lang="en-IN" sz="2600" dirty="0" smtClean="0"/>
              <a:t>10.25%</a:t>
            </a:r>
          </a:p>
          <a:p>
            <a:pPr marL="514350" indent="-514350" algn="just">
              <a:buAutoNum type="alphaLcParenR"/>
            </a:pPr>
            <a:r>
              <a:rPr lang="en-IN" sz="2600" dirty="0" smtClean="0"/>
              <a:t>10.38%</a:t>
            </a:r>
          </a:p>
          <a:p>
            <a:pPr marL="514350" indent="-514350" algn="just">
              <a:buAutoNum type="alphaLcParenR"/>
            </a:pPr>
            <a:r>
              <a:rPr lang="en-IN" sz="2600" dirty="0" smtClean="0"/>
              <a:t>10.47%</a:t>
            </a: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71054"/>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53869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5127"/>
            <a:ext cx="10515600" cy="5331836"/>
          </a:xfrm>
        </p:spPr>
        <p:txBody>
          <a:bodyPr>
            <a:normAutofit/>
          </a:bodyPr>
          <a:lstStyle/>
          <a:p>
            <a:pPr marL="0" indent="0">
              <a:buNone/>
            </a:pPr>
            <a:r>
              <a:rPr lang="en-IN" sz="2600" b="1" dirty="0" smtClean="0">
                <a:solidFill>
                  <a:srgbClr val="FF0000"/>
                </a:solidFill>
              </a:rPr>
              <a:t>3. Compounded value of a series of payment:</a:t>
            </a:r>
          </a:p>
          <a:p>
            <a:pPr marL="0" indent="0" algn="just">
              <a:buNone/>
            </a:pPr>
            <a:r>
              <a:rPr lang="en-IN" sz="2600" dirty="0"/>
              <a:t>The following formula is used for compounding of interest income over ‘N’ number of compounding </a:t>
            </a:r>
            <a:r>
              <a:rPr lang="en-IN" sz="2600" dirty="0" smtClean="0"/>
              <a:t>period for a series of payment:</a:t>
            </a:r>
            <a:endParaRPr lang="en-IN" sz="2600" dirty="0"/>
          </a:p>
          <a:p>
            <a:pPr marL="0" indent="0" algn="just">
              <a:buNone/>
            </a:pPr>
            <a:r>
              <a:rPr lang="en-IN" sz="2600" dirty="0"/>
              <a:t>FV = P[1+r]</a:t>
            </a:r>
            <a:r>
              <a:rPr lang="en-IN" sz="2600" baseline="30000" dirty="0"/>
              <a:t>n</a:t>
            </a:r>
          </a:p>
          <a:p>
            <a:pPr marL="0" indent="0" algn="just">
              <a:buNone/>
            </a:pPr>
            <a:r>
              <a:rPr lang="en-IN" sz="2600" dirty="0">
                <a:solidFill>
                  <a:srgbClr val="FF0000"/>
                </a:solidFill>
              </a:rPr>
              <a:t>Where:</a:t>
            </a:r>
          </a:p>
          <a:p>
            <a:pPr marL="0" indent="0" algn="just">
              <a:buNone/>
            </a:pPr>
            <a:r>
              <a:rPr lang="en-IN" sz="2600" dirty="0"/>
              <a:t>FV = Future Value or amount at the end of ‘N’ period.</a:t>
            </a:r>
          </a:p>
          <a:p>
            <a:pPr marL="0" indent="0" algn="just">
              <a:buNone/>
            </a:pPr>
            <a:r>
              <a:rPr lang="en-IN" sz="2600" dirty="0"/>
              <a:t>P  = Principal amount at the beginning of the ‘N’ period.</a:t>
            </a:r>
          </a:p>
          <a:p>
            <a:pPr marL="0" indent="0" algn="just">
              <a:buNone/>
            </a:pPr>
            <a:r>
              <a:rPr lang="en-IN" sz="2600" dirty="0"/>
              <a:t>r = Rate of interest</a:t>
            </a:r>
          </a:p>
          <a:p>
            <a:pPr marL="0" indent="0" algn="just">
              <a:buNone/>
            </a:pPr>
            <a:r>
              <a:rPr lang="en-IN" sz="2600" dirty="0"/>
              <a:t>n = Number of years or periods</a:t>
            </a:r>
          </a:p>
          <a:p>
            <a:pPr marL="0" indent="0">
              <a:buNone/>
            </a:pP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46364"/>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60278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1164"/>
            <a:ext cx="10515600" cy="5525799"/>
          </a:xfrm>
        </p:spPr>
        <p:txBody>
          <a:bodyPr>
            <a:normAutofit/>
          </a:bodyPr>
          <a:lstStyle/>
          <a:p>
            <a:pPr marL="0" indent="0" algn="just">
              <a:buNone/>
            </a:pPr>
            <a:r>
              <a:rPr lang="en-IN" sz="2600" dirty="0" smtClean="0"/>
              <a:t>14. A person deposits Rs. 1,00,000, Rs. 2,00,000, Rs. 3,00,000 and Rs. 4,00,000 in his deposit account at the beginning of first year, 2</a:t>
            </a:r>
            <a:r>
              <a:rPr lang="en-IN" sz="2600" baseline="30000" dirty="0" smtClean="0"/>
              <a:t>nd</a:t>
            </a:r>
            <a:r>
              <a:rPr lang="en-IN" sz="2600" dirty="0" smtClean="0"/>
              <a:t> year, 3</a:t>
            </a:r>
            <a:r>
              <a:rPr lang="en-IN" sz="2600" baseline="30000" dirty="0" smtClean="0"/>
              <a:t>rd</a:t>
            </a:r>
            <a:r>
              <a:rPr lang="en-IN" sz="2600" dirty="0" smtClean="0"/>
              <a:t> year and 4</a:t>
            </a:r>
            <a:r>
              <a:rPr lang="en-IN" sz="2600" baseline="30000" dirty="0" smtClean="0"/>
              <a:t>th</a:t>
            </a:r>
            <a:r>
              <a:rPr lang="en-IN" sz="2600" dirty="0" smtClean="0"/>
              <a:t> year  respectively. Determine his account balance at the end of 4</a:t>
            </a:r>
            <a:r>
              <a:rPr lang="en-IN" sz="2600" baseline="30000" dirty="0" smtClean="0"/>
              <a:t>th</a:t>
            </a:r>
            <a:r>
              <a:rPr lang="en-IN" sz="2600" dirty="0" smtClean="0"/>
              <a:t> year if interest rate is 12% p.a. </a:t>
            </a:r>
          </a:p>
          <a:p>
            <a:pPr marL="0" indent="0" algn="just">
              <a:buNone/>
            </a:pPr>
            <a:r>
              <a:rPr lang="en-IN" sz="2600" b="1" dirty="0" smtClean="0">
                <a:solidFill>
                  <a:srgbClr val="FF0000"/>
                </a:solidFill>
              </a:rPr>
              <a:t>Solution:</a:t>
            </a:r>
          </a:p>
          <a:p>
            <a:pPr marL="0" indent="0" algn="ctr">
              <a:buNone/>
            </a:pPr>
            <a:r>
              <a:rPr lang="en-IN" sz="2600" b="1" dirty="0" smtClean="0">
                <a:solidFill>
                  <a:srgbClr val="FF0000"/>
                </a:solidFill>
              </a:rPr>
              <a:t>Calculation of Maturity Value at the end of 4</a:t>
            </a:r>
            <a:r>
              <a:rPr lang="en-IN" sz="2600" b="1" baseline="30000" dirty="0" smtClean="0">
                <a:solidFill>
                  <a:srgbClr val="FF0000"/>
                </a:solidFill>
              </a:rPr>
              <a:t>th</a:t>
            </a:r>
            <a:r>
              <a:rPr lang="en-IN" sz="2600" b="1" dirty="0" smtClean="0">
                <a:solidFill>
                  <a:srgbClr val="FF0000"/>
                </a:solidFill>
              </a:rPr>
              <a:t> year</a:t>
            </a:r>
          </a:p>
          <a:p>
            <a:pPr marL="0" indent="0" algn="ctr">
              <a:buNone/>
            </a:pPr>
            <a:endParaRPr lang="en-IN" sz="2600"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17768319"/>
              </p:ext>
            </p:extLst>
          </p:nvPr>
        </p:nvGraphicFramePr>
        <p:xfrm>
          <a:off x="838200" y="3085553"/>
          <a:ext cx="10515600" cy="3124200"/>
        </p:xfrm>
        <a:graphic>
          <a:graphicData uri="http://schemas.openxmlformats.org/drawingml/2006/table">
            <a:tbl>
              <a:tblPr firstRow="1" bandRow="1">
                <a:tableStyleId>{5C22544A-7EE6-4342-B048-85BDC9FD1C3A}</a:tableStyleId>
              </a:tblPr>
              <a:tblGrid>
                <a:gridCol w="824345">
                  <a:extLst>
                    <a:ext uri="{9D8B030D-6E8A-4147-A177-3AD203B41FA5}">
                      <a16:colId xmlns:a16="http://schemas.microsoft.com/office/drawing/2014/main" val="3547158875"/>
                    </a:ext>
                  </a:extLst>
                </a:gridCol>
                <a:gridCol w="1551710">
                  <a:extLst>
                    <a:ext uri="{9D8B030D-6E8A-4147-A177-3AD203B41FA5}">
                      <a16:colId xmlns:a16="http://schemas.microsoft.com/office/drawing/2014/main" val="1631748381"/>
                    </a:ext>
                  </a:extLst>
                </a:gridCol>
                <a:gridCol w="2341418">
                  <a:extLst>
                    <a:ext uri="{9D8B030D-6E8A-4147-A177-3AD203B41FA5}">
                      <a16:colId xmlns:a16="http://schemas.microsoft.com/office/drawing/2014/main" val="1773773657"/>
                    </a:ext>
                  </a:extLst>
                </a:gridCol>
                <a:gridCol w="3283527">
                  <a:extLst>
                    <a:ext uri="{9D8B030D-6E8A-4147-A177-3AD203B41FA5}">
                      <a16:colId xmlns:a16="http://schemas.microsoft.com/office/drawing/2014/main" val="1359864944"/>
                    </a:ext>
                  </a:extLst>
                </a:gridCol>
                <a:gridCol w="2514600">
                  <a:extLst>
                    <a:ext uri="{9D8B030D-6E8A-4147-A177-3AD203B41FA5}">
                      <a16:colId xmlns:a16="http://schemas.microsoft.com/office/drawing/2014/main" val="4003255586"/>
                    </a:ext>
                  </a:extLst>
                </a:gridCol>
              </a:tblGrid>
              <a:tr h="370840">
                <a:tc>
                  <a:txBody>
                    <a:bodyPr/>
                    <a:lstStyle/>
                    <a:p>
                      <a:pPr algn="ctr"/>
                      <a:r>
                        <a:rPr lang="en-IN" sz="2200" dirty="0" smtClean="0"/>
                        <a:t>Year</a:t>
                      </a:r>
                      <a:r>
                        <a:rPr lang="en-IN" sz="2200" baseline="0" dirty="0" smtClean="0"/>
                        <a:t> </a:t>
                      </a:r>
                      <a:endParaRPr lang="en-IN" sz="2200" dirty="0"/>
                    </a:p>
                  </a:txBody>
                  <a:tcPr/>
                </a:tc>
                <a:tc>
                  <a:txBody>
                    <a:bodyPr/>
                    <a:lstStyle/>
                    <a:p>
                      <a:pPr algn="ctr"/>
                      <a:r>
                        <a:rPr lang="en-IN" sz="2200" dirty="0" smtClean="0"/>
                        <a:t>Deposits </a:t>
                      </a:r>
                    </a:p>
                    <a:p>
                      <a:pPr algn="ctr"/>
                      <a:r>
                        <a:rPr lang="en-IN" sz="2200" dirty="0" smtClean="0"/>
                        <a:t>(Rs.) </a:t>
                      </a:r>
                      <a:endParaRPr lang="en-IN" sz="2200" dirty="0"/>
                    </a:p>
                  </a:txBody>
                  <a:tcPr/>
                </a:tc>
                <a:tc>
                  <a:txBody>
                    <a:bodyPr/>
                    <a:lstStyle/>
                    <a:p>
                      <a:pPr algn="ctr"/>
                      <a:r>
                        <a:rPr lang="en-IN" sz="2200" dirty="0" smtClean="0"/>
                        <a:t>Year</a:t>
                      </a:r>
                      <a:r>
                        <a:rPr lang="en-IN" sz="2200" baseline="0" dirty="0" smtClean="0"/>
                        <a:t> of compounding </a:t>
                      </a:r>
                      <a:endParaRPr lang="en-IN" sz="2200" dirty="0"/>
                    </a:p>
                  </a:txBody>
                  <a:tcPr/>
                </a:tc>
                <a:tc>
                  <a:txBody>
                    <a:bodyPr/>
                    <a:lstStyle/>
                    <a:p>
                      <a:pPr algn="ctr"/>
                      <a:r>
                        <a:rPr lang="en-IN" sz="2200" dirty="0" smtClean="0"/>
                        <a:t>Compound value factor </a:t>
                      </a:r>
                    </a:p>
                    <a:p>
                      <a:pPr algn="ctr"/>
                      <a:r>
                        <a:rPr lang="en-IN" sz="2200" dirty="0" smtClean="0"/>
                        <a:t>@ 12% p.a. </a:t>
                      </a:r>
                      <a:endParaRPr lang="en-IN" sz="2200" dirty="0"/>
                    </a:p>
                  </a:txBody>
                  <a:tcPr/>
                </a:tc>
                <a:tc>
                  <a:txBody>
                    <a:bodyPr/>
                    <a:lstStyle/>
                    <a:p>
                      <a:pPr algn="ctr"/>
                      <a:r>
                        <a:rPr lang="en-IN" sz="2200" dirty="0" smtClean="0"/>
                        <a:t>Maturity Value </a:t>
                      </a:r>
                    </a:p>
                    <a:p>
                      <a:pPr algn="ctr"/>
                      <a:r>
                        <a:rPr lang="en-IN" sz="2200" dirty="0" smtClean="0"/>
                        <a:t>(Rs.)</a:t>
                      </a:r>
                      <a:endParaRPr lang="en-IN" sz="2200" dirty="0"/>
                    </a:p>
                  </a:txBody>
                  <a:tcPr/>
                </a:tc>
                <a:extLst>
                  <a:ext uri="{0D108BD9-81ED-4DB2-BD59-A6C34878D82A}">
                    <a16:rowId xmlns:a16="http://schemas.microsoft.com/office/drawing/2014/main" val="2840755553"/>
                  </a:ext>
                </a:extLst>
              </a:tr>
              <a:tr h="370840">
                <a:tc>
                  <a:txBody>
                    <a:bodyPr/>
                    <a:lstStyle/>
                    <a:p>
                      <a:pPr algn="ctr"/>
                      <a:r>
                        <a:rPr lang="en-IN" sz="2500" dirty="0" smtClean="0"/>
                        <a:t>1</a:t>
                      </a:r>
                      <a:endParaRPr lang="en-IN" sz="2500" dirty="0"/>
                    </a:p>
                  </a:txBody>
                  <a:tcPr/>
                </a:tc>
                <a:tc>
                  <a:txBody>
                    <a:bodyPr/>
                    <a:lstStyle/>
                    <a:p>
                      <a:pPr algn="ctr"/>
                      <a:r>
                        <a:rPr lang="en-IN" sz="2500" dirty="0" smtClean="0"/>
                        <a:t>1,00,000</a:t>
                      </a:r>
                      <a:endParaRPr lang="en-IN" sz="2500" dirty="0"/>
                    </a:p>
                  </a:txBody>
                  <a:tcPr/>
                </a:tc>
                <a:tc>
                  <a:txBody>
                    <a:bodyPr/>
                    <a:lstStyle/>
                    <a:p>
                      <a:pPr algn="ctr"/>
                      <a:r>
                        <a:rPr lang="en-IN" sz="2500" dirty="0" smtClean="0"/>
                        <a:t>4</a:t>
                      </a:r>
                      <a:endParaRPr lang="en-IN" sz="2500" dirty="0"/>
                    </a:p>
                  </a:txBody>
                  <a:tcPr/>
                </a:tc>
                <a:tc>
                  <a:txBody>
                    <a:bodyPr/>
                    <a:lstStyle/>
                    <a:p>
                      <a:pPr algn="ctr"/>
                      <a:r>
                        <a:rPr lang="en-IN" sz="2500" dirty="0" smtClean="0"/>
                        <a:t>1.574</a:t>
                      </a:r>
                      <a:endParaRPr lang="en-IN" sz="2500" dirty="0"/>
                    </a:p>
                  </a:txBody>
                  <a:tcPr/>
                </a:tc>
                <a:tc>
                  <a:txBody>
                    <a:bodyPr/>
                    <a:lstStyle/>
                    <a:p>
                      <a:pPr algn="ctr"/>
                      <a:r>
                        <a:rPr lang="en-IN" sz="2500" dirty="0" smtClean="0"/>
                        <a:t>1,57,400</a:t>
                      </a:r>
                      <a:endParaRPr lang="en-IN" sz="2500" dirty="0"/>
                    </a:p>
                  </a:txBody>
                  <a:tcPr/>
                </a:tc>
                <a:extLst>
                  <a:ext uri="{0D108BD9-81ED-4DB2-BD59-A6C34878D82A}">
                    <a16:rowId xmlns:a16="http://schemas.microsoft.com/office/drawing/2014/main" val="822656075"/>
                  </a:ext>
                </a:extLst>
              </a:tr>
              <a:tr h="370840">
                <a:tc>
                  <a:txBody>
                    <a:bodyPr/>
                    <a:lstStyle/>
                    <a:p>
                      <a:pPr algn="ctr"/>
                      <a:r>
                        <a:rPr lang="en-IN" sz="2500" dirty="0" smtClean="0"/>
                        <a:t>2</a:t>
                      </a:r>
                      <a:endParaRPr lang="en-IN" sz="2500" dirty="0"/>
                    </a:p>
                  </a:txBody>
                  <a:tcPr/>
                </a:tc>
                <a:tc>
                  <a:txBody>
                    <a:bodyPr/>
                    <a:lstStyle/>
                    <a:p>
                      <a:pPr algn="ctr"/>
                      <a:r>
                        <a:rPr lang="en-IN" sz="2500" dirty="0" smtClean="0"/>
                        <a:t>2,00,000</a:t>
                      </a:r>
                      <a:endParaRPr lang="en-IN" sz="2500" dirty="0"/>
                    </a:p>
                  </a:txBody>
                  <a:tcPr/>
                </a:tc>
                <a:tc>
                  <a:txBody>
                    <a:bodyPr/>
                    <a:lstStyle/>
                    <a:p>
                      <a:pPr algn="ctr"/>
                      <a:r>
                        <a:rPr lang="en-IN" sz="2500" dirty="0" smtClean="0"/>
                        <a:t>3</a:t>
                      </a:r>
                      <a:endParaRPr lang="en-IN" sz="2500" dirty="0"/>
                    </a:p>
                  </a:txBody>
                  <a:tcPr/>
                </a:tc>
                <a:tc>
                  <a:txBody>
                    <a:bodyPr/>
                    <a:lstStyle/>
                    <a:p>
                      <a:pPr algn="ctr"/>
                      <a:r>
                        <a:rPr lang="en-IN" sz="2500" dirty="0" smtClean="0"/>
                        <a:t>1.405</a:t>
                      </a:r>
                      <a:endParaRPr lang="en-IN" sz="2500" dirty="0"/>
                    </a:p>
                  </a:txBody>
                  <a:tcPr/>
                </a:tc>
                <a:tc>
                  <a:txBody>
                    <a:bodyPr/>
                    <a:lstStyle/>
                    <a:p>
                      <a:pPr algn="ctr"/>
                      <a:r>
                        <a:rPr lang="en-IN" sz="2500" dirty="0" smtClean="0"/>
                        <a:t>2,81,000</a:t>
                      </a:r>
                      <a:endParaRPr lang="en-IN" sz="2500" dirty="0"/>
                    </a:p>
                  </a:txBody>
                  <a:tcPr/>
                </a:tc>
                <a:extLst>
                  <a:ext uri="{0D108BD9-81ED-4DB2-BD59-A6C34878D82A}">
                    <a16:rowId xmlns:a16="http://schemas.microsoft.com/office/drawing/2014/main" val="1136559819"/>
                  </a:ext>
                </a:extLst>
              </a:tr>
              <a:tr h="370840">
                <a:tc>
                  <a:txBody>
                    <a:bodyPr/>
                    <a:lstStyle/>
                    <a:p>
                      <a:pPr algn="ctr"/>
                      <a:r>
                        <a:rPr lang="en-IN" sz="2500" dirty="0" smtClean="0"/>
                        <a:t>3</a:t>
                      </a:r>
                      <a:endParaRPr lang="en-IN" sz="2500" dirty="0"/>
                    </a:p>
                  </a:txBody>
                  <a:tcPr/>
                </a:tc>
                <a:tc>
                  <a:txBody>
                    <a:bodyPr/>
                    <a:lstStyle/>
                    <a:p>
                      <a:pPr algn="ctr"/>
                      <a:r>
                        <a:rPr lang="en-IN" sz="2500" dirty="0" smtClean="0"/>
                        <a:t>3,00,000</a:t>
                      </a:r>
                      <a:endParaRPr lang="en-IN" sz="2500" dirty="0"/>
                    </a:p>
                  </a:txBody>
                  <a:tcPr/>
                </a:tc>
                <a:tc>
                  <a:txBody>
                    <a:bodyPr/>
                    <a:lstStyle/>
                    <a:p>
                      <a:pPr algn="ctr"/>
                      <a:r>
                        <a:rPr lang="en-IN" sz="2500" dirty="0" smtClean="0"/>
                        <a:t>2</a:t>
                      </a:r>
                      <a:endParaRPr lang="en-IN" sz="2500" dirty="0"/>
                    </a:p>
                  </a:txBody>
                  <a:tcPr/>
                </a:tc>
                <a:tc>
                  <a:txBody>
                    <a:bodyPr/>
                    <a:lstStyle/>
                    <a:p>
                      <a:pPr algn="ctr"/>
                      <a:r>
                        <a:rPr lang="en-IN" sz="2500" dirty="0" smtClean="0"/>
                        <a:t>1.254</a:t>
                      </a:r>
                      <a:endParaRPr lang="en-IN" sz="2500" dirty="0"/>
                    </a:p>
                  </a:txBody>
                  <a:tcPr/>
                </a:tc>
                <a:tc>
                  <a:txBody>
                    <a:bodyPr/>
                    <a:lstStyle/>
                    <a:p>
                      <a:pPr algn="ctr"/>
                      <a:r>
                        <a:rPr lang="en-IN" sz="2500" dirty="0" smtClean="0"/>
                        <a:t>3,76,200</a:t>
                      </a:r>
                      <a:endParaRPr lang="en-IN" sz="2500" dirty="0"/>
                    </a:p>
                  </a:txBody>
                  <a:tcPr/>
                </a:tc>
                <a:extLst>
                  <a:ext uri="{0D108BD9-81ED-4DB2-BD59-A6C34878D82A}">
                    <a16:rowId xmlns:a16="http://schemas.microsoft.com/office/drawing/2014/main" val="1706458343"/>
                  </a:ext>
                </a:extLst>
              </a:tr>
              <a:tr h="370840">
                <a:tc>
                  <a:txBody>
                    <a:bodyPr/>
                    <a:lstStyle/>
                    <a:p>
                      <a:pPr algn="ctr"/>
                      <a:r>
                        <a:rPr lang="en-IN" sz="2500" dirty="0" smtClean="0"/>
                        <a:t>4</a:t>
                      </a:r>
                      <a:endParaRPr lang="en-IN" sz="2500" dirty="0"/>
                    </a:p>
                  </a:txBody>
                  <a:tcPr/>
                </a:tc>
                <a:tc>
                  <a:txBody>
                    <a:bodyPr/>
                    <a:lstStyle/>
                    <a:p>
                      <a:pPr algn="ctr"/>
                      <a:r>
                        <a:rPr lang="en-IN" sz="2500" dirty="0" smtClean="0"/>
                        <a:t>4,00,000</a:t>
                      </a:r>
                      <a:endParaRPr lang="en-IN" sz="2500" dirty="0"/>
                    </a:p>
                  </a:txBody>
                  <a:tcPr/>
                </a:tc>
                <a:tc>
                  <a:txBody>
                    <a:bodyPr/>
                    <a:lstStyle/>
                    <a:p>
                      <a:pPr algn="ctr"/>
                      <a:r>
                        <a:rPr lang="en-IN" sz="2500" dirty="0" smtClean="0"/>
                        <a:t>1</a:t>
                      </a:r>
                      <a:endParaRPr lang="en-IN" sz="2500" dirty="0"/>
                    </a:p>
                  </a:txBody>
                  <a:tcPr/>
                </a:tc>
                <a:tc>
                  <a:txBody>
                    <a:bodyPr/>
                    <a:lstStyle/>
                    <a:p>
                      <a:pPr algn="ctr"/>
                      <a:r>
                        <a:rPr lang="en-IN" sz="2500" dirty="0" smtClean="0"/>
                        <a:t>1.120</a:t>
                      </a:r>
                      <a:endParaRPr lang="en-IN" sz="2500" dirty="0"/>
                    </a:p>
                  </a:txBody>
                  <a:tcPr/>
                </a:tc>
                <a:tc>
                  <a:txBody>
                    <a:bodyPr/>
                    <a:lstStyle/>
                    <a:p>
                      <a:pPr algn="ctr"/>
                      <a:r>
                        <a:rPr lang="en-IN" sz="2500" dirty="0" smtClean="0"/>
                        <a:t>4,48,000</a:t>
                      </a:r>
                      <a:endParaRPr lang="en-IN" sz="2500" dirty="0"/>
                    </a:p>
                  </a:txBody>
                  <a:tcPr/>
                </a:tc>
                <a:extLst>
                  <a:ext uri="{0D108BD9-81ED-4DB2-BD59-A6C34878D82A}">
                    <a16:rowId xmlns:a16="http://schemas.microsoft.com/office/drawing/2014/main" val="392031658"/>
                  </a:ext>
                </a:extLst>
              </a:tr>
              <a:tr h="370840">
                <a:tc gridSpan="4">
                  <a:txBody>
                    <a:bodyPr/>
                    <a:lstStyle/>
                    <a:p>
                      <a:pPr algn="ctr"/>
                      <a:r>
                        <a:rPr lang="en-IN" sz="2500" b="1" dirty="0" smtClean="0">
                          <a:solidFill>
                            <a:srgbClr val="FF0000"/>
                          </a:solidFill>
                        </a:rPr>
                        <a:t>Total Maturity Value </a:t>
                      </a:r>
                      <a:endParaRPr lang="en-IN" sz="2500" b="1" dirty="0">
                        <a:solidFill>
                          <a:srgbClr val="FF0000"/>
                        </a:solidFill>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pPr algn="ctr"/>
                      <a:r>
                        <a:rPr lang="en-IN" sz="2500" b="1" dirty="0" smtClean="0">
                          <a:solidFill>
                            <a:srgbClr val="FF0000"/>
                          </a:solidFill>
                        </a:rPr>
                        <a:t>12,62,600</a:t>
                      </a:r>
                      <a:endParaRPr lang="en-IN" sz="2500" b="1" dirty="0">
                        <a:solidFill>
                          <a:srgbClr val="FF0000"/>
                        </a:solidFill>
                      </a:endParaRPr>
                    </a:p>
                  </a:txBody>
                  <a:tcPr/>
                </a:tc>
                <a:extLst>
                  <a:ext uri="{0D108BD9-81ED-4DB2-BD59-A6C34878D82A}">
                    <a16:rowId xmlns:a16="http://schemas.microsoft.com/office/drawing/2014/main" val="3559120171"/>
                  </a:ext>
                </a:extLst>
              </a:tr>
            </a:tbl>
          </a:graphicData>
        </a:graphic>
      </p:graphicFrame>
      <p:pic>
        <p:nvPicPr>
          <p:cNvPr id="5"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152401"/>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98068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5855"/>
            <a:ext cx="10515600" cy="5547974"/>
          </a:xfrm>
        </p:spPr>
        <p:txBody>
          <a:bodyPr/>
          <a:lstStyle/>
          <a:p>
            <a:pPr marL="0" indent="0" algn="just">
              <a:buNone/>
            </a:pPr>
            <a:r>
              <a:rPr lang="en-IN" sz="2600" dirty="0" smtClean="0"/>
              <a:t>15. </a:t>
            </a:r>
            <a:r>
              <a:rPr lang="en-IN" sz="2600" dirty="0"/>
              <a:t>A person deposits Rs. 1,00,000, Rs. 2,00,000, Rs. 3,00,000 and Rs. 4,00,000 in his deposit account at the </a:t>
            </a:r>
            <a:r>
              <a:rPr lang="en-IN" sz="2600" dirty="0" smtClean="0"/>
              <a:t>end </a:t>
            </a:r>
            <a:r>
              <a:rPr lang="en-IN" sz="2600" dirty="0"/>
              <a:t>of first </a:t>
            </a:r>
            <a:r>
              <a:rPr lang="en-IN" sz="2600" dirty="0" smtClean="0"/>
              <a:t>year, </a:t>
            </a:r>
            <a:r>
              <a:rPr lang="en-IN" sz="2600" dirty="0"/>
              <a:t>2</a:t>
            </a:r>
            <a:r>
              <a:rPr lang="en-IN" sz="2600" baseline="30000" dirty="0"/>
              <a:t>nd</a:t>
            </a:r>
            <a:r>
              <a:rPr lang="en-IN" sz="2600" dirty="0"/>
              <a:t> year, 3</a:t>
            </a:r>
            <a:r>
              <a:rPr lang="en-IN" sz="2600" baseline="30000" dirty="0"/>
              <a:t>rd</a:t>
            </a:r>
            <a:r>
              <a:rPr lang="en-IN" sz="2600" dirty="0"/>
              <a:t> year and 4</a:t>
            </a:r>
            <a:r>
              <a:rPr lang="en-IN" sz="2600" baseline="30000" dirty="0"/>
              <a:t>th</a:t>
            </a:r>
            <a:r>
              <a:rPr lang="en-IN" sz="2600" dirty="0"/>
              <a:t> year  respectively. Determine his account balance at the end of 4</a:t>
            </a:r>
            <a:r>
              <a:rPr lang="en-IN" sz="2600" baseline="30000" dirty="0"/>
              <a:t>th</a:t>
            </a:r>
            <a:r>
              <a:rPr lang="en-IN" sz="2600" dirty="0"/>
              <a:t> year if interest rate is 12% p.a. </a:t>
            </a:r>
          </a:p>
          <a:p>
            <a:pPr marL="0" indent="0" algn="just">
              <a:buNone/>
            </a:pPr>
            <a:r>
              <a:rPr lang="en-IN" sz="2600" b="1" dirty="0" smtClean="0">
                <a:solidFill>
                  <a:srgbClr val="FF0000"/>
                </a:solidFill>
              </a:rPr>
              <a:t>Solution:</a:t>
            </a:r>
          </a:p>
          <a:p>
            <a:pPr marL="0" indent="0" algn="ctr">
              <a:buNone/>
            </a:pPr>
            <a:r>
              <a:rPr lang="en-IN" sz="2600" b="1" dirty="0" smtClean="0">
                <a:solidFill>
                  <a:srgbClr val="FF0000"/>
                </a:solidFill>
              </a:rPr>
              <a:t>Calculation </a:t>
            </a:r>
            <a:r>
              <a:rPr lang="en-IN" sz="2600" b="1" dirty="0">
                <a:solidFill>
                  <a:srgbClr val="FF0000"/>
                </a:solidFill>
              </a:rPr>
              <a:t>of Maturity Value at the end of 4</a:t>
            </a:r>
            <a:r>
              <a:rPr lang="en-IN" sz="2600" b="1" baseline="30000" dirty="0">
                <a:solidFill>
                  <a:srgbClr val="FF0000"/>
                </a:solidFill>
              </a:rPr>
              <a:t>th</a:t>
            </a:r>
            <a:r>
              <a:rPr lang="en-IN" sz="2600" b="1" dirty="0">
                <a:solidFill>
                  <a:srgbClr val="FF0000"/>
                </a:solidFill>
              </a:rPr>
              <a:t> </a:t>
            </a:r>
            <a:r>
              <a:rPr lang="en-IN" sz="2600" b="1" dirty="0" smtClean="0">
                <a:solidFill>
                  <a:srgbClr val="FF0000"/>
                </a:solidFill>
              </a:rPr>
              <a:t>year</a:t>
            </a:r>
          </a:p>
          <a:p>
            <a:pPr marL="0" indent="0" algn="ctr">
              <a:buNone/>
            </a:pPr>
            <a:endParaRPr lang="en-IN" sz="2600" b="1" dirty="0">
              <a:solidFill>
                <a:srgbClr val="FF0000"/>
              </a:solidFill>
            </a:endParaRPr>
          </a:p>
          <a:p>
            <a:pPr marL="0" indent="0" algn="just">
              <a:buNone/>
            </a:pPr>
            <a:endParaRPr lang="en-IN" sz="2600" dirty="0"/>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728089177"/>
              </p:ext>
            </p:extLst>
          </p:nvPr>
        </p:nvGraphicFramePr>
        <p:xfrm>
          <a:off x="838200" y="3199628"/>
          <a:ext cx="10515600" cy="31242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1641393171"/>
                    </a:ext>
                  </a:extLst>
                </a:gridCol>
                <a:gridCol w="1981200">
                  <a:extLst>
                    <a:ext uri="{9D8B030D-6E8A-4147-A177-3AD203B41FA5}">
                      <a16:colId xmlns:a16="http://schemas.microsoft.com/office/drawing/2014/main" val="3356687708"/>
                    </a:ext>
                  </a:extLst>
                </a:gridCol>
                <a:gridCol w="2424545">
                  <a:extLst>
                    <a:ext uri="{9D8B030D-6E8A-4147-A177-3AD203B41FA5}">
                      <a16:colId xmlns:a16="http://schemas.microsoft.com/office/drawing/2014/main" val="1327646696"/>
                    </a:ext>
                  </a:extLst>
                </a:gridCol>
                <a:gridCol w="3168535">
                  <a:extLst>
                    <a:ext uri="{9D8B030D-6E8A-4147-A177-3AD203B41FA5}">
                      <a16:colId xmlns:a16="http://schemas.microsoft.com/office/drawing/2014/main" val="1244431412"/>
                    </a:ext>
                  </a:extLst>
                </a:gridCol>
                <a:gridCol w="2103120">
                  <a:extLst>
                    <a:ext uri="{9D8B030D-6E8A-4147-A177-3AD203B41FA5}">
                      <a16:colId xmlns:a16="http://schemas.microsoft.com/office/drawing/2014/main" val="1891106077"/>
                    </a:ext>
                  </a:extLst>
                </a:gridCol>
              </a:tblGrid>
              <a:tr h="748916">
                <a:tc>
                  <a:txBody>
                    <a:bodyPr/>
                    <a:lstStyle/>
                    <a:p>
                      <a:pPr algn="ctr"/>
                      <a:r>
                        <a:rPr lang="en-IN" sz="2200" dirty="0" smtClean="0"/>
                        <a:t>Year</a:t>
                      </a:r>
                      <a:r>
                        <a:rPr lang="en-IN" sz="2200" baseline="0" dirty="0" smtClean="0"/>
                        <a:t> </a:t>
                      </a:r>
                      <a:endParaRPr lang="en-IN" sz="2200" dirty="0"/>
                    </a:p>
                  </a:txBody>
                  <a:tcPr/>
                </a:tc>
                <a:tc>
                  <a:txBody>
                    <a:bodyPr/>
                    <a:lstStyle/>
                    <a:p>
                      <a:pPr algn="ctr"/>
                      <a:r>
                        <a:rPr lang="en-IN" sz="2200" dirty="0" smtClean="0"/>
                        <a:t>Deposits </a:t>
                      </a:r>
                    </a:p>
                    <a:p>
                      <a:pPr algn="ctr"/>
                      <a:r>
                        <a:rPr lang="en-IN" sz="2200" dirty="0" smtClean="0"/>
                        <a:t>(Rs.) </a:t>
                      </a:r>
                      <a:endParaRPr lang="en-IN" sz="2200" dirty="0"/>
                    </a:p>
                  </a:txBody>
                  <a:tcPr/>
                </a:tc>
                <a:tc>
                  <a:txBody>
                    <a:bodyPr/>
                    <a:lstStyle/>
                    <a:p>
                      <a:pPr algn="ctr"/>
                      <a:r>
                        <a:rPr lang="en-IN" sz="2200" dirty="0" smtClean="0"/>
                        <a:t>Year</a:t>
                      </a:r>
                      <a:r>
                        <a:rPr lang="en-IN" sz="2200" baseline="0" dirty="0" smtClean="0"/>
                        <a:t> of compounding </a:t>
                      </a:r>
                      <a:endParaRPr lang="en-IN" sz="2200" dirty="0"/>
                    </a:p>
                  </a:txBody>
                  <a:tcPr/>
                </a:tc>
                <a:tc>
                  <a:txBody>
                    <a:bodyPr/>
                    <a:lstStyle/>
                    <a:p>
                      <a:pPr algn="ctr"/>
                      <a:r>
                        <a:rPr lang="en-IN" sz="2200" dirty="0" smtClean="0"/>
                        <a:t>Compound value factor @ 12% p.a. </a:t>
                      </a:r>
                      <a:endParaRPr lang="en-IN" sz="2200" dirty="0"/>
                    </a:p>
                  </a:txBody>
                  <a:tcPr/>
                </a:tc>
                <a:tc>
                  <a:txBody>
                    <a:bodyPr/>
                    <a:lstStyle/>
                    <a:p>
                      <a:pPr algn="ctr"/>
                      <a:r>
                        <a:rPr lang="en-IN" sz="2200" dirty="0" smtClean="0"/>
                        <a:t>Maturity Value </a:t>
                      </a:r>
                    </a:p>
                    <a:p>
                      <a:pPr algn="ctr"/>
                      <a:r>
                        <a:rPr lang="en-IN" sz="2200" dirty="0" smtClean="0"/>
                        <a:t>(Rs.)</a:t>
                      </a:r>
                      <a:endParaRPr lang="en-IN" sz="2200" dirty="0"/>
                    </a:p>
                  </a:txBody>
                  <a:tcPr/>
                </a:tc>
                <a:extLst>
                  <a:ext uri="{0D108BD9-81ED-4DB2-BD59-A6C34878D82A}">
                    <a16:rowId xmlns:a16="http://schemas.microsoft.com/office/drawing/2014/main" val="2438946366"/>
                  </a:ext>
                </a:extLst>
              </a:tr>
              <a:tr h="442840">
                <a:tc>
                  <a:txBody>
                    <a:bodyPr/>
                    <a:lstStyle/>
                    <a:p>
                      <a:pPr algn="ctr"/>
                      <a:r>
                        <a:rPr lang="en-IN" sz="2500" dirty="0" smtClean="0"/>
                        <a:t>1</a:t>
                      </a:r>
                      <a:endParaRPr lang="en-IN" sz="2500" dirty="0"/>
                    </a:p>
                  </a:txBody>
                  <a:tcPr/>
                </a:tc>
                <a:tc>
                  <a:txBody>
                    <a:bodyPr/>
                    <a:lstStyle/>
                    <a:p>
                      <a:pPr algn="ctr"/>
                      <a:r>
                        <a:rPr lang="en-IN" sz="2500" dirty="0" smtClean="0"/>
                        <a:t>1,00,000</a:t>
                      </a:r>
                      <a:endParaRPr lang="en-IN" sz="2500" dirty="0"/>
                    </a:p>
                  </a:txBody>
                  <a:tcPr/>
                </a:tc>
                <a:tc>
                  <a:txBody>
                    <a:bodyPr/>
                    <a:lstStyle/>
                    <a:p>
                      <a:pPr algn="ctr"/>
                      <a:r>
                        <a:rPr lang="en-IN" sz="2500" dirty="0" smtClean="0"/>
                        <a:t>3</a:t>
                      </a:r>
                      <a:endParaRPr lang="en-IN" sz="2500" dirty="0"/>
                    </a:p>
                  </a:txBody>
                  <a:tcPr/>
                </a:tc>
                <a:tc>
                  <a:txBody>
                    <a:bodyPr/>
                    <a:lstStyle/>
                    <a:p>
                      <a:pPr algn="ctr"/>
                      <a:r>
                        <a:rPr lang="en-IN" sz="2500" dirty="0" smtClean="0"/>
                        <a:t>1.405</a:t>
                      </a:r>
                      <a:endParaRPr lang="en-IN" sz="2500" dirty="0"/>
                    </a:p>
                  </a:txBody>
                  <a:tcPr/>
                </a:tc>
                <a:tc>
                  <a:txBody>
                    <a:bodyPr/>
                    <a:lstStyle/>
                    <a:p>
                      <a:pPr algn="ctr"/>
                      <a:r>
                        <a:rPr lang="en-IN" sz="2500" dirty="0" smtClean="0"/>
                        <a:t>1,40,500</a:t>
                      </a:r>
                      <a:endParaRPr lang="en-IN" sz="2500" dirty="0"/>
                    </a:p>
                  </a:txBody>
                  <a:tcPr/>
                </a:tc>
                <a:extLst>
                  <a:ext uri="{0D108BD9-81ED-4DB2-BD59-A6C34878D82A}">
                    <a16:rowId xmlns:a16="http://schemas.microsoft.com/office/drawing/2014/main" val="2963526654"/>
                  </a:ext>
                </a:extLst>
              </a:tr>
              <a:tr h="442840">
                <a:tc>
                  <a:txBody>
                    <a:bodyPr/>
                    <a:lstStyle/>
                    <a:p>
                      <a:pPr algn="ctr"/>
                      <a:r>
                        <a:rPr lang="en-IN" sz="2500" dirty="0" smtClean="0"/>
                        <a:t>2</a:t>
                      </a:r>
                      <a:endParaRPr lang="en-IN" sz="2500" dirty="0"/>
                    </a:p>
                  </a:txBody>
                  <a:tcPr/>
                </a:tc>
                <a:tc>
                  <a:txBody>
                    <a:bodyPr/>
                    <a:lstStyle/>
                    <a:p>
                      <a:pPr algn="ctr"/>
                      <a:r>
                        <a:rPr lang="en-IN" sz="2500" dirty="0" smtClean="0"/>
                        <a:t>2,00,000</a:t>
                      </a:r>
                      <a:endParaRPr lang="en-IN" sz="2500" dirty="0"/>
                    </a:p>
                  </a:txBody>
                  <a:tcPr/>
                </a:tc>
                <a:tc>
                  <a:txBody>
                    <a:bodyPr/>
                    <a:lstStyle/>
                    <a:p>
                      <a:pPr algn="ctr"/>
                      <a:r>
                        <a:rPr lang="en-IN" sz="2500" dirty="0" smtClean="0"/>
                        <a:t>2</a:t>
                      </a:r>
                      <a:endParaRPr lang="en-IN" sz="2500" dirty="0"/>
                    </a:p>
                  </a:txBody>
                  <a:tcPr/>
                </a:tc>
                <a:tc>
                  <a:txBody>
                    <a:bodyPr/>
                    <a:lstStyle/>
                    <a:p>
                      <a:pPr algn="ctr"/>
                      <a:r>
                        <a:rPr lang="en-IN" sz="2500" dirty="0" smtClean="0"/>
                        <a:t>1.254</a:t>
                      </a:r>
                      <a:endParaRPr lang="en-IN" sz="2500" dirty="0"/>
                    </a:p>
                  </a:txBody>
                  <a:tcPr/>
                </a:tc>
                <a:tc>
                  <a:txBody>
                    <a:bodyPr/>
                    <a:lstStyle/>
                    <a:p>
                      <a:pPr algn="ctr"/>
                      <a:r>
                        <a:rPr lang="en-IN" sz="2500" dirty="0" smtClean="0"/>
                        <a:t>2,50,800</a:t>
                      </a:r>
                      <a:endParaRPr lang="en-IN" sz="2500" dirty="0"/>
                    </a:p>
                  </a:txBody>
                  <a:tcPr/>
                </a:tc>
                <a:extLst>
                  <a:ext uri="{0D108BD9-81ED-4DB2-BD59-A6C34878D82A}">
                    <a16:rowId xmlns:a16="http://schemas.microsoft.com/office/drawing/2014/main" val="1821871698"/>
                  </a:ext>
                </a:extLst>
              </a:tr>
              <a:tr h="442840">
                <a:tc>
                  <a:txBody>
                    <a:bodyPr/>
                    <a:lstStyle/>
                    <a:p>
                      <a:pPr algn="ctr"/>
                      <a:r>
                        <a:rPr lang="en-IN" sz="2500" dirty="0" smtClean="0"/>
                        <a:t>3</a:t>
                      </a:r>
                      <a:endParaRPr lang="en-IN" sz="2500" dirty="0"/>
                    </a:p>
                  </a:txBody>
                  <a:tcPr/>
                </a:tc>
                <a:tc>
                  <a:txBody>
                    <a:bodyPr/>
                    <a:lstStyle/>
                    <a:p>
                      <a:pPr algn="ctr"/>
                      <a:r>
                        <a:rPr lang="en-IN" sz="2500" dirty="0" smtClean="0"/>
                        <a:t>3,00,000</a:t>
                      </a:r>
                      <a:endParaRPr lang="en-IN" sz="2500" dirty="0"/>
                    </a:p>
                  </a:txBody>
                  <a:tcPr/>
                </a:tc>
                <a:tc>
                  <a:txBody>
                    <a:bodyPr/>
                    <a:lstStyle/>
                    <a:p>
                      <a:pPr algn="ctr"/>
                      <a:r>
                        <a:rPr lang="en-IN" sz="2500" dirty="0" smtClean="0"/>
                        <a:t>1</a:t>
                      </a:r>
                      <a:endParaRPr lang="en-IN" sz="2500" dirty="0"/>
                    </a:p>
                  </a:txBody>
                  <a:tcPr/>
                </a:tc>
                <a:tc>
                  <a:txBody>
                    <a:bodyPr/>
                    <a:lstStyle/>
                    <a:p>
                      <a:pPr algn="ctr"/>
                      <a:r>
                        <a:rPr lang="en-IN" sz="2500" dirty="0" smtClean="0"/>
                        <a:t>1.120</a:t>
                      </a:r>
                      <a:endParaRPr lang="en-IN" sz="2500" dirty="0"/>
                    </a:p>
                  </a:txBody>
                  <a:tcPr/>
                </a:tc>
                <a:tc>
                  <a:txBody>
                    <a:bodyPr/>
                    <a:lstStyle/>
                    <a:p>
                      <a:pPr algn="ctr"/>
                      <a:r>
                        <a:rPr lang="en-IN" sz="2500" dirty="0" smtClean="0"/>
                        <a:t>3,36,000</a:t>
                      </a:r>
                      <a:endParaRPr lang="en-IN" sz="2500" dirty="0"/>
                    </a:p>
                  </a:txBody>
                  <a:tcPr/>
                </a:tc>
                <a:extLst>
                  <a:ext uri="{0D108BD9-81ED-4DB2-BD59-A6C34878D82A}">
                    <a16:rowId xmlns:a16="http://schemas.microsoft.com/office/drawing/2014/main" val="3654782195"/>
                  </a:ext>
                </a:extLst>
              </a:tr>
              <a:tr h="442840">
                <a:tc>
                  <a:txBody>
                    <a:bodyPr/>
                    <a:lstStyle/>
                    <a:p>
                      <a:pPr algn="ctr"/>
                      <a:r>
                        <a:rPr lang="en-IN" sz="2500" dirty="0" smtClean="0"/>
                        <a:t>4</a:t>
                      </a:r>
                      <a:endParaRPr lang="en-IN" sz="2500" dirty="0"/>
                    </a:p>
                  </a:txBody>
                  <a:tcPr/>
                </a:tc>
                <a:tc>
                  <a:txBody>
                    <a:bodyPr/>
                    <a:lstStyle/>
                    <a:p>
                      <a:pPr algn="ctr"/>
                      <a:r>
                        <a:rPr lang="en-IN" sz="2500" dirty="0" smtClean="0"/>
                        <a:t>4,00,000</a:t>
                      </a:r>
                      <a:endParaRPr lang="en-IN" sz="2500" dirty="0"/>
                    </a:p>
                  </a:txBody>
                  <a:tcPr/>
                </a:tc>
                <a:tc>
                  <a:txBody>
                    <a:bodyPr/>
                    <a:lstStyle/>
                    <a:p>
                      <a:pPr algn="ctr"/>
                      <a:r>
                        <a:rPr lang="en-IN" sz="2500" dirty="0" smtClean="0"/>
                        <a:t>0</a:t>
                      </a:r>
                      <a:endParaRPr lang="en-IN" sz="2500" dirty="0"/>
                    </a:p>
                  </a:txBody>
                  <a:tcPr/>
                </a:tc>
                <a:tc>
                  <a:txBody>
                    <a:bodyPr/>
                    <a:lstStyle/>
                    <a:p>
                      <a:pPr algn="ctr"/>
                      <a:r>
                        <a:rPr lang="en-IN" sz="2500" dirty="0" smtClean="0"/>
                        <a:t>1.000</a:t>
                      </a:r>
                      <a:endParaRPr lang="en-IN" sz="2500" dirty="0"/>
                    </a:p>
                  </a:txBody>
                  <a:tcPr/>
                </a:tc>
                <a:tc>
                  <a:txBody>
                    <a:bodyPr/>
                    <a:lstStyle/>
                    <a:p>
                      <a:pPr algn="ctr"/>
                      <a:r>
                        <a:rPr lang="en-IN" sz="2500" dirty="0" smtClean="0"/>
                        <a:t>4,00,000</a:t>
                      </a:r>
                      <a:endParaRPr lang="en-IN" sz="2500" dirty="0"/>
                    </a:p>
                  </a:txBody>
                  <a:tcPr/>
                </a:tc>
                <a:extLst>
                  <a:ext uri="{0D108BD9-81ED-4DB2-BD59-A6C34878D82A}">
                    <a16:rowId xmlns:a16="http://schemas.microsoft.com/office/drawing/2014/main" val="3880267524"/>
                  </a:ext>
                </a:extLst>
              </a:tr>
              <a:tr h="442840">
                <a:tc gridSpan="4">
                  <a:txBody>
                    <a:bodyPr/>
                    <a:lstStyle/>
                    <a:p>
                      <a:pPr algn="ctr"/>
                      <a:r>
                        <a:rPr lang="en-IN" sz="2500" b="1" dirty="0" smtClean="0">
                          <a:solidFill>
                            <a:srgbClr val="FF0000"/>
                          </a:solidFill>
                        </a:rPr>
                        <a:t>Total Maturity Value </a:t>
                      </a:r>
                      <a:endParaRPr lang="en-IN" sz="2500" b="1" dirty="0">
                        <a:solidFill>
                          <a:srgbClr val="FF0000"/>
                        </a:solidFill>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pPr algn="ctr"/>
                      <a:r>
                        <a:rPr lang="en-IN" sz="2500" b="1" dirty="0" smtClean="0">
                          <a:solidFill>
                            <a:srgbClr val="FF0000"/>
                          </a:solidFill>
                        </a:rPr>
                        <a:t>11,27,300</a:t>
                      </a:r>
                      <a:endParaRPr lang="en-IN" sz="2500" b="1" dirty="0">
                        <a:solidFill>
                          <a:srgbClr val="FF0000"/>
                        </a:solidFill>
                      </a:endParaRPr>
                    </a:p>
                  </a:txBody>
                  <a:tcPr/>
                </a:tc>
                <a:extLst>
                  <a:ext uri="{0D108BD9-81ED-4DB2-BD59-A6C34878D82A}">
                    <a16:rowId xmlns:a16="http://schemas.microsoft.com/office/drawing/2014/main" val="1455675878"/>
                  </a:ext>
                </a:extLst>
              </a:tr>
            </a:tbl>
          </a:graphicData>
        </a:graphic>
      </p:graphicFrame>
      <p:pic>
        <p:nvPicPr>
          <p:cNvPr id="6"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77092"/>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65871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4291"/>
            <a:ext cx="10515600" cy="5561368"/>
          </a:xfrm>
        </p:spPr>
        <p:txBody>
          <a:bodyPr>
            <a:normAutofit/>
          </a:bodyPr>
          <a:lstStyle/>
          <a:p>
            <a:pPr marL="0" indent="0" algn="just">
              <a:buNone/>
            </a:pPr>
            <a:r>
              <a:rPr lang="en-IN" sz="2600" dirty="0" smtClean="0"/>
              <a:t>16. </a:t>
            </a:r>
            <a:r>
              <a:rPr lang="en-IN" sz="2600" dirty="0"/>
              <a:t>A person deposits Rs. </a:t>
            </a:r>
            <a:r>
              <a:rPr lang="en-IN" sz="2600" dirty="0" smtClean="0"/>
              <a:t>1,500, </a:t>
            </a:r>
            <a:r>
              <a:rPr lang="en-IN" sz="2600" dirty="0"/>
              <a:t>Rs. 3</a:t>
            </a:r>
            <a:r>
              <a:rPr lang="en-IN" sz="2600" dirty="0" smtClean="0"/>
              <a:t>,000, </a:t>
            </a:r>
            <a:r>
              <a:rPr lang="en-IN" sz="2600" dirty="0"/>
              <a:t>Rs. </a:t>
            </a:r>
            <a:r>
              <a:rPr lang="en-IN" sz="2600" dirty="0" smtClean="0"/>
              <a:t>4,500 </a:t>
            </a:r>
            <a:r>
              <a:rPr lang="en-IN" sz="2600" dirty="0"/>
              <a:t>and Rs. </a:t>
            </a:r>
            <a:r>
              <a:rPr lang="en-IN" sz="2600" dirty="0" smtClean="0"/>
              <a:t>6,000 </a:t>
            </a:r>
            <a:r>
              <a:rPr lang="en-IN" sz="2600" dirty="0"/>
              <a:t>in his deposit account at the end of first </a:t>
            </a:r>
            <a:r>
              <a:rPr lang="en-IN" sz="2600" dirty="0" smtClean="0"/>
              <a:t>year, </a:t>
            </a:r>
            <a:r>
              <a:rPr lang="en-IN" sz="2600" dirty="0"/>
              <a:t>2</a:t>
            </a:r>
            <a:r>
              <a:rPr lang="en-IN" sz="2600" baseline="30000" dirty="0"/>
              <a:t>nd</a:t>
            </a:r>
            <a:r>
              <a:rPr lang="en-IN" sz="2600" dirty="0"/>
              <a:t> year, 3</a:t>
            </a:r>
            <a:r>
              <a:rPr lang="en-IN" sz="2600" baseline="30000" dirty="0"/>
              <a:t>rd</a:t>
            </a:r>
            <a:r>
              <a:rPr lang="en-IN" sz="2600" dirty="0"/>
              <a:t> year and 4</a:t>
            </a:r>
            <a:r>
              <a:rPr lang="en-IN" sz="2600" baseline="30000" dirty="0"/>
              <a:t>th</a:t>
            </a:r>
            <a:r>
              <a:rPr lang="en-IN" sz="2600" dirty="0"/>
              <a:t> year  respectively. Determine his account balance at the end of 4</a:t>
            </a:r>
            <a:r>
              <a:rPr lang="en-IN" sz="2600" baseline="30000" dirty="0"/>
              <a:t>th</a:t>
            </a:r>
            <a:r>
              <a:rPr lang="en-IN" sz="2600" dirty="0"/>
              <a:t> year if interest rate is </a:t>
            </a:r>
            <a:r>
              <a:rPr lang="en-IN" sz="2600" dirty="0" smtClean="0"/>
              <a:t>9 % </a:t>
            </a:r>
            <a:r>
              <a:rPr lang="en-IN" sz="2600" dirty="0"/>
              <a:t>p.a. </a:t>
            </a:r>
          </a:p>
          <a:p>
            <a:pPr marL="0" indent="0" algn="just">
              <a:buNone/>
            </a:pPr>
            <a:r>
              <a:rPr lang="en-IN" sz="2600" b="1" dirty="0" smtClean="0">
                <a:solidFill>
                  <a:srgbClr val="FF0000"/>
                </a:solidFill>
              </a:rPr>
              <a:t>Solution:</a:t>
            </a:r>
          </a:p>
          <a:p>
            <a:pPr marL="0" indent="0" algn="ctr">
              <a:buNone/>
            </a:pPr>
            <a:r>
              <a:rPr lang="en-IN" sz="2600" b="1" dirty="0" smtClean="0">
                <a:solidFill>
                  <a:srgbClr val="FF0000"/>
                </a:solidFill>
              </a:rPr>
              <a:t>Calculation </a:t>
            </a:r>
            <a:r>
              <a:rPr lang="en-IN" sz="2600" b="1" dirty="0">
                <a:solidFill>
                  <a:srgbClr val="FF0000"/>
                </a:solidFill>
              </a:rPr>
              <a:t>of Maturity Value at the end of 4</a:t>
            </a:r>
            <a:r>
              <a:rPr lang="en-IN" sz="2600" b="1" baseline="30000" dirty="0">
                <a:solidFill>
                  <a:srgbClr val="FF0000"/>
                </a:solidFill>
              </a:rPr>
              <a:t>th</a:t>
            </a:r>
            <a:r>
              <a:rPr lang="en-IN" sz="2600" b="1" dirty="0">
                <a:solidFill>
                  <a:srgbClr val="FF0000"/>
                </a:solidFill>
              </a:rPr>
              <a:t> </a:t>
            </a:r>
            <a:r>
              <a:rPr lang="en-IN" sz="2600" b="1" dirty="0" smtClean="0">
                <a:solidFill>
                  <a:srgbClr val="FF0000"/>
                </a:solidFill>
              </a:rPr>
              <a:t>year</a:t>
            </a:r>
          </a:p>
          <a:p>
            <a:pPr marL="0" indent="0" algn="ctr">
              <a:buNone/>
            </a:pPr>
            <a:endParaRPr lang="en-IN" sz="2600" dirty="0">
              <a:solidFill>
                <a:srgbClr val="FF0000"/>
              </a:solidFill>
            </a:endParaRPr>
          </a:p>
          <a:p>
            <a:pPr marL="0" indent="0" algn="just">
              <a:buNone/>
            </a:pPr>
            <a:endParaRPr lang="en-IN" sz="2600" dirty="0"/>
          </a:p>
        </p:txBody>
      </p:sp>
      <p:graphicFrame>
        <p:nvGraphicFramePr>
          <p:cNvPr id="4" name="Table 3"/>
          <p:cNvGraphicFramePr>
            <a:graphicFrameLocks noGrp="1"/>
          </p:cNvGraphicFramePr>
          <p:nvPr>
            <p:extLst>
              <p:ext uri="{D42A27DB-BD31-4B8C-83A1-F6EECF244321}">
                <p14:modId xmlns:p14="http://schemas.microsoft.com/office/powerpoint/2010/main" val="619888805"/>
              </p:ext>
            </p:extLst>
          </p:nvPr>
        </p:nvGraphicFramePr>
        <p:xfrm>
          <a:off x="838200" y="3171459"/>
          <a:ext cx="10515600" cy="3124200"/>
        </p:xfrm>
        <a:graphic>
          <a:graphicData uri="http://schemas.openxmlformats.org/drawingml/2006/table">
            <a:tbl>
              <a:tblPr firstRow="1" bandRow="1">
                <a:tableStyleId>{5C22544A-7EE6-4342-B048-85BDC9FD1C3A}</a:tableStyleId>
              </a:tblPr>
              <a:tblGrid>
                <a:gridCol w="852055">
                  <a:extLst>
                    <a:ext uri="{9D8B030D-6E8A-4147-A177-3AD203B41FA5}">
                      <a16:colId xmlns:a16="http://schemas.microsoft.com/office/drawing/2014/main" val="2591861330"/>
                    </a:ext>
                  </a:extLst>
                </a:gridCol>
                <a:gridCol w="1440872">
                  <a:extLst>
                    <a:ext uri="{9D8B030D-6E8A-4147-A177-3AD203B41FA5}">
                      <a16:colId xmlns:a16="http://schemas.microsoft.com/office/drawing/2014/main" val="1608470036"/>
                    </a:ext>
                  </a:extLst>
                </a:gridCol>
                <a:gridCol w="2507673">
                  <a:extLst>
                    <a:ext uri="{9D8B030D-6E8A-4147-A177-3AD203B41FA5}">
                      <a16:colId xmlns:a16="http://schemas.microsoft.com/office/drawing/2014/main" val="1495513291"/>
                    </a:ext>
                  </a:extLst>
                </a:gridCol>
                <a:gridCol w="3611880">
                  <a:extLst>
                    <a:ext uri="{9D8B030D-6E8A-4147-A177-3AD203B41FA5}">
                      <a16:colId xmlns:a16="http://schemas.microsoft.com/office/drawing/2014/main" val="2220937669"/>
                    </a:ext>
                  </a:extLst>
                </a:gridCol>
                <a:gridCol w="2103120">
                  <a:extLst>
                    <a:ext uri="{9D8B030D-6E8A-4147-A177-3AD203B41FA5}">
                      <a16:colId xmlns:a16="http://schemas.microsoft.com/office/drawing/2014/main" val="932178432"/>
                    </a:ext>
                  </a:extLst>
                </a:gridCol>
              </a:tblGrid>
              <a:tr h="0">
                <a:tc>
                  <a:txBody>
                    <a:bodyPr/>
                    <a:lstStyle/>
                    <a:p>
                      <a:pPr algn="ctr"/>
                      <a:r>
                        <a:rPr lang="en-IN" sz="2200" dirty="0" smtClean="0"/>
                        <a:t>Year</a:t>
                      </a:r>
                      <a:r>
                        <a:rPr lang="en-IN" sz="2200" baseline="0" dirty="0" smtClean="0"/>
                        <a:t> </a:t>
                      </a:r>
                      <a:endParaRPr lang="en-IN" sz="2200" dirty="0"/>
                    </a:p>
                  </a:txBody>
                  <a:tcPr/>
                </a:tc>
                <a:tc>
                  <a:txBody>
                    <a:bodyPr/>
                    <a:lstStyle/>
                    <a:p>
                      <a:pPr algn="ctr"/>
                      <a:r>
                        <a:rPr lang="en-IN" sz="2200" dirty="0" smtClean="0"/>
                        <a:t>Deposits </a:t>
                      </a:r>
                    </a:p>
                    <a:p>
                      <a:pPr algn="ctr"/>
                      <a:r>
                        <a:rPr lang="en-IN" sz="2200" dirty="0" smtClean="0"/>
                        <a:t>(Rs.) </a:t>
                      </a:r>
                      <a:endParaRPr lang="en-IN" sz="2200" dirty="0"/>
                    </a:p>
                  </a:txBody>
                  <a:tcPr/>
                </a:tc>
                <a:tc>
                  <a:txBody>
                    <a:bodyPr/>
                    <a:lstStyle/>
                    <a:p>
                      <a:pPr algn="ctr"/>
                      <a:r>
                        <a:rPr lang="en-IN" sz="2200" dirty="0" smtClean="0"/>
                        <a:t>Year</a:t>
                      </a:r>
                      <a:r>
                        <a:rPr lang="en-IN" sz="2200" baseline="0" dirty="0" smtClean="0"/>
                        <a:t> of compounding </a:t>
                      </a:r>
                      <a:endParaRPr lang="en-IN" sz="2200" dirty="0"/>
                    </a:p>
                  </a:txBody>
                  <a:tcPr/>
                </a:tc>
                <a:tc>
                  <a:txBody>
                    <a:bodyPr/>
                    <a:lstStyle/>
                    <a:p>
                      <a:pPr algn="ctr"/>
                      <a:r>
                        <a:rPr lang="en-IN" sz="2200" dirty="0" smtClean="0"/>
                        <a:t>Compound value factor </a:t>
                      </a:r>
                    </a:p>
                    <a:p>
                      <a:pPr algn="ctr"/>
                      <a:r>
                        <a:rPr lang="en-IN" sz="2200" dirty="0" smtClean="0"/>
                        <a:t>@ 9</a:t>
                      </a:r>
                      <a:r>
                        <a:rPr lang="en-IN" sz="2200" baseline="0" dirty="0" smtClean="0"/>
                        <a:t> </a:t>
                      </a:r>
                      <a:r>
                        <a:rPr lang="en-IN" sz="2200" dirty="0" smtClean="0"/>
                        <a:t>% p.a. </a:t>
                      </a:r>
                      <a:endParaRPr lang="en-IN" sz="2200" dirty="0"/>
                    </a:p>
                  </a:txBody>
                  <a:tcPr/>
                </a:tc>
                <a:tc>
                  <a:txBody>
                    <a:bodyPr/>
                    <a:lstStyle/>
                    <a:p>
                      <a:pPr algn="ctr"/>
                      <a:r>
                        <a:rPr lang="en-IN" sz="2200" dirty="0" smtClean="0"/>
                        <a:t>Maturity Value </a:t>
                      </a:r>
                    </a:p>
                    <a:p>
                      <a:pPr algn="ctr"/>
                      <a:r>
                        <a:rPr lang="en-IN" sz="2200" dirty="0" smtClean="0"/>
                        <a:t>(Rs.)</a:t>
                      </a:r>
                      <a:endParaRPr lang="en-IN" sz="2200" dirty="0"/>
                    </a:p>
                  </a:txBody>
                  <a:tcPr/>
                </a:tc>
                <a:extLst>
                  <a:ext uri="{0D108BD9-81ED-4DB2-BD59-A6C34878D82A}">
                    <a16:rowId xmlns:a16="http://schemas.microsoft.com/office/drawing/2014/main" val="1313409560"/>
                  </a:ext>
                </a:extLst>
              </a:tr>
              <a:tr h="370840">
                <a:tc>
                  <a:txBody>
                    <a:bodyPr/>
                    <a:lstStyle/>
                    <a:p>
                      <a:pPr algn="ctr"/>
                      <a:r>
                        <a:rPr lang="en-IN" sz="2500" dirty="0" smtClean="0"/>
                        <a:t>1</a:t>
                      </a:r>
                      <a:endParaRPr lang="en-IN" sz="2500" dirty="0"/>
                    </a:p>
                  </a:txBody>
                  <a:tcPr/>
                </a:tc>
                <a:tc>
                  <a:txBody>
                    <a:bodyPr/>
                    <a:lstStyle/>
                    <a:p>
                      <a:pPr algn="ctr"/>
                      <a:r>
                        <a:rPr lang="en-IN" sz="2500" dirty="0" smtClean="0"/>
                        <a:t>1,500 </a:t>
                      </a:r>
                      <a:endParaRPr lang="en-IN" sz="2500" dirty="0"/>
                    </a:p>
                  </a:txBody>
                  <a:tcPr/>
                </a:tc>
                <a:tc>
                  <a:txBody>
                    <a:bodyPr/>
                    <a:lstStyle/>
                    <a:p>
                      <a:pPr algn="ctr"/>
                      <a:r>
                        <a:rPr lang="en-IN" sz="2500" dirty="0" smtClean="0"/>
                        <a:t>3</a:t>
                      </a:r>
                      <a:endParaRPr lang="en-IN" sz="2500" dirty="0"/>
                    </a:p>
                  </a:txBody>
                  <a:tcPr/>
                </a:tc>
                <a:tc>
                  <a:txBody>
                    <a:bodyPr/>
                    <a:lstStyle/>
                    <a:p>
                      <a:pPr algn="ctr"/>
                      <a:r>
                        <a:rPr lang="en-IN" sz="2500" dirty="0" smtClean="0"/>
                        <a:t>1.2950</a:t>
                      </a:r>
                      <a:endParaRPr lang="en-IN" sz="2500" dirty="0"/>
                    </a:p>
                  </a:txBody>
                  <a:tcPr/>
                </a:tc>
                <a:tc>
                  <a:txBody>
                    <a:bodyPr/>
                    <a:lstStyle/>
                    <a:p>
                      <a:pPr algn="ctr"/>
                      <a:r>
                        <a:rPr lang="en-IN" sz="2500" dirty="0" smtClean="0"/>
                        <a:t>1,942.50</a:t>
                      </a:r>
                      <a:endParaRPr lang="en-IN" sz="2500" dirty="0"/>
                    </a:p>
                  </a:txBody>
                  <a:tcPr/>
                </a:tc>
                <a:extLst>
                  <a:ext uri="{0D108BD9-81ED-4DB2-BD59-A6C34878D82A}">
                    <a16:rowId xmlns:a16="http://schemas.microsoft.com/office/drawing/2014/main" val="1381664690"/>
                  </a:ext>
                </a:extLst>
              </a:tr>
              <a:tr h="370840">
                <a:tc>
                  <a:txBody>
                    <a:bodyPr/>
                    <a:lstStyle/>
                    <a:p>
                      <a:pPr algn="ctr"/>
                      <a:r>
                        <a:rPr lang="en-IN" sz="2500" dirty="0" smtClean="0"/>
                        <a:t>2</a:t>
                      </a:r>
                      <a:endParaRPr lang="en-IN" sz="2500" dirty="0"/>
                    </a:p>
                  </a:txBody>
                  <a:tcPr/>
                </a:tc>
                <a:tc>
                  <a:txBody>
                    <a:bodyPr/>
                    <a:lstStyle/>
                    <a:p>
                      <a:pPr algn="ctr"/>
                      <a:r>
                        <a:rPr lang="en-IN" sz="2500" dirty="0" smtClean="0"/>
                        <a:t>3,000</a:t>
                      </a:r>
                      <a:endParaRPr lang="en-IN" sz="2500" dirty="0"/>
                    </a:p>
                  </a:txBody>
                  <a:tcPr/>
                </a:tc>
                <a:tc>
                  <a:txBody>
                    <a:bodyPr/>
                    <a:lstStyle/>
                    <a:p>
                      <a:pPr algn="ctr"/>
                      <a:r>
                        <a:rPr lang="en-IN" sz="2500" dirty="0" smtClean="0"/>
                        <a:t>2</a:t>
                      </a:r>
                      <a:endParaRPr lang="en-IN" sz="2500" dirty="0"/>
                    </a:p>
                  </a:txBody>
                  <a:tcPr/>
                </a:tc>
                <a:tc>
                  <a:txBody>
                    <a:bodyPr/>
                    <a:lstStyle/>
                    <a:p>
                      <a:pPr algn="ctr"/>
                      <a:r>
                        <a:rPr lang="en-IN" sz="2500" dirty="0" smtClean="0"/>
                        <a:t>1.1881</a:t>
                      </a:r>
                      <a:endParaRPr lang="en-IN" sz="2500" dirty="0"/>
                    </a:p>
                  </a:txBody>
                  <a:tcPr/>
                </a:tc>
                <a:tc>
                  <a:txBody>
                    <a:bodyPr/>
                    <a:lstStyle/>
                    <a:p>
                      <a:pPr algn="ctr"/>
                      <a:r>
                        <a:rPr lang="en-IN" sz="2500" dirty="0" smtClean="0"/>
                        <a:t>3,564.30</a:t>
                      </a:r>
                      <a:endParaRPr lang="en-IN" sz="2500" dirty="0"/>
                    </a:p>
                  </a:txBody>
                  <a:tcPr/>
                </a:tc>
                <a:extLst>
                  <a:ext uri="{0D108BD9-81ED-4DB2-BD59-A6C34878D82A}">
                    <a16:rowId xmlns:a16="http://schemas.microsoft.com/office/drawing/2014/main" val="3805409264"/>
                  </a:ext>
                </a:extLst>
              </a:tr>
              <a:tr h="370840">
                <a:tc>
                  <a:txBody>
                    <a:bodyPr/>
                    <a:lstStyle/>
                    <a:p>
                      <a:pPr algn="ctr"/>
                      <a:r>
                        <a:rPr lang="en-IN" sz="2500" dirty="0" smtClean="0"/>
                        <a:t>3</a:t>
                      </a:r>
                      <a:endParaRPr lang="en-IN" sz="2500" dirty="0"/>
                    </a:p>
                  </a:txBody>
                  <a:tcPr/>
                </a:tc>
                <a:tc>
                  <a:txBody>
                    <a:bodyPr/>
                    <a:lstStyle/>
                    <a:p>
                      <a:pPr algn="ctr"/>
                      <a:r>
                        <a:rPr lang="en-IN" sz="2500" dirty="0" smtClean="0"/>
                        <a:t>4,500</a:t>
                      </a:r>
                      <a:endParaRPr lang="en-IN" sz="2500" dirty="0"/>
                    </a:p>
                  </a:txBody>
                  <a:tcPr/>
                </a:tc>
                <a:tc>
                  <a:txBody>
                    <a:bodyPr/>
                    <a:lstStyle/>
                    <a:p>
                      <a:pPr algn="ctr"/>
                      <a:r>
                        <a:rPr lang="en-IN" sz="2500" dirty="0" smtClean="0"/>
                        <a:t>1</a:t>
                      </a:r>
                      <a:endParaRPr lang="en-IN" sz="2500" dirty="0"/>
                    </a:p>
                  </a:txBody>
                  <a:tcPr/>
                </a:tc>
                <a:tc>
                  <a:txBody>
                    <a:bodyPr/>
                    <a:lstStyle/>
                    <a:p>
                      <a:pPr algn="ctr"/>
                      <a:r>
                        <a:rPr lang="en-IN" sz="2500" dirty="0" smtClean="0"/>
                        <a:t>1.0900</a:t>
                      </a:r>
                      <a:endParaRPr lang="en-IN" sz="2500" dirty="0"/>
                    </a:p>
                  </a:txBody>
                  <a:tcPr/>
                </a:tc>
                <a:tc>
                  <a:txBody>
                    <a:bodyPr/>
                    <a:lstStyle/>
                    <a:p>
                      <a:pPr algn="ctr"/>
                      <a:r>
                        <a:rPr lang="en-IN" sz="2500" dirty="0" smtClean="0"/>
                        <a:t>4,905.00</a:t>
                      </a:r>
                      <a:endParaRPr lang="en-IN" sz="2500" dirty="0"/>
                    </a:p>
                  </a:txBody>
                  <a:tcPr/>
                </a:tc>
                <a:extLst>
                  <a:ext uri="{0D108BD9-81ED-4DB2-BD59-A6C34878D82A}">
                    <a16:rowId xmlns:a16="http://schemas.microsoft.com/office/drawing/2014/main" val="1784406830"/>
                  </a:ext>
                </a:extLst>
              </a:tr>
              <a:tr h="370840">
                <a:tc>
                  <a:txBody>
                    <a:bodyPr/>
                    <a:lstStyle/>
                    <a:p>
                      <a:pPr algn="ctr"/>
                      <a:r>
                        <a:rPr lang="en-IN" sz="2500" dirty="0" smtClean="0"/>
                        <a:t>4</a:t>
                      </a:r>
                      <a:endParaRPr lang="en-IN" sz="2500" dirty="0"/>
                    </a:p>
                  </a:txBody>
                  <a:tcPr/>
                </a:tc>
                <a:tc>
                  <a:txBody>
                    <a:bodyPr/>
                    <a:lstStyle/>
                    <a:p>
                      <a:pPr algn="ctr"/>
                      <a:r>
                        <a:rPr lang="en-IN" sz="2500" dirty="0" smtClean="0"/>
                        <a:t>6,000</a:t>
                      </a:r>
                      <a:endParaRPr lang="en-IN" sz="2500" dirty="0"/>
                    </a:p>
                  </a:txBody>
                  <a:tcPr/>
                </a:tc>
                <a:tc>
                  <a:txBody>
                    <a:bodyPr/>
                    <a:lstStyle/>
                    <a:p>
                      <a:pPr algn="ctr"/>
                      <a:r>
                        <a:rPr lang="en-IN" sz="2500" dirty="0" smtClean="0"/>
                        <a:t>0</a:t>
                      </a:r>
                      <a:endParaRPr lang="en-IN" sz="2500" dirty="0"/>
                    </a:p>
                  </a:txBody>
                  <a:tcPr/>
                </a:tc>
                <a:tc>
                  <a:txBody>
                    <a:bodyPr/>
                    <a:lstStyle/>
                    <a:p>
                      <a:pPr algn="ctr"/>
                      <a:r>
                        <a:rPr lang="en-IN" sz="2500" dirty="0" smtClean="0"/>
                        <a:t>1.0000</a:t>
                      </a:r>
                      <a:endParaRPr lang="en-IN" sz="2500" dirty="0"/>
                    </a:p>
                  </a:txBody>
                  <a:tcPr/>
                </a:tc>
                <a:tc>
                  <a:txBody>
                    <a:bodyPr/>
                    <a:lstStyle/>
                    <a:p>
                      <a:pPr algn="ctr"/>
                      <a:r>
                        <a:rPr lang="en-IN" sz="2500" dirty="0" smtClean="0"/>
                        <a:t>6,000.00</a:t>
                      </a:r>
                      <a:endParaRPr lang="en-IN" sz="2500" dirty="0"/>
                    </a:p>
                  </a:txBody>
                  <a:tcPr/>
                </a:tc>
                <a:extLst>
                  <a:ext uri="{0D108BD9-81ED-4DB2-BD59-A6C34878D82A}">
                    <a16:rowId xmlns:a16="http://schemas.microsoft.com/office/drawing/2014/main" val="3195896717"/>
                  </a:ext>
                </a:extLst>
              </a:tr>
              <a:tr h="370840">
                <a:tc gridSpan="4">
                  <a:txBody>
                    <a:bodyPr/>
                    <a:lstStyle/>
                    <a:p>
                      <a:pPr algn="ctr"/>
                      <a:r>
                        <a:rPr lang="en-IN" sz="2500" b="1" dirty="0" smtClean="0">
                          <a:solidFill>
                            <a:srgbClr val="FF0000"/>
                          </a:solidFill>
                        </a:rPr>
                        <a:t>Total Maturity Value </a:t>
                      </a:r>
                      <a:endParaRPr lang="en-IN" sz="2500" b="1" dirty="0">
                        <a:solidFill>
                          <a:srgbClr val="FF0000"/>
                        </a:solidFill>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pPr algn="ctr"/>
                      <a:r>
                        <a:rPr lang="en-IN" sz="2500" b="1" dirty="0" smtClean="0">
                          <a:solidFill>
                            <a:srgbClr val="FF0000"/>
                          </a:solidFill>
                        </a:rPr>
                        <a:t>16,411.80</a:t>
                      </a:r>
                      <a:endParaRPr lang="en-IN" sz="2500" b="1" dirty="0">
                        <a:solidFill>
                          <a:srgbClr val="FF0000"/>
                        </a:solidFill>
                      </a:endParaRPr>
                    </a:p>
                  </a:txBody>
                  <a:tcPr/>
                </a:tc>
                <a:extLst>
                  <a:ext uri="{0D108BD9-81ED-4DB2-BD59-A6C34878D82A}">
                    <a16:rowId xmlns:a16="http://schemas.microsoft.com/office/drawing/2014/main" val="2753832329"/>
                  </a:ext>
                </a:extLst>
              </a:tr>
            </a:tbl>
          </a:graphicData>
        </a:graphic>
      </p:graphicFrame>
      <p:pic>
        <p:nvPicPr>
          <p:cNvPr id="5"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3552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1486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2726"/>
            <a:ext cx="10515600" cy="5597237"/>
          </a:xfrm>
        </p:spPr>
        <p:txBody>
          <a:bodyPr>
            <a:normAutofit/>
          </a:bodyPr>
          <a:lstStyle/>
          <a:p>
            <a:pPr marL="0" indent="0" algn="just">
              <a:buNone/>
            </a:pPr>
            <a:r>
              <a:rPr lang="en-IN" sz="2500" b="1" dirty="0" smtClean="0">
                <a:solidFill>
                  <a:srgbClr val="FF0000"/>
                </a:solidFill>
              </a:rPr>
              <a:t>4. Doubling Period:</a:t>
            </a:r>
          </a:p>
          <a:p>
            <a:pPr marL="0" indent="0" algn="just">
              <a:buNone/>
            </a:pPr>
            <a:r>
              <a:rPr lang="en-IN" sz="2500" dirty="0" smtClean="0"/>
              <a:t>Sometimes, investors and financial decision-makers are interested in knowing </a:t>
            </a:r>
            <a:r>
              <a:rPr lang="en-IN" sz="2500" dirty="0" smtClean="0">
                <a:solidFill>
                  <a:srgbClr val="FF0000"/>
                </a:solidFill>
              </a:rPr>
              <a:t>the time required to double their investment amounts. </a:t>
            </a:r>
            <a:r>
              <a:rPr lang="en-IN" sz="2500" dirty="0" smtClean="0"/>
              <a:t>Such a period is called a </a:t>
            </a:r>
            <a:r>
              <a:rPr lang="en-IN" sz="2500" dirty="0" smtClean="0">
                <a:solidFill>
                  <a:srgbClr val="FF0000"/>
                </a:solidFill>
              </a:rPr>
              <a:t>doubling period.  </a:t>
            </a:r>
            <a:r>
              <a:rPr lang="en-IN" sz="2500" dirty="0" smtClean="0"/>
              <a:t>When interest rates were </a:t>
            </a:r>
            <a:r>
              <a:rPr lang="en-IN" sz="2500" dirty="0" smtClean="0">
                <a:solidFill>
                  <a:srgbClr val="FF0000"/>
                </a:solidFill>
              </a:rPr>
              <a:t>high in the nineties</a:t>
            </a:r>
            <a:r>
              <a:rPr lang="en-IN" sz="2500" dirty="0" smtClean="0"/>
              <a:t>, investment made in the </a:t>
            </a:r>
            <a:r>
              <a:rPr lang="en-IN" sz="2500" dirty="0" smtClean="0">
                <a:solidFill>
                  <a:srgbClr val="FF0000"/>
                </a:solidFill>
              </a:rPr>
              <a:t>Indira Vikas Patra doubled in 5 years.</a:t>
            </a:r>
            <a:r>
              <a:rPr lang="en-IN" sz="2500" dirty="0" smtClean="0"/>
              <a:t> An investment of Rs. 1,00,000 became Rs. 2,00,000 in 5 years. </a:t>
            </a:r>
          </a:p>
          <a:p>
            <a:pPr marL="0" indent="0" algn="just">
              <a:buNone/>
            </a:pPr>
            <a:r>
              <a:rPr lang="en-IN" sz="2500" dirty="0" smtClean="0"/>
              <a:t>Rule of thumb methods known as rules of 72 and 69 can be applied to ascertain the doubling period.</a:t>
            </a:r>
          </a:p>
          <a:p>
            <a:pPr marL="0" indent="0" algn="just">
              <a:buNone/>
            </a:pPr>
            <a:r>
              <a:rPr lang="en-IN" sz="2500" b="1" dirty="0" smtClean="0">
                <a:solidFill>
                  <a:srgbClr val="FF0000"/>
                </a:solidFill>
              </a:rPr>
              <a:t>Rule of 72:</a:t>
            </a:r>
          </a:p>
          <a:p>
            <a:pPr marL="0" indent="0" algn="just">
              <a:buNone/>
            </a:pPr>
            <a:r>
              <a:rPr lang="en-IN" sz="2500" dirty="0" smtClean="0">
                <a:solidFill>
                  <a:srgbClr val="00B050"/>
                </a:solidFill>
              </a:rPr>
              <a:t>Doubling period = [72/Rate of interest]</a:t>
            </a:r>
          </a:p>
          <a:p>
            <a:pPr marL="0" indent="0" algn="just">
              <a:buNone/>
            </a:pPr>
            <a:r>
              <a:rPr lang="en-IN" sz="2500" dirty="0" smtClean="0">
                <a:solidFill>
                  <a:srgbClr val="00B050"/>
                </a:solidFill>
              </a:rPr>
              <a:t>Rate of interest = [72/Doubling period]</a:t>
            </a:r>
          </a:p>
          <a:p>
            <a:pPr marL="0" indent="0" algn="just">
              <a:buNone/>
            </a:pPr>
            <a:r>
              <a:rPr lang="en-IN" sz="2500" b="1" dirty="0" smtClean="0">
                <a:solidFill>
                  <a:srgbClr val="FF0000"/>
                </a:solidFill>
              </a:rPr>
              <a:t>Rule of 69:</a:t>
            </a:r>
          </a:p>
          <a:p>
            <a:pPr marL="0" indent="0" algn="just">
              <a:buNone/>
            </a:pPr>
            <a:r>
              <a:rPr lang="en-IN" sz="2500" dirty="0" smtClean="0">
                <a:solidFill>
                  <a:srgbClr val="00B050"/>
                </a:solidFill>
              </a:rPr>
              <a:t>Doubling period = 0.35 + [69/Rate of interest]</a:t>
            </a:r>
            <a:endParaRPr lang="en-IN" sz="2500" dirty="0">
              <a:solidFill>
                <a:srgbClr val="00B05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19396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71311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9818"/>
            <a:ext cx="10515600" cy="5207145"/>
          </a:xfrm>
        </p:spPr>
        <p:txBody>
          <a:bodyPr>
            <a:normAutofit/>
          </a:bodyPr>
          <a:lstStyle/>
          <a:p>
            <a:pPr marL="0" indent="0" algn="just">
              <a:buNone/>
            </a:pPr>
            <a:r>
              <a:rPr lang="en-IN" sz="2600" dirty="0" smtClean="0"/>
              <a:t>17. Compute the rate of interest if the period of doubling of an investment is a) 4 years and b) 6 years.</a:t>
            </a:r>
          </a:p>
          <a:p>
            <a:pPr marL="0" indent="0" algn="just">
              <a:buNone/>
            </a:pPr>
            <a:r>
              <a:rPr lang="en-IN" sz="2600" dirty="0" smtClean="0">
                <a:solidFill>
                  <a:srgbClr val="FF0000"/>
                </a:solidFill>
              </a:rPr>
              <a:t>Solution:</a:t>
            </a:r>
          </a:p>
          <a:p>
            <a:pPr marL="0" indent="0" algn="just">
              <a:buNone/>
            </a:pPr>
            <a:r>
              <a:rPr lang="en-IN" sz="2600" dirty="0" smtClean="0">
                <a:solidFill>
                  <a:srgbClr val="FF0000"/>
                </a:solidFill>
              </a:rPr>
              <a:t>Computation of rate of interest:</a:t>
            </a:r>
          </a:p>
          <a:p>
            <a:pPr marL="0" indent="0" algn="just">
              <a:buNone/>
            </a:pPr>
            <a:r>
              <a:rPr lang="en-IN" sz="2600" dirty="0" smtClean="0"/>
              <a:t>Rate of interest  = [72/Doubling period]</a:t>
            </a:r>
          </a:p>
          <a:p>
            <a:pPr marL="514350" indent="-514350" algn="just">
              <a:buAutoNum type="alphaLcParenR"/>
            </a:pPr>
            <a:r>
              <a:rPr lang="en-IN" sz="2600" dirty="0" smtClean="0">
                <a:solidFill>
                  <a:srgbClr val="FF0000"/>
                </a:solidFill>
              </a:rPr>
              <a:t>If doubling period is 4 years:</a:t>
            </a:r>
          </a:p>
          <a:p>
            <a:pPr marL="0" indent="0" algn="just">
              <a:buNone/>
            </a:pPr>
            <a:r>
              <a:rPr lang="en-IN" sz="2600" dirty="0" smtClean="0"/>
              <a:t>Rate of interest = [72/4] = 18%</a:t>
            </a:r>
            <a:endParaRPr lang="en-IN" sz="2600" dirty="0"/>
          </a:p>
          <a:p>
            <a:pPr marL="0" indent="0" algn="just">
              <a:buNone/>
            </a:pPr>
            <a:r>
              <a:rPr lang="en-IN" sz="2600" dirty="0" smtClean="0">
                <a:solidFill>
                  <a:srgbClr val="FF0000"/>
                </a:solidFill>
              </a:rPr>
              <a:t>b) If doubling period is 6 years:</a:t>
            </a:r>
          </a:p>
          <a:p>
            <a:pPr marL="0" indent="0" algn="just">
              <a:buNone/>
            </a:pPr>
            <a:r>
              <a:rPr lang="en-IN" sz="2600" dirty="0" smtClean="0"/>
              <a:t>Rate of interest = [72/6] = 12%</a:t>
            </a: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71055"/>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20738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1273"/>
            <a:ext cx="10515600" cy="5345690"/>
          </a:xfrm>
        </p:spPr>
        <p:txBody>
          <a:bodyPr>
            <a:normAutofit/>
          </a:bodyPr>
          <a:lstStyle/>
          <a:p>
            <a:pPr marL="0" indent="0">
              <a:buNone/>
            </a:pPr>
            <a:r>
              <a:rPr lang="en-IN" sz="2600" dirty="0" smtClean="0"/>
              <a:t>18. Calculate the doubling period using the rule of 69, if rate of interest is a) 6%, b) 9% and c) 12%.</a:t>
            </a:r>
          </a:p>
          <a:p>
            <a:pPr marL="0" indent="0">
              <a:buNone/>
            </a:pPr>
            <a:r>
              <a:rPr lang="en-IN" sz="2600" dirty="0" smtClean="0">
                <a:solidFill>
                  <a:srgbClr val="FF0000"/>
                </a:solidFill>
              </a:rPr>
              <a:t>Solution:</a:t>
            </a:r>
          </a:p>
          <a:p>
            <a:pPr marL="0" indent="0">
              <a:buNone/>
            </a:pPr>
            <a:r>
              <a:rPr lang="en-IN" sz="2600" dirty="0" smtClean="0"/>
              <a:t>Computation of doubling period under rule 69:</a:t>
            </a:r>
          </a:p>
          <a:p>
            <a:pPr marL="514350" indent="-514350">
              <a:buAutoNum type="alphaLcParenR"/>
            </a:pPr>
            <a:r>
              <a:rPr lang="en-IN" sz="2600" dirty="0" smtClean="0">
                <a:solidFill>
                  <a:srgbClr val="FF0000"/>
                </a:solidFill>
              </a:rPr>
              <a:t>If rate of interest is 6%:</a:t>
            </a:r>
          </a:p>
          <a:p>
            <a:pPr marL="0" indent="0">
              <a:buNone/>
            </a:pPr>
            <a:r>
              <a:rPr lang="en-IN" sz="2600" dirty="0" smtClean="0"/>
              <a:t>Doubling period:</a:t>
            </a:r>
          </a:p>
          <a:p>
            <a:pPr marL="0" indent="0">
              <a:buNone/>
            </a:pPr>
            <a:r>
              <a:rPr lang="en-IN" sz="2600" dirty="0" smtClean="0"/>
              <a:t>	= 0.35+[69/Rate of interest]</a:t>
            </a:r>
          </a:p>
          <a:p>
            <a:pPr marL="0" indent="0">
              <a:buNone/>
            </a:pPr>
            <a:r>
              <a:rPr lang="en-IN" sz="2600" dirty="0" smtClean="0"/>
              <a:t>	= 0.35 + [69/6]</a:t>
            </a:r>
          </a:p>
          <a:p>
            <a:pPr marL="0" indent="0">
              <a:buNone/>
            </a:pPr>
            <a:r>
              <a:rPr lang="en-IN" sz="2600" dirty="0" smtClean="0">
                <a:solidFill>
                  <a:srgbClr val="FF0000"/>
                </a:solidFill>
              </a:rPr>
              <a:t>	= 11.85 years</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32510"/>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12912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5127"/>
            <a:ext cx="10515600" cy="5331836"/>
          </a:xfrm>
        </p:spPr>
        <p:txBody>
          <a:bodyPr>
            <a:normAutofit/>
          </a:bodyPr>
          <a:lstStyle/>
          <a:p>
            <a:pPr marL="0" indent="0">
              <a:buNone/>
            </a:pPr>
            <a:r>
              <a:rPr lang="en-IN" sz="2600" dirty="0" smtClean="0">
                <a:solidFill>
                  <a:srgbClr val="FF0000"/>
                </a:solidFill>
              </a:rPr>
              <a:t>b) If rate of interest is 9%:</a:t>
            </a:r>
          </a:p>
          <a:p>
            <a:pPr marL="0" indent="0">
              <a:buNone/>
            </a:pPr>
            <a:r>
              <a:rPr lang="en-IN" sz="2600" dirty="0"/>
              <a:t>Doubling period:</a:t>
            </a:r>
          </a:p>
          <a:p>
            <a:pPr marL="0" indent="0">
              <a:buNone/>
            </a:pPr>
            <a:r>
              <a:rPr lang="en-IN" sz="2600" dirty="0" smtClean="0"/>
              <a:t>	= </a:t>
            </a:r>
            <a:r>
              <a:rPr lang="en-IN" sz="2600" dirty="0"/>
              <a:t>0.35+[69/Rate of interest]</a:t>
            </a:r>
          </a:p>
          <a:p>
            <a:pPr marL="0" indent="0">
              <a:buNone/>
            </a:pPr>
            <a:r>
              <a:rPr lang="en-IN" sz="2600" dirty="0" smtClean="0"/>
              <a:t>	= </a:t>
            </a:r>
            <a:r>
              <a:rPr lang="en-IN" sz="2600" dirty="0"/>
              <a:t>0.35 + [</a:t>
            </a:r>
            <a:r>
              <a:rPr lang="en-IN" sz="2600" dirty="0" smtClean="0"/>
              <a:t>69/9]</a:t>
            </a:r>
            <a:endParaRPr lang="en-IN" sz="2600" dirty="0"/>
          </a:p>
          <a:p>
            <a:pPr marL="0" indent="0">
              <a:buNone/>
            </a:pPr>
            <a:r>
              <a:rPr lang="en-IN" sz="2600" dirty="0" smtClean="0">
                <a:solidFill>
                  <a:srgbClr val="FF0000"/>
                </a:solidFill>
              </a:rPr>
              <a:t>	= 8.02 </a:t>
            </a:r>
            <a:r>
              <a:rPr lang="en-IN" sz="2600" dirty="0">
                <a:solidFill>
                  <a:srgbClr val="FF0000"/>
                </a:solidFill>
              </a:rPr>
              <a:t>years</a:t>
            </a:r>
          </a:p>
          <a:p>
            <a:pPr marL="0" indent="0">
              <a:buNone/>
            </a:pPr>
            <a:r>
              <a:rPr lang="en-IN" sz="2600" dirty="0" smtClean="0">
                <a:solidFill>
                  <a:srgbClr val="FF0000"/>
                </a:solidFill>
              </a:rPr>
              <a:t>c) If rate of interest is 12%:</a:t>
            </a:r>
          </a:p>
          <a:p>
            <a:pPr marL="0" indent="0">
              <a:buNone/>
            </a:pPr>
            <a:r>
              <a:rPr lang="en-IN" sz="2600" dirty="0"/>
              <a:t>Doubling period:</a:t>
            </a:r>
          </a:p>
          <a:p>
            <a:pPr marL="0" indent="0">
              <a:buNone/>
            </a:pPr>
            <a:r>
              <a:rPr lang="en-IN" sz="2600" dirty="0" smtClean="0"/>
              <a:t>	= </a:t>
            </a:r>
            <a:r>
              <a:rPr lang="en-IN" sz="2600" dirty="0"/>
              <a:t>0.35+[69/Rate of interest]</a:t>
            </a:r>
          </a:p>
          <a:p>
            <a:pPr marL="0" indent="0">
              <a:buNone/>
            </a:pPr>
            <a:r>
              <a:rPr lang="en-IN" sz="2600" dirty="0" smtClean="0"/>
              <a:t>	= </a:t>
            </a:r>
            <a:r>
              <a:rPr lang="en-IN" sz="2600" dirty="0"/>
              <a:t>0.35 + [</a:t>
            </a:r>
            <a:r>
              <a:rPr lang="en-IN" sz="2600" dirty="0" smtClean="0"/>
              <a:t>69/12]</a:t>
            </a:r>
            <a:endParaRPr lang="en-IN" sz="2600" dirty="0"/>
          </a:p>
          <a:p>
            <a:pPr marL="0" indent="0">
              <a:buNone/>
            </a:pPr>
            <a:r>
              <a:rPr lang="en-IN" sz="2600" dirty="0" smtClean="0">
                <a:solidFill>
                  <a:srgbClr val="FF0000"/>
                </a:solidFill>
              </a:rPr>
              <a:t>	= 6.10 </a:t>
            </a:r>
            <a:r>
              <a:rPr lang="en-IN" sz="2600" dirty="0">
                <a:solidFill>
                  <a:srgbClr val="FF0000"/>
                </a:solidFill>
              </a:rPr>
              <a:t>years</a:t>
            </a:r>
          </a:p>
          <a:p>
            <a:pPr marL="0" indent="0">
              <a:buNone/>
            </a:pP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46364"/>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85769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7135"/>
            <a:ext cx="10515600" cy="5129828"/>
          </a:xfrm>
        </p:spPr>
        <p:txBody>
          <a:bodyPr>
            <a:normAutofit/>
          </a:bodyPr>
          <a:lstStyle/>
          <a:p>
            <a:pPr marL="0" indent="0" algn="just">
              <a:buNone/>
            </a:pPr>
            <a:r>
              <a:rPr lang="en-IN" sz="2600" dirty="0" smtClean="0"/>
              <a:t>Mr Vignesh deposits Rs. 75,000 today at 9% interest. He wants to know in how many years the amount will grow to </a:t>
            </a:r>
            <a:r>
              <a:rPr lang="en-IN" sz="2600" dirty="0"/>
              <a:t>R</a:t>
            </a:r>
            <a:r>
              <a:rPr lang="en-IN" sz="2600" dirty="0" smtClean="0"/>
              <a:t>s. 6,00,000. Calculate the period by using the rule of 72.</a:t>
            </a:r>
          </a:p>
          <a:p>
            <a:pPr marL="0" indent="0" algn="just">
              <a:buNone/>
            </a:pPr>
            <a:r>
              <a:rPr lang="en-IN" sz="2600" b="1" dirty="0" smtClean="0">
                <a:solidFill>
                  <a:srgbClr val="FF0000"/>
                </a:solidFill>
              </a:rPr>
              <a:t>Solution:</a:t>
            </a:r>
          </a:p>
          <a:p>
            <a:pPr marL="0" indent="0" algn="just">
              <a:buNone/>
            </a:pPr>
            <a:r>
              <a:rPr lang="en-IN" sz="2600" dirty="0" smtClean="0"/>
              <a:t>24 Years</a:t>
            </a: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46364"/>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47016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0436"/>
            <a:ext cx="10515600" cy="5456527"/>
          </a:xfrm>
        </p:spPr>
        <p:txBody>
          <a:bodyPr>
            <a:normAutofit/>
          </a:bodyPr>
          <a:lstStyle/>
          <a:p>
            <a:pPr marL="0" indent="0" algn="just">
              <a:buNone/>
            </a:pPr>
            <a:r>
              <a:rPr lang="en-IN" sz="2600" b="1" dirty="0" smtClean="0">
                <a:solidFill>
                  <a:srgbClr val="00B050"/>
                </a:solidFill>
              </a:rPr>
              <a:t>5. Annuity:</a:t>
            </a:r>
          </a:p>
          <a:p>
            <a:pPr marL="0" indent="0" algn="just">
              <a:buNone/>
            </a:pPr>
            <a:r>
              <a:rPr lang="en-IN" sz="2600" dirty="0" smtClean="0"/>
              <a:t>A </a:t>
            </a:r>
            <a:r>
              <a:rPr lang="en-IN" sz="2600" dirty="0" smtClean="0">
                <a:solidFill>
                  <a:srgbClr val="FF0000"/>
                </a:solidFill>
              </a:rPr>
              <a:t>series of equal amount of cash flows </a:t>
            </a:r>
            <a:r>
              <a:rPr lang="en-IN" sz="2600" dirty="0" smtClean="0"/>
              <a:t>over a certain given years is called an annuity. It is calculated as follows: </a:t>
            </a:r>
          </a:p>
          <a:p>
            <a:pPr marL="0" indent="0" algn="just">
              <a:buNone/>
            </a:pPr>
            <a:r>
              <a:rPr lang="en-IN" sz="2600" dirty="0" smtClean="0"/>
              <a:t>FV of annuity = A×{[1+r]</a:t>
            </a:r>
            <a:r>
              <a:rPr lang="en-IN" sz="2600" baseline="30000" dirty="0" smtClean="0"/>
              <a:t>n</a:t>
            </a:r>
            <a:r>
              <a:rPr lang="en-IN" sz="2600" dirty="0" smtClean="0"/>
              <a:t>-1}/r</a:t>
            </a:r>
          </a:p>
          <a:p>
            <a:pPr marL="0" indent="0" algn="just">
              <a:buNone/>
            </a:pPr>
            <a:r>
              <a:rPr lang="en-IN" sz="2600" dirty="0" smtClean="0">
                <a:solidFill>
                  <a:srgbClr val="FF0000"/>
                </a:solidFill>
              </a:rPr>
              <a:t>Where: </a:t>
            </a:r>
          </a:p>
          <a:p>
            <a:pPr marL="0" indent="0" algn="just">
              <a:buNone/>
            </a:pPr>
            <a:r>
              <a:rPr lang="en-IN" sz="2600" dirty="0" smtClean="0">
                <a:solidFill>
                  <a:srgbClr val="FF0000"/>
                </a:solidFill>
              </a:rPr>
              <a:t>A = Constant periodic cash flow  or annuity amount.</a:t>
            </a:r>
          </a:p>
          <a:p>
            <a:pPr marL="0" indent="0" algn="just">
              <a:buNone/>
            </a:pPr>
            <a:r>
              <a:rPr lang="en-IN" sz="2600" dirty="0">
                <a:solidFill>
                  <a:srgbClr val="FF0000"/>
                </a:solidFill>
              </a:rPr>
              <a:t>r</a:t>
            </a:r>
            <a:r>
              <a:rPr lang="en-IN" sz="2600" dirty="0" smtClean="0">
                <a:solidFill>
                  <a:srgbClr val="FF0000"/>
                </a:solidFill>
              </a:rPr>
              <a:t> = Rate of interest.</a:t>
            </a:r>
          </a:p>
          <a:p>
            <a:pPr marL="0" indent="0" algn="just">
              <a:buNone/>
            </a:pPr>
            <a:r>
              <a:rPr lang="en-IN" sz="2600" dirty="0">
                <a:solidFill>
                  <a:srgbClr val="FF0000"/>
                </a:solidFill>
              </a:rPr>
              <a:t>n</a:t>
            </a:r>
            <a:r>
              <a:rPr lang="en-IN" sz="2600" dirty="0" smtClean="0">
                <a:solidFill>
                  <a:srgbClr val="FF0000"/>
                </a:solidFill>
              </a:rPr>
              <a:t> = Number of years.</a:t>
            </a:r>
          </a:p>
          <a:p>
            <a:pPr marL="0" indent="0" algn="just">
              <a:buNone/>
            </a:pPr>
            <a:endParaRPr lang="en-IN" sz="2600" dirty="0" smtClean="0">
              <a:solidFill>
                <a:srgbClr val="FF0000"/>
              </a:solidFill>
            </a:endParaRPr>
          </a:p>
          <a:p>
            <a:pPr marL="0" indent="0" algn="just">
              <a:buNone/>
            </a:pPr>
            <a:endParaRPr lang="en-IN" sz="2600" dirty="0" smtClean="0">
              <a:solidFill>
                <a:srgbClr val="FF0000"/>
              </a:solidFill>
            </a:endParaRPr>
          </a:p>
        </p:txBody>
      </p:sp>
      <p:pic>
        <p:nvPicPr>
          <p:cNvPr id="6"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2167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2080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2836"/>
            <a:ext cx="10515600" cy="5304127"/>
          </a:xfrm>
        </p:spPr>
        <p:txBody>
          <a:bodyPr>
            <a:normAutofit/>
          </a:bodyPr>
          <a:lstStyle/>
          <a:p>
            <a:pPr marL="0" indent="0" algn="just">
              <a:buNone/>
            </a:pPr>
            <a:r>
              <a:rPr lang="en-IN" sz="2600" dirty="0" smtClean="0"/>
              <a:t>19. Calculate the maturity value of an annuity if </a:t>
            </a:r>
            <a:r>
              <a:rPr lang="en-IN" sz="2600" dirty="0"/>
              <a:t>R</a:t>
            </a:r>
            <a:r>
              <a:rPr lang="en-IN" sz="2600" dirty="0" smtClean="0"/>
              <a:t>s. 20,000 is paid annually for 7 years at 12% compounded annually?</a:t>
            </a:r>
          </a:p>
          <a:p>
            <a:pPr marL="0" indent="0" algn="just">
              <a:buNone/>
            </a:pPr>
            <a:r>
              <a:rPr lang="en-IN" sz="2600" dirty="0" smtClean="0">
                <a:solidFill>
                  <a:srgbClr val="FF0000"/>
                </a:solidFill>
              </a:rPr>
              <a:t>Solution:</a:t>
            </a:r>
          </a:p>
          <a:p>
            <a:pPr marL="0" indent="0" algn="just">
              <a:buNone/>
            </a:pPr>
            <a:r>
              <a:rPr lang="en-IN" sz="2600" dirty="0" smtClean="0">
                <a:solidFill>
                  <a:srgbClr val="FF0000"/>
                </a:solidFill>
              </a:rPr>
              <a:t>Computation of maturity value of an annuity:</a:t>
            </a:r>
          </a:p>
          <a:p>
            <a:pPr marL="0" indent="0" algn="just">
              <a:buNone/>
            </a:pPr>
            <a:r>
              <a:rPr lang="en-IN" sz="2600" dirty="0"/>
              <a:t>FV of annuity = A×{[</a:t>
            </a:r>
            <a:r>
              <a:rPr lang="en-IN" sz="2600" dirty="0" smtClean="0"/>
              <a:t>1+r]</a:t>
            </a:r>
            <a:r>
              <a:rPr lang="en-IN" sz="2600" baseline="30000" dirty="0" smtClean="0"/>
              <a:t>n</a:t>
            </a:r>
            <a:r>
              <a:rPr lang="en-IN" sz="2600" dirty="0" smtClean="0"/>
              <a:t>-1}/r</a:t>
            </a:r>
            <a:endParaRPr lang="en-IN" sz="2600" dirty="0"/>
          </a:p>
          <a:p>
            <a:pPr marL="0" indent="0" algn="just">
              <a:buNone/>
            </a:pPr>
            <a:r>
              <a:rPr lang="en-IN" sz="2600" dirty="0" smtClean="0"/>
              <a:t>	= Rs. 20,000 × {[1+0.12]</a:t>
            </a:r>
            <a:r>
              <a:rPr lang="en-IN" sz="2600" baseline="30000" dirty="0" smtClean="0"/>
              <a:t>7</a:t>
            </a:r>
            <a:r>
              <a:rPr lang="en-IN" sz="2600" dirty="0" smtClean="0"/>
              <a:t>-1]/0.12}</a:t>
            </a:r>
          </a:p>
          <a:p>
            <a:pPr marL="0" indent="0" algn="just">
              <a:buNone/>
            </a:pPr>
            <a:r>
              <a:rPr lang="en-IN" sz="2600" dirty="0" smtClean="0"/>
              <a:t>	= Rs. 20,000 × [1.2107/0.12]</a:t>
            </a:r>
          </a:p>
          <a:p>
            <a:pPr marL="0" indent="0" algn="just">
              <a:buNone/>
            </a:pPr>
            <a:r>
              <a:rPr lang="en-IN" sz="2600" dirty="0" smtClean="0"/>
              <a:t>	= Rs. 20,000 × 10.09</a:t>
            </a:r>
          </a:p>
          <a:p>
            <a:pPr marL="0" indent="0" algn="just">
              <a:buNone/>
            </a:pPr>
            <a:r>
              <a:rPr lang="en-IN" sz="2600" dirty="0" smtClean="0">
                <a:solidFill>
                  <a:srgbClr val="FF0000"/>
                </a:solidFill>
              </a:rPr>
              <a:t>	= Rs. 2,01,800</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7407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4306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8144"/>
            <a:ext cx="10515600" cy="5597237"/>
          </a:xfrm>
        </p:spPr>
        <p:txBody>
          <a:bodyPr>
            <a:normAutofit/>
          </a:bodyPr>
          <a:lstStyle/>
          <a:p>
            <a:pPr marL="0" indent="0" algn="just">
              <a:buNone/>
            </a:pPr>
            <a:r>
              <a:rPr lang="en-IN" sz="2600" dirty="0" smtClean="0"/>
              <a:t>20. Mr. X pays  a monthly instalment of Rs. 2,000 towards a recurring deposit with a financier. The rate of interest is 6% p.a compounded monthly. What is the maturity value of this recurring deposit after the 10 months?</a:t>
            </a:r>
          </a:p>
          <a:p>
            <a:pPr marL="0" indent="0" algn="just">
              <a:buNone/>
            </a:pPr>
            <a:r>
              <a:rPr lang="en-IN" sz="2600" dirty="0" smtClean="0">
                <a:solidFill>
                  <a:srgbClr val="FF0000"/>
                </a:solidFill>
              </a:rPr>
              <a:t>Solution:</a:t>
            </a:r>
          </a:p>
          <a:p>
            <a:pPr marL="0" indent="0" algn="just">
              <a:buNone/>
            </a:pPr>
            <a:r>
              <a:rPr lang="en-IN" sz="2600" dirty="0" smtClean="0">
                <a:solidFill>
                  <a:srgbClr val="FF0000"/>
                </a:solidFill>
              </a:rPr>
              <a:t>a) Calculation of monthly interest rate:</a:t>
            </a:r>
          </a:p>
          <a:p>
            <a:pPr marL="0" indent="0" algn="just">
              <a:buNone/>
            </a:pPr>
            <a:r>
              <a:rPr lang="en-IN" sz="2600" dirty="0" smtClean="0"/>
              <a:t>Monthly Interest Rate = 0.06/12 = 0.005</a:t>
            </a:r>
          </a:p>
          <a:p>
            <a:pPr marL="0" indent="0" algn="just">
              <a:buNone/>
            </a:pPr>
            <a:r>
              <a:rPr lang="en-IN" sz="2600" dirty="0" smtClean="0">
                <a:solidFill>
                  <a:srgbClr val="FF0000"/>
                </a:solidFill>
              </a:rPr>
              <a:t>b) Computation </a:t>
            </a:r>
            <a:r>
              <a:rPr lang="en-IN" sz="2600" dirty="0">
                <a:solidFill>
                  <a:srgbClr val="FF0000"/>
                </a:solidFill>
              </a:rPr>
              <a:t>of maturity value of an annuity:</a:t>
            </a:r>
          </a:p>
          <a:p>
            <a:pPr marL="0" indent="0" algn="just">
              <a:buNone/>
            </a:pPr>
            <a:r>
              <a:rPr lang="en-IN" sz="2600" dirty="0"/>
              <a:t>FV of annuity = A×{[</a:t>
            </a:r>
            <a:r>
              <a:rPr lang="en-IN" sz="2600" dirty="0" smtClean="0"/>
              <a:t>1+r]</a:t>
            </a:r>
            <a:r>
              <a:rPr lang="en-IN" sz="2600" baseline="30000" dirty="0" smtClean="0"/>
              <a:t>n</a:t>
            </a:r>
            <a:r>
              <a:rPr lang="en-IN" sz="2600" dirty="0" smtClean="0"/>
              <a:t>-1}/r</a:t>
            </a:r>
            <a:endParaRPr lang="en-IN" sz="2600" dirty="0"/>
          </a:p>
          <a:p>
            <a:pPr marL="0" indent="0" algn="just">
              <a:buNone/>
            </a:pPr>
            <a:r>
              <a:rPr lang="en-IN" sz="2600" dirty="0"/>
              <a:t>	= Rs. </a:t>
            </a:r>
            <a:r>
              <a:rPr lang="en-IN" sz="2600" dirty="0" smtClean="0"/>
              <a:t>2,000 </a:t>
            </a:r>
            <a:r>
              <a:rPr lang="en-IN" sz="2600" dirty="0"/>
              <a:t>× {[</a:t>
            </a:r>
            <a:r>
              <a:rPr lang="en-IN" sz="2600" dirty="0" smtClean="0"/>
              <a:t>1+0.005]</a:t>
            </a:r>
            <a:r>
              <a:rPr lang="en-IN" sz="2600" baseline="30000" dirty="0" smtClean="0"/>
              <a:t>10</a:t>
            </a:r>
            <a:r>
              <a:rPr lang="en-IN" sz="2600" dirty="0" smtClean="0"/>
              <a:t>-1/0.005}</a:t>
            </a:r>
            <a:endParaRPr lang="en-IN" sz="2600" dirty="0"/>
          </a:p>
          <a:p>
            <a:pPr marL="0" indent="0" algn="just">
              <a:buNone/>
            </a:pPr>
            <a:r>
              <a:rPr lang="en-IN" sz="2600" dirty="0"/>
              <a:t>	= Rs. </a:t>
            </a:r>
            <a:r>
              <a:rPr lang="en-IN" sz="2600" dirty="0" smtClean="0"/>
              <a:t>2,000 </a:t>
            </a:r>
            <a:r>
              <a:rPr lang="en-IN" sz="2600" dirty="0"/>
              <a:t>× </a:t>
            </a:r>
            <a:r>
              <a:rPr lang="en-IN" sz="2600" dirty="0" smtClean="0"/>
              <a:t>[0.0511/0.005]</a:t>
            </a:r>
            <a:endParaRPr lang="en-IN" sz="2600" dirty="0"/>
          </a:p>
          <a:p>
            <a:pPr marL="0" indent="0" algn="just">
              <a:buNone/>
            </a:pPr>
            <a:r>
              <a:rPr lang="en-IN" sz="2600" dirty="0"/>
              <a:t>	= Rs. </a:t>
            </a:r>
            <a:r>
              <a:rPr lang="en-IN" sz="2600" dirty="0" smtClean="0"/>
              <a:t>2,000 </a:t>
            </a:r>
            <a:r>
              <a:rPr lang="en-IN" sz="2600" dirty="0"/>
              <a:t>× </a:t>
            </a:r>
            <a:r>
              <a:rPr lang="en-IN" sz="2600" dirty="0" smtClean="0"/>
              <a:t>10.22</a:t>
            </a:r>
            <a:endParaRPr lang="en-IN" sz="2600" dirty="0"/>
          </a:p>
          <a:p>
            <a:pPr marL="0" indent="0" algn="just">
              <a:buNone/>
            </a:pPr>
            <a:r>
              <a:rPr lang="en-IN" sz="2600" dirty="0">
                <a:solidFill>
                  <a:srgbClr val="FF0000"/>
                </a:solidFill>
              </a:rPr>
              <a:t>	= Rs. </a:t>
            </a:r>
            <a:r>
              <a:rPr lang="en-IN" sz="2600" dirty="0" smtClean="0">
                <a:solidFill>
                  <a:srgbClr val="FF0000"/>
                </a:solidFill>
              </a:rPr>
              <a:t>20,440</a:t>
            </a:r>
            <a:endParaRPr lang="en-IN" sz="2600" dirty="0">
              <a:solidFill>
                <a:srgbClr val="FF0000"/>
              </a:solidFill>
            </a:endParaRP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49381"/>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97967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5855"/>
            <a:ext cx="10515600" cy="5401108"/>
          </a:xfrm>
        </p:spPr>
        <p:txBody>
          <a:bodyPr>
            <a:normAutofit lnSpcReduction="10000"/>
          </a:bodyPr>
          <a:lstStyle/>
          <a:p>
            <a:pPr marL="0" indent="0" algn="just">
              <a:buNone/>
            </a:pPr>
            <a:r>
              <a:rPr lang="en-IN" sz="2600" b="1" dirty="0" smtClean="0">
                <a:solidFill>
                  <a:srgbClr val="FF0000"/>
                </a:solidFill>
              </a:rPr>
              <a:t>2. Discounting Technique:</a:t>
            </a:r>
          </a:p>
          <a:p>
            <a:pPr marL="0" indent="0" algn="just">
              <a:buNone/>
            </a:pPr>
            <a:r>
              <a:rPr lang="en-IN" sz="2600" dirty="0" smtClean="0"/>
              <a:t>Discounting is determining the present value of the future amount.</a:t>
            </a:r>
          </a:p>
          <a:p>
            <a:pPr marL="514350" indent="-514350" algn="just">
              <a:buAutoNum type="arabicPeriod"/>
            </a:pPr>
            <a:r>
              <a:rPr lang="en-IN" sz="2600" b="1" dirty="0" smtClean="0">
                <a:solidFill>
                  <a:srgbClr val="00B050"/>
                </a:solidFill>
              </a:rPr>
              <a:t>Present value:</a:t>
            </a:r>
          </a:p>
          <a:p>
            <a:pPr marL="0" indent="0" algn="just">
              <a:buNone/>
            </a:pPr>
            <a:r>
              <a:rPr lang="en-IN" sz="2600" dirty="0" smtClean="0"/>
              <a:t>Present value is </a:t>
            </a:r>
            <a:r>
              <a:rPr lang="en-IN" sz="2600" b="1" dirty="0" smtClean="0">
                <a:solidFill>
                  <a:srgbClr val="FF0000"/>
                </a:solidFill>
              </a:rPr>
              <a:t>the current value of a future amount. </a:t>
            </a:r>
            <a:r>
              <a:rPr lang="en-IN" sz="2600" dirty="0" smtClean="0"/>
              <a:t>The amount to be invested today at a given interest rate over a specified period to equal the future amount.</a:t>
            </a:r>
          </a:p>
          <a:p>
            <a:pPr marL="0" indent="0" algn="just">
              <a:buNone/>
            </a:pPr>
            <a:r>
              <a:rPr lang="en-IN" sz="2600" dirty="0" smtClean="0"/>
              <a:t>It is calculated as follows:</a:t>
            </a:r>
          </a:p>
          <a:p>
            <a:pPr marL="0" indent="0" algn="just">
              <a:buNone/>
            </a:pPr>
            <a:r>
              <a:rPr lang="en-IN" sz="2600" dirty="0" smtClean="0"/>
              <a:t>PV = FV[1/(1+r)</a:t>
            </a:r>
            <a:r>
              <a:rPr lang="en-IN" sz="2600" baseline="30000" dirty="0" smtClean="0"/>
              <a:t>n</a:t>
            </a:r>
            <a:r>
              <a:rPr lang="en-IN" sz="2600" dirty="0" smtClean="0"/>
              <a:t>]</a:t>
            </a:r>
          </a:p>
          <a:p>
            <a:pPr marL="0" indent="0" algn="just">
              <a:buNone/>
            </a:pPr>
            <a:r>
              <a:rPr lang="en-IN" sz="2600" dirty="0" smtClean="0"/>
              <a:t>Where:</a:t>
            </a:r>
          </a:p>
          <a:p>
            <a:pPr marL="0" indent="0" algn="just">
              <a:buNone/>
            </a:pPr>
            <a:r>
              <a:rPr lang="en-IN" sz="2600" dirty="0" smtClean="0"/>
              <a:t>FV = Future Value</a:t>
            </a:r>
          </a:p>
          <a:p>
            <a:pPr marL="0" indent="0" algn="just">
              <a:buNone/>
            </a:pPr>
            <a:r>
              <a:rPr lang="en-IN" sz="2600" dirty="0"/>
              <a:t>r</a:t>
            </a:r>
            <a:r>
              <a:rPr lang="en-IN" sz="2600" dirty="0" smtClean="0"/>
              <a:t> = Rate of interest</a:t>
            </a:r>
          </a:p>
          <a:p>
            <a:pPr marL="0" indent="0" algn="just">
              <a:buNone/>
            </a:pPr>
            <a:r>
              <a:rPr lang="en-IN" sz="2600" dirty="0" smtClean="0"/>
              <a:t>n-= Number of years</a:t>
            </a: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77092"/>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63129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2836"/>
            <a:ext cx="10515600" cy="5597237"/>
          </a:xfrm>
        </p:spPr>
        <p:txBody>
          <a:bodyPr>
            <a:normAutofit lnSpcReduction="10000"/>
          </a:bodyPr>
          <a:lstStyle/>
          <a:p>
            <a:pPr marL="0" indent="0" algn="just">
              <a:buNone/>
            </a:pPr>
            <a:r>
              <a:rPr lang="en-IN" sz="2600" b="1" dirty="0" smtClean="0">
                <a:solidFill>
                  <a:srgbClr val="FF0000"/>
                </a:solidFill>
              </a:rPr>
              <a:t>Solved problem:</a:t>
            </a:r>
          </a:p>
          <a:p>
            <a:pPr marL="0" indent="0" algn="just">
              <a:buNone/>
            </a:pPr>
            <a:r>
              <a:rPr lang="en-IN" sz="2600" dirty="0" smtClean="0"/>
              <a:t>P1. Calculate the present value factor at 12% p.a. for a period of 5 years.</a:t>
            </a:r>
          </a:p>
          <a:p>
            <a:pPr marL="0" indent="0" algn="just">
              <a:buNone/>
            </a:pPr>
            <a:r>
              <a:rPr lang="en-IN" sz="2600" b="1" dirty="0" smtClean="0">
                <a:solidFill>
                  <a:srgbClr val="FF0000"/>
                </a:solidFill>
              </a:rPr>
              <a:t>Solution:</a:t>
            </a:r>
          </a:p>
          <a:p>
            <a:pPr marL="0" indent="0" algn="just">
              <a:buNone/>
            </a:pPr>
            <a:r>
              <a:rPr lang="en-IN" sz="2600" dirty="0" smtClean="0"/>
              <a:t>PV for 1</a:t>
            </a:r>
            <a:r>
              <a:rPr lang="en-IN" sz="2600" baseline="30000" dirty="0" smtClean="0"/>
              <a:t>st</a:t>
            </a:r>
            <a:r>
              <a:rPr lang="en-IN" sz="2600" dirty="0" smtClean="0"/>
              <a:t> year = </a:t>
            </a:r>
            <a:r>
              <a:rPr lang="en-IN" sz="2600" dirty="0"/>
              <a:t>[</a:t>
            </a:r>
            <a:r>
              <a:rPr lang="en-IN" sz="2600" dirty="0" smtClean="0"/>
              <a:t>1/(1+r)</a:t>
            </a:r>
            <a:r>
              <a:rPr lang="en-IN" sz="2600" baseline="30000" dirty="0" smtClean="0"/>
              <a:t>1</a:t>
            </a:r>
            <a:r>
              <a:rPr lang="en-IN" sz="2600" dirty="0" smtClean="0"/>
              <a:t>]</a:t>
            </a:r>
          </a:p>
          <a:p>
            <a:pPr marL="0" indent="0" algn="just">
              <a:buNone/>
            </a:pPr>
            <a:r>
              <a:rPr lang="en-IN" sz="2600" dirty="0" smtClean="0"/>
              <a:t>	= 1/(1+0.12)  </a:t>
            </a:r>
          </a:p>
          <a:p>
            <a:pPr marL="0" indent="0" algn="just">
              <a:buNone/>
            </a:pPr>
            <a:r>
              <a:rPr lang="en-IN" sz="2600" baseline="30000" dirty="0" smtClean="0"/>
              <a:t>	</a:t>
            </a:r>
            <a:r>
              <a:rPr lang="en-IN" sz="2600" dirty="0" smtClean="0"/>
              <a:t>= 1/1.12 </a:t>
            </a:r>
            <a:r>
              <a:rPr lang="en-IN" sz="2600" dirty="0" smtClean="0">
                <a:solidFill>
                  <a:srgbClr val="FF0000"/>
                </a:solidFill>
              </a:rPr>
              <a:t>= 0.893</a:t>
            </a:r>
            <a:endParaRPr lang="en-IN" sz="2600" baseline="30000" dirty="0">
              <a:solidFill>
                <a:srgbClr val="FF0000"/>
              </a:solidFill>
            </a:endParaRPr>
          </a:p>
          <a:p>
            <a:pPr marL="0" indent="0" algn="just">
              <a:buNone/>
            </a:pPr>
            <a:r>
              <a:rPr lang="en-IN" sz="2600" dirty="0" smtClean="0"/>
              <a:t>PV for 2</a:t>
            </a:r>
            <a:r>
              <a:rPr lang="en-IN" sz="2600" baseline="30000" dirty="0" smtClean="0"/>
              <a:t>nd</a:t>
            </a:r>
            <a:r>
              <a:rPr lang="en-IN" sz="2600" dirty="0" smtClean="0"/>
              <a:t> year = </a:t>
            </a:r>
            <a:r>
              <a:rPr lang="en-IN" sz="2600" dirty="0"/>
              <a:t>1/(</a:t>
            </a:r>
            <a:r>
              <a:rPr lang="en-IN" sz="2600" dirty="0" smtClean="0"/>
              <a:t>1+r)</a:t>
            </a:r>
            <a:r>
              <a:rPr lang="en-IN" sz="2600" baseline="30000" dirty="0" smtClean="0"/>
              <a:t>2</a:t>
            </a:r>
            <a:endParaRPr lang="en-IN" sz="2600" baseline="30000" dirty="0"/>
          </a:p>
          <a:p>
            <a:pPr marL="0" indent="0" algn="just">
              <a:buNone/>
            </a:pPr>
            <a:r>
              <a:rPr lang="en-IN" sz="2600" dirty="0"/>
              <a:t>	= 1/(</a:t>
            </a:r>
            <a:r>
              <a:rPr lang="en-IN" sz="2600" dirty="0" smtClean="0"/>
              <a:t>1+0.12)</a:t>
            </a:r>
            <a:r>
              <a:rPr lang="en-IN" sz="2600" baseline="30000" dirty="0" smtClean="0"/>
              <a:t>2</a:t>
            </a:r>
            <a:r>
              <a:rPr lang="en-IN" sz="2600" dirty="0" smtClean="0"/>
              <a:t> </a:t>
            </a:r>
            <a:endParaRPr lang="en-IN" sz="2600" dirty="0"/>
          </a:p>
          <a:p>
            <a:pPr marL="0" indent="0" algn="just">
              <a:buNone/>
            </a:pPr>
            <a:r>
              <a:rPr lang="en-IN" sz="2600" baseline="30000" dirty="0"/>
              <a:t>	</a:t>
            </a:r>
            <a:r>
              <a:rPr lang="en-IN" sz="2600" dirty="0"/>
              <a:t>= 1</a:t>
            </a:r>
            <a:r>
              <a:rPr lang="en-IN" sz="2600" dirty="0" smtClean="0"/>
              <a:t>/(1.12)</a:t>
            </a:r>
            <a:r>
              <a:rPr lang="en-IN" sz="2600" baseline="30000" dirty="0" smtClean="0"/>
              <a:t>2</a:t>
            </a:r>
            <a:r>
              <a:rPr lang="en-IN" sz="2600" dirty="0" smtClean="0"/>
              <a:t> </a:t>
            </a:r>
            <a:r>
              <a:rPr lang="en-IN" sz="2600" dirty="0">
                <a:solidFill>
                  <a:srgbClr val="FF0000"/>
                </a:solidFill>
              </a:rPr>
              <a:t>= </a:t>
            </a:r>
            <a:r>
              <a:rPr lang="en-IN" sz="2600" dirty="0" smtClean="0">
                <a:solidFill>
                  <a:srgbClr val="FF0000"/>
                </a:solidFill>
              </a:rPr>
              <a:t>0.797</a:t>
            </a:r>
            <a:endParaRPr lang="en-IN" sz="2600" baseline="30000" dirty="0">
              <a:solidFill>
                <a:srgbClr val="FF0000"/>
              </a:solidFill>
            </a:endParaRPr>
          </a:p>
          <a:p>
            <a:pPr marL="0" indent="0" algn="just">
              <a:buNone/>
            </a:pPr>
            <a:r>
              <a:rPr lang="en-IN" sz="2600" dirty="0"/>
              <a:t>PV for </a:t>
            </a:r>
            <a:r>
              <a:rPr lang="en-IN" sz="2600" dirty="0" smtClean="0"/>
              <a:t>3</a:t>
            </a:r>
            <a:r>
              <a:rPr lang="en-IN" sz="2600" baseline="30000" dirty="0"/>
              <a:t>r</a:t>
            </a:r>
            <a:r>
              <a:rPr lang="en-IN" sz="2600" baseline="30000" dirty="0" smtClean="0"/>
              <a:t>d</a:t>
            </a:r>
            <a:r>
              <a:rPr lang="en-IN" sz="2600" dirty="0" smtClean="0"/>
              <a:t> </a:t>
            </a:r>
            <a:r>
              <a:rPr lang="en-IN" sz="2600" dirty="0"/>
              <a:t>year = 1/(</a:t>
            </a:r>
            <a:r>
              <a:rPr lang="en-IN" sz="2600" dirty="0" smtClean="0"/>
              <a:t>1+r)</a:t>
            </a:r>
            <a:r>
              <a:rPr lang="en-IN" sz="2600" baseline="30000" dirty="0" smtClean="0"/>
              <a:t>3</a:t>
            </a:r>
            <a:endParaRPr lang="en-IN" sz="2600" baseline="30000" dirty="0"/>
          </a:p>
          <a:p>
            <a:pPr marL="0" indent="0" algn="just">
              <a:buNone/>
            </a:pPr>
            <a:r>
              <a:rPr lang="en-IN" sz="2600" dirty="0"/>
              <a:t>	= 1/(</a:t>
            </a:r>
            <a:r>
              <a:rPr lang="en-IN" sz="2600" dirty="0" smtClean="0"/>
              <a:t>1+0.12)</a:t>
            </a:r>
            <a:r>
              <a:rPr lang="en-IN" sz="2600" baseline="30000" dirty="0" smtClean="0"/>
              <a:t>3</a:t>
            </a:r>
            <a:r>
              <a:rPr lang="en-IN" sz="2600" dirty="0" smtClean="0"/>
              <a:t> </a:t>
            </a:r>
            <a:endParaRPr lang="en-IN" sz="2600" dirty="0"/>
          </a:p>
          <a:p>
            <a:pPr marL="0" indent="0" algn="just">
              <a:buNone/>
            </a:pPr>
            <a:r>
              <a:rPr lang="en-IN" sz="2600" baseline="30000" dirty="0"/>
              <a:t>	</a:t>
            </a:r>
            <a:r>
              <a:rPr lang="en-IN" sz="2600" dirty="0"/>
              <a:t>= 1/(</a:t>
            </a:r>
            <a:r>
              <a:rPr lang="en-IN" sz="2600" dirty="0" smtClean="0"/>
              <a:t>1.12)</a:t>
            </a:r>
            <a:r>
              <a:rPr lang="en-IN" sz="2600" baseline="30000" dirty="0" smtClean="0"/>
              <a:t>3</a:t>
            </a:r>
            <a:r>
              <a:rPr lang="en-IN" sz="2600" dirty="0" smtClean="0"/>
              <a:t> </a:t>
            </a:r>
            <a:r>
              <a:rPr lang="en-IN" sz="2600" dirty="0">
                <a:solidFill>
                  <a:srgbClr val="FF0000"/>
                </a:solidFill>
              </a:rPr>
              <a:t>= </a:t>
            </a:r>
            <a:r>
              <a:rPr lang="en-IN" sz="2600" dirty="0" smtClean="0">
                <a:solidFill>
                  <a:srgbClr val="FF0000"/>
                </a:solidFill>
              </a:rPr>
              <a:t>0.712</a:t>
            </a:r>
            <a:endParaRPr lang="en-IN" sz="2600" baseline="30000" dirty="0">
              <a:solidFill>
                <a:srgbClr val="FF0000"/>
              </a:solidFill>
            </a:endParaRPr>
          </a:p>
          <a:p>
            <a:pPr marL="0" indent="0" algn="just">
              <a:buNone/>
            </a:pPr>
            <a:endParaRPr lang="en-IN" sz="2600" dirty="0"/>
          </a:p>
          <a:p>
            <a:pPr marL="0" indent="0" algn="just">
              <a:buNone/>
            </a:pPr>
            <a:endParaRPr lang="en-IN" sz="2600" dirty="0" smtClean="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7407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33876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2782" y="1085571"/>
            <a:ext cx="10515600" cy="4961268"/>
          </a:xfrm>
        </p:spPr>
        <p:txBody>
          <a:bodyPr>
            <a:normAutofit/>
          </a:bodyPr>
          <a:lstStyle/>
          <a:p>
            <a:pPr marL="0" indent="0" algn="just">
              <a:buNone/>
            </a:pPr>
            <a:r>
              <a:rPr lang="en-IN" sz="2600" dirty="0"/>
              <a:t>PV for </a:t>
            </a:r>
            <a:r>
              <a:rPr lang="en-IN" sz="2600" dirty="0" smtClean="0"/>
              <a:t>4</a:t>
            </a:r>
            <a:r>
              <a:rPr lang="en-IN" sz="2600" baseline="30000" dirty="0" smtClean="0"/>
              <a:t>th</a:t>
            </a:r>
            <a:r>
              <a:rPr lang="en-IN" sz="2600" dirty="0" smtClean="0"/>
              <a:t> </a:t>
            </a:r>
            <a:r>
              <a:rPr lang="en-IN" sz="2600" dirty="0"/>
              <a:t>year = 1/(</a:t>
            </a:r>
            <a:r>
              <a:rPr lang="en-IN" sz="2600" dirty="0" smtClean="0"/>
              <a:t>1+r)</a:t>
            </a:r>
            <a:r>
              <a:rPr lang="en-IN" sz="2600" baseline="30000" dirty="0" smtClean="0"/>
              <a:t>4</a:t>
            </a:r>
            <a:endParaRPr lang="en-IN" sz="2600" baseline="30000" dirty="0"/>
          </a:p>
          <a:p>
            <a:pPr marL="0" indent="0" algn="just">
              <a:buNone/>
            </a:pPr>
            <a:r>
              <a:rPr lang="en-IN" sz="2600" dirty="0"/>
              <a:t>	= 1/(</a:t>
            </a:r>
            <a:r>
              <a:rPr lang="en-IN" sz="2600" dirty="0" smtClean="0"/>
              <a:t>1+0.12)</a:t>
            </a:r>
            <a:r>
              <a:rPr lang="en-IN" sz="2600" baseline="30000" dirty="0" smtClean="0"/>
              <a:t>4</a:t>
            </a:r>
            <a:r>
              <a:rPr lang="en-IN" sz="2600" dirty="0" smtClean="0"/>
              <a:t> </a:t>
            </a:r>
            <a:endParaRPr lang="en-IN" sz="2600" dirty="0"/>
          </a:p>
          <a:p>
            <a:pPr marL="0" indent="0" algn="just">
              <a:buNone/>
            </a:pPr>
            <a:r>
              <a:rPr lang="en-IN" sz="2600" baseline="30000" dirty="0"/>
              <a:t>	</a:t>
            </a:r>
            <a:r>
              <a:rPr lang="en-IN" sz="2600" dirty="0"/>
              <a:t>= 1/(</a:t>
            </a:r>
            <a:r>
              <a:rPr lang="en-IN" sz="2600" dirty="0" smtClean="0"/>
              <a:t>1.12)</a:t>
            </a:r>
            <a:r>
              <a:rPr lang="en-IN" sz="2600" baseline="30000" dirty="0" smtClean="0"/>
              <a:t>4</a:t>
            </a:r>
            <a:r>
              <a:rPr lang="en-IN" sz="2600" dirty="0" smtClean="0"/>
              <a:t> </a:t>
            </a:r>
            <a:r>
              <a:rPr lang="en-IN" sz="2600" dirty="0">
                <a:solidFill>
                  <a:srgbClr val="FF0000"/>
                </a:solidFill>
              </a:rPr>
              <a:t>= </a:t>
            </a:r>
            <a:r>
              <a:rPr lang="en-IN" sz="2600" dirty="0" smtClean="0">
                <a:solidFill>
                  <a:srgbClr val="FF0000"/>
                </a:solidFill>
              </a:rPr>
              <a:t>0.635</a:t>
            </a:r>
            <a:endParaRPr lang="en-IN" sz="2600" dirty="0">
              <a:solidFill>
                <a:srgbClr val="FF0000"/>
              </a:solidFill>
            </a:endParaRPr>
          </a:p>
          <a:p>
            <a:pPr marL="0" indent="0" algn="just">
              <a:buNone/>
            </a:pPr>
            <a:r>
              <a:rPr lang="en-IN" sz="2600" dirty="0"/>
              <a:t>PV for </a:t>
            </a:r>
            <a:r>
              <a:rPr lang="en-IN" sz="2600" dirty="0" smtClean="0"/>
              <a:t>5</a:t>
            </a:r>
            <a:r>
              <a:rPr lang="en-IN" sz="2600" baseline="30000" dirty="0" smtClean="0"/>
              <a:t>th</a:t>
            </a:r>
            <a:r>
              <a:rPr lang="en-IN" sz="2600" dirty="0" smtClean="0"/>
              <a:t> </a:t>
            </a:r>
            <a:r>
              <a:rPr lang="en-IN" sz="2600" dirty="0"/>
              <a:t>year = 1/(</a:t>
            </a:r>
            <a:r>
              <a:rPr lang="en-IN" sz="2600" dirty="0" smtClean="0"/>
              <a:t>1+r)</a:t>
            </a:r>
            <a:r>
              <a:rPr lang="en-IN" sz="2600" baseline="30000" dirty="0" smtClean="0"/>
              <a:t>5</a:t>
            </a:r>
            <a:endParaRPr lang="en-IN" sz="2600" baseline="30000" dirty="0"/>
          </a:p>
          <a:p>
            <a:pPr marL="0" indent="0" algn="just">
              <a:buNone/>
            </a:pPr>
            <a:r>
              <a:rPr lang="en-IN" sz="2600" dirty="0"/>
              <a:t>	= 1/(</a:t>
            </a:r>
            <a:r>
              <a:rPr lang="en-IN" sz="2600" dirty="0" smtClean="0"/>
              <a:t>1+0.12)</a:t>
            </a:r>
            <a:r>
              <a:rPr lang="en-IN" sz="2600" baseline="30000" dirty="0" smtClean="0"/>
              <a:t>5</a:t>
            </a:r>
            <a:r>
              <a:rPr lang="en-IN" sz="2600" dirty="0" smtClean="0"/>
              <a:t> </a:t>
            </a:r>
            <a:endParaRPr lang="en-IN" sz="2600" dirty="0"/>
          </a:p>
          <a:p>
            <a:pPr marL="0" indent="0" algn="just">
              <a:buNone/>
            </a:pPr>
            <a:r>
              <a:rPr lang="en-IN" sz="2600" baseline="30000" dirty="0"/>
              <a:t>	</a:t>
            </a:r>
            <a:r>
              <a:rPr lang="en-IN" sz="2600" dirty="0"/>
              <a:t>= 1/(1.12</a:t>
            </a:r>
            <a:r>
              <a:rPr lang="en-IN" sz="2600" dirty="0" smtClean="0"/>
              <a:t>) </a:t>
            </a:r>
            <a:r>
              <a:rPr lang="en-IN" sz="2600" dirty="0">
                <a:solidFill>
                  <a:srgbClr val="FF0000"/>
                </a:solidFill>
              </a:rPr>
              <a:t>= </a:t>
            </a:r>
            <a:r>
              <a:rPr lang="en-IN" sz="2600" dirty="0" smtClean="0">
                <a:solidFill>
                  <a:srgbClr val="FF0000"/>
                </a:solidFill>
              </a:rPr>
              <a:t>0.567</a:t>
            </a:r>
            <a:endParaRPr lang="en-IN" sz="2600" baseline="30000" dirty="0">
              <a:solidFill>
                <a:srgbClr val="FF0000"/>
              </a:solidFill>
            </a:endParaRPr>
          </a:p>
          <a:p>
            <a:pPr marL="0" indent="0" algn="just">
              <a:buNone/>
            </a:pPr>
            <a:endParaRPr lang="en-IN" sz="2600" dirty="0"/>
          </a:p>
          <a:p>
            <a:pPr marL="0" indent="0">
              <a:buNone/>
            </a:pP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82282" y="45407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119309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4286"/>
            <a:ext cx="10515600" cy="5373399"/>
          </a:xfrm>
        </p:spPr>
        <p:txBody>
          <a:bodyPr>
            <a:normAutofit/>
          </a:bodyPr>
          <a:lstStyle/>
          <a:p>
            <a:pPr marL="0" indent="0" algn="just">
              <a:buNone/>
            </a:pPr>
            <a:r>
              <a:rPr lang="en-IN" sz="2600" dirty="0" smtClean="0"/>
              <a:t>P2. Calculate the present value of Rs. 2,00,000 to be received after 7 years  at 10% compounded annually.</a:t>
            </a:r>
          </a:p>
          <a:p>
            <a:pPr marL="0" indent="0" algn="just">
              <a:buNone/>
            </a:pPr>
            <a:r>
              <a:rPr lang="en-IN" sz="2600" b="1" dirty="0" smtClean="0">
                <a:solidFill>
                  <a:srgbClr val="FF0000"/>
                </a:solidFill>
              </a:rPr>
              <a:t>Solution:</a:t>
            </a:r>
          </a:p>
          <a:p>
            <a:pPr marL="0" indent="0" algn="just">
              <a:buNone/>
            </a:pPr>
            <a:r>
              <a:rPr lang="en-IN" sz="2600" dirty="0" smtClean="0"/>
              <a:t>PV = FV[1</a:t>
            </a:r>
            <a:r>
              <a:rPr lang="en-IN" sz="2600" dirty="0"/>
              <a:t>/(1+r)</a:t>
            </a:r>
            <a:r>
              <a:rPr lang="en-IN" sz="2600" baseline="30000" dirty="0"/>
              <a:t>n</a:t>
            </a:r>
            <a:r>
              <a:rPr lang="en-IN" sz="2600" dirty="0" smtClean="0"/>
              <a:t>]</a:t>
            </a:r>
          </a:p>
          <a:p>
            <a:pPr marL="0" indent="0" algn="just">
              <a:buNone/>
            </a:pPr>
            <a:r>
              <a:rPr lang="en-IN" sz="2600" dirty="0" smtClean="0"/>
              <a:t>= Rs. 2,00,000[1/(1+0.10)</a:t>
            </a:r>
            <a:r>
              <a:rPr lang="en-IN" sz="2600" baseline="30000" dirty="0" smtClean="0"/>
              <a:t>7</a:t>
            </a:r>
          </a:p>
          <a:p>
            <a:pPr marL="0" indent="0" algn="just">
              <a:buNone/>
            </a:pPr>
            <a:r>
              <a:rPr lang="en-IN" sz="2600" dirty="0" smtClean="0"/>
              <a:t>= Rs. 2,00,000[1/(1.10)</a:t>
            </a:r>
            <a:r>
              <a:rPr lang="en-IN" sz="2600" baseline="30000" dirty="0" smtClean="0"/>
              <a:t>7</a:t>
            </a:r>
          </a:p>
          <a:p>
            <a:pPr marL="0" indent="0" algn="just">
              <a:buNone/>
            </a:pPr>
            <a:r>
              <a:rPr lang="en-IN" sz="2600" dirty="0" smtClean="0"/>
              <a:t>= Rs. 2,00,000 × 1/1.9487</a:t>
            </a:r>
          </a:p>
          <a:p>
            <a:pPr marL="0" indent="0" algn="just">
              <a:buNone/>
            </a:pPr>
            <a:r>
              <a:rPr lang="en-IN" sz="2600" dirty="0" smtClean="0">
                <a:solidFill>
                  <a:srgbClr val="FF0000"/>
                </a:solidFill>
              </a:rPr>
              <a:t>PV = Rs. 1,02,633</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2278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278161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99425"/>
            <a:ext cx="10515600" cy="5387254"/>
          </a:xfrm>
        </p:spPr>
        <p:txBody>
          <a:bodyPr>
            <a:normAutofit/>
          </a:bodyPr>
          <a:lstStyle/>
          <a:p>
            <a:pPr marL="0" indent="0" algn="just">
              <a:buNone/>
            </a:pPr>
            <a:r>
              <a:rPr lang="en-IN" sz="2600" dirty="0" smtClean="0"/>
              <a:t>P3. </a:t>
            </a:r>
            <a:r>
              <a:rPr lang="en-IN" sz="2600" dirty="0"/>
              <a:t>D</a:t>
            </a:r>
            <a:r>
              <a:rPr lang="en-IN" sz="2600" dirty="0" smtClean="0"/>
              <a:t>etermine the present value of Rs. 78,67,597 receivable at the end of 4</a:t>
            </a:r>
            <a:r>
              <a:rPr lang="en-IN" sz="2600" baseline="30000" dirty="0" smtClean="0"/>
              <a:t>th</a:t>
            </a:r>
            <a:r>
              <a:rPr lang="en-IN" sz="2600" dirty="0" smtClean="0"/>
              <a:t> year at an effective rate of interest of 12% p.a.?</a:t>
            </a:r>
          </a:p>
          <a:p>
            <a:pPr marL="0" indent="0" algn="just">
              <a:buNone/>
            </a:pPr>
            <a:r>
              <a:rPr lang="en-IN" sz="2600" b="1" dirty="0" smtClean="0">
                <a:solidFill>
                  <a:srgbClr val="FF0000"/>
                </a:solidFill>
              </a:rPr>
              <a:t>Solution:</a:t>
            </a:r>
          </a:p>
          <a:p>
            <a:pPr marL="0" indent="0" algn="just">
              <a:buNone/>
            </a:pPr>
            <a:r>
              <a:rPr lang="en-IN" sz="2600" dirty="0" smtClean="0"/>
              <a:t>PV = FV[1/(1+r)</a:t>
            </a:r>
            <a:r>
              <a:rPr lang="en-IN" sz="2600" baseline="30000" dirty="0" smtClean="0"/>
              <a:t>n</a:t>
            </a:r>
            <a:r>
              <a:rPr lang="en-IN" sz="2600" dirty="0" smtClean="0"/>
              <a:t>]</a:t>
            </a:r>
          </a:p>
          <a:p>
            <a:pPr marL="0" indent="0" algn="just">
              <a:buNone/>
            </a:pPr>
            <a:r>
              <a:rPr lang="en-IN" sz="2600" dirty="0" smtClean="0"/>
              <a:t> = </a:t>
            </a:r>
            <a:r>
              <a:rPr lang="en-IN" sz="2600" dirty="0"/>
              <a:t>R</a:t>
            </a:r>
            <a:r>
              <a:rPr lang="en-IN" sz="2600" dirty="0" smtClean="0"/>
              <a:t>s. 78,67,597 [1/1+0.12)</a:t>
            </a:r>
            <a:r>
              <a:rPr lang="en-IN" sz="2600" baseline="30000" dirty="0" smtClean="0"/>
              <a:t>4</a:t>
            </a:r>
            <a:r>
              <a:rPr lang="en-IN" sz="2600" dirty="0" smtClean="0"/>
              <a:t>]</a:t>
            </a:r>
            <a:r>
              <a:rPr lang="en-IN" sz="2600" baseline="30000" dirty="0" smtClean="0"/>
              <a:t> </a:t>
            </a:r>
          </a:p>
          <a:p>
            <a:pPr marL="0" indent="0" algn="just">
              <a:buNone/>
            </a:pPr>
            <a:r>
              <a:rPr lang="en-IN" sz="2600" baseline="30000" dirty="0"/>
              <a:t> </a:t>
            </a:r>
            <a:r>
              <a:rPr lang="en-IN" sz="2600" dirty="0" smtClean="0"/>
              <a:t>= Rs. 78,67,597[1/1.57352]</a:t>
            </a:r>
          </a:p>
          <a:p>
            <a:pPr marL="0" indent="0" algn="just">
              <a:buNone/>
            </a:pPr>
            <a:r>
              <a:rPr lang="en-IN" sz="2600" dirty="0" smtClean="0">
                <a:solidFill>
                  <a:srgbClr val="FF0000"/>
                </a:solidFill>
              </a:rPr>
              <a:t> = Rs. 50,00,000</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23681"/>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37399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691"/>
            <a:ext cx="10515600" cy="5290272"/>
          </a:xfrm>
        </p:spPr>
        <p:txBody>
          <a:bodyPr>
            <a:normAutofit/>
          </a:bodyPr>
          <a:lstStyle/>
          <a:p>
            <a:pPr marL="0" indent="0" algn="just">
              <a:buNone/>
            </a:pPr>
            <a:r>
              <a:rPr lang="en-IN" sz="2600" dirty="0" smtClean="0"/>
              <a:t>P4. Calculate the present value of Rs. 25,00,000, Rs. 30,00,000 and Rs. 40,00,000 at the end of 1</a:t>
            </a:r>
            <a:r>
              <a:rPr lang="en-IN" sz="2600" baseline="30000" dirty="0" smtClean="0"/>
              <a:t>st</a:t>
            </a:r>
            <a:r>
              <a:rPr lang="en-IN" sz="2600" dirty="0" smtClean="0"/>
              <a:t> year, 2</a:t>
            </a:r>
            <a:r>
              <a:rPr lang="en-IN" sz="2600" baseline="30000" dirty="0" smtClean="0"/>
              <a:t>nd</a:t>
            </a:r>
            <a:r>
              <a:rPr lang="en-IN" sz="2600" dirty="0" smtClean="0"/>
              <a:t> year and 3</a:t>
            </a:r>
            <a:r>
              <a:rPr lang="en-IN" sz="2600" baseline="30000" dirty="0" smtClean="0"/>
              <a:t>rd</a:t>
            </a:r>
            <a:r>
              <a:rPr lang="en-IN" sz="2600" dirty="0" smtClean="0"/>
              <a:t> year respectively at an effective rate of interest of 12% p.a.</a:t>
            </a:r>
          </a:p>
          <a:p>
            <a:pPr marL="0" indent="0" algn="just">
              <a:buNone/>
            </a:pPr>
            <a:r>
              <a:rPr lang="en-IN" sz="2600" b="1" dirty="0" smtClean="0">
                <a:solidFill>
                  <a:srgbClr val="FF0000"/>
                </a:solidFill>
              </a:rPr>
              <a:t>Solution:</a:t>
            </a:r>
          </a:p>
          <a:p>
            <a:pPr marL="0" indent="0" algn="just">
              <a:buNone/>
            </a:pPr>
            <a:r>
              <a:rPr lang="en-IN" sz="2600" dirty="0"/>
              <a:t>PV = FV[1/(</a:t>
            </a:r>
            <a:r>
              <a:rPr lang="en-IN" sz="2600" dirty="0" smtClean="0"/>
              <a:t>1+r)</a:t>
            </a:r>
            <a:r>
              <a:rPr lang="en-IN" sz="2600" baseline="30000" dirty="0" smtClean="0"/>
              <a:t>n</a:t>
            </a:r>
            <a:r>
              <a:rPr lang="en-IN" sz="2600" dirty="0" smtClean="0"/>
              <a:t>]</a:t>
            </a:r>
            <a:endParaRPr lang="en-IN" sz="2600" dirty="0"/>
          </a:p>
          <a:p>
            <a:pPr marL="0" indent="0" algn="just">
              <a:buNone/>
            </a:pPr>
            <a:endParaRPr lang="en-IN" sz="2600" dirty="0" smtClean="0">
              <a:solidFill>
                <a:srgbClr val="FF0000"/>
              </a:solidFill>
            </a:endParaRPr>
          </a:p>
          <a:p>
            <a:pPr marL="0" indent="0" algn="just">
              <a:buNone/>
            </a:pPr>
            <a:endParaRPr lang="en-IN" sz="2600" dirty="0"/>
          </a:p>
        </p:txBody>
      </p:sp>
      <p:graphicFrame>
        <p:nvGraphicFramePr>
          <p:cNvPr id="4" name="Table 3"/>
          <p:cNvGraphicFramePr>
            <a:graphicFrameLocks noGrp="1"/>
          </p:cNvGraphicFramePr>
          <p:nvPr>
            <p:extLst>
              <p:ext uri="{D42A27DB-BD31-4B8C-83A1-F6EECF244321}">
                <p14:modId xmlns:p14="http://schemas.microsoft.com/office/powerpoint/2010/main" val="2640143634"/>
              </p:ext>
            </p:extLst>
          </p:nvPr>
        </p:nvGraphicFramePr>
        <p:xfrm>
          <a:off x="838200" y="3116502"/>
          <a:ext cx="10515601" cy="2733040"/>
        </p:xfrm>
        <a:graphic>
          <a:graphicData uri="http://schemas.openxmlformats.org/drawingml/2006/table">
            <a:tbl>
              <a:tblPr firstRow="1" bandRow="1">
                <a:tableStyleId>{5C22544A-7EE6-4342-B048-85BDC9FD1C3A}</a:tableStyleId>
              </a:tblPr>
              <a:tblGrid>
                <a:gridCol w="491836">
                  <a:extLst>
                    <a:ext uri="{9D8B030D-6E8A-4147-A177-3AD203B41FA5}">
                      <a16:colId xmlns:a16="http://schemas.microsoft.com/office/drawing/2014/main" val="3876955892"/>
                    </a:ext>
                  </a:extLst>
                </a:gridCol>
                <a:gridCol w="3588328">
                  <a:extLst>
                    <a:ext uri="{9D8B030D-6E8A-4147-A177-3AD203B41FA5}">
                      <a16:colId xmlns:a16="http://schemas.microsoft.com/office/drawing/2014/main" val="756513658"/>
                    </a:ext>
                  </a:extLst>
                </a:gridCol>
                <a:gridCol w="1717963">
                  <a:extLst>
                    <a:ext uri="{9D8B030D-6E8A-4147-A177-3AD203B41FA5}">
                      <a16:colId xmlns:a16="http://schemas.microsoft.com/office/drawing/2014/main" val="303340782"/>
                    </a:ext>
                  </a:extLst>
                </a:gridCol>
                <a:gridCol w="1648691">
                  <a:extLst>
                    <a:ext uri="{9D8B030D-6E8A-4147-A177-3AD203B41FA5}">
                      <a16:colId xmlns:a16="http://schemas.microsoft.com/office/drawing/2014/main" val="1871742576"/>
                    </a:ext>
                  </a:extLst>
                </a:gridCol>
                <a:gridCol w="1579419">
                  <a:extLst>
                    <a:ext uri="{9D8B030D-6E8A-4147-A177-3AD203B41FA5}">
                      <a16:colId xmlns:a16="http://schemas.microsoft.com/office/drawing/2014/main" val="2724143072"/>
                    </a:ext>
                  </a:extLst>
                </a:gridCol>
                <a:gridCol w="1489364">
                  <a:extLst>
                    <a:ext uri="{9D8B030D-6E8A-4147-A177-3AD203B41FA5}">
                      <a16:colId xmlns:a16="http://schemas.microsoft.com/office/drawing/2014/main" val="3458582173"/>
                    </a:ext>
                  </a:extLst>
                </a:gridCol>
              </a:tblGrid>
              <a:tr h="370840">
                <a:tc gridSpan="2">
                  <a:txBody>
                    <a:bodyPr/>
                    <a:lstStyle/>
                    <a:p>
                      <a:pPr algn="ctr"/>
                      <a:r>
                        <a:rPr lang="en-IN" sz="1800" dirty="0" smtClean="0"/>
                        <a:t>Particulars </a:t>
                      </a:r>
                      <a:endParaRPr lang="en-IN" sz="1800" dirty="0"/>
                    </a:p>
                  </a:txBody>
                  <a:tcPr/>
                </a:tc>
                <a:tc hMerge="1">
                  <a:txBody>
                    <a:bodyPr/>
                    <a:lstStyle/>
                    <a:p>
                      <a:endParaRPr lang="en-IN"/>
                    </a:p>
                  </a:txBody>
                  <a:tcPr/>
                </a:tc>
                <a:tc>
                  <a:txBody>
                    <a:bodyPr/>
                    <a:lstStyle/>
                    <a:p>
                      <a:pPr algn="r"/>
                      <a:r>
                        <a:rPr lang="en-IN" sz="1800" dirty="0" smtClean="0"/>
                        <a:t>Year 1</a:t>
                      </a:r>
                      <a:endParaRPr lang="en-IN" sz="1800" dirty="0"/>
                    </a:p>
                  </a:txBody>
                  <a:tcPr/>
                </a:tc>
                <a:tc>
                  <a:txBody>
                    <a:bodyPr/>
                    <a:lstStyle/>
                    <a:p>
                      <a:pPr algn="r"/>
                      <a:r>
                        <a:rPr lang="en-IN" sz="1800" dirty="0" smtClean="0"/>
                        <a:t>Year 2</a:t>
                      </a:r>
                      <a:endParaRPr lang="en-IN" sz="1800" dirty="0"/>
                    </a:p>
                  </a:txBody>
                  <a:tcPr/>
                </a:tc>
                <a:tc>
                  <a:txBody>
                    <a:bodyPr/>
                    <a:lstStyle/>
                    <a:p>
                      <a:pPr algn="r"/>
                      <a:r>
                        <a:rPr lang="en-IN" sz="1800" dirty="0" smtClean="0"/>
                        <a:t>Year 3</a:t>
                      </a:r>
                      <a:endParaRPr lang="en-IN" sz="1800" dirty="0"/>
                    </a:p>
                  </a:txBody>
                  <a:tcPr/>
                </a:tc>
                <a:tc>
                  <a:txBody>
                    <a:bodyPr/>
                    <a:lstStyle/>
                    <a:p>
                      <a:pPr algn="r"/>
                      <a:r>
                        <a:rPr lang="en-IN" sz="1800" dirty="0" smtClean="0"/>
                        <a:t>Total</a:t>
                      </a:r>
                      <a:endParaRPr lang="en-IN" sz="1800" dirty="0"/>
                    </a:p>
                  </a:txBody>
                  <a:tcPr/>
                </a:tc>
                <a:extLst>
                  <a:ext uri="{0D108BD9-81ED-4DB2-BD59-A6C34878D82A}">
                    <a16:rowId xmlns:a16="http://schemas.microsoft.com/office/drawing/2014/main" val="3258000724"/>
                  </a:ext>
                </a:extLst>
              </a:tr>
              <a:tr h="370840">
                <a:tc>
                  <a:txBody>
                    <a:bodyPr/>
                    <a:lstStyle/>
                    <a:p>
                      <a:r>
                        <a:rPr lang="en-IN" sz="2500" dirty="0" smtClean="0"/>
                        <a:t>A</a:t>
                      </a:r>
                      <a:endParaRPr lang="en-IN" sz="2500" dirty="0"/>
                    </a:p>
                  </a:txBody>
                  <a:tcPr/>
                </a:tc>
                <a:tc>
                  <a:txBody>
                    <a:bodyPr/>
                    <a:lstStyle/>
                    <a:p>
                      <a:r>
                        <a:rPr lang="en-IN" sz="2500" dirty="0" smtClean="0"/>
                        <a:t>Future Value (Rs.) </a:t>
                      </a:r>
                      <a:endParaRPr lang="en-IN" sz="2500" dirty="0"/>
                    </a:p>
                  </a:txBody>
                  <a:tcPr/>
                </a:tc>
                <a:tc>
                  <a:txBody>
                    <a:bodyPr/>
                    <a:lstStyle/>
                    <a:p>
                      <a:pPr algn="r"/>
                      <a:r>
                        <a:rPr lang="en-IN" sz="2500" dirty="0" smtClean="0"/>
                        <a:t>25,00,000</a:t>
                      </a:r>
                      <a:endParaRPr lang="en-IN" sz="2500" dirty="0"/>
                    </a:p>
                  </a:txBody>
                  <a:tcPr/>
                </a:tc>
                <a:tc>
                  <a:txBody>
                    <a:bodyPr/>
                    <a:lstStyle/>
                    <a:p>
                      <a:pPr algn="r"/>
                      <a:r>
                        <a:rPr lang="en-IN" sz="2500" dirty="0" smtClean="0"/>
                        <a:t>30,00,000</a:t>
                      </a:r>
                      <a:endParaRPr lang="en-IN" sz="2500" dirty="0"/>
                    </a:p>
                  </a:txBody>
                  <a:tcPr/>
                </a:tc>
                <a:tc>
                  <a:txBody>
                    <a:bodyPr/>
                    <a:lstStyle/>
                    <a:p>
                      <a:pPr algn="r"/>
                      <a:r>
                        <a:rPr lang="en-IN" sz="2500" dirty="0" smtClean="0"/>
                        <a:t>40,00,000</a:t>
                      </a:r>
                      <a:endParaRPr lang="en-IN" sz="2500" dirty="0"/>
                    </a:p>
                  </a:txBody>
                  <a:tcPr/>
                </a:tc>
                <a:tc>
                  <a:txBody>
                    <a:bodyPr/>
                    <a:lstStyle/>
                    <a:p>
                      <a:pPr algn="r"/>
                      <a:r>
                        <a:rPr lang="en-IN" sz="2500" dirty="0" smtClean="0"/>
                        <a:t>95,00,000</a:t>
                      </a:r>
                      <a:endParaRPr lang="en-IN" sz="2500" dirty="0"/>
                    </a:p>
                  </a:txBody>
                  <a:tcPr/>
                </a:tc>
                <a:extLst>
                  <a:ext uri="{0D108BD9-81ED-4DB2-BD59-A6C34878D82A}">
                    <a16:rowId xmlns:a16="http://schemas.microsoft.com/office/drawing/2014/main" val="2268061691"/>
                  </a:ext>
                </a:extLst>
              </a:tr>
              <a:tr h="370840">
                <a:tc>
                  <a:txBody>
                    <a:bodyPr/>
                    <a:lstStyle/>
                    <a:p>
                      <a:r>
                        <a:rPr lang="en-IN" sz="2500" dirty="0" smtClean="0"/>
                        <a:t>B</a:t>
                      </a:r>
                      <a:endParaRPr lang="en-IN" sz="2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500" dirty="0" smtClean="0"/>
                        <a:t>Years </a:t>
                      </a:r>
                    </a:p>
                  </a:txBody>
                  <a:tcPr/>
                </a:tc>
                <a:tc>
                  <a:txBody>
                    <a:bodyPr/>
                    <a:lstStyle/>
                    <a:p>
                      <a:pPr algn="r"/>
                      <a:r>
                        <a:rPr lang="en-IN" sz="2500" dirty="0" smtClean="0"/>
                        <a:t>1</a:t>
                      </a:r>
                      <a:endParaRPr lang="en-IN" sz="2500" dirty="0"/>
                    </a:p>
                  </a:txBody>
                  <a:tcPr/>
                </a:tc>
                <a:tc>
                  <a:txBody>
                    <a:bodyPr/>
                    <a:lstStyle/>
                    <a:p>
                      <a:pPr algn="r"/>
                      <a:r>
                        <a:rPr lang="en-IN" sz="2500" dirty="0" smtClean="0"/>
                        <a:t>2</a:t>
                      </a:r>
                      <a:endParaRPr lang="en-IN" sz="2500" dirty="0"/>
                    </a:p>
                  </a:txBody>
                  <a:tcPr/>
                </a:tc>
                <a:tc>
                  <a:txBody>
                    <a:bodyPr/>
                    <a:lstStyle/>
                    <a:p>
                      <a:pPr algn="r"/>
                      <a:r>
                        <a:rPr lang="en-IN" sz="2500" dirty="0" smtClean="0"/>
                        <a:t>3</a:t>
                      </a:r>
                      <a:endParaRPr lang="en-IN" sz="2500" dirty="0"/>
                    </a:p>
                  </a:txBody>
                  <a:tcPr/>
                </a:tc>
                <a:tc>
                  <a:txBody>
                    <a:bodyPr/>
                    <a:lstStyle/>
                    <a:p>
                      <a:pPr algn="r"/>
                      <a:endParaRPr lang="en-IN" sz="2500"/>
                    </a:p>
                  </a:txBody>
                  <a:tcPr/>
                </a:tc>
                <a:extLst>
                  <a:ext uri="{0D108BD9-81ED-4DB2-BD59-A6C34878D82A}">
                    <a16:rowId xmlns:a16="http://schemas.microsoft.com/office/drawing/2014/main" val="2263321560"/>
                  </a:ext>
                </a:extLst>
              </a:tr>
              <a:tr h="453814">
                <a:tc>
                  <a:txBody>
                    <a:bodyPr/>
                    <a:lstStyle/>
                    <a:p>
                      <a:r>
                        <a:rPr lang="en-IN" sz="2500" dirty="0" smtClean="0"/>
                        <a:t>C</a:t>
                      </a:r>
                      <a:endParaRPr lang="en-IN" sz="25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500" dirty="0" smtClean="0"/>
                        <a:t>Rate of interest</a:t>
                      </a:r>
                    </a:p>
                  </a:txBody>
                  <a:tcPr/>
                </a:tc>
                <a:tc>
                  <a:txBody>
                    <a:bodyPr/>
                    <a:lstStyle/>
                    <a:p>
                      <a:pPr algn="r"/>
                      <a:r>
                        <a:rPr lang="en-IN" sz="2500" dirty="0" smtClean="0"/>
                        <a:t>0.12</a:t>
                      </a:r>
                      <a:endParaRPr lang="en-IN" sz="2500" dirty="0"/>
                    </a:p>
                  </a:txBody>
                  <a:tcPr/>
                </a:tc>
                <a:tc>
                  <a:txBody>
                    <a:bodyPr/>
                    <a:lstStyle/>
                    <a:p>
                      <a:pPr algn="r"/>
                      <a:r>
                        <a:rPr lang="en-IN" sz="2500" dirty="0" smtClean="0"/>
                        <a:t>0.12</a:t>
                      </a:r>
                      <a:endParaRPr lang="en-IN" sz="2500" dirty="0"/>
                    </a:p>
                  </a:txBody>
                  <a:tcPr/>
                </a:tc>
                <a:tc>
                  <a:txBody>
                    <a:bodyPr/>
                    <a:lstStyle/>
                    <a:p>
                      <a:pPr algn="r"/>
                      <a:r>
                        <a:rPr lang="en-IN" sz="2500" dirty="0" smtClean="0"/>
                        <a:t>0.12</a:t>
                      </a:r>
                      <a:endParaRPr lang="en-IN" sz="2500" dirty="0"/>
                    </a:p>
                  </a:txBody>
                  <a:tcPr/>
                </a:tc>
                <a:tc>
                  <a:txBody>
                    <a:bodyPr/>
                    <a:lstStyle/>
                    <a:p>
                      <a:pPr algn="r"/>
                      <a:endParaRPr lang="en-IN" sz="2500" dirty="0"/>
                    </a:p>
                  </a:txBody>
                  <a:tcPr/>
                </a:tc>
                <a:extLst>
                  <a:ext uri="{0D108BD9-81ED-4DB2-BD59-A6C34878D82A}">
                    <a16:rowId xmlns:a16="http://schemas.microsoft.com/office/drawing/2014/main" val="3954068157"/>
                  </a:ext>
                </a:extLst>
              </a:tr>
              <a:tr h="370840">
                <a:tc>
                  <a:txBody>
                    <a:bodyPr/>
                    <a:lstStyle/>
                    <a:p>
                      <a:r>
                        <a:rPr lang="en-IN" sz="2500" baseline="0" dirty="0" smtClean="0"/>
                        <a:t>D</a:t>
                      </a:r>
                      <a:endParaRPr lang="en-IN" sz="250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500" dirty="0" smtClean="0"/>
                        <a:t> PV Factor [1/(1+r)</a:t>
                      </a:r>
                      <a:r>
                        <a:rPr lang="en-IN" sz="2500" baseline="30000" dirty="0" smtClean="0"/>
                        <a:t>n</a:t>
                      </a:r>
                      <a:r>
                        <a:rPr lang="en-IN" sz="2500" baseline="0" dirty="0" smtClean="0"/>
                        <a:t>]</a:t>
                      </a:r>
                      <a:endParaRPr lang="en-IN" sz="2500" baseline="30000" dirty="0" smtClean="0"/>
                    </a:p>
                  </a:txBody>
                  <a:tcPr/>
                </a:tc>
                <a:tc>
                  <a:txBody>
                    <a:bodyPr/>
                    <a:lstStyle/>
                    <a:p>
                      <a:pPr algn="r"/>
                      <a:r>
                        <a:rPr lang="en-IN" sz="2500" dirty="0" smtClean="0"/>
                        <a:t>0.8929</a:t>
                      </a:r>
                      <a:endParaRPr lang="en-IN" sz="2500" dirty="0"/>
                    </a:p>
                  </a:txBody>
                  <a:tcPr/>
                </a:tc>
                <a:tc>
                  <a:txBody>
                    <a:bodyPr/>
                    <a:lstStyle/>
                    <a:p>
                      <a:pPr algn="r"/>
                      <a:r>
                        <a:rPr lang="en-IN" sz="2500" dirty="0" smtClean="0"/>
                        <a:t>0.7972</a:t>
                      </a:r>
                      <a:endParaRPr lang="en-IN" sz="2500" dirty="0"/>
                    </a:p>
                  </a:txBody>
                  <a:tcPr/>
                </a:tc>
                <a:tc>
                  <a:txBody>
                    <a:bodyPr/>
                    <a:lstStyle/>
                    <a:p>
                      <a:pPr algn="r"/>
                      <a:r>
                        <a:rPr lang="en-IN" sz="2500" dirty="0" smtClean="0"/>
                        <a:t>0.7118</a:t>
                      </a:r>
                      <a:endParaRPr lang="en-IN" sz="2500" dirty="0"/>
                    </a:p>
                  </a:txBody>
                  <a:tcPr/>
                </a:tc>
                <a:tc>
                  <a:txBody>
                    <a:bodyPr/>
                    <a:lstStyle/>
                    <a:p>
                      <a:pPr algn="r"/>
                      <a:endParaRPr lang="en-IN" sz="2500" dirty="0"/>
                    </a:p>
                  </a:txBody>
                  <a:tcPr/>
                </a:tc>
                <a:extLst>
                  <a:ext uri="{0D108BD9-81ED-4DB2-BD59-A6C34878D82A}">
                    <a16:rowId xmlns:a16="http://schemas.microsoft.com/office/drawing/2014/main" val="4181476826"/>
                  </a:ext>
                </a:extLst>
              </a:tr>
              <a:tr h="370840">
                <a:tc>
                  <a:txBody>
                    <a:bodyPr/>
                    <a:lstStyle/>
                    <a:p>
                      <a:r>
                        <a:rPr lang="en-IN" sz="2500" b="1" baseline="0" dirty="0" smtClean="0">
                          <a:solidFill>
                            <a:srgbClr val="FF0000"/>
                          </a:solidFill>
                        </a:rPr>
                        <a:t>E</a:t>
                      </a:r>
                      <a:endParaRPr lang="en-IN" sz="2500" b="1" baseline="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500" b="1" baseline="0" dirty="0" smtClean="0">
                          <a:solidFill>
                            <a:srgbClr val="FF0000"/>
                          </a:solidFill>
                        </a:rPr>
                        <a:t>Present Value (Rs.)  [A×D]</a:t>
                      </a:r>
                    </a:p>
                  </a:txBody>
                  <a:tcPr/>
                </a:tc>
                <a:tc>
                  <a:txBody>
                    <a:bodyPr/>
                    <a:lstStyle/>
                    <a:p>
                      <a:pPr algn="r"/>
                      <a:r>
                        <a:rPr lang="en-IN" sz="2500" b="1" dirty="0" smtClean="0">
                          <a:solidFill>
                            <a:srgbClr val="FF0000"/>
                          </a:solidFill>
                        </a:rPr>
                        <a:t>22,32,250</a:t>
                      </a:r>
                      <a:endParaRPr lang="en-IN" sz="2500" b="1" dirty="0">
                        <a:solidFill>
                          <a:srgbClr val="FF0000"/>
                        </a:solidFill>
                      </a:endParaRPr>
                    </a:p>
                  </a:txBody>
                  <a:tcPr/>
                </a:tc>
                <a:tc>
                  <a:txBody>
                    <a:bodyPr/>
                    <a:lstStyle/>
                    <a:p>
                      <a:pPr algn="r"/>
                      <a:r>
                        <a:rPr lang="en-IN" sz="2500" b="1" dirty="0" smtClean="0">
                          <a:solidFill>
                            <a:srgbClr val="FF0000"/>
                          </a:solidFill>
                        </a:rPr>
                        <a:t>23,91,600</a:t>
                      </a:r>
                      <a:endParaRPr lang="en-IN" sz="2500" b="1" dirty="0">
                        <a:solidFill>
                          <a:srgbClr val="FF0000"/>
                        </a:solidFill>
                      </a:endParaRPr>
                    </a:p>
                  </a:txBody>
                  <a:tcPr/>
                </a:tc>
                <a:tc>
                  <a:txBody>
                    <a:bodyPr/>
                    <a:lstStyle/>
                    <a:p>
                      <a:pPr algn="r"/>
                      <a:r>
                        <a:rPr lang="en-IN" sz="2500" b="1" dirty="0" smtClean="0">
                          <a:solidFill>
                            <a:srgbClr val="FF0000"/>
                          </a:solidFill>
                        </a:rPr>
                        <a:t>28,47,200</a:t>
                      </a:r>
                      <a:endParaRPr lang="en-IN" sz="2500" b="1" dirty="0">
                        <a:solidFill>
                          <a:srgbClr val="FF0000"/>
                        </a:solidFill>
                      </a:endParaRPr>
                    </a:p>
                  </a:txBody>
                  <a:tcPr/>
                </a:tc>
                <a:tc>
                  <a:txBody>
                    <a:bodyPr/>
                    <a:lstStyle/>
                    <a:p>
                      <a:pPr algn="r"/>
                      <a:r>
                        <a:rPr lang="en-IN" sz="2500" b="1" dirty="0" smtClean="0">
                          <a:solidFill>
                            <a:srgbClr val="FF0000"/>
                          </a:solidFill>
                        </a:rPr>
                        <a:t>74,71,050</a:t>
                      </a:r>
                      <a:endParaRPr lang="en-IN" sz="2500" b="1" dirty="0">
                        <a:solidFill>
                          <a:srgbClr val="FF0000"/>
                        </a:solidFill>
                      </a:endParaRPr>
                    </a:p>
                  </a:txBody>
                  <a:tcPr/>
                </a:tc>
                <a:extLst>
                  <a:ext uri="{0D108BD9-81ED-4DB2-BD59-A6C34878D82A}">
                    <a16:rowId xmlns:a16="http://schemas.microsoft.com/office/drawing/2014/main" val="1423649636"/>
                  </a:ext>
                </a:extLst>
              </a:tr>
            </a:tbl>
          </a:graphicData>
        </a:graphic>
      </p:graphicFrame>
      <p:pic>
        <p:nvPicPr>
          <p:cNvPr id="5"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1" y="38792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763164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3" y="568036"/>
            <a:ext cx="10515600" cy="6172815"/>
          </a:xfrm>
        </p:spPr>
        <p:txBody>
          <a:bodyPr>
            <a:normAutofit/>
          </a:bodyPr>
          <a:lstStyle/>
          <a:p>
            <a:pPr marL="0" indent="0">
              <a:buNone/>
            </a:pPr>
            <a:r>
              <a:rPr lang="en-IN" sz="2600" dirty="0" smtClean="0"/>
              <a:t>P5. The expected cash flows are as follows:</a:t>
            </a:r>
          </a:p>
          <a:p>
            <a:pPr marL="0" indent="0">
              <a:buNone/>
            </a:pPr>
            <a:endParaRPr lang="en-IN" sz="2600" dirty="0"/>
          </a:p>
          <a:p>
            <a:pPr marL="0" indent="0">
              <a:buNone/>
            </a:pPr>
            <a:endParaRPr lang="en-IN" sz="2600" dirty="0" smtClean="0"/>
          </a:p>
          <a:p>
            <a:pPr marL="0" indent="0" algn="just">
              <a:buNone/>
            </a:pPr>
            <a:r>
              <a:rPr lang="en-IN" sz="2600" dirty="0" smtClean="0"/>
              <a:t>Discount rate is 16%. Find out present value of each cash flows using P.V table.</a:t>
            </a:r>
          </a:p>
          <a:p>
            <a:pPr marL="0" indent="0">
              <a:buNone/>
            </a:pPr>
            <a:r>
              <a:rPr lang="en-IN" sz="2600" b="1" dirty="0" smtClean="0">
                <a:solidFill>
                  <a:srgbClr val="FF0000"/>
                </a:solidFill>
              </a:rPr>
              <a:t>Solution:                   Statement showing PV of cash inflows</a:t>
            </a:r>
          </a:p>
          <a:p>
            <a:pPr marL="0" indent="0" algn="ctr">
              <a:buNone/>
            </a:pPr>
            <a:endParaRPr lang="en-IN" sz="2600"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848961532"/>
              </p:ext>
            </p:extLst>
          </p:nvPr>
        </p:nvGraphicFramePr>
        <p:xfrm>
          <a:off x="838187" y="969049"/>
          <a:ext cx="10515606" cy="916555"/>
        </p:xfrm>
        <a:graphic>
          <a:graphicData uri="http://schemas.openxmlformats.org/drawingml/2006/table">
            <a:tbl>
              <a:tblPr firstRow="1" bandRow="1">
                <a:tableStyleId>{5C22544A-7EE6-4342-B048-85BDC9FD1C3A}</a:tableStyleId>
              </a:tblPr>
              <a:tblGrid>
                <a:gridCol w="4454243">
                  <a:extLst>
                    <a:ext uri="{9D8B030D-6E8A-4147-A177-3AD203B41FA5}">
                      <a16:colId xmlns:a16="http://schemas.microsoft.com/office/drawing/2014/main" val="2183072512"/>
                    </a:ext>
                  </a:extLst>
                </a:gridCol>
                <a:gridCol w="1177637">
                  <a:extLst>
                    <a:ext uri="{9D8B030D-6E8A-4147-A177-3AD203B41FA5}">
                      <a16:colId xmlns:a16="http://schemas.microsoft.com/office/drawing/2014/main" val="3548369485"/>
                    </a:ext>
                  </a:extLst>
                </a:gridCol>
                <a:gridCol w="1357745">
                  <a:extLst>
                    <a:ext uri="{9D8B030D-6E8A-4147-A177-3AD203B41FA5}">
                      <a16:colId xmlns:a16="http://schemas.microsoft.com/office/drawing/2014/main" val="2863148111"/>
                    </a:ext>
                  </a:extLst>
                </a:gridCol>
                <a:gridCol w="1191491">
                  <a:extLst>
                    <a:ext uri="{9D8B030D-6E8A-4147-A177-3AD203B41FA5}">
                      <a16:colId xmlns:a16="http://schemas.microsoft.com/office/drawing/2014/main" val="1161190142"/>
                    </a:ext>
                  </a:extLst>
                </a:gridCol>
                <a:gridCol w="1191491">
                  <a:extLst>
                    <a:ext uri="{9D8B030D-6E8A-4147-A177-3AD203B41FA5}">
                      <a16:colId xmlns:a16="http://schemas.microsoft.com/office/drawing/2014/main" val="1728351226"/>
                    </a:ext>
                  </a:extLst>
                </a:gridCol>
                <a:gridCol w="1142999">
                  <a:extLst>
                    <a:ext uri="{9D8B030D-6E8A-4147-A177-3AD203B41FA5}">
                      <a16:colId xmlns:a16="http://schemas.microsoft.com/office/drawing/2014/main" val="1790792460"/>
                    </a:ext>
                  </a:extLst>
                </a:gridCol>
              </a:tblGrid>
              <a:tr h="444115">
                <a:tc>
                  <a:txBody>
                    <a:bodyPr/>
                    <a:lstStyle/>
                    <a:p>
                      <a:pPr algn="ctr"/>
                      <a:r>
                        <a:rPr lang="en-IN" sz="1800" dirty="0" smtClean="0"/>
                        <a:t>Year </a:t>
                      </a:r>
                      <a:endParaRPr lang="en-IN" sz="1800" dirty="0"/>
                    </a:p>
                  </a:txBody>
                  <a:tcPr/>
                </a:tc>
                <a:tc>
                  <a:txBody>
                    <a:bodyPr/>
                    <a:lstStyle/>
                    <a:p>
                      <a:pPr algn="ctr"/>
                      <a:r>
                        <a:rPr lang="en-IN" sz="1800" dirty="0" smtClean="0"/>
                        <a:t>1</a:t>
                      </a:r>
                      <a:endParaRPr lang="en-IN" sz="1800" dirty="0"/>
                    </a:p>
                  </a:txBody>
                  <a:tcPr/>
                </a:tc>
                <a:tc>
                  <a:txBody>
                    <a:bodyPr/>
                    <a:lstStyle/>
                    <a:p>
                      <a:pPr algn="ctr"/>
                      <a:r>
                        <a:rPr lang="en-IN" sz="1800" dirty="0" smtClean="0"/>
                        <a:t>2</a:t>
                      </a:r>
                      <a:endParaRPr lang="en-IN" sz="1800" dirty="0"/>
                    </a:p>
                  </a:txBody>
                  <a:tcPr/>
                </a:tc>
                <a:tc>
                  <a:txBody>
                    <a:bodyPr/>
                    <a:lstStyle/>
                    <a:p>
                      <a:pPr algn="ctr"/>
                      <a:r>
                        <a:rPr lang="en-IN" sz="1800" dirty="0" smtClean="0"/>
                        <a:t>3</a:t>
                      </a:r>
                      <a:endParaRPr lang="en-IN" sz="1800" dirty="0"/>
                    </a:p>
                  </a:txBody>
                  <a:tcPr/>
                </a:tc>
                <a:tc>
                  <a:txBody>
                    <a:bodyPr/>
                    <a:lstStyle/>
                    <a:p>
                      <a:pPr algn="ctr"/>
                      <a:r>
                        <a:rPr lang="en-IN" sz="1800" dirty="0" smtClean="0"/>
                        <a:t>4</a:t>
                      </a:r>
                      <a:endParaRPr lang="en-IN" sz="1800" dirty="0"/>
                    </a:p>
                  </a:txBody>
                  <a:tcPr/>
                </a:tc>
                <a:tc>
                  <a:txBody>
                    <a:bodyPr/>
                    <a:lstStyle/>
                    <a:p>
                      <a:pPr algn="ctr"/>
                      <a:r>
                        <a:rPr lang="en-IN" sz="1800" dirty="0" smtClean="0"/>
                        <a:t>5</a:t>
                      </a:r>
                      <a:endParaRPr lang="en-IN" sz="1800" dirty="0"/>
                    </a:p>
                  </a:txBody>
                  <a:tcPr/>
                </a:tc>
                <a:extLst>
                  <a:ext uri="{0D108BD9-81ED-4DB2-BD59-A6C34878D82A}">
                    <a16:rowId xmlns:a16="http://schemas.microsoft.com/office/drawing/2014/main" val="2520631951"/>
                  </a:ext>
                </a:extLst>
              </a:tr>
              <a:tr h="370840">
                <a:tc>
                  <a:txBody>
                    <a:bodyPr/>
                    <a:lstStyle/>
                    <a:p>
                      <a:r>
                        <a:rPr lang="en-IN" sz="2500" dirty="0" smtClean="0"/>
                        <a:t>Cash</a:t>
                      </a:r>
                      <a:r>
                        <a:rPr lang="en-IN" sz="2500" baseline="0" dirty="0" smtClean="0"/>
                        <a:t> inflows (Rs.) </a:t>
                      </a:r>
                      <a:endParaRPr lang="en-IN" sz="2500" dirty="0"/>
                    </a:p>
                  </a:txBody>
                  <a:tcPr/>
                </a:tc>
                <a:tc>
                  <a:txBody>
                    <a:bodyPr/>
                    <a:lstStyle/>
                    <a:p>
                      <a:r>
                        <a:rPr lang="en-IN" sz="2500" dirty="0" smtClean="0"/>
                        <a:t>3,000</a:t>
                      </a:r>
                      <a:endParaRPr lang="en-IN" sz="2500" dirty="0"/>
                    </a:p>
                  </a:txBody>
                  <a:tcPr/>
                </a:tc>
                <a:tc>
                  <a:txBody>
                    <a:bodyPr/>
                    <a:lstStyle/>
                    <a:p>
                      <a:r>
                        <a:rPr lang="en-IN" sz="2500" dirty="0" smtClean="0"/>
                        <a:t>4,500</a:t>
                      </a:r>
                      <a:endParaRPr lang="en-IN" sz="2500" dirty="0"/>
                    </a:p>
                  </a:txBody>
                  <a:tcPr/>
                </a:tc>
                <a:tc>
                  <a:txBody>
                    <a:bodyPr/>
                    <a:lstStyle/>
                    <a:p>
                      <a:r>
                        <a:rPr lang="en-IN" sz="2500" dirty="0" smtClean="0"/>
                        <a:t>6,000</a:t>
                      </a:r>
                      <a:endParaRPr lang="en-IN" sz="2500" dirty="0"/>
                    </a:p>
                  </a:txBody>
                  <a:tcPr/>
                </a:tc>
                <a:tc>
                  <a:txBody>
                    <a:bodyPr/>
                    <a:lstStyle/>
                    <a:p>
                      <a:r>
                        <a:rPr lang="en-IN" sz="2500" dirty="0" smtClean="0"/>
                        <a:t>8,000</a:t>
                      </a:r>
                      <a:endParaRPr lang="en-IN" sz="2500" dirty="0"/>
                    </a:p>
                  </a:txBody>
                  <a:tcPr/>
                </a:tc>
                <a:tc>
                  <a:txBody>
                    <a:bodyPr/>
                    <a:lstStyle/>
                    <a:p>
                      <a:r>
                        <a:rPr lang="en-IN" sz="2500" dirty="0" smtClean="0"/>
                        <a:t>10,000</a:t>
                      </a:r>
                      <a:endParaRPr lang="en-IN" sz="2500" dirty="0"/>
                    </a:p>
                  </a:txBody>
                  <a:tcPr/>
                </a:tc>
                <a:extLst>
                  <a:ext uri="{0D108BD9-81ED-4DB2-BD59-A6C34878D82A}">
                    <a16:rowId xmlns:a16="http://schemas.microsoft.com/office/drawing/2014/main" val="411785624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41585776"/>
              </p:ext>
            </p:extLst>
          </p:nvPr>
        </p:nvGraphicFramePr>
        <p:xfrm>
          <a:off x="838185" y="3268902"/>
          <a:ext cx="10515608" cy="3169920"/>
        </p:xfrm>
        <a:graphic>
          <a:graphicData uri="http://schemas.openxmlformats.org/drawingml/2006/table">
            <a:tbl>
              <a:tblPr firstRow="1" bandRow="1">
                <a:tableStyleId>{5C22544A-7EE6-4342-B048-85BDC9FD1C3A}</a:tableStyleId>
              </a:tblPr>
              <a:tblGrid>
                <a:gridCol w="1198433">
                  <a:extLst>
                    <a:ext uri="{9D8B030D-6E8A-4147-A177-3AD203B41FA5}">
                      <a16:colId xmlns:a16="http://schemas.microsoft.com/office/drawing/2014/main" val="2617462434"/>
                    </a:ext>
                  </a:extLst>
                </a:gridCol>
                <a:gridCol w="3297382">
                  <a:extLst>
                    <a:ext uri="{9D8B030D-6E8A-4147-A177-3AD203B41FA5}">
                      <a16:colId xmlns:a16="http://schemas.microsoft.com/office/drawing/2014/main" val="3906026974"/>
                    </a:ext>
                  </a:extLst>
                </a:gridCol>
                <a:gridCol w="3394364">
                  <a:extLst>
                    <a:ext uri="{9D8B030D-6E8A-4147-A177-3AD203B41FA5}">
                      <a16:colId xmlns:a16="http://schemas.microsoft.com/office/drawing/2014/main" val="857508659"/>
                    </a:ext>
                  </a:extLst>
                </a:gridCol>
                <a:gridCol w="2625429">
                  <a:extLst>
                    <a:ext uri="{9D8B030D-6E8A-4147-A177-3AD203B41FA5}">
                      <a16:colId xmlns:a16="http://schemas.microsoft.com/office/drawing/2014/main" val="3237701306"/>
                    </a:ext>
                  </a:extLst>
                </a:gridCol>
              </a:tblGrid>
              <a:tr h="370840">
                <a:tc>
                  <a:txBody>
                    <a:bodyPr/>
                    <a:lstStyle/>
                    <a:p>
                      <a:pPr algn="ctr"/>
                      <a:r>
                        <a:rPr lang="en-IN" sz="2200" dirty="0" smtClean="0"/>
                        <a:t>Year </a:t>
                      </a:r>
                      <a:endParaRPr lang="en-IN" sz="2200" dirty="0"/>
                    </a:p>
                  </a:txBody>
                  <a:tcPr/>
                </a:tc>
                <a:tc>
                  <a:txBody>
                    <a:bodyPr/>
                    <a:lstStyle/>
                    <a:p>
                      <a:pPr algn="ctr"/>
                      <a:r>
                        <a:rPr lang="en-IN" sz="2200" dirty="0" smtClean="0"/>
                        <a:t>Cash flows (Rs.)</a:t>
                      </a:r>
                      <a:endParaRPr lang="en-IN" sz="2200" dirty="0"/>
                    </a:p>
                  </a:txBody>
                  <a:tcPr/>
                </a:tc>
                <a:tc>
                  <a:txBody>
                    <a:bodyPr/>
                    <a:lstStyle/>
                    <a:p>
                      <a:pPr algn="ctr"/>
                      <a:r>
                        <a:rPr lang="en-IN" sz="2200" dirty="0" smtClean="0"/>
                        <a:t>PV factor @16% </a:t>
                      </a:r>
                      <a:endParaRPr lang="en-IN" sz="2200" dirty="0"/>
                    </a:p>
                  </a:txBody>
                  <a:tcPr/>
                </a:tc>
                <a:tc>
                  <a:txBody>
                    <a:bodyPr/>
                    <a:lstStyle/>
                    <a:p>
                      <a:pPr algn="ctr"/>
                      <a:r>
                        <a:rPr lang="en-IN" sz="2200" dirty="0" smtClean="0"/>
                        <a:t>Present</a:t>
                      </a:r>
                      <a:r>
                        <a:rPr lang="en-IN" sz="2200" baseline="0" dirty="0" smtClean="0"/>
                        <a:t> Value (Rs.)</a:t>
                      </a:r>
                      <a:endParaRPr lang="en-IN" sz="2200" dirty="0"/>
                    </a:p>
                  </a:txBody>
                  <a:tcPr/>
                </a:tc>
                <a:extLst>
                  <a:ext uri="{0D108BD9-81ED-4DB2-BD59-A6C34878D82A}">
                    <a16:rowId xmlns:a16="http://schemas.microsoft.com/office/drawing/2014/main" val="2834645932"/>
                  </a:ext>
                </a:extLst>
              </a:tr>
              <a:tr h="370840">
                <a:tc>
                  <a:txBody>
                    <a:bodyPr/>
                    <a:lstStyle/>
                    <a:p>
                      <a:pPr algn="ctr"/>
                      <a:r>
                        <a:rPr lang="en-IN" sz="2400" dirty="0" smtClean="0"/>
                        <a:t>1</a:t>
                      </a:r>
                      <a:endParaRPr lang="en-IN" sz="2400" dirty="0"/>
                    </a:p>
                  </a:txBody>
                  <a:tcPr/>
                </a:tc>
                <a:tc>
                  <a:txBody>
                    <a:bodyPr/>
                    <a:lstStyle/>
                    <a:p>
                      <a:pPr algn="ctr"/>
                      <a:r>
                        <a:rPr lang="en-IN" sz="2400" dirty="0" smtClean="0"/>
                        <a:t>3,000</a:t>
                      </a:r>
                      <a:endParaRPr lang="en-IN" sz="2400" dirty="0"/>
                    </a:p>
                  </a:txBody>
                  <a:tcPr/>
                </a:tc>
                <a:tc>
                  <a:txBody>
                    <a:bodyPr/>
                    <a:lstStyle/>
                    <a:p>
                      <a:pPr algn="ctr"/>
                      <a:r>
                        <a:rPr lang="en-IN" sz="2400" dirty="0" smtClean="0"/>
                        <a:t>0.862</a:t>
                      </a:r>
                      <a:endParaRPr lang="en-IN" sz="2400" dirty="0"/>
                    </a:p>
                  </a:txBody>
                  <a:tcPr/>
                </a:tc>
                <a:tc>
                  <a:txBody>
                    <a:bodyPr/>
                    <a:lstStyle/>
                    <a:p>
                      <a:pPr algn="ctr"/>
                      <a:r>
                        <a:rPr lang="en-IN" sz="2400" dirty="0" smtClean="0"/>
                        <a:t>2,586</a:t>
                      </a:r>
                      <a:endParaRPr lang="en-IN" sz="2400" dirty="0"/>
                    </a:p>
                  </a:txBody>
                  <a:tcPr/>
                </a:tc>
                <a:extLst>
                  <a:ext uri="{0D108BD9-81ED-4DB2-BD59-A6C34878D82A}">
                    <a16:rowId xmlns:a16="http://schemas.microsoft.com/office/drawing/2014/main" val="3676050723"/>
                  </a:ext>
                </a:extLst>
              </a:tr>
              <a:tr h="370840">
                <a:tc>
                  <a:txBody>
                    <a:bodyPr/>
                    <a:lstStyle/>
                    <a:p>
                      <a:pPr algn="ctr"/>
                      <a:r>
                        <a:rPr lang="en-IN" sz="2400" dirty="0" smtClean="0"/>
                        <a:t>2</a:t>
                      </a:r>
                      <a:endParaRPr lang="en-IN" sz="2400" dirty="0"/>
                    </a:p>
                  </a:txBody>
                  <a:tcPr/>
                </a:tc>
                <a:tc>
                  <a:txBody>
                    <a:bodyPr/>
                    <a:lstStyle/>
                    <a:p>
                      <a:pPr algn="ctr"/>
                      <a:r>
                        <a:rPr lang="en-IN" sz="2400" dirty="0" smtClean="0"/>
                        <a:t>4,500</a:t>
                      </a:r>
                      <a:endParaRPr lang="en-IN" sz="2400" dirty="0"/>
                    </a:p>
                  </a:txBody>
                  <a:tcPr/>
                </a:tc>
                <a:tc>
                  <a:txBody>
                    <a:bodyPr/>
                    <a:lstStyle/>
                    <a:p>
                      <a:pPr algn="ctr"/>
                      <a:r>
                        <a:rPr lang="en-IN" sz="2400" dirty="0" smtClean="0"/>
                        <a:t>0.743</a:t>
                      </a:r>
                      <a:endParaRPr lang="en-IN" sz="2400" dirty="0"/>
                    </a:p>
                  </a:txBody>
                  <a:tcPr/>
                </a:tc>
                <a:tc>
                  <a:txBody>
                    <a:bodyPr/>
                    <a:lstStyle/>
                    <a:p>
                      <a:pPr algn="ctr"/>
                      <a:r>
                        <a:rPr lang="en-IN" sz="2400" dirty="0" smtClean="0"/>
                        <a:t>3,344</a:t>
                      </a:r>
                      <a:endParaRPr lang="en-IN" sz="2400" dirty="0"/>
                    </a:p>
                  </a:txBody>
                  <a:tcPr/>
                </a:tc>
                <a:extLst>
                  <a:ext uri="{0D108BD9-81ED-4DB2-BD59-A6C34878D82A}">
                    <a16:rowId xmlns:a16="http://schemas.microsoft.com/office/drawing/2014/main" val="405820560"/>
                  </a:ext>
                </a:extLst>
              </a:tr>
              <a:tr h="370840">
                <a:tc>
                  <a:txBody>
                    <a:bodyPr/>
                    <a:lstStyle/>
                    <a:p>
                      <a:pPr algn="ctr"/>
                      <a:r>
                        <a:rPr lang="en-IN" sz="2400" dirty="0" smtClean="0"/>
                        <a:t>3</a:t>
                      </a:r>
                      <a:endParaRPr lang="en-IN" sz="2400" dirty="0"/>
                    </a:p>
                  </a:txBody>
                  <a:tcPr/>
                </a:tc>
                <a:tc>
                  <a:txBody>
                    <a:bodyPr/>
                    <a:lstStyle/>
                    <a:p>
                      <a:pPr algn="ctr"/>
                      <a:r>
                        <a:rPr lang="en-IN" sz="2400" dirty="0" smtClean="0"/>
                        <a:t>6,000</a:t>
                      </a:r>
                      <a:endParaRPr lang="en-IN" sz="2400" dirty="0"/>
                    </a:p>
                  </a:txBody>
                  <a:tcPr/>
                </a:tc>
                <a:tc>
                  <a:txBody>
                    <a:bodyPr/>
                    <a:lstStyle/>
                    <a:p>
                      <a:pPr algn="ctr"/>
                      <a:r>
                        <a:rPr lang="en-IN" sz="2400" dirty="0" smtClean="0"/>
                        <a:t>0.641</a:t>
                      </a:r>
                      <a:endParaRPr lang="en-IN" sz="2400" dirty="0"/>
                    </a:p>
                  </a:txBody>
                  <a:tcPr/>
                </a:tc>
                <a:tc>
                  <a:txBody>
                    <a:bodyPr/>
                    <a:lstStyle/>
                    <a:p>
                      <a:pPr algn="ctr"/>
                      <a:r>
                        <a:rPr lang="en-IN" sz="2400" dirty="0" smtClean="0"/>
                        <a:t>3,846</a:t>
                      </a:r>
                      <a:endParaRPr lang="en-IN" sz="2400" dirty="0"/>
                    </a:p>
                  </a:txBody>
                  <a:tcPr/>
                </a:tc>
                <a:extLst>
                  <a:ext uri="{0D108BD9-81ED-4DB2-BD59-A6C34878D82A}">
                    <a16:rowId xmlns:a16="http://schemas.microsoft.com/office/drawing/2014/main" val="3761760845"/>
                  </a:ext>
                </a:extLst>
              </a:tr>
              <a:tr h="370840">
                <a:tc>
                  <a:txBody>
                    <a:bodyPr/>
                    <a:lstStyle/>
                    <a:p>
                      <a:pPr algn="ctr"/>
                      <a:r>
                        <a:rPr lang="en-IN" sz="2400" dirty="0" smtClean="0"/>
                        <a:t>4</a:t>
                      </a:r>
                      <a:endParaRPr lang="en-IN" sz="2400" dirty="0"/>
                    </a:p>
                  </a:txBody>
                  <a:tcPr/>
                </a:tc>
                <a:tc>
                  <a:txBody>
                    <a:bodyPr/>
                    <a:lstStyle/>
                    <a:p>
                      <a:pPr algn="ctr"/>
                      <a:r>
                        <a:rPr lang="en-IN" sz="2400" dirty="0" smtClean="0"/>
                        <a:t>8,000</a:t>
                      </a:r>
                      <a:endParaRPr lang="en-IN" sz="2400" dirty="0"/>
                    </a:p>
                  </a:txBody>
                  <a:tcPr/>
                </a:tc>
                <a:tc>
                  <a:txBody>
                    <a:bodyPr/>
                    <a:lstStyle/>
                    <a:p>
                      <a:pPr algn="ctr"/>
                      <a:r>
                        <a:rPr lang="en-IN" sz="2400" dirty="0" smtClean="0"/>
                        <a:t>0.552</a:t>
                      </a:r>
                      <a:endParaRPr lang="en-IN" sz="2400" dirty="0"/>
                    </a:p>
                  </a:txBody>
                  <a:tcPr/>
                </a:tc>
                <a:tc>
                  <a:txBody>
                    <a:bodyPr/>
                    <a:lstStyle/>
                    <a:p>
                      <a:pPr algn="ctr"/>
                      <a:r>
                        <a:rPr lang="en-IN" sz="2400" dirty="0" smtClean="0"/>
                        <a:t>4,416</a:t>
                      </a:r>
                      <a:endParaRPr lang="en-IN" sz="2400" dirty="0"/>
                    </a:p>
                  </a:txBody>
                  <a:tcPr/>
                </a:tc>
                <a:extLst>
                  <a:ext uri="{0D108BD9-81ED-4DB2-BD59-A6C34878D82A}">
                    <a16:rowId xmlns:a16="http://schemas.microsoft.com/office/drawing/2014/main" val="1256776737"/>
                  </a:ext>
                </a:extLst>
              </a:tr>
              <a:tr h="370840">
                <a:tc>
                  <a:txBody>
                    <a:bodyPr/>
                    <a:lstStyle/>
                    <a:p>
                      <a:pPr algn="ctr"/>
                      <a:r>
                        <a:rPr lang="en-IN" sz="2400" dirty="0" smtClean="0"/>
                        <a:t>5</a:t>
                      </a:r>
                      <a:endParaRPr lang="en-IN" sz="2400" dirty="0"/>
                    </a:p>
                  </a:txBody>
                  <a:tcPr/>
                </a:tc>
                <a:tc>
                  <a:txBody>
                    <a:bodyPr/>
                    <a:lstStyle/>
                    <a:p>
                      <a:pPr algn="ctr"/>
                      <a:r>
                        <a:rPr lang="en-IN" sz="2400" dirty="0" smtClean="0"/>
                        <a:t>10,000</a:t>
                      </a:r>
                      <a:endParaRPr lang="en-IN" sz="2400" dirty="0"/>
                    </a:p>
                  </a:txBody>
                  <a:tcPr/>
                </a:tc>
                <a:tc>
                  <a:txBody>
                    <a:bodyPr/>
                    <a:lstStyle/>
                    <a:p>
                      <a:pPr algn="ctr"/>
                      <a:r>
                        <a:rPr lang="en-IN" sz="2400" dirty="0" smtClean="0"/>
                        <a:t>0.476</a:t>
                      </a:r>
                      <a:endParaRPr lang="en-IN" sz="2400" dirty="0"/>
                    </a:p>
                  </a:txBody>
                  <a:tcPr/>
                </a:tc>
                <a:tc>
                  <a:txBody>
                    <a:bodyPr/>
                    <a:lstStyle/>
                    <a:p>
                      <a:pPr algn="ctr"/>
                      <a:r>
                        <a:rPr lang="en-IN" sz="2400" dirty="0" smtClean="0"/>
                        <a:t>4,760</a:t>
                      </a:r>
                      <a:endParaRPr lang="en-IN" sz="2400" dirty="0"/>
                    </a:p>
                  </a:txBody>
                  <a:tcPr/>
                </a:tc>
                <a:extLst>
                  <a:ext uri="{0D108BD9-81ED-4DB2-BD59-A6C34878D82A}">
                    <a16:rowId xmlns:a16="http://schemas.microsoft.com/office/drawing/2014/main" val="2623254801"/>
                  </a:ext>
                </a:extLst>
              </a:tr>
              <a:tr h="370840">
                <a:tc gridSpan="3">
                  <a:txBody>
                    <a:bodyPr/>
                    <a:lstStyle/>
                    <a:p>
                      <a:pPr algn="ctr"/>
                      <a:r>
                        <a:rPr lang="en-IN" sz="2400" b="1" dirty="0" smtClean="0">
                          <a:solidFill>
                            <a:srgbClr val="FF0000"/>
                          </a:solidFill>
                        </a:rPr>
                        <a:t>Total Present</a:t>
                      </a:r>
                      <a:r>
                        <a:rPr lang="en-IN" sz="2400" b="1" baseline="0" dirty="0" smtClean="0">
                          <a:solidFill>
                            <a:srgbClr val="FF0000"/>
                          </a:solidFill>
                        </a:rPr>
                        <a:t> value</a:t>
                      </a:r>
                      <a:endParaRPr lang="en-IN" sz="2400" b="1" dirty="0">
                        <a:solidFill>
                          <a:srgbClr val="FF0000"/>
                        </a:solidFill>
                      </a:endParaRPr>
                    </a:p>
                  </a:txBody>
                  <a:tcPr/>
                </a:tc>
                <a:tc hMerge="1">
                  <a:txBody>
                    <a:bodyPr/>
                    <a:lstStyle/>
                    <a:p>
                      <a:endParaRPr lang="en-IN" dirty="0"/>
                    </a:p>
                  </a:txBody>
                  <a:tcPr/>
                </a:tc>
                <a:tc hMerge="1">
                  <a:txBody>
                    <a:bodyPr/>
                    <a:lstStyle/>
                    <a:p>
                      <a:endParaRPr lang="en-IN" dirty="0"/>
                    </a:p>
                  </a:txBody>
                  <a:tcPr/>
                </a:tc>
                <a:tc>
                  <a:txBody>
                    <a:bodyPr/>
                    <a:lstStyle/>
                    <a:p>
                      <a:pPr algn="ctr"/>
                      <a:r>
                        <a:rPr lang="en-IN" sz="2400" b="1" dirty="0" smtClean="0">
                          <a:solidFill>
                            <a:srgbClr val="FF0000"/>
                          </a:solidFill>
                        </a:rPr>
                        <a:t>18,952</a:t>
                      </a:r>
                      <a:endParaRPr lang="en-IN" sz="2400" b="1" dirty="0">
                        <a:solidFill>
                          <a:srgbClr val="FF0000"/>
                        </a:solidFill>
                      </a:endParaRPr>
                    </a:p>
                  </a:txBody>
                  <a:tcPr/>
                </a:tc>
                <a:extLst>
                  <a:ext uri="{0D108BD9-81ED-4DB2-BD59-A6C34878D82A}">
                    <a16:rowId xmlns:a16="http://schemas.microsoft.com/office/drawing/2014/main" val="2176955588"/>
                  </a:ext>
                </a:extLst>
              </a:tr>
            </a:tbl>
          </a:graphicData>
        </a:graphic>
      </p:graphicFrame>
      <p:pic>
        <p:nvPicPr>
          <p:cNvPr id="6"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85300" y="6927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5911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2610"/>
            <a:ext cx="10515600" cy="5047971"/>
          </a:xfrm>
        </p:spPr>
        <p:txBody>
          <a:bodyPr>
            <a:normAutofit/>
          </a:bodyPr>
          <a:lstStyle/>
          <a:p>
            <a:pPr marL="0" indent="0" algn="just">
              <a:buNone/>
            </a:pPr>
            <a:r>
              <a:rPr lang="en-IN" sz="2600" b="1" dirty="0" smtClean="0">
                <a:solidFill>
                  <a:srgbClr val="00B050"/>
                </a:solidFill>
              </a:rPr>
              <a:t>2. Present value of annuity:</a:t>
            </a:r>
          </a:p>
          <a:p>
            <a:pPr marL="0" indent="0" algn="just">
              <a:buNone/>
            </a:pPr>
            <a:r>
              <a:rPr lang="en-IN" sz="2600" dirty="0" smtClean="0"/>
              <a:t>It is the multiplier to calculate the present value of an annuity at a specified discount rate over a given period of time.</a:t>
            </a:r>
          </a:p>
          <a:p>
            <a:pPr marL="0" indent="0" algn="just">
              <a:buNone/>
            </a:pPr>
            <a:r>
              <a:rPr lang="en-IN" sz="2600" dirty="0" smtClean="0"/>
              <a:t>It is calculated as follows:</a:t>
            </a:r>
          </a:p>
          <a:p>
            <a:pPr marL="0" indent="0" algn="just">
              <a:buNone/>
            </a:pPr>
            <a:r>
              <a:rPr lang="en-IN" sz="2600" dirty="0" smtClean="0">
                <a:solidFill>
                  <a:srgbClr val="FF0000"/>
                </a:solidFill>
              </a:rPr>
              <a:t>PV </a:t>
            </a:r>
            <a:r>
              <a:rPr lang="en-IN" sz="2600" dirty="0">
                <a:solidFill>
                  <a:srgbClr val="FF0000"/>
                </a:solidFill>
              </a:rPr>
              <a:t>= C</a:t>
            </a:r>
            <a:r>
              <a:rPr lang="en-IN" sz="2600" dirty="0" smtClean="0">
                <a:solidFill>
                  <a:srgbClr val="FF0000"/>
                </a:solidFill>
              </a:rPr>
              <a:t>ash inflow[1</a:t>
            </a:r>
            <a:r>
              <a:rPr lang="en-IN" sz="2600" dirty="0">
                <a:solidFill>
                  <a:srgbClr val="FF0000"/>
                </a:solidFill>
              </a:rPr>
              <a:t>/(1+r)</a:t>
            </a:r>
            <a:r>
              <a:rPr lang="en-IN" sz="2600" baseline="30000" dirty="0">
                <a:solidFill>
                  <a:srgbClr val="FF0000"/>
                </a:solidFill>
              </a:rPr>
              <a:t>n</a:t>
            </a:r>
            <a:r>
              <a:rPr lang="en-IN" sz="2600" dirty="0" smtClean="0">
                <a:solidFill>
                  <a:srgbClr val="FF0000"/>
                </a:solidFill>
              </a:rPr>
              <a:t>]</a:t>
            </a:r>
          </a:p>
          <a:p>
            <a:pPr marL="0" indent="0" algn="just">
              <a:buNone/>
            </a:pPr>
            <a:r>
              <a:rPr lang="en-IN" sz="2600" dirty="0" smtClean="0">
                <a:solidFill>
                  <a:srgbClr val="FF0000"/>
                </a:solidFill>
              </a:rPr>
              <a:t>r = Rate of Interest</a:t>
            </a:r>
          </a:p>
          <a:p>
            <a:pPr marL="0" indent="0" algn="just">
              <a:buNone/>
            </a:pPr>
            <a:r>
              <a:rPr lang="en-IN" sz="2600" dirty="0">
                <a:solidFill>
                  <a:srgbClr val="FF0000"/>
                </a:solidFill>
              </a:rPr>
              <a:t>n</a:t>
            </a:r>
            <a:r>
              <a:rPr lang="en-IN" sz="2600" dirty="0" smtClean="0">
                <a:solidFill>
                  <a:srgbClr val="FF0000"/>
                </a:solidFill>
              </a:rPr>
              <a:t> = Number of years </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47060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50285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5126"/>
            <a:ext cx="10515600" cy="5850641"/>
          </a:xfrm>
        </p:spPr>
        <p:txBody>
          <a:bodyPr/>
          <a:lstStyle/>
          <a:p>
            <a:pPr marL="0" indent="0" algn="just">
              <a:buNone/>
            </a:pPr>
            <a:r>
              <a:rPr lang="en-IN" sz="2600" b="1" dirty="0">
                <a:solidFill>
                  <a:srgbClr val="FF0000"/>
                </a:solidFill>
              </a:rPr>
              <a:t>Solved Problem:</a:t>
            </a:r>
          </a:p>
          <a:p>
            <a:pPr marL="0" indent="0" algn="just">
              <a:buNone/>
            </a:pPr>
            <a:r>
              <a:rPr lang="en-IN" sz="2600" dirty="0"/>
              <a:t>P6. Mrs. X has entered into an agreement that will fetch her Rs. 60,000 p.a. for the next four years. She wants to know the present value of the future cash flows at 20% discount rate.</a:t>
            </a:r>
          </a:p>
          <a:p>
            <a:pPr marL="0" indent="0">
              <a:buNone/>
            </a:pPr>
            <a:r>
              <a:rPr lang="en-IN" sz="2600" b="1" dirty="0" smtClean="0">
                <a:solidFill>
                  <a:srgbClr val="FF0000"/>
                </a:solidFill>
              </a:rPr>
              <a:t>Solution:                     </a:t>
            </a:r>
          </a:p>
          <a:p>
            <a:pPr marL="0" indent="0">
              <a:buNone/>
            </a:pPr>
            <a:r>
              <a:rPr lang="en-IN" sz="2600" b="1" dirty="0" smtClean="0">
                <a:solidFill>
                  <a:srgbClr val="FF0000"/>
                </a:solidFill>
              </a:rPr>
              <a:t>                                         Statement </a:t>
            </a:r>
            <a:r>
              <a:rPr lang="en-IN" sz="2600" b="1" dirty="0">
                <a:solidFill>
                  <a:srgbClr val="FF0000"/>
                </a:solidFill>
              </a:rPr>
              <a:t>showing PV of cash </a:t>
            </a:r>
            <a:r>
              <a:rPr lang="en-IN" sz="2600" b="1" dirty="0" smtClean="0">
                <a:solidFill>
                  <a:srgbClr val="FF0000"/>
                </a:solidFill>
              </a:rPr>
              <a:t>inflows</a:t>
            </a:r>
          </a:p>
          <a:p>
            <a:pPr marL="0" indent="0" algn="ctr">
              <a:buNone/>
            </a:pPr>
            <a:endParaRPr lang="en-IN" dirty="0">
              <a:solidFill>
                <a:srgbClr val="FF0000"/>
              </a:solidFill>
            </a:endParaRPr>
          </a:p>
          <a:p>
            <a:pPr marL="0" indent="0">
              <a:buNone/>
            </a:pPr>
            <a:endParaRPr lang="en-IN" dirty="0" smtClean="0">
              <a:solidFill>
                <a:srgbClr val="FF0000"/>
              </a:solidFill>
            </a:endParaRPr>
          </a:p>
          <a:p>
            <a:pPr marL="0" indent="0">
              <a:buNone/>
            </a:pPr>
            <a:endParaRPr lang="en-IN" dirty="0" smtClean="0">
              <a:solidFill>
                <a:srgbClr val="FF0000"/>
              </a:solidFill>
            </a:endParaRPr>
          </a:p>
          <a:p>
            <a:pPr marL="0" indent="0">
              <a:buNone/>
            </a:pPr>
            <a:endParaRPr lang="en-IN"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113223500"/>
              </p:ext>
            </p:extLst>
          </p:nvPr>
        </p:nvGraphicFramePr>
        <p:xfrm>
          <a:off x="838200" y="3511045"/>
          <a:ext cx="10515600" cy="3063240"/>
        </p:xfrm>
        <a:graphic>
          <a:graphicData uri="http://schemas.openxmlformats.org/drawingml/2006/table">
            <a:tbl>
              <a:tblPr firstRow="1" bandRow="1">
                <a:tableStyleId>{5C22544A-7EE6-4342-B048-85BDC9FD1C3A}</a:tableStyleId>
              </a:tblPr>
              <a:tblGrid>
                <a:gridCol w="1364673">
                  <a:extLst>
                    <a:ext uri="{9D8B030D-6E8A-4147-A177-3AD203B41FA5}">
                      <a16:colId xmlns:a16="http://schemas.microsoft.com/office/drawing/2014/main" val="1806807697"/>
                    </a:ext>
                  </a:extLst>
                </a:gridCol>
                <a:gridCol w="3034145">
                  <a:extLst>
                    <a:ext uri="{9D8B030D-6E8A-4147-A177-3AD203B41FA5}">
                      <a16:colId xmlns:a16="http://schemas.microsoft.com/office/drawing/2014/main" val="3140378972"/>
                    </a:ext>
                  </a:extLst>
                </a:gridCol>
                <a:gridCol w="2715491">
                  <a:extLst>
                    <a:ext uri="{9D8B030D-6E8A-4147-A177-3AD203B41FA5}">
                      <a16:colId xmlns:a16="http://schemas.microsoft.com/office/drawing/2014/main" val="4198680938"/>
                    </a:ext>
                  </a:extLst>
                </a:gridCol>
                <a:gridCol w="3401291">
                  <a:extLst>
                    <a:ext uri="{9D8B030D-6E8A-4147-A177-3AD203B41FA5}">
                      <a16:colId xmlns:a16="http://schemas.microsoft.com/office/drawing/2014/main" val="41473818"/>
                    </a:ext>
                  </a:extLst>
                </a:gridCol>
              </a:tblGrid>
              <a:tr h="0">
                <a:tc>
                  <a:txBody>
                    <a:bodyPr/>
                    <a:lstStyle/>
                    <a:p>
                      <a:pPr algn="ctr"/>
                      <a:r>
                        <a:rPr lang="en-IN" sz="2000" dirty="0" smtClean="0"/>
                        <a:t>Year</a:t>
                      </a:r>
                      <a:r>
                        <a:rPr lang="en-IN" sz="2000" baseline="0" dirty="0" smtClean="0"/>
                        <a:t> </a:t>
                      </a:r>
                      <a:endParaRPr lang="en-IN" sz="2000" dirty="0"/>
                    </a:p>
                  </a:txBody>
                  <a:tcPr/>
                </a:tc>
                <a:tc>
                  <a:txBody>
                    <a:bodyPr/>
                    <a:lstStyle/>
                    <a:p>
                      <a:pPr algn="ctr"/>
                      <a:r>
                        <a:rPr lang="en-IN" sz="2000" dirty="0" smtClean="0"/>
                        <a:t>Cash inflow </a:t>
                      </a:r>
                    </a:p>
                    <a:p>
                      <a:pPr algn="ctr"/>
                      <a:r>
                        <a:rPr lang="en-IN" sz="2000" dirty="0" smtClean="0"/>
                        <a:t>(Rs.)</a:t>
                      </a:r>
                      <a:r>
                        <a:rPr lang="en-IN" sz="2000" baseline="0" dirty="0" smtClean="0"/>
                        <a:t> </a:t>
                      </a:r>
                      <a:endParaRPr lang="en-IN" sz="2000" dirty="0"/>
                    </a:p>
                  </a:txBody>
                  <a:tcPr/>
                </a:tc>
                <a:tc>
                  <a:txBody>
                    <a:bodyPr/>
                    <a:lstStyle/>
                    <a:p>
                      <a:pPr algn="ctr"/>
                      <a:r>
                        <a:rPr lang="en-IN" sz="2000" dirty="0" smtClean="0"/>
                        <a:t>PV factor@20% </a:t>
                      </a:r>
                      <a:endParaRPr lang="en-IN" sz="2000" dirty="0"/>
                    </a:p>
                  </a:txBody>
                  <a:tcPr/>
                </a:tc>
                <a:tc>
                  <a:txBody>
                    <a:bodyPr/>
                    <a:lstStyle/>
                    <a:p>
                      <a:pPr algn="ctr"/>
                      <a:r>
                        <a:rPr lang="en-IN" sz="2000" dirty="0" smtClean="0"/>
                        <a:t>Present</a:t>
                      </a:r>
                      <a:r>
                        <a:rPr lang="en-IN" sz="2000" baseline="0" dirty="0" smtClean="0"/>
                        <a:t> value of annuity </a:t>
                      </a:r>
                    </a:p>
                    <a:p>
                      <a:pPr algn="ctr"/>
                      <a:r>
                        <a:rPr lang="en-IN" sz="2000" baseline="0" dirty="0" smtClean="0"/>
                        <a:t>(Rs.) </a:t>
                      </a:r>
                      <a:endParaRPr lang="en-IN" sz="2000" dirty="0"/>
                    </a:p>
                  </a:txBody>
                  <a:tcPr/>
                </a:tc>
                <a:extLst>
                  <a:ext uri="{0D108BD9-81ED-4DB2-BD59-A6C34878D82A}">
                    <a16:rowId xmlns:a16="http://schemas.microsoft.com/office/drawing/2014/main" val="3127956065"/>
                  </a:ext>
                </a:extLst>
              </a:tr>
              <a:tr h="370840">
                <a:tc>
                  <a:txBody>
                    <a:bodyPr/>
                    <a:lstStyle/>
                    <a:p>
                      <a:pPr algn="ctr"/>
                      <a:r>
                        <a:rPr lang="en-IN" sz="2500" dirty="0" smtClean="0"/>
                        <a:t>1</a:t>
                      </a:r>
                      <a:endParaRPr lang="en-IN" sz="2500" dirty="0"/>
                    </a:p>
                  </a:txBody>
                  <a:tcPr/>
                </a:tc>
                <a:tc>
                  <a:txBody>
                    <a:bodyPr/>
                    <a:lstStyle/>
                    <a:p>
                      <a:pPr algn="ctr"/>
                      <a:r>
                        <a:rPr lang="en-IN" sz="2500" dirty="0" smtClean="0"/>
                        <a:t>60,000</a:t>
                      </a:r>
                      <a:endParaRPr lang="en-IN" sz="2500" dirty="0"/>
                    </a:p>
                  </a:txBody>
                  <a:tcPr/>
                </a:tc>
                <a:tc>
                  <a:txBody>
                    <a:bodyPr/>
                    <a:lstStyle/>
                    <a:p>
                      <a:pPr algn="ctr"/>
                      <a:r>
                        <a:rPr lang="en-IN" sz="2500" dirty="0" smtClean="0"/>
                        <a:t>0.8333</a:t>
                      </a:r>
                      <a:endParaRPr lang="en-IN" sz="2500" dirty="0"/>
                    </a:p>
                  </a:txBody>
                  <a:tcPr/>
                </a:tc>
                <a:tc>
                  <a:txBody>
                    <a:bodyPr/>
                    <a:lstStyle/>
                    <a:p>
                      <a:pPr algn="ctr"/>
                      <a:r>
                        <a:rPr lang="en-IN" sz="2500" dirty="0" smtClean="0"/>
                        <a:t>49,998</a:t>
                      </a:r>
                      <a:endParaRPr lang="en-IN" sz="2500" dirty="0"/>
                    </a:p>
                  </a:txBody>
                  <a:tcPr/>
                </a:tc>
                <a:extLst>
                  <a:ext uri="{0D108BD9-81ED-4DB2-BD59-A6C34878D82A}">
                    <a16:rowId xmlns:a16="http://schemas.microsoft.com/office/drawing/2014/main" val="2129059560"/>
                  </a:ext>
                </a:extLst>
              </a:tr>
              <a:tr h="370840">
                <a:tc>
                  <a:txBody>
                    <a:bodyPr/>
                    <a:lstStyle/>
                    <a:p>
                      <a:pPr algn="ctr"/>
                      <a:r>
                        <a:rPr lang="en-IN" sz="2500" dirty="0" smtClean="0"/>
                        <a:t>2</a:t>
                      </a:r>
                      <a:endParaRPr lang="en-IN" sz="2500" dirty="0"/>
                    </a:p>
                  </a:txBody>
                  <a:tcPr/>
                </a:tc>
                <a:tc>
                  <a:txBody>
                    <a:bodyPr/>
                    <a:lstStyle/>
                    <a:p>
                      <a:pPr algn="ctr"/>
                      <a:r>
                        <a:rPr lang="en-IN" sz="2500" dirty="0" smtClean="0"/>
                        <a:t>60,000</a:t>
                      </a:r>
                      <a:endParaRPr lang="en-IN" sz="2500" dirty="0"/>
                    </a:p>
                  </a:txBody>
                  <a:tcPr/>
                </a:tc>
                <a:tc>
                  <a:txBody>
                    <a:bodyPr/>
                    <a:lstStyle/>
                    <a:p>
                      <a:pPr algn="ctr"/>
                      <a:r>
                        <a:rPr lang="en-IN" sz="2500" dirty="0" smtClean="0"/>
                        <a:t>0.6944</a:t>
                      </a:r>
                      <a:endParaRPr lang="en-IN" sz="2500" dirty="0"/>
                    </a:p>
                  </a:txBody>
                  <a:tcPr/>
                </a:tc>
                <a:tc>
                  <a:txBody>
                    <a:bodyPr/>
                    <a:lstStyle/>
                    <a:p>
                      <a:pPr algn="ctr"/>
                      <a:r>
                        <a:rPr lang="en-IN" sz="2500" dirty="0" smtClean="0"/>
                        <a:t>41,664</a:t>
                      </a:r>
                      <a:endParaRPr lang="en-IN" sz="2500" dirty="0"/>
                    </a:p>
                  </a:txBody>
                  <a:tcPr/>
                </a:tc>
                <a:extLst>
                  <a:ext uri="{0D108BD9-81ED-4DB2-BD59-A6C34878D82A}">
                    <a16:rowId xmlns:a16="http://schemas.microsoft.com/office/drawing/2014/main" val="3797028824"/>
                  </a:ext>
                </a:extLst>
              </a:tr>
              <a:tr h="370840">
                <a:tc>
                  <a:txBody>
                    <a:bodyPr/>
                    <a:lstStyle/>
                    <a:p>
                      <a:pPr algn="ctr"/>
                      <a:r>
                        <a:rPr lang="en-IN" sz="2500" dirty="0" smtClean="0"/>
                        <a:t>3</a:t>
                      </a:r>
                      <a:endParaRPr lang="en-IN" sz="2500" dirty="0"/>
                    </a:p>
                  </a:txBody>
                  <a:tcPr/>
                </a:tc>
                <a:tc>
                  <a:txBody>
                    <a:bodyPr/>
                    <a:lstStyle/>
                    <a:p>
                      <a:pPr algn="ctr"/>
                      <a:r>
                        <a:rPr lang="en-IN" sz="2500" dirty="0" smtClean="0"/>
                        <a:t>60,000</a:t>
                      </a:r>
                      <a:endParaRPr lang="en-IN" sz="2500" dirty="0"/>
                    </a:p>
                  </a:txBody>
                  <a:tcPr/>
                </a:tc>
                <a:tc>
                  <a:txBody>
                    <a:bodyPr/>
                    <a:lstStyle/>
                    <a:p>
                      <a:pPr algn="ctr"/>
                      <a:r>
                        <a:rPr lang="en-IN" sz="2500" dirty="0" smtClean="0"/>
                        <a:t>0.5787</a:t>
                      </a:r>
                      <a:endParaRPr lang="en-IN" sz="2500" dirty="0"/>
                    </a:p>
                  </a:txBody>
                  <a:tcPr/>
                </a:tc>
                <a:tc>
                  <a:txBody>
                    <a:bodyPr/>
                    <a:lstStyle/>
                    <a:p>
                      <a:pPr algn="ctr"/>
                      <a:r>
                        <a:rPr lang="en-IN" sz="2500" dirty="0" smtClean="0"/>
                        <a:t>34,722</a:t>
                      </a:r>
                      <a:endParaRPr lang="en-IN" sz="2500" dirty="0"/>
                    </a:p>
                  </a:txBody>
                  <a:tcPr/>
                </a:tc>
                <a:extLst>
                  <a:ext uri="{0D108BD9-81ED-4DB2-BD59-A6C34878D82A}">
                    <a16:rowId xmlns:a16="http://schemas.microsoft.com/office/drawing/2014/main" val="561419636"/>
                  </a:ext>
                </a:extLst>
              </a:tr>
              <a:tr h="370840">
                <a:tc>
                  <a:txBody>
                    <a:bodyPr/>
                    <a:lstStyle/>
                    <a:p>
                      <a:pPr algn="ctr"/>
                      <a:r>
                        <a:rPr lang="en-IN" sz="2500" dirty="0" smtClean="0"/>
                        <a:t>4</a:t>
                      </a:r>
                      <a:endParaRPr lang="en-IN" sz="2500" dirty="0"/>
                    </a:p>
                  </a:txBody>
                  <a:tcPr/>
                </a:tc>
                <a:tc>
                  <a:txBody>
                    <a:bodyPr/>
                    <a:lstStyle/>
                    <a:p>
                      <a:pPr algn="ctr"/>
                      <a:r>
                        <a:rPr lang="en-IN" sz="2500" dirty="0" smtClean="0"/>
                        <a:t>60,000</a:t>
                      </a:r>
                      <a:endParaRPr lang="en-IN" sz="2500" dirty="0"/>
                    </a:p>
                  </a:txBody>
                  <a:tcPr/>
                </a:tc>
                <a:tc>
                  <a:txBody>
                    <a:bodyPr/>
                    <a:lstStyle/>
                    <a:p>
                      <a:pPr algn="ctr"/>
                      <a:r>
                        <a:rPr lang="en-IN" sz="2500" dirty="0" smtClean="0"/>
                        <a:t>0.4823</a:t>
                      </a:r>
                      <a:endParaRPr lang="en-IN" sz="2500" dirty="0"/>
                    </a:p>
                  </a:txBody>
                  <a:tcPr/>
                </a:tc>
                <a:tc>
                  <a:txBody>
                    <a:bodyPr/>
                    <a:lstStyle/>
                    <a:p>
                      <a:pPr algn="ctr"/>
                      <a:r>
                        <a:rPr lang="en-IN" sz="2500" dirty="0" smtClean="0"/>
                        <a:t>28,938</a:t>
                      </a:r>
                      <a:endParaRPr lang="en-IN" sz="2500" dirty="0"/>
                    </a:p>
                  </a:txBody>
                  <a:tcPr/>
                </a:tc>
                <a:extLst>
                  <a:ext uri="{0D108BD9-81ED-4DB2-BD59-A6C34878D82A}">
                    <a16:rowId xmlns:a16="http://schemas.microsoft.com/office/drawing/2014/main" val="3744875150"/>
                  </a:ext>
                </a:extLst>
              </a:tr>
              <a:tr h="370840">
                <a:tc gridSpan="3">
                  <a:txBody>
                    <a:bodyPr/>
                    <a:lstStyle/>
                    <a:p>
                      <a:pPr algn="ctr"/>
                      <a:r>
                        <a:rPr lang="en-IN" sz="2500" b="1" dirty="0" smtClean="0">
                          <a:solidFill>
                            <a:srgbClr val="FF0000"/>
                          </a:solidFill>
                        </a:rPr>
                        <a:t>Total PV of cash inflows</a:t>
                      </a:r>
                      <a:endParaRPr lang="en-IN" sz="2500" b="1" dirty="0">
                        <a:solidFill>
                          <a:srgbClr val="FF0000"/>
                        </a:solidFill>
                      </a:endParaRPr>
                    </a:p>
                  </a:txBody>
                  <a:tcPr/>
                </a:tc>
                <a:tc hMerge="1">
                  <a:txBody>
                    <a:bodyPr/>
                    <a:lstStyle/>
                    <a:p>
                      <a:pPr algn="ctr"/>
                      <a:endParaRPr lang="en-IN" sz="2500" dirty="0"/>
                    </a:p>
                  </a:txBody>
                  <a:tcPr/>
                </a:tc>
                <a:tc hMerge="1">
                  <a:txBody>
                    <a:bodyPr/>
                    <a:lstStyle/>
                    <a:p>
                      <a:pPr algn="ctr"/>
                      <a:endParaRPr lang="en-IN" sz="2500" dirty="0"/>
                    </a:p>
                  </a:txBody>
                  <a:tcPr/>
                </a:tc>
                <a:tc>
                  <a:txBody>
                    <a:bodyPr/>
                    <a:lstStyle/>
                    <a:p>
                      <a:pPr algn="ctr"/>
                      <a:r>
                        <a:rPr lang="en-IN" sz="2500" b="1" dirty="0" smtClean="0">
                          <a:solidFill>
                            <a:srgbClr val="FF0000"/>
                          </a:solidFill>
                        </a:rPr>
                        <a:t>1,55,322</a:t>
                      </a:r>
                      <a:endParaRPr lang="en-IN" sz="2500" b="1" dirty="0">
                        <a:solidFill>
                          <a:srgbClr val="FF0000"/>
                        </a:solidFill>
                      </a:endParaRPr>
                    </a:p>
                  </a:txBody>
                  <a:tcPr/>
                </a:tc>
                <a:extLst>
                  <a:ext uri="{0D108BD9-81ED-4DB2-BD59-A6C34878D82A}">
                    <a16:rowId xmlns:a16="http://schemas.microsoft.com/office/drawing/2014/main" val="1641670278"/>
                  </a:ext>
                </a:extLst>
              </a:tr>
            </a:tbl>
          </a:graphicData>
        </a:graphic>
      </p:graphicFrame>
      <p:pic>
        <p:nvPicPr>
          <p:cNvPr id="5"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4636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99095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8255" y="831273"/>
            <a:ext cx="10425544" cy="5345690"/>
          </a:xfrm>
        </p:spPr>
        <p:txBody>
          <a:bodyPr>
            <a:normAutofit/>
          </a:bodyPr>
          <a:lstStyle/>
          <a:p>
            <a:pPr marL="0" indent="0" algn="just">
              <a:buNone/>
            </a:pPr>
            <a:r>
              <a:rPr lang="en-IN" sz="2600" dirty="0" smtClean="0"/>
              <a:t>P7. Mr. Saravanan expects to receive Rs. 20,000 at the beginning of each year for 4 years. Calculate the present value of the annuity due to assuming as interest rate is 9%.</a:t>
            </a:r>
          </a:p>
          <a:p>
            <a:pPr marL="0" indent="0">
              <a:buNone/>
            </a:pPr>
            <a:r>
              <a:rPr lang="en-IN" sz="2600" b="1" dirty="0" smtClean="0">
                <a:solidFill>
                  <a:srgbClr val="FF0000"/>
                </a:solidFill>
              </a:rPr>
              <a:t>Solution</a:t>
            </a:r>
            <a:r>
              <a:rPr lang="en-IN" sz="2600" b="1" dirty="0">
                <a:solidFill>
                  <a:srgbClr val="FF0000"/>
                </a:solidFill>
              </a:rPr>
              <a:t>:</a:t>
            </a:r>
          </a:p>
          <a:p>
            <a:pPr marL="0" indent="0" algn="ctr">
              <a:buNone/>
            </a:pPr>
            <a:r>
              <a:rPr lang="en-IN" sz="2600" b="1" dirty="0">
                <a:solidFill>
                  <a:srgbClr val="FF0000"/>
                </a:solidFill>
              </a:rPr>
              <a:t>Statement showing PV of cash </a:t>
            </a:r>
            <a:r>
              <a:rPr lang="en-IN" sz="2600" b="1" dirty="0" smtClean="0">
                <a:solidFill>
                  <a:srgbClr val="FF0000"/>
                </a:solidFill>
              </a:rPr>
              <a:t>inflows</a:t>
            </a:r>
          </a:p>
          <a:p>
            <a:pPr marL="0" indent="0" algn="ctr">
              <a:buNone/>
            </a:pPr>
            <a:endParaRPr lang="en-IN" sz="2600" dirty="0">
              <a:solidFill>
                <a:srgbClr val="FF0000"/>
              </a:solidFill>
            </a:endParaRPr>
          </a:p>
          <a:p>
            <a:pPr marL="0" indent="0" algn="just">
              <a:buNone/>
            </a:pPr>
            <a:endParaRPr lang="en-IN" sz="2600" dirty="0"/>
          </a:p>
        </p:txBody>
      </p:sp>
      <p:graphicFrame>
        <p:nvGraphicFramePr>
          <p:cNvPr id="2" name="Table 1"/>
          <p:cNvGraphicFramePr>
            <a:graphicFrameLocks noGrp="1"/>
          </p:cNvGraphicFramePr>
          <p:nvPr>
            <p:extLst>
              <p:ext uri="{D42A27DB-BD31-4B8C-83A1-F6EECF244321}">
                <p14:modId xmlns:p14="http://schemas.microsoft.com/office/powerpoint/2010/main" val="2304415219"/>
              </p:ext>
            </p:extLst>
          </p:nvPr>
        </p:nvGraphicFramePr>
        <p:xfrm>
          <a:off x="928255" y="2910472"/>
          <a:ext cx="10425544" cy="312420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633680400"/>
                    </a:ext>
                  </a:extLst>
                </a:gridCol>
                <a:gridCol w="2189018">
                  <a:extLst>
                    <a:ext uri="{9D8B030D-6E8A-4147-A177-3AD203B41FA5}">
                      <a16:colId xmlns:a16="http://schemas.microsoft.com/office/drawing/2014/main" val="59219784"/>
                    </a:ext>
                  </a:extLst>
                </a:gridCol>
                <a:gridCol w="3241963">
                  <a:extLst>
                    <a:ext uri="{9D8B030D-6E8A-4147-A177-3AD203B41FA5}">
                      <a16:colId xmlns:a16="http://schemas.microsoft.com/office/drawing/2014/main" val="3649219374"/>
                    </a:ext>
                  </a:extLst>
                </a:gridCol>
                <a:gridCol w="3927763">
                  <a:extLst>
                    <a:ext uri="{9D8B030D-6E8A-4147-A177-3AD203B41FA5}">
                      <a16:colId xmlns:a16="http://schemas.microsoft.com/office/drawing/2014/main" val="642348042"/>
                    </a:ext>
                  </a:extLst>
                </a:gridCol>
              </a:tblGrid>
              <a:tr h="370840">
                <a:tc>
                  <a:txBody>
                    <a:bodyPr/>
                    <a:lstStyle/>
                    <a:p>
                      <a:pPr algn="ctr"/>
                      <a:r>
                        <a:rPr lang="en-IN" sz="2200" dirty="0" smtClean="0"/>
                        <a:t>Year</a:t>
                      </a:r>
                      <a:r>
                        <a:rPr lang="en-IN" sz="2200" baseline="0" dirty="0" smtClean="0"/>
                        <a:t> </a:t>
                      </a:r>
                      <a:endParaRPr lang="en-IN" sz="2200" dirty="0"/>
                    </a:p>
                  </a:txBody>
                  <a:tcPr/>
                </a:tc>
                <a:tc>
                  <a:txBody>
                    <a:bodyPr/>
                    <a:lstStyle/>
                    <a:p>
                      <a:pPr algn="ctr"/>
                      <a:r>
                        <a:rPr lang="en-IN" sz="2200" dirty="0" smtClean="0"/>
                        <a:t>Cash inflow </a:t>
                      </a:r>
                    </a:p>
                    <a:p>
                      <a:pPr algn="ctr"/>
                      <a:r>
                        <a:rPr lang="en-IN" sz="2200" dirty="0" smtClean="0"/>
                        <a:t>(Rs.)</a:t>
                      </a:r>
                      <a:r>
                        <a:rPr lang="en-IN" sz="2200" baseline="0" dirty="0" smtClean="0"/>
                        <a:t> </a:t>
                      </a:r>
                      <a:endParaRPr lang="en-IN" sz="2200" dirty="0"/>
                    </a:p>
                  </a:txBody>
                  <a:tcPr/>
                </a:tc>
                <a:tc>
                  <a:txBody>
                    <a:bodyPr/>
                    <a:lstStyle/>
                    <a:p>
                      <a:pPr algn="ctr"/>
                      <a:r>
                        <a:rPr lang="en-IN" sz="2200" dirty="0" smtClean="0"/>
                        <a:t>PV factor@9% </a:t>
                      </a:r>
                      <a:endParaRPr lang="en-IN" sz="2200" dirty="0"/>
                    </a:p>
                  </a:txBody>
                  <a:tcPr/>
                </a:tc>
                <a:tc>
                  <a:txBody>
                    <a:bodyPr/>
                    <a:lstStyle/>
                    <a:p>
                      <a:pPr algn="ctr"/>
                      <a:r>
                        <a:rPr lang="en-IN" sz="2200" dirty="0" smtClean="0"/>
                        <a:t>Present</a:t>
                      </a:r>
                      <a:r>
                        <a:rPr lang="en-IN" sz="2200" baseline="0" dirty="0" smtClean="0"/>
                        <a:t> value of annuity </a:t>
                      </a:r>
                    </a:p>
                    <a:p>
                      <a:pPr algn="ctr"/>
                      <a:r>
                        <a:rPr lang="en-IN" sz="2200" baseline="0" dirty="0" smtClean="0"/>
                        <a:t>(Rs.) </a:t>
                      </a:r>
                      <a:endParaRPr lang="en-IN" sz="2200" dirty="0"/>
                    </a:p>
                  </a:txBody>
                  <a:tcPr/>
                </a:tc>
                <a:extLst>
                  <a:ext uri="{0D108BD9-81ED-4DB2-BD59-A6C34878D82A}">
                    <a16:rowId xmlns:a16="http://schemas.microsoft.com/office/drawing/2014/main" val="2975926234"/>
                  </a:ext>
                </a:extLst>
              </a:tr>
              <a:tr h="370840">
                <a:tc>
                  <a:txBody>
                    <a:bodyPr/>
                    <a:lstStyle/>
                    <a:p>
                      <a:pPr algn="ctr"/>
                      <a:r>
                        <a:rPr lang="en-IN" sz="2500" dirty="0" smtClean="0"/>
                        <a:t>1</a:t>
                      </a:r>
                      <a:endParaRPr lang="en-IN" sz="2500" dirty="0"/>
                    </a:p>
                  </a:txBody>
                  <a:tcPr/>
                </a:tc>
                <a:tc>
                  <a:txBody>
                    <a:bodyPr/>
                    <a:lstStyle/>
                    <a:p>
                      <a:pPr algn="ctr"/>
                      <a:r>
                        <a:rPr lang="en-IN" sz="2500" dirty="0" smtClean="0"/>
                        <a:t>20,000</a:t>
                      </a:r>
                      <a:endParaRPr lang="en-IN" sz="2500" dirty="0"/>
                    </a:p>
                  </a:txBody>
                  <a:tcPr/>
                </a:tc>
                <a:tc>
                  <a:txBody>
                    <a:bodyPr/>
                    <a:lstStyle/>
                    <a:p>
                      <a:pPr algn="ctr"/>
                      <a:r>
                        <a:rPr lang="en-IN" sz="2500" dirty="0" smtClean="0"/>
                        <a:t>1.0000</a:t>
                      </a:r>
                      <a:endParaRPr lang="en-IN" sz="2500" dirty="0"/>
                    </a:p>
                  </a:txBody>
                  <a:tcPr/>
                </a:tc>
                <a:tc>
                  <a:txBody>
                    <a:bodyPr/>
                    <a:lstStyle/>
                    <a:p>
                      <a:pPr algn="ctr"/>
                      <a:r>
                        <a:rPr lang="en-IN" sz="2500" dirty="0" smtClean="0"/>
                        <a:t>20,000</a:t>
                      </a:r>
                      <a:endParaRPr lang="en-IN" sz="2500" dirty="0"/>
                    </a:p>
                  </a:txBody>
                  <a:tcPr/>
                </a:tc>
                <a:extLst>
                  <a:ext uri="{0D108BD9-81ED-4DB2-BD59-A6C34878D82A}">
                    <a16:rowId xmlns:a16="http://schemas.microsoft.com/office/drawing/2014/main" val="3299226437"/>
                  </a:ext>
                </a:extLst>
              </a:tr>
              <a:tr h="370840">
                <a:tc>
                  <a:txBody>
                    <a:bodyPr/>
                    <a:lstStyle/>
                    <a:p>
                      <a:pPr algn="ctr"/>
                      <a:r>
                        <a:rPr lang="en-IN" sz="2500" dirty="0" smtClean="0"/>
                        <a:t>2</a:t>
                      </a:r>
                      <a:endParaRPr lang="en-IN" sz="2500" dirty="0"/>
                    </a:p>
                  </a:txBody>
                  <a:tcPr/>
                </a:tc>
                <a:tc>
                  <a:txBody>
                    <a:bodyPr/>
                    <a:lstStyle/>
                    <a:p>
                      <a:pPr algn="ctr"/>
                      <a:r>
                        <a:rPr lang="en-IN" sz="2500" dirty="0" smtClean="0"/>
                        <a:t>20,000</a:t>
                      </a:r>
                      <a:endParaRPr lang="en-IN" sz="2500" dirty="0"/>
                    </a:p>
                  </a:txBody>
                  <a:tcPr/>
                </a:tc>
                <a:tc>
                  <a:txBody>
                    <a:bodyPr/>
                    <a:lstStyle/>
                    <a:p>
                      <a:pPr algn="ctr"/>
                      <a:r>
                        <a:rPr lang="en-IN" sz="2500" dirty="0" smtClean="0"/>
                        <a:t>0.9174</a:t>
                      </a:r>
                      <a:endParaRPr lang="en-IN" sz="2500" dirty="0"/>
                    </a:p>
                  </a:txBody>
                  <a:tcPr/>
                </a:tc>
                <a:tc>
                  <a:txBody>
                    <a:bodyPr/>
                    <a:lstStyle/>
                    <a:p>
                      <a:pPr algn="ctr"/>
                      <a:r>
                        <a:rPr lang="en-IN" sz="2500" dirty="0" smtClean="0"/>
                        <a:t>18,348</a:t>
                      </a:r>
                      <a:endParaRPr lang="en-IN" sz="2500" dirty="0"/>
                    </a:p>
                  </a:txBody>
                  <a:tcPr/>
                </a:tc>
                <a:extLst>
                  <a:ext uri="{0D108BD9-81ED-4DB2-BD59-A6C34878D82A}">
                    <a16:rowId xmlns:a16="http://schemas.microsoft.com/office/drawing/2014/main" val="1851499831"/>
                  </a:ext>
                </a:extLst>
              </a:tr>
              <a:tr h="370840">
                <a:tc>
                  <a:txBody>
                    <a:bodyPr/>
                    <a:lstStyle/>
                    <a:p>
                      <a:pPr algn="ctr"/>
                      <a:r>
                        <a:rPr lang="en-IN" sz="2500" dirty="0" smtClean="0"/>
                        <a:t>3</a:t>
                      </a:r>
                      <a:endParaRPr lang="en-IN" sz="2500" dirty="0"/>
                    </a:p>
                  </a:txBody>
                  <a:tcPr/>
                </a:tc>
                <a:tc>
                  <a:txBody>
                    <a:bodyPr/>
                    <a:lstStyle/>
                    <a:p>
                      <a:pPr algn="ctr"/>
                      <a:r>
                        <a:rPr lang="en-IN" sz="2500" dirty="0" smtClean="0"/>
                        <a:t>20,000</a:t>
                      </a:r>
                      <a:endParaRPr lang="en-IN" sz="2500" dirty="0"/>
                    </a:p>
                  </a:txBody>
                  <a:tcPr/>
                </a:tc>
                <a:tc>
                  <a:txBody>
                    <a:bodyPr/>
                    <a:lstStyle/>
                    <a:p>
                      <a:pPr algn="ctr"/>
                      <a:r>
                        <a:rPr lang="en-IN" sz="2500" dirty="0" smtClean="0"/>
                        <a:t>0.8417</a:t>
                      </a:r>
                      <a:endParaRPr lang="en-IN" sz="2500" dirty="0"/>
                    </a:p>
                  </a:txBody>
                  <a:tcPr/>
                </a:tc>
                <a:tc>
                  <a:txBody>
                    <a:bodyPr/>
                    <a:lstStyle/>
                    <a:p>
                      <a:pPr algn="ctr"/>
                      <a:r>
                        <a:rPr lang="en-IN" sz="2500" dirty="0" smtClean="0"/>
                        <a:t>16,834</a:t>
                      </a:r>
                      <a:endParaRPr lang="en-IN" sz="2500" dirty="0"/>
                    </a:p>
                  </a:txBody>
                  <a:tcPr/>
                </a:tc>
                <a:extLst>
                  <a:ext uri="{0D108BD9-81ED-4DB2-BD59-A6C34878D82A}">
                    <a16:rowId xmlns:a16="http://schemas.microsoft.com/office/drawing/2014/main" val="3089898414"/>
                  </a:ext>
                </a:extLst>
              </a:tr>
              <a:tr h="370840">
                <a:tc>
                  <a:txBody>
                    <a:bodyPr/>
                    <a:lstStyle/>
                    <a:p>
                      <a:pPr algn="ctr"/>
                      <a:r>
                        <a:rPr lang="en-IN" sz="2500" dirty="0" smtClean="0"/>
                        <a:t>4</a:t>
                      </a:r>
                      <a:endParaRPr lang="en-IN" sz="2500" dirty="0"/>
                    </a:p>
                  </a:txBody>
                  <a:tcPr/>
                </a:tc>
                <a:tc>
                  <a:txBody>
                    <a:bodyPr/>
                    <a:lstStyle/>
                    <a:p>
                      <a:pPr algn="ctr"/>
                      <a:r>
                        <a:rPr lang="en-IN" sz="2500" dirty="0" smtClean="0"/>
                        <a:t>20,000</a:t>
                      </a:r>
                      <a:endParaRPr lang="en-IN" sz="2500" dirty="0"/>
                    </a:p>
                  </a:txBody>
                  <a:tcPr/>
                </a:tc>
                <a:tc>
                  <a:txBody>
                    <a:bodyPr/>
                    <a:lstStyle/>
                    <a:p>
                      <a:pPr algn="ctr"/>
                      <a:r>
                        <a:rPr lang="en-IN" sz="2500" dirty="0" smtClean="0"/>
                        <a:t>0.7722</a:t>
                      </a:r>
                      <a:endParaRPr lang="en-IN" sz="2500" dirty="0"/>
                    </a:p>
                  </a:txBody>
                  <a:tcPr/>
                </a:tc>
                <a:tc>
                  <a:txBody>
                    <a:bodyPr/>
                    <a:lstStyle/>
                    <a:p>
                      <a:pPr algn="ctr"/>
                      <a:r>
                        <a:rPr lang="en-IN" sz="2500" dirty="0" smtClean="0"/>
                        <a:t>15,444</a:t>
                      </a:r>
                      <a:endParaRPr lang="en-IN" sz="2500" dirty="0"/>
                    </a:p>
                  </a:txBody>
                  <a:tcPr/>
                </a:tc>
                <a:extLst>
                  <a:ext uri="{0D108BD9-81ED-4DB2-BD59-A6C34878D82A}">
                    <a16:rowId xmlns:a16="http://schemas.microsoft.com/office/drawing/2014/main" val="2607232540"/>
                  </a:ext>
                </a:extLst>
              </a:tr>
              <a:tr h="370840">
                <a:tc gridSpan="3">
                  <a:txBody>
                    <a:bodyPr/>
                    <a:lstStyle/>
                    <a:p>
                      <a:pPr algn="ctr"/>
                      <a:r>
                        <a:rPr lang="en-IN" sz="2500" dirty="0" smtClean="0">
                          <a:solidFill>
                            <a:srgbClr val="FF0000"/>
                          </a:solidFill>
                        </a:rPr>
                        <a:t>Total PV of cash inflows</a:t>
                      </a:r>
                      <a:endParaRPr lang="en-IN" sz="2500" dirty="0">
                        <a:solidFill>
                          <a:srgbClr val="FF0000"/>
                        </a:solidFill>
                      </a:endParaRPr>
                    </a:p>
                  </a:txBody>
                  <a:tcPr/>
                </a:tc>
                <a:tc hMerge="1">
                  <a:txBody>
                    <a:bodyPr/>
                    <a:lstStyle/>
                    <a:p>
                      <a:pPr algn="ctr"/>
                      <a:endParaRPr lang="en-IN" sz="2500" dirty="0"/>
                    </a:p>
                  </a:txBody>
                  <a:tcPr/>
                </a:tc>
                <a:tc hMerge="1">
                  <a:txBody>
                    <a:bodyPr/>
                    <a:lstStyle/>
                    <a:p>
                      <a:pPr algn="ctr"/>
                      <a:endParaRPr lang="en-IN" sz="2500" dirty="0"/>
                    </a:p>
                  </a:txBody>
                  <a:tcPr/>
                </a:tc>
                <a:tc>
                  <a:txBody>
                    <a:bodyPr/>
                    <a:lstStyle/>
                    <a:p>
                      <a:pPr algn="ctr"/>
                      <a:r>
                        <a:rPr lang="en-IN" sz="2500" dirty="0" smtClean="0">
                          <a:solidFill>
                            <a:srgbClr val="FF0000"/>
                          </a:solidFill>
                        </a:rPr>
                        <a:t>70,626</a:t>
                      </a:r>
                      <a:endParaRPr lang="en-IN" sz="2500" dirty="0">
                        <a:solidFill>
                          <a:srgbClr val="FF0000"/>
                        </a:solidFill>
                      </a:endParaRPr>
                    </a:p>
                  </a:txBody>
                  <a:tcPr/>
                </a:tc>
                <a:extLst>
                  <a:ext uri="{0D108BD9-81ED-4DB2-BD59-A6C34878D82A}">
                    <a16:rowId xmlns:a16="http://schemas.microsoft.com/office/drawing/2014/main" val="1701808248"/>
                  </a:ext>
                </a:extLst>
              </a:tr>
            </a:tbl>
          </a:graphicData>
        </a:graphic>
      </p:graphicFrame>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699" y="332510"/>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497708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5127"/>
            <a:ext cx="10515600" cy="5331836"/>
          </a:xfrm>
        </p:spPr>
        <p:txBody>
          <a:bodyPr>
            <a:normAutofit/>
          </a:bodyPr>
          <a:lstStyle/>
          <a:p>
            <a:pPr marL="0" indent="0" algn="just">
              <a:buNone/>
            </a:pPr>
            <a:r>
              <a:rPr lang="en-IN" sz="2600" b="1" dirty="0" smtClean="0">
                <a:solidFill>
                  <a:srgbClr val="00B050"/>
                </a:solidFill>
              </a:rPr>
              <a:t>3. Present value of perpetuity: </a:t>
            </a:r>
          </a:p>
          <a:p>
            <a:pPr marL="0" indent="0" algn="just">
              <a:buNone/>
            </a:pPr>
            <a:r>
              <a:rPr lang="en-IN" sz="2600" dirty="0" smtClean="0"/>
              <a:t>Perpetuity </a:t>
            </a:r>
            <a:r>
              <a:rPr lang="en-IN" sz="2600" dirty="0"/>
              <a:t>is a </a:t>
            </a:r>
            <a:r>
              <a:rPr lang="en-IN" sz="2600" b="1" dirty="0">
                <a:solidFill>
                  <a:srgbClr val="FF0000"/>
                </a:solidFill>
              </a:rPr>
              <a:t>perpetual annuity, </a:t>
            </a:r>
            <a:r>
              <a:rPr lang="en-IN" sz="2600" dirty="0"/>
              <a:t>it is </a:t>
            </a:r>
            <a:r>
              <a:rPr lang="en-IN" sz="2600" b="1" dirty="0">
                <a:solidFill>
                  <a:srgbClr val="FF0000"/>
                </a:solidFill>
              </a:rPr>
              <a:t>a series of equal infinite cash flows that occur at the end of each period </a:t>
            </a:r>
            <a:r>
              <a:rPr lang="en-IN" sz="2600" dirty="0"/>
              <a:t>and </a:t>
            </a:r>
            <a:r>
              <a:rPr lang="en-IN" sz="2600" b="1" dirty="0">
                <a:solidFill>
                  <a:srgbClr val="00B050"/>
                </a:solidFill>
              </a:rPr>
              <a:t>there is </a:t>
            </a:r>
            <a:r>
              <a:rPr lang="en-IN" sz="2600" b="1" dirty="0" smtClean="0">
                <a:solidFill>
                  <a:srgbClr val="00B050"/>
                </a:solidFill>
              </a:rPr>
              <a:t>an equal </a:t>
            </a:r>
            <a:r>
              <a:rPr lang="en-IN" sz="2600" b="1" dirty="0">
                <a:solidFill>
                  <a:srgbClr val="00B050"/>
                </a:solidFill>
              </a:rPr>
              <a:t>interval of time between the cash flows.</a:t>
            </a:r>
            <a:r>
              <a:rPr lang="en-IN" sz="2600" dirty="0"/>
              <a:t> </a:t>
            </a:r>
            <a:r>
              <a:rPr lang="en-IN" sz="2600" dirty="0" smtClean="0"/>
              <a:t>The present </a:t>
            </a:r>
            <a:r>
              <a:rPr lang="en-IN" sz="2600" dirty="0"/>
              <a:t>value of a perpetuity </a:t>
            </a:r>
            <a:r>
              <a:rPr lang="en-IN" sz="2600" b="1" dirty="0">
                <a:solidFill>
                  <a:srgbClr val="FF0000"/>
                </a:solidFill>
              </a:rPr>
              <a:t>equals the periodic cash flow divided by the interest </a:t>
            </a:r>
            <a:r>
              <a:rPr lang="en-IN" sz="2600" b="1" dirty="0" smtClean="0">
                <a:solidFill>
                  <a:srgbClr val="FF0000"/>
                </a:solidFill>
              </a:rPr>
              <a:t>rate</a:t>
            </a:r>
            <a:r>
              <a:rPr lang="en-IN" sz="2600" dirty="0" smtClean="0"/>
              <a:t>.</a:t>
            </a:r>
            <a:r>
              <a:rPr lang="en-IN" sz="2600" dirty="0" smtClean="0">
                <a:solidFill>
                  <a:srgbClr val="FF0000"/>
                </a:solidFill>
              </a:rPr>
              <a:t> </a:t>
            </a:r>
            <a:r>
              <a:rPr lang="en-IN" sz="2600" dirty="0" smtClean="0"/>
              <a:t>Examples of perpetuity are:</a:t>
            </a:r>
          </a:p>
          <a:p>
            <a:pPr algn="just"/>
            <a:r>
              <a:rPr lang="en-IN" sz="2600" dirty="0" smtClean="0"/>
              <a:t>Dividend in irredeemable preference share capital.</a:t>
            </a:r>
          </a:p>
          <a:p>
            <a:pPr algn="just"/>
            <a:r>
              <a:rPr lang="en-IN" sz="2600" dirty="0" smtClean="0"/>
              <a:t>Interest on irredeemable debts/bonds.</a:t>
            </a:r>
          </a:p>
          <a:p>
            <a:pPr algn="just"/>
            <a:r>
              <a:rPr lang="en-IN" sz="2600" dirty="0" smtClean="0"/>
              <a:t>Scholarships paid perpetually from an endowment fund etc.,</a:t>
            </a:r>
          </a:p>
          <a:p>
            <a:pPr marL="0" indent="0" algn="just">
              <a:buNone/>
            </a:pPr>
            <a:r>
              <a:rPr lang="en-IN" sz="2600" dirty="0" smtClean="0"/>
              <a:t>It is calculated as follows:</a:t>
            </a:r>
          </a:p>
          <a:p>
            <a:pPr marL="0" indent="0" algn="just">
              <a:buNone/>
            </a:pPr>
            <a:r>
              <a:rPr lang="en-IN" sz="2600" b="1" dirty="0" smtClean="0">
                <a:solidFill>
                  <a:srgbClr val="FF0000"/>
                </a:solidFill>
              </a:rPr>
              <a:t>PV of a constant perpetuity = Cash flow/Interest rate or yield </a:t>
            </a:r>
          </a:p>
          <a:p>
            <a:pPr algn="just"/>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46364"/>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90059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8982"/>
            <a:ext cx="10515600" cy="5070834"/>
          </a:xfrm>
        </p:spPr>
        <p:txBody>
          <a:bodyPr>
            <a:normAutofit/>
          </a:bodyPr>
          <a:lstStyle/>
          <a:p>
            <a:pPr marL="0" indent="0" algn="just">
              <a:buNone/>
            </a:pPr>
            <a:r>
              <a:rPr lang="en-IN" sz="2600" b="1" dirty="0" smtClean="0">
                <a:solidFill>
                  <a:srgbClr val="FF0000"/>
                </a:solidFill>
              </a:rPr>
              <a:t>Solved Problem:</a:t>
            </a:r>
          </a:p>
          <a:p>
            <a:pPr marL="0" indent="0" algn="just">
              <a:buNone/>
            </a:pPr>
            <a:r>
              <a:rPr lang="en-IN" sz="2600" dirty="0" smtClean="0"/>
              <a:t>P8. A company has issued 10% Preference shares of Rs. 100 each. What would be market price of the preference share if the rate of interest for the investment is 8%?</a:t>
            </a:r>
          </a:p>
          <a:p>
            <a:pPr marL="0" indent="0" algn="just">
              <a:buNone/>
            </a:pPr>
            <a:r>
              <a:rPr lang="en-IN" sz="2600" b="1" dirty="0" smtClean="0">
                <a:solidFill>
                  <a:srgbClr val="FF0000"/>
                </a:solidFill>
              </a:rPr>
              <a:t>Solution:</a:t>
            </a:r>
          </a:p>
          <a:p>
            <a:pPr marL="0" indent="0" algn="just">
              <a:buNone/>
            </a:pPr>
            <a:r>
              <a:rPr lang="en-IN" sz="2600" dirty="0" smtClean="0">
                <a:solidFill>
                  <a:srgbClr val="FF0000"/>
                </a:solidFill>
              </a:rPr>
              <a:t>Computation of market price of preference share:</a:t>
            </a:r>
          </a:p>
          <a:p>
            <a:pPr marL="0" indent="0" algn="just">
              <a:buNone/>
            </a:pPr>
            <a:r>
              <a:rPr lang="en-IN" sz="2600" dirty="0" smtClean="0"/>
              <a:t>PV of a constant perpetuity = </a:t>
            </a:r>
            <a:r>
              <a:rPr lang="en-IN" sz="2600" dirty="0" smtClean="0">
                <a:solidFill>
                  <a:srgbClr val="FF0000"/>
                </a:solidFill>
              </a:rPr>
              <a:t>Cash inflow/Rate of interest</a:t>
            </a:r>
          </a:p>
          <a:p>
            <a:pPr marL="0" indent="0" algn="just">
              <a:buNone/>
            </a:pPr>
            <a:r>
              <a:rPr lang="en-IN" sz="2600" dirty="0" smtClean="0">
                <a:solidFill>
                  <a:srgbClr val="FF0000"/>
                </a:solidFill>
              </a:rPr>
              <a:t>Cash flow = Dividend per share.</a:t>
            </a:r>
          </a:p>
          <a:p>
            <a:pPr marL="0" indent="0" algn="just">
              <a:buNone/>
            </a:pPr>
            <a:r>
              <a:rPr lang="en-IN" sz="2600" dirty="0" smtClean="0"/>
              <a:t>Dividend per share   = Rs.100×10/100 = Rs. 10.</a:t>
            </a:r>
          </a:p>
          <a:p>
            <a:pPr marL="0" indent="0" algn="just">
              <a:buNone/>
            </a:pPr>
            <a:r>
              <a:rPr lang="en-IN" sz="2600" dirty="0" smtClean="0"/>
              <a:t> 			= Rs.10/8% </a:t>
            </a:r>
          </a:p>
          <a:p>
            <a:pPr marL="0" indent="0" algn="just">
              <a:buNone/>
            </a:pPr>
            <a:r>
              <a:rPr lang="en-IN" sz="2600" dirty="0" smtClean="0">
                <a:solidFill>
                  <a:srgbClr val="FF0000"/>
                </a:solidFill>
              </a:rPr>
              <a:t>			= Rs. 125</a:t>
            </a: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46364"/>
            <a:ext cx="1816100" cy="512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698182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691"/>
            <a:ext cx="10515600" cy="5290272"/>
          </a:xfrm>
        </p:spPr>
        <p:txBody>
          <a:bodyPr>
            <a:normAutofit/>
          </a:bodyPr>
          <a:lstStyle/>
          <a:p>
            <a:pPr marL="0" indent="0" algn="just">
              <a:buNone/>
            </a:pPr>
            <a:r>
              <a:rPr lang="en-IN" sz="2600" b="1" dirty="0" smtClean="0">
                <a:solidFill>
                  <a:srgbClr val="00B050"/>
                </a:solidFill>
              </a:rPr>
              <a:t>4. Present value of growing perpetuity:</a:t>
            </a:r>
          </a:p>
          <a:p>
            <a:pPr marL="0" indent="0" algn="just">
              <a:buNone/>
            </a:pPr>
            <a:r>
              <a:rPr lang="en-IN" sz="2600" dirty="0" smtClean="0"/>
              <a:t>A growing perpetuity is an infinite series of periodic cash flows </a:t>
            </a:r>
            <a:r>
              <a:rPr lang="en-IN" sz="2600" b="1" dirty="0" smtClean="0">
                <a:solidFill>
                  <a:srgbClr val="FF0000"/>
                </a:solidFill>
              </a:rPr>
              <a:t>that grow at a constant rate per period. </a:t>
            </a:r>
            <a:r>
              <a:rPr lang="en-IN" sz="2600" dirty="0" smtClean="0"/>
              <a:t>The PV of growing perpetuity is calculated as follows:</a:t>
            </a:r>
          </a:p>
          <a:p>
            <a:pPr marL="0" indent="0" algn="just">
              <a:buNone/>
            </a:pPr>
            <a:r>
              <a:rPr lang="en-IN" sz="2600" b="1" dirty="0" smtClean="0">
                <a:solidFill>
                  <a:srgbClr val="FF0000"/>
                </a:solidFill>
              </a:rPr>
              <a:t>PV of a growing perpetuity = Cash flow / [Rate of interest – Growth rate] </a:t>
            </a:r>
          </a:p>
          <a:p>
            <a:pPr marL="0" indent="0" algn="just">
              <a:buNone/>
            </a:pPr>
            <a:r>
              <a:rPr lang="en-IN" sz="2600" b="1" dirty="0" smtClean="0">
                <a:solidFill>
                  <a:srgbClr val="FF0000"/>
                </a:solidFill>
              </a:rPr>
              <a:t>Note:</a:t>
            </a:r>
          </a:p>
          <a:p>
            <a:pPr marL="0" indent="0" algn="just">
              <a:buNone/>
            </a:pPr>
            <a:r>
              <a:rPr lang="en-IN" sz="2600" dirty="0" smtClean="0"/>
              <a:t>It may be noted that the above formula can be used only </a:t>
            </a:r>
            <a:r>
              <a:rPr lang="en-IN" sz="2600" b="1" dirty="0" smtClean="0">
                <a:solidFill>
                  <a:srgbClr val="FF0000"/>
                </a:solidFill>
              </a:rPr>
              <a:t>if the rate of interest is more than the rate of growth [r ≥ g].</a:t>
            </a:r>
            <a:endParaRPr lang="en-IN" sz="2600" b="1"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8792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1476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6582"/>
            <a:ext cx="10515600" cy="5470381"/>
          </a:xfrm>
        </p:spPr>
        <p:txBody>
          <a:bodyPr>
            <a:normAutofit/>
          </a:bodyPr>
          <a:lstStyle/>
          <a:p>
            <a:pPr marL="0" indent="0" algn="just">
              <a:buNone/>
            </a:pPr>
            <a:r>
              <a:rPr lang="en-IN" sz="2600" dirty="0" smtClean="0"/>
              <a:t>P9. A company has paid equity dividend of Rs. 12 per share. Its profit and divided are expected to grow at 6%. Calculate the market price of an equity share, if the rate of interest for the investors 22%.</a:t>
            </a:r>
          </a:p>
          <a:p>
            <a:pPr marL="0" indent="0" algn="just">
              <a:buNone/>
            </a:pPr>
            <a:r>
              <a:rPr lang="en-IN" sz="2600" b="1" dirty="0" smtClean="0">
                <a:solidFill>
                  <a:srgbClr val="FF0000"/>
                </a:solidFill>
              </a:rPr>
              <a:t>Solution: </a:t>
            </a:r>
          </a:p>
          <a:p>
            <a:pPr marL="0" indent="0" algn="just">
              <a:buNone/>
            </a:pPr>
            <a:r>
              <a:rPr lang="en-IN" sz="2600" b="1" dirty="0" smtClean="0">
                <a:solidFill>
                  <a:srgbClr val="FF0000"/>
                </a:solidFill>
              </a:rPr>
              <a:t>Computation of the market price of equity share: </a:t>
            </a:r>
          </a:p>
          <a:p>
            <a:pPr marL="0" indent="0" algn="just">
              <a:buNone/>
            </a:pPr>
            <a:r>
              <a:rPr lang="en-IN" sz="2600" dirty="0" smtClean="0"/>
              <a:t>PV of growing perpetuity = Cash flow/[Rate of interest – </a:t>
            </a:r>
            <a:r>
              <a:rPr lang="en-IN" sz="2600" dirty="0"/>
              <a:t>G</a:t>
            </a:r>
            <a:r>
              <a:rPr lang="en-IN" sz="2600" dirty="0" smtClean="0"/>
              <a:t>rowth rate]</a:t>
            </a:r>
          </a:p>
          <a:p>
            <a:pPr marL="0" indent="0" algn="just">
              <a:buNone/>
            </a:pPr>
            <a:r>
              <a:rPr lang="en-IN" sz="2600" dirty="0" smtClean="0"/>
              <a:t>	= Rs.12/[22% - 6%]</a:t>
            </a:r>
          </a:p>
          <a:p>
            <a:pPr marL="0" indent="0" algn="just">
              <a:buNone/>
            </a:pPr>
            <a:r>
              <a:rPr lang="en-IN" sz="2600" dirty="0" smtClean="0"/>
              <a:t>	= Rs. 12/16%</a:t>
            </a:r>
          </a:p>
          <a:p>
            <a:pPr marL="0" indent="0" algn="just">
              <a:buNone/>
            </a:pPr>
            <a:r>
              <a:rPr lang="en-IN" sz="2600" dirty="0" smtClean="0"/>
              <a:t>	= Rs. 12/0.16</a:t>
            </a:r>
          </a:p>
          <a:p>
            <a:pPr marL="0" indent="0" algn="just">
              <a:buNone/>
            </a:pPr>
            <a:r>
              <a:rPr lang="en-IN" sz="2600" dirty="0" smtClean="0"/>
              <a:t>	</a:t>
            </a:r>
            <a:r>
              <a:rPr lang="en-IN" sz="2600" dirty="0" smtClean="0">
                <a:solidFill>
                  <a:srgbClr val="FF0000"/>
                </a:solidFill>
              </a:rPr>
              <a:t>= Rs. 75</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49383"/>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317363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691"/>
            <a:ext cx="10515600" cy="5290272"/>
          </a:xfrm>
        </p:spPr>
        <p:txBody>
          <a:bodyPr>
            <a:normAutofit/>
          </a:bodyPr>
          <a:lstStyle/>
          <a:p>
            <a:pPr marL="0" indent="0" algn="just">
              <a:buNone/>
            </a:pPr>
            <a:r>
              <a:rPr lang="en-IN" sz="2600" dirty="0" smtClean="0"/>
              <a:t>P10. Determine the present value of perpetuity of Rs. 1,00,000 for infinite period at an effective rate of interest of 12% p.a. if steady growth rate is 10% per year.</a:t>
            </a:r>
          </a:p>
          <a:p>
            <a:pPr marL="0" indent="0" algn="just">
              <a:buNone/>
            </a:pPr>
            <a:r>
              <a:rPr lang="en-IN" sz="2600" b="1" dirty="0" smtClean="0">
                <a:solidFill>
                  <a:srgbClr val="FF0000"/>
                </a:solidFill>
              </a:rPr>
              <a:t>Solution:</a:t>
            </a:r>
          </a:p>
          <a:p>
            <a:pPr marL="0" indent="0" algn="just">
              <a:buNone/>
            </a:pPr>
            <a:r>
              <a:rPr lang="en-IN" sz="2600" dirty="0" smtClean="0"/>
              <a:t>P.V = { cash flow / [r-g]</a:t>
            </a:r>
          </a:p>
          <a:p>
            <a:pPr marL="0" indent="0" algn="just">
              <a:buNone/>
            </a:pPr>
            <a:r>
              <a:rPr lang="en-IN" sz="2600" dirty="0" smtClean="0"/>
              <a:t>	= Rs. 1,00,000 / [0.12 – 0.10]</a:t>
            </a:r>
          </a:p>
          <a:p>
            <a:pPr marL="0" indent="0" algn="just">
              <a:buNone/>
            </a:pPr>
            <a:r>
              <a:rPr lang="en-IN" sz="2600" dirty="0" smtClean="0"/>
              <a:t>	= Rs. 1,00,000 / 0.02</a:t>
            </a:r>
          </a:p>
          <a:p>
            <a:pPr marL="0" indent="0" algn="just">
              <a:buNone/>
            </a:pPr>
            <a:r>
              <a:rPr lang="en-IN" sz="2600" dirty="0" smtClean="0">
                <a:solidFill>
                  <a:srgbClr val="FF0000"/>
                </a:solidFill>
              </a:rPr>
              <a:t>	= Rs. 50,00,000</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8792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542822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9709"/>
            <a:ext cx="10515600" cy="5387254"/>
          </a:xfrm>
        </p:spPr>
        <p:txBody>
          <a:bodyPr>
            <a:normAutofit/>
          </a:bodyPr>
          <a:lstStyle/>
          <a:p>
            <a:pPr marL="0" indent="0" algn="just">
              <a:buNone/>
            </a:pPr>
            <a:r>
              <a:rPr lang="en-IN" sz="2600" dirty="0" smtClean="0"/>
              <a:t>P11. Determine the present value of perpetuity of Rs. 1,00,000 for infinite period at an effective rate of interest of 12% p.a. and steady growth rate is 10% per year if perpetuity is payable at the beginning of the year?</a:t>
            </a:r>
          </a:p>
          <a:p>
            <a:pPr marL="0" indent="0" algn="just">
              <a:buNone/>
            </a:pPr>
            <a:r>
              <a:rPr lang="en-IN" sz="2600" b="1" dirty="0" smtClean="0">
                <a:solidFill>
                  <a:srgbClr val="FF0000"/>
                </a:solidFill>
              </a:rPr>
              <a:t>Solution:</a:t>
            </a:r>
          </a:p>
          <a:p>
            <a:pPr marL="0" indent="0" algn="just">
              <a:buNone/>
            </a:pPr>
            <a:r>
              <a:rPr lang="en-IN" sz="2600" dirty="0" smtClean="0">
                <a:solidFill>
                  <a:srgbClr val="FF0000"/>
                </a:solidFill>
              </a:rPr>
              <a:t>PV = Cash flow + {Cash flow [1+g]/[r-g]}</a:t>
            </a:r>
          </a:p>
          <a:p>
            <a:pPr marL="0" indent="0" algn="just">
              <a:buNone/>
            </a:pPr>
            <a:r>
              <a:rPr lang="en-IN" sz="2600" dirty="0" smtClean="0"/>
              <a:t>PV = Rs. 1,00,000 + {Rs. 1,00,000 [1+0.10]/[0.12-0.10]}</a:t>
            </a:r>
          </a:p>
          <a:p>
            <a:pPr marL="0" indent="0" algn="just">
              <a:buNone/>
            </a:pPr>
            <a:r>
              <a:rPr lang="en-IN" sz="2600" dirty="0" smtClean="0"/>
              <a:t>PV = Rs. 1,00,000 + [Rs. 1,10,000/0.02]</a:t>
            </a:r>
          </a:p>
          <a:p>
            <a:pPr marL="0" indent="0" algn="just">
              <a:buNone/>
            </a:pPr>
            <a:r>
              <a:rPr lang="en-IN" sz="2600" dirty="0" smtClean="0"/>
              <a:t>PV = Rs. 1,00,000 + Rs. 55,00,000</a:t>
            </a:r>
          </a:p>
          <a:p>
            <a:pPr marL="0" indent="0" algn="just">
              <a:buNone/>
            </a:pPr>
            <a:r>
              <a:rPr lang="en-IN" sz="2600" dirty="0" smtClean="0">
                <a:solidFill>
                  <a:srgbClr val="FF0000"/>
                </a:solidFill>
              </a:rPr>
              <a:t>PV = 56,00,000</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290946"/>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239292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691"/>
            <a:ext cx="10515600" cy="5290272"/>
          </a:xfrm>
        </p:spPr>
        <p:txBody>
          <a:bodyPr>
            <a:normAutofit/>
          </a:bodyPr>
          <a:lstStyle/>
          <a:p>
            <a:pPr marL="0" indent="0" algn="just">
              <a:buNone/>
            </a:pPr>
            <a:r>
              <a:rPr lang="en-IN" sz="2600" dirty="0" smtClean="0"/>
              <a:t>P12. Mr. X expects a perpetual sum of Rs. 9,000 annually for an indefinite period. Assuming a discount rate of 18%. Calculate the present value of perpetuity.</a:t>
            </a:r>
          </a:p>
          <a:p>
            <a:pPr marL="0" indent="0" algn="just">
              <a:buNone/>
            </a:pPr>
            <a:r>
              <a:rPr lang="en-IN" sz="2600" b="1" dirty="0" smtClean="0">
                <a:solidFill>
                  <a:srgbClr val="FF0000"/>
                </a:solidFill>
              </a:rPr>
              <a:t>Solution:</a:t>
            </a:r>
          </a:p>
          <a:p>
            <a:pPr marL="0" indent="0" algn="just">
              <a:buNone/>
            </a:pPr>
            <a:r>
              <a:rPr lang="en-IN" sz="2600" dirty="0" smtClean="0">
                <a:solidFill>
                  <a:srgbClr val="FF0000"/>
                </a:solidFill>
              </a:rPr>
              <a:t>Computation of PV of perpetuity:</a:t>
            </a:r>
          </a:p>
          <a:p>
            <a:pPr marL="0" indent="0" algn="just">
              <a:buNone/>
            </a:pPr>
            <a:r>
              <a:rPr lang="en-IN" sz="2600" dirty="0" smtClean="0"/>
              <a:t>PV of perpetuity = Cash inflow/Rate of interest</a:t>
            </a:r>
          </a:p>
          <a:p>
            <a:pPr marL="0" indent="0" algn="just">
              <a:buNone/>
            </a:pPr>
            <a:r>
              <a:rPr lang="en-IN" sz="2600" dirty="0" smtClean="0"/>
              <a:t>		= Rs. 9,000/0.18</a:t>
            </a:r>
          </a:p>
          <a:p>
            <a:pPr marL="0" indent="0" algn="just">
              <a:buNone/>
            </a:pPr>
            <a:r>
              <a:rPr lang="en-IN" sz="2600" dirty="0" smtClean="0">
                <a:solidFill>
                  <a:srgbClr val="FF0000"/>
                </a:solidFill>
              </a:rPr>
              <a:t>		= Rs. 50,000</a:t>
            </a:r>
          </a:p>
          <a:p>
            <a:pPr marL="0" indent="0" algn="just">
              <a:buNone/>
            </a:pPr>
            <a:r>
              <a:rPr lang="en-IN" sz="2600" dirty="0" smtClean="0">
                <a:solidFill>
                  <a:srgbClr val="FF0000"/>
                </a:solidFill>
              </a:rPr>
              <a:t>It means that if Mr. X invests Rs. 50,000 now at 18%, he will get Rs. 9,000 p.a. for a an indefinite period.</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387928"/>
            <a:ext cx="1816100" cy="4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29132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3393"/>
            <a:ext cx="10515600" cy="4616245"/>
          </a:xfrm>
        </p:spPr>
        <p:txBody>
          <a:bodyPr/>
          <a:lstStyle/>
          <a:p>
            <a:pPr marL="0" indent="0" algn="ctr">
              <a:buNone/>
            </a:pPr>
            <a:endParaRPr lang="en-IN" sz="4400" dirty="0" smtClean="0">
              <a:solidFill>
                <a:srgbClr val="FF0000"/>
              </a:solidFill>
              <a:latin typeface="Bell MT" panose="02020503060305020303" pitchFamily="18" charset="0"/>
            </a:endParaRPr>
          </a:p>
          <a:p>
            <a:pPr marL="0" indent="0" algn="ctr">
              <a:buNone/>
            </a:pPr>
            <a:endParaRPr lang="en-IN" sz="4400" dirty="0">
              <a:solidFill>
                <a:srgbClr val="FF0000"/>
              </a:solidFill>
              <a:latin typeface="Bell MT" panose="02020503060305020303" pitchFamily="18" charset="0"/>
            </a:endParaRPr>
          </a:p>
          <a:p>
            <a:pPr marL="0" indent="0" algn="ctr">
              <a:buNone/>
            </a:pPr>
            <a:endParaRPr lang="en-IN" sz="4400" dirty="0" smtClean="0">
              <a:solidFill>
                <a:srgbClr val="FF0000"/>
              </a:solidFill>
              <a:latin typeface="Bell MT" panose="02020503060305020303" pitchFamily="18" charset="0"/>
            </a:endParaRPr>
          </a:p>
          <a:p>
            <a:pPr marL="0" indent="0" algn="ctr">
              <a:buNone/>
            </a:pPr>
            <a:r>
              <a:rPr lang="en-IN" sz="4400" b="1" dirty="0" smtClean="0">
                <a:solidFill>
                  <a:srgbClr val="FF0000"/>
                </a:solidFill>
                <a:latin typeface="Bell MT" panose="02020503060305020303" pitchFamily="18" charset="0"/>
              </a:rPr>
              <a:t>Thank You</a:t>
            </a:r>
          </a:p>
          <a:p>
            <a:pPr marL="0" indent="0">
              <a:buNone/>
            </a:pPr>
            <a:endParaRPr lang="en-IN" dirty="0"/>
          </a:p>
        </p:txBody>
      </p:sp>
      <p:pic>
        <p:nvPicPr>
          <p:cNvPr id="4" name="Picture 6" descr="Image result for sastr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7700" y="526921"/>
            <a:ext cx="1816100" cy="526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33723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2311</TotalTime>
  <Words>5140</Words>
  <Application>Microsoft Office PowerPoint</Application>
  <PresentationFormat>Widescreen</PresentationFormat>
  <Paragraphs>676</Paragraphs>
  <Slides>65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Arial</vt:lpstr>
      <vt:lpstr>Bell MT</vt:lpstr>
      <vt:lpstr>Bodoni MT</vt:lpstr>
      <vt:lpstr>Calibri</vt:lpstr>
      <vt:lpstr>Calibri Light</vt:lpstr>
      <vt:lpstr>Office Theme</vt:lpstr>
      <vt:lpstr>Time Value of Money (Unit-I)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Sabarish</dc:creator>
  <cp:lastModifiedBy>Sabarish</cp:lastModifiedBy>
  <cp:revision>417</cp:revision>
  <dcterms:created xsi:type="dcterms:W3CDTF">2020-08-21T07:26:34Z</dcterms:created>
  <dcterms:modified xsi:type="dcterms:W3CDTF">2025-08-01T08:13:04Z</dcterms:modified>
</cp:coreProperties>
</file>