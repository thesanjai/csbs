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81" r:id="rId7"/>
    <p:sldId id="261" r:id="rId8"/>
    <p:sldId id="279" r:id="rId9"/>
    <p:sldId id="262" r:id="rId10"/>
    <p:sldId id="263" r:id="rId11"/>
    <p:sldId id="264" r:id="rId12"/>
    <p:sldId id="265" r:id="rId13"/>
    <p:sldId id="266" r:id="rId14"/>
    <p:sldId id="267" r:id="rId15"/>
    <p:sldId id="280" r:id="rId16"/>
    <p:sldId id="268" r:id="rId17"/>
    <p:sldId id="269" r:id="rId18"/>
    <p:sldId id="270" r:id="rId19"/>
    <p:sldId id="271" r:id="rId20"/>
    <p:sldId id="272" r:id="rId21"/>
    <p:sldId id="273" r:id="rId22"/>
    <p:sldId id="275" r:id="rId23"/>
    <p:sldId id="276" r:id="rId24"/>
    <p:sldId id="277"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6733B7F-A2C1-4528-A20B-F852C5F6E3D1}" type="datetimeFigureOut">
              <a:rPr lang="en-IN" smtClean="0"/>
              <a:t>03-09-2025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DE2BFA-BE4B-4545-A7ED-3B98A9481D64}" type="slidenum">
              <a:rPr lang="en-IN" smtClean="0"/>
              <a:t>‹#›</a:t>
            </a:fld>
            <a:endParaRPr lang="en-IN"/>
          </a:p>
        </p:txBody>
      </p:sp>
    </p:spTree>
    <p:extLst>
      <p:ext uri="{BB962C8B-B14F-4D97-AF65-F5344CB8AC3E}">
        <p14:creationId xmlns:p14="http://schemas.microsoft.com/office/powerpoint/2010/main" val="2385126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733B7F-A2C1-4528-A20B-F852C5F6E3D1}" type="datetimeFigureOut">
              <a:rPr lang="en-IN" smtClean="0"/>
              <a:t>03-09-2025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DE2BFA-BE4B-4545-A7ED-3B98A9481D64}" type="slidenum">
              <a:rPr lang="en-IN" smtClean="0"/>
              <a:t>‹#›</a:t>
            </a:fld>
            <a:endParaRPr lang="en-IN"/>
          </a:p>
        </p:txBody>
      </p:sp>
    </p:spTree>
    <p:extLst>
      <p:ext uri="{BB962C8B-B14F-4D97-AF65-F5344CB8AC3E}">
        <p14:creationId xmlns:p14="http://schemas.microsoft.com/office/powerpoint/2010/main" val="1258409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733B7F-A2C1-4528-A20B-F852C5F6E3D1}" type="datetimeFigureOut">
              <a:rPr lang="en-IN" smtClean="0"/>
              <a:t>03-09-2025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DE2BFA-BE4B-4545-A7ED-3B98A9481D64}" type="slidenum">
              <a:rPr lang="en-IN" smtClean="0"/>
              <a:t>‹#›</a:t>
            </a:fld>
            <a:endParaRPr lang="en-IN"/>
          </a:p>
        </p:txBody>
      </p:sp>
    </p:spTree>
    <p:extLst>
      <p:ext uri="{BB962C8B-B14F-4D97-AF65-F5344CB8AC3E}">
        <p14:creationId xmlns:p14="http://schemas.microsoft.com/office/powerpoint/2010/main" val="4187971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733B7F-A2C1-4528-A20B-F852C5F6E3D1}" type="datetimeFigureOut">
              <a:rPr lang="en-IN" smtClean="0"/>
              <a:t>03-09-2025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DDE2BFA-BE4B-4545-A7ED-3B98A9481D64}" type="slidenum">
              <a:rPr lang="en-IN" smtClean="0"/>
              <a:t>‹#›</a:t>
            </a:fld>
            <a:endParaRPr lang="en-IN"/>
          </a:p>
        </p:txBody>
      </p:sp>
    </p:spTree>
    <p:extLst>
      <p:ext uri="{BB962C8B-B14F-4D97-AF65-F5344CB8AC3E}">
        <p14:creationId xmlns:p14="http://schemas.microsoft.com/office/powerpoint/2010/main" val="1123199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733B7F-A2C1-4528-A20B-F852C5F6E3D1}" type="datetimeFigureOut">
              <a:rPr lang="en-IN" smtClean="0"/>
              <a:t>03-09-2025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DDE2BFA-BE4B-4545-A7ED-3B98A9481D64}" type="slidenum">
              <a:rPr lang="en-IN" smtClean="0"/>
              <a:t>‹#›</a:t>
            </a:fld>
            <a:endParaRPr lang="en-IN"/>
          </a:p>
        </p:txBody>
      </p:sp>
    </p:spTree>
    <p:extLst>
      <p:ext uri="{BB962C8B-B14F-4D97-AF65-F5344CB8AC3E}">
        <p14:creationId xmlns:p14="http://schemas.microsoft.com/office/powerpoint/2010/main" val="3141696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6733B7F-A2C1-4528-A20B-F852C5F6E3D1}" type="datetimeFigureOut">
              <a:rPr lang="en-IN" smtClean="0"/>
              <a:t>03-09-2025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DDE2BFA-BE4B-4545-A7ED-3B98A9481D64}" type="slidenum">
              <a:rPr lang="en-IN" smtClean="0"/>
              <a:t>‹#›</a:t>
            </a:fld>
            <a:endParaRPr lang="en-IN"/>
          </a:p>
        </p:txBody>
      </p:sp>
    </p:spTree>
    <p:extLst>
      <p:ext uri="{BB962C8B-B14F-4D97-AF65-F5344CB8AC3E}">
        <p14:creationId xmlns:p14="http://schemas.microsoft.com/office/powerpoint/2010/main" val="2144609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733B7F-A2C1-4528-A20B-F852C5F6E3D1}" type="datetimeFigureOut">
              <a:rPr lang="en-IN" smtClean="0"/>
              <a:t>03-09-2025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DDE2BFA-BE4B-4545-A7ED-3B98A9481D64}" type="slidenum">
              <a:rPr lang="en-IN" smtClean="0"/>
              <a:t>‹#›</a:t>
            </a:fld>
            <a:endParaRPr lang="en-IN"/>
          </a:p>
        </p:txBody>
      </p:sp>
    </p:spTree>
    <p:extLst>
      <p:ext uri="{BB962C8B-B14F-4D97-AF65-F5344CB8AC3E}">
        <p14:creationId xmlns:p14="http://schemas.microsoft.com/office/powerpoint/2010/main" val="3988598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733B7F-A2C1-4528-A20B-F852C5F6E3D1}" type="datetimeFigureOut">
              <a:rPr lang="en-IN" smtClean="0"/>
              <a:t>03-09-2025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DDE2BFA-BE4B-4545-A7ED-3B98A9481D64}" type="slidenum">
              <a:rPr lang="en-IN" smtClean="0"/>
              <a:t>‹#›</a:t>
            </a:fld>
            <a:endParaRPr lang="en-IN"/>
          </a:p>
        </p:txBody>
      </p:sp>
    </p:spTree>
    <p:extLst>
      <p:ext uri="{BB962C8B-B14F-4D97-AF65-F5344CB8AC3E}">
        <p14:creationId xmlns:p14="http://schemas.microsoft.com/office/powerpoint/2010/main" val="796501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DDE2BFA-BE4B-4545-A7ED-3B98A9481D64}" type="slidenum">
              <a:rPr lang="en-IN" smtClean="0"/>
              <a:t>‹#›</a:t>
            </a:fld>
            <a:endParaRPr lang="en-IN"/>
          </a:p>
        </p:txBody>
      </p:sp>
      <p:sp>
        <p:nvSpPr>
          <p:cNvPr id="5" name="Date Placeholder 4"/>
          <p:cNvSpPr>
            <a:spLocks noGrp="1"/>
          </p:cNvSpPr>
          <p:nvPr>
            <p:ph type="dt" sz="half" idx="10"/>
          </p:nvPr>
        </p:nvSpPr>
        <p:spPr/>
        <p:txBody>
          <a:bodyPr/>
          <a:lstStyle/>
          <a:p>
            <a:fld id="{26733B7F-A2C1-4528-A20B-F852C5F6E3D1}" type="datetimeFigureOut">
              <a:rPr lang="en-IN" smtClean="0"/>
              <a:t>03-09-2025</a:t>
            </a:fld>
            <a:endParaRPr lang="en-IN"/>
          </a:p>
        </p:txBody>
      </p:sp>
    </p:spTree>
    <p:extLst>
      <p:ext uri="{BB962C8B-B14F-4D97-AF65-F5344CB8AC3E}">
        <p14:creationId xmlns:p14="http://schemas.microsoft.com/office/powerpoint/2010/main" val="2517771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733B7F-A2C1-4528-A20B-F852C5F6E3D1}" type="datetimeFigureOut">
              <a:rPr lang="en-IN" smtClean="0"/>
              <a:t>03-09-2025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DE2BFA-BE4B-4545-A7ED-3B98A9481D64}" type="slidenum">
              <a:rPr lang="en-IN" smtClean="0"/>
              <a:t>‹#›</a:t>
            </a:fld>
            <a:endParaRPr lang="en-IN"/>
          </a:p>
        </p:txBody>
      </p:sp>
    </p:spTree>
    <p:extLst>
      <p:ext uri="{BB962C8B-B14F-4D97-AF65-F5344CB8AC3E}">
        <p14:creationId xmlns:p14="http://schemas.microsoft.com/office/powerpoint/2010/main" val="1173560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733B7F-A2C1-4528-A20B-F852C5F6E3D1}" type="datetimeFigureOut">
              <a:rPr lang="en-IN" smtClean="0"/>
              <a:t>03-09-2025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DE2BFA-BE4B-4545-A7ED-3B98A9481D6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046959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733B7F-A2C1-4528-A20B-F852C5F6E3D1}" type="datetimeFigureOut">
              <a:rPr lang="en-IN" smtClean="0"/>
              <a:t>03-09-2025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DE2BFA-BE4B-4545-A7ED-3B98A9481D64}" type="slidenum">
              <a:rPr lang="en-IN" smtClean="0"/>
              <a:t>‹#›</a:t>
            </a:fld>
            <a:endParaRPr lang="en-IN"/>
          </a:p>
        </p:txBody>
      </p:sp>
    </p:spTree>
    <p:extLst>
      <p:ext uri="{BB962C8B-B14F-4D97-AF65-F5344CB8AC3E}">
        <p14:creationId xmlns:p14="http://schemas.microsoft.com/office/powerpoint/2010/main" val="37006101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733B7F-A2C1-4528-A20B-F852C5F6E3D1}" type="datetimeFigureOut">
              <a:rPr lang="en-IN" smtClean="0"/>
              <a:t>03-09-2025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DE2BFA-BE4B-4545-A7ED-3B98A9481D6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559616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733B7F-A2C1-4528-A20B-F852C5F6E3D1}" type="datetimeFigureOut">
              <a:rPr lang="en-IN" smtClean="0"/>
              <a:t>03-09-2025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DE2BFA-BE4B-4545-A7ED-3B98A9481D64}" type="slidenum">
              <a:rPr lang="en-IN" smtClean="0"/>
              <a:t>‹#›</a:t>
            </a:fld>
            <a:endParaRPr lang="en-IN"/>
          </a:p>
        </p:txBody>
      </p:sp>
    </p:spTree>
    <p:extLst>
      <p:ext uri="{BB962C8B-B14F-4D97-AF65-F5344CB8AC3E}">
        <p14:creationId xmlns:p14="http://schemas.microsoft.com/office/powerpoint/2010/main" val="37519634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733B7F-A2C1-4528-A20B-F852C5F6E3D1}" type="datetimeFigureOut">
              <a:rPr lang="en-IN" smtClean="0"/>
              <a:t>03-09-2025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DE2BFA-BE4B-4545-A7ED-3B98A9481D64}" type="slidenum">
              <a:rPr lang="en-IN" smtClean="0"/>
              <a:t>‹#›</a:t>
            </a:fld>
            <a:endParaRPr lang="en-IN"/>
          </a:p>
        </p:txBody>
      </p:sp>
    </p:spTree>
    <p:extLst>
      <p:ext uri="{BB962C8B-B14F-4D97-AF65-F5344CB8AC3E}">
        <p14:creationId xmlns:p14="http://schemas.microsoft.com/office/powerpoint/2010/main" val="40927805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733B7F-A2C1-4528-A20B-F852C5F6E3D1}" type="datetimeFigureOut">
              <a:rPr lang="en-IN" smtClean="0"/>
              <a:t>03-09-2025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DE2BFA-BE4B-4545-A7ED-3B98A9481D64}" type="slidenum">
              <a:rPr lang="en-IN" smtClean="0"/>
              <a:t>‹#›</a:t>
            </a:fld>
            <a:endParaRPr lang="en-IN"/>
          </a:p>
        </p:txBody>
      </p:sp>
    </p:spTree>
    <p:extLst>
      <p:ext uri="{BB962C8B-B14F-4D97-AF65-F5344CB8AC3E}">
        <p14:creationId xmlns:p14="http://schemas.microsoft.com/office/powerpoint/2010/main" val="42898437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6733B7F-A2C1-4528-A20B-F852C5F6E3D1}" type="datetimeFigureOut">
              <a:rPr lang="en-IN" smtClean="0"/>
              <a:t>03-09-2025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DDE2BFA-BE4B-4545-A7ED-3B98A9481D64}" type="slidenum">
              <a:rPr lang="en-IN" smtClean="0"/>
              <a:t>‹#›</a:t>
            </a:fld>
            <a:endParaRPr lang="en-IN"/>
          </a:p>
        </p:txBody>
      </p:sp>
    </p:spTree>
    <p:extLst>
      <p:ext uri="{BB962C8B-B14F-4D97-AF65-F5344CB8AC3E}">
        <p14:creationId xmlns:p14="http://schemas.microsoft.com/office/powerpoint/2010/main" val="410011527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naukri.com/Rule-Based%20Classification%20in%20Data%20Min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82792-F432-D435-BF7F-AE12EAD3505F}"/>
              </a:ext>
            </a:extLst>
          </p:cNvPr>
          <p:cNvSpPr>
            <a:spLocks noGrp="1"/>
          </p:cNvSpPr>
          <p:nvPr>
            <p:ph type="ctrTitle"/>
          </p:nvPr>
        </p:nvSpPr>
        <p:spPr>
          <a:xfrm>
            <a:off x="1507067" y="605231"/>
            <a:ext cx="7766936" cy="1646302"/>
          </a:xfrm>
        </p:spPr>
        <p:txBody>
          <a:bodyPr/>
          <a:lstStyle/>
          <a:p>
            <a:pPr algn="ctr"/>
            <a:r>
              <a:rPr lang="en-IN" dirty="0"/>
              <a:t>UNIT-II</a:t>
            </a:r>
          </a:p>
        </p:txBody>
      </p:sp>
      <p:sp>
        <p:nvSpPr>
          <p:cNvPr id="3" name="Subtitle 2">
            <a:extLst>
              <a:ext uri="{FF2B5EF4-FFF2-40B4-BE49-F238E27FC236}">
                <a16:creationId xmlns:a16="http://schemas.microsoft.com/office/drawing/2014/main" id="{96BB5B9D-019E-7091-DD0C-BA112F05A948}"/>
              </a:ext>
            </a:extLst>
          </p:cNvPr>
          <p:cNvSpPr>
            <a:spLocks noGrp="1"/>
          </p:cNvSpPr>
          <p:nvPr>
            <p:ph type="subTitle" idx="1"/>
          </p:nvPr>
        </p:nvSpPr>
        <p:spPr>
          <a:xfrm>
            <a:off x="1507066" y="2880550"/>
            <a:ext cx="9406739" cy="2006082"/>
          </a:xfrm>
        </p:spPr>
        <p:txBody>
          <a:bodyPr>
            <a:noAutofit/>
          </a:bodyPr>
          <a:lstStyle/>
          <a:p>
            <a:pPr algn="l"/>
            <a:r>
              <a:rPr lang="en-IN" sz="3200" dirty="0"/>
              <a:t>1.Covering Rules(Rule Based Classification)</a:t>
            </a:r>
          </a:p>
          <a:p>
            <a:pPr algn="l"/>
            <a:r>
              <a:rPr lang="en-IN" sz="3200" dirty="0"/>
              <a:t>2.Bayesian Networks</a:t>
            </a:r>
          </a:p>
          <a:p>
            <a:pPr algn="l"/>
            <a:r>
              <a:rPr lang="en-IN" sz="3200" dirty="0"/>
              <a:t>3.Linear Models</a:t>
            </a:r>
          </a:p>
        </p:txBody>
      </p:sp>
    </p:spTree>
    <p:extLst>
      <p:ext uri="{BB962C8B-B14F-4D97-AF65-F5344CB8AC3E}">
        <p14:creationId xmlns:p14="http://schemas.microsoft.com/office/powerpoint/2010/main" val="542165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8971C-F849-9458-43A3-7BF55DA723EB}"/>
              </a:ext>
            </a:extLst>
          </p:cNvPr>
          <p:cNvSpPr>
            <a:spLocks noGrp="1"/>
          </p:cNvSpPr>
          <p:nvPr>
            <p:ph type="title"/>
          </p:nvPr>
        </p:nvSpPr>
        <p:spPr>
          <a:xfrm>
            <a:off x="520018" y="275303"/>
            <a:ext cx="8596668" cy="530942"/>
          </a:xfrm>
        </p:spPr>
        <p:txBody>
          <a:bodyPr>
            <a:normAutofit fontScale="90000"/>
          </a:bodyPr>
          <a:lstStyle/>
          <a:p>
            <a:r>
              <a:rPr lang="en-IN" b="1" dirty="0"/>
              <a:t>Rule-based Classification in Data Mining</a:t>
            </a:r>
            <a:endParaRPr lang="en-IN" dirty="0"/>
          </a:p>
        </p:txBody>
      </p:sp>
      <p:sp>
        <p:nvSpPr>
          <p:cNvPr id="3" name="Content Placeholder 2">
            <a:extLst>
              <a:ext uri="{FF2B5EF4-FFF2-40B4-BE49-F238E27FC236}">
                <a16:creationId xmlns:a16="http://schemas.microsoft.com/office/drawing/2014/main" id="{917A374E-BB08-B2E0-5CFC-C69E881C0C0B}"/>
              </a:ext>
            </a:extLst>
          </p:cNvPr>
          <p:cNvSpPr>
            <a:spLocks noGrp="1"/>
          </p:cNvSpPr>
          <p:nvPr>
            <p:ph idx="1"/>
          </p:nvPr>
        </p:nvSpPr>
        <p:spPr>
          <a:xfrm>
            <a:off x="411863" y="1049543"/>
            <a:ext cx="11298356" cy="5533154"/>
          </a:xfrm>
        </p:spPr>
        <p:txBody>
          <a:bodyPr>
            <a:normAutofit/>
          </a:bodyPr>
          <a:lstStyle/>
          <a:p>
            <a:r>
              <a:rPr lang="en-IN" sz="2200" dirty="0"/>
              <a:t>Rule-based classification in </a:t>
            </a:r>
            <a:r>
              <a:rPr lang="en-IN" sz="2200" u="sng" dirty="0">
                <a:hlinkClick r:id="rId2"/>
              </a:rPr>
              <a:t>data mining</a:t>
            </a:r>
            <a:r>
              <a:rPr lang="en-IN" sz="2200" dirty="0"/>
              <a:t> is a technique in which class </a:t>
            </a:r>
            <a:r>
              <a:rPr lang="en-IN" sz="2200" dirty="0">
                <a:solidFill>
                  <a:srgbClr val="FF0000"/>
                </a:solidFill>
              </a:rPr>
              <a:t>decisions are taken </a:t>
            </a:r>
            <a:r>
              <a:rPr lang="en-IN" sz="2200" dirty="0"/>
              <a:t>based on various “if...then… else” rules. Thus, we define it as a classification type governed by a set of IF-THEN rules. We write an IF-THEN rule as:</a:t>
            </a:r>
          </a:p>
          <a:p>
            <a:pPr marL="0" indent="0">
              <a:buNone/>
            </a:pPr>
            <a:r>
              <a:rPr lang="en-IN" sz="2200" b="1" dirty="0"/>
              <a:t>“IF condition THEN conclusion.”</a:t>
            </a:r>
          </a:p>
          <a:p>
            <a:r>
              <a:rPr lang="en-IN" sz="2200" b="1" dirty="0"/>
              <a:t>IF-THEN Rule</a:t>
            </a:r>
            <a:endParaRPr lang="en-IN" sz="2200" dirty="0"/>
          </a:p>
          <a:p>
            <a:pPr marL="0" indent="0">
              <a:buNone/>
            </a:pPr>
            <a:r>
              <a:rPr lang="en-IN" sz="2200" dirty="0"/>
              <a:t>To define the IF-THEN rule, we can split it into two parts:</a:t>
            </a:r>
          </a:p>
          <a:p>
            <a:pPr lvl="1"/>
            <a:r>
              <a:rPr lang="en-IN" sz="2000" b="1" dirty="0"/>
              <a:t>Rule Antecedent: </a:t>
            </a:r>
            <a:r>
              <a:rPr lang="en-IN" sz="2000" dirty="0"/>
              <a:t>This is the “if condition” part of the rule. This part is present in the LHS(Left Hand Side). The antecedent can have one or more attributes as conditions, with logic AND/OR operator.</a:t>
            </a:r>
          </a:p>
          <a:p>
            <a:pPr lvl="1"/>
            <a:r>
              <a:rPr lang="en-IN" sz="2000" b="1" dirty="0"/>
              <a:t>Rule Consequent: </a:t>
            </a:r>
            <a:r>
              <a:rPr lang="en-IN" sz="2000" dirty="0"/>
              <a:t>This is present in the rule's RHS(Right Hand Side). The rule consequent consists of the class prediction. </a:t>
            </a:r>
          </a:p>
          <a:p>
            <a:r>
              <a:rPr lang="en-IN" b="1" dirty="0"/>
              <a:t>Example:</a:t>
            </a:r>
            <a:endParaRPr lang="en-IN" dirty="0"/>
          </a:p>
          <a:p>
            <a:pPr marL="0" indent="0">
              <a:buNone/>
            </a:pPr>
            <a:r>
              <a:rPr lang="en-IN" dirty="0"/>
              <a:t>	R1: IF tutor = </a:t>
            </a:r>
            <a:r>
              <a:rPr lang="en-IN" dirty="0" err="1"/>
              <a:t>codingNinja</a:t>
            </a:r>
            <a:r>
              <a:rPr lang="en-IN" dirty="0"/>
              <a:t> AND student = yes        </a:t>
            </a:r>
            <a:r>
              <a:rPr lang="en-IN" b="1" dirty="0"/>
              <a:t>Antecedent</a:t>
            </a:r>
            <a:endParaRPr lang="en-IN" dirty="0"/>
          </a:p>
          <a:p>
            <a:pPr marL="0" indent="0">
              <a:buNone/>
            </a:pPr>
            <a:r>
              <a:rPr lang="en-IN" dirty="0"/>
              <a:t>		 THEN </a:t>
            </a:r>
            <a:r>
              <a:rPr lang="en-IN" dirty="0" err="1"/>
              <a:t>happyLearning</a:t>
            </a:r>
            <a:r>
              <a:rPr lang="en-IN" dirty="0"/>
              <a:t> = true                          </a:t>
            </a:r>
            <a:r>
              <a:rPr lang="en-IN" b="1" dirty="0"/>
              <a:t>Consequent</a:t>
            </a:r>
            <a:endParaRPr lang="en-IN" dirty="0"/>
          </a:p>
          <a:p>
            <a:pPr lvl="1"/>
            <a:endParaRPr lang="en-IN" sz="2000" dirty="0"/>
          </a:p>
          <a:p>
            <a:pPr marL="457200" lvl="1" indent="0">
              <a:buNone/>
            </a:pPr>
            <a:endParaRPr lang="en-IN" sz="2000" dirty="0"/>
          </a:p>
          <a:p>
            <a:endParaRPr lang="en-IN" sz="2200" dirty="0"/>
          </a:p>
          <a:p>
            <a:endParaRPr lang="en-IN" sz="2200" dirty="0"/>
          </a:p>
        </p:txBody>
      </p:sp>
      <p:cxnSp>
        <p:nvCxnSpPr>
          <p:cNvPr id="5" name="Straight Arrow Connector 4">
            <a:extLst>
              <a:ext uri="{FF2B5EF4-FFF2-40B4-BE49-F238E27FC236}">
                <a16:creationId xmlns:a16="http://schemas.microsoft.com/office/drawing/2014/main" id="{5B6AA3BC-23A8-1A91-7B7C-59D396B0B1F5}"/>
              </a:ext>
            </a:extLst>
          </p:cNvPr>
          <p:cNvCxnSpPr/>
          <p:nvPr/>
        </p:nvCxnSpPr>
        <p:spPr>
          <a:xfrm>
            <a:off x="5594555" y="5958348"/>
            <a:ext cx="363793"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6" name="Straight Arrow Connector 5">
            <a:extLst>
              <a:ext uri="{FF2B5EF4-FFF2-40B4-BE49-F238E27FC236}">
                <a16:creationId xmlns:a16="http://schemas.microsoft.com/office/drawing/2014/main" id="{1EBB84C9-1718-C83E-036B-066BED747428}"/>
              </a:ext>
            </a:extLst>
          </p:cNvPr>
          <p:cNvCxnSpPr>
            <a:cxnSpLocks/>
          </p:cNvCxnSpPr>
          <p:nvPr/>
        </p:nvCxnSpPr>
        <p:spPr>
          <a:xfrm>
            <a:off x="4380271" y="6376219"/>
            <a:ext cx="1578077"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34131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48C42-37D2-51A9-140A-4D0C1CF9F2B5}"/>
              </a:ext>
            </a:extLst>
          </p:cNvPr>
          <p:cNvSpPr>
            <a:spLocks noGrp="1"/>
          </p:cNvSpPr>
          <p:nvPr>
            <p:ph type="title"/>
          </p:nvPr>
        </p:nvSpPr>
        <p:spPr>
          <a:xfrm>
            <a:off x="461024" y="265470"/>
            <a:ext cx="8596668" cy="629265"/>
          </a:xfrm>
        </p:spPr>
        <p:txBody>
          <a:bodyPr>
            <a:normAutofit fontScale="90000"/>
          </a:bodyPr>
          <a:lstStyle/>
          <a:p>
            <a:r>
              <a:rPr lang="en-IN" b="1" dirty="0"/>
              <a:t>Assessment of Rule</a:t>
            </a:r>
            <a:br>
              <a:rPr lang="en-IN" dirty="0"/>
            </a:br>
            <a:endParaRPr lang="en-IN" dirty="0"/>
          </a:p>
        </p:txBody>
      </p:sp>
      <p:sp>
        <p:nvSpPr>
          <p:cNvPr id="3" name="Content Placeholder 2">
            <a:extLst>
              <a:ext uri="{FF2B5EF4-FFF2-40B4-BE49-F238E27FC236}">
                <a16:creationId xmlns:a16="http://schemas.microsoft.com/office/drawing/2014/main" id="{8FB62768-7F06-0008-6516-F52858C5628D}"/>
              </a:ext>
            </a:extLst>
          </p:cNvPr>
          <p:cNvSpPr>
            <a:spLocks noGrp="1"/>
          </p:cNvSpPr>
          <p:nvPr>
            <p:ph idx="1"/>
          </p:nvPr>
        </p:nvSpPr>
        <p:spPr>
          <a:xfrm>
            <a:off x="215217" y="1079040"/>
            <a:ext cx="11593325" cy="5636392"/>
          </a:xfrm>
        </p:spPr>
        <p:txBody>
          <a:bodyPr>
            <a:noAutofit/>
          </a:bodyPr>
          <a:lstStyle/>
          <a:p>
            <a:r>
              <a:rPr lang="en-IN" sz="2300" dirty="0"/>
              <a:t>In rule-based classification in data mining, there are </a:t>
            </a:r>
            <a:r>
              <a:rPr lang="en-IN" sz="2300" dirty="0">
                <a:solidFill>
                  <a:srgbClr val="FF0000"/>
                </a:solidFill>
              </a:rPr>
              <a:t>two factors </a:t>
            </a:r>
            <a:r>
              <a:rPr lang="en-IN" sz="2300" dirty="0"/>
              <a:t>based on which we can access the rules. These are:</a:t>
            </a:r>
          </a:p>
          <a:p>
            <a:pPr lvl="0"/>
            <a:r>
              <a:rPr lang="en-IN" sz="2300" b="1" dirty="0"/>
              <a:t>Coverage of Rule: </a:t>
            </a:r>
            <a:r>
              <a:rPr lang="en-IN" sz="2300" dirty="0"/>
              <a:t>The fraction of the records which </a:t>
            </a:r>
            <a:r>
              <a:rPr lang="en-IN" sz="2300" dirty="0">
                <a:solidFill>
                  <a:srgbClr val="FF0000"/>
                </a:solidFill>
              </a:rPr>
              <a:t>satisfy the antecedent conditions </a:t>
            </a:r>
            <a:r>
              <a:rPr lang="en-IN" sz="2300" dirty="0"/>
              <a:t>of a particular rule is called the coverage of that rule.</a:t>
            </a:r>
            <a:br>
              <a:rPr lang="en-IN" sz="2300" dirty="0"/>
            </a:br>
            <a:r>
              <a:rPr lang="en-IN" sz="2300" dirty="0"/>
              <a:t>We can calculate this by dividing the number of records satisfying the rule(n1) by the total number of records(n).</a:t>
            </a:r>
            <a:br>
              <a:rPr lang="en-IN" sz="2300" dirty="0"/>
            </a:br>
            <a:r>
              <a:rPr lang="en-IN" sz="2300" dirty="0"/>
              <a:t>				</a:t>
            </a:r>
            <a:r>
              <a:rPr lang="en-IN" sz="2300" dirty="0">
                <a:solidFill>
                  <a:srgbClr val="FF0000"/>
                </a:solidFill>
              </a:rPr>
              <a:t>Coverage(R) = n1/n</a:t>
            </a:r>
          </a:p>
          <a:p>
            <a:pPr lvl="0"/>
            <a:r>
              <a:rPr lang="en-IN" sz="2300" b="1" dirty="0"/>
              <a:t>Accuracy of a rule: </a:t>
            </a:r>
            <a:r>
              <a:rPr lang="en-IN" sz="2300" dirty="0"/>
              <a:t>The fraction of the records that </a:t>
            </a:r>
            <a:r>
              <a:rPr lang="en-IN" sz="2300" dirty="0">
                <a:solidFill>
                  <a:srgbClr val="FF0000"/>
                </a:solidFill>
              </a:rPr>
              <a:t>satisfy the antecedent conditions and meet the consequent values of a rule </a:t>
            </a:r>
            <a:r>
              <a:rPr lang="en-IN" sz="2300" dirty="0"/>
              <a:t>is called the accuracy of that rule.</a:t>
            </a:r>
            <a:br>
              <a:rPr lang="en-IN" sz="2300" dirty="0"/>
            </a:br>
            <a:r>
              <a:rPr lang="en-IN" sz="2300" dirty="0"/>
              <a:t>We can calculate this by dividing the number of records satisfying the consequent values(n2) by the number of records satisfying the rule(n1).</a:t>
            </a:r>
          </a:p>
          <a:p>
            <a:pPr marL="0" lvl="0" indent="0">
              <a:buNone/>
            </a:pPr>
            <a:r>
              <a:rPr lang="en-IN" sz="2300" dirty="0"/>
              <a:t>			</a:t>
            </a:r>
            <a:r>
              <a:rPr lang="en-IN" sz="2300" dirty="0">
                <a:solidFill>
                  <a:srgbClr val="FF0000"/>
                </a:solidFill>
              </a:rPr>
              <a:t>	Accuracy(R) = n2/n1</a:t>
            </a:r>
            <a:br>
              <a:rPr lang="en-IN" sz="2300" dirty="0">
                <a:solidFill>
                  <a:schemeClr val="accent5"/>
                </a:solidFill>
              </a:rPr>
            </a:br>
            <a:r>
              <a:rPr lang="en-IN" sz="2300" dirty="0"/>
              <a:t> Generally, we convert them into percentages by multiplying them by 100. </a:t>
            </a:r>
            <a:br>
              <a:rPr lang="en-IN" sz="2300" dirty="0"/>
            </a:br>
            <a:endParaRPr lang="en-IN" sz="2300" dirty="0"/>
          </a:p>
        </p:txBody>
      </p:sp>
    </p:spTree>
    <p:extLst>
      <p:ext uri="{BB962C8B-B14F-4D97-AF65-F5344CB8AC3E}">
        <p14:creationId xmlns:p14="http://schemas.microsoft.com/office/powerpoint/2010/main" val="1800153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A79EC-FD25-3745-D5A2-516E74DEC7A2}"/>
              </a:ext>
            </a:extLst>
          </p:cNvPr>
          <p:cNvSpPr>
            <a:spLocks noGrp="1"/>
          </p:cNvSpPr>
          <p:nvPr>
            <p:ph type="title"/>
          </p:nvPr>
        </p:nvSpPr>
        <p:spPr/>
        <p:txBody>
          <a:bodyPr/>
          <a:lstStyle/>
          <a:p>
            <a:r>
              <a:rPr lang="en-IN" b="1" dirty="0"/>
              <a:t>Properties of Rule-Based Classifiers</a:t>
            </a:r>
            <a:br>
              <a:rPr lang="en-IN" dirty="0"/>
            </a:br>
            <a:endParaRPr lang="en-IN" dirty="0"/>
          </a:p>
        </p:txBody>
      </p:sp>
      <p:sp>
        <p:nvSpPr>
          <p:cNvPr id="3" name="Content Placeholder 2">
            <a:extLst>
              <a:ext uri="{FF2B5EF4-FFF2-40B4-BE49-F238E27FC236}">
                <a16:creationId xmlns:a16="http://schemas.microsoft.com/office/drawing/2014/main" id="{6988B5E8-871C-5B3D-CC51-E0BC78E03E1E}"/>
              </a:ext>
            </a:extLst>
          </p:cNvPr>
          <p:cNvSpPr>
            <a:spLocks noGrp="1"/>
          </p:cNvSpPr>
          <p:nvPr>
            <p:ph idx="1"/>
          </p:nvPr>
        </p:nvSpPr>
        <p:spPr>
          <a:xfrm>
            <a:off x="677334" y="2160589"/>
            <a:ext cx="10973892" cy="3880773"/>
          </a:xfrm>
        </p:spPr>
        <p:txBody>
          <a:bodyPr>
            <a:normAutofit/>
          </a:bodyPr>
          <a:lstStyle/>
          <a:p>
            <a:r>
              <a:rPr lang="en-IN" sz="2800" dirty="0"/>
              <a:t>There are two significant properties of rule-based classification in data mining. They are:</a:t>
            </a:r>
          </a:p>
          <a:p>
            <a:pPr lvl="2"/>
            <a:r>
              <a:rPr lang="en-IN" sz="2400" b="1" dirty="0"/>
              <a:t>Rules may not be mutually exclusive</a:t>
            </a:r>
            <a:endParaRPr lang="en-IN" sz="2400" dirty="0"/>
          </a:p>
          <a:p>
            <a:pPr lvl="2"/>
            <a:r>
              <a:rPr lang="en-IN" sz="2400" b="1" dirty="0"/>
              <a:t>Rules may not be exhaustive</a:t>
            </a:r>
            <a:endParaRPr lang="en-IN" sz="2400" dirty="0"/>
          </a:p>
          <a:p>
            <a:endParaRPr lang="en-IN" sz="2800" dirty="0"/>
          </a:p>
        </p:txBody>
      </p:sp>
    </p:spTree>
    <p:extLst>
      <p:ext uri="{BB962C8B-B14F-4D97-AF65-F5344CB8AC3E}">
        <p14:creationId xmlns:p14="http://schemas.microsoft.com/office/powerpoint/2010/main" val="2875964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E9101-CEA1-454C-3E2E-F36AE29DAAF3}"/>
              </a:ext>
            </a:extLst>
          </p:cNvPr>
          <p:cNvSpPr>
            <a:spLocks noGrp="1"/>
          </p:cNvSpPr>
          <p:nvPr>
            <p:ph type="title"/>
          </p:nvPr>
        </p:nvSpPr>
        <p:spPr>
          <a:xfrm>
            <a:off x="411863" y="310276"/>
            <a:ext cx="11141040" cy="1012723"/>
          </a:xfrm>
        </p:spPr>
        <p:txBody>
          <a:bodyPr>
            <a:normAutofit fontScale="90000"/>
          </a:bodyPr>
          <a:lstStyle/>
          <a:p>
            <a:r>
              <a:rPr lang="en-IN" b="1" dirty="0"/>
              <a:t>Rules may not be mutually exclusive in nature</a:t>
            </a:r>
            <a:br>
              <a:rPr lang="en-IN" dirty="0"/>
            </a:br>
            <a:endParaRPr lang="en-IN" dirty="0"/>
          </a:p>
        </p:txBody>
      </p:sp>
      <p:sp>
        <p:nvSpPr>
          <p:cNvPr id="3" name="Content Placeholder 2">
            <a:extLst>
              <a:ext uri="{FF2B5EF4-FFF2-40B4-BE49-F238E27FC236}">
                <a16:creationId xmlns:a16="http://schemas.microsoft.com/office/drawing/2014/main" id="{87841621-0E52-2A97-A784-B5AEF77EC00A}"/>
              </a:ext>
            </a:extLst>
          </p:cNvPr>
          <p:cNvSpPr>
            <a:spLocks noGrp="1"/>
          </p:cNvSpPr>
          <p:nvPr>
            <p:ph idx="1"/>
          </p:nvPr>
        </p:nvSpPr>
        <p:spPr>
          <a:xfrm>
            <a:off x="510186" y="1322999"/>
            <a:ext cx="11367182" cy="5353104"/>
          </a:xfrm>
        </p:spPr>
        <p:txBody>
          <a:bodyPr>
            <a:normAutofit/>
          </a:bodyPr>
          <a:lstStyle/>
          <a:p>
            <a:r>
              <a:rPr lang="en-US" sz="2400" dirty="0"/>
              <a:t>In rule-based classification, we create </a:t>
            </a:r>
            <a:r>
              <a:rPr lang="en-US" sz="2400" b="1" dirty="0"/>
              <a:t>IF-THEN rules</a:t>
            </a:r>
            <a:r>
              <a:rPr lang="en-US" sz="2400" dirty="0"/>
              <a:t> to assign classes to data.</a:t>
            </a:r>
          </a:p>
          <a:p>
            <a:r>
              <a:rPr lang="en-US" sz="2400" b="1" dirty="0"/>
              <a:t>Mutually exclusive</a:t>
            </a:r>
            <a:r>
              <a:rPr lang="en-US" sz="2400" dirty="0"/>
              <a:t> means that only </a:t>
            </a:r>
            <a:r>
              <a:rPr lang="en-US" sz="2400" b="1" dirty="0"/>
              <a:t>one rule</a:t>
            </a:r>
            <a:r>
              <a:rPr lang="en-US" sz="2400" dirty="0"/>
              <a:t> applies to a given instance.</a:t>
            </a:r>
          </a:p>
          <a:p>
            <a:r>
              <a:rPr lang="en-US" sz="2400" dirty="0"/>
              <a:t>But in reality, </a:t>
            </a:r>
            <a:r>
              <a:rPr lang="en-US" sz="2400" b="1" dirty="0"/>
              <a:t>multiple rules can apply to the same instance</a:t>
            </a:r>
            <a:r>
              <a:rPr lang="en-US" sz="2400" dirty="0"/>
              <a:t> (they overlap).</a:t>
            </a:r>
          </a:p>
          <a:p>
            <a:r>
              <a:rPr lang="en-US" sz="2400" dirty="0"/>
              <a:t>That’s why rules may </a:t>
            </a:r>
            <a:r>
              <a:rPr lang="en-US" sz="2400" b="1" dirty="0"/>
              <a:t>not be mutually exclusive</a:t>
            </a:r>
            <a:r>
              <a:rPr lang="en-US" sz="2400" dirty="0"/>
              <a:t> in nature.</a:t>
            </a:r>
          </a:p>
          <a:p>
            <a:r>
              <a:rPr lang="en-IN" sz="2400" dirty="0"/>
              <a:t> </a:t>
            </a:r>
            <a:r>
              <a:rPr lang="en-US" sz="2400" dirty="0"/>
              <a:t>When rules overlap, the classifier needs a </a:t>
            </a:r>
            <a:r>
              <a:rPr lang="en-US" sz="2400" b="1" dirty="0"/>
              <a:t>conflict resolution strategy</a:t>
            </a:r>
            <a:r>
              <a:rPr lang="en-US" sz="2400" dirty="0"/>
              <a:t>, such as:</a:t>
            </a:r>
          </a:p>
          <a:p>
            <a:pPr lvl="1"/>
            <a:r>
              <a:rPr lang="en-US" sz="2200" dirty="0"/>
              <a:t>Rule priority (order of rules)</a:t>
            </a:r>
          </a:p>
          <a:p>
            <a:pPr lvl="1"/>
            <a:r>
              <a:rPr lang="en-US" sz="2200" dirty="0"/>
              <a:t>Specificity (more specific rules preferred)</a:t>
            </a:r>
          </a:p>
          <a:p>
            <a:pPr lvl="1"/>
            <a:r>
              <a:rPr lang="en-US" sz="2200" dirty="0"/>
              <a:t>Rule confidence (probability-based choice)</a:t>
            </a:r>
          </a:p>
          <a:p>
            <a:endParaRPr lang="en-IN" sz="2400" dirty="0"/>
          </a:p>
        </p:txBody>
      </p:sp>
    </p:spTree>
    <p:extLst>
      <p:ext uri="{BB962C8B-B14F-4D97-AF65-F5344CB8AC3E}">
        <p14:creationId xmlns:p14="http://schemas.microsoft.com/office/powerpoint/2010/main" val="660318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671F2-0803-C480-713E-C8E87731688D}"/>
              </a:ext>
            </a:extLst>
          </p:cNvPr>
          <p:cNvSpPr>
            <a:spLocks noGrp="1"/>
          </p:cNvSpPr>
          <p:nvPr>
            <p:ph type="title"/>
          </p:nvPr>
        </p:nvSpPr>
        <p:spPr>
          <a:xfrm>
            <a:off x="303707" y="334296"/>
            <a:ext cx="9656369" cy="717755"/>
          </a:xfrm>
        </p:spPr>
        <p:txBody>
          <a:bodyPr>
            <a:normAutofit fontScale="90000"/>
          </a:bodyPr>
          <a:lstStyle/>
          <a:p>
            <a:r>
              <a:rPr lang="en-IN" b="1" dirty="0"/>
              <a:t>Example (Student Performance Classification)</a:t>
            </a:r>
            <a:br>
              <a:rPr lang="en-IN" dirty="0"/>
            </a:br>
            <a:endParaRPr lang="en-IN" dirty="0"/>
          </a:p>
        </p:txBody>
      </p:sp>
      <p:sp>
        <p:nvSpPr>
          <p:cNvPr id="3" name="Content Placeholder 2">
            <a:extLst>
              <a:ext uri="{FF2B5EF4-FFF2-40B4-BE49-F238E27FC236}">
                <a16:creationId xmlns:a16="http://schemas.microsoft.com/office/drawing/2014/main" id="{97380B3E-F15B-5EFF-3468-36E5B46B27EA}"/>
              </a:ext>
            </a:extLst>
          </p:cNvPr>
          <p:cNvSpPr>
            <a:spLocks noGrp="1"/>
          </p:cNvSpPr>
          <p:nvPr>
            <p:ph idx="1"/>
          </p:nvPr>
        </p:nvSpPr>
        <p:spPr>
          <a:xfrm>
            <a:off x="382366" y="1216692"/>
            <a:ext cx="11730976" cy="3880773"/>
          </a:xfrm>
        </p:spPr>
        <p:txBody>
          <a:bodyPr>
            <a:noAutofit/>
          </a:bodyPr>
          <a:lstStyle/>
          <a:p>
            <a:r>
              <a:rPr lang="en-IN" sz="2200" dirty="0"/>
              <a:t>Suppose we want to classify whether a student is </a:t>
            </a:r>
            <a:r>
              <a:rPr lang="en-IN" sz="2200" b="1" dirty="0"/>
              <a:t>High Performer</a:t>
            </a:r>
            <a:r>
              <a:rPr lang="en-IN" sz="2200" dirty="0"/>
              <a:t> or </a:t>
            </a:r>
            <a:r>
              <a:rPr lang="en-IN" sz="2200" b="1" dirty="0"/>
              <a:t>Average Performer</a:t>
            </a:r>
            <a:r>
              <a:rPr lang="en-IN" sz="2200" dirty="0"/>
              <a:t>.</a:t>
            </a:r>
          </a:p>
          <a:p>
            <a:r>
              <a:rPr lang="en-IN" sz="2200" b="1" dirty="0"/>
              <a:t>Rule 1:</a:t>
            </a:r>
            <a:br>
              <a:rPr lang="en-IN" sz="2200" dirty="0"/>
            </a:br>
            <a:r>
              <a:rPr lang="en-IN" sz="2200" dirty="0"/>
              <a:t>IF attendance &gt; 80% AND assignments = completed</a:t>
            </a:r>
            <a:br>
              <a:rPr lang="en-IN" sz="2200" dirty="0"/>
            </a:br>
            <a:r>
              <a:rPr lang="en-IN" sz="2200" dirty="0"/>
              <a:t>THEN class = High Performer</a:t>
            </a:r>
          </a:p>
          <a:p>
            <a:r>
              <a:rPr lang="en-IN" sz="2200" b="1" dirty="0"/>
              <a:t>Rule 2:</a:t>
            </a:r>
            <a:br>
              <a:rPr lang="en-IN" sz="2200" dirty="0"/>
            </a:br>
            <a:r>
              <a:rPr lang="en-IN" sz="2200" dirty="0"/>
              <a:t>IF </a:t>
            </a:r>
            <a:r>
              <a:rPr lang="en-IN" sz="2200" dirty="0" err="1"/>
              <a:t>test_score</a:t>
            </a:r>
            <a:r>
              <a:rPr lang="en-IN" sz="2200" dirty="0"/>
              <a:t> &gt; 70%</a:t>
            </a:r>
            <a:br>
              <a:rPr lang="en-IN" sz="2200" dirty="0"/>
            </a:br>
            <a:r>
              <a:rPr lang="en-IN" sz="2200" dirty="0"/>
              <a:t>THEN class = High Performer</a:t>
            </a:r>
          </a:p>
          <a:p>
            <a:r>
              <a:rPr lang="en-IN" sz="2200" b="1" dirty="0"/>
              <a:t>Rule 3:</a:t>
            </a:r>
            <a:br>
              <a:rPr lang="en-IN" sz="2200" dirty="0"/>
            </a:br>
            <a:r>
              <a:rPr lang="en-IN" sz="2200" dirty="0"/>
              <a:t>IF attendance &lt; 60%</a:t>
            </a:r>
            <a:br>
              <a:rPr lang="en-IN" sz="2200" dirty="0"/>
            </a:br>
            <a:r>
              <a:rPr lang="en-IN" sz="2200" dirty="0"/>
              <a:t>THEN class = Average Performer</a:t>
            </a:r>
          </a:p>
          <a:p>
            <a:endParaRPr lang="en-IN" sz="2200" dirty="0"/>
          </a:p>
        </p:txBody>
      </p:sp>
      <p:sp>
        <p:nvSpPr>
          <p:cNvPr id="13" name="TextBox 12">
            <a:extLst>
              <a:ext uri="{FF2B5EF4-FFF2-40B4-BE49-F238E27FC236}">
                <a16:creationId xmlns:a16="http://schemas.microsoft.com/office/drawing/2014/main" id="{327E1E46-75E2-A79F-BDCB-B5942FE07CBF}"/>
              </a:ext>
            </a:extLst>
          </p:cNvPr>
          <p:cNvSpPr txBox="1"/>
          <p:nvPr/>
        </p:nvSpPr>
        <p:spPr>
          <a:xfrm>
            <a:off x="5673212" y="3157078"/>
            <a:ext cx="6646606" cy="2800767"/>
          </a:xfrm>
          <a:prstGeom prst="rect">
            <a:avLst/>
          </a:prstGeom>
          <a:noFill/>
        </p:spPr>
        <p:txBody>
          <a:bodyPr wrap="square" rtlCol="0">
            <a:spAutoFit/>
          </a:bodyPr>
          <a:lstStyle/>
          <a:p>
            <a:r>
              <a:rPr lang="en-IN" sz="2200" dirty="0"/>
              <a:t>Now consider a student:</a:t>
            </a:r>
          </a:p>
          <a:p>
            <a:pPr lvl="0"/>
            <a:r>
              <a:rPr lang="en-IN" sz="2200" dirty="0"/>
              <a:t>attendance = 85%</a:t>
            </a:r>
          </a:p>
          <a:p>
            <a:pPr lvl="0"/>
            <a:r>
              <a:rPr lang="en-IN" sz="2200" dirty="0"/>
              <a:t>assignments = completed</a:t>
            </a:r>
          </a:p>
          <a:p>
            <a:pPr lvl="0"/>
            <a:r>
              <a:rPr lang="en-IN" sz="2200" dirty="0" err="1"/>
              <a:t>test_score</a:t>
            </a:r>
            <a:r>
              <a:rPr lang="en-IN" sz="2200" dirty="0"/>
              <a:t> = 75%</a:t>
            </a:r>
          </a:p>
          <a:p>
            <a:r>
              <a:rPr lang="en-IN" sz="2200" dirty="0"/>
              <a:t>✅ This student satisfies </a:t>
            </a:r>
            <a:r>
              <a:rPr lang="en-IN" sz="2200" b="1" dirty="0"/>
              <a:t>Rule 1</a:t>
            </a:r>
            <a:r>
              <a:rPr lang="en-IN" sz="2200" dirty="0"/>
              <a:t> and </a:t>
            </a:r>
            <a:r>
              <a:rPr lang="en-IN" sz="2200" b="1" dirty="0"/>
              <a:t>Rule 2</a:t>
            </a:r>
            <a:r>
              <a:rPr lang="en-IN" sz="2200" dirty="0"/>
              <a:t> → both classify the student as </a:t>
            </a:r>
            <a:r>
              <a:rPr lang="en-IN" sz="2200" i="1" dirty="0"/>
              <a:t>High Performer</a:t>
            </a:r>
            <a:r>
              <a:rPr lang="en-IN" sz="2200" dirty="0"/>
              <a:t>.</a:t>
            </a:r>
          </a:p>
          <a:p>
            <a:r>
              <a:rPr lang="en-IN" sz="2200" dirty="0"/>
              <a:t>👉 Multiple rules applied at once → </a:t>
            </a:r>
            <a:r>
              <a:rPr lang="en-IN" sz="2200" b="1" dirty="0"/>
              <a:t>not mutually exclusive</a:t>
            </a:r>
            <a:r>
              <a:rPr lang="en-IN" sz="2200" dirty="0"/>
              <a:t>.</a:t>
            </a:r>
          </a:p>
        </p:txBody>
      </p:sp>
    </p:spTree>
    <p:extLst>
      <p:ext uri="{BB962C8B-B14F-4D97-AF65-F5344CB8AC3E}">
        <p14:creationId xmlns:p14="http://schemas.microsoft.com/office/powerpoint/2010/main" val="21897784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601F9-7C4F-B97D-F536-910C8FD279E5}"/>
              </a:ext>
            </a:extLst>
          </p:cNvPr>
          <p:cNvSpPr>
            <a:spLocks noGrp="1"/>
          </p:cNvSpPr>
          <p:nvPr>
            <p:ph type="title"/>
          </p:nvPr>
        </p:nvSpPr>
        <p:spPr>
          <a:xfrm>
            <a:off x="441360" y="275303"/>
            <a:ext cx="8596668" cy="717755"/>
          </a:xfrm>
        </p:spPr>
        <p:txBody>
          <a:bodyPr>
            <a:normAutofit fontScale="90000"/>
          </a:bodyPr>
          <a:lstStyle/>
          <a:p>
            <a:r>
              <a:rPr lang="en-IN" b="1" dirty="0"/>
              <a:t>Rules may not be exhaustive in nature</a:t>
            </a:r>
            <a:br>
              <a:rPr lang="en-IN" dirty="0"/>
            </a:br>
            <a:endParaRPr lang="en-IN" dirty="0"/>
          </a:p>
        </p:txBody>
      </p:sp>
      <p:sp>
        <p:nvSpPr>
          <p:cNvPr id="3" name="Content Placeholder 2">
            <a:extLst>
              <a:ext uri="{FF2B5EF4-FFF2-40B4-BE49-F238E27FC236}">
                <a16:creationId xmlns:a16="http://schemas.microsoft.com/office/drawing/2014/main" id="{33DBC9B5-EC15-272A-9D94-00DDF8539FFF}"/>
              </a:ext>
            </a:extLst>
          </p:cNvPr>
          <p:cNvSpPr>
            <a:spLocks noGrp="1"/>
          </p:cNvSpPr>
          <p:nvPr>
            <p:ph idx="1"/>
          </p:nvPr>
        </p:nvSpPr>
        <p:spPr>
          <a:xfrm>
            <a:off x="598675" y="1098705"/>
            <a:ext cx="11023053" cy="5483992"/>
          </a:xfrm>
        </p:spPr>
        <p:txBody>
          <a:bodyPr>
            <a:normAutofit fontScale="92500" lnSpcReduction="10000"/>
          </a:bodyPr>
          <a:lstStyle/>
          <a:p>
            <a:r>
              <a:rPr lang="en-US" sz="2400" dirty="0"/>
              <a:t>In </a:t>
            </a:r>
            <a:r>
              <a:rPr lang="en-US" sz="2400" b="1" dirty="0"/>
              <a:t>rule-based classification</a:t>
            </a:r>
            <a:r>
              <a:rPr lang="en-US" sz="2400" dirty="0"/>
              <a:t>, the learned rules may </a:t>
            </a:r>
            <a:r>
              <a:rPr lang="en-US" sz="2400" b="1" dirty="0"/>
              <a:t>not cover every possible instance</a:t>
            </a:r>
            <a:r>
              <a:rPr lang="en-US" sz="2400" dirty="0"/>
              <a:t> in the dataset.</a:t>
            </a:r>
          </a:p>
          <a:p>
            <a:r>
              <a:rPr lang="en-US" sz="2400" dirty="0"/>
              <a:t>Some examples may </a:t>
            </a:r>
            <a:r>
              <a:rPr lang="en-US" sz="2400" b="1" dirty="0"/>
              <a:t>not satisfy any rule</a:t>
            </a:r>
            <a:r>
              <a:rPr lang="en-US" sz="2400" dirty="0"/>
              <a:t>.</a:t>
            </a:r>
          </a:p>
          <a:p>
            <a:r>
              <a:rPr lang="en-US" sz="2400" dirty="0"/>
              <a:t>This is why rules are called </a:t>
            </a:r>
            <a:r>
              <a:rPr lang="en-US" sz="2400" b="1" dirty="0"/>
              <a:t>non-exhaustive</a:t>
            </a:r>
            <a:r>
              <a:rPr lang="en-US" sz="2400" dirty="0"/>
              <a:t>.</a:t>
            </a:r>
          </a:p>
          <a:p>
            <a:pPr marL="0" indent="0">
              <a:buNone/>
            </a:pPr>
            <a:r>
              <a:rPr lang="en-US" sz="2400" dirty="0"/>
              <a:t>Now consider a student:</a:t>
            </a:r>
          </a:p>
          <a:p>
            <a:r>
              <a:rPr lang="en-US" sz="2400" b="1" dirty="0"/>
              <a:t>attendance = 65%</a:t>
            </a:r>
            <a:endParaRPr lang="en-US" sz="2400" dirty="0"/>
          </a:p>
          <a:p>
            <a:r>
              <a:rPr lang="en-US" sz="2400" b="1" dirty="0"/>
              <a:t>assignments = not completed</a:t>
            </a:r>
            <a:endParaRPr lang="en-US" sz="2400" dirty="0"/>
          </a:p>
          <a:p>
            <a:r>
              <a:rPr lang="en-US" sz="2400" b="1" dirty="0" err="1"/>
              <a:t>test_score</a:t>
            </a:r>
            <a:r>
              <a:rPr lang="en-US" sz="2400" b="1" dirty="0"/>
              <a:t> = 60%</a:t>
            </a:r>
            <a:endParaRPr lang="en-US" sz="2400" dirty="0"/>
          </a:p>
          <a:p>
            <a:r>
              <a:rPr lang="en-US" sz="2400" dirty="0"/>
              <a:t>👉 This student does </a:t>
            </a:r>
            <a:r>
              <a:rPr lang="en-US" sz="2400" b="1" dirty="0"/>
              <a:t>not satisfy Rule 1, Rule 2, or Rule 3</a:t>
            </a:r>
            <a:r>
              <a:rPr lang="en-US" sz="2400" dirty="0"/>
              <a:t>.</a:t>
            </a:r>
          </a:p>
          <a:p>
            <a:r>
              <a:rPr lang="en-US" sz="2400" dirty="0"/>
              <a:t>Rule 1 fails (attendance not &gt; 80%).</a:t>
            </a:r>
          </a:p>
          <a:p>
            <a:r>
              <a:rPr lang="en-US" sz="2400" dirty="0"/>
              <a:t>Rule 2 fails (</a:t>
            </a:r>
            <a:r>
              <a:rPr lang="en-US" sz="2400" dirty="0" err="1"/>
              <a:t>test_score</a:t>
            </a:r>
            <a:r>
              <a:rPr lang="en-US" sz="2400" dirty="0"/>
              <a:t> not &gt; 70%).</a:t>
            </a:r>
          </a:p>
          <a:p>
            <a:r>
              <a:rPr lang="en-US" sz="2400" dirty="0"/>
              <a:t>Rule 3 fails (attendance not &lt; 60%).</a:t>
            </a:r>
          </a:p>
          <a:p>
            <a:r>
              <a:rPr lang="en-US" sz="2400" dirty="0"/>
              <a:t>✅ So, this student is </a:t>
            </a:r>
            <a:r>
              <a:rPr lang="en-US" sz="2400" b="1" dirty="0"/>
              <a:t>not classified by any rule</a:t>
            </a:r>
            <a:r>
              <a:rPr lang="en-US" sz="2400" dirty="0"/>
              <a:t>.</a:t>
            </a:r>
          </a:p>
          <a:p>
            <a:endParaRPr lang="en-IN" sz="2400" dirty="0"/>
          </a:p>
        </p:txBody>
      </p:sp>
    </p:spTree>
    <p:extLst>
      <p:ext uri="{BB962C8B-B14F-4D97-AF65-F5344CB8AC3E}">
        <p14:creationId xmlns:p14="http://schemas.microsoft.com/office/powerpoint/2010/main" val="1984019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CB6AA-D779-3420-431C-F637B6B70A76}"/>
              </a:ext>
            </a:extLst>
          </p:cNvPr>
          <p:cNvSpPr>
            <a:spLocks noGrp="1"/>
          </p:cNvSpPr>
          <p:nvPr>
            <p:ph type="title"/>
          </p:nvPr>
        </p:nvSpPr>
        <p:spPr/>
        <p:txBody>
          <a:bodyPr>
            <a:normAutofit fontScale="90000"/>
          </a:bodyPr>
          <a:lstStyle/>
          <a:p>
            <a:r>
              <a:rPr lang="en-IN" b="1" dirty="0"/>
              <a:t>Implementation of Rule-Based Classifier</a:t>
            </a:r>
            <a:br>
              <a:rPr lang="en-IN" dirty="0"/>
            </a:br>
            <a:endParaRPr lang="en-IN" dirty="0"/>
          </a:p>
        </p:txBody>
      </p:sp>
      <p:sp>
        <p:nvSpPr>
          <p:cNvPr id="3" name="Content Placeholder 2">
            <a:extLst>
              <a:ext uri="{FF2B5EF4-FFF2-40B4-BE49-F238E27FC236}">
                <a16:creationId xmlns:a16="http://schemas.microsoft.com/office/drawing/2014/main" id="{9928B103-CD2F-BBB0-1A92-593D35710AE6}"/>
              </a:ext>
            </a:extLst>
          </p:cNvPr>
          <p:cNvSpPr>
            <a:spLocks noGrp="1"/>
          </p:cNvSpPr>
          <p:nvPr>
            <p:ph idx="1"/>
          </p:nvPr>
        </p:nvSpPr>
        <p:spPr>
          <a:xfrm>
            <a:off x="677333" y="2160589"/>
            <a:ext cx="9705531" cy="3880773"/>
          </a:xfrm>
        </p:spPr>
        <p:txBody>
          <a:bodyPr>
            <a:normAutofit/>
          </a:bodyPr>
          <a:lstStyle/>
          <a:p>
            <a:r>
              <a:rPr lang="en-IN" sz="2600" dirty="0"/>
              <a:t>We have two different kinds of methods for implementing rule-based classification in data mining. They are:</a:t>
            </a:r>
          </a:p>
          <a:p>
            <a:pPr lvl="2"/>
            <a:r>
              <a:rPr lang="en-IN" sz="2600" dirty="0"/>
              <a:t>Direct Method</a:t>
            </a:r>
          </a:p>
          <a:p>
            <a:pPr lvl="2"/>
            <a:r>
              <a:rPr lang="en-IN" sz="2600" dirty="0"/>
              <a:t>Indirect Method</a:t>
            </a:r>
          </a:p>
          <a:p>
            <a:endParaRPr lang="en-IN" sz="2600" dirty="0"/>
          </a:p>
        </p:txBody>
      </p:sp>
    </p:spTree>
    <p:extLst>
      <p:ext uri="{BB962C8B-B14F-4D97-AF65-F5344CB8AC3E}">
        <p14:creationId xmlns:p14="http://schemas.microsoft.com/office/powerpoint/2010/main" val="2532882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750C6-DFB8-921E-B150-F5B92B862A1C}"/>
              </a:ext>
            </a:extLst>
          </p:cNvPr>
          <p:cNvSpPr>
            <a:spLocks noGrp="1"/>
          </p:cNvSpPr>
          <p:nvPr>
            <p:ph type="title"/>
          </p:nvPr>
        </p:nvSpPr>
        <p:spPr>
          <a:xfrm>
            <a:off x="677334" y="609600"/>
            <a:ext cx="8596668" cy="717755"/>
          </a:xfrm>
        </p:spPr>
        <p:txBody>
          <a:bodyPr>
            <a:normAutofit fontScale="90000"/>
          </a:bodyPr>
          <a:lstStyle/>
          <a:p>
            <a:r>
              <a:rPr lang="en-IN" b="1" dirty="0"/>
              <a:t>Direct Method</a:t>
            </a:r>
            <a:br>
              <a:rPr lang="en-IN" dirty="0"/>
            </a:br>
            <a:endParaRPr lang="en-IN" dirty="0"/>
          </a:p>
        </p:txBody>
      </p:sp>
      <p:sp>
        <p:nvSpPr>
          <p:cNvPr id="3" name="Content Placeholder 2">
            <a:extLst>
              <a:ext uri="{FF2B5EF4-FFF2-40B4-BE49-F238E27FC236}">
                <a16:creationId xmlns:a16="http://schemas.microsoft.com/office/drawing/2014/main" id="{D4B89D28-7815-4C40-2ED4-5540EE0A9103}"/>
              </a:ext>
            </a:extLst>
          </p:cNvPr>
          <p:cNvSpPr>
            <a:spLocks noGrp="1"/>
          </p:cNvSpPr>
          <p:nvPr>
            <p:ph idx="1"/>
          </p:nvPr>
        </p:nvSpPr>
        <p:spPr>
          <a:xfrm>
            <a:off x="411862" y="1688640"/>
            <a:ext cx="9872679" cy="3880773"/>
          </a:xfrm>
        </p:spPr>
        <p:txBody>
          <a:bodyPr>
            <a:normAutofit/>
          </a:bodyPr>
          <a:lstStyle/>
          <a:p>
            <a:r>
              <a:rPr lang="en-IN" sz="2600" dirty="0"/>
              <a:t>The direct method for rule-based classification in data mining contains algorithms that </a:t>
            </a:r>
            <a:r>
              <a:rPr lang="en-IN" sz="2600" dirty="0">
                <a:solidFill>
                  <a:srgbClr val="FF0000"/>
                </a:solidFill>
              </a:rPr>
              <a:t>extract rules directly from the dataset.</a:t>
            </a:r>
          </a:p>
          <a:p>
            <a:r>
              <a:rPr lang="en-IN" sz="2600" dirty="0"/>
              <a:t>The prominent among these are:</a:t>
            </a:r>
          </a:p>
          <a:p>
            <a:pPr lvl="2"/>
            <a:r>
              <a:rPr lang="en-IN" sz="2600" dirty="0"/>
              <a:t>1R Algorithm</a:t>
            </a:r>
          </a:p>
          <a:p>
            <a:pPr lvl="2"/>
            <a:r>
              <a:rPr lang="en-IN" sz="2600" dirty="0"/>
              <a:t>Sequential Covering Algorithm</a:t>
            </a:r>
            <a:br>
              <a:rPr lang="en-IN" sz="2600" dirty="0"/>
            </a:br>
            <a:endParaRPr lang="en-IN" sz="2600" dirty="0"/>
          </a:p>
        </p:txBody>
      </p:sp>
    </p:spTree>
    <p:extLst>
      <p:ext uri="{BB962C8B-B14F-4D97-AF65-F5344CB8AC3E}">
        <p14:creationId xmlns:p14="http://schemas.microsoft.com/office/powerpoint/2010/main" val="2807697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455F6-E313-4858-8935-A3F09F77315E}"/>
              </a:ext>
            </a:extLst>
          </p:cNvPr>
          <p:cNvSpPr>
            <a:spLocks noGrp="1"/>
          </p:cNvSpPr>
          <p:nvPr>
            <p:ph type="title"/>
          </p:nvPr>
        </p:nvSpPr>
        <p:spPr>
          <a:xfrm>
            <a:off x="677334" y="609600"/>
            <a:ext cx="8596668" cy="737419"/>
          </a:xfrm>
        </p:spPr>
        <p:txBody>
          <a:bodyPr>
            <a:normAutofit fontScale="90000"/>
          </a:bodyPr>
          <a:lstStyle/>
          <a:p>
            <a:r>
              <a:rPr lang="en-IN" b="1" dirty="0"/>
              <a:t>1R Algorithm</a:t>
            </a:r>
            <a:br>
              <a:rPr lang="en-IN" dirty="0"/>
            </a:br>
            <a:endParaRPr lang="en-IN" dirty="0"/>
          </a:p>
        </p:txBody>
      </p:sp>
      <p:sp>
        <p:nvSpPr>
          <p:cNvPr id="3" name="Content Placeholder 2">
            <a:extLst>
              <a:ext uri="{FF2B5EF4-FFF2-40B4-BE49-F238E27FC236}">
                <a16:creationId xmlns:a16="http://schemas.microsoft.com/office/drawing/2014/main" id="{4CD19F46-C83B-9B55-017A-D91DC40A4BC6}"/>
              </a:ext>
            </a:extLst>
          </p:cNvPr>
          <p:cNvSpPr>
            <a:spLocks noGrp="1"/>
          </p:cNvSpPr>
          <p:nvPr>
            <p:ph idx="1"/>
          </p:nvPr>
        </p:nvSpPr>
        <p:spPr>
          <a:xfrm>
            <a:off x="559346" y="1347019"/>
            <a:ext cx="10334795" cy="5378246"/>
          </a:xfrm>
        </p:spPr>
        <p:txBody>
          <a:bodyPr>
            <a:noAutofit/>
          </a:bodyPr>
          <a:lstStyle/>
          <a:p>
            <a:pPr algn="just"/>
            <a:r>
              <a:rPr lang="en-IN" sz="2400" dirty="0"/>
              <a:t>The 1R Algorithm is also known as the </a:t>
            </a:r>
            <a:r>
              <a:rPr lang="en-IN" sz="2400" dirty="0">
                <a:solidFill>
                  <a:srgbClr val="FF0000"/>
                </a:solidFill>
              </a:rPr>
              <a:t>Learn One Rule Algorithm. </a:t>
            </a:r>
            <a:r>
              <a:rPr lang="en-IN" sz="2400" dirty="0"/>
              <a:t>It is based on a simple classification rule. Thus it is one of the simplest algorithms.</a:t>
            </a:r>
          </a:p>
          <a:p>
            <a:pPr algn="just"/>
            <a:r>
              <a:rPr lang="en-IN" sz="2400" dirty="0"/>
              <a:t> In this algorithm, we make rules to test each attribute. If the attribute has a range of values, we make rules by counting how often each class value appears. We do this to know its frequency and find the class with the maximum frequency. Then we assign that class to the attribute value pair. After this, we calculate the </a:t>
            </a:r>
            <a:r>
              <a:rPr lang="en-IN" sz="2400" dirty="0">
                <a:solidFill>
                  <a:srgbClr val="FF0000"/>
                </a:solidFill>
              </a:rPr>
              <a:t>error rate for each attribute and select the one with the lowest error rate.</a:t>
            </a:r>
          </a:p>
          <a:p>
            <a:pPr algn="just"/>
            <a:r>
              <a:rPr lang="en-IN" sz="2400" dirty="0"/>
              <a:t>There can be some </a:t>
            </a:r>
            <a:r>
              <a:rPr lang="en-IN" sz="2400" dirty="0">
                <a:solidFill>
                  <a:srgbClr val="FF0000"/>
                </a:solidFill>
              </a:rPr>
              <a:t>problems with the 1R method; </a:t>
            </a:r>
            <a:r>
              <a:rPr lang="en-IN" sz="2400" dirty="0"/>
              <a:t>there is a high chance of overfitting and noise sensitivity. So, to overcome these problems, we use the </a:t>
            </a:r>
            <a:r>
              <a:rPr lang="en-IN" sz="2400" dirty="0">
                <a:solidFill>
                  <a:srgbClr val="FF0000"/>
                </a:solidFill>
              </a:rPr>
              <a:t>Sequential Covering Algorithm.</a:t>
            </a:r>
          </a:p>
          <a:p>
            <a:pPr algn="just"/>
            <a:endParaRPr lang="en-IN" sz="2400" dirty="0"/>
          </a:p>
        </p:txBody>
      </p:sp>
    </p:spTree>
    <p:extLst>
      <p:ext uri="{BB962C8B-B14F-4D97-AF65-F5344CB8AC3E}">
        <p14:creationId xmlns:p14="http://schemas.microsoft.com/office/powerpoint/2010/main" val="19715421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6AA38-D8AD-6A83-8C13-0EC0E18E08B1}"/>
              </a:ext>
            </a:extLst>
          </p:cNvPr>
          <p:cNvSpPr>
            <a:spLocks noGrp="1"/>
          </p:cNvSpPr>
          <p:nvPr>
            <p:ph type="title"/>
          </p:nvPr>
        </p:nvSpPr>
        <p:spPr>
          <a:xfrm>
            <a:off x="529849" y="167813"/>
            <a:ext cx="8596668" cy="726922"/>
          </a:xfrm>
        </p:spPr>
        <p:txBody>
          <a:bodyPr>
            <a:normAutofit fontScale="90000"/>
          </a:bodyPr>
          <a:lstStyle/>
          <a:p>
            <a:r>
              <a:rPr lang="en-IN" b="1" dirty="0"/>
              <a:t>Sequential Covering Algorithm</a:t>
            </a:r>
            <a:br>
              <a:rPr lang="en-IN" dirty="0"/>
            </a:br>
            <a:endParaRPr lang="en-IN" dirty="0"/>
          </a:p>
        </p:txBody>
      </p:sp>
      <p:sp>
        <p:nvSpPr>
          <p:cNvPr id="3" name="Content Placeholder 2">
            <a:extLst>
              <a:ext uri="{FF2B5EF4-FFF2-40B4-BE49-F238E27FC236}">
                <a16:creationId xmlns:a16="http://schemas.microsoft.com/office/drawing/2014/main" id="{D1E62780-8F78-5229-866C-B58A96CAD047}"/>
              </a:ext>
            </a:extLst>
          </p:cNvPr>
          <p:cNvSpPr>
            <a:spLocks noGrp="1"/>
          </p:cNvSpPr>
          <p:nvPr>
            <p:ph idx="1"/>
          </p:nvPr>
        </p:nvSpPr>
        <p:spPr>
          <a:xfrm>
            <a:off x="175888" y="894735"/>
            <a:ext cx="10944396" cy="5515541"/>
          </a:xfrm>
        </p:spPr>
        <p:txBody>
          <a:bodyPr>
            <a:noAutofit/>
          </a:bodyPr>
          <a:lstStyle/>
          <a:p>
            <a:pPr algn="just"/>
            <a:r>
              <a:rPr lang="en-IN" sz="2400" dirty="0"/>
              <a:t>The sequential covering algorithm is the </a:t>
            </a:r>
            <a:r>
              <a:rPr lang="en-IN" sz="2400" dirty="0">
                <a:solidFill>
                  <a:srgbClr val="FF0000"/>
                </a:solidFill>
              </a:rPr>
              <a:t>most widely used </a:t>
            </a:r>
            <a:r>
              <a:rPr lang="en-IN" sz="2400" dirty="0"/>
              <a:t>algorithm in rule-based classification in data mining. </a:t>
            </a:r>
          </a:p>
          <a:p>
            <a:pPr algn="just"/>
            <a:r>
              <a:rPr lang="en-IN" sz="2400" dirty="0"/>
              <a:t>This algorithm defines rules to </a:t>
            </a:r>
            <a:r>
              <a:rPr lang="en-IN" sz="2400" dirty="0">
                <a:solidFill>
                  <a:srgbClr val="FF0000"/>
                </a:solidFill>
              </a:rPr>
              <a:t>cover the maximum data records</a:t>
            </a:r>
            <a:r>
              <a:rPr lang="en-IN" sz="2400" dirty="0"/>
              <a:t> of one class and </a:t>
            </a:r>
            <a:r>
              <a:rPr lang="en-IN" sz="2400" dirty="0">
                <a:solidFill>
                  <a:srgbClr val="FF0000"/>
                </a:solidFill>
              </a:rPr>
              <a:t>no data records </a:t>
            </a:r>
            <a:r>
              <a:rPr lang="en-IN" sz="2400" dirty="0"/>
              <a:t>of other classes.</a:t>
            </a:r>
          </a:p>
          <a:p>
            <a:pPr algn="just"/>
            <a:r>
              <a:rPr lang="en-IN" sz="2400" dirty="0"/>
              <a:t>In these algorithms, </a:t>
            </a:r>
            <a:r>
              <a:rPr lang="en-IN" sz="2400" dirty="0">
                <a:solidFill>
                  <a:srgbClr val="FF0000"/>
                </a:solidFill>
              </a:rPr>
              <a:t>rules are grown sequentially, </a:t>
            </a:r>
            <a:r>
              <a:rPr lang="en-IN" sz="2400" dirty="0"/>
              <a:t>one at a time. </a:t>
            </a:r>
          </a:p>
          <a:p>
            <a:pPr algn="just"/>
            <a:r>
              <a:rPr lang="en-IN" sz="2400" dirty="0"/>
              <a:t>After a rule is grown, </a:t>
            </a:r>
            <a:r>
              <a:rPr lang="en-IN" sz="2400" dirty="0">
                <a:solidFill>
                  <a:srgbClr val="FF0000"/>
                </a:solidFill>
              </a:rPr>
              <a:t>all data records covered by that rule are eliminated, </a:t>
            </a:r>
            <a:r>
              <a:rPr lang="en-IN" sz="2400" dirty="0"/>
              <a:t>and then this process keeps on repeating for the rest. </a:t>
            </a:r>
          </a:p>
          <a:p>
            <a:pPr algn="just"/>
            <a:r>
              <a:rPr lang="en-IN" sz="2400" dirty="0"/>
              <a:t>This process will stop when we reach the </a:t>
            </a:r>
            <a:r>
              <a:rPr lang="en-IN" sz="2400" b="1" dirty="0">
                <a:solidFill>
                  <a:srgbClr val="FF0000"/>
                </a:solidFill>
              </a:rPr>
              <a:t>stopping criteria</a:t>
            </a:r>
            <a:r>
              <a:rPr lang="en-IN" sz="2400" dirty="0"/>
              <a:t>, i.e., if the accuracy of the rule is below the required level, then we reject that rule and stop there.</a:t>
            </a:r>
          </a:p>
          <a:p>
            <a:pPr lvl="2" algn="just"/>
            <a:r>
              <a:rPr lang="en-US" altLang="en-US" sz="1800" dirty="0">
                <a:solidFill>
                  <a:schemeClr val="tx1"/>
                </a:solidFill>
                <a:latin typeface="Arial" panose="020B0604020202020204" pitchFamily="34" charset="0"/>
              </a:rPr>
              <a:t>IF Age &gt; 40 THEN </a:t>
            </a:r>
            <a:r>
              <a:rPr lang="en-US" altLang="en-US" sz="1800" dirty="0" err="1">
                <a:solidFill>
                  <a:schemeClr val="tx1"/>
                </a:solidFill>
                <a:latin typeface="Arial" panose="020B0604020202020204" pitchFamily="34" charset="0"/>
              </a:rPr>
              <a:t>Buys_Computer</a:t>
            </a:r>
            <a:r>
              <a:rPr lang="en-US" altLang="en-US" sz="1800" dirty="0">
                <a:solidFill>
                  <a:schemeClr val="tx1"/>
                </a:solidFill>
                <a:latin typeface="Arial" panose="020B0604020202020204" pitchFamily="34" charset="0"/>
              </a:rPr>
              <a:t> = Yes</a:t>
            </a:r>
          </a:p>
          <a:p>
            <a:pPr lvl="2" algn="just"/>
            <a:r>
              <a:rPr lang="en-US" altLang="en-US" sz="2000" dirty="0">
                <a:solidFill>
                  <a:schemeClr val="tx1"/>
                </a:solidFill>
                <a:latin typeface="Arial" panose="020B0604020202020204" pitchFamily="34" charset="0"/>
              </a:rPr>
              <a:t>IF Age &lt;= 30 AND Student = Yes THEN </a:t>
            </a:r>
            <a:r>
              <a:rPr lang="en-US" altLang="en-US" sz="2000" dirty="0" err="1">
                <a:solidFill>
                  <a:schemeClr val="tx1"/>
                </a:solidFill>
                <a:latin typeface="Arial" panose="020B0604020202020204" pitchFamily="34" charset="0"/>
              </a:rPr>
              <a:t>Buys_Computer</a:t>
            </a:r>
            <a:r>
              <a:rPr lang="en-US" altLang="en-US" sz="2000" dirty="0">
                <a:solidFill>
                  <a:schemeClr val="tx1"/>
                </a:solidFill>
                <a:latin typeface="Arial" panose="020B0604020202020204" pitchFamily="34" charset="0"/>
              </a:rPr>
              <a:t> = Yes</a:t>
            </a:r>
          </a:p>
          <a:p>
            <a:pPr lvl="2" algn="just"/>
            <a:r>
              <a:rPr lang="en-US" altLang="en-US" sz="2000" dirty="0">
                <a:solidFill>
                  <a:schemeClr val="tx1"/>
                </a:solidFill>
                <a:latin typeface="Arial" panose="020B0604020202020204" pitchFamily="34" charset="0"/>
              </a:rPr>
              <a:t>IF Age = 31–40 THEN </a:t>
            </a:r>
            <a:r>
              <a:rPr lang="en-US" altLang="en-US" sz="2000" dirty="0" err="1">
                <a:solidFill>
                  <a:schemeClr val="tx1"/>
                </a:solidFill>
                <a:latin typeface="Arial" panose="020B0604020202020204" pitchFamily="34" charset="0"/>
              </a:rPr>
              <a:t>Buys_Computer</a:t>
            </a:r>
            <a:r>
              <a:rPr lang="en-US" altLang="en-US" sz="2000" dirty="0">
                <a:solidFill>
                  <a:schemeClr val="tx1"/>
                </a:solidFill>
                <a:latin typeface="Arial" panose="020B0604020202020204" pitchFamily="34" charset="0"/>
              </a:rPr>
              <a:t> = Yes</a:t>
            </a:r>
            <a:endParaRPr lang="en-IN" sz="2400" dirty="0"/>
          </a:p>
          <a:p>
            <a:pPr algn="just"/>
            <a:endParaRPr lang="en-IN" sz="2400" dirty="0"/>
          </a:p>
          <a:p>
            <a:pPr algn="just"/>
            <a:endParaRPr lang="en-IN" sz="2400" dirty="0"/>
          </a:p>
        </p:txBody>
      </p:sp>
    </p:spTree>
    <p:extLst>
      <p:ext uri="{BB962C8B-B14F-4D97-AF65-F5344CB8AC3E}">
        <p14:creationId xmlns:p14="http://schemas.microsoft.com/office/powerpoint/2010/main" val="2400807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9F551-1FEE-431D-58B9-4F99228B8B6E}"/>
              </a:ext>
            </a:extLst>
          </p:cNvPr>
          <p:cNvSpPr>
            <a:spLocks noGrp="1"/>
          </p:cNvSpPr>
          <p:nvPr>
            <p:ph type="title"/>
          </p:nvPr>
        </p:nvSpPr>
        <p:spPr>
          <a:xfrm>
            <a:off x="539682" y="363794"/>
            <a:ext cx="8596668" cy="737419"/>
          </a:xfrm>
        </p:spPr>
        <p:txBody>
          <a:bodyPr>
            <a:normAutofit fontScale="90000"/>
          </a:bodyPr>
          <a:lstStyle/>
          <a:p>
            <a:r>
              <a:rPr lang="en-IN" b="1" dirty="0"/>
              <a:t>Indirect Method</a:t>
            </a:r>
            <a:br>
              <a:rPr lang="en-IN" dirty="0"/>
            </a:br>
            <a:endParaRPr lang="en-IN" dirty="0"/>
          </a:p>
        </p:txBody>
      </p:sp>
      <p:sp>
        <p:nvSpPr>
          <p:cNvPr id="3" name="Content Placeholder 2">
            <a:extLst>
              <a:ext uri="{FF2B5EF4-FFF2-40B4-BE49-F238E27FC236}">
                <a16:creationId xmlns:a16="http://schemas.microsoft.com/office/drawing/2014/main" id="{10DBE9E1-6F78-03E7-2B70-EA27C54B2F17}"/>
              </a:ext>
            </a:extLst>
          </p:cNvPr>
          <p:cNvSpPr>
            <a:spLocks noGrp="1"/>
          </p:cNvSpPr>
          <p:nvPr>
            <p:ph idx="1"/>
          </p:nvPr>
        </p:nvSpPr>
        <p:spPr>
          <a:xfrm>
            <a:off x="382366" y="1354344"/>
            <a:ext cx="10590434" cy="3880773"/>
          </a:xfrm>
        </p:spPr>
        <p:txBody>
          <a:bodyPr>
            <a:normAutofit/>
          </a:bodyPr>
          <a:lstStyle/>
          <a:p>
            <a:r>
              <a:rPr lang="en-IN" sz="2600" dirty="0"/>
              <a:t>In the indirect method of rule-based classification in data mining, we </a:t>
            </a:r>
            <a:r>
              <a:rPr lang="en-IN" sz="2600" dirty="0">
                <a:solidFill>
                  <a:srgbClr val="FF0000"/>
                </a:solidFill>
              </a:rPr>
              <a:t>extract rules from different other classification models. </a:t>
            </a:r>
            <a:r>
              <a:rPr lang="en-IN" sz="2600" dirty="0"/>
              <a:t>Some prominent classifications from which we extract the rules are </a:t>
            </a:r>
            <a:r>
              <a:rPr lang="en-IN" sz="2600" dirty="0">
                <a:solidFill>
                  <a:srgbClr val="FF0000"/>
                </a:solidFill>
              </a:rPr>
              <a:t>decision trees and neural networks.</a:t>
            </a:r>
          </a:p>
          <a:p>
            <a:r>
              <a:rPr lang="en-IN" sz="2600" dirty="0"/>
              <a:t>For example:</a:t>
            </a:r>
          </a:p>
          <a:p>
            <a:pPr lvl="1"/>
            <a:r>
              <a:rPr lang="en-IN" sz="2400" dirty="0"/>
              <a:t>Converting the decision tree to the rule set. </a:t>
            </a:r>
          </a:p>
          <a:p>
            <a:endParaRPr lang="en-IN" sz="2600" dirty="0"/>
          </a:p>
        </p:txBody>
      </p:sp>
    </p:spTree>
    <p:extLst>
      <p:ext uri="{BB962C8B-B14F-4D97-AF65-F5344CB8AC3E}">
        <p14:creationId xmlns:p14="http://schemas.microsoft.com/office/powerpoint/2010/main" val="3465113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05213-660B-E01E-F4C7-D83B7D226639}"/>
              </a:ext>
            </a:extLst>
          </p:cNvPr>
          <p:cNvSpPr>
            <a:spLocks noGrp="1"/>
          </p:cNvSpPr>
          <p:nvPr>
            <p:ph type="title"/>
          </p:nvPr>
        </p:nvSpPr>
        <p:spPr>
          <a:xfrm>
            <a:off x="244714" y="156238"/>
            <a:ext cx="8596668" cy="777827"/>
          </a:xfrm>
        </p:spPr>
        <p:txBody>
          <a:bodyPr>
            <a:normAutofit fontScale="90000"/>
          </a:bodyPr>
          <a:lstStyle/>
          <a:p>
            <a:r>
              <a:rPr lang="en-IN" b="1" dirty="0"/>
              <a:t>Advantages of Rule-Based Classification</a:t>
            </a:r>
            <a:br>
              <a:rPr lang="en-IN" dirty="0"/>
            </a:br>
            <a:endParaRPr lang="en-IN" dirty="0"/>
          </a:p>
        </p:txBody>
      </p:sp>
      <p:sp>
        <p:nvSpPr>
          <p:cNvPr id="3" name="Content Placeholder 2">
            <a:extLst>
              <a:ext uri="{FF2B5EF4-FFF2-40B4-BE49-F238E27FC236}">
                <a16:creationId xmlns:a16="http://schemas.microsoft.com/office/drawing/2014/main" id="{777EB03F-A6DC-8F2F-5364-F9CA8D153FBC}"/>
              </a:ext>
            </a:extLst>
          </p:cNvPr>
          <p:cNvSpPr>
            <a:spLocks noGrp="1"/>
          </p:cNvSpPr>
          <p:nvPr>
            <p:ph idx="1"/>
          </p:nvPr>
        </p:nvSpPr>
        <p:spPr>
          <a:xfrm>
            <a:off x="382365" y="1177364"/>
            <a:ext cx="10629763" cy="5524398"/>
          </a:xfrm>
        </p:spPr>
        <p:txBody>
          <a:bodyPr>
            <a:noAutofit/>
          </a:bodyPr>
          <a:lstStyle/>
          <a:p>
            <a:pPr lvl="0"/>
            <a:r>
              <a:rPr lang="en-IN" sz="2400" dirty="0"/>
              <a:t>The rule-based classification is </a:t>
            </a:r>
            <a:r>
              <a:rPr lang="en-IN" sz="2400" dirty="0">
                <a:solidFill>
                  <a:srgbClr val="FF0000"/>
                </a:solidFill>
              </a:rPr>
              <a:t>easy to generate.</a:t>
            </a:r>
            <a:br>
              <a:rPr lang="en-IN" sz="2400" dirty="0"/>
            </a:br>
            <a:r>
              <a:rPr lang="en-IN" sz="2400" dirty="0"/>
              <a:t> </a:t>
            </a:r>
          </a:p>
          <a:p>
            <a:pPr lvl="0"/>
            <a:r>
              <a:rPr lang="en-IN" sz="2400" dirty="0"/>
              <a:t>It is </a:t>
            </a:r>
            <a:r>
              <a:rPr lang="en-IN" sz="2400" dirty="0">
                <a:solidFill>
                  <a:srgbClr val="FF0000"/>
                </a:solidFill>
              </a:rPr>
              <a:t>highly expressive</a:t>
            </a:r>
            <a:r>
              <a:rPr lang="en-IN" sz="2400" dirty="0"/>
              <a:t> in nature and very </a:t>
            </a:r>
            <a:r>
              <a:rPr lang="en-IN" sz="2400" dirty="0">
                <a:solidFill>
                  <a:srgbClr val="FF0000"/>
                </a:solidFill>
              </a:rPr>
              <a:t>easy to understand.</a:t>
            </a:r>
            <a:br>
              <a:rPr lang="en-IN" sz="2400" dirty="0">
                <a:solidFill>
                  <a:srgbClr val="FF0000"/>
                </a:solidFill>
              </a:rPr>
            </a:br>
            <a:r>
              <a:rPr lang="en-IN" sz="2400" dirty="0"/>
              <a:t> </a:t>
            </a:r>
          </a:p>
          <a:p>
            <a:pPr lvl="0"/>
            <a:r>
              <a:rPr lang="en-IN" sz="2400" dirty="0"/>
              <a:t>It assists in the classification of new records in significantly </a:t>
            </a:r>
            <a:r>
              <a:rPr lang="en-IN" sz="2400" dirty="0">
                <a:solidFill>
                  <a:srgbClr val="FF0000"/>
                </a:solidFill>
              </a:rPr>
              <a:t>less time and very quickly.</a:t>
            </a:r>
            <a:br>
              <a:rPr lang="en-IN" sz="2400" dirty="0"/>
            </a:br>
            <a:r>
              <a:rPr lang="en-IN" sz="2400" dirty="0"/>
              <a:t> </a:t>
            </a:r>
          </a:p>
          <a:p>
            <a:pPr lvl="0"/>
            <a:r>
              <a:rPr lang="en-IN" sz="2400" dirty="0"/>
              <a:t>It helps us to </a:t>
            </a:r>
            <a:r>
              <a:rPr lang="en-IN" sz="2400" dirty="0">
                <a:solidFill>
                  <a:srgbClr val="FF0000"/>
                </a:solidFill>
              </a:rPr>
              <a:t>handle redundant values </a:t>
            </a:r>
            <a:r>
              <a:rPr lang="en-IN" sz="2400" dirty="0"/>
              <a:t>during classification properly.</a:t>
            </a:r>
            <a:br>
              <a:rPr lang="en-IN" sz="2400" dirty="0"/>
            </a:br>
            <a:r>
              <a:rPr lang="en-IN" sz="2400" dirty="0"/>
              <a:t> </a:t>
            </a:r>
          </a:p>
          <a:p>
            <a:pPr lvl="0"/>
            <a:r>
              <a:rPr lang="en-IN" sz="2400" dirty="0"/>
              <a:t>The performance of the rule-based classification is </a:t>
            </a:r>
            <a:r>
              <a:rPr lang="en-IN" sz="2400" dirty="0">
                <a:solidFill>
                  <a:srgbClr val="FF0000"/>
                </a:solidFill>
              </a:rPr>
              <a:t>comparable </a:t>
            </a:r>
            <a:r>
              <a:rPr lang="en-IN" sz="2400" dirty="0"/>
              <a:t>to that of a decision tree.</a:t>
            </a:r>
          </a:p>
          <a:p>
            <a:endParaRPr lang="en-IN" sz="2400" dirty="0"/>
          </a:p>
        </p:txBody>
      </p:sp>
    </p:spTree>
    <p:extLst>
      <p:ext uri="{BB962C8B-B14F-4D97-AF65-F5344CB8AC3E}">
        <p14:creationId xmlns:p14="http://schemas.microsoft.com/office/powerpoint/2010/main" val="2368724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D9EA5-A739-F5AF-92B6-88CD4E8F09C2}"/>
              </a:ext>
            </a:extLst>
          </p:cNvPr>
          <p:cNvSpPr>
            <a:spLocks noGrp="1"/>
          </p:cNvSpPr>
          <p:nvPr>
            <p:ph type="title"/>
          </p:nvPr>
        </p:nvSpPr>
        <p:spPr>
          <a:xfrm>
            <a:off x="313540" y="216310"/>
            <a:ext cx="8596668" cy="728816"/>
          </a:xfrm>
        </p:spPr>
        <p:txBody>
          <a:bodyPr/>
          <a:lstStyle/>
          <a:p>
            <a:r>
              <a:rPr lang="en-IN" dirty="0"/>
              <a:t>"</a:t>
            </a:r>
            <a:r>
              <a:rPr lang="en-IN" b="1" dirty="0"/>
              <a:t>Bayesian Networks in Data Mining</a:t>
            </a:r>
            <a:r>
              <a:rPr lang="en-IN" dirty="0"/>
              <a:t>"</a:t>
            </a:r>
          </a:p>
        </p:txBody>
      </p:sp>
      <p:sp>
        <p:nvSpPr>
          <p:cNvPr id="3" name="Content Placeholder 2">
            <a:extLst>
              <a:ext uri="{FF2B5EF4-FFF2-40B4-BE49-F238E27FC236}">
                <a16:creationId xmlns:a16="http://schemas.microsoft.com/office/drawing/2014/main" id="{D2BF1ACE-1617-9844-83C6-525A1955DBE4}"/>
              </a:ext>
            </a:extLst>
          </p:cNvPr>
          <p:cNvSpPr>
            <a:spLocks noGrp="1"/>
          </p:cNvSpPr>
          <p:nvPr>
            <p:ph idx="1"/>
          </p:nvPr>
        </p:nvSpPr>
        <p:spPr>
          <a:xfrm>
            <a:off x="402031" y="1246189"/>
            <a:ext cx="10462614" cy="5095617"/>
          </a:xfrm>
        </p:spPr>
        <p:txBody>
          <a:bodyPr>
            <a:noAutofit/>
          </a:bodyPr>
          <a:lstStyle/>
          <a:p>
            <a:pPr algn="just"/>
            <a:r>
              <a:rPr lang="en-IN" sz="2200" dirty="0"/>
              <a:t>"</a:t>
            </a:r>
            <a:r>
              <a:rPr lang="en-IN" sz="2200" b="1" dirty="0"/>
              <a:t>Bayesian Networks in Data Mining</a:t>
            </a:r>
            <a:r>
              <a:rPr lang="en-IN" sz="2200" dirty="0"/>
              <a:t>" usually refers to the application of </a:t>
            </a:r>
            <a:r>
              <a:rPr lang="en-IN" sz="2200" b="1" dirty="0"/>
              <a:t>Bayesian networks (BNs)</a:t>
            </a:r>
            <a:r>
              <a:rPr lang="en-IN" sz="2200" dirty="0"/>
              <a:t>—a class of probabilistic graphical models—in </a:t>
            </a:r>
            <a:r>
              <a:rPr lang="en-IN" sz="2200" dirty="0">
                <a:solidFill>
                  <a:srgbClr val="FF0000"/>
                </a:solidFill>
              </a:rPr>
              <a:t>discovering patterns, making predictions, and handling uncertainty in data mining tasks.</a:t>
            </a:r>
          </a:p>
          <a:p>
            <a:pPr algn="just"/>
            <a:r>
              <a:rPr lang="en-IN" sz="2200" b="1" dirty="0"/>
              <a:t>What is a Bayesian Network?</a:t>
            </a:r>
            <a:endParaRPr lang="en-IN" sz="2200" dirty="0"/>
          </a:p>
          <a:p>
            <a:pPr lvl="0" algn="just"/>
            <a:r>
              <a:rPr lang="en-IN" sz="2200" dirty="0"/>
              <a:t>A </a:t>
            </a:r>
            <a:r>
              <a:rPr lang="en-IN" sz="2200" b="1" dirty="0"/>
              <a:t>Bayesian Network (BN)</a:t>
            </a:r>
            <a:r>
              <a:rPr lang="en-IN" sz="2200" dirty="0"/>
              <a:t> is a </a:t>
            </a:r>
            <a:r>
              <a:rPr lang="en-IN" sz="2200" b="1" dirty="0">
                <a:solidFill>
                  <a:srgbClr val="FF0000"/>
                </a:solidFill>
              </a:rPr>
              <a:t>directed acyclic graph (DAG)</a:t>
            </a:r>
            <a:r>
              <a:rPr lang="en-IN" sz="2200" dirty="0">
                <a:solidFill>
                  <a:srgbClr val="FF0000"/>
                </a:solidFill>
              </a:rPr>
              <a:t> </a:t>
            </a:r>
            <a:r>
              <a:rPr lang="en-IN" sz="2200" dirty="0"/>
              <a:t>where:</a:t>
            </a:r>
          </a:p>
          <a:p>
            <a:pPr lvl="1" algn="just"/>
            <a:r>
              <a:rPr lang="en-IN" sz="2200" b="1" dirty="0"/>
              <a:t>Nodes</a:t>
            </a:r>
            <a:r>
              <a:rPr lang="en-IN" sz="2200" dirty="0"/>
              <a:t> represent </a:t>
            </a:r>
            <a:r>
              <a:rPr lang="en-IN" sz="2200" dirty="0">
                <a:solidFill>
                  <a:srgbClr val="FF0000"/>
                </a:solidFill>
              </a:rPr>
              <a:t>random variables </a:t>
            </a:r>
            <a:r>
              <a:rPr lang="en-IN" sz="2200" dirty="0"/>
              <a:t>(features, outcomes, or latent variables).</a:t>
            </a:r>
          </a:p>
          <a:p>
            <a:pPr lvl="1" algn="just"/>
            <a:r>
              <a:rPr lang="en-IN" sz="2200" b="1" dirty="0"/>
              <a:t>Edges</a:t>
            </a:r>
            <a:r>
              <a:rPr lang="en-IN" sz="2200" dirty="0"/>
              <a:t> represent probabilistic </a:t>
            </a:r>
            <a:r>
              <a:rPr lang="en-IN" sz="2200" dirty="0">
                <a:solidFill>
                  <a:srgbClr val="FF0000"/>
                </a:solidFill>
              </a:rPr>
              <a:t>dependencies between variables.</a:t>
            </a:r>
          </a:p>
          <a:p>
            <a:pPr lvl="0" algn="just"/>
            <a:r>
              <a:rPr lang="en-IN" sz="2200" dirty="0"/>
              <a:t>Each node has a </a:t>
            </a:r>
            <a:r>
              <a:rPr lang="en-IN" sz="2200" b="1" dirty="0">
                <a:solidFill>
                  <a:srgbClr val="FF0000"/>
                </a:solidFill>
              </a:rPr>
              <a:t>conditional probability distribution (CPD)</a:t>
            </a:r>
            <a:r>
              <a:rPr lang="en-IN" sz="2200" dirty="0">
                <a:solidFill>
                  <a:srgbClr val="FF0000"/>
                </a:solidFill>
              </a:rPr>
              <a:t> </a:t>
            </a:r>
            <a:r>
              <a:rPr lang="en-IN" sz="2200" dirty="0"/>
              <a:t>given its parents.</a:t>
            </a:r>
          </a:p>
          <a:p>
            <a:pPr lvl="0" algn="just"/>
            <a:r>
              <a:rPr lang="en-IN" sz="2200" dirty="0"/>
              <a:t>BNs encode the </a:t>
            </a:r>
            <a:r>
              <a:rPr lang="en-IN" sz="2200" b="1" dirty="0">
                <a:solidFill>
                  <a:srgbClr val="FF0000"/>
                </a:solidFill>
              </a:rPr>
              <a:t>joint probability distribution</a:t>
            </a:r>
            <a:r>
              <a:rPr lang="en-IN" sz="2200" dirty="0">
                <a:solidFill>
                  <a:srgbClr val="FF0000"/>
                </a:solidFill>
              </a:rPr>
              <a:t> </a:t>
            </a:r>
            <a:r>
              <a:rPr lang="en-IN" sz="2200" dirty="0"/>
              <a:t>of all variables, making them powerful for reasoning under uncertainty.</a:t>
            </a:r>
          </a:p>
          <a:p>
            <a:pPr algn="just"/>
            <a:endParaRPr lang="en-IN" sz="2200" dirty="0"/>
          </a:p>
        </p:txBody>
      </p:sp>
    </p:spTree>
    <p:extLst>
      <p:ext uri="{BB962C8B-B14F-4D97-AF65-F5344CB8AC3E}">
        <p14:creationId xmlns:p14="http://schemas.microsoft.com/office/powerpoint/2010/main" val="23857004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69808-8FA1-1840-0492-60419A5499D5}"/>
              </a:ext>
            </a:extLst>
          </p:cNvPr>
          <p:cNvSpPr>
            <a:spLocks noGrp="1"/>
          </p:cNvSpPr>
          <p:nvPr>
            <p:ph type="title"/>
          </p:nvPr>
        </p:nvSpPr>
        <p:spPr/>
        <p:txBody>
          <a:bodyPr/>
          <a:lstStyle/>
          <a:p>
            <a:r>
              <a:rPr lang="en-IN" b="1" dirty="0"/>
              <a:t>Bayesian Network-Example</a:t>
            </a:r>
            <a:endParaRPr lang="en-IN" dirty="0"/>
          </a:p>
        </p:txBody>
      </p:sp>
      <p:pic>
        <p:nvPicPr>
          <p:cNvPr id="5" name="Content Placeholder 4">
            <a:extLst>
              <a:ext uri="{FF2B5EF4-FFF2-40B4-BE49-F238E27FC236}">
                <a16:creationId xmlns:a16="http://schemas.microsoft.com/office/drawing/2014/main" id="{5D1E86DB-AFDA-EA43-5D75-D1CC4AF55F2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5853" y="2160589"/>
            <a:ext cx="6861063" cy="3859348"/>
          </a:xfrm>
        </p:spPr>
      </p:pic>
    </p:spTree>
    <p:extLst>
      <p:ext uri="{BB962C8B-B14F-4D97-AF65-F5344CB8AC3E}">
        <p14:creationId xmlns:p14="http://schemas.microsoft.com/office/powerpoint/2010/main" val="2112550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4CEA0-5E87-0DCE-9CA5-586A3D9C9EE9}"/>
              </a:ext>
            </a:extLst>
          </p:cNvPr>
          <p:cNvSpPr>
            <a:spLocks noGrp="1"/>
          </p:cNvSpPr>
          <p:nvPr>
            <p:ph type="title"/>
          </p:nvPr>
        </p:nvSpPr>
        <p:spPr>
          <a:xfrm>
            <a:off x="293875" y="78658"/>
            <a:ext cx="8596668" cy="609600"/>
          </a:xfrm>
        </p:spPr>
        <p:txBody>
          <a:bodyPr>
            <a:normAutofit fontScale="90000"/>
          </a:bodyPr>
          <a:lstStyle/>
          <a:p>
            <a:r>
              <a:rPr lang="en-IN" b="1" dirty="0"/>
              <a:t>Role of Bayesian Networks in Data Mining</a:t>
            </a:r>
            <a:br>
              <a:rPr lang="en-IN" dirty="0"/>
            </a:br>
            <a:endParaRPr lang="en-IN" dirty="0"/>
          </a:p>
        </p:txBody>
      </p:sp>
      <p:sp>
        <p:nvSpPr>
          <p:cNvPr id="3" name="Content Placeholder 2">
            <a:extLst>
              <a:ext uri="{FF2B5EF4-FFF2-40B4-BE49-F238E27FC236}">
                <a16:creationId xmlns:a16="http://schemas.microsoft.com/office/drawing/2014/main" id="{F8BC479A-46A0-005B-EA65-D46C9139356D}"/>
              </a:ext>
            </a:extLst>
          </p:cNvPr>
          <p:cNvSpPr>
            <a:spLocks noGrp="1"/>
          </p:cNvSpPr>
          <p:nvPr>
            <p:ph idx="1"/>
          </p:nvPr>
        </p:nvSpPr>
        <p:spPr>
          <a:xfrm>
            <a:off x="175887" y="688258"/>
            <a:ext cx="11701480" cy="6091084"/>
          </a:xfrm>
        </p:spPr>
        <p:txBody>
          <a:bodyPr>
            <a:noAutofit/>
          </a:bodyPr>
          <a:lstStyle/>
          <a:p>
            <a:pPr lvl="0" algn="just"/>
            <a:r>
              <a:rPr lang="en-IN" sz="2000" b="1" dirty="0"/>
              <a:t>Classification &amp; Prediction</a:t>
            </a:r>
            <a:endParaRPr lang="en-IN" sz="2000" dirty="0"/>
          </a:p>
          <a:p>
            <a:pPr lvl="1" algn="just"/>
            <a:r>
              <a:rPr lang="en-IN" sz="2000" dirty="0"/>
              <a:t>E.g., predicting disease presence, fraud detection, or customer churn.</a:t>
            </a:r>
          </a:p>
          <a:p>
            <a:pPr lvl="1" algn="just"/>
            <a:r>
              <a:rPr lang="en-IN" sz="2000" dirty="0"/>
              <a:t>Unlike decision trees or neural networks, BNs explicitly model uncertainty and dependencies among features.</a:t>
            </a:r>
          </a:p>
          <a:p>
            <a:pPr lvl="0" algn="just"/>
            <a:r>
              <a:rPr lang="en-IN" sz="2000" b="1" dirty="0"/>
              <a:t>Feature Selection &amp; Dimensionality Reduction</a:t>
            </a:r>
            <a:endParaRPr lang="en-IN" sz="2000" dirty="0"/>
          </a:p>
          <a:p>
            <a:pPr lvl="1" algn="just"/>
            <a:r>
              <a:rPr lang="en-IN" sz="2000" dirty="0"/>
              <a:t>BNs help identify the most relevant features based on probabilistic dependencies.</a:t>
            </a:r>
          </a:p>
          <a:p>
            <a:pPr lvl="0" algn="just"/>
            <a:r>
              <a:rPr lang="en-IN" sz="2000" b="1" dirty="0"/>
              <a:t>Clustering &amp; Pattern Discovery</a:t>
            </a:r>
            <a:endParaRPr lang="en-IN" sz="2000" dirty="0"/>
          </a:p>
          <a:p>
            <a:pPr lvl="1" algn="just"/>
            <a:r>
              <a:rPr lang="en-IN" sz="2000" dirty="0"/>
              <a:t>With extensions like Bayesian belief networks or latent variable models, BNs can uncover hidden structures.</a:t>
            </a:r>
          </a:p>
          <a:p>
            <a:pPr lvl="0" algn="just"/>
            <a:r>
              <a:rPr lang="en-IN" sz="2000" b="1" dirty="0"/>
              <a:t>Association &amp; Causal Discovery</a:t>
            </a:r>
            <a:endParaRPr lang="en-IN" sz="2000" dirty="0"/>
          </a:p>
          <a:p>
            <a:pPr lvl="1" algn="just"/>
            <a:r>
              <a:rPr lang="en-IN" sz="2000" dirty="0"/>
              <a:t>BNs are used to infer causal relationships (not just correlations), valuable in fields like medicine, biology, and economics.</a:t>
            </a:r>
          </a:p>
          <a:p>
            <a:pPr lvl="0" algn="just"/>
            <a:r>
              <a:rPr lang="en-IN" sz="2000" b="1" dirty="0"/>
              <a:t>Handling Missing Data</a:t>
            </a:r>
            <a:endParaRPr lang="en-IN" sz="2000" dirty="0"/>
          </a:p>
          <a:p>
            <a:pPr lvl="1" algn="just"/>
            <a:r>
              <a:rPr lang="en-IN" sz="2000" dirty="0"/>
              <a:t>BNs can perform inference with incomplete datasets, unlike many traditional machine learning models.</a:t>
            </a:r>
          </a:p>
          <a:p>
            <a:pPr algn="just"/>
            <a:endParaRPr lang="en-IN" sz="2000" dirty="0"/>
          </a:p>
        </p:txBody>
      </p:sp>
    </p:spTree>
    <p:extLst>
      <p:ext uri="{BB962C8B-B14F-4D97-AF65-F5344CB8AC3E}">
        <p14:creationId xmlns:p14="http://schemas.microsoft.com/office/powerpoint/2010/main" val="25560076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40A96-833F-609D-DF56-11CC3A06C659}"/>
              </a:ext>
            </a:extLst>
          </p:cNvPr>
          <p:cNvSpPr>
            <a:spLocks noGrp="1"/>
          </p:cNvSpPr>
          <p:nvPr>
            <p:ph type="title"/>
          </p:nvPr>
        </p:nvSpPr>
        <p:spPr>
          <a:xfrm>
            <a:off x="677334" y="609600"/>
            <a:ext cx="8596668" cy="766916"/>
          </a:xfrm>
        </p:spPr>
        <p:txBody>
          <a:bodyPr>
            <a:normAutofit fontScale="90000"/>
          </a:bodyPr>
          <a:lstStyle/>
          <a:p>
            <a:r>
              <a:rPr lang="en-IN" b="1" dirty="0"/>
              <a:t>Advantages in Data Mining</a:t>
            </a:r>
            <a:br>
              <a:rPr lang="en-IN" dirty="0"/>
            </a:br>
            <a:endParaRPr lang="en-IN" dirty="0"/>
          </a:p>
        </p:txBody>
      </p:sp>
      <p:sp>
        <p:nvSpPr>
          <p:cNvPr id="3" name="Content Placeholder 2">
            <a:extLst>
              <a:ext uri="{FF2B5EF4-FFF2-40B4-BE49-F238E27FC236}">
                <a16:creationId xmlns:a16="http://schemas.microsoft.com/office/drawing/2014/main" id="{A6D8EB3D-B8D8-4737-DF4C-6894AA830A3F}"/>
              </a:ext>
            </a:extLst>
          </p:cNvPr>
          <p:cNvSpPr>
            <a:spLocks noGrp="1"/>
          </p:cNvSpPr>
          <p:nvPr>
            <p:ph idx="1"/>
          </p:nvPr>
        </p:nvSpPr>
        <p:spPr>
          <a:xfrm>
            <a:off x="234881" y="1629647"/>
            <a:ext cx="10875570" cy="3880773"/>
          </a:xfrm>
        </p:spPr>
        <p:txBody>
          <a:bodyPr>
            <a:normAutofit/>
          </a:bodyPr>
          <a:lstStyle/>
          <a:p>
            <a:pPr lvl="0" algn="just"/>
            <a:r>
              <a:rPr lang="en-IN" sz="2600" b="1" dirty="0"/>
              <a:t>Probabilistic reasoning</a:t>
            </a:r>
            <a:r>
              <a:rPr lang="en-IN" sz="2600" dirty="0"/>
              <a:t>: Naturally handles </a:t>
            </a:r>
            <a:r>
              <a:rPr lang="en-IN" sz="2600" dirty="0">
                <a:solidFill>
                  <a:srgbClr val="FF0000"/>
                </a:solidFill>
              </a:rPr>
              <a:t>uncertainty and noise in data.</a:t>
            </a:r>
          </a:p>
          <a:p>
            <a:pPr lvl="0" algn="just"/>
            <a:r>
              <a:rPr lang="en-IN" sz="2600" b="1" dirty="0"/>
              <a:t>Interpretability</a:t>
            </a:r>
            <a:r>
              <a:rPr lang="en-IN" sz="2600" dirty="0"/>
              <a:t>: The graphical structure shows clear relationships.</a:t>
            </a:r>
          </a:p>
          <a:p>
            <a:pPr lvl="0" algn="just"/>
            <a:r>
              <a:rPr lang="en-IN" sz="2600" b="1" dirty="0"/>
              <a:t>Causality insights</a:t>
            </a:r>
            <a:r>
              <a:rPr lang="en-IN" sz="2600" dirty="0"/>
              <a:t>: Unlike black-box models, BNs can model causal links.</a:t>
            </a:r>
          </a:p>
          <a:p>
            <a:pPr lvl="0" algn="just"/>
            <a:r>
              <a:rPr lang="en-IN" sz="2600" b="1" dirty="0"/>
              <a:t>Flexibility</a:t>
            </a:r>
            <a:r>
              <a:rPr lang="en-IN" sz="2600" dirty="0"/>
              <a:t>: Can combine domain knowledge with data-driven learning.</a:t>
            </a:r>
          </a:p>
          <a:p>
            <a:pPr marL="0" indent="0" algn="just">
              <a:buNone/>
            </a:pPr>
            <a:endParaRPr lang="en-IN" sz="2600" dirty="0"/>
          </a:p>
        </p:txBody>
      </p:sp>
    </p:spTree>
    <p:extLst>
      <p:ext uri="{BB962C8B-B14F-4D97-AF65-F5344CB8AC3E}">
        <p14:creationId xmlns:p14="http://schemas.microsoft.com/office/powerpoint/2010/main" val="42701563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65124-C62C-E1A6-86F7-37D9E0EF6C63}"/>
              </a:ext>
            </a:extLst>
          </p:cNvPr>
          <p:cNvSpPr>
            <a:spLocks noGrp="1"/>
          </p:cNvSpPr>
          <p:nvPr>
            <p:ph type="title"/>
          </p:nvPr>
        </p:nvSpPr>
        <p:spPr/>
        <p:txBody>
          <a:bodyPr/>
          <a:lstStyle/>
          <a:p>
            <a:r>
              <a:rPr lang="en-IN" b="1" dirty="0"/>
              <a:t>Challenges</a:t>
            </a:r>
            <a:br>
              <a:rPr lang="en-IN" dirty="0"/>
            </a:br>
            <a:endParaRPr lang="en-IN" dirty="0"/>
          </a:p>
        </p:txBody>
      </p:sp>
      <p:sp>
        <p:nvSpPr>
          <p:cNvPr id="3" name="Content Placeholder 2">
            <a:extLst>
              <a:ext uri="{FF2B5EF4-FFF2-40B4-BE49-F238E27FC236}">
                <a16:creationId xmlns:a16="http://schemas.microsoft.com/office/drawing/2014/main" id="{F951FD4D-EA1A-9DFE-0A0C-C675A181D5C8}"/>
              </a:ext>
            </a:extLst>
          </p:cNvPr>
          <p:cNvSpPr>
            <a:spLocks noGrp="1"/>
          </p:cNvSpPr>
          <p:nvPr>
            <p:ph idx="1"/>
          </p:nvPr>
        </p:nvSpPr>
        <p:spPr>
          <a:xfrm>
            <a:off x="116894" y="1488613"/>
            <a:ext cx="11131209" cy="3880773"/>
          </a:xfrm>
        </p:spPr>
        <p:txBody>
          <a:bodyPr>
            <a:normAutofit/>
          </a:bodyPr>
          <a:lstStyle/>
          <a:p>
            <a:pPr lvl="0"/>
            <a:r>
              <a:rPr lang="en-US" sz="2800" b="1" dirty="0"/>
              <a:t>Structure learning </a:t>
            </a:r>
            <a:r>
              <a:rPr lang="en-US" sz="2800" dirty="0"/>
              <a:t>(discovering the DAG from data) is a </a:t>
            </a:r>
            <a:r>
              <a:rPr lang="en-US" sz="2800" dirty="0">
                <a:solidFill>
                  <a:srgbClr val="FF0000"/>
                </a:solidFill>
              </a:rPr>
              <a:t>highly challenging problem </a:t>
            </a:r>
            <a:r>
              <a:rPr lang="en-US" sz="2800" dirty="0"/>
              <a:t>due to its </a:t>
            </a:r>
            <a:r>
              <a:rPr lang="en-US" sz="2800" dirty="0">
                <a:solidFill>
                  <a:srgbClr val="FF0000"/>
                </a:solidFill>
              </a:rPr>
              <a:t>computational complexity.</a:t>
            </a:r>
          </a:p>
          <a:p>
            <a:pPr lvl="0"/>
            <a:r>
              <a:rPr lang="en-IN" sz="2600" b="1" dirty="0"/>
              <a:t>Scalability</a:t>
            </a:r>
            <a:r>
              <a:rPr lang="en-IN" sz="2600" dirty="0"/>
              <a:t>: </a:t>
            </a:r>
            <a:r>
              <a:rPr lang="en-IN" sz="2600" dirty="0">
                <a:solidFill>
                  <a:srgbClr val="FF0000"/>
                </a:solidFill>
              </a:rPr>
              <a:t>Computationally expensive </a:t>
            </a:r>
            <a:r>
              <a:rPr lang="en-IN" sz="2600" dirty="0"/>
              <a:t>for very large datasets.</a:t>
            </a:r>
          </a:p>
          <a:p>
            <a:pPr lvl="0"/>
            <a:r>
              <a:rPr lang="en-IN" sz="2600" b="1" dirty="0"/>
              <a:t>Parameter learning</a:t>
            </a:r>
            <a:r>
              <a:rPr lang="en-IN" sz="2600" dirty="0"/>
              <a:t> requires </a:t>
            </a:r>
            <a:r>
              <a:rPr lang="en-IN" sz="2600" dirty="0">
                <a:solidFill>
                  <a:srgbClr val="FF0000"/>
                </a:solidFill>
              </a:rPr>
              <a:t>large amounts of data for accuracy.</a:t>
            </a:r>
          </a:p>
          <a:p>
            <a:endParaRPr lang="en-IN" sz="2600" dirty="0"/>
          </a:p>
        </p:txBody>
      </p:sp>
    </p:spTree>
    <p:extLst>
      <p:ext uri="{BB962C8B-B14F-4D97-AF65-F5344CB8AC3E}">
        <p14:creationId xmlns:p14="http://schemas.microsoft.com/office/powerpoint/2010/main" val="3636360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D762D-78DF-463A-A6EA-4EDFB8D828AC}"/>
              </a:ext>
            </a:extLst>
          </p:cNvPr>
          <p:cNvSpPr>
            <a:spLocks noGrp="1"/>
          </p:cNvSpPr>
          <p:nvPr>
            <p:ph type="title"/>
          </p:nvPr>
        </p:nvSpPr>
        <p:spPr/>
        <p:txBody>
          <a:bodyPr/>
          <a:lstStyle/>
          <a:p>
            <a:r>
              <a:rPr lang="en-IN" b="1" dirty="0"/>
              <a:t>Example Applications</a:t>
            </a:r>
            <a:br>
              <a:rPr lang="en-IN" dirty="0"/>
            </a:br>
            <a:endParaRPr lang="en-IN" dirty="0"/>
          </a:p>
        </p:txBody>
      </p:sp>
      <p:sp>
        <p:nvSpPr>
          <p:cNvPr id="3" name="Content Placeholder 2">
            <a:extLst>
              <a:ext uri="{FF2B5EF4-FFF2-40B4-BE49-F238E27FC236}">
                <a16:creationId xmlns:a16="http://schemas.microsoft.com/office/drawing/2014/main" id="{6B58104A-B56B-E5CF-CB6E-DDC1A792B2E0}"/>
              </a:ext>
            </a:extLst>
          </p:cNvPr>
          <p:cNvSpPr>
            <a:spLocks noGrp="1"/>
          </p:cNvSpPr>
          <p:nvPr>
            <p:ph idx="1"/>
          </p:nvPr>
        </p:nvSpPr>
        <p:spPr>
          <a:xfrm>
            <a:off x="677333" y="2160589"/>
            <a:ext cx="11082047" cy="3880773"/>
          </a:xfrm>
        </p:spPr>
        <p:txBody>
          <a:bodyPr>
            <a:normAutofit/>
          </a:bodyPr>
          <a:lstStyle/>
          <a:p>
            <a:pPr lvl="0"/>
            <a:r>
              <a:rPr lang="en-IN" sz="2600" b="1" dirty="0"/>
              <a:t>Medical diagnosis</a:t>
            </a:r>
            <a:r>
              <a:rPr lang="en-IN" sz="2600" dirty="0"/>
              <a:t>: Predicting diseases from patient symptoms.</a:t>
            </a:r>
          </a:p>
          <a:p>
            <a:pPr lvl="0"/>
            <a:r>
              <a:rPr lang="en-IN" sz="2600" b="1" dirty="0"/>
              <a:t>Fraud detection</a:t>
            </a:r>
            <a:r>
              <a:rPr lang="en-IN" sz="2600" dirty="0"/>
              <a:t>: Modelling dependencies in financial transactions.</a:t>
            </a:r>
          </a:p>
          <a:p>
            <a:pPr lvl="0"/>
            <a:r>
              <a:rPr lang="en-IN" sz="2600" b="1" dirty="0"/>
              <a:t>Risk management</a:t>
            </a:r>
            <a:r>
              <a:rPr lang="en-IN" sz="2600" dirty="0"/>
              <a:t>: Estimating probability of failures in engineering systems.</a:t>
            </a:r>
          </a:p>
          <a:p>
            <a:pPr lvl="0"/>
            <a:r>
              <a:rPr lang="en-IN" sz="2600" b="1" dirty="0"/>
              <a:t>Bioinformatics</a:t>
            </a:r>
            <a:r>
              <a:rPr lang="en-IN" sz="2600" dirty="0"/>
              <a:t>: Gene regulatory networks and protein interactions.</a:t>
            </a:r>
          </a:p>
          <a:p>
            <a:endParaRPr lang="en-IN" sz="2600" dirty="0"/>
          </a:p>
        </p:txBody>
      </p:sp>
    </p:spTree>
    <p:extLst>
      <p:ext uri="{BB962C8B-B14F-4D97-AF65-F5344CB8AC3E}">
        <p14:creationId xmlns:p14="http://schemas.microsoft.com/office/powerpoint/2010/main" val="9917003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BD7EE-3D99-5EE4-503F-43DA52116071}"/>
              </a:ext>
            </a:extLst>
          </p:cNvPr>
          <p:cNvSpPr>
            <a:spLocks noGrp="1"/>
          </p:cNvSpPr>
          <p:nvPr>
            <p:ph type="title"/>
          </p:nvPr>
        </p:nvSpPr>
        <p:spPr/>
        <p:txBody>
          <a:bodyPr/>
          <a:lstStyle/>
          <a:p>
            <a:r>
              <a:rPr lang="en-IN" b="1" dirty="0"/>
              <a:t>Linear Models</a:t>
            </a:r>
            <a:br>
              <a:rPr lang="en-IN" dirty="0"/>
            </a:br>
            <a:endParaRPr lang="en-IN" dirty="0"/>
          </a:p>
        </p:txBody>
      </p:sp>
      <p:sp>
        <p:nvSpPr>
          <p:cNvPr id="3" name="Content Placeholder 2">
            <a:extLst>
              <a:ext uri="{FF2B5EF4-FFF2-40B4-BE49-F238E27FC236}">
                <a16:creationId xmlns:a16="http://schemas.microsoft.com/office/drawing/2014/main" id="{3406E381-6253-7ADC-9604-FB03740B45F6}"/>
              </a:ext>
            </a:extLst>
          </p:cNvPr>
          <p:cNvSpPr>
            <a:spLocks noGrp="1"/>
          </p:cNvSpPr>
          <p:nvPr>
            <p:ph idx="1"/>
          </p:nvPr>
        </p:nvSpPr>
        <p:spPr>
          <a:xfrm>
            <a:off x="333204" y="1629647"/>
            <a:ext cx="10580601" cy="3880773"/>
          </a:xfrm>
        </p:spPr>
        <p:txBody>
          <a:bodyPr>
            <a:normAutofit/>
          </a:bodyPr>
          <a:lstStyle/>
          <a:p>
            <a:pPr lvl="0"/>
            <a:r>
              <a:rPr lang="en-IN" sz="2600" b="1" dirty="0"/>
              <a:t>Linear models</a:t>
            </a:r>
            <a:r>
              <a:rPr lang="en-IN" sz="2600" dirty="0"/>
              <a:t> are among the most </a:t>
            </a:r>
            <a:r>
              <a:rPr lang="en-IN" sz="2600" dirty="0">
                <a:solidFill>
                  <a:srgbClr val="FF0000"/>
                </a:solidFill>
              </a:rPr>
              <a:t>fundamental and widely used </a:t>
            </a:r>
            <a:r>
              <a:rPr lang="en-IN" sz="2600" dirty="0"/>
              <a:t>approaches in data mining and machine learning.</a:t>
            </a:r>
          </a:p>
          <a:p>
            <a:pPr lvl="0"/>
            <a:r>
              <a:rPr lang="en-IN" sz="2600" dirty="0"/>
              <a:t>They model the relationship between a </a:t>
            </a:r>
            <a:r>
              <a:rPr lang="en-IN" sz="2600" dirty="0">
                <a:solidFill>
                  <a:srgbClr val="FF0000"/>
                </a:solidFill>
              </a:rPr>
              <a:t>dependent variable (target) and one or more independent variables (features) </a:t>
            </a:r>
            <a:r>
              <a:rPr lang="en-IN" sz="2600" dirty="0"/>
              <a:t>as a linear combination.</a:t>
            </a:r>
          </a:p>
          <a:p>
            <a:endParaRPr lang="en-IN" sz="2600" dirty="0"/>
          </a:p>
        </p:txBody>
      </p:sp>
    </p:spTree>
    <p:extLst>
      <p:ext uri="{BB962C8B-B14F-4D97-AF65-F5344CB8AC3E}">
        <p14:creationId xmlns:p14="http://schemas.microsoft.com/office/powerpoint/2010/main" val="31727728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0FD0C-8EF0-60D0-69B4-EB3E600318A3}"/>
              </a:ext>
            </a:extLst>
          </p:cNvPr>
          <p:cNvSpPr>
            <a:spLocks noGrp="1"/>
          </p:cNvSpPr>
          <p:nvPr>
            <p:ph type="title"/>
          </p:nvPr>
        </p:nvSpPr>
        <p:spPr>
          <a:xfrm>
            <a:off x="274211" y="314632"/>
            <a:ext cx="8596668" cy="639097"/>
          </a:xfrm>
        </p:spPr>
        <p:txBody>
          <a:bodyPr>
            <a:normAutofit fontScale="90000"/>
          </a:bodyPr>
          <a:lstStyle/>
          <a:p>
            <a:r>
              <a:rPr lang="en-IN" b="1" dirty="0"/>
              <a:t>Types of Linear Models</a:t>
            </a:r>
            <a:br>
              <a:rPr lang="en-IN" dirty="0"/>
            </a:br>
            <a:endParaRPr lang="en-IN" dirty="0"/>
          </a:p>
        </p:txBody>
      </p:sp>
      <p:sp>
        <p:nvSpPr>
          <p:cNvPr id="3" name="Content Placeholder 2">
            <a:extLst>
              <a:ext uri="{FF2B5EF4-FFF2-40B4-BE49-F238E27FC236}">
                <a16:creationId xmlns:a16="http://schemas.microsoft.com/office/drawing/2014/main" id="{3E7CE432-CD2C-0499-6BC6-DB6DB6231ACA}"/>
              </a:ext>
            </a:extLst>
          </p:cNvPr>
          <p:cNvSpPr>
            <a:spLocks noGrp="1"/>
          </p:cNvSpPr>
          <p:nvPr>
            <p:ph idx="1"/>
          </p:nvPr>
        </p:nvSpPr>
        <p:spPr>
          <a:xfrm>
            <a:off x="490520" y="1737801"/>
            <a:ext cx="10649428" cy="3880773"/>
          </a:xfrm>
        </p:spPr>
        <p:txBody>
          <a:bodyPr>
            <a:noAutofit/>
          </a:bodyPr>
          <a:lstStyle/>
          <a:p>
            <a:pPr lvl="0"/>
            <a:r>
              <a:rPr lang="en-IN" sz="2600" b="1" dirty="0"/>
              <a:t>Linear Regression</a:t>
            </a:r>
            <a:endParaRPr lang="en-IN" sz="2600" dirty="0"/>
          </a:p>
          <a:p>
            <a:pPr lvl="0"/>
            <a:r>
              <a:rPr lang="en-IN" sz="2600" b="1" dirty="0"/>
              <a:t>Logistic Regression</a:t>
            </a:r>
            <a:endParaRPr lang="en-IN" sz="2600" dirty="0"/>
          </a:p>
          <a:p>
            <a:pPr lvl="0"/>
            <a:r>
              <a:rPr lang="en-IN" sz="2600" b="1" dirty="0"/>
              <a:t>Ridge Regression (L2 Regularization)</a:t>
            </a:r>
            <a:endParaRPr lang="en-IN" sz="2600" dirty="0"/>
          </a:p>
          <a:p>
            <a:pPr lvl="0"/>
            <a:r>
              <a:rPr lang="en-IN" sz="2600" b="1" dirty="0"/>
              <a:t>Lasso Regression (L1 Regularization)</a:t>
            </a:r>
            <a:endParaRPr lang="en-IN" sz="2600" dirty="0"/>
          </a:p>
          <a:p>
            <a:pPr lvl="0"/>
            <a:r>
              <a:rPr lang="en-IN" sz="2600" b="1" dirty="0"/>
              <a:t>Elastic Net</a:t>
            </a:r>
            <a:endParaRPr lang="en-IN" sz="2600" dirty="0"/>
          </a:p>
          <a:p>
            <a:pPr marL="0" indent="0">
              <a:buNone/>
            </a:pPr>
            <a:endParaRPr lang="en-IN" sz="2600" dirty="0"/>
          </a:p>
        </p:txBody>
      </p:sp>
    </p:spTree>
    <p:extLst>
      <p:ext uri="{BB962C8B-B14F-4D97-AF65-F5344CB8AC3E}">
        <p14:creationId xmlns:p14="http://schemas.microsoft.com/office/powerpoint/2010/main" val="29150910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0E4C1-51D0-94D6-F8A7-795B55B87FBD}"/>
              </a:ext>
            </a:extLst>
          </p:cNvPr>
          <p:cNvSpPr>
            <a:spLocks noGrp="1"/>
          </p:cNvSpPr>
          <p:nvPr>
            <p:ph type="title"/>
          </p:nvPr>
        </p:nvSpPr>
        <p:spPr>
          <a:xfrm>
            <a:off x="677334" y="609600"/>
            <a:ext cx="8596668" cy="707923"/>
          </a:xfrm>
        </p:spPr>
        <p:txBody>
          <a:bodyPr>
            <a:normAutofit fontScale="90000"/>
          </a:bodyPr>
          <a:lstStyle/>
          <a:p>
            <a:r>
              <a:rPr lang="en-IN" b="1" dirty="0"/>
              <a:t>Advantages</a:t>
            </a:r>
            <a:br>
              <a:rPr lang="en-IN" dirty="0"/>
            </a:br>
            <a:endParaRPr lang="en-IN" dirty="0"/>
          </a:p>
        </p:txBody>
      </p:sp>
      <p:sp>
        <p:nvSpPr>
          <p:cNvPr id="3" name="Content Placeholder 2">
            <a:extLst>
              <a:ext uri="{FF2B5EF4-FFF2-40B4-BE49-F238E27FC236}">
                <a16:creationId xmlns:a16="http://schemas.microsoft.com/office/drawing/2014/main" id="{8BA36F6F-42D7-3A9D-07C4-473A3DD4C457}"/>
              </a:ext>
            </a:extLst>
          </p:cNvPr>
          <p:cNvSpPr>
            <a:spLocks noGrp="1"/>
          </p:cNvSpPr>
          <p:nvPr>
            <p:ph idx="1"/>
          </p:nvPr>
        </p:nvSpPr>
        <p:spPr>
          <a:xfrm>
            <a:off x="677334" y="1488613"/>
            <a:ext cx="8596668" cy="3880773"/>
          </a:xfrm>
        </p:spPr>
        <p:txBody>
          <a:bodyPr>
            <a:normAutofit/>
          </a:bodyPr>
          <a:lstStyle/>
          <a:p>
            <a:pPr lvl="0"/>
            <a:r>
              <a:rPr lang="en-IN" sz="2600" dirty="0"/>
              <a:t>Simple and easy to implement.</a:t>
            </a:r>
          </a:p>
          <a:p>
            <a:pPr lvl="0"/>
            <a:r>
              <a:rPr lang="en-IN" sz="2600" dirty="0"/>
              <a:t>Computationally efficient.</a:t>
            </a:r>
          </a:p>
          <a:p>
            <a:pPr lvl="0"/>
            <a:r>
              <a:rPr lang="en-IN" sz="2600" dirty="0"/>
              <a:t>Provides </a:t>
            </a:r>
            <a:r>
              <a:rPr lang="en-IN" sz="2600" b="1" dirty="0"/>
              <a:t>interpretable coefficients</a:t>
            </a:r>
            <a:r>
              <a:rPr lang="en-IN" sz="2600" dirty="0"/>
              <a:t>.</a:t>
            </a:r>
          </a:p>
          <a:p>
            <a:pPr lvl="0"/>
            <a:r>
              <a:rPr lang="en-IN" sz="2600" dirty="0"/>
              <a:t>Works well with large datasets.</a:t>
            </a:r>
          </a:p>
          <a:p>
            <a:pPr lvl="0"/>
            <a:r>
              <a:rPr lang="en-IN" sz="2600" dirty="0"/>
              <a:t>Basis for more complex models.</a:t>
            </a:r>
          </a:p>
          <a:p>
            <a:endParaRPr lang="en-IN" sz="2600" dirty="0"/>
          </a:p>
        </p:txBody>
      </p:sp>
    </p:spTree>
    <p:extLst>
      <p:ext uri="{BB962C8B-B14F-4D97-AF65-F5344CB8AC3E}">
        <p14:creationId xmlns:p14="http://schemas.microsoft.com/office/powerpoint/2010/main" val="26988030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0F51B-FCF6-19CB-D4B9-EF5F5DBD96A2}"/>
              </a:ext>
            </a:extLst>
          </p:cNvPr>
          <p:cNvSpPr>
            <a:spLocks noGrp="1"/>
          </p:cNvSpPr>
          <p:nvPr>
            <p:ph type="title"/>
          </p:nvPr>
        </p:nvSpPr>
        <p:spPr>
          <a:xfrm>
            <a:off x="677334" y="609600"/>
            <a:ext cx="8596668" cy="727587"/>
          </a:xfrm>
        </p:spPr>
        <p:txBody>
          <a:bodyPr>
            <a:normAutofit fontScale="90000"/>
          </a:bodyPr>
          <a:lstStyle/>
          <a:p>
            <a:r>
              <a:rPr lang="en-IN" b="1" dirty="0"/>
              <a:t>Disadvantages</a:t>
            </a:r>
            <a:br>
              <a:rPr lang="en-IN" dirty="0"/>
            </a:br>
            <a:endParaRPr lang="en-IN" dirty="0"/>
          </a:p>
        </p:txBody>
      </p:sp>
      <p:sp>
        <p:nvSpPr>
          <p:cNvPr id="3" name="Content Placeholder 2">
            <a:extLst>
              <a:ext uri="{FF2B5EF4-FFF2-40B4-BE49-F238E27FC236}">
                <a16:creationId xmlns:a16="http://schemas.microsoft.com/office/drawing/2014/main" id="{111451FA-CFB0-87F7-155E-E22E295680F1}"/>
              </a:ext>
            </a:extLst>
          </p:cNvPr>
          <p:cNvSpPr>
            <a:spLocks noGrp="1"/>
          </p:cNvSpPr>
          <p:nvPr>
            <p:ph idx="1"/>
          </p:nvPr>
        </p:nvSpPr>
        <p:spPr>
          <a:xfrm>
            <a:off x="510186" y="1488613"/>
            <a:ext cx="10354460" cy="3880773"/>
          </a:xfrm>
        </p:spPr>
        <p:txBody>
          <a:bodyPr>
            <a:normAutofit/>
          </a:bodyPr>
          <a:lstStyle/>
          <a:p>
            <a:pPr lvl="0"/>
            <a:r>
              <a:rPr lang="en-IN" sz="2600" dirty="0"/>
              <a:t>Cannot capture </a:t>
            </a:r>
            <a:r>
              <a:rPr lang="en-IN" sz="2600" b="1" dirty="0"/>
              <a:t>non-linear relationships</a:t>
            </a:r>
            <a:r>
              <a:rPr lang="en-IN" sz="2600" dirty="0"/>
              <a:t> (unless features are transformed).</a:t>
            </a:r>
          </a:p>
          <a:p>
            <a:pPr lvl="0"/>
            <a:r>
              <a:rPr lang="en-IN" sz="2600" dirty="0"/>
              <a:t>Sensitive to </a:t>
            </a:r>
            <a:r>
              <a:rPr lang="en-IN" sz="2600" b="1" dirty="0"/>
              <a:t>outliers</a:t>
            </a:r>
            <a:r>
              <a:rPr lang="en-IN" sz="2600" dirty="0"/>
              <a:t>.</a:t>
            </a:r>
          </a:p>
          <a:p>
            <a:pPr lvl="0"/>
            <a:r>
              <a:rPr lang="en-IN" sz="2600" dirty="0"/>
              <a:t>Performance degrades with </a:t>
            </a:r>
            <a:r>
              <a:rPr lang="en-IN" sz="2600" dirty="0">
                <a:solidFill>
                  <a:srgbClr val="FF0000"/>
                </a:solidFill>
              </a:rPr>
              <a:t>high-dimensional or highly correlated </a:t>
            </a:r>
            <a:r>
              <a:rPr lang="en-IN" sz="2600" dirty="0"/>
              <a:t>data.</a:t>
            </a:r>
          </a:p>
          <a:p>
            <a:pPr lvl="0"/>
            <a:r>
              <a:rPr lang="en-IN" sz="2600" dirty="0"/>
              <a:t>Assumptions may not always hold in real-world data.</a:t>
            </a:r>
          </a:p>
          <a:p>
            <a:endParaRPr lang="en-IN" sz="2600" dirty="0"/>
          </a:p>
        </p:txBody>
      </p:sp>
    </p:spTree>
    <p:extLst>
      <p:ext uri="{BB962C8B-B14F-4D97-AF65-F5344CB8AC3E}">
        <p14:creationId xmlns:p14="http://schemas.microsoft.com/office/powerpoint/2010/main" val="642659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8B5C4-798B-C5A6-35CD-68FE413DFE1E}"/>
              </a:ext>
            </a:extLst>
          </p:cNvPr>
          <p:cNvSpPr>
            <a:spLocks noGrp="1"/>
          </p:cNvSpPr>
          <p:nvPr>
            <p:ph type="title"/>
          </p:nvPr>
        </p:nvSpPr>
        <p:spPr/>
        <p:txBody>
          <a:bodyPr/>
          <a:lstStyle/>
          <a:p>
            <a:r>
              <a:rPr lang="en-IN" b="1" dirty="0"/>
              <a:t>Applications in Data Mining</a:t>
            </a:r>
            <a:br>
              <a:rPr lang="en-IN" dirty="0"/>
            </a:br>
            <a:endParaRPr lang="en-IN" dirty="0"/>
          </a:p>
        </p:txBody>
      </p:sp>
      <p:sp>
        <p:nvSpPr>
          <p:cNvPr id="3" name="Content Placeholder 2">
            <a:extLst>
              <a:ext uri="{FF2B5EF4-FFF2-40B4-BE49-F238E27FC236}">
                <a16:creationId xmlns:a16="http://schemas.microsoft.com/office/drawing/2014/main" id="{CAD95E0F-4B00-530A-B68D-3B8E05AC14CE}"/>
              </a:ext>
            </a:extLst>
          </p:cNvPr>
          <p:cNvSpPr>
            <a:spLocks noGrp="1"/>
          </p:cNvSpPr>
          <p:nvPr>
            <p:ph idx="1"/>
          </p:nvPr>
        </p:nvSpPr>
        <p:spPr>
          <a:xfrm>
            <a:off x="677333" y="2160589"/>
            <a:ext cx="10728085" cy="3880773"/>
          </a:xfrm>
        </p:spPr>
        <p:txBody>
          <a:bodyPr>
            <a:normAutofit/>
          </a:bodyPr>
          <a:lstStyle/>
          <a:p>
            <a:pPr lvl="0"/>
            <a:r>
              <a:rPr lang="en-IN" sz="2600" b="1" dirty="0"/>
              <a:t>Regression tasks</a:t>
            </a:r>
            <a:r>
              <a:rPr lang="en-IN" sz="2600" dirty="0"/>
              <a:t>: Price prediction, demand forecasting.</a:t>
            </a:r>
          </a:p>
          <a:p>
            <a:pPr lvl="0"/>
            <a:r>
              <a:rPr lang="en-IN" sz="2600" b="1" dirty="0"/>
              <a:t>Classification tasks</a:t>
            </a:r>
            <a:r>
              <a:rPr lang="en-IN" sz="2600" dirty="0"/>
              <a:t>: Customer prediction, medical diagnosis.</a:t>
            </a:r>
          </a:p>
          <a:p>
            <a:pPr lvl="0"/>
            <a:r>
              <a:rPr lang="en-IN" sz="2600" b="1" dirty="0"/>
              <a:t>Feature selection</a:t>
            </a:r>
            <a:r>
              <a:rPr lang="en-IN" sz="2600" dirty="0"/>
              <a:t> (via Lasso).</a:t>
            </a:r>
          </a:p>
          <a:p>
            <a:r>
              <a:rPr lang="en-IN" sz="2600" b="1" dirty="0"/>
              <a:t>Baseline models</a:t>
            </a:r>
            <a:r>
              <a:rPr lang="en-IN" sz="2600" dirty="0"/>
              <a:t> before using complex algorithms.</a:t>
            </a:r>
          </a:p>
        </p:txBody>
      </p:sp>
    </p:spTree>
    <p:extLst>
      <p:ext uri="{BB962C8B-B14F-4D97-AF65-F5344CB8AC3E}">
        <p14:creationId xmlns:p14="http://schemas.microsoft.com/office/powerpoint/2010/main" val="121079603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250</TotalTime>
  <Words>1768</Words>
  <Application>Microsoft Office PowerPoint</Application>
  <PresentationFormat>Widescreen</PresentationFormat>
  <Paragraphs>150</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Trebuchet MS</vt:lpstr>
      <vt:lpstr>Wingdings 3</vt:lpstr>
      <vt:lpstr>Facet</vt:lpstr>
      <vt:lpstr>UNIT-II</vt:lpstr>
      <vt:lpstr>Rule-based Classification in Data Mining</vt:lpstr>
      <vt:lpstr>Assessment of Rule </vt:lpstr>
      <vt:lpstr>Properties of Rule-Based Classifiers </vt:lpstr>
      <vt:lpstr>Rules may not be mutually exclusive in nature </vt:lpstr>
      <vt:lpstr>Example (Student Performance Classification) </vt:lpstr>
      <vt:lpstr>Rules may not be exhaustive in nature </vt:lpstr>
      <vt:lpstr>Implementation of Rule-Based Classifier </vt:lpstr>
      <vt:lpstr>Direct Method </vt:lpstr>
      <vt:lpstr>1R Algorithm </vt:lpstr>
      <vt:lpstr>Sequential Covering Algorithm </vt:lpstr>
      <vt:lpstr>Indirect Method </vt:lpstr>
      <vt:lpstr>Advantages of Rule-Based Classification </vt:lpstr>
      <vt:lpstr>"Bayesian Networks in Data Mining"</vt:lpstr>
      <vt:lpstr>Bayesian Network-Example</vt:lpstr>
      <vt:lpstr>Role of Bayesian Networks in Data Mining </vt:lpstr>
      <vt:lpstr>Advantages in Data Mining </vt:lpstr>
      <vt:lpstr>Challenges </vt:lpstr>
      <vt:lpstr>Example Applications </vt:lpstr>
      <vt:lpstr>Linear Models </vt:lpstr>
      <vt:lpstr>Types of Linear Models </vt:lpstr>
      <vt:lpstr>Advantages </vt:lpstr>
      <vt:lpstr>Disadvantages </vt:lpstr>
      <vt:lpstr>Applications in Data Mining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Isabella S</dc:creator>
  <cp:lastModifiedBy>Isabella S</cp:lastModifiedBy>
  <cp:revision>5</cp:revision>
  <dcterms:created xsi:type="dcterms:W3CDTF">2025-09-01T03:51:44Z</dcterms:created>
  <dcterms:modified xsi:type="dcterms:W3CDTF">2025-09-03T06:59:15Z</dcterms:modified>
</cp:coreProperties>
</file>