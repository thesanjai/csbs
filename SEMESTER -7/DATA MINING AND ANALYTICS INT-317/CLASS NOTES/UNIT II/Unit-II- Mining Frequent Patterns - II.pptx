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27"/>
  </p:notesMasterIdLst>
  <p:handoutMasterIdLst>
    <p:handoutMasterId r:id="rId28"/>
  </p:handoutMasterIdLst>
  <p:sldIdLst>
    <p:sldId id="260" r:id="rId2"/>
    <p:sldId id="835" r:id="rId3"/>
    <p:sldId id="836" r:id="rId4"/>
    <p:sldId id="879" r:id="rId5"/>
    <p:sldId id="837" r:id="rId6"/>
    <p:sldId id="842" r:id="rId7"/>
    <p:sldId id="843" r:id="rId8"/>
    <p:sldId id="889" r:id="rId9"/>
    <p:sldId id="876" r:id="rId10"/>
    <p:sldId id="887" r:id="rId11"/>
    <p:sldId id="890" r:id="rId12"/>
    <p:sldId id="888" r:id="rId13"/>
    <p:sldId id="845" r:id="rId14"/>
    <p:sldId id="878" r:id="rId15"/>
    <p:sldId id="847" r:id="rId16"/>
    <p:sldId id="848" r:id="rId17"/>
    <p:sldId id="1109" r:id="rId18"/>
    <p:sldId id="880" r:id="rId19"/>
    <p:sldId id="881" r:id="rId20"/>
    <p:sldId id="882" r:id="rId21"/>
    <p:sldId id="883" r:id="rId22"/>
    <p:sldId id="884" r:id="rId23"/>
    <p:sldId id="885" r:id="rId24"/>
    <p:sldId id="886" r:id="rId25"/>
    <p:sldId id="834" r:id="rId26"/>
  </p:sldIdLst>
  <p:sldSz cx="10691813" cy="7561263"/>
  <p:notesSz cx="7315200" cy="9601200"/>
  <p:defaultTextStyle>
    <a:defPPr>
      <a:defRPr lang="en-US"/>
    </a:defPPr>
    <a:lvl1pPr marL="0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482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2965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447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5929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412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8894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376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1859" algn="l" defTabSz="1042965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382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CC3399"/>
    <a:srgbClr val="0096B0"/>
    <a:srgbClr val="00A3C4"/>
    <a:srgbClr val="2C1677"/>
    <a:srgbClr val="83C3D2"/>
    <a:srgbClr val="00A4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173" autoAdjust="0"/>
  </p:normalViewPr>
  <p:slideViewPr>
    <p:cSldViewPr>
      <p:cViewPr varScale="1">
        <p:scale>
          <a:sx n="56" d="100"/>
          <a:sy n="56" d="100"/>
        </p:scale>
        <p:origin x="1644" y="56"/>
      </p:cViewPr>
      <p:guideLst>
        <p:guide orient="horz" pos="2160"/>
        <p:guide pos="2880"/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2298"/>
    </p:cViewPr>
  </p:sorterViewPr>
  <p:notesViewPr>
    <p:cSldViewPr>
      <p:cViewPr varScale="1">
        <p:scale>
          <a:sx n="54" d="100"/>
          <a:sy n="54" d="100"/>
        </p:scale>
        <p:origin x="2784" y="4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5CBAC3D-EBEE-4820-8663-E793D90DB177}" type="datetimeFigureOut">
              <a:rPr lang="en-IN" smtClean="0"/>
              <a:pPr/>
              <a:t>04-02-2025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BE38153-F5C3-43E9-B1B3-6820974F76F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75206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5B566A5-67C5-4E3E-9C6E-79469278F95F}" type="datetimeFigureOut">
              <a:rPr lang="en-IN" smtClean="0"/>
              <a:pPr/>
              <a:t>04-02-2025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2838" y="720725"/>
            <a:ext cx="50895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9FD433C-C65C-4D37-94B3-5A547A2C390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9783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482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2965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447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5929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412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8894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376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1859" algn="l" defTabSz="104296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2838" y="720725"/>
            <a:ext cx="5089525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983E7FF-7B2D-491C-B028-494B795C926A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7371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D433C-C65C-4D37-94B3-5A547A2C3906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690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FD433C-C65C-4D37-94B3-5A547A2C3906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56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513" y="291031"/>
            <a:ext cx="9455993" cy="594000"/>
          </a:xfrm>
        </p:spPr>
        <p:txBody>
          <a:bodyPr/>
          <a:lstStyle>
            <a:lvl1pPr>
              <a:defRPr sz="2800" b="1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B7F9-AC6E-264A-ABA3-ECAE27992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6A362-4403-4718-B072-B01303837876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Date Placeholder 13">
            <a:extLst>
              <a:ext uri="{FF2B5EF4-FFF2-40B4-BE49-F238E27FC236}">
                <a16:creationId xmlns:a16="http://schemas.microsoft.com/office/drawing/2014/main" id="{3720F19A-5FB3-1949-8545-3A1B0C048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9254" y="7149944"/>
            <a:ext cx="3118445" cy="402567"/>
          </a:xfrm>
          <a:prstGeom prst="rect">
            <a:avLst/>
          </a:prstGeom>
        </p:spPr>
        <p:txBody>
          <a:bodyPr vert="horz" anchor="ctr" anchorCtr="0"/>
          <a:lstStyle>
            <a:lvl1pPr algn="r">
              <a:lnSpc>
                <a:spcPct val="90000"/>
              </a:lnSpc>
              <a:defRPr sz="13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extLst/>
          </a:lstStyle>
          <a:p>
            <a:pPr>
              <a:defRPr/>
            </a:pPr>
            <a:fld id="{92B5D4EB-9CC6-774C-916C-C38C4B5C8BFD}" type="datetime1">
              <a:rPr lang="en-IN" smtClean="0"/>
              <a:t>04-02-2025</a:t>
            </a:fld>
            <a:endParaRPr lang="en-US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8C9C595-C60F-184F-9C41-1753B9C8F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40" y="7158696"/>
            <a:ext cx="6338983" cy="402567"/>
          </a:xfrm>
          <a:prstGeom prst="rect">
            <a:avLst/>
          </a:prstGeom>
        </p:spPr>
        <p:txBody>
          <a:bodyPr vert="horz" anchor="ctr"/>
          <a:lstStyle>
            <a:lvl1pPr algn="r">
              <a:lnSpc>
                <a:spcPct val="90000"/>
              </a:lnSpc>
              <a:defRPr sz="13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extLst/>
          </a:lstStyle>
          <a:p>
            <a:pPr algn="l"/>
            <a:r>
              <a:rPr lang="en-US" dirty="0"/>
              <a:t>INT303R01 - Data Warehousing &amp; Data Mining</a:t>
            </a:r>
          </a:p>
        </p:txBody>
      </p:sp>
    </p:spTree>
    <p:extLst>
      <p:ext uri="{BB962C8B-B14F-4D97-AF65-F5344CB8AC3E}">
        <p14:creationId xmlns:p14="http://schemas.microsoft.com/office/powerpoint/2010/main" val="3241175312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B384A0B-5B4E-7B4F-A1DD-97BD58611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51816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B7D22E-3305-4B45-A1FC-BE6EA01CD9C2}"/>
              </a:ext>
            </a:extLst>
          </p:cNvPr>
          <p:cNvSpPr txBox="1">
            <a:spLocks/>
          </p:cNvSpPr>
          <p:nvPr userDrawn="1"/>
        </p:nvSpPr>
        <p:spPr>
          <a:xfrm>
            <a:off x="0" y="1114445"/>
            <a:ext cx="623689" cy="26954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2500" lnSpcReduction="10000"/>
          </a:bodyPr>
          <a:lstStyle>
            <a:defPPr>
              <a:defRPr lang="en-US"/>
            </a:defPPr>
            <a:lvl1pPr marL="0" algn="ctr" defTabSz="1042965" rtl="0" eaLnBrk="1" latinLnBrk="0" hangingPunct="1">
              <a:lnSpc>
                <a:spcPct val="90000"/>
              </a:lnSpc>
              <a:defRPr sz="1544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521482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2965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447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5929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412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8894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376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1859" algn="l" defTabSz="1042965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2A66A362-4403-4718-B072-B013038378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9B44EC-DD4D-2146-A2C1-40224492E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A5D48D-65B2-ED40-9172-218FF7D85C52}" type="datetime1">
              <a:rPr lang="en-IN" smtClean="0"/>
              <a:t>04-02-2025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25ABBD-8E16-0D48-824E-37D35EC8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INT303R01 - Data Warehousing &amp; Data Mining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753758-7D46-0B40-90E4-3F43C612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91506E9-B804-7446-A8D0-1199B0449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872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>
            <a:extLst>
              <a:ext uri="{FF2B5EF4-FFF2-40B4-BE49-F238E27FC236}">
                <a16:creationId xmlns:a16="http://schemas.microsoft.com/office/drawing/2014/main" id="{4333B64F-480F-D34E-BB06-CBB324F106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90513" y="1615407"/>
            <a:ext cx="9455993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5717B1-01DE-3C46-815E-486929DC3A71}"/>
              </a:ext>
            </a:extLst>
          </p:cNvPr>
          <p:cNvSpPr/>
          <p:nvPr/>
        </p:nvSpPr>
        <p:spPr>
          <a:xfrm>
            <a:off x="-1" y="988672"/>
            <a:ext cx="10691813" cy="353559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defRPr/>
            </a:pPr>
            <a:endParaRPr lang="en-US" sz="2233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32E74-6239-EB45-A51B-99C9B64956E5}"/>
              </a:ext>
            </a:extLst>
          </p:cNvPr>
          <p:cNvSpPr/>
          <p:nvPr/>
        </p:nvSpPr>
        <p:spPr>
          <a:xfrm>
            <a:off x="0" y="1113631"/>
            <a:ext cx="623689" cy="25204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defRPr/>
            </a:pPr>
            <a:endParaRPr lang="en-US" sz="2233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CEEC0A-4651-074D-9DBF-29A685373E96}"/>
              </a:ext>
            </a:extLst>
          </p:cNvPr>
          <p:cNvSpPr/>
          <p:nvPr/>
        </p:nvSpPr>
        <p:spPr>
          <a:xfrm>
            <a:off x="690513" y="1113631"/>
            <a:ext cx="10001300" cy="25204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defRPr/>
            </a:pPr>
            <a:endParaRPr lang="en-US" sz="2233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5F719D8-C720-5A4D-98DD-57D45DE85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114445"/>
            <a:ext cx="623689" cy="26954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lnSpc>
                <a:spcPct val="90000"/>
              </a:lnSpc>
              <a:defRPr sz="1544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A2E3CA0-9883-9540-98C5-1942E9569F8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3" name="Title Placeholder 21">
            <a:extLst>
              <a:ext uri="{FF2B5EF4-FFF2-40B4-BE49-F238E27FC236}">
                <a16:creationId xmlns:a16="http://schemas.microsoft.com/office/drawing/2014/main" id="{32009DC9-9FD2-0D42-8988-31B77654CA2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90512" y="275431"/>
            <a:ext cx="9455993" cy="595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088306A4-48BB-3344-BB2A-291909DC35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7099186"/>
            <a:ext cx="10691813" cy="462077"/>
          </a:xfrm>
          <a:prstGeom prst="rect">
            <a:avLst/>
          </a:prstGeom>
          <a:solidFill>
            <a:srgbClr val="00A3C4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296" tIns="52148" rIns="104296" bIns="52148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1E8E70A1-5932-154E-90FB-A2B3704E6E3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8147" r="5255" b="8028"/>
          <a:stretch/>
        </p:blipFill>
        <p:spPr bwMode="auto">
          <a:xfrm>
            <a:off x="753" y="225073"/>
            <a:ext cx="1840707" cy="801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84BDA867-E76A-3949-A90A-07E966AF6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59254" y="7149944"/>
            <a:ext cx="3118445" cy="402567"/>
          </a:xfrm>
          <a:prstGeom prst="rect">
            <a:avLst/>
          </a:prstGeom>
        </p:spPr>
        <p:txBody>
          <a:bodyPr vert="horz" anchor="ctr" anchorCtr="0"/>
          <a:lstStyle>
            <a:lvl1pPr algn="r">
              <a:lnSpc>
                <a:spcPct val="90000"/>
              </a:lnSpc>
              <a:defRPr sz="13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extLst/>
          </a:lstStyle>
          <a:p>
            <a:pPr>
              <a:defRPr/>
            </a:pPr>
            <a:fld id="{5B6CB4E7-68AF-DE44-A666-E86D872FB502}" type="datetime1">
              <a:rPr lang="en-IN" smtClean="0"/>
              <a:t>04-02-2025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FFBB5-71F6-644A-A8E1-9BDAFCA033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40" y="7158696"/>
            <a:ext cx="6338983" cy="402567"/>
          </a:xfrm>
          <a:prstGeom prst="rect">
            <a:avLst/>
          </a:prstGeom>
        </p:spPr>
        <p:txBody>
          <a:bodyPr vert="horz" anchor="ctr"/>
          <a:lstStyle>
            <a:lvl1pPr algn="r">
              <a:lnSpc>
                <a:spcPct val="90000"/>
              </a:lnSpc>
              <a:defRPr sz="13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extLst/>
          </a:lstStyle>
          <a:p>
            <a:pPr algn="l"/>
            <a:r>
              <a:rPr lang="en-US" dirty="0"/>
              <a:t>INT303R01 - Data Warehousing &amp; Data Mining</a:t>
            </a:r>
          </a:p>
        </p:txBody>
      </p:sp>
    </p:spTree>
    <p:extLst>
      <p:ext uri="{BB962C8B-B14F-4D97-AF65-F5344CB8AC3E}">
        <p14:creationId xmlns:p14="http://schemas.microsoft.com/office/powerpoint/2010/main" val="273025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7" r:id="rId2"/>
  </p:sldLayoutIdLst>
  <p:transition>
    <p:zoom/>
  </p:transition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520">
          <a:solidFill>
            <a:schemeClr val="tx2"/>
          </a:solidFill>
          <a:latin typeface="Cambria" panose="02040503050406030204" pitchFamily="18" charset="0"/>
        </a:defRPr>
      </a:lvl5pPr>
      <a:lvl6pPr marL="504070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6pPr>
      <a:lvl7pPr marL="1008138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7pPr>
      <a:lvl8pPr marL="1512208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8pPr>
      <a:lvl9pPr marL="2016277" algn="l" rtl="0" eaLnBrk="1" fontAlgn="base" hangingPunct="1">
        <a:spcBef>
          <a:spcPct val="0"/>
        </a:spcBef>
        <a:spcAft>
          <a:spcPct val="0"/>
        </a:spcAft>
        <a:defRPr sz="4631">
          <a:solidFill>
            <a:schemeClr val="tx2"/>
          </a:solidFill>
          <a:latin typeface="Tw Cen MT" panose="020B0602020104020603" pitchFamily="34" charset="77"/>
        </a:defRPr>
      </a:lvl9pPr>
      <a:extLst/>
    </p:titleStyle>
    <p:bodyStyle>
      <a:lvl1pPr marL="350044" indent="-350044" algn="l" rtl="0" eaLnBrk="1" fontAlgn="base" hangingPunct="1">
        <a:spcBef>
          <a:spcPts val="600"/>
        </a:spcBef>
        <a:spcAft>
          <a:spcPts val="600"/>
        </a:spcAft>
        <a:buClr>
          <a:schemeClr val="accent2"/>
        </a:buClr>
        <a:buSzPct val="6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03588" indent="-299288" algn="l" rtl="0" eaLnBrk="1" fontAlgn="base" hangingPunct="1">
        <a:spcBef>
          <a:spcPts val="600"/>
        </a:spcBef>
        <a:spcAft>
          <a:spcPts val="600"/>
        </a:spcAft>
        <a:buClr>
          <a:schemeClr val="accent1"/>
        </a:buClr>
        <a:buSzPct val="70000"/>
        <a:buFont typeface="Wingdings 2" pitchFamily="2" charset="2"/>
        <a:buChar char="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indent="-252032" algn="l" rtl="0" eaLnBrk="1" fontAlgn="base" hangingPunct="1">
        <a:spcBef>
          <a:spcPts val="600"/>
        </a:spcBef>
        <a:spcAft>
          <a:spcPts val="600"/>
        </a:spcAft>
        <a:buClr>
          <a:schemeClr val="accent2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indent="-252032" algn="l" rtl="0" eaLnBrk="1" fontAlgn="base" hangingPunct="1">
        <a:spcBef>
          <a:spcPts val="600"/>
        </a:spcBef>
        <a:spcAft>
          <a:spcPts val="600"/>
        </a:spcAft>
        <a:buClr>
          <a:srgbClr val="EB641B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indent="-252032" algn="l" rtl="0" eaLnBrk="1" fontAlgn="base" hangingPunct="1">
        <a:spcBef>
          <a:spcPts val="600"/>
        </a:spcBef>
        <a:spcAft>
          <a:spcPts val="600"/>
        </a:spcAft>
        <a:buClr>
          <a:srgbClr val="39639D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318718" indent="-252035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621160" indent="-252035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923602" indent="-252035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226044" indent="-252035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985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50407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00813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12208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16277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20346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302441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528486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4032555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uXyvETwoUo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E37E1FC1-9FD5-3745-A33D-7FB50F34C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" y="5838031"/>
            <a:ext cx="10462505" cy="106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buFont typeface="Wingdings" pitchFamily="2" charset="2"/>
              <a:buNone/>
              <a:defRPr/>
            </a:pPr>
            <a:r>
              <a:rPr lang="en-US" altLang="en-US" sz="1800" b="1" kern="0" dirty="0">
                <a:solidFill>
                  <a:srgbClr val="0000FF"/>
                </a:solidFill>
              </a:rPr>
              <a:t>Dr. </a:t>
            </a:r>
            <a:r>
              <a:rPr lang="en-US" altLang="en-US" sz="1800" b="1" kern="0" dirty="0" err="1">
                <a:solidFill>
                  <a:srgbClr val="0000FF"/>
                </a:solidFill>
              </a:rPr>
              <a:t>G.Manikandan</a:t>
            </a:r>
            <a:endParaRPr lang="en-US" altLang="en-US" sz="1800" b="1" kern="0" dirty="0">
              <a:solidFill>
                <a:srgbClr val="0000FF"/>
              </a:solidFill>
            </a:endParaRP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altLang="en-US" sz="1800" b="1" kern="0" dirty="0">
                <a:solidFill>
                  <a:srgbClr val="0000FF"/>
                </a:solidFill>
              </a:rPr>
              <a:t>ACP / School of Computing</a:t>
            </a: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altLang="en-US" sz="1800" b="1" kern="0" dirty="0">
                <a:solidFill>
                  <a:srgbClr val="0000FF"/>
                </a:solidFill>
              </a:rPr>
              <a:t>SASTRA Deemed To Be University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01F9F526-4339-4942-8F1D-A4A3DB86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60" y="3780631"/>
            <a:ext cx="10691813" cy="871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517" tIns="50759" rIns="101517" bIns="50759" anchor="ctr"/>
          <a:lstStyle>
            <a:lvl1pPr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800">
                <a:solidFill>
                  <a:schemeClr val="tx1"/>
                </a:solidFill>
                <a:latin typeface="Cambria" panose="02040503050406030204" pitchFamily="18" charset="0"/>
              </a:defRPr>
            </a:lvl1pPr>
            <a:lvl2pPr marL="638175" indent="-271463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2" charset="2"/>
              <a:buChar char=""/>
              <a:defRPr sz="2500">
                <a:solidFill>
                  <a:schemeClr val="tx1"/>
                </a:solidFill>
                <a:latin typeface="Cambria" panose="02040503050406030204" pitchFamily="18" charset="0"/>
              </a:defRPr>
            </a:lvl2pPr>
            <a:lvl3pPr indent="-22860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200">
                <a:solidFill>
                  <a:schemeClr val="tx1"/>
                </a:solidFill>
                <a:latin typeface="Cambria" panose="02040503050406030204" pitchFamily="18" charset="0"/>
              </a:defRPr>
            </a:lvl3pPr>
            <a:lvl4pPr indent="-228600">
              <a:spcBef>
                <a:spcPts val="400"/>
              </a:spcBef>
              <a:buClr>
                <a:srgbClr val="EB641B"/>
              </a:buClr>
              <a:buSzPct val="7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4pPr>
            <a:lvl5pPr indent="-228600">
              <a:spcBef>
                <a:spcPts val="400"/>
              </a:spcBef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5pPr>
            <a:lvl6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6pPr>
            <a:lvl7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7pPr>
            <a:lvl8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8pPr>
            <a:lvl9pPr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39639D"/>
              </a:buClr>
              <a:buSzPct val="65000"/>
              <a:buFont typeface="Wingdings" pitchFamily="2" charset="2"/>
              <a:buChar char=""/>
              <a:defRPr sz="1900">
                <a:solidFill>
                  <a:schemeClr val="tx1"/>
                </a:solidFill>
                <a:latin typeface="Cambria" panose="020405030504060302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000" b="1" dirty="0">
                <a:solidFill>
                  <a:schemeClr val="accent2">
                    <a:lumMod val="75000"/>
                  </a:schemeClr>
                </a:solidFill>
              </a:rPr>
              <a:t>Mining Frequent Patterns, Associations, Correlations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5AA08-B657-CC4F-9E28-FECA1DC8E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340" y="7158696"/>
            <a:ext cx="6338983" cy="402567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INT303R01 - Data Warehousing &amp; Data Mining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99BBFB-3585-F947-97FC-9AB638AE6A47}"/>
              </a:ext>
            </a:extLst>
          </p:cNvPr>
          <p:cNvSpPr/>
          <p:nvPr/>
        </p:nvSpPr>
        <p:spPr>
          <a:xfrm>
            <a:off x="0" y="0"/>
            <a:ext cx="10691813" cy="1570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0CFBD7-B4D5-D492-26F7-6874AA6FD8A8}"/>
              </a:ext>
            </a:extLst>
          </p:cNvPr>
          <p:cNvSpPr txBox="1"/>
          <p:nvPr/>
        </p:nvSpPr>
        <p:spPr>
          <a:xfrm>
            <a:off x="2715223" y="3028940"/>
            <a:ext cx="53606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 - II</a:t>
            </a:r>
            <a:endParaRPr lang="en-IN" sz="4000" b="1" dirty="0">
              <a:solidFill>
                <a:schemeClr val="accent6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6160EA-2452-E16B-7AD0-F1084FF007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44"/>
            <a:ext cx="10691813" cy="254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5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94A0A8-F7EB-BB4B-8040-B93FC7A51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2" y="2637631"/>
            <a:ext cx="9455993" cy="1860424"/>
          </a:xfrm>
        </p:spPr>
        <p:txBody>
          <a:bodyPr/>
          <a:lstStyle/>
          <a:p>
            <a:pPr lvl="1"/>
            <a:r>
              <a:rPr lang="en-IN" sz="2400" dirty="0">
                <a:solidFill>
                  <a:srgbClr val="FF0000"/>
                </a:solidFill>
              </a:rPr>
              <a:t>Basic concepts </a:t>
            </a:r>
          </a:p>
          <a:p>
            <a:pPr lvl="2"/>
            <a:r>
              <a:rPr lang="en-IN" sz="2400" dirty="0"/>
              <a:t> Market Basket Analysis: A Motivating Example </a:t>
            </a:r>
          </a:p>
          <a:p>
            <a:pPr lvl="2"/>
            <a:r>
              <a:rPr lang="en-IN" sz="2400" dirty="0"/>
              <a:t> Frequent Itemsets, Closed Itemsets, and Association Rules</a:t>
            </a:r>
          </a:p>
          <a:p>
            <a:pPr lvl="1"/>
            <a:endParaRPr lang="en-IN" sz="2400" dirty="0"/>
          </a:p>
          <a:p>
            <a:pPr lvl="2"/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52236-6462-D043-AA65-12098F37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53072-E45F-2F4D-A884-D70DB36B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A07BAF-EFAB-D24A-B832-5F564FC5A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506" y="442169"/>
            <a:ext cx="9455993" cy="595282"/>
          </a:xfrm>
        </p:spPr>
        <p:txBody>
          <a:bodyPr/>
          <a:lstStyle/>
          <a:p>
            <a:r>
              <a:rPr lang="en-IN" dirty="0"/>
              <a:t>Mining Frequent Patterns, Associations, </a:t>
            </a:r>
            <a:br>
              <a:rPr lang="en-IN" dirty="0"/>
            </a:br>
            <a:r>
              <a:rPr lang="en-IN" dirty="0"/>
              <a:t>and Correlations</a:t>
            </a:r>
          </a:p>
        </p:txBody>
      </p:sp>
    </p:spTree>
    <p:extLst>
      <p:ext uri="{BB962C8B-B14F-4D97-AF65-F5344CB8AC3E}">
        <p14:creationId xmlns:p14="http://schemas.microsoft.com/office/powerpoint/2010/main" val="2705065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35438E-8A2A-5E46-A6AF-B6DFCE697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760793" cy="4908424"/>
          </a:xfrm>
        </p:spPr>
        <p:txBody>
          <a:bodyPr/>
          <a:lstStyle/>
          <a:p>
            <a:pPr algn="just"/>
            <a:r>
              <a:rPr lang="en-IN" sz="2200" b="1" dirty="0"/>
              <a:t>Imagine that you are </a:t>
            </a:r>
            <a:r>
              <a:rPr lang="en-IN" sz="2200" dirty="0"/>
              <a:t>a sales manager at </a:t>
            </a:r>
            <a:r>
              <a:rPr lang="en-IN" sz="2200" i="1" dirty="0" err="1"/>
              <a:t>AllElectronics</a:t>
            </a:r>
            <a:r>
              <a:rPr lang="en-IN" sz="2200" dirty="0"/>
              <a:t>, and you are talking to a customer who recently </a:t>
            </a:r>
            <a:r>
              <a:rPr lang="en-IN" sz="2200" dirty="0">
                <a:solidFill>
                  <a:srgbClr val="0000FF"/>
                </a:solidFill>
              </a:rPr>
              <a:t>bought a PC and a digital camera </a:t>
            </a:r>
            <a:r>
              <a:rPr lang="en-IN" sz="2200" dirty="0"/>
              <a:t>from the store. </a:t>
            </a:r>
          </a:p>
          <a:p>
            <a:pPr algn="just"/>
            <a:endParaRPr lang="en-IN" sz="2200" dirty="0">
              <a:solidFill>
                <a:srgbClr val="FF0000"/>
              </a:solidFill>
            </a:endParaRPr>
          </a:p>
          <a:p>
            <a:pPr algn="just"/>
            <a:r>
              <a:rPr lang="en-IN" sz="2200" b="1" dirty="0">
                <a:solidFill>
                  <a:srgbClr val="FF00FF"/>
                </a:solidFill>
              </a:rPr>
              <a:t>What should you recommend to her next? </a:t>
            </a:r>
          </a:p>
          <a:p>
            <a:pPr marL="0" indent="0" algn="just">
              <a:buNone/>
            </a:pPr>
            <a:endParaRPr lang="en-IN" sz="2200" dirty="0"/>
          </a:p>
          <a:p>
            <a:pPr algn="just"/>
            <a:r>
              <a:rPr lang="en-IN" sz="2200" dirty="0"/>
              <a:t>Information about which products are frequently purchased by your customers </a:t>
            </a:r>
            <a:r>
              <a:rPr lang="en-IN" sz="2200" dirty="0">
                <a:solidFill>
                  <a:srgbClr val="FF0000"/>
                </a:solidFill>
              </a:rPr>
              <a:t>following their purchases of a PC and a digital camera in sequence </a:t>
            </a:r>
            <a:r>
              <a:rPr lang="en-IN" sz="2200" dirty="0"/>
              <a:t>would be very helpful in making your recommendation. </a:t>
            </a:r>
          </a:p>
          <a:p>
            <a:pPr algn="just"/>
            <a:endParaRPr lang="en-IN" sz="2200" dirty="0">
              <a:solidFill>
                <a:srgbClr val="FF0000"/>
              </a:solidFill>
            </a:endParaRPr>
          </a:p>
          <a:p>
            <a:pPr algn="just"/>
            <a:r>
              <a:rPr lang="en-IN" sz="2200" dirty="0">
                <a:solidFill>
                  <a:srgbClr val="FF0000"/>
                </a:solidFill>
              </a:rPr>
              <a:t>Frequent patterns and association rules</a:t>
            </a:r>
            <a:r>
              <a:rPr lang="en-IN" sz="2200" dirty="0"/>
              <a:t> are the knowledge that you want to mine in such a scenario. </a:t>
            </a:r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40953-FC53-AE4B-A561-ACAFC282D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183B-BE01-3D4D-862D-7100E5FA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566B4C-C262-E541-AC2E-AA97792B6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7906" y="275431"/>
            <a:ext cx="7848599" cy="595282"/>
          </a:xfrm>
        </p:spPr>
        <p:txBody>
          <a:bodyPr/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Example - Scenario</a:t>
            </a:r>
          </a:p>
        </p:txBody>
      </p:sp>
    </p:spTree>
    <p:extLst>
      <p:ext uri="{BB962C8B-B14F-4D97-AF65-F5344CB8AC3E}">
        <p14:creationId xmlns:p14="http://schemas.microsoft.com/office/powerpoint/2010/main" val="264398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78B253-AD28-D33C-352B-DB84F5474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595282"/>
          </a:xfrm>
        </p:spPr>
        <p:txBody>
          <a:bodyPr/>
          <a:lstStyle/>
          <a:p>
            <a:r>
              <a:rPr lang="en-IN" b="1" i="0" dirty="0">
                <a:solidFill>
                  <a:schemeClr val="accent6"/>
                </a:solidFill>
                <a:effectLst/>
                <a:latin typeface="Arial" panose="020B0604020202020204" pitchFamily="34" charset="0"/>
              </a:rPr>
              <a:t>What are association rules?</a:t>
            </a:r>
          </a:p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BDBE4-BA69-185F-8A67-A845EEBB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345BC-4437-DC2F-E94D-2E4F750A0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81ED8CB-1673-A231-C015-8F14330C1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Rule Mining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66CAB-1032-7472-0CFD-3DACCB6CAF82}"/>
              </a:ext>
            </a:extLst>
          </p:cNvPr>
          <p:cNvSpPr txBox="1"/>
          <p:nvPr/>
        </p:nvSpPr>
        <p:spPr>
          <a:xfrm>
            <a:off x="850105" y="2088796"/>
            <a:ext cx="945599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Association rules are "if-then" statements, that help to show the probability of relationships between data items, within large data sets.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Association rule mining has a number of applications and is widely used to help discover correlations in transactional data or in medical data sets.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association rule has two parts: an antecedent (if) and a consequent (then).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antecedent is an item found within the data.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consequent is an item found in combination with the antecedent.</a:t>
            </a:r>
            <a:endParaRPr lang="en-IN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EADB1-B76D-0F0F-C8FC-EED38972618B}"/>
              </a:ext>
            </a:extLst>
          </p:cNvPr>
          <p:cNvSpPr txBox="1"/>
          <p:nvPr/>
        </p:nvSpPr>
        <p:spPr>
          <a:xfrm>
            <a:off x="8012906" y="94759"/>
            <a:ext cx="2438400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400" b="1" i="0" dirty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Medicine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rgbClr val="666666"/>
                </a:solidFill>
                <a:latin typeface="Arial" panose="020B0604020202020204" pitchFamily="34" charset="0"/>
              </a:rPr>
              <a:t>Retail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rgbClr val="666666"/>
                </a:solidFill>
                <a:latin typeface="Arial" panose="020B0604020202020204" pitchFamily="34" charset="0"/>
              </a:rPr>
              <a:t>UX Design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1400" b="1" dirty="0">
                <a:solidFill>
                  <a:srgbClr val="666666"/>
                </a:solidFill>
                <a:latin typeface="Arial" panose="020B0604020202020204" pitchFamily="34" charset="0"/>
              </a:rPr>
              <a:t>Entertainment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DAEA7-A7A4-2412-3B76-2BB17A7417FB}"/>
              </a:ext>
            </a:extLst>
          </p:cNvPr>
          <p:cNvSpPr txBox="1"/>
          <p:nvPr/>
        </p:nvSpPr>
        <p:spPr>
          <a:xfrm>
            <a:off x="626194" y="6446818"/>
            <a:ext cx="990381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</a:rPr>
              <a:t>https://www.techtarget.com/searchbusinessanalytics/definition/association-rules-in-data-mining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4E2EBE-40F8-D9FF-A1DB-35D9716C6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306" y="4689713"/>
            <a:ext cx="1428677" cy="595282"/>
          </a:xfrm>
          <a:prstGeom prst="rect">
            <a:avLst/>
          </a:prstGeom>
          <a:ln w="57150">
            <a:solidFill>
              <a:srgbClr val="CC3399"/>
            </a:solidFill>
          </a:ln>
        </p:spPr>
      </p:pic>
    </p:spTree>
    <p:extLst>
      <p:ext uri="{BB962C8B-B14F-4D97-AF65-F5344CB8AC3E}">
        <p14:creationId xmlns:p14="http://schemas.microsoft.com/office/powerpoint/2010/main" val="241507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35438E-8A2A-5E46-A6AF-B6DFCE697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2" y="1494630"/>
            <a:ext cx="9455993" cy="5334001"/>
          </a:xfrm>
        </p:spPr>
        <p:txBody>
          <a:bodyPr/>
          <a:lstStyle/>
          <a:p>
            <a:pPr algn="just"/>
            <a:r>
              <a:rPr lang="en-IN" b="1" dirty="0">
                <a:solidFill>
                  <a:srgbClr val="FF0000"/>
                </a:solidFill>
              </a:rPr>
              <a:t>Frequent patterns </a:t>
            </a:r>
            <a:r>
              <a:rPr lang="en-IN" dirty="0"/>
              <a:t>are patterns that appear frequently in a data set. </a:t>
            </a:r>
          </a:p>
          <a:p>
            <a:pPr lvl="1" algn="just"/>
            <a:r>
              <a:rPr lang="en-IN" dirty="0" err="1">
                <a:solidFill>
                  <a:srgbClr val="FF0000"/>
                </a:solidFill>
              </a:rPr>
              <a:t>Itemsets</a:t>
            </a:r>
            <a:r>
              <a:rPr lang="en-IN" dirty="0">
                <a:solidFill>
                  <a:srgbClr val="FF0000"/>
                </a:solidFill>
              </a:rPr>
              <a:t> - </a:t>
            </a:r>
            <a:r>
              <a:rPr lang="en-US" dirty="0"/>
              <a:t>a set of items, such as </a:t>
            </a:r>
            <a:r>
              <a:rPr lang="en-US" dirty="0">
                <a:solidFill>
                  <a:srgbClr val="FF00FF"/>
                </a:solidFill>
              </a:rPr>
              <a:t>milk and bread</a:t>
            </a:r>
            <a:r>
              <a:rPr lang="en-US" dirty="0"/>
              <a:t>, that appear frequently together in a transaction data set is a frequent itemset.</a:t>
            </a:r>
            <a:endParaRPr lang="en-IN" dirty="0"/>
          </a:p>
          <a:p>
            <a:pPr lvl="1" algn="just"/>
            <a:r>
              <a:rPr lang="en-IN" dirty="0" err="1">
                <a:solidFill>
                  <a:srgbClr val="FF0000"/>
                </a:solidFill>
              </a:rPr>
              <a:t>Subsequences</a:t>
            </a:r>
            <a:r>
              <a:rPr lang="en-IN" dirty="0">
                <a:solidFill>
                  <a:srgbClr val="FF0000"/>
                </a:solidFill>
              </a:rPr>
              <a:t> - </a:t>
            </a:r>
            <a:r>
              <a:rPr lang="en-US" dirty="0"/>
              <a:t>such </a:t>
            </a:r>
            <a:r>
              <a:rPr lang="en-US" dirty="0">
                <a:solidFill>
                  <a:srgbClr val="FF00FF"/>
                </a:solidFill>
              </a:rPr>
              <a:t>as buying first a PC, then a digital camera, and then a memory card,</a:t>
            </a:r>
            <a:r>
              <a:rPr lang="en-US" dirty="0"/>
              <a:t> if it occurs frequently in a shopping history database, is a (frequent) sequential pattern.</a:t>
            </a:r>
            <a:endParaRPr lang="en-IN" dirty="0"/>
          </a:p>
          <a:p>
            <a:pPr lvl="1" algn="just"/>
            <a:r>
              <a:rPr lang="en-IN" dirty="0">
                <a:solidFill>
                  <a:srgbClr val="FF0000"/>
                </a:solidFill>
              </a:rPr>
              <a:t>Substructures - </a:t>
            </a:r>
            <a:r>
              <a:rPr lang="en-US" dirty="0"/>
              <a:t>can refer to different structural forms</a:t>
            </a:r>
            <a:r>
              <a:rPr lang="en-US" dirty="0">
                <a:solidFill>
                  <a:srgbClr val="FF00FF"/>
                </a:solidFill>
              </a:rPr>
              <a:t>, such as subgraphs, or subtrees which may be combined with </a:t>
            </a:r>
            <a:r>
              <a:rPr lang="en-US" dirty="0" err="1">
                <a:solidFill>
                  <a:srgbClr val="FF00FF"/>
                </a:solidFill>
              </a:rPr>
              <a:t>itemsets</a:t>
            </a:r>
            <a:r>
              <a:rPr lang="en-US" dirty="0">
                <a:solidFill>
                  <a:srgbClr val="FF00FF"/>
                </a:solidFill>
              </a:rPr>
              <a:t> or subsequences</a:t>
            </a:r>
            <a:r>
              <a:rPr lang="en-US" dirty="0"/>
              <a:t>. If a substructure occurs frequently, it is called a (frequent) structured pattern.</a:t>
            </a:r>
            <a:endParaRPr lang="en-IN" dirty="0"/>
          </a:p>
          <a:p>
            <a:pPr algn="just"/>
            <a:endParaRPr lang="en-IN" dirty="0"/>
          </a:p>
          <a:p>
            <a:pPr algn="just"/>
            <a:r>
              <a:rPr lang="en-IN" dirty="0"/>
              <a:t>Frequent pattern mining </a:t>
            </a:r>
            <a:r>
              <a:rPr lang="en-IN" b="1" dirty="0">
                <a:solidFill>
                  <a:srgbClr val="0000FF"/>
                </a:solidFill>
              </a:rPr>
              <a:t>searches for recurring relationships </a:t>
            </a:r>
            <a:r>
              <a:rPr lang="en-IN" dirty="0"/>
              <a:t>in a given data set. </a:t>
            </a:r>
          </a:p>
          <a:p>
            <a:pPr algn="just"/>
            <a:r>
              <a:rPr lang="en-IN" dirty="0"/>
              <a:t>Finding frequent patterns plays an essential role in mining associations, correlations, and many other interesting relationships among data.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40953-FC53-AE4B-A561-ACAFC282D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183B-BE01-3D4D-862D-7100E5FA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D566B4C-C262-E541-AC2E-AA97792B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Mining Frequent Patterns, Associations, 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and Correlations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70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B4D795-7B8B-2F43-8D62-6EA5D1F5E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1900" dirty="0"/>
              <a:t>Suppose, as manager of an </a:t>
            </a:r>
            <a:r>
              <a:rPr lang="en-IN" sz="1900" dirty="0" err="1"/>
              <a:t>AllElectronics</a:t>
            </a:r>
            <a:r>
              <a:rPr lang="en-IN" sz="1900" dirty="0"/>
              <a:t> branch, you would like to learn more about the buying habits of your customers. </a:t>
            </a:r>
          </a:p>
          <a:p>
            <a:pPr algn="just"/>
            <a:r>
              <a:rPr lang="en-IN" sz="1900" dirty="0"/>
              <a:t>Specifically, you wonder, </a:t>
            </a:r>
            <a:r>
              <a:rPr lang="en-IN" sz="1900" b="1" dirty="0">
                <a:solidFill>
                  <a:schemeClr val="accent6"/>
                </a:solidFill>
              </a:rPr>
              <a:t>“Which sets of items are customers likely to purchase on a given trip to the store?” </a:t>
            </a:r>
          </a:p>
          <a:p>
            <a:pPr algn="just">
              <a:spcAft>
                <a:spcPts val="1200"/>
              </a:spcAft>
              <a:defRPr/>
            </a:pPr>
            <a:r>
              <a:rPr lang="en-IN" sz="1900" b="1" dirty="0">
                <a:solidFill>
                  <a:schemeClr val="accent6"/>
                </a:solidFill>
              </a:rPr>
              <a:t>Each item has a Boolean variable </a:t>
            </a:r>
            <a:r>
              <a:rPr lang="en-IN" sz="1900" dirty="0"/>
              <a:t>representing the presence or absence of that item. </a:t>
            </a:r>
          </a:p>
          <a:p>
            <a:pPr algn="just">
              <a:spcAft>
                <a:spcPts val="1200"/>
              </a:spcAft>
              <a:defRPr/>
            </a:pPr>
            <a:r>
              <a:rPr lang="en-IN" sz="1900" dirty="0">
                <a:solidFill>
                  <a:srgbClr val="FF0000"/>
                </a:solidFill>
              </a:rPr>
              <a:t>Each basket </a:t>
            </a:r>
            <a:r>
              <a:rPr lang="en-IN" sz="1900" dirty="0"/>
              <a:t>can then be represented by a </a:t>
            </a:r>
            <a:r>
              <a:rPr lang="en-IN" sz="1900" dirty="0">
                <a:solidFill>
                  <a:srgbClr val="0000FF"/>
                </a:solidFill>
              </a:rPr>
              <a:t>Boolean vector of values </a:t>
            </a:r>
            <a:r>
              <a:rPr lang="en-IN" sz="1900" dirty="0"/>
              <a:t>assigned to these variables. </a:t>
            </a:r>
          </a:p>
          <a:p>
            <a:pPr algn="just">
              <a:spcAft>
                <a:spcPts val="1200"/>
              </a:spcAft>
              <a:defRPr/>
            </a:pPr>
            <a:r>
              <a:rPr lang="en-IN" sz="1900" dirty="0"/>
              <a:t>The Boolean vectors can be </a:t>
            </a:r>
            <a:r>
              <a:rPr lang="en-IN" sz="1900" dirty="0" err="1"/>
              <a:t>analyzed</a:t>
            </a:r>
            <a:r>
              <a:rPr lang="en-IN" sz="1900" dirty="0"/>
              <a:t> for </a:t>
            </a:r>
            <a:r>
              <a:rPr lang="en-IN" sz="1900" dirty="0">
                <a:solidFill>
                  <a:srgbClr val="FF0000"/>
                </a:solidFill>
              </a:rPr>
              <a:t>buying patterns </a:t>
            </a:r>
            <a:r>
              <a:rPr lang="en-IN" sz="1900" dirty="0"/>
              <a:t>that reflect items that are </a:t>
            </a:r>
            <a:r>
              <a:rPr lang="en-IN" sz="1900" dirty="0">
                <a:solidFill>
                  <a:srgbClr val="FF0000"/>
                </a:solidFill>
              </a:rPr>
              <a:t>frequently associated or purchased together</a:t>
            </a:r>
            <a:r>
              <a:rPr lang="en-IN" sz="1900" dirty="0"/>
              <a:t>. These patterns can be represented in the form of </a:t>
            </a:r>
            <a:r>
              <a:rPr lang="en-IN" sz="1900" b="1" dirty="0">
                <a:solidFill>
                  <a:srgbClr val="0000FF"/>
                </a:solidFill>
              </a:rPr>
              <a:t>association rules</a:t>
            </a:r>
            <a:r>
              <a:rPr lang="en-IN" sz="1900" dirty="0">
                <a:solidFill>
                  <a:srgbClr val="0000FF"/>
                </a:solidFill>
              </a:rPr>
              <a:t>. </a:t>
            </a:r>
          </a:p>
          <a:p>
            <a:pPr algn="just">
              <a:defRPr/>
            </a:pPr>
            <a:r>
              <a:rPr lang="en-IN" sz="1900" dirty="0"/>
              <a:t>Ex: customers who purchase computers also tend to buy antivirus software at the same time is represented in the following </a:t>
            </a:r>
            <a:r>
              <a:rPr lang="en-IN" sz="1900" dirty="0">
                <a:solidFill>
                  <a:srgbClr val="FF0000"/>
                </a:solidFill>
              </a:rPr>
              <a:t>association rule: </a:t>
            </a:r>
          </a:p>
          <a:p>
            <a:pPr marL="0" indent="0">
              <a:buNone/>
              <a:defRPr/>
            </a:pPr>
            <a:r>
              <a:rPr lang="en-IN" sz="1900" dirty="0"/>
              <a:t>	computer ⇒ antivirus software [support = 2%, confidence = 60%] </a:t>
            </a:r>
          </a:p>
          <a:p>
            <a:pPr>
              <a:defRPr/>
            </a:pPr>
            <a:endParaRPr lang="en-IN" sz="1900" dirty="0"/>
          </a:p>
          <a:p>
            <a:pPr algn="just"/>
            <a:endParaRPr lang="en-IN" sz="1900" dirty="0">
              <a:solidFill>
                <a:srgbClr val="FF0000"/>
              </a:solidFill>
            </a:endParaRPr>
          </a:p>
          <a:p>
            <a:pPr algn="just"/>
            <a:endParaRPr lang="en-GB" sz="19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46E48-2D79-8A47-8FD2-2C8BB200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41C4E-A7CD-3E49-B741-5212E786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494354-93F5-EB48-BB34-F048D9D6E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Market Basket Analysis: 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 Motivating Example 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18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B4D795-7B8B-2F43-8D62-6EA5D1F5E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4527424"/>
          </a:xfrm>
        </p:spPr>
        <p:txBody>
          <a:bodyPr/>
          <a:lstStyle/>
          <a:p>
            <a:pPr algn="just">
              <a:spcAft>
                <a:spcPts val="1200"/>
              </a:spcAft>
            </a:pPr>
            <a:r>
              <a:rPr lang="en-IN" altLang="en-US" sz="2200" dirty="0"/>
              <a:t>Rule </a:t>
            </a:r>
            <a:r>
              <a:rPr lang="en-IN" altLang="en-US" sz="2200" b="1" dirty="0">
                <a:solidFill>
                  <a:schemeClr val="accent6"/>
                </a:solidFill>
              </a:rPr>
              <a:t>support </a:t>
            </a:r>
            <a:r>
              <a:rPr lang="en-IN" altLang="en-US" sz="2200" dirty="0">
                <a:solidFill>
                  <a:schemeClr val="accent6"/>
                </a:solidFill>
              </a:rPr>
              <a:t>and </a:t>
            </a:r>
            <a:r>
              <a:rPr lang="en-IN" altLang="en-US" sz="2200" b="1" dirty="0">
                <a:solidFill>
                  <a:schemeClr val="accent6"/>
                </a:solidFill>
              </a:rPr>
              <a:t>confidence </a:t>
            </a:r>
            <a:r>
              <a:rPr lang="en-IN" altLang="en-US" sz="2200" dirty="0"/>
              <a:t>are two measures of </a:t>
            </a:r>
            <a:r>
              <a:rPr lang="en-IN" altLang="en-US" sz="2200" dirty="0">
                <a:solidFill>
                  <a:srgbClr val="FF0000"/>
                </a:solidFill>
              </a:rPr>
              <a:t>rule interestingness</a:t>
            </a:r>
            <a:r>
              <a:rPr lang="en-IN" altLang="en-US" sz="2200" dirty="0"/>
              <a:t>. </a:t>
            </a:r>
          </a:p>
          <a:p>
            <a:pPr algn="just">
              <a:spcAft>
                <a:spcPts val="1200"/>
              </a:spcAft>
            </a:pPr>
            <a:r>
              <a:rPr lang="en-IN" altLang="en-US" sz="2200" dirty="0">
                <a:solidFill>
                  <a:srgbClr val="0000FF"/>
                </a:solidFill>
              </a:rPr>
              <a:t>support (2%) - </a:t>
            </a:r>
            <a:r>
              <a:rPr lang="en-IN" altLang="en-US" sz="2200" dirty="0"/>
              <a:t>2% of all the transactions under analysis show that computer and antivirus software are purchased together. </a:t>
            </a:r>
          </a:p>
          <a:p>
            <a:pPr algn="just">
              <a:spcAft>
                <a:spcPts val="1200"/>
              </a:spcAft>
            </a:pPr>
            <a:r>
              <a:rPr lang="en-IN" altLang="en-US" sz="2200" dirty="0">
                <a:solidFill>
                  <a:srgbClr val="0000FF"/>
                </a:solidFill>
              </a:rPr>
              <a:t>confidence (60%) - </a:t>
            </a:r>
            <a:r>
              <a:rPr lang="en-IN" altLang="en-US" sz="2200" dirty="0"/>
              <a:t>60% of the customers who purchased a computer also bought the software. </a:t>
            </a:r>
          </a:p>
          <a:p>
            <a:pPr algn="just">
              <a:spcAft>
                <a:spcPts val="1200"/>
              </a:spcAft>
            </a:pPr>
            <a:r>
              <a:rPr lang="en-IN" altLang="en-US" sz="2200" dirty="0"/>
              <a:t>Typically, </a:t>
            </a:r>
            <a:r>
              <a:rPr lang="en-IN" altLang="en-US" sz="2200" dirty="0">
                <a:solidFill>
                  <a:srgbClr val="FF0000"/>
                </a:solidFill>
              </a:rPr>
              <a:t>association rules </a:t>
            </a:r>
            <a:r>
              <a:rPr lang="en-IN" altLang="en-US" sz="2200" dirty="0"/>
              <a:t>are considered interesting if they satisfy both a </a:t>
            </a:r>
            <a:r>
              <a:rPr lang="en-IN" altLang="en-US" sz="2200" b="1" dirty="0">
                <a:solidFill>
                  <a:srgbClr val="0000FF"/>
                </a:solidFill>
              </a:rPr>
              <a:t>minimum support threshold </a:t>
            </a:r>
            <a:r>
              <a:rPr lang="en-IN" altLang="en-US" sz="2200" dirty="0"/>
              <a:t>and a</a:t>
            </a:r>
            <a:r>
              <a:rPr lang="en-IN" altLang="en-US" sz="2200" dirty="0">
                <a:solidFill>
                  <a:srgbClr val="0000FF"/>
                </a:solidFill>
              </a:rPr>
              <a:t> </a:t>
            </a:r>
            <a:r>
              <a:rPr lang="en-IN" altLang="en-US" sz="2200" b="1" dirty="0">
                <a:solidFill>
                  <a:srgbClr val="0000FF"/>
                </a:solidFill>
              </a:rPr>
              <a:t>minimum confidence threshold</a:t>
            </a:r>
            <a:r>
              <a:rPr lang="en-IN" altLang="en-US" sz="2200" dirty="0">
                <a:solidFill>
                  <a:srgbClr val="0000FF"/>
                </a:solidFill>
              </a:rPr>
              <a:t>. </a:t>
            </a:r>
          </a:p>
          <a:p>
            <a:pPr algn="just">
              <a:spcAft>
                <a:spcPts val="1200"/>
              </a:spcAft>
            </a:pPr>
            <a:r>
              <a:rPr lang="en-IN" altLang="en-US" sz="2200" dirty="0"/>
              <a:t>These thresholds can be a </a:t>
            </a:r>
            <a:r>
              <a:rPr lang="en-IN" altLang="en-US" sz="2200" b="1" dirty="0">
                <a:solidFill>
                  <a:srgbClr val="C00000"/>
                </a:solidFill>
              </a:rPr>
              <a:t>set by users or domain experts. </a:t>
            </a:r>
          </a:p>
          <a:p>
            <a:pPr algn="just">
              <a:spcAft>
                <a:spcPts val="1200"/>
              </a:spcAft>
            </a:pPr>
            <a:r>
              <a:rPr lang="en-IN" altLang="en-US" sz="2200" dirty="0"/>
              <a:t>Rules that satisfy both </a:t>
            </a:r>
            <a:r>
              <a:rPr lang="en-IN" altLang="en-US" sz="2200" dirty="0" err="1"/>
              <a:t>min_sup</a:t>
            </a:r>
            <a:r>
              <a:rPr lang="en-IN" altLang="en-US" sz="2200" dirty="0"/>
              <a:t> and </a:t>
            </a:r>
            <a:r>
              <a:rPr lang="en-IN" altLang="en-US" sz="2200" dirty="0" err="1"/>
              <a:t>min_conf</a:t>
            </a:r>
            <a:r>
              <a:rPr lang="en-IN" altLang="en-US" sz="2200" dirty="0"/>
              <a:t> are called </a:t>
            </a:r>
            <a:r>
              <a:rPr lang="en-IN" altLang="en-US" sz="2200" b="1" u="sng" dirty="0">
                <a:solidFill>
                  <a:schemeClr val="accent3"/>
                </a:solidFill>
              </a:rPr>
              <a:t>strong rules</a:t>
            </a:r>
          </a:p>
          <a:p>
            <a:pPr>
              <a:defRPr/>
            </a:pPr>
            <a:endParaRPr lang="en-IN" dirty="0"/>
          </a:p>
          <a:p>
            <a:pPr marL="0" indent="0" algn="just">
              <a:buNone/>
            </a:pPr>
            <a:endParaRPr lang="en-IN" dirty="0">
              <a:solidFill>
                <a:srgbClr val="FF0000"/>
              </a:solidFill>
            </a:endParaRPr>
          </a:p>
          <a:p>
            <a:pPr algn="just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046E48-2D79-8A47-8FD2-2C8BB2006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41C4E-A7CD-3E49-B741-5212E786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494354-93F5-EB48-BB34-F048D9D6E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Market Basket Analysis: 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 Motivating Example 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8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6C2AA-F206-E937-DB6B-DF88BB3A3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32F8-2FC2-D868-A6DB-97879DA1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6950A7-ECFC-9A83-16C3-B23B926BE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09" y="2713831"/>
            <a:ext cx="9455993" cy="1364441"/>
          </a:xfrm>
        </p:spPr>
        <p:txBody>
          <a:bodyPr/>
          <a:lstStyle/>
          <a:p>
            <a:b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H</a:t>
            </a:r>
            <a:r>
              <a:rPr lang="en-US" sz="3600" b="1" i="0" dirty="0">
                <a:solidFill>
                  <a:schemeClr val="accent6"/>
                </a:solidFill>
                <a:effectLst/>
                <a:latin typeface="+mn-lt"/>
                <a:cs typeface="Arial" panose="020B0604020202020204" pitchFamily="34" charset="0"/>
              </a:rPr>
              <a:t>ow to calculate support and confidence in data mining?</a:t>
            </a:r>
            <a:endParaRPr lang="en-IN" sz="3600" dirty="0">
              <a:solidFill>
                <a:schemeClr val="accent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BA0F7-11A8-6547-BE61-60BAD387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73BA-6B98-9245-B6AF-98E14863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4E57D5-6D91-774A-976B-411D0CC3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lang="en-IN" altLang="en-US" dirty="0">
                <a:solidFill>
                  <a:schemeClr val="accent6"/>
                </a:solidFill>
              </a:rPr>
              <a:t>S</a:t>
            </a:r>
            <a:r>
              <a:rPr lang="en-IN" altLang="en-US" sz="2800" b="1" dirty="0">
                <a:solidFill>
                  <a:schemeClr val="accent6"/>
                </a:solidFill>
              </a:rPr>
              <a:t>upport </a:t>
            </a:r>
            <a:r>
              <a:rPr lang="en-IN" altLang="en-US" sz="2800" dirty="0">
                <a:solidFill>
                  <a:schemeClr val="accent6"/>
                </a:solidFill>
              </a:rPr>
              <a:t>and </a:t>
            </a:r>
            <a:r>
              <a:rPr lang="en-IN" altLang="en-US" dirty="0">
                <a:solidFill>
                  <a:schemeClr val="accent6"/>
                </a:solidFill>
              </a:rPr>
              <a:t>C</a:t>
            </a:r>
            <a:r>
              <a:rPr lang="en-IN" altLang="en-US" sz="2800" b="1" dirty="0">
                <a:solidFill>
                  <a:schemeClr val="accent6"/>
                </a:solidFill>
              </a:rPr>
              <a:t>onfidence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06B7BF-4666-791C-6731-AC89D1E88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683" y="1818481"/>
            <a:ext cx="7867650" cy="39243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7B3D56-6D01-5A2F-9F37-A7FB0B5626D7}"/>
              </a:ext>
            </a:extLst>
          </p:cNvPr>
          <p:cNvSpPr txBox="1"/>
          <p:nvPr/>
        </p:nvSpPr>
        <p:spPr>
          <a:xfrm>
            <a:off x="723013" y="6460753"/>
            <a:ext cx="982761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</a:rPr>
              <a:t>https://t4tutorials.com/support-confidence-minimum-support-frequent-itemset-in-data-mining/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F8975-1174-34B3-E052-35EA7DD3FE91}"/>
              </a:ext>
            </a:extLst>
          </p:cNvPr>
          <p:cNvSpPr txBox="1"/>
          <p:nvPr/>
        </p:nvSpPr>
        <p:spPr>
          <a:xfrm>
            <a:off x="1612106" y="3413998"/>
            <a:ext cx="853439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0" i="1" dirty="0">
                <a:solidFill>
                  <a:schemeClr val="accent3">
                    <a:lumMod val="75000"/>
                  </a:schemeClr>
                </a:solidFill>
                <a:effectLst/>
                <a:latin typeface="+mj-lt"/>
              </a:rPr>
              <a:t>where A is the itemset for which you are calculating the support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+mj-lt"/>
              </a:rPr>
              <a:t>.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C459D-5488-5E35-61F2-90D74C549A13}"/>
              </a:ext>
            </a:extLst>
          </p:cNvPr>
          <p:cNvSpPr txBox="1"/>
          <p:nvPr/>
        </p:nvSpPr>
        <p:spPr>
          <a:xfrm>
            <a:off x="427408" y="5788617"/>
            <a:ext cx="9982200" cy="33855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chemeClr val="accent6"/>
                </a:solidFill>
                <a:effectLst/>
                <a:latin typeface="+mj-lt"/>
              </a:rPr>
              <a:t>Confidence(A =&gt; B) = (Number of transactions containing A and B) / (Number of transactions containing A)</a:t>
            </a:r>
            <a:endParaRPr lang="en-IN" sz="1600" dirty="0">
              <a:solidFill>
                <a:schemeClr val="accent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48865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A153AE-CA95-C526-FF85-113637AD5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306" y="2637631"/>
            <a:ext cx="5029199" cy="1143000"/>
          </a:xfrm>
        </p:spPr>
        <p:txBody>
          <a:bodyPr/>
          <a:lstStyle/>
          <a:p>
            <a:r>
              <a:rPr lang="en-US" sz="2800" dirty="0"/>
              <a:t>Support = 2 / 4 = 50%</a:t>
            </a:r>
          </a:p>
          <a:p>
            <a:r>
              <a:rPr lang="en-US" sz="2800" dirty="0"/>
              <a:t>Confidence = 2 / 3 = 66.66%</a:t>
            </a:r>
            <a:endParaRPr lang="en-IN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4EB912-65A6-0D02-DD04-31B9897ED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DA667-C736-E26D-4776-44B2643C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E4128F-EDD7-44C2-DF46-B454DC6E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4106" y="275431"/>
            <a:ext cx="7772399" cy="595282"/>
          </a:xfrm>
        </p:spPr>
        <p:txBody>
          <a:bodyPr/>
          <a:lstStyle/>
          <a:p>
            <a:r>
              <a:rPr lang="en-IN" altLang="en-US" dirty="0">
                <a:solidFill>
                  <a:schemeClr val="accent6"/>
                </a:solidFill>
              </a:rPr>
              <a:t>S</a:t>
            </a:r>
            <a:r>
              <a:rPr lang="en-IN" altLang="en-US" sz="2800" b="1" dirty="0">
                <a:solidFill>
                  <a:schemeClr val="accent6"/>
                </a:solidFill>
              </a:rPr>
              <a:t>upport </a:t>
            </a:r>
            <a:r>
              <a:rPr lang="en-IN" altLang="en-US" sz="2800" dirty="0">
                <a:solidFill>
                  <a:schemeClr val="accent6"/>
                </a:solidFill>
              </a:rPr>
              <a:t>and </a:t>
            </a:r>
            <a:r>
              <a:rPr lang="en-IN" altLang="en-US" dirty="0">
                <a:solidFill>
                  <a:schemeClr val="accent6"/>
                </a:solidFill>
              </a:rPr>
              <a:t>C</a:t>
            </a:r>
            <a:r>
              <a:rPr lang="en-IN" altLang="en-US" sz="2800" b="1" dirty="0">
                <a:solidFill>
                  <a:schemeClr val="accent6"/>
                </a:solidFill>
              </a:rPr>
              <a:t>onfidence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3BF676-78C0-7130-29D6-66143FBC5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55" y="1715944"/>
            <a:ext cx="3429000" cy="2400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32F31B-3258-7EFB-8533-C20250FE2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18" y="4453119"/>
            <a:ext cx="3571875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6FE24A-D740-765B-75DD-4BD7C5628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646" y="1747490"/>
            <a:ext cx="1428677" cy="5952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D5484F-CB9C-E3F3-89C2-EB576EAF7EE2}"/>
              </a:ext>
            </a:extLst>
          </p:cNvPr>
          <p:cNvSpPr txBox="1"/>
          <p:nvPr/>
        </p:nvSpPr>
        <p:spPr>
          <a:xfrm>
            <a:off x="731440" y="6476142"/>
            <a:ext cx="9825088" cy="33855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0000FF"/>
                </a:solidFill>
                <a:effectLst/>
                <a:latin typeface="Nunito" pitchFamily="2" charset="0"/>
              </a:rPr>
              <a:t>Confidence(X =&gt; Y) = (Number of transactions containing X and Y) / (Number of transactions containing X)</a:t>
            </a:r>
            <a:endParaRPr lang="en-IN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62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B79420-7115-7242-8FA6-022CDEE66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0105" y="1570831"/>
            <a:ext cx="5715001" cy="5158756"/>
          </a:xfrm>
        </p:spPr>
        <p:txBody>
          <a:bodyPr/>
          <a:lstStyle/>
          <a:p>
            <a:pPr marL="457200" indent="-457200" algn="just"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/>
              <a:t>Find support and confidence for the rule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Cerelac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rgbClr val="FF0000"/>
                </a:solidFill>
                <a:sym typeface="Wingdings" pitchFamily="2" charset="2"/>
              </a:rPr>
              <a:t>Diaper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800" dirty="0">
                <a:solidFill>
                  <a:srgbClr val="FF0000"/>
                </a:solidFill>
                <a:sym typeface="Wingdings" pitchFamily="2" charset="2"/>
              </a:rPr>
              <a:t>	Diaper </a:t>
            </a:r>
            <a:r>
              <a:rPr lang="en-US" altLang="en-US" sz="2800" dirty="0" err="1">
                <a:solidFill>
                  <a:srgbClr val="FF0000"/>
                </a:solidFill>
                <a:sym typeface="Wingdings" pitchFamily="2" charset="2"/>
              </a:rPr>
              <a:t>Cerelac</a:t>
            </a:r>
            <a:endParaRPr lang="en-US" altLang="en-US" sz="2800" dirty="0">
              <a:solidFill>
                <a:srgbClr val="FF0000"/>
              </a:solidFill>
              <a:sym typeface="Wingdings" pitchFamily="2" charset="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dirty="0">
              <a:sym typeface="Symbol" pitchFamily="2" charset="2"/>
            </a:endParaRPr>
          </a:p>
          <a:p>
            <a:pPr marL="457200" indent="-457200" algn="just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800" i="1" dirty="0"/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 err="1"/>
              <a:t>Cerelac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rgbClr val="FF0000"/>
                </a:solidFill>
                <a:sym typeface="Wingdings" pitchFamily="2" charset="2"/>
              </a:rPr>
              <a:t>Diaper </a:t>
            </a:r>
            <a:r>
              <a:rPr lang="en-US" altLang="en-US" sz="2800" dirty="0">
                <a:solidFill>
                  <a:srgbClr val="FF0000"/>
                </a:solidFill>
                <a:sym typeface="Symbol" pitchFamily="2" charset="2"/>
              </a:rPr>
              <a:t>(60%, 100%)</a:t>
            </a:r>
          </a:p>
          <a:p>
            <a:pPr lvl="1" algn="just">
              <a:spcBef>
                <a:spcPts val="0"/>
              </a:spcBef>
              <a:spcAft>
                <a:spcPts val="0"/>
              </a:spcAft>
            </a:pPr>
            <a:r>
              <a:rPr lang="en-US" altLang="en-US" sz="2800" dirty="0">
                <a:solidFill>
                  <a:srgbClr val="FF0000"/>
                </a:solidFill>
                <a:sym typeface="Wingdings" pitchFamily="2" charset="2"/>
              </a:rPr>
              <a:t>Diaper </a:t>
            </a:r>
            <a:r>
              <a:rPr lang="en-US" altLang="en-US" sz="2800" dirty="0" err="1">
                <a:solidFill>
                  <a:srgbClr val="FF0000"/>
                </a:solidFill>
                <a:sym typeface="Wingdings" pitchFamily="2" charset="2"/>
              </a:rPr>
              <a:t>Cerelac</a:t>
            </a:r>
            <a:r>
              <a:rPr lang="en-US" altLang="en-US" sz="2800" dirty="0">
                <a:solidFill>
                  <a:srgbClr val="FF0000"/>
                </a:solidFill>
                <a:sym typeface="Symbol" pitchFamily="2" charset="2"/>
              </a:rPr>
              <a:t>(60%, 75%)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GB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D76C5D-A9F9-C842-A1C6-89CC76FF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C5336-1674-4444-9577-976DE450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BDF0B8C-63AF-FA4B-AFD6-1F10C5B8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pSp>
        <p:nvGrpSpPr>
          <p:cNvPr id="18" name="Group 5">
            <a:extLst>
              <a:ext uri="{FF2B5EF4-FFF2-40B4-BE49-F238E27FC236}">
                <a16:creationId xmlns:a16="http://schemas.microsoft.com/office/drawing/2014/main" id="{0166BD4B-AD8A-4B4D-BD44-4BBADA988617}"/>
              </a:ext>
            </a:extLst>
          </p:cNvPr>
          <p:cNvGrpSpPr>
            <a:grpSpLocks/>
          </p:cNvGrpSpPr>
          <p:nvPr/>
        </p:nvGrpSpPr>
        <p:grpSpPr bwMode="auto">
          <a:xfrm>
            <a:off x="316706" y="4099099"/>
            <a:ext cx="3886200" cy="2630488"/>
            <a:chOff x="192" y="2400"/>
            <a:chExt cx="2448" cy="1657"/>
          </a:xfrm>
        </p:grpSpPr>
        <p:sp>
          <p:nvSpPr>
            <p:cNvPr id="19" name="Oval 6">
              <a:extLst>
                <a:ext uri="{FF2B5EF4-FFF2-40B4-BE49-F238E27FC236}">
                  <a16:creationId xmlns:a16="http://schemas.microsoft.com/office/drawing/2014/main" id="{E655F45C-BCD1-BC46-9CEB-769ACC01A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2736"/>
              <a:ext cx="1200" cy="864"/>
            </a:xfrm>
            <a:prstGeom prst="ellipse">
              <a:avLst/>
            </a:prstGeom>
            <a:solidFill>
              <a:srgbClr val="FFFF00"/>
            </a:solidFill>
            <a:ln w="254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4B90A069-E2E5-0644-965B-EB2483700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736"/>
              <a:ext cx="1200" cy="960"/>
            </a:xfrm>
            <a:prstGeom prst="ellipse">
              <a:avLst/>
            </a:prstGeom>
            <a:solidFill>
              <a:srgbClr val="99CCFF">
                <a:alpha val="50195"/>
              </a:srgbClr>
            </a:solidFill>
            <a:ln w="254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1" name="Line 8">
              <a:extLst>
                <a:ext uri="{FF2B5EF4-FFF2-40B4-BE49-F238E27FC236}">
                  <a16:creationId xmlns:a16="http://schemas.microsoft.com/office/drawing/2014/main" id="{50690F3E-BD98-4A49-9243-41AA6C249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3168"/>
              <a:ext cx="144" cy="4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2" name="Line 9">
              <a:extLst>
                <a:ext uri="{FF2B5EF4-FFF2-40B4-BE49-F238E27FC236}">
                  <a16:creationId xmlns:a16="http://schemas.microsoft.com/office/drawing/2014/main" id="{535CCCD6-716F-4442-8873-AEBA51FBFD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6" y="2832"/>
              <a:ext cx="144" cy="432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3" name="Line 10">
              <a:extLst>
                <a:ext uri="{FF2B5EF4-FFF2-40B4-BE49-F238E27FC236}">
                  <a16:creationId xmlns:a16="http://schemas.microsoft.com/office/drawing/2014/main" id="{85002AD6-1DD0-154F-9498-38AAC1DD0A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40" y="2592"/>
              <a:ext cx="0" cy="576"/>
            </a:xfrm>
            <a:prstGeom prst="line">
              <a:avLst/>
            </a:prstGeom>
            <a:ln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GB"/>
            </a:p>
          </p:txBody>
        </p:sp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2223A899-5F76-B043-8120-B7D37F999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448"/>
              <a:ext cx="768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buys diaper</a:t>
              </a:r>
              <a:endParaRPr lang="en-US" altLang="en-US" sz="1800" b="1" u="sng" dirty="0"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7218D5DC-69F2-8246-BB18-BE603DCE5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400"/>
              <a:ext cx="657" cy="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buys both</a:t>
              </a:r>
              <a:endParaRPr lang="en-US" altLang="en-US" sz="1800" b="1" u="sng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Text Box 13">
              <a:extLst>
                <a:ext uri="{FF2B5EF4-FFF2-40B4-BE49-F238E27FC236}">
                  <a16:creationId xmlns:a16="http://schemas.microsoft.com/office/drawing/2014/main" id="{C3074D9C-F224-704D-8C8C-BB801B06C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3600"/>
              <a:ext cx="794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Customer</a:t>
              </a:r>
            </a:p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buys cerelac</a:t>
              </a:r>
              <a:endParaRPr lang="en-US" altLang="en-US" sz="18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27" name="Rectangle 14">
              <a:extLst>
                <a:ext uri="{FF2B5EF4-FFF2-40B4-BE49-F238E27FC236}">
                  <a16:creationId xmlns:a16="http://schemas.microsoft.com/office/drawing/2014/main" id="{747F610C-3310-8D42-874A-57137AFCD6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400"/>
              <a:ext cx="2448" cy="16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</p:grpSp>
      <p:graphicFrame>
        <p:nvGraphicFramePr>
          <p:cNvPr id="28" name="Group 44">
            <a:extLst>
              <a:ext uri="{FF2B5EF4-FFF2-40B4-BE49-F238E27FC236}">
                <a16:creationId xmlns:a16="http://schemas.microsoft.com/office/drawing/2014/main" id="{EA009E4A-6672-554E-819B-9D145408AFEE}"/>
              </a:ext>
            </a:extLst>
          </p:cNvPr>
          <p:cNvGraphicFramePr>
            <a:graphicFrameLocks noGrp="1"/>
          </p:cNvGraphicFramePr>
          <p:nvPr/>
        </p:nvGraphicFramePr>
        <p:xfrm>
          <a:off x="316706" y="1813099"/>
          <a:ext cx="3886200" cy="2130424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 bought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cerelac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Nuts,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cerelac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Coffee,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cerelac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Diaper, Eggs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Coffee, Diaper,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07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B63ED8-FE6C-D14A-A6E6-4076C8499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281" y="1570831"/>
            <a:ext cx="9455993" cy="5259615"/>
          </a:xfrm>
        </p:spPr>
        <p:txBody>
          <a:bodyPr/>
          <a:lstStyle/>
          <a:p>
            <a:pPr algn="just">
              <a:spcAft>
                <a:spcPts val="1200"/>
              </a:spcAft>
              <a:defRPr/>
            </a:pPr>
            <a:r>
              <a:rPr lang="en-IN" sz="1900" dirty="0"/>
              <a:t>Let </a:t>
            </a:r>
            <a:r>
              <a:rPr lang="en-IN" sz="1900" dirty="0">
                <a:solidFill>
                  <a:srgbClr val="FF0000"/>
                </a:solidFill>
              </a:rPr>
              <a:t>I = {</a:t>
            </a:r>
            <a:r>
              <a:rPr lang="en-IN" sz="1900" i="1" dirty="0">
                <a:solidFill>
                  <a:srgbClr val="FF0000"/>
                </a:solidFill>
              </a:rPr>
              <a:t>I</a:t>
            </a:r>
            <a:r>
              <a:rPr lang="en-IN" sz="1900" dirty="0">
                <a:solidFill>
                  <a:srgbClr val="FF0000"/>
                </a:solidFill>
              </a:rPr>
              <a:t>1, </a:t>
            </a:r>
            <a:r>
              <a:rPr lang="en-IN" sz="1900" i="1" dirty="0">
                <a:solidFill>
                  <a:srgbClr val="FF0000"/>
                </a:solidFill>
              </a:rPr>
              <a:t>I</a:t>
            </a:r>
            <a:r>
              <a:rPr lang="en-IN" sz="1900" dirty="0">
                <a:solidFill>
                  <a:srgbClr val="FF0000"/>
                </a:solidFill>
              </a:rPr>
              <a:t>2,..., </a:t>
            </a:r>
            <a:r>
              <a:rPr lang="en-IN" sz="1900" i="1" dirty="0" err="1">
                <a:solidFill>
                  <a:srgbClr val="FF0000"/>
                </a:solidFill>
              </a:rPr>
              <a:t>Im</a:t>
            </a:r>
            <a:r>
              <a:rPr lang="en-IN" sz="1900" dirty="0">
                <a:solidFill>
                  <a:srgbClr val="FF0000"/>
                </a:solidFill>
              </a:rPr>
              <a:t>} </a:t>
            </a:r>
            <a:r>
              <a:rPr lang="en-IN" sz="1900" dirty="0"/>
              <a:t>be an </a:t>
            </a:r>
            <a:r>
              <a:rPr lang="en-IN" sz="1900" dirty="0">
                <a:solidFill>
                  <a:srgbClr val="FF0000"/>
                </a:solidFill>
              </a:rPr>
              <a:t>itemset</a:t>
            </a:r>
            <a:r>
              <a:rPr lang="en-IN" sz="1900" dirty="0"/>
              <a:t>. </a:t>
            </a:r>
          </a:p>
          <a:p>
            <a:pPr algn="just">
              <a:spcAft>
                <a:spcPts val="1200"/>
              </a:spcAft>
              <a:defRPr/>
            </a:pPr>
            <a:r>
              <a:rPr lang="en-IN" sz="1900" dirty="0"/>
              <a:t>Let </a:t>
            </a:r>
            <a:r>
              <a:rPr lang="en-IN" sz="1900" i="1" dirty="0">
                <a:solidFill>
                  <a:srgbClr val="FF0000"/>
                </a:solidFill>
              </a:rPr>
              <a:t>D</a:t>
            </a:r>
            <a:r>
              <a:rPr lang="en-IN" sz="1900" dirty="0">
                <a:solidFill>
                  <a:srgbClr val="FF0000"/>
                </a:solidFill>
              </a:rPr>
              <a:t>, the task-relevant data</a:t>
            </a:r>
            <a:r>
              <a:rPr lang="en-IN" sz="1900" dirty="0"/>
              <a:t>, be a set of database transactions where each </a:t>
            </a:r>
            <a:r>
              <a:rPr lang="en-IN" sz="1900" dirty="0">
                <a:solidFill>
                  <a:srgbClr val="FF0000"/>
                </a:solidFill>
              </a:rPr>
              <a:t>transaction </a:t>
            </a:r>
            <a:r>
              <a:rPr lang="en-IN" sz="1900" i="1" dirty="0">
                <a:solidFill>
                  <a:srgbClr val="FF0000"/>
                </a:solidFill>
              </a:rPr>
              <a:t>T </a:t>
            </a:r>
            <a:r>
              <a:rPr lang="en-IN" sz="1900" dirty="0"/>
              <a:t>is a nonempty itemset such that </a:t>
            </a:r>
            <a:r>
              <a:rPr lang="en-IN" sz="1900" i="1" dirty="0">
                <a:solidFill>
                  <a:srgbClr val="FF0000"/>
                </a:solidFill>
              </a:rPr>
              <a:t>T </a:t>
            </a:r>
            <a:r>
              <a:rPr lang="en-IN" sz="1900" dirty="0">
                <a:solidFill>
                  <a:srgbClr val="FF0000"/>
                </a:solidFill>
              </a:rPr>
              <a:t>⊆ I</a:t>
            </a:r>
            <a:r>
              <a:rPr lang="en-IN" sz="1900" dirty="0"/>
              <a:t>. </a:t>
            </a:r>
          </a:p>
          <a:p>
            <a:pPr algn="just">
              <a:spcAft>
                <a:spcPts val="1200"/>
              </a:spcAft>
              <a:defRPr/>
            </a:pPr>
            <a:r>
              <a:rPr lang="en-IN" sz="1900" dirty="0"/>
              <a:t>Let </a:t>
            </a:r>
            <a:r>
              <a:rPr lang="en-IN" sz="1900" i="1" dirty="0">
                <a:solidFill>
                  <a:srgbClr val="FF0000"/>
                </a:solidFill>
              </a:rPr>
              <a:t>A </a:t>
            </a:r>
            <a:r>
              <a:rPr lang="en-IN" sz="1900" dirty="0">
                <a:solidFill>
                  <a:srgbClr val="FF0000"/>
                </a:solidFill>
              </a:rPr>
              <a:t>be a set of items</a:t>
            </a:r>
            <a:r>
              <a:rPr lang="en-IN" sz="1900" dirty="0"/>
              <a:t>. A transaction </a:t>
            </a:r>
            <a:r>
              <a:rPr lang="en-IN" sz="1900" i="1" dirty="0">
                <a:solidFill>
                  <a:srgbClr val="FF0000"/>
                </a:solidFill>
              </a:rPr>
              <a:t>T </a:t>
            </a:r>
            <a:r>
              <a:rPr lang="en-IN" sz="1900" dirty="0">
                <a:solidFill>
                  <a:srgbClr val="FF0000"/>
                </a:solidFill>
              </a:rPr>
              <a:t>is said to contain </a:t>
            </a:r>
            <a:r>
              <a:rPr lang="en-IN" sz="1900" i="1" dirty="0">
                <a:solidFill>
                  <a:srgbClr val="FF0000"/>
                </a:solidFill>
              </a:rPr>
              <a:t>A </a:t>
            </a:r>
            <a:r>
              <a:rPr lang="en-IN" sz="1900" dirty="0">
                <a:solidFill>
                  <a:srgbClr val="FF0000"/>
                </a:solidFill>
              </a:rPr>
              <a:t>if </a:t>
            </a:r>
            <a:r>
              <a:rPr lang="en-IN" sz="1900" i="1" dirty="0">
                <a:solidFill>
                  <a:srgbClr val="FF0000"/>
                </a:solidFill>
              </a:rPr>
              <a:t>A </a:t>
            </a:r>
            <a:r>
              <a:rPr lang="en-IN" sz="1900" dirty="0">
                <a:solidFill>
                  <a:srgbClr val="FF0000"/>
                </a:solidFill>
              </a:rPr>
              <a:t>⊆ </a:t>
            </a:r>
            <a:r>
              <a:rPr lang="en-IN" sz="1900" i="1" dirty="0">
                <a:solidFill>
                  <a:srgbClr val="FF0000"/>
                </a:solidFill>
              </a:rPr>
              <a:t>T</a:t>
            </a:r>
            <a:r>
              <a:rPr lang="en-IN" sz="1900" dirty="0"/>
              <a:t>. </a:t>
            </a:r>
          </a:p>
          <a:p>
            <a:pPr algn="just">
              <a:spcAft>
                <a:spcPts val="1200"/>
              </a:spcAft>
              <a:defRPr/>
            </a:pPr>
            <a:r>
              <a:rPr lang="en-IN" sz="1900" dirty="0"/>
              <a:t>An association rule is an implication of the form </a:t>
            </a:r>
            <a:r>
              <a:rPr lang="en-IN" sz="1900" i="1" dirty="0">
                <a:solidFill>
                  <a:srgbClr val="FF0000"/>
                </a:solidFill>
              </a:rPr>
              <a:t>A </a:t>
            </a:r>
            <a:r>
              <a:rPr lang="en-IN" sz="1900" dirty="0">
                <a:solidFill>
                  <a:srgbClr val="FF0000"/>
                </a:solidFill>
              </a:rPr>
              <a:t>⇒ </a:t>
            </a:r>
            <a:r>
              <a:rPr lang="en-IN" sz="1900" i="1" dirty="0">
                <a:solidFill>
                  <a:srgbClr val="FF0000"/>
                </a:solidFill>
              </a:rPr>
              <a:t>B</a:t>
            </a:r>
            <a:r>
              <a:rPr lang="en-IN" sz="1900" dirty="0">
                <a:solidFill>
                  <a:srgbClr val="FF0000"/>
                </a:solidFill>
              </a:rPr>
              <a:t>,</a:t>
            </a:r>
            <a:r>
              <a:rPr lang="en-IN" sz="1900" dirty="0"/>
              <a:t> where </a:t>
            </a:r>
            <a:r>
              <a:rPr lang="en-IN" sz="1900" i="1" dirty="0">
                <a:solidFill>
                  <a:srgbClr val="FF0000"/>
                </a:solidFill>
              </a:rPr>
              <a:t>A </a:t>
            </a:r>
            <a:r>
              <a:rPr lang="en-IN" sz="1900" dirty="0">
                <a:solidFill>
                  <a:srgbClr val="FF0000"/>
                </a:solidFill>
              </a:rPr>
              <a:t>⊂ I, </a:t>
            </a:r>
            <a:r>
              <a:rPr lang="en-IN" sz="1900" i="1" dirty="0">
                <a:solidFill>
                  <a:srgbClr val="FF0000"/>
                </a:solidFill>
              </a:rPr>
              <a:t>B </a:t>
            </a:r>
            <a:r>
              <a:rPr lang="en-IN" sz="1900" dirty="0">
                <a:solidFill>
                  <a:srgbClr val="FF0000"/>
                </a:solidFill>
              </a:rPr>
              <a:t>⊂ I,</a:t>
            </a:r>
            <a:r>
              <a:rPr lang="en-IN" sz="1900" dirty="0"/>
              <a:t> </a:t>
            </a:r>
            <a:r>
              <a:rPr lang="en-IN" sz="1900" i="1" dirty="0">
                <a:solidFill>
                  <a:srgbClr val="FF0000"/>
                </a:solidFill>
              </a:rPr>
              <a:t>A </a:t>
            </a:r>
            <a:r>
              <a:rPr lang="en-IN" sz="1900" dirty="0">
                <a:solidFill>
                  <a:srgbClr val="FF0000"/>
                </a:solidFill>
              </a:rPr>
              <a:t>≠ ∅ and </a:t>
            </a:r>
          </a:p>
          <a:p>
            <a:pPr marL="0" indent="0" algn="just">
              <a:spcAft>
                <a:spcPts val="1200"/>
              </a:spcAft>
              <a:buNone/>
              <a:defRPr/>
            </a:pPr>
            <a:r>
              <a:rPr lang="en-IN" sz="1900" dirty="0">
                <a:solidFill>
                  <a:srgbClr val="FF0000"/>
                </a:solidFill>
              </a:rPr>
              <a:t>      </a:t>
            </a:r>
            <a:r>
              <a:rPr lang="en-IN" sz="1900" i="1" dirty="0">
                <a:solidFill>
                  <a:srgbClr val="FF0000"/>
                </a:solidFill>
              </a:rPr>
              <a:t>B</a:t>
            </a:r>
            <a:r>
              <a:rPr lang="en-IN" sz="1900" dirty="0">
                <a:solidFill>
                  <a:srgbClr val="FF0000"/>
                </a:solidFill>
              </a:rPr>
              <a:t> ≠ ∅</a:t>
            </a:r>
            <a:endParaRPr lang="en-IN" sz="1900" dirty="0"/>
          </a:p>
          <a:p>
            <a:pPr algn="just">
              <a:spcAft>
                <a:spcPts val="1200"/>
              </a:spcAft>
              <a:defRPr/>
            </a:pPr>
            <a:r>
              <a:rPr lang="en-IN" sz="1900" dirty="0">
                <a:solidFill>
                  <a:srgbClr val="FF0000"/>
                </a:solidFill>
              </a:rPr>
              <a:t>The rule </a:t>
            </a:r>
            <a:r>
              <a:rPr lang="en-IN" sz="1900" i="1" dirty="0">
                <a:solidFill>
                  <a:srgbClr val="FF0000"/>
                </a:solidFill>
              </a:rPr>
              <a:t>A </a:t>
            </a:r>
            <a:r>
              <a:rPr lang="en-IN" sz="1900" dirty="0">
                <a:solidFill>
                  <a:srgbClr val="FF0000"/>
                </a:solidFill>
              </a:rPr>
              <a:t>⇒ </a:t>
            </a:r>
            <a:r>
              <a:rPr lang="en-IN" sz="1900" i="1" dirty="0">
                <a:solidFill>
                  <a:srgbClr val="FF0000"/>
                </a:solidFill>
              </a:rPr>
              <a:t>B - </a:t>
            </a:r>
            <a:r>
              <a:rPr lang="en-IN" sz="1900" b="1" dirty="0">
                <a:solidFill>
                  <a:srgbClr val="FF0000"/>
                </a:solidFill>
              </a:rPr>
              <a:t>support</a:t>
            </a:r>
            <a:r>
              <a:rPr lang="en-IN" sz="1900" b="1" dirty="0"/>
              <a:t> </a:t>
            </a:r>
            <a:r>
              <a:rPr lang="en-IN" sz="1900" i="1" dirty="0"/>
              <a:t>s</a:t>
            </a:r>
            <a:r>
              <a:rPr lang="en-IN" sz="1900" dirty="0"/>
              <a:t>, where </a:t>
            </a:r>
            <a:r>
              <a:rPr lang="en-IN" sz="1900" i="1" dirty="0"/>
              <a:t>s </a:t>
            </a:r>
            <a:r>
              <a:rPr lang="en-IN" sz="1900" dirty="0"/>
              <a:t>is the percentage of transactions in </a:t>
            </a:r>
            <a:r>
              <a:rPr lang="en-IN" sz="1900" i="1" dirty="0"/>
              <a:t>D </a:t>
            </a:r>
            <a:r>
              <a:rPr lang="en-IN" sz="1900" dirty="0"/>
              <a:t>that contain </a:t>
            </a:r>
            <a:r>
              <a:rPr lang="en-IN" sz="1900" i="1" dirty="0"/>
              <a:t>A </a:t>
            </a:r>
            <a:r>
              <a:rPr lang="en-IN" sz="1900" dirty="0"/>
              <a:t>∪ </a:t>
            </a:r>
            <a:r>
              <a:rPr lang="en-IN" sz="1900" i="1" dirty="0"/>
              <a:t>B . </a:t>
            </a:r>
            <a:r>
              <a:rPr lang="en-IN" sz="1900" dirty="0"/>
              <a:t>This is taken to be the probability, </a:t>
            </a:r>
            <a:r>
              <a:rPr lang="en-IN" sz="1900" i="1" dirty="0">
                <a:solidFill>
                  <a:srgbClr val="FF0000"/>
                </a:solidFill>
              </a:rPr>
              <a:t>P</a:t>
            </a:r>
            <a:r>
              <a:rPr lang="en-IN" sz="1900" dirty="0">
                <a:solidFill>
                  <a:srgbClr val="FF0000"/>
                </a:solidFill>
              </a:rPr>
              <a:t>(</a:t>
            </a:r>
            <a:r>
              <a:rPr lang="en-IN" sz="1900" i="1" dirty="0">
                <a:solidFill>
                  <a:srgbClr val="FF0000"/>
                </a:solidFill>
              </a:rPr>
              <a:t>A </a:t>
            </a:r>
            <a:r>
              <a:rPr lang="en-IN" sz="1900" dirty="0">
                <a:solidFill>
                  <a:srgbClr val="FF0000"/>
                </a:solidFill>
              </a:rPr>
              <a:t>∪ </a:t>
            </a:r>
            <a:r>
              <a:rPr lang="en-IN" sz="1900" i="1" dirty="0">
                <a:solidFill>
                  <a:srgbClr val="FF0000"/>
                </a:solidFill>
              </a:rPr>
              <a:t>B</a:t>
            </a:r>
            <a:r>
              <a:rPr lang="en-IN" sz="1900" dirty="0">
                <a:solidFill>
                  <a:srgbClr val="FF0000"/>
                </a:solidFill>
              </a:rPr>
              <a:t>)</a:t>
            </a:r>
          </a:p>
          <a:p>
            <a:pPr algn="just">
              <a:spcAft>
                <a:spcPts val="1200"/>
              </a:spcAft>
              <a:defRPr/>
            </a:pPr>
            <a:r>
              <a:rPr lang="en-IN" sz="1900" dirty="0">
                <a:solidFill>
                  <a:srgbClr val="FF0000"/>
                </a:solidFill>
              </a:rPr>
              <a:t>The rule </a:t>
            </a:r>
            <a:r>
              <a:rPr lang="en-IN" sz="1900" i="1" dirty="0">
                <a:solidFill>
                  <a:srgbClr val="FF0000"/>
                </a:solidFill>
              </a:rPr>
              <a:t>A </a:t>
            </a:r>
            <a:r>
              <a:rPr lang="en-IN" sz="1900" dirty="0">
                <a:solidFill>
                  <a:srgbClr val="FF0000"/>
                </a:solidFill>
              </a:rPr>
              <a:t>⇒ </a:t>
            </a:r>
            <a:r>
              <a:rPr lang="en-IN" sz="1900" i="1" dirty="0">
                <a:solidFill>
                  <a:srgbClr val="FF0000"/>
                </a:solidFill>
              </a:rPr>
              <a:t>B - </a:t>
            </a:r>
            <a:r>
              <a:rPr lang="en-IN" sz="1900" b="1" dirty="0">
                <a:solidFill>
                  <a:srgbClr val="FF0000"/>
                </a:solidFill>
              </a:rPr>
              <a:t>confidence</a:t>
            </a:r>
            <a:r>
              <a:rPr lang="en-IN" sz="1900" b="1" dirty="0"/>
              <a:t> </a:t>
            </a:r>
            <a:r>
              <a:rPr lang="en-IN" sz="1900" i="1" dirty="0"/>
              <a:t>c </a:t>
            </a:r>
            <a:r>
              <a:rPr lang="en-IN" sz="1900" dirty="0"/>
              <a:t>in the transaction set </a:t>
            </a:r>
            <a:r>
              <a:rPr lang="en-IN" sz="1900" i="1" dirty="0"/>
              <a:t>D</a:t>
            </a:r>
            <a:r>
              <a:rPr lang="en-IN" sz="1900" dirty="0"/>
              <a:t>, where </a:t>
            </a:r>
            <a:r>
              <a:rPr lang="en-IN" sz="1900" i="1" dirty="0"/>
              <a:t>c </a:t>
            </a:r>
            <a:r>
              <a:rPr lang="en-IN" sz="1900" dirty="0"/>
              <a:t>is the percentage of transactions in </a:t>
            </a:r>
            <a:r>
              <a:rPr lang="en-IN" sz="1900" i="1" dirty="0"/>
              <a:t>D </a:t>
            </a:r>
            <a:r>
              <a:rPr lang="en-IN" sz="1900" dirty="0"/>
              <a:t>containing </a:t>
            </a:r>
            <a:r>
              <a:rPr lang="en-IN" sz="1900" i="1" dirty="0"/>
              <a:t>A </a:t>
            </a:r>
            <a:r>
              <a:rPr lang="en-IN" sz="1900" dirty="0"/>
              <a:t>that also contain </a:t>
            </a:r>
            <a:r>
              <a:rPr lang="en-IN" sz="1900" i="1" dirty="0"/>
              <a:t>B</a:t>
            </a:r>
            <a:r>
              <a:rPr lang="en-IN" sz="1900" dirty="0"/>
              <a:t>. This is taken to be the conditional probability, </a:t>
            </a:r>
            <a:r>
              <a:rPr lang="en-IN" sz="1900" i="1" dirty="0">
                <a:solidFill>
                  <a:srgbClr val="FF0000"/>
                </a:solidFill>
              </a:rPr>
              <a:t>P</a:t>
            </a:r>
            <a:r>
              <a:rPr lang="en-IN" sz="1900" dirty="0">
                <a:solidFill>
                  <a:srgbClr val="FF0000"/>
                </a:solidFill>
              </a:rPr>
              <a:t>(</a:t>
            </a:r>
            <a:r>
              <a:rPr lang="en-IN" sz="1900" i="1" dirty="0">
                <a:solidFill>
                  <a:srgbClr val="FF0000"/>
                </a:solidFill>
              </a:rPr>
              <a:t>B</a:t>
            </a:r>
            <a:r>
              <a:rPr lang="en-IN" sz="1900" dirty="0">
                <a:solidFill>
                  <a:srgbClr val="FF0000"/>
                </a:solidFill>
              </a:rPr>
              <a:t>|</a:t>
            </a:r>
            <a:r>
              <a:rPr lang="en-IN" sz="1900" i="1" dirty="0">
                <a:solidFill>
                  <a:srgbClr val="FF0000"/>
                </a:solidFill>
              </a:rPr>
              <a:t>A</a:t>
            </a:r>
            <a:r>
              <a:rPr lang="en-IN" sz="1900" dirty="0">
                <a:solidFill>
                  <a:srgbClr val="FF0000"/>
                </a:solidFill>
              </a:rPr>
              <a:t>). </a:t>
            </a:r>
          </a:p>
          <a:p>
            <a:pPr marL="0" indent="0" algn="just">
              <a:spcAft>
                <a:spcPts val="1200"/>
              </a:spcAft>
              <a:buNone/>
              <a:defRPr/>
            </a:pPr>
            <a:r>
              <a:rPr lang="en-IN" sz="1900" i="1" dirty="0"/>
              <a:t>		</a:t>
            </a:r>
            <a:r>
              <a:rPr lang="en-IN" sz="1900" i="1" dirty="0">
                <a:solidFill>
                  <a:srgbClr val="0000FF"/>
                </a:solidFill>
              </a:rPr>
              <a:t>support</a:t>
            </a:r>
            <a:r>
              <a:rPr lang="en-IN" sz="1900" dirty="0">
                <a:solidFill>
                  <a:srgbClr val="0000FF"/>
                </a:solidFill>
              </a:rPr>
              <a:t>(</a:t>
            </a:r>
            <a:r>
              <a:rPr lang="en-IN" sz="1900" i="1" dirty="0">
                <a:solidFill>
                  <a:srgbClr val="0000FF"/>
                </a:solidFill>
              </a:rPr>
              <a:t>A</a:t>
            </a:r>
            <a:r>
              <a:rPr lang="en-IN" sz="1900" dirty="0">
                <a:solidFill>
                  <a:srgbClr val="0000FF"/>
                </a:solidFill>
              </a:rPr>
              <a:t>⇒</a:t>
            </a:r>
            <a:r>
              <a:rPr lang="en-IN" sz="1900" i="1" dirty="0">
                <a:solidFill>
                  <a:srgbClr val="0000FF"/>
                </a:solidFill>
              </a:rPr>
              <a:t>B</a:t>
            </a:r>
            <a:r>
              <a:rPr lang="en-IN" sz="1900" dirty="0">
                <a:solidFill>
                  <a:srgbClr val="0000FF"/>
                </a:solidFill>
              </a:rPr>
              <a:t>)=</a:t>
            </a:r>
            <a:r>
              <a:rPr lang="en-IN" sz="1900" i="1" dirty="0">
                <a:solidFill>
                  <a:srgbClr val="0000FF"/>
                </a:solidFill>
              </a:rPr>
              <a:t>P</a:t>
            </a:r>
            <a:r>
              <a:rPr lang="en-IN" sz="1900" dirty="0">
                <a:solidFill>
                  <a:srgbClr val="0000FF"/>
                </a:solidFill>
              </a:rPr>
              <a:t>(</a:t>
            </a:r>
            <a:r>
              <a:rPr lang="en-IN" sz="1900" i="1" dirty="0">
                <a:solidFill>
                  <a:srgbClr val="0000FF"/>
                </a:solidFill>
              </a:rPr>
              <a:t>A</a:t>
            </a:r>
            <a:r>
              <a:rPr lang="en-IN" sz="1900" dirty="0">
                <a:solidFill>
                  <a:srgbClr val="0000FF"/>
                </a:solidFill>
              </a:rPr>
              <a:t>∪</a:t>
            </a:r>
            <a:r>
              <a:rPr lang="en-IN" sz="1900" i="1" dirty="0">
                <a:solidFill>
                  <a:srgbClr val="0000FF"/>
                </a:solidFill>
              </a:rPr>
              <a:t>B</a:t>
            </a:r>
            <a:r>
              <a:rPr lang="en-IN" sz="1900" dirty="0">
                <a:solidFill>
                  <a:srgbClr val="0000FF"/>
                </a:solidFill>
              </a:rPr>
              <a:t>) 		</a:t>
            </a:r>
            <a:r>
              <a:rPr lang="en-IN" sz="1900" i="1" dirty="0">
                <a:solidFill>
                  <a:srgbClr val="0000FF"/>
                </a:solidFill>
              </a:rPr>
              <a:t>confidence </a:t>
            </a:r>
            <a:r>
              <a:rPr lang="en-IN" sz="1900" dirty="0">
                <a:solidFill>
                  <a:srgbClr val="0000FF"/>
                </a:solidFill>
              </a:rPr>
              <a:t>(</a:t>
            </a:r>
            <a:r>
              <a:rPr lang="en-IN" sz="1900" i="1" dirty="0">
                <a:solidFill>
                  <a:srgbClr val="0000FF"/>
                </a:solidFill>
              </a:rPr>
              <a:t>A</a:t>
            </a:r>
            <a:r>
              <a:rPr lang="en-IN" sz="1900" dirty="0">
                <a:solidFill>
                  <a:srgbClr val="0000FF"/>
                </a:solidFill>
              </a:rPr>
              <a:t>⇒</a:t>
            </a:r>
            <a:r>
              <a:rPr lang="en-IN" sz="1900" i="1" dirty="0">
                <a:solidFill>
                  <a:srgbClr val="0000FF"/>
                </a:solidFill>
              </a:rPr>
              <a:t>B</a:t>
            </a:r>
            <a:r>
              <a:rPr lang="en-IN" sz="1900" dirty="0">
                <a:solidFill>
                  <a:srgbClr val="0000FF"/>
                </a:solidFill>
              </a:rPr>
              <a:t>) =</a:t>
            </a:r>
            <a:r>
              <a:rPr lang="en-IN" sz="1900" i="1" dirty="0">
                <a:solidFill>
                  <a:srgbClr val="0000FF"/>
                </a:solidFill>
              </a:rPr>
              <a:t>P</a:t>
            </a:r>
            <a:r>
              <a:rPr lang="en-IN" sz="1900" dirty="0">
                <a:solidFill>
                  <a:srgbClr val="0000FF"/>
                </a:solidFill>
              </a:rPr>
              <a:t>(</a:t>
            </a:r>
            <a:r>
              <a:rPr lang="en-IN" sz="1900" i="1" dirty="0">
                <a:solidFill>
                  <a:srgbClr val="0000FF"/>
                </a:solidFill>
              </a:rPr>
              <a:t>B</a:t>
            </a:r>
            <a:r>
              <a:rPr lang="en-IN" sz="1900" dirty="0">
                <a:solidFill>
                  <a:srgbClr val="0000FF"/>
                </a:solidFill>
              </a:rPr>
              <a:t>|</a:t>
            </a:r>
            <a:r>
              <a:rPr lang="en-IN" sz="1900" i="1" dirty="0">
                <a:solidFill>
                  <a:srgbClr val="0000FF"/>
                </a:solidFill>
              </a:rPr>
              <a:t>A</a:t>
            </a:r>
            <a:r>
              <a:rPr lang="en-IN" sz="1900" dirty="0">
                <a:solidFill>
                  <a:srgbClr val="0000FF"/>
                </a:solidFill>
              </a:rPr>
              <a:t>)</a:t>
            </a:r>
            <a:endParaRPr lang="en-GB" sz="1900" dirty="0">
              <a:solidFill>
                <a:srgbClr val="0000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BA0F7-11A8-6547-BE61-60BAD387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73BA-6B98-9245-B6AF-98E14863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4E57D5-6D91-774A-976B-411D0CC3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79" y="351631"/>
            <a:ext cx="9455993" cy="595282"/>
          </a:xfrm>
        </p:spPr>
        <p:txBody>
          <a:bodyPr/>
          <a:lstStyle/>
          <a:p>
            <a:r>
              <a:rPr lang="en-IN" dirty="0"/>
              <a:t>Frequent Itemsets, Closed Itemsets, </a:t>
            </a:r>
            <a:br>
              <a:rPr lang="en-IN" dirty="0"/>
            </a:br>
            <a:r>
              <a:rPr lang="en-IN" dirty="0"/>
              <a:t>and Association Rules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147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B63ED8-FE6C-D14A-A6E6-4076C8499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4603624"/>
          </a:xfrm>
        </p:spPr>
        <p:txBody>
          <a:bodyPr/>
          <a:lstStyle/>
          <a:p>
            <a:pPr algn="just">
              <a:defRPr/>
            </a:pPr>
            <a:r>
              <a:rPr lang="en-IN" sz="2400" dirty="0"/>
              <a:t>A set of items is referred to as an </a:t>
            </a:r>
            <a:r>
              <a:rPr lang="en-IN" sz="2400" b="1" dirty="0">
                <a:solidFill>
                  <a:srgbClr val="0000FF"/>
                </a:solidFill>
              </a:rPr>
              <a:t>itemset</a:t>
            </a:r>
            <a:r>
              <a:rPr lang="en-IN" sz="2400" dirty="0">
                <a:solidFill>
                  <a:srgbClr val="0000FF"/>
                </a:solidFill>
              </a:rPr>
              <a:t>.</a:t>
            </a:r>
          </a:p>
          <a:p>
            <a:pPr algn="just">
              <a:defRPr/>
            </a:pPr>
            <a:endParaRPr lang="en-IN" sz="2400" dirty="0"/>
          </a:p>
          <a:p>
            <a:pPr algn="just">
              <a:defRPr/>
            </a:pPr>
            <a:r>
              <a:rPr lang="en-IN" sz="2400" dirty="0"/>
              <a:t>An itemset that contains </a:t>
            </a:r>
            <a:r>
              <a:rPr lang="en-IN" sz="2400" i="1" dirty="0"/>
              <a:t>k </a:t>
            </a:r>
            <a:r>
              <a:rPr lang="en-IN" sz="2400" dirty="0"/>
              <a:t>items is a </a:t>
            </a:r>
            <a:r>
              <a:rPr lang="en-IN" sz="2400" b="1" i="1" dirty="0">
                <a:solidFill>
                  <a:srgbClr val="FF0000"/>
                </a:solidFill>
              </a:rPr>
              <a:t>k</a:t>
            </a:r>
            <a:r>
              <a:rPr lang="en-IN" sz="2400" b="1" dirty="0">
                <a:solidFill>
                  <a:srgbClr val="FF0000"/>
                </a:solidFill>
              </a:rPr>
              <a:t>-itemset</a:t>
            </a:r>
            <a:r>
              <a:rPr lang="en-IN" sz="2400" dirty="0">
                <a:solidFill>
                  <a:srgbClr val="FF0000"/>
                </a:solidFill>
              </a:rPr>
              <a:t>. </a:t>
            </a:r>
          </a:p>
          <a:p>
            <a:pPr algn="just">
              <a:defRPr/>
            </a:pPr>
            <a:endParaRPr lang="en-IN" sz="2400" dirty="0"/>
          </a:p>
          <a:p>
            <a:pPr algn="just">
              <a:defRPr/>
            </a:pPr>
            <a:r>
              <a:rPr lang="en-IN" sz="2400" dirty="0"/>
              <a:t>Ex:</a:t>
            </a:r>
            <a:r>
              <a:rPr lang="en-IN" sz="2400" dirty="0">
                <a:solidFill>
                  <a:srgbClr val="FF0000"/>
                </a:solidFill>
              </a:rPr>
              <a:t> </a:t>
            </a:r>
            <a:r>
              <a:rPr lang="en-IN" sz="2400" dirty="0"/>
              <a:t>The set {</a:t>
            </a:r>
            <a:r>
              <a:rPr lang="en-IN" sz="2400" i="1" dirty="0"/>
              <a:t>computer, antivirus software</a:t>
            </a:r>
            <a:r>
              <a:rPr lang="en-IN" sz="2400" dirty="0"/>
              <a:t>} is a </a:t>
            </a:r>
            <a:r>
              <a:rPr lang="en-IN" sz="2400" b="1" dirty="0">
                <a:solidFill>
                  <a:srgbClr val="0000FF"/>
                </a:solidFill>
              </a:rPr>
              <a:t>2-itemset. </a:t>
            </a:r>
          </a:p>
          <a:p>
            <a:pPr algn="just">
              <a:defRPr/>
            </a:pPr>
            <a:endParaRPr lang="en-IN" sz="2400" dirty="0"/>
          </a:p>
          <a:p>
            <a:pPr algn="just">
              <a:defRPr/>
            </a:pPr>
            <a:r>
              <a:rPr lang="en-IN" sz="2400" dirty="0"/>
              <a:t>The </a:t>
            </a:r>
            <a:r>
              <a:rPr lang="en-IN" sz="2400" b="1" dirty="0">
                <a:solidFill>
                  <a:srgbClr val="FF0000"/>
                </a:solidFill>
              </a:rPr>
              <a:t>occurrence frequency of an itemset </a:t>
            </a:r>
            <a:r>
              <a:rPr lang="en-IN" sz="2400" dirty="0"/>
              <a:t>is the number of transactions that contain the itemset. (</a:t>
            </a:r>
            <a:r>
              <a:rPr lang="en-IN" sz="2400" b="1" dirty="0">
                <a:solidFill>
                  <a:srgbClr val="FF0000"/>
                </a:solidFill>
              </a:rPr>
              <a:t>frequency</a:t>
            </a:r>
            <a:r>
              <a:rPr lang="en-IN" sz="2400" dirty="0">
                <a:solidFill>
                  <a:srgbClr val="FF0000"/>
                </a:solidFill>
              </a:rPr>
              <a:t>, </a:t>
            </a:r>
            <a:r>
              <a:rPr lang="en-IN" sz="2400" b="1" dirty="0">
                <a:solidFill>
                  <a:srgbClr val="FF0000"/>
                </a:solidFill>
              </a:rPr>
              <a:t>support count</a:t>
            </a:r>
            <a:r>
              <a:rPr lang="en-IN" sz="2400" dirty="0">
                <a:solidFill>
                  <a:srgbClr val="FF0000"/>
                </a:solidFill>
              </a:rPr>
              <a:t>, or </a:t>
            </a:r>
            <a:r>
              <a:rPr lang="en-IN" sz="2400" b="1" dirty="0">
                <a:solidFill>
                  <a:srgbClr val="FF0000"/>
                </a:solidFill>
              </a:rPr>
              <a:t>count </a:t>
            </a:r>
            <a:r>
              <a:rPr lang="en-IN" sz="2400" dirty="0"/>
              <a:t>of the itemset).</a:t>
            </a:r>
          </a:p>
          <a:p>
            <a:pPr marL="0" indent="0" algn="just">
              <a:buNone/>
              <a:defRPr/>
            </a:pPr>
            <a:endParaRPr lang="en-IN" sz="1900" dirty="0"/>
          </a:p>
          <a:p>
            <a:pPr algn="just">
              <a:defRPr/>
            </a:pPr>
            <a:endParaRPr lang="en-GB" sz="19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BA0F7-11A8-6547-BE61-60BAD387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73BA-6B98-9245-B6AF-98E14863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4E57D5-6D91-774A-976B-411D0CC3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Frequent Itemsets, Closed Itemsets, 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and Association Rules 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89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62C1F6-26FE-4B8C-9424-3709B5A3F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5289424"/>
          </a:xfrm>
        </p:spPr>
        <p:txBody>
          <a:bodyPr/>
          <a:lstStyle/>
          <a:p>
            <a:r>
              <a:rPr lang="en-US" dirty="0"/>
              <a:t>(absolute) support of X :</a:t>
            </a:r>
          </a:p>
          <a:p>
            <a:pPr lvl="1"/>
            <a:r>
              <a:rPr lang="en-US" dirty="0"/>
              <a:t> </a:t>
            </a:r>
            <a:r>
              <a:rPr lang="en-US" b="0" i="0" dirty="0">
                <a:solidFill>
                  <a:srgbClr val="585858"/>
                </a:solidFill>
                <a:effectLst/>
                <a:latin typeface="arial" panose="020B0604020202020204" pitchFamily="34" charset="0"/>
              </a:rPr>
              <a:t>The number of transactions which</a:t>
            </a:r>
          </a:p>
          <a:p>
            <a:pPr marL="404300" lvl="1" indent="0">
              <a:buNone/>
            </a:pPr>
            <a:r>
              <a:rPr lang="en-US" dirty="0">
                <a:solidFill>
                  <a:srgbClr val="585858"/>
                </a:solidFill>
                <a:latin typeface="arial" panose="020B0604020202020204" pitchFamily="34" charset="0"/>
              </a:rPr>
              <a:t>     </a:t>
            </a:r>
            <a:r>
              <a:rPr lang="en-US" b="0" i="0" dirty="0">
                <a:solidFill>
                  <a:srgbClr val="585858"/>
                </a:solidFill>
                <a:effectLst/>
                <a:latin typeface="arial" panose="020B0604020202020204" pitchFamily="34" charset="0"/>
              </a:rPr>
              <a:t> contains an item. </a:t>
            </a:r>
            <a:r>
              <a:rPr lang="en-US" dirty="0"/>
              <a:t>X.</a:t>
            </a:r>
          </a:p>
          <a:p>
            <a:r>
              <a:rPr lang="en-US" dirty="0"/>
              <a:t>Absolute Support of {</a:t>
            </a:r>
            <a:r>
              <a:rPr lang="en-US" dirty="0" err="1"/>
              <a:t>cerelac</a:t>
            </a:r>
            <a:r>
              <a:rPr lang="en-US" dirty="0"/>
              <a:t>} is 3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(relative) support of X :</a:t>
            </a:r>
          </a:p>
          <a:p>
            <a:pPr lvl="1"/>
            <a:r>
              <a:rPr lang="en-US" dirty="0"/>
              <a:t>is the fraction of transactions that contains X  relative to the total transactions.</a:t>
            </a:r>
          </a:p>
          <a:p>
            <a:pPr lvl="1"/>
            <a:r>
              <a:rPr lang="en-US" dirty="0"/>
              <a:t>Relative Support of {</a:t>
            </a:r>
            <a:r>
              <a:rPr lang="en-US" dirty="0" err="1"/>
              <a:t>cerelac</a:t>
            </a:r>
            <a:r>
              <a:rPr lang="en-US" dirty="0"/>
              <a:t>} is 3/5</a:t>
            </a:r>
          </a:p>
          <a:p>
            <a:pPr lvl="1"/>
            <a:endParaRPr lang="en-IN" sz="2000" dirty="0"/>
          </a:p>
          <a:p>
            <a:r>
              <a:rPr lang="en-IN" dirty="0"/>
              <a:t>If the relative support of an itemset </a:t>
            </a:r>
            <a:r>
              <a:rPr lang="en-IN" i="1" dirty="0"/>
              <a:t>I </a:t>
            </a:r>
            <a:r>
              <a:rPr lang="en-IN" dirty="0"/>
              <a:t>satisfies a prespecified </a:t>
            </a:r>
            <a:r>
              <a:rPr lang="en-IN" b="1" dirty="0">
                <a:solidFill>
                  <a:srgbClr val="FF0000"/>
                </a:solidFill>
              </a:rPr>
              <a:t>minimum support threshold,</a:t>
            </a:r>
            <a:r>
              <a:rPr lang="en-IN" dirty="0"/>
              <a:t> then </a:t>
            </a:r>
            <a:r>
              <a:rPr lang="en-IN" i="1" dirty="0"/>
              <a:t>I </a:t>
            </a:r>
            <a:r>
              <a:rPr lang="en-IN" dirty="0"/>
              <a:t>is a </a:t>
            </a:r>
            <a:r>
              <a:rPr lang="en-IN" b="1" dirty="0">
                <a:solidFill>
                  <a:srgbClr val="FF0000"/>
                </a:solidFill>
              </a:rPr>
              <a:t>frequent </a:t>
            </a:r>
            <a:r>
              <a:rPr lang="en-IN" dirty="0">
                <a:solidFill>
                  <a:srgbClr val="FF0000"/>
                </a:solidFill>
              </a:rPr>
              <a:t>itemset.</a:t>
            </a:r>
          </a:p>
          <a:p>
            <a:pPr lvl="1"/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A5441-9914-4C66-9DDC-EE0E1B7C8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BE87C-C894-4909-8824-DAC074CB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75C832-691F-4C2A-9F87-8890040FE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</a:t>
            </a:r>
            <a:endParaRPr lang="en-IN" dirty="0"/>
          </a:p>
        </p:txBody>
      </p:sp>
      <p:graphicFrame>
        <p:nvGraphicFramePr>
          <p:cNvPr id="6" name="Group 44">
            <a:extLst>
              <a:ext uri="{FF2B5EF4-FFF2-40B4-BE49-F238E27FC236}">
                <a16:creationId xmlns:a16="http://schemas.microsoft.com/office/drawing/2014/main" id="{D030BA49-DF83-4347-90FA-24CD2BC52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877652"/>
              </p:ext>
            </p:extLst>
          </p:nvPr>
        </p:nvGraphicFramePr>
        <p:xfrm>
          <a:off x="6358323" y="1884280"/>
          <a:ext cx="3886200" cy="2130424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Items bought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cerelac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Nuts,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cerelac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Coffee, Diaper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cerelac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Diaper, Eggs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Nuts, Coffee, Diaper, Eggs, Milk</a:t>
                      </a:r>
                    </a:p>
                  </a:txBody>
                  <a:tcPr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254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5B63ED8-FE6C-D14A-A6E6-4076C8499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4679824"/>
          </a:xfrm>
        </p:spPr>
        <p:txBody>
          <a:bodyPr/>
          <a:lstStyle/>
          <a:p>
            <a:pPr algn="just"/>
            <a:r>
              <a:rPr lang="en-IN" altLang="en-US" sz="2400" dirty="0"/>
              <a:t>In general, association rule mining can be viewed as a two-step process:</a:t>
            </a:r>
          </a:p>
          <a:p>
            <a:pPr lvl="1" algn="just"/>
            <a:r>
              <a:rPr lang="en-IN" altLang="en-US" sz="2400" b="1" dirty="0">
                <a:solidFill>
                  <a:srgbClr val="FF0000"/>
                </a:solidFill>
              </a:rPr>
              <a:t>Find all frequent </a:t>
            </a:r>
            <a:r>
              <a:rPr lang="en-IN" altLang="en-US" sz="2400" b="1" dirty="0" err="1">
                <a:solidFill>
                  <a:srgbClr val="FF0000"/>
                </a:solidFill>
              </a:rPr>
              <a:t>itemsets</a:t>
            </a:r>
            <a:r>
              <a:rPr lang="en-IN" altLang="en-US" sz="2400" b="1" dirty="0">
                <a:solidFill>
                  <a:srgbClr val="FF0000"/>
                </a:solidFill>
              </a:rPr>
              <a:t>: </a:t>
            </a:r>
          </a:p>
          <a:p>
            <a:pPr lvl="2" algn="just"/>
            <a:r>
              <a:rPr lang="en-IN" altLang="en-US" sz="2400" dirty="0"/>
              <a:t>By definition, each of these </a:t>
            </a:r>
            <a:r>
              <a:rPr lang="en-IN" altLang="en-US" sz="2400" dirty="0" err="1"/>
              <a:t>itemsets</a:t>
            </a:r>
            <a:r>
              <a:rPr lang="en-IN" altLang="en-US" sz="2400" dirty="0"/>
              <a:t> will occur at least as frequently as a predetermined minimum support count, </a:t>
            </a:r>
            <a:r>
              <a:rPr lang="en-IN" altLang="en-US" sz="2400" i="1" dirty="0"/>
              <a:t>min sup</a:t>
            </a:r>
            <a:r>
              <a:rPr lang="en-IN" altLang="en-US" sz="2400" dirty="0"/>
              <a:t>.</a:t>
            </a:r>
          </a:p>
          <a:p>
            <a:pPr lvl="1" algn="just"/>
            <a:r>
              <a:rPr lang="en-IN" altLang="en-US" sz="2400" b="1" dirty="0">
                <a:solidFill>
                  <a:srgbClr val="FF0000"/>
                </a:solidFill>
              </a:rPr>
              <a:t>Generate strong association rules from the frequent </a:t>
            </a:r>
            <a:r>
              <a:rPr lang="en-IN" altLang="en-US" sz="2400" b="1" dirty="0" err="1">
                <a:solidFill>
                  <a:srgbClr val="FF0000"/>
                </a:solidFill>
              </a:rPr>
              <a:t>itemsets</a:t>
            </a:r>
            <a:r>
              <a:rPr lang="en-IN" altLang="en-US" sz="2400" b="1" dirty="0">
                <a:solidFill>
                  <a:srgbClr val="FF0000"/>
                </a:solidFill>
              </a:rPr>
              <a:t>: </a:t>
            </a:r>
          </a:p>
          <a:p>
            <a:pPr lvl="2" algn="just"/>
            <a:r>
              <a:rPr lang="en-IN" altLang="en-US" sz="2400" dirty="0"/>
              <a:t>By definition, these rules must satisfy minimum support and minimum confidence. </a:t>
            </a:r>
          </a:p>
          <a:p>
            <a:pPr algn="just">
              <a:defRPr/>
            </a:pPr>
            <a:endParaRPr lang="en-GB" sz="19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BA0F7-11A8-6547-BE61-60BAD387B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A73BA-6B98-9245-B6AF-98E14863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54E57D5-6D91-774A-976B-411D0CC3F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Frequent Itemsets, Closed Itemsets, </a:t>
            </a:r>
            <a:br>
              <a:rPr lang="en-IN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and Association Rules </a:t>
            </a:r>
            <a:endParaRPr lang="en-GB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68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8A47F7-8D50-0049-BAB5-9B22E975F8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513" y="1615407"/>
            <a:ext cx="9455993" cy="4756024"/>
          </a:xfrm>
        </p:spPr>
        <p:txBody>
          <a:bodyPr/>
          <a:lstStyle/>
          <a:p>
            <a:pPr algn="just">
              <a:spcAft>
                <a:spcPts val="1200"/>
              </a:spcAft>
            </a:pPr>
            <a:r>
              <a:rPr lang="en-IN" sz="2400" dirty="0"/>
              <a:t>A major </a:t>
            </a:r>
            <a:r>
              <a:rPr lang="en-IN" sz="2400" dirty="0">
                <a:solidFill>
                  <a:srgbClr val="FF0000"/>
                </a:solidFill>
              </a:rPr>
              <a:t>challenge</a:t>
            </a:r>
            <a:r>
              <a:rPr lang="en-IN" sz="2400" dirty="0"/>
              <a:t> in mining frequent </a:t>
            </a:r>
            <a:r>
              <a:rPr lang="en-IN" sz="2400" dirty="0" err="1"/>
              <a:t>itemsets</a:t>
            </a:r>
            <a:r>
              <a:rPr lang="en-IN" sz="2400" dirty="0"/>
              <a:t> </a:t>
            </a:r>
            <a:r>
              <a:rPr lang="en-IN" sz="2400" dirty="0">
                <a:solidFill>
                  <a:srgbClr val="FF0000"/>
                </a:solidFill>
              </a:rPr>
              <a:t>from a large data set </a:t>
            </a:r>
            <a:r>
              <a:rPr lang="en-IN" sz="2400" dirty="0"/>
              <a:t>is the fact that such mining often </a:t>
            </a:r>
            <a:r>
              <a:rPr lang="en-IN" sz="2400" dirty="0">
                <a:solidFill>
                  <a:srgbClr val="FF0000"/>
                </a:solidFill>
              </a:rPr>
              <a:t>generates a huge number of </a:t>
            </a:r>
            <a:r>
              <a:rPr lang="en-IN" sz="2400" dirty="0" err="1">
                <a:solidFill>
                  <a:srgbClr val="FF0000"/>
                </a:solidFill>
              </a:rPr>
              <a:t>itemsets</a:t>
            </a:r>
            <a:r>
              <a:rPr lang="en-IN" sz="2400" dirty="0">
                <a:solidFill>
                  <a:srgbClr val="FF0000"/>
                </a:solidFill>
              </a:rPr>
              <a:t> </a:t>
            </a:r>
            <a:r>
              <a:rPr lang="en-IN" sz="2400" dirty="0"/>
              <a:t>satisfying the </a:t>
            </a:r>
            <a:r>
              <a:rPr lang="en-IN" sz="2400" dirty="0">
                <a:solidFill>
                  <a:srgbClr val="FF0000"/>
                </a:solidFill>
              </a:rPr>
              <a:t>minimum support (</a:t>
            </a:r>
            <a:r>
              <a:rPr lang="en-IN" sz="2400" i="1" dirty="0">
                <a:solidFill>
                  <a:srgbClr val="FF0000"/>
                </a:solidFill>
              </a:rPr>
              <a:t>min sup</a:t>
            </a:r>
            <a:r>
              <a:rPr lang="en-IN" sz="2400" dirty="0">
                <a:solidFill>
                  <a:srgbClr val="FF0000"/>
                </a:solidFill>
              </a:rPr>
              <a:t>) threshold, especially when </a:t>
            </a:r>
            <a:r>
              <a:rPr lang="en-IN" sz="2400" i="1" dirty="0">
                <a:solidFill>
                  <a:srgbClr val="FF0000"/>
                </a:solidFill>
              </a:rPr>
              <a:t>min sup </a:t>
            </a:r>
            <a:r>
              <a:rPr lang="en-IN" sz="2400" dirty="0">
                <a:solidFill>
                  <a:srgbClr val="FF0000"/>
                </a:solidFill>
              </a:rPr>
              <a:t>is set low. </a:t>
            </a:r>
          </a:p>
          <a:p>
            <a:pPr algn="just">
              <a:spcAft>
                <a:spcPts val="1200"/>
              </a:spcAft>
            </a:pPr>
            <a:endParaRPr lang="en-IN" sz="2400" dirty="0"/>
          </a:p>
          <a:p>
            <a:pPr algn="just">
              <a:spcAft>
                <a:spcPts val="1200"/>
              </a:spcAft>
            </a:pPr>
            <a:r>
              <a:rPr lang="en-IN" sz="2400" dirty="0"/>
              <a:t>This is because if </a:t>
            </a:r>
            <a:r>
              <a:rPr lang="en-IN" sz="2400" b="1" dirty="0">
                <a:solidFill>
                  <a:schemeClr val="accent6"/>
                </a:solidFill>
              </a:rPr>
              <a:t>an itemset is frequent</a:t>
            </a:r>
            <a:r>
              <a:rPr lang="en-IN" sz="2400" dirty="0"/>
              <a:t>, each of its </a:t>
            </a:r>
            <a:r>
              <a:rPr lang="en-IN" sz="2400" b="1" dirty="0">
                <a:solidFill>
                  <a:schemeClr val="accent6"/>
                </a:solidFill>
              </a:rPr>
              <a:t>subsets is frequent as well. </a:t>
            </a:r>
          </a:p>
          <a:p>
            <a:pPr algn="just">
              <a:spcAft>
                <a:spcPts val="1200"/>
              </a:spcAft>
            </a:pPr>
            <a:endParaRPr lang="en-IN" altLang="en-US" sz="2400" dirty="0"/>
          </a:p>
          <a:p>
            <a:pPr algn="just">
              <a:spcAft>
                <a:spcPts val="1200"/>
              </a:spcAft>
            </a:pPr>
            <a:r>
              <a:rPr lang="en-IN" altLang="en-US" sz="2400" dirty="0"/>
              <a:t>A long itemset will contain a </a:t>
            </a:r>
            <a:r>
              <a:rPr lang="en-IN" altLang="en-US" sz="2400" b="1" dirty="0">
                <a:solidFill>
                  <a:srgbClr val="0000FF"/>
                </a:solidFill>
              </a:rPr>
              <a:t>combinatorial number of shorter, frequent sub-</a:t>
            </a:r>
            <a:r>
              <a:rPr lang="en-IN" altLang="en-US" sz="2400" b="1" dirty="0" err="1">
                <a:solidFill>
                  <a:srgbClr val="0000FF"/>
                </a:solidFill>
              </a:rPr>
              <a:t>itemsets</a:t>
            </a:r>
            <a:r>
              <a:rPr lang="en-IN" altLang="en-US" sz="2400" b="1" dirty="0">
                <a:solidFill>
                  <a:srgbClr val="0000FF"/>
                </a:solidFill>
              </a:rPr>
              <a:t>. </a:t>
            </a:r>
          </a:p>
          <a:p>
            <a:pPr marL="0" indent="0" algn="just">
              <a:spcAft>
                <a:spcPts val="1200"/>
              </a:spcAft>
              <a:buNone/>
            </a:pPr>
            <a:endParaRPr lang="en-IN" altLang="en-US" sz="2400" dirty="0">
              <a:solidFill>
                <a:srgbClr val="FF0000"/>
              </a:solidFill>
            </a:endParaRPr>
          </a:p>
          <a:p>
            <a:pPr algn="just">
              <a:spcAft>
                <a:spcPts val="1200"/>
              </a:spcAft>
            </a:pPr>
            <a:endParaRPr lang="en-IN" sz="2400" dirty="0"/>
          </a:p>
          <a:p>
            <a:pPr algn="just">
              <a:spcAft>
                <a:spcPts val="1200"/>
              </a:spcAft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8F7A7-AE2B-7343-B58E-BB377DB8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238FC-6CF8-E441-AD3C-531125C5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D6C329-80A5-0549-8D5D-E2FCE2DB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Closed Patterns and Max-Patterns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9432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58A47F7-8D50-0049-BAB5-9B22E975F8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How many frequent itemsets does the following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𝑇𝐷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contain?</a:t>
                </a:r>
              </a:p>
              <a:p>
                <a:pPr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Assuming(absolute)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minsup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=1</a:t>
                </a:r>
              </a:p>
              <a:p>
                <a:pPr lvl="1"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Let’s have a try</a:t>
                </a:r>
              </a:p>
              <a:p>
                <a:pPr lvl="1" algn="just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𝑇𝐷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; 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1-itemsets: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2, 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:2, …,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:2,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51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:1, …,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:1</m:t>
                    </m:r>
                  </m:oMath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2-itemsets: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:2, …,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:2,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51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:1 …,…,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…, …, …,</a:t>
                </a: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99-itemsets: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99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:1,…, 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:1</m:t>
                    </m:r>
                  </m:oMath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100-itemset:{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}: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pPr algn="just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total: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 …+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eqAr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1.27 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1030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𝑆𝑢𝑏𝑝𝑎𝑡𝑡𝑒𝑟𝑛𝑠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pPr>
                  <a:buClr>
                    <a:srgbClr val="FF0000"/>
                  </a:buClr>
                  <a:buFont typeface="Wingdings" panose="05000000000000000000" pitchFamily="2" charset="2"/>
                  <a:buChar char="q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altLang="en-US" dirty="0">
                  <a:solidFill>
                    <a:srgbClr val="FF0000"/>
                  </a:solidFill>
                </a:endParaRPr>
              </a:p>
              <a:p>
                <a:pPr algn="just"/>
                <a:endParaRPr lang="en-IN" altLang="en-US" dirty="0">
                  <a:solidFill>
                    <a:srgbClr val="FF0000"/>
                  </a:solidFill>
                </a:endParaRPr>
              </a:p>
              <a:p>
                <a:pPr algn="just"/>
                <a:endParaRPr lang="en-IN" dirty="0"/>
              </a:p>
              <a:p>
                <a:pPr algn="just"/>
                <a:endParaRPr lang="en-GB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58A47F7-8D50-0049-BAB5-9B22E975F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706" b="-1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8F7A7-AE2B-7343-B58E-BB377DB8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238FC-6CF8-E441-AD3C-531125C5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D6C329-80A5-0549-8D5D-E2FCE2DB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Closed Patterns and Max-Patterns</a:t>
            </a:r>
            <a:endParaRPr lang="en-GB" dirty="0"/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05559DB7-0FD3-8244-B547-75DBA11B3A99}"/>
              </a:ext>
            </a:extLst>
          </p:cNvPr>
          <p:cNvSpPr/>
          <p:nvPr/>
        </p:nvSpPr>
        <p:spPr>
          <a:xfrm rot="4564490">
            <a:off x="8186659" y="6198168"/>
            <a:ext cx="416460" cy="365760"/>
          </a:xfrm>
          <a:prstGeom prst="downArrow">
            <a:avLst/>
          </a:prstGeom>
          <a:solidFill>
            <a:srgbClr val="0096B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A240DE-3010-B444-9864-8CAE5A6BC8FE}"/>
              </a:ext>
            </a:extLst>
          </p:cNvPr>
          <p:cNvSpPr/>
          <p:nvPr/>
        </p:nvSpPr>
        <p:spPr>
          <a:xfrm>
            <a:off x="8622506" y="5457032"/>
            <a:ext cx="1881052" cy="1200014"/>
          </a:xfrm>
          <a:prstGeom prst="rect">
            <a:avLst/>
          </a:prstGeom>
          <a:solidFill>
            <a:srgbClr val="0096B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too huge set for</a:t>
            </a:r>
          </a:p>
          <a:p>
            <a:pPr algn="ctr"/>
            <a:r>
              <a:rPr lang="en-US" sz="17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Any computer to compute or store!</a:t>
            </a:r>
            <a:endParaRPr lang="en-US" sz="17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59DFCC-CBE1-C723-2FE0-10F417380842}"/>
              </a:ext>
            </a:extLst>
          </p:cNvPr>
          <p:cNvSpPr txBox="1"/>
          <p:nvPr/>
        </p:nvSpPr>
        <p:spPr>
          <a:xfrm>
            <a:off x="6713909" y="2540626"/>
            <a:ext cx="3817194" cy="41549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en-US" dirty="0">
                <a:solidFill>
                  <a:srgbClr val="0000FF"/>
                </a:solidFill>
              </a:rPr>
              <a:t>Solution: Mine closed patterns </a:t>
            </a:r>
          </a:p>
        </p:txBody>
      </p:sp>
    </p:spTree>
    <p:extLst>
      <p:ext uri="{BB962C8B-B14F-4D97-AF65-F5344CB8AC3E}">
        <p14:creationId xmlns:p14="http://schemas.microsoft.com/office/powerpoint/2010/main" val="379334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8F7A7-AE2B-7343-B58E-BB377DB8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238FC-6CF8-E441-AD3C-531125C5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D6C329-80A5-0549-8D5D-E2FCE2DB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Closed Patterns and Max-Patterns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91608F-FA92-1152-E95A-C6EFB338D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06" y="2356764"/>
            <a:ext cx="10258425" cy="335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75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8F7A7-AE2B-7343-B58E-BB377DB8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238FC-6CF8-E441-AD3C-531125C5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D6C329-80A5-0549-8D5D-E2FCE2DB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Closed Patterns and Max-Patterns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D4792-6CFC-E6F3-9ECB-24BFA03A1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13" y="1723231"/>
            <a:ext cx="953219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75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8F7A7-AE2B-7343-B58E-BB377DB8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238FC-6CF8-E441-AD3C-531125C5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D6C329-80A5-0549-8D5D-E2FCE2DB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Closed Patterns and Max-Patterns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91FC8B-D37A-161C-45FE-99EB732A8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497" y="1723231"/>
            <a:ext cx="5929409" cy="51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07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8F7A7-AE2B-7343-B58E-BB377DB8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238FC-6CF8-E441-AD3C-531125C5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D6C329-80A5-0549-8D5D-E2FCE2DB9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106" y="275431"/>
            <a:ext cx="8153399" cy="595282"/>
          </a:xfrm>
        </p:spPr>
        <p:txBody>
          <a:bodyPr/>
          <a:lstStyle/>
          <a:p>
            <a:r>
              <a:rPr lang="en-US" altLang="en-US" dirty="0"/>
              <a:t>Closed Patterns and Max-Patterns - Example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D210A6-D7C3-B7E2-97C0-BA970D234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06" y="1632616"/>
            <a:ext cx="9677400" cy="5181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05A34C-1BF7-BB2D-A42D-7351A675BAD4}"/>
              </a:ext>
            </a:extLst>
          </p:cNvPr>
          <p:cNvSpPr txBox="1"/>
          <p:nvPr/>
        </p:nvSpPr>
        <p:spPr>
          <a:xfrm>
            <a:off x="7448609" y="1799431"/>
            <a:ext cx="381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05746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8F7A7-AE2B-7343-B58E-BB377DB85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5238FC-6CF8-E441-AD3C-531125C5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ED6C329-80A5-0549-8D5D-E2FCE2DB9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106" y="275431"/>
            <a:ext cx="8153399" cy="595282"/>
          </a:xfrm>
        </p:spPr>
        <p:txBody>
          <a:bodyPr/>
          <a:lstStyle/>
          <a:p>
            <a:r>
              <a:rPr lang="en-US" altLang="en-US" dirty="0"/>
              <a:t>Closed Patterns and Max-Patterns - Example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2FC3E1-CEAB-5DFD-4D90-5198C092E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53563"/>
            <a:ext cx="10691813" cy="425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45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210C9-F6DA-5BA4-D5C6-0543ED113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D7FD1-EAA8-550D-5AFB-A3B10CA88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682178-33DB-3F51-2A89-0FFC281F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06" y="275431"/>
            <a:ext cx="7619999" cy="595282"/>
          </a:xfrm>
        </p:spPr>
        <p:txBody>
          <a:bodyPr/>
          <a:lstStyle/>
          <a:p>
            <a:r>
              <a:rPr lang="en-US" altLang="en-US" dirty="0"/>
              <a:t>Closed Patterns and Max-Patterns - Example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5BD9D2-8E0F-559E-046E-EA27BDC68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71" y="1866817"/>
            <a:ext cx="3343275" cy="42957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72EFB6-B6AD-E852-B3B4-96C4A75B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955" y="2492742"/>
            <a:ext cx="6338983" cy="30099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760DEC-202D-A4CD-41F6-5E44112CEF0B}"/>
              </a:ext>
            </a:extLst>
          </p:cNvPr>
          <p:cNvCxnSpPr/>
          <p:nvPr/>
        </p:nvCxnSpPr>
        <p:spPr>
          <a:xfrm flipH="1">
            <a:off x="6488906" y="4542631"/>
            <a:ext cx="76200" cy="30480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8AD367-9B51-C7AB-1FA5-BCEEB57D6631}"/>
              </a:ext>
            </a:extLst>
          </p:cNvPr>
          <p:cNvSpPr txBox="1"/>
          <p:nvPr/>
        </p:nvSpPr>
        <p:spPr>
          <a:xfrm>
            <a:off x="6577012" y="4542631"/>
            <a:ext cx="381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00828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F688B9-9C43-898F-E0D9-FAEF4E08E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38" y="2104231"/>
            <a:ext cx="9455993" cy="1143000"/>
          </a:xfrm>
        </p:spPr>
        <p:txBody>
          <a:bodyPr/>
          <a:lstStyle/>
          <a:p>
            <a:r>
              <a:rPr lang="en-IN" sz="2800" dirty="0">
                <a:hlinkClick r:id="rId2"/>
              </a:rPr>
              <a:t>https://www.youtube.com/watch?v=HuXyvETwoUo</a:t>
            </a:r>
            <a:r>
              <a:rPr lang="en-IN" sz="2800" dirty="0"/>
              <a:t> </a:t>
            </a:r>
          </a:p>
          <a:p>
            <a:r>
              <a:rPr lang="en-IN" sz="2800" dirty="0"/>
              <a:t>https://www.youtube.com/watch?v=OEupexDlgv0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2D75FD-06BE-04F3-94EB-A7825AE4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accent6"/>
                </a:solidFill>
              </a:rPr>
              <a:t>INT303R01 - Data Warehousing &amp; Data 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CAE81-0880-AF4B-B112-55BF4889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fld id="{BA2E3CA0-9883-9540-98C5-1942E9569F88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BF76E9-1359-DA38-BB06-322C4F0E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706" y="275431"/>
            <a:ext cx="7543799" cy="595282"/>
          </a:xfrm>
        </p:spPr>
        <p:txBody>
          <a:bodyPr/>
          <a:lstStyle/>
          <a:p>
            <a:r>
              <a:rPr lang="en-IN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97941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1379DA-17C0-B9BD-E3CF-0282467738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05" y="46832"/>
            <a:ext cx="10363201" cy="2094470"/>
          </a:xfrm>
          <a:prstGeom prst="rect">
            <a:avLst/>
          </a:prstGeom>
        </p:spPr>
      </p:pic>
      <p:pic>
        <p:nvPicPr>
          <p:cNvPr id="1026" name="Picture 2" descr="Thank You Images After PPT Presentation &amp; Google Slides">
            <a:extLst>
              <a:ext uri="{FF2B5EF4-FFF2-40B4-BE49-F238E27FC236}">
                <a16:creationId xmlns:a16="http://schemas.microsoft.com/office/drawing/2014/main" id="{7F6C2221-0919-61CB-AF1B-9A7DD737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05" y="2485231"/>
            <a:ext cx="9982201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722093"/>
      </p:ext>
    </p:extLst>
  </p:cSld>
  <p:clrMapOvr>
    <a:masterClrMapping/>
  </p:clrMapOvr>
  <p:transition>
    <p:zoom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16x9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04OLAP</Template>
  <TotalTime>22412</TotalTime>
  <Words>1819</Words>
  <Application>Microsoft Office PowerPoint</Application>
  <PresentationFormat>Custom</PresentationFormat>
  <Paragraphs>229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Arial</vt:lpstr>
      <vt:lpstr>Arial</vt:lpstr>
      <vt:lpstr>Calibri</vt:lpstr>
      <vt:lpstr>Cambria</vt:lpstr>
      <vt:lpstr>Cambria Math</vt:lpstr>
      <vt:lpstr>Nunito</vt:lpstr>
      <vt:lpstr>Symbol</vt:lpstr>
      <vt:lpstr>Tahoma</vt:lpstr>
      <vt:lpstr>Times New Roman</vt:lpstr>
      <vt:lpstr>Tw Cen MT</vt:lpstr>
      <vt:lpstr>Wingdings</vt:lpstr>
      <vt:lpstr>Wingdings 2</vt:lpstr>
      <vt:lpstr>WidescreenPresentation16x9</vt:lpstr>
      <vt:lpstr>PowerPoint Presentation</vt:lpstr>
      <vt:lpstr>Mining Frequent Patterns, Associations,  and Correlations</vt:lpstr>
      <vt:lpstr>Example - Scenario</vt:lpstr>
      <vt:lpstr>Association Rule Mining</vt:lpstr>
      <vt:lpstr>Mining Frequent Patterns, Associations,  and Correlations</vt:lpstr>
      <vt:lpstr>Market Basket Analysis:  A Motivating Example </vt:lpstr>
      <vt:lpstr>Market Basket Analysis:  A Motivating Example </vt:lpstr>
      <vt:lpstr> How to calculate support and confidence in data mining?</vt:lpstr>
      <vt:lpstr> Support and Confidence</vt:lpstr>
      <vt:lpstr>Support and Confidence</vt:lpstr>
      <vt:lpstr>Example</vt:lpstr>
      <vt:lpstr>Frequent Itemsets, Closed Itemsets,  and Association Rules </vt:lpstr>
      <vt:lpstr>Frequent Itemsets, Closed Itemsets,  and Association Rules </vt:lpstr>
      <vt:lpstr>Support</vt:lpstr>
      <vt:lpstr>Frequent Itemsets, Closed Itemsets,  and Association Rules </vt:lpstr>
      <vt:lpstr>Closed Patterns and Max-Patterns</vt:lpstr>
      <vt:lpstr>Closed Patterns and Max-Patterns</vt:lpstr>
      <vt:lpstr>Closed Patterns and Max-Patterns</vt:lpstr>
      <vt:lpstr>Closed Patterns and Max-Patterns</vt:lpstr>
      <vt:lpstr>Closed Patterns and Max-Patterns</vt:lpstr>
      <vt:lpstr>Closed Patterns and Max-Patterns - Example</vt:lpstr>
      <vt:lpstr>Closed Patterns and Max-Patterns - Example</vt:lpstr>
      <vt:lpstr>Closed Patterns and Max-Patterns - Example</vt:lpstr>
      <vt:lpstr>References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Oxidation of Organic Compounds using Nanomaterial Based Technologies</dc:title>
  <dc:creator>Gautham Jegadeesan</dc:creator>
  <cp:lastModifiedBy>Manikandan G</cp:lastModifiedBy>
  <cp:revision>943</cp:revision>
  <cp:lastPrinted>2024-02-01T04:51:54Z</cp:lastPrinted>
  <dcterms:created xsi:type="dcterms:W3CDTF">2015-02-25T10:23:39Z</dcterms:created>
  <dcterms:modified xsi:type="dcterms:W3CDTF">2025-02-04T09:15:27Z</dcterms:modified>
</cp:coreProperties>
</file>