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26"/>
  </p:notesMasterIdLst>
  <p:handoutMasterIdLst>
    <p:handoutMasterId r:id="rId27"/>
  </p:handoutMasterIdLst>
  <p:sldIdLst>
    <p:sldId id="260" r:id="rId2"/>
    <p:sldId id="835" r:id="rId3"/>
    <p:sldId id="852" r:id="rId4"/>
    <p:sldId id="912" r:id="rId5"/>
    <p:sldId id="854" r:id="rId6"/>
    <p:sldId id="855" r:id="rId7"/>
    <p:sldId id="856" r:id="rId8"/>
    <p:sldId id="913" r:id="rId9"/>
    <p:sldId id="914" r:id="rId10"/>
    <p:sldId id="857" r:id="rId11"/>
    <p:sldId id="858" r:id="rId12"/>
    <p:sldId id="916" r:id="rId13"/>
    <p:sldId id="870" r:id="rId14"/>
    <p:sldId id="871" r:id="rId15"/>
    <p:sldId id="917" r:id="rId16"/>
    <p:sldId id="923" r:id="rId17"/>
    <p:sldId id="861" r:id="rId18"/>
    <p:sldId id="920" r:id="rId19"/>
    <p:sldId id="915" r:id="rId20"/>
    <p:sldId id="863" r:id="rId21"/>
    <p:sldId id="865" r:id="rId22"/>
    <p:sldId id="922" r:id="rId23"/>
    <p:sldId id="921" r:id="rId24"/>
    <p:sldId id="834" r:id="rId25"/>
  </p:sldIdLst>
  <p:sldSz cx="10691813" cy="7561263"/>
  <p:notesSz cx="7315200" cy="9601200"/>
  <p:defaultTextStyle>
    <a:defPPr>
      <a:defRPr lang="en-US"/>
    </a:defPPr>
    <a:lvl1pPr marL="0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82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6B0"/>
    <a:srgbClr val="00A3C4"/>
    <a:srgbClr val="2C1677"/>
    <a:srgbClr val="83C3D2"/>
    <a:srgbClr val="00A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173" autoAdjust="0"/>
  </p:normalViewPr>
  <p:slideViewPr>
    <p:cSldViewPr>
      <p:cViewPr varScale="1">
        <p:scale>
          <a:sx n="56" d="100"/>
          <a:sy n="56" d="100"/>
        </p:scale>
        <p:origin x="1644" y="56"/>
      </p:cViewPr>
      <p:guideLst>
        <p:guide orient="horz" pos="2160"/>
        <p:guide pos="2880"/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2298"/>
    </p:cViewPr>
  </p:sorterViewPr>
  <p:notesViewPr>
    <p:cSldViewPr>
      <p:cViewPr varScale="1">
        <p:scale>
          <a:sx n="54" d="100"/>
          <a:sy n="54" d="100"/>
        </p:scale>
        <p:origin x="2784" y="4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5CBAC3D-EBEE-4820-8663-E793D90DB177}" type="datetimeFigureOut">
              <a:rPr lang="en-IN" smtClean="0"/>
              <a:pPr/>
              <a:t>05-02-2025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BE38153-F5C3-43E9-B1B3-6820974F76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520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5B566A5-67C5-4E3E-9C6E-79469278F95F}" type="datetimeFigureOut">
              <a:rPr lang="en-IN" smtClean="0"/>
              <a:pPr/>
              <a:t>05-02-2025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720725"/>
            <a:ext cx="50895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9FD433C-C65C-4D37-94B3-5A547A2C39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7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2838" y="720725"/>
            <a:ext cx="5089525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83E7FF-7B2D-491C-B028-494B795C926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3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513" y="291031"/>
            <a:ext cx="9455993" cy="594000"/>
          </a:xfrm>
        </p:spPr>
        <p:txBody>
          <a:bodyPr/>
          <a:lstStyle>
            <a:lvl1pPr>
              <a:defRPr sz="28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B7F9-AC6E-264A-ABA3-ECAE27992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6A362-4403-4718-B072-B01303837876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3720F19A-5FB3-1949-8545-3A1B0C048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92B5D4EB-9CC6-774C-916C-C38C4B5C8BFD}" type="datetime1">
              <a:rPr lang="en-IN" smtClean="0"/>
              <a:t>05-02-2025</a:t>
            </a:fld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8C9C595-C60F-184F-9C41-1753B9C8F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/>
              <a:t>INT303 - Data Warehousing &amp; Data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175312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384A0B-5B4E-7B4F-A1DD-97BD5861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51816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7D22E-3305-4B45-A1FC-BE6EA01CD9C2}"/>
              </a:ext>
            </a:extLst>
          </p:cNvPr>
          <p:cNvSpPr txBox="1">
            <a:spLocks/>
          </p:cNvSpPr>
          <p:nvPr userDrawn="1"/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marL="0" algn="ctr" defTabSz="1042965" rtl="0" eaLnBrk="1" latinLnBrk="0" hangingPunct="1">
              <a:lnSpc>
                <a:spcPct val="90000"/>
              </a:lnSpc>
              <a:defRPr sz="1544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2148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965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447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92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41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894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376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85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A66A362-4403-4718-B072-B01303837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9B44EC-DD4D-2146-A2C1-40224492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A5D48D-65B2-ED40-9172-218FF7D85C52}" type="datetime1">
              <a:rPr lang="en-IN" smtClean="0"/>
              <a:t>05-02-2025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25ABBD-8E16-0D48-824E-37D35EC8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INT303 - Data Warehousing &amp; Data Mining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53758-7D46-0B40-90E4-3F43C612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91506E9-B804-7446-A8D0-1199B044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43132-43EE-48BA-ABD1-0DAE4A749B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4" y="-1"/>
            <a:ext cx="1946212" cy="9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>
            <a:extLst>
              <a:ext uri="{FF2B5EF4-FFF2-40B4-BE49-F238E27FC236}">
                <a16:creationId xmlns:a16="http://schemas.microsoft.com/office/drawing/2014/main" id="{4333B64F-480F-D34E-BB06-CBB324F106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90513" y="1615407"/>
            <a:ext cx="945599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717B1-01DE-3C46-815E-486929DC3A71}"/>
              </a:ext>
            </a:extLst>
          </p:cNvPr>
          <p:cNvSpPr/>
          <p:nvPr/>
        </p:nvSpPr>
        <p:spPr>
          <a:xfrm>
            <a:off x="-1" y="988672"/>
            <a:ext cx="10691813" cy="353559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32E74-6239-EB45-A51B-99C9B64956E5}"/>
              </a:ext>
            </a:extLst>
          </p:cNvPr>
          <p:cNvSpPr/>
          <p:nvPr/>
        </p:nvSpPr>
        <p:spPr>
          <a:xfrm>
            <a:off x="0" y="1113631"/>
            <a:ext cx="623689" cy="25204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EEC0A-4651-074D-9DBF-29A685373E96}"/>
              </a:ext>
            </a:extLst>
          </p:cNvPr>
          <p:cNvSpPr/>
          <p:nvPr/>
        </p:nvSpPr>
        <p:spPr>
          <a:xfrm>
            <a:off x="690513" y="1113631"/>
            <a:ext cx="10001300" cy="25204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5F719D8-C720-5A4D-98DD-57D45DE85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lnSpc>
                <a:spcPct val="90000"/>
              </a:lnSpc>
              <a:defRPr sz="1544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A2E3CA0-9883-9540-98C5-1942E9569F8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3" name="Title Placeholder 21">
            <a:extLst>
              <a:ext uri="{FF2B5EF4-FFF2-40B4-BE49-F238E27FC236}">
                <a16:creationId xmlns:a16="http://schemas.microsoft.com/office/drawing/2014/main" id="{32009DC9-9FD2-0D42-8988-31B77654CA2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90512" y="275431"/>
            <a:ext cx="9455993" cy="59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088306A4-48BB-3344-BB2A-291909DC35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099186"/>
            <a:ext cx="10691813" cy="462077"/>
          </a:xfrm>
          <a:prstGeom prst="rect">
            <a:avLst/>
          </a:prstGeom>
          <a:solidFill>
            <a:srgbClr val="00A3C4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96" tIns="52148" rIns="104296" bIns="5214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4BDA867-E76A-3949-A90A-07E966AF6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5B6CB4E7-68AF-DE44-A666-E86D872FB502}" type="datetime1">
              <a:rPr lang="en-IN" smtClean="0"/>
              <a:t>05-02-2025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FFBB5-71F6-644A-A8E1-9BDAFCA03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/>
              <a:t>INT303 - Data Warehousing &amp; Data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25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</p:sldLayoutIdLst>
  <p:transition>
    <p:zoom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5pPr>
      <a:lvl6pPr marL="504070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6pPr>
      <a:lvl7pPr marL="100813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7pPr>
      <a:lvl8pPr marL="151220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8pPr>
      <a:lvl9pPr marL="2016277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9pPr>
      <a:extLst/>
    </p:titleStyle>
    <p:bodyStyle>
      <a:lvl1pPr marL="350044" indent="-350044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6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03588" indent="-299288" algn="l" rtl="0" eaLnBrk="1" fontAlgn="base" hangingPunct="1">
        <a:spcBef>
          <a:spcPts val="600"/>
        </a:spcBef>
        <a:spcAft>
          <a:spcPts val="600"/>
        </a:spcAft>
        <a:buClr>
          <a:schemeClr val="accent1"/>
        </a:buClr>
        <a:buSzPct val="70000"/>
        <a:buFont typeface="Wingdings 2" pitchFamily="2" charset="2"/>
        <a:buChar char="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indent="-252032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52032" algn="l" rtl="0" eaLnBrk="1" fontAlgn="base" hangingPunct="1">
        <a:spcBef>
          <a:spcPts val="600"/>
        </a:spcBef>
        <a:spcAft>
          <a:spcPts val="600"/>
        </a:spcAft>
        <a:buClr>
          <a:srgbClr val="EB641B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indent="-252032" algn="l" rtl="0" eaLnBrk="1" fontAlgn="base" hangingPunct="1">
        <a:spcBef>
          <a:spcPts val="600"/>
        </a:spcBef>
        <a:spcAft>
          <a:spcPts val="600"/>
        </a:spcAft>
        <a:buClr>
          <a:srgbClr val="39639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318718" indent="-252035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621160" indent="-252035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23602" indent="-252035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226044" indent="-252035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5040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0813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1220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277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2034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02441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52848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03255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3CMKRHdH30" TargetMode="External"/><Relationship Id="rId2" Type="http://schemas.openxmlformats.org/officeDocument/2006/relationships/hyperlink" Target="https://www.youtube.com/watch?v=NT6beZBYbmU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E37E1FC1-9FD5-3745-A33D-7FB50F34C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" y="5838031"/>
            <a:ext cx="10462505" cy="106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 dirty="0">
                <a:solidFill>
                  <a:srgbClr val="0000FF"/>
                </a:solidFill>
              </a:rPr>
              <a:t>Dr. </a:t>
            </a:r>
            <a:r>
              <a:rPr lang="en-US" altLang="en-US" sz="1800" b="1" kern="0" dirty="0" err="1">
                <a:solidFill>
                  <a:srgbClr val="0000FF"/>
                </a:solidFill>
              </a:rPr>
              <a:t>G.Manikandan</a:t>
            </a:r>
            <a:endParaRPr lang="en-US" altLang="en-US" sz="1800" b="1" kern="0" dirty="0">
              <a:solidFill>
                <a:srgbClr val="0000FF"/>
              </a:solidFill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>
                <a:solidFill>
                  <a:srgbClr val="0000FF"/>
                </a:solidFill>
              </a:rPr>
              <a:t>ACP </a:t>
            </a:r>
            <a:r>
              <a:rPr lang="en-US" altLang="en-US" sz="1800" b="1" kern="0" dirty="0">
                <a:solidFill>
                  <a:srgbClr val="0000FF"/>
                </a:solidFill>
              </a:rPr>
              <a:t>/ School of Computing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 dirty="0">
                <a:solidFill>
                  <a:srgbClr val="0000FF"/>
                </a:solidFill>
              </a:rPr>
              <a:t>SASTRA Deemed To Be University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F9F526-4339-4942-8F1D-A4A3DB86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87" y="3780631"/>
            <a:ext cx="10691813" cy="87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517" tIns="50759" rIns="101517" bIns="50759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8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638175" indent="-271463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2" charset="2"/>
              <a:buChar char=""/>
              <a:defRPr sz="2500"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200"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indent="-228600">
              <a:spcBef>
                <a:spcPts val="400"/>
              </a:spcBef>
              <a:buClr>
                <a:srgbClr val="EB641B"/>
              </a:buClr>
              <a:buSzPct val="7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indent="-228600">
              <a:spcBef>
                <a:spcPts val="400"/>
              </a:spcBef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>
                <a:solidFill>
                  <a:schemeClr val="accent2">
                    <a:lumMod val="75000"/>
                  </a:schemeClr>
                </a:solidFill>
              </a:rPr>
              <a:t>Mining Frequent Patterns, Associations, Correlations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5AA08-B657-CC4F-9E28-FECA1DC8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40" y="7158696"/>
            <a:ext cx="6338983" cy="40256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9BBFB-3585-F947-97FC-9AB638AE6A47}"/>
              </a:ext>
            </a:extLst>
          </p:cNvPr>
          <p:cNvSpPr/>
          <p:nvPr/>
        </p:nvSpPr>
        <p:spPr>
          <a:xfrm>
            <a:off x="0" y="0"/>
            <a:ext cx="10691813" cy="1570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4A284-1EA4-A07E-A3E9-18FCBD6AF9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74"/>
            <a:ext cx="10691813" cy="254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5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4A0A8-F7EB-BB4B-8040-B93FC7A51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80" y="2561431"/>
            <a:ext cx="9455993" cy="3048000"/>
          </a:xfrm>
        </p:spPr>
        <p:txBody>
          <a:bodyPr/>
          <a:lstStyle/>
          <a:p>
            <a:pPr lvl="1" algn="just"/>
            <a:r>
              <a:rPr lang="en-IN" sz="3200" dirty="0">
                <a:solidFill>
                  <a:srgbClr val="FF0000"/>
                </a:solidFill>
              </a:rPr>
              <a:t>Frequent Itemset Mining Methods:</a:t>
            </a:r>
          </a:p>
          <a:p>
            <a:pPr lvl="2" algn="just"/>
            <a:r>
              <a:rPr lang="en-IN" sz="3200" dirty="0" err="1"/>
              <a:t>Apriori</a:t>
            </a:r>
            <a:r>
              <a:rPr lang="en-IN" sz="3200" dirty="0"/>
              <a:t> Algorithm </a:t>
            </a:r>
          </a:p>
          <a:p>
            <a:pPr lvl="2" algn="just"/>
            <a:r>
              <a:rPr lang="en-IN" sz="3200" dirty="0"/>
              <a:t>Generating Association Rules from Frequent </a:t>
            </a:r>
            <a:r>
              <a:rPr lang="en-IN" sz="3200" dirty="0" err="1"/>
              <a:t>Itemsets</a:t>
            </a:r>
            <a:r>
              <a:rPr lang="en-IN" sz="3200" dirty="0"/>
              <a:t> </a:t>
            </a:r>
          </a:p>
          <a:p>
            <a:pPr lvl="2" algn="just"/>
            <a:r>
              <a:rPr lang="en-US" sz="3200" dirty="0"/>
              <a:t>Variations to the </a:t>
            </a:r>
            <a:r>
              <a:rPr lang="en-US" sz="3200" dirty="0" err="1"/>
              <a:t>Apriori</a:t>
            </a:r>
            <a:r>
              <a:rPr lang="en-US" sz="3200" dirty="0"/>
              <a:t> algorithm </a:t>
            </a:r>
            <a:endParaRPr lang="en-IN" sz="3200" dirty="0"/>
          </a:p>
          <a:p>
            <a:pPr marL="404300" lvl="1" indent="0">
              <a:buNone/>
            </a:pPr>
            <a:endParaRPr lang="en-IN" dirty="0"/>
          </a:p>
          <a:p>
            <a:pPr marL="756094" lvl="2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52236-6462-D043-AA65-12098F37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53072-E45F-2F4D-A884-D70DB36B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A07BAF-EFAB-D24A-B832-5F564FC5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Mining Frequent Patterns, Associations, </a:t>
            </a:r>
            <a:br>
              <a:rPr lang="en-IN" dirty="0"/>
            </a:br>
            <a:r>
              <a:rPr lang="en-IN" dirty="0"/>
              <a:t>and Correlations</a:t>
            </a:r>
          </a:p>
        </p:txBody>
      </p:sp>
    </p:spTree>
    <p:extLst>
      <p:ext uri="{BB962C8B-B14F-4D97-AF65-F5344CB8AC3E}">
        <p14:creationId xmlns:p14="http://schemas.microsoft.com/office/powerpoint/2010/main" val="27050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1494631"/>
            <a:ext cx="9455993" cy="5562600"/>
          </a:xfrm>
        </p:spPr>
        <p:txBody>
          <a:bodyPr/>
          <a:lstStyle/>
          <a:p>
            <a:pPr algn="just"/>
            <a:r>
              <a:rPr lang="en-IN" sz="2400" dirty="0" err="1">
                <a:solidFill>
                  <a:srgbClr val="FF0000"/>
                </a:solidFill>
              </a:rPr>
              <a:t>Apriori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is a seminal algorithm for mining frequent </a:t>
            </a:r>
            <a:r>
              <a:rPr lang="en-IN" sz="2400" dirty="0" err="1"/>
              <a:t>itemsets</a:t>
            </a:r>
            <a:r>
              <a:rPr lang="en-IN" sz="2400" dirty="0"/>
              <a:t>.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</a:p>
          <a:p>
            <a:pPr lvl="1" algn="just"/>
            <a:r>
              <a:rPr lang="en-US" sz="2400" dirty="0"/>
              <a:t>The name of the algorithm is based on the fact that the algorithm uses prior knowledge of frequent itemset properties</a:t>
            </a:r>
            <a:endParaRPr lang="en-IN" sz="2400" dirty="0"/>
          </a:p>
          <a:p>
            <a:pPr algn="just"/>
            <a:endParaRPr lang="en-IN" sz="2400" dirty="0"/>
          </a:p>
          <a:p>
            <a:pPr algn="just"/>
            <a:r>
              <a:rPr lang="en-IN" sz="2400" dirty="0" err="1">
                <a:solidFill>
                  <a:srgbClr val="0000FF"/>
                </a:solidFill>
              </a:rPr>
              <a:t>Apriori</a:t>
            </a:r>
            <a:r>
              <a:rPr lang="en-IN" sz="2400" dirty="0">
                <a:solidFill>
                  <a:srgbClr val="0000FF"/>
                </a:solidFill>
              </a:rPr>
              <a:t> employs an iterative approach known as a </a:t>
            </a:r>
            <a:r>
              <a:rPr lang="en-IN" sz="2400" i="1" dirty="0">
                <a:solidFill>
                  <a:srgbClr val="0000FF"/>
                </a:solidFill>
              </a:rPr>
              <a:t>level-wise </a:t>
            </a:r>
            <a:r>
              <a:rPr lang="en-IN" sz="2400" dirty="0">
                <a:solidFill>
                  <a:srgbClr val="0000FF"/>
                </a:solidFill>
              </a:rPr>
              <a:t>search, where </a:t>
            </a:r>
            <a:r>
              <a:rPr lang="en-IN" sz="2400" i="1" dirty="0">
                <a:solidFill>
                  <a:srgbClr val="0000FF"/>
                </a:solidFill>
              </a:rPr>
              <a:t>k</a:t>
            </a:r>
            <a:r>
              <a:rPr lang="en-IN" sz="2400" dirty="0">
                <a:solidFill>
                  <a:srgbClr val="0000FF"/>
                </a:solidFill>
              </a:rPr>
              <a:t>-</a:t>
            </a:r>
            <a:r>
              <a:rPr lang="en-IN" sz="2400" dirty="0" err="1">
                <a:solidFill>
                  <a:srgbClr val="0000FF"/>
                </a:solidFill>
              </a:rPr>
              <a:t>itemsets</a:t>
            </a:r>
            <a:r>
              <a:rPr lang="en-IN" sz="2400" dirty="0">
                <a:solidFill>
                  <a:srgbClr val="0000FF"/>
                </a:solidFill>
              </a:rPr>
              <a:t> are used to explore (</a:t>
            </a:r>
            <a:r>
              <a:rPr lang="en-IN" sz="2400" i="1" dirty="0">
                <a:solidFill>
                  <a:srgbClr val="0000FF"/>
                </a:solidFill>
              </a:rPr>
              <a:t>k </a:t>
            </a:r>
            <a:r>
              <a:rPr lang="en-IN" sz="2400" dirty="0">
                <a:solidFill>
                  <a:srgbClr val="0000FF"/>
                </a:solidFill>
              </a:rPr>
              <a:t>+ 1)-</a:t>
            </a:r>
            <a:r>
              <a:rPr lang="en-IN" sz="2400" dirty="0" err="1">
                <a:solidFill>
                  <a:srgbClr val="0000FF"/>
                </a:solidFill>
              </a:rPr>
              <a:t>itemsets</a:t>
            </a:r>
            <a:r>
              <a:rPr lang="en-IN" sz="2400" dirty="0">
                <a:solidFill>
                  <a:srgbClr val="0000FF"/>
                </a:solidFill>
              </a:rPr>
              <a:t>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First, </a:t>
            </a:r>
          </a:p>
          <a:p>
            <a:pPr lvl="1" algn="just"/>
            <a:r>
              <a:rPr lang="en-IN" sz="2400" dirty="0"/>
              <a:t>the set of </a:t>
            </a:r>
            <a:r>
              <a:rPr lang="en-IN" sz="2400" dirty="0">
                <a:solidFill>
                  <a:srgbClr val="FF0000"/>
                </a:solidFill>
              </a:rPr>
              <a:t>frequent 1-itemsets </a:t>
            </a:r>
            <a:r>
              <a:rPr lang="en-IN" sz="2400" dirty="0"/>
              <a:t>is found by </a:t>
            </a:r>
            <a:r>
              <a:rPr lang="en-IN" sz="2400" dirty="0">
                <a:solidFill>
                  <a:srgbClr val="FF0000"/>
                </a:solidFill>
              </a:rPr>
              <a:t>scanning the database </a:t>
            </a:r>
            <a:r>
              <a:rPr lang="en-IN" sz="2400" dirty="0"/>
              <a:t>to accumulate the count for each item, and collecting those items that </a:t>
            </a:r>
            <a:r>
              <a:rPr lang="en-IN" sz="2400" dirty="0">
                <a:solidFill>
                  <a:srgbClr val="FF0000"/>
                </a:solidFill>
              </a:rPr>
              <a:t>satisfy minimum support. </a:t>
            </a:r>
          </a:p>
          <a:p>
            <a:pPr algn="just"/>
            <a:r>
              <a:rPr lang="en-IN" sz="2400" dirty="0">
                <a:solidFill>
                  <a:srgbClr val="0000FF"/>
                </a:solidFill>
              </a:rPr>
              <a:t>The resulting set is denoted by </a:t>
            </a:r>
            <a:r>
              <a:rPr lang="en-IN" sz="2400" i="1" dirty="0">
                <a:solidFill>
                  <a:srgbClr val="0000FF"/>
                </a:solidFill>
              </a:rPr>
              <a:t>L</a:t>
            </a:r>
            <a:r>
              <a:rPr lang="en-IN" sz="2400" baseline="-25000" dirty="0">
                <a:solidFill>
                  <a:srgbClr val="0000FF"/>
                </a:solidFill>
              </a:rPr>
              <a:t>1</a:t>
            </a:r>
            <a:r>
              <a:rPr lang="en-IN" sz="2400" dirty="0">
                <a:solidFill>
                  <a:srgbClr val="0000FF"/>
                </a:solidFill>
              </a:rPr>
              <a:t>.</a:t>
            </a:r>
          </a:p>
          <a:p>
            <a:pPr lvl="1" algn="just"/>
            <a:endParaRPr lang="en-IN" sz="24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306" y="275431"/>
            <a:ext cx="8458199" cy="595282"/>
          </a:xfrm>
        </p:spPr>
        <p:txBody>
          <a:bodyPr/>
          <a:lstStyle/>
          <a:p>
            <a:r>
              <a:rPr lang="en-IN" dirty="0" err="1"/>
              <a:t>Apriori</a:t>
            </a:r>
            <a:r>
              <a:rPr lang="en-IN" dirty="0"/>
              <a:t> Algorithm: Finding Frequent </a:t>
            </a:r>
            <a:br>
              <a:rPr lang="en-IN" dirty="0"/>
            </a:br>
            <a:r>
              <a:rPr lang="en-IN" dirty="0"/>
              <a:t>Itemsets by Confined Candidate Generation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93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06" y="1919204"/>
            <a:ext cx="9608393" cy="4191000"/>
          </a:xfrm>
        </p:spPr>
        <p:txBody>
          <a:bodyPr/>
          <a:lstStyle/>
          <a:p>
            <a:pPr algn="just"/>
            <a:r>
              <a:rPr lang="en-IN" sz="2400" dirty="0"/>
              <a:t>Next, </a:t>
            </a:r>
            <a:r>
              <a:rPr lang="en-IN" sz="2400" i="1" dirty="0"/>
              <a:t>L</a:t>
            </a:r>
            <a:r>
              <a:rPr lang="en-IN" sz="2400" baseline="-25000" dirty="0"/>
              <a:t>1</a:t>
            </a:r>
            <a:r>
              <a:rPr lang="en-IN" sz="2400" dirty="0"/>
              <a:t> is used to find </a:t>
            </a:r>
            <a:r>
              <a:rPr lang="en-IN" sz="2400" i="1" dirty="0"/>
              <a:t>L</a:t>
            </a:r>
            <a:r>
              <a:rPr lang="en-IN" sz="2400" baseline="-25000" dirty="0"/>
              <a:t>2</a:t>
            </a:r>
            <a:r>
              <a:rPr lang="en-IN" sz="2400" dirty="0"/>
              <a:t>, </a:t>
            </a:r>
          </a:p>
          <a:p>
            <a:pPr lvl="1" algn="just"/>
            <a:r>
              <a:rPr lang="en-IN" sz="2400" dirty="0"/>
              <a:t>the set of frequent 2-itemsets, which is used to find </a:t>
            </a:r>
            <a:r>
              <a:rPr lang="en-IN" sz="2400" i="1" dirty="0"/>
              <a:t>L</a:t>
            </a:r>
            <a:r>
              <a:rPr lang="en-IN" sz="2400" baseline="-25000" dirty="0"/>
              <a:t>3</a:t>
            </a:r>
            <a:r>
              <a:rPr lang="en-IN" sz="2400" dirty="0"/>
              <a:t>, and so on, until no more frequent </a:t>
            </a:r>
            <a:r>
              <a:rPr lang="en-IN" sz="2400" i="1" dirty="0"/>
              <a:t>k</a:t>
            </a:r>
            <a:r>
              <a:rPr lang="en-IN" sz="2400" dirty="0"/>
              <a:t>-</a:t>
            </a:r>
            <a:r>
              <a:rPr lang="en-IN" sz="2400" dirty="0" err="1"/>
              <a:t>itemsets</a:t>
            </a:r>
            <a:r>
              <a:rPr lang="en-IN" sz="2400" dirty="0"/>
              <a:t> can be found.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finding of each </a:t>
            </a:r>
            <a:r>
              <a:rPr lang="en-IN" sz="2400" i="1" dirty="0">
                <a:solidFill>
                  <a:srgbClr val="FF0000"/>
                </a:solidFill>
              </a:rPr>
              <a:t>L</a:t>
            </a:r>
            <a:r>
              <a:rPr lang="en-IN" sz="2400" i="1" baseline="-25000" dirty="0">
                <a:solidFill>
                  <a:srgbClr val="FF0000"/>
                </a:solidFill>
              </a:rPr>
              <a:t>k</a:t>
            </a:r>
            <a:r>
              <a:rPr lang="en-IN" sz="2400" i="1" dirty="0">
                <a:solidFill>
                  <a:srgbClr val="FF0000"/>
                </a:solidFill>
              </a:rPr>
              <a:t> </a:t>
            </a:r>
            <a:r>
              <a:rPr lang="en-IN" sz="2400" dirty="0">
                <a:solidFill>
                  <a:srgbClr val="FF0000"/>
                </a:solidFill>
              </a:rPr>
              <a:t>requires one full scan </a:t>
            </a:r>
            <a:r>
              <a:rPr lang="en-IN" sz="2400" dirty="0"/>
              <a:t>of the database.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To improve the efficiency of the level-wise generation of frequent </a:t>
            </a:r>
            <a:r>
              <a:rPr lang="en-IN" sz="2400" dirty="0" err="1"/>
              <a:t>itemsets</a:t>
            </a:r>
            <a:r>
              <a:rPr lang="en-IN" sz="2400" dirty="0"/>
              <a:t>, an important property called the </a:t>
            </a:r>
            <a:r>
              <a:rPr lang="en-IN" sz="2400" b="1" dirty="0" err="1">
                <a:solidFill>
                  <a:srgbClr val="FF0000"/>
                </a:solidFill>
              </a:rPr>
              <a:t>Apriori</a:t>
            </a:r>
            <a:r>
              <a:rPr lang="en-IN" sz="2400" b="1" dirty="0">
                <a:solidFill>
                  <a:srgbClr val="FF0000"/>
                </a:solidFill>
              </a:rPr>
              <a:t> property </a:t>
            </a:r>
            <a:r>
              <a:rPr lang="en-IN" sz="2400" dirty="0"/>
              <a:t>is used to reduce the search space. </a:t>
            </a:r>
          </a:p>
          <a:p>
            <a:pPr marL="0" indent="0" algn="just">
              <a:buNone/>
            </a:pPr>
            <a:endParaRPr lang="en-IN" sz="2400" dirty="0">
              <a:solidFill>
                <a:srgbClr val="FF0000"/>
              </a:solidFill>
            </a:endParaRPr>
          </a:p>
          <a:p>
            <a:pPr algn="just"/>
            <a:endParaRPr lang="en-IN" dirty="0">
              <a:solidFill>
                <a:srgbClr val="FF0000"/>
              </a:solidFill>
            </a:endParaRP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306" y="275431"/>
            <a:ext cx="8458199" cy="595282"/>
          </a:xfrm>
        </p:spPr>
        <p:txBody>
          <a:bodyPr/>
          <a:lstStyle/>
          <a:p>
            <a:r>
              <a:rPr lang="en-IN" dirty="0" err="1"/>
              <a:t>Apriori</a:t>
            </a:r>
            <a:r>
              <a:rPr lang="en-IN" dirty="0"/>
              <a:t> Algorithm: Finding Frequent </a:t>
            </a:r>
            <a:br>
              <a:rPr lang="en-IN" dirty="0"/>
            </a:br>
            <a:r>
              <a:rPr lang="en-IN" dirty="0"/>
              <a:t>Itemsets by Confined Candidate Generation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58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832224"/>
          </a:xfrm>
        </p:spPr>
        <p:txBody>
          <a:bodyPr/>
          <a:lstStyle/>
          <a:p>
            <a:pPr algn="just"/>
            <a:r>
              <a:rPr lang="en-IN" sz="2200" b="1" dirty="0" err="1">
                <a:solidFill>
                  <a:srgbClr val="FF0000"/>
                </a:solidFill>
              </a:rPr>
              <a:t>Apriori</a:t>
            </a:r>
            <a:r>
              <a:rPr lang="en-IN" sz="2200" b="1" dirty="0">
                <a:solidFill>
                  <a:srgbClr val="FF0000"/>
                </a:solidFill>
              </a:rPr>
              <a:t> property: </a:t>
            </a:r>
            <a:r>
              <a:rPr lang="en-IN" sz="2200" i="1" dirty="0">
                <a:solidFill>
                  <a:srgbClr val="0000FF"/>
                </a:solidFill>
              </a:rPr>
              <a:t>All nonempty subsets of a frequent itemset must also be frequent.</a:t>
            </a:r>
            <a:br>
              <a:rPr lang="en-IN" sz="2200" i="1" dirty="0">
                <a:solidFill>
                  <a:srgbClr val="0000FF"/>
                </a:solidFill>
              </a:rPr>
            </a:br>
            <a:endParaRPr lang="en-IN" sz="2200" i="1" dirty="0">
              <a:solidFill>
                <a:srgbClr val="0000FF"/>
              </a:solidFill>
            </a:endParaRPr>
          </a:p>
          <a:p>
            <a:pPr algn="just"/>
            <a:r>
              <a:rPr lang="en-IN" sz="2200" dirty="0"/>
              <a:t>if an itemset </a:t>
            </a:r>
            <a:r>
              <a:rPr lang="en-IN" sz="2200" i="1" dirty="0">
                <a:solidFill>
                  <a:srgbClr val="FF0000"/>
                </a:solidFill>
              </a:rPr>
              <a:t>I </a:t>
            </a:r>
            <a:r>
              <a:rPr lang="en-IN" sz="2200" dirty="0">
                <a:solidFill>
                  <a:srgbClr val="FF0000"/>
                </a:solidFill>
              </a:rPr>
              <a:t>does not satisfy </a:t>
            </a:r>
            <a:r>
              <a:rPr lang="en-IN" sz="2200" dirty="0"/>
              <a:t>the minimum support threshold, </a:t>
            </a:r>
            <a:r>
              <a:rPr lang="en-IN" sz="2200" i="1" dirty="0">
                <a:solidFill>
                  <a:srgbClr val="FF0000"/>
                </a:solidFill>
              </a:rPr>
              <a:t>min sup</a:t>
            </a:r>
            <a:r>
              <a:rPr lang="en-IN" sz="2200" dirty="0"/>
              <a:t>, then </a:t>
            </a:r>
            <a:r>
              <a:rPr lang="en-IN" sz="2200" i="1" dirty="0">
                <a:solidFill>
                  <a:srgbClr val="FF0000"/>
                </a:solidFill>
              </a:rPr>
              <a:t>I </a:t>
            </a:r>
            <a:r>
              <a:rPr lang="en-IN" sz="2200" dirty="0">
                <a:solidFill>
                  <a:srgbClr val="FF0000"/>
                </a:solidFill>
              </a:rPr>
              <a:t>is not frequent, that is, </a:t>
            </a:r>
            <a:r>
              <a:rPr lang="en-IN" sz="2200" i="1" dirty="0">
                <a:solidFill>
                  <a:srgbClr val="FF0000"/>
                </a:solidFill>
              </a:rPr>
              <a:t>P</a:t>
            </a:r>
            <a:r>
              <a:rPr lang="en-IN" sz="2200" dirty="0">
                <a:solidFill>
                  <a:srgbClr val="FF0000"/>
                </a:solidFill>
              </a:rPr>
              <a:t>(</a:t>
            </a:r>
            <a:r>
              <a:rPr lang="en-IN" sz="2200" i="1" dirty="0">
                <a:solidFill>
                  <a:srgbClr val="FF0000"/>
                </a:solidFill>
              </a:rPr>
              <a:t>I</a:t>
            </a:r>
            <a:r>
              <a:rPr lang="en-IN" sz="2200" dirty="0">
                <a:solidFill>
                  <a:srgbClr val="FF0000"/>
                </a:solidFill>
              </a:rPr>
              <a:t>) &lt; </a:t>
            </a:r>
            <a:r>
              <a:rPr lang="en-IN" sz="2200" i="1" dirty="0">
                <a:solidFill>
                  <a:srgbClr val="FF0000"/>
                </a:solidFill>
              </a:rPr>
              <a:t>min sup</a:t>
            </a:r>
            <a:r>
              <a:rPr lang="en-IN" sz="2200" dirty="0">
                <a:solidFill>
                  <a:srgbClr val="FF0000"/>
                </a:solidFill>
              </a:rPr>
              <a:t>. </a:t>
            </a:r>
          </a:p>
          <a:p>
            <a:pPr algn="just"/>
            <a:r>
              <a:rPr lang="en-IN" sz="2200" dirty="0"/>
              <a:t>If an item </a:t>
            </a:r>
            <a:r>
              <a:rPr lang="en-IN" sz="2200" i="1" dirty="0">
                <a:solidFill>
                  <a:srgbClr val="FF0000"/>
                </a:solidFill>
              </a:rPr>
              <a:t>A </a:t>
            </a:r>
            <a:r>
              <a:rPr lang="en-IN" sz="2200" dirty="0">
                <a:solidFill>
                  <a:srgbClr val="FF0000"/>
                </a:solidFill>
              </a:rPr>
              <a:t>is added to the itemset </a:t>
            </a:r>
            <a:r>
              <a:rPr lang="en-IN" sz="2200" i="1" dirty="0">
                <a:solidFill>
                  <a:srgbClr val="FF0000"/>
                </a:solidFill>
              </a:rPr>
              <a:t>I</a:t>
            </a:r>
            <a:r>
              <a:rPr lang="en-IN" sz="2200" dirty="0">
                <a:solidFill>
                  <a:srgbClr val="FF0000"/>
                </a:solidFill>
              </a:rPr>
              <a:t>,</a:t>
            </a:r>
            <a:r>
              <a:rPr lang="en-IN" sz="2200" dirty="0"/>
              <a:t> then the resulting itemset (i.e., </a:t>
            </a:r>
            <a:r>
              <a:rPr lang="en-IN" sz="2200" i="1" dirty="0">
                <a:solidFill>
                  <a:srgbClr val="FF0000"/>
                </a:solidFill>
              </a:rPr>
              <a:t>I </a:t>
            </a:r>
            <a:r>
              <a:rPr lang="en-IN" sz="2200" dirty="0">
                <a:solidFill>
                  <a:srgbClr val="FF0000"/>
                </a:solidFill>
              </a:rPr>
              <a:t>∪ </a:t>
            </a:r>
            <a:r>
              <a:rPr lang="en-IN" sz="2200" i="1" dirty="0">
                <a:solidFill>
                  <a:srgbClr val="FF0000"/>
                </a:solidFill>
              </a:rPr>
              <a:t>A</a:t>
            </a:r>
            <a:r>
              <a:rPr lang="en-IN" sz="2200" dirty="0"/>
              <a:t>) </a:t>
            </a:r>
            <a:r>
              <a:rPr lang="en-IN" sz="2200" dirty="0">
                <a:solidFill>
                  <a:srgbClr val="FF0000"/>
                </a:solidFill>
              </a:rPr>
              <a:t>cannot occur more frequently than </a:t>
            </a:r>
            <a:r>
              <a:rPr lang="en-IN" sz="2200" i="1" dirty="0">
                <a:solidFill>
                  <a:srgbClr val="FF0000"/>
                </a:solidFill>
              </a:rPr>
              <a:t>I </a:t>
            </a:r>
            <a:r>
              <a:rPr lang="en-IN" sz="2200" dirty="0">
                <a:solidFill>
                  <a:srgbClr val="FF0000"/>
                </a:solidFill>
              </a:rPr>
              <a:t>. Therefore, </a:t>
            </a:r>
            <a:r>
              <a:rPr lang="en-IN" sz="2200" i="1" dirty="0">
                <a:solidFill>
                  <a:srgbClr val="FF0000"/>
                </a:solidFill>
              </a:rPr>
              <a:t>I </a:t>
            </a:r>
            <a:r>
              <a:rPr lang="en-IN" sz="2200" dirty="0">
                <a:solidFill>
                  <a:srgbClr val="FF0000"/>
                </a:solidFill>
              </a:rPr>
              <a:t>∪ </a:t>
            </a:r>
            <a:r>
              <a:rPr lang="en-IN" sz="2200" i="1" dirty="0">
                <a:solidFill>
                  <a:srgbClr val="FF0000"/>
                </a:solidFill>
              </a:rPr>
              <a:t>A </a:t>
            </a:r>
            <a:r>
              <a:rPr lang="en-IN" sz="2200" dirty="0">
                <a:solidFill>
                  <a:srgbClr val="FF0000"/>
                </a:solidFill>
              </a:rPr>
              <a:t>is not frequent either, </a:t>
            </a:r>
            <a:r>
              <a:rPr lang="en-IN" sz="2200" dirty="0"/>
              <a:t>that is, </a:t>
            </a:r>
            <a:r>
              <a:rPr lang="en-IN" sz="2200" i="1" dirty="0">
                <a:solidFill>
                  <a:srgbClr val="FF0000"/>
                </a:solidFill>
              </a:rPr>
              <a:t>P</a:t>
            </a:r>
            <a:r>
              <a:rPr lang="en-IN" sz="2200" dirty="0">
                <a:solidFill>
                  <a:srgbClr val="FF0000"/>
                </a:solidFill>
              </a:rPr>
              <a:t>(</a:t>
            </a:r>
            <a:r>
              <a:rPr lang="en-IN" sz="2200" i="1" dirty="0">
                <a:solidFill>
                  <a:srgbClr val="FF0000"/>
                </a:solidFill>
              </a:rPr>
              <a:t>I</a:t>
            </a:r>
            <a:r>
              <a:rPr lang="en-IN" sz="2200" dirty="0">
                <a:solidFill>
                  <a:srgbClr val="FF0000"/>
                </a:solidFill>
              </a:rPr>
              <a:t>∪</a:t>
            </a:r>
            <a:r>
              <a:rPr lang="en-IN" sz="2200" i="1" dirty="0">
                <a:solidFill>
                  <a:srgbClr val="FF0000"/>
                </a:solidFill>
              </a:rPr>
              <a:t>A</a:t>
            </a:r>
            <a:r>
              <a:rPr lang="en-IN" sz="2200" dirty="0">
                <a:solidFill>
                  <a:srgbClr val="FF0000"/>
                </a:solidFill>
              </a:rPr>
              <a:t>)&lt;</a:t>
            </a:r>
            <a:r>
              <a:rPr lang="en-IN" sz="2200" i="1" dirty="0">
                <a:solidFill>
                  <a:srgbClr val="FF0000"/>
                </a:solidFill>
              </a:rPr>
              <a:t>min sup</a:t>
            </a:r>
            <a:r>
              <a:rPr lang="en-IN" sz="2200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IN" sz="2200" dirty="0"/>
          </a:p>
          <a:p>
            <a:pPr algn="just"/>
            <a:r>
              <a:rPr lang="en-IN" sz="2200" dirty="0"/>
              <a:t>This property belongs to a special category of properties called </a:t>
            </a:r>
            <a:r>
              <a:rPr lang="en-IN" sz="2200" b="1" dirty="0" err="1">
                <a:solidFill>
                  <a:srgbClr val="FF0000"/>
                </a:solidFill>
              </a:rPr>
              <a:t>antimonotonicity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dirty="0"/>
              <a:t>in the sense that </a:t>
            </a:r>
            <a:r>
              <a:rPr lang="en-IN" sz="2200" i="1" dirty="0">
                <a:solidFill>
                  <a:srgbClr val="FF0000"/>
                </a:solidFill>
              </a:rPr>
              <a:t>if a set cannot pass a test, all of its supersets will fail the same test as well</a:t>
            </a:r>
            <a:r>
              <a:rPr lang="en-IN" sz="2200" dirty="0">
                <a:solidFill>
                  <a:srgbClr val="FF0000"/>
                </a:solidFill>
              </a:rPr>
              <a:t>.</a:t>
            </a:r>
            <a:r>
              <a:rPr lang="en-IN" sz="2200" dirty="0"/>
              <a:t> </a:t>
            </a: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Algorithm: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94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1553919"/>
            <a:ext cx="9760794" cy="5410200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IN" altLang="en-US" dirty="0">
                <a:solidFill>
                  <a:srgbClr val="FF0000"/>
                </a:solidFill>
              </a:rPr>
              <a:t>“How is the </a:t>
            </a:r>
            <a:r>
              <a:rPr lang="en-IN" altLang="en-US" dirty="0" err="1">
                <a:solidFill>
                  <a:srgbClr val="FF0000"/>
                </a:solidFill>
              </a:rPr>
              <a:t>Apriori</a:t>
            </a:r>
            <a:r>
              <a:rPr lang="en-IN" altLang="en-US" dirty="0">
                <a:solidFill>
                  <a:srgbClr val="FF0000"/>
                </a:solidFill>
              </a:rPr>
              <a:t> property used in the algorithm?” </a:t>
            </a:r>
          </a:p>
          <a:p>
            <a:pPr algn="just">
              <a:spcAft>
                <a:spcPts val="1200"/>
              </a:spcAft>
            </a:pPr>
            <a:r>
              <a:rPr lang="en-IN" altLang="en-US" dirty="0"/>
              <a:t>To understand this, let us look at how L</a:t>
            </a:r>
            <a:r>
              <a:rPr lang="en-IN" altLang="en-US" baseline="-25000" dirty="0"/>
              <a:t>k−1 </a:t>
            </a:r>
            <a:r>
              <a:rPr lang="en-IN" altLang="en-US" dirty="0"/>
              <a:t>is used to find L</a:t>
            </a:r>
            <a:r>
              <a:rPr lang="en-IN" altLang="en-US" baseline="-25000" dirty="0"/>
              <a:t>k</a:t>
            </a:r>
            <a:r>
              <a:rPr lang="en-IN" altLang="en-US" dirty="0"/>
              <a:t> for k ≥ 2. </a:t>
            </a:r>
          </a:p>
          <a:p>
            <a:pPr algn="just">
              <a:spcAft>
                <a:spcPts val="1200"/>
              </a:spcAft>
            </a:pPr>
            <a:r>
              <a:rPr lang="en-IN" altLang="en-US" dirty="0"/>
              <a:t>A two-step process</a:t>
            </a:r>
          </a:p>
          <a:p>
            <a:pPr lvl="1" algn="just">
              <a:spcAft>
                <a:spcPts val="1200"/>
              </a:spcAft>
            </a:pPr>
            <a:r>
              <a:rPr lang="en-US" altLang="en-US" b="1" dirty="0">
                <a:solidFill>
                  <a:srgbClr val="FF0000"/>
                </a:solidFill>
              </a:rPr>
              <a:t>Join Step: </a:t>
            </a:r>
          </a:p>
          <a:p>
            <a:pPr lvl="2" algn="just">
              <a:spcAft>
                <a:spcPts val="1200"/>
              </a:spcAft>
            </a:pPr>
            <a:r>
              <a:rPr lang="en-US" altLang="en-US" dirty="0"/>
              <a:t>This step generates (K+1) itemset from K-</a:t>
            </a:r>
            <a:r>
              <a:rPr lang="en-US" altLang="en-US" dirty="0" err="1"/>
              <a:t>itemsets</a:t>
            </a:r>
            <a:r>
              <a:rPr lang="en-US" altLang="en-US" dirty="0"/>
              <a:t> by joining each item with itself.</a:t>
            </a:r>
          </a:p>
          <a:p>
            <a:pPr lvl="1" algn="just">
              <a:spcAft>
                <a:spcPts val="1200"/>
              </a:spcAft>
            </a:pPr>
            <a:r>
              <a:rPr lang="en-US" altLang="en-US" b="1" dirty="0">
                <a:solidFill>
                  <a:srgbClr val="FF0000"/>
                </a:solidFill>
              </a:rPr>
              <a:t>Prune Step: </a:t>
            </a:r>
          </a:p>
          <a:p>
            <a:pPr lvl="2" algn="just">
              <a:spcAft>
                <a:spcPts val="1200"/>
              </a:spcAft>
            </a:pPr>
            <a:r>
              <a:rPr lang="en-US" altLang="en-US" dirty="0"/>
              <a:t>This step scans the count of each item in the database. </a:t>
            </a:r>
          </a:p>
          <a:p>
            <a:pPr lvl="2" algn="just">
              <a:spcAft>
                <a:spcPts val="1200"/>
              </a:spcAft>
            </a:pPr>
            <a:r>
              <a:rPr lang="en-US" altLang="en-US" dirty="0"/>
              <a:t>If the candidate item does not meet minimum support, then it is regarded as infrequent and thus it is removed. </a:t>
            </a:r>
          </a:p>
          <a:p>
            <a:pPr lvl="2" algn="just">
              <a:spcAft>
                <a:spcPts val="1200"/>
              </a:spcAft>
            </a:pPr>
            <a:r>
              <a:rPr lang="en-US" altLang="en-US" dirty="0"/>
              <a:t>This step is performed to reduce the size of the candidate </a:t>
            </a:r>
            <a:r>
              <a:rPr lang="en-US" altLang="en-US" dirty="0" err="1"/>
              <a:t>itemsets</a:t>
            </a:r>
            <a:r>
              <a:rPr lang="en-US" altLang="en-US" dirty="0"/>
              <a:t>.</a:t>
            </a:r>
            <a:endParaRPr lang="en-IN" dirty="0"/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Algorithm: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4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1996843"/>
            <a:ext cx="9455993" cy="4146424"/>
          </a:xfrm>
        </p:spPr>
        <p:txBody>
          <a:bodyPr/>
          <a:lstStyle/>
          <a:p>
            <a:pPr algn="just"/>
            <a:r>
              <a:rPr lang="en-US" sz="2200" dirty="0"/>
              <a:t>1) In the first iteration of the algorithm,</a:t>
            </a:r>
          </a:p>
          <a:p>
            <a:pPr lvl="1" algn="just"/>
            <a:r>
              <a:rPr lang="en-US" sz="2200" dirty="0"/>
              <a:t> each item is taken as a 1-itemsets candidate. </a:t>
            </a:r>
          </a:p>
          <a:p>
            <a:pPr lvl="1" algn="just"/>
            <a:r>
              <a:rPr lang="en-US" sz="2200" dirty="0"/>
              <a:t>The algorithm will count the occurrences of each item.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2) Let there be some minimum support, </a:t>
            </a:r>
            <a:r>
              <a:rPr lang="en-US" sz="2200" dirty="0" err="1"/>
              <a:t>min_sup</a:t>
            </a:r>
            <a:r>
              <a:rPr lang="en-US" sz="2200" dirty="0"/>
              <a:t> ( </a:t>
            </a:r>
            <a:r>
              <a:rPr lang="en-US" sz="2200" dirty="0" err="1"/>
              <a:t>eg</a:t>
            </a:r>
            <a:r>
              <a:rPr lang="en-US" sz="2200" dirty="0"/>
              <a:t> 2). </a:t>
            </a:r>
          </a:p>
          <a:p>
            <a:pPr lvl="1" algn="just"/>
            <a:r>
              <a:rPr lang="en-US" sz="2200" dirty="0"/>
              <a:t>The set of 1 – </a:t>
            </a:r>
            <a:r>
              <a:rPr lang="en-US" sz="2200" dirty="0" err="1"/>
              <a:t>itemsets</a:t>
            </a:r>
            <a:r>
              <a:rPr lang="en-US" sz="2200" dirty="0"/>
              <a:t> whose occurrence is satisfying the min sup are determined. </a:t>
            </a:r>
          </a:p>
          <a:p>
            <a:pPr lvl="1" algn="just"/>
            <a:r>
              <a:rPr lang="en-US" sz="2200" dirty="0"/>
              <a:t>Only those candidates which count more than or equal to </a:t>
            </a:r>
            <a:r>
              <a:rPr lang="en-US" sz="2200" dirty="0" err="1"/>
              <a:t>min_sup</a:t>
            </a:r>
            <a:r>
              <a:rPr lang="en-US" sz="2200" dirty="0"/>
              <a:t>, are taken ahead for the next iteration and the others are pruned.</a:t>
            </a:r>
            <a:endParaRPr lang="en-GB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Steps In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24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110" y="2108900"/>
            <a:ext cx="9455993" cy="4160188"/>
          </a:xfrm>
        </p:spPr>
        <p:txBody>
          <a:bodyPr/>
          <a:lstStyle/>
          <a:p>
            <a:pPr algn="just"/>
            <a:r>
              <a:rPr lang="en-US" sz="2200" dirty="0"/>
              <a:t>3) Next, </a:t>
            </a:r>
          </a:p>
          <a:p>
            <a:pPr lvl="1" algn="just"/>
            <a:r>
              <a:rPr lang="en-US" sz="2200" dirty="0"/>
              <a:t>2-itemset frequent items with </a:t>
            </a:r>
            <a:r>
              <a:rPr lang="en-US" sz="2200" dirty="0" err="1"/>
              <a:t>min_sup</a:t>
            </a:r>
            <a:r>
              <a:rPr lang="en-US" sz="2200" dirty="0"/>
              <a:t> are discovered. </a:t>
            </a:r>
          </a:p>
          <a:p>
            <a:pPr lvl="1" algn="just"/>
            <a:r>
              <a:rPr lang="en-US" sz="2200" dirty="0"/>
              <a:t>For this in the join step, the 2-itemset is generated by forming a group of 2 by combining items with itself.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4) The 2-itemset candidates are pruned using min-sup threshold value. </a:t>
            </a:r>
          </a:p>
          <a:p>
            <a:pPr lvl="1" algn="just"/>
            <a:r>
              <a:rPr lang="en-US" sz="2200" dirty="0"/>
              <a:t>Now the table will have 2 –</a:t>
            </a:r>
            <a:r>
              <a:rPr lang="en-US" sz="2200" dirty="0" err="1"/>
              <a:t>itemsets</a:t>
            </a:r>
            <a:r>
              <a:rPr lang="en-US" sz="2200" dirty="0"/>
              <a:t> with min-sup only.</a:t>
            </a:r>
          </a:p>
          <a:p>
            <a:pPr lvl="1" algn="just"/>
            <a:endParaRPr lang="en-US" sz="2200" dirty="0"/>
          </a:p>
          <a:p>
            <a:r>
              <a:rPr lang="en-US" sz="2200" b="0" i="0" u="none" strike="noStrike" baseline="0" dirty="0"/>
              <a:t>The algorithm is stopped when the most frequent itemset is achieved. </a:t>
            </a:r>
          </a:p>
          <a:p>
            <a:pPr lvl="1"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Steps In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55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Steps In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A71913-A1C4-475F-BE29-483543403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06" y="1647031"/>
            <a:ext cx="9601199" cy="5105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064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DECE1-AAC4-2445-A2B0-3AA97E2E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0B7A2-89D1-D24D-93CF-2D38D500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AAAFE5-26EF-5F47-91BB-61230BBF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Apriori</a:t>
            </a:r>
            <a:r>
              <a:rPr lang="en-GB" dirty="0"/>
              <a:t>: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3F84B-4CB1-5F4D-A751-A764679E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6" y="1383990"/>
            <a:ext cx="5361494" cy="56787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3D0E9F-5F5A-4FDE-928D-C253674205A9}"/>
              </a:ext>
            </a:extLst>
          </p:cNvPr>
          <p:cNvSpPr txBox="1"/>
          <p:nvPr/>
        </p:nvSpPr>
        <p:spPr>
          <a:xfrm>
            <a:off x="7327106" y="2518680"/>
            <a:ext cx="2438400" cy="415498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Min.Sup.Count</a:t>
            </a:r>
            <a:r>
              <a:rPr lang="en-US" dirty="0"/>
              <a:t>=2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6696E-5E78-4CF8-A1BB-781E9D18CBF5}"/>
              </a:ext>
            </a:extLst>
          </p:cNvPr>
          <p:cNvSpPr txBox="1"/>
          <p:nvPr/>
        </p:nvSpPr>
        <p:spPr>
          <a:xfrm>
            <a:off x="7328715" y="4483680"/>
            <a:ext cx="990600" cy="1708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I1</a:t>
            </a:r>
          </a:p>
          <a:p>
            <a:r>
              <a:rPr lang="en-US" dirty="0"/>
              <a:t>I2</a:t>
            </a:r>
          </a:p>
          <a:p>
            <a:r>
              <a:rPr lang="en-US" dirty="0"/>
              <a:t>I3</a:t>
            </a:r>
          </a:p>
          <a:p>
            <a:r>
              <a:rPr lang="en-US" dirty="0"/>
              <a:t>I4</a:t>
            </a:r>
          </a:p>
          <a:p>
            <a:r>
              <a:rPr lang="en-US" dirty="0"/>
              <a:t>I5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CA282-F206-49E8-A255-63F6C2BF07FD}"/>
              </a:ext>
            </a:extLst>
          </p:cNvPr>
          <p:cNvSpPr txBox="1"/>
          <p:nvPr/>
        </p:nvSpPr>
        <p:spPr>
          <a:xfrm>
            <a:off x="7314298" y="4068182"/>
            <a:ext cx="2438400" cy="41549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One Item Set</a:t>
            </a:r>
            <a:endParaRPr lang="en-IN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C75F1-FACC-FE46-A9F7-95999B84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CF428-3DD5-2B49-93A9-428128D8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81610-8397-1140-B23C-809A1423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7C0D6-D255-4361-BF31-6857FC05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" y="1875631"/>
            <a:ext cx="96393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C75F1-FACC-FE46-A9F7-95999B84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CF428-3DD5-2B49-93A9-428128D8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81610-8397-1140-B23C-809A1423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8BBAEC-2B06-F244-ACE1-83537411F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4735"/>
          <a:stretch/>
        </p:blipFill>
        <p:spPr>
          <a:xfrm>
            <a:off x="1075011" y="1494631"/>
            <a:ext cx="8919095" cy="5540553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00743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97D9-2866-7E4C-9790-8F069ED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306B2-7167-C546-9682-AE1BE9AB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BDB9B0-2DD0-C541-ACD0-57844642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27EF3F-0F78-43A6-A3F8-A0D60633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83" y="1904381"/>
            <a:ext cx="9391650" cy="473392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F1E2DC-9E1B-C076-579D-77E765E53288}"/>
              </a:ext>
            </a:extLst>
          </p:cNvPr>
          <p:cNvCxnSpPr>
            <a:cxnSpLocks/>
          </p:cNvCxnSpPr>
          <p:nvPr/>
        </p:nvCxnSpPr>
        <p:spPr>
          <a:xfrm>
            <a:off x="6184106" y="4104481"/>
            <a:ext cx="3048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796C7B-8780-5E86-993A-A2CBD9664EEA}"/>
              </a:ext>
            </a:extLst>
          </p:cNvPr>
          <p:cNvSpPr txBox="1"/>
          <p:nvPr/>
        </p:nvSpPr>
        <p:spPr>
          <a:xfrm>
            <a:off x="6641306" y="3924927"/>
            <a:ext cx="304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94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C75F1-FACC-FE46-A9F7-95999B84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CF428-3DD5-2B49-93A9-428128D8B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881610-8397-1140-B23C-809A1423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Apriori</a:t>
            </a:r>
            <a:r>
              <a:rPr lang="en-GB" dirty="0"/>
              <a:t>: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732E0-30E2-FE4B-8E99-973A7530D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2" y="1264958"/>
            <a:ext cx="9836994" cy="597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55B0D-9D34-4B4E-8DA4-E22F06DA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8943E-4639-48F4-9CEF-4A5D6616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E77EA0-C4AC-45AD-9719-0BB6DA6B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Apriori</a:t>
            </a:r>
            <a:r>
              <a:rPr lang="en-GB" dirty="0"/>
              <a:t>: Example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55AAF8-97A7-4E0B-8519-477BD49A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306" y="1726906"/>
            <a:ext cx="7229475" cy="508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5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5BED59-F6F0-DE8A-BA6D-C229EBAD3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4693254"/>
            <a:ext cx="9455993" cy="7620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B050"/>
                </a:solidFill>
              </a:rPr>
              <a:t>Generating Association Rules from  Frequent </a:t>
            </a:r>
            <a:r>
              <a:rPr lang="en-IN" sz="2800" dirty="0" err="1">
                <a:solidFill>
                  <a:srgbClr val="00B050"/>
                </a:solidFill>
              </a:rPr>
              <a:t>Itemsets</a:t>
            </a:r>
            <a:r>
              <a:rPr lang="en-IN" sz="28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3C0281-FCB5-8BA9-83E3-B2E6A1B3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AC8E-9F76-46B1-79D4-367D7178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37CA9F-4086-483A-AD38-60D2113F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Apriori</a:t>
            </a:r>
            <a:r>
              <a:rPr lang="en-GB" dirty="0"/>
              <a:t>: Example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78EDC-E946-226C-AA8B-1E0AAB0C3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270" y="1728168"/>
            <a:ext cx="30384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1F45A-6F0E-6647-AD16-034400A40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2165224"/>
          </a:xfrm>
        </p:spPr>
        <p:txBody>
          <a:bodyPr/>
          <a:lstStyle/>
          <a:p>
            <a:pPr algn="just"/>
            <a:r>
              <a:rPr lang="en-IN" b="1" dirty="0">
                <a:solidFill>
                  <a:schemeClr val="accent3"/>
                </a:solidFill>
              </a:rPr>
              <a:t>The data contain frequent itemset </a:t>
            </a:r>
            <a:r>
              <a:rPr lang="en-IN" b="1" i="1" dirty="0">
                <a:solidFill>
                  <a:schemeClr val="accent3"/>
                </a:solidFill>
              </a:rPr>
              <a:t>I</a:t>
            </a:r>
            <a:r>
              <a:rPr lang="en-IN" b="1" dirty="0">
                <a:solidFill>
                  <a:schemeClr val="accent3"/>
                </a:solidFill>
              </a:rPr>
              <a:t>= {I1, I2, I5}.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solidFill>
                  <a:srgbClr val="0000FF"/>
                </a:solidFill>
              </a:rPr>
              <a:t>What are the association rules that can be generated from </a:t>
            </a:r>
            <a:r>
              <a:rPr lang="en-IN" b="1" i="1" dirty="0">
                <a:solidFill>
                  <a:srgbClr val="0000FF"/>
                </a:solidFill>
              </a:rPr>
              <a:t>I</a:t>
            </a:r>
            <a:r>
              <a:rPr lang="en-IN" b="1" dirty="0">
                <a:solidFill>
                  <a:srgbClr val="0000FF"/>
                </a:solidFill>
              </a:rPr>
              <a:t>?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solidFill>
                  <a:srgbClr val="7030A0"/>
                </a:solidFill>
              </a:rPr>
              <a:t>The nonempty subsets of </a:t>
            </a:r>
            <a:r>
              <a:rPr lang="en-IN" b="1" i="1" dirty="0">
                <a:solidFill>
                  <a:srgbClr val="7030A0"/>
                </a:solidFill>
              </a:rPr>
              <a:t>I </a:t>
            </a:r>
            <a:r>
              <a:rPr lang="en-IN" b="1" dirty="0">
                <a:solidFill>
                  <a:srgbClr val="7030A0"/>
                </a:solidFill>
              </a:rPr>
              <a:t>are {I1, I2}, {I1, I5}, {I2, I5}, {I1}, {I2}, and {I5}. 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049E4-BB5A-F44B-ADE0-EF11808B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41ADD-8BEA-1849-AC8E-E17ED9DF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5B51D7-BA5E-5E42-8A8E-F58E732A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Association Rules from </a:t>
            </a:r>
            <a:br>
              <a:rPr lang="en-IN" dirty="0"/>
            </a:br>
            <a:r>
              <a:rPr lang="en-IN" dirty="0"/>
              <a:t>Frequent Itemsets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E0C8F-5563-4AED-BCED-FF821FC8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3" y="4240531"/>
            <a:ext cx="75914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6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1F45A-6F0E-6647-AD16-034400A4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resulting association rules are as shown below, each listed with its confidence: </a:t>
            </a:r>
          </a:p>
          <a:p>
            <a:pPr algn="just"/>
            <a:r>
              <a:rPr lang="en-IN" dirty="0"/>
              <a:t>{I1, I2} ⇒ I5	</a:t>
            </a:r>
          </a:p>
          <a:p>
            <a:pPr marL="708838" lvl="2" indent="0">
              <a:buNone/>
            </a:pPr>
            <a:r>
              <a:rPr lang="en-IN" sz="1800" b="1" i="0" u="none" strike="noStrike" baseline="0" dirty="0">
                <a:solidFill>
                  <a:srgbClr val="0000FF"/>
                </a:solidFill>
                <a:latin typeface="Georgia" panose="02040502050405020303" pitchFamily="18" charset="0"/>
              </a:rPr>
              <a:t>Confidence = support (I) / support (s)</a:t>
            </a:r>
          </a:p>
          <a:p>
            <a:pPr marL="708838" lvl="2" indent="0">
              <a:buNone/>
            </a:pPr>
            <a:r>
              <a:rPr lang="en-IN" sz="1800" b="1" i="0" u="none" strike="noStrike" baseline="0" dirty="0">
                <a:solidFill>
                  <a:schemeClr val="accent3"/>
                </a:solidFill>
                <a:latin typeface="Georgia" panose="02040502050405020303" pitchFamily="18" charset="0"/>
              </a:rPr>
              <a:t>Confidence = support {I1, I2, I</a:t>
            </a:r>
            <a:r>
              <a:rPr lang="en-IN" sz="1800" b="1" dirty="0">
                <a:solidFill>
                  <a:schemeClr val="accent3"/>
                </a:solidFill>
                <a:latin typeface="Georgia" panose="02040502050405020303" pitchFamily="18" charset="0"/>
              </a:rPr>
              <a:t>5</a:t>
            </a:r>
            <a:r>
              <a:rPr lang="en-IN" sz="1800" b="1" i="0" u="none" strike="noStrike" baseline="0" dirty="0">
                <a:solidFill>
                  <a:schemeClr val="accent3"/>
                </a:solidFill>
                <a:latin typeface="Georgia" panose="02040502050405020303" pitchFamily="18" charset="0"/>
              </a:rPr>
              <a:t> / support {I1, I2}</a:t>
            </a:r>
          </a:p>
          <a:p>
            <a:pPr marL="708838" lvl="2" indent="0">
              <a:buNone/>
            </a:pPr>
            <a:r>
              <a:rPr lang="en-IN" sz="1800" b="1" i="0" u="none" strike="noStrike" baseline="0" dirty="0">
                <a:solidFill>
                  <a:srgbClr val="00B050"/>
                </a:solidFill>
                <a:latin typeface="Georgia" panose="02040502050405020303" pitchFamily="18" charset="0"/>
              </a:rPr>
              <a:t>Confidence =  (2/ 4)* 100 =50% </a:t>
            </a:r>
          </a:p>
          <a:p>
            <a:pPr algn="just"/>
            <a:endParaRPr lang="en-IN" b="1" dirty="0"/>
          </a:p>
          <a:p>
            <a:pPr algn="just"/>
            <a:r>
              <a:rPr lang="en-IN" dirty="0"/>
              <a:t>{I1, I5} ⇒ I2, 		</a:t>
            </a:r>
            <a:r>
              <a:rPr lang="en-IN" b="1" i="1" dirty="0">
                <a:solidFill>
                  <a:srgbClr val="FF0000"/>
                </a:solidFill>
              </a:rPr>
              <a:t>confidence </a:t>
            </a:r>
            <a:r>
              <a:rPr lang="en-IN" b="1" dirty="0">
                <a:solidFill>
                  <a:srgbClr val="FF0000"/>
                </a:solidFill>
              </a:rPr>
              <a:t>= 2/2 = 100%</a:t>
            </a:r>
          </a:p>
          <a:p>
            <a:pPr algn="just"/>
            <a:r>
              <a:rPr lang="en-IN" dirty="0"/>
              <a:t>{I2, I5} ⇒ I1, 		</a:t>
            </a:r>
            <a:r>
              <a:rPr lang="en-IN" b="1" i="1" dirty="0">
                <a:solidFill>
                  <a:srgbClr val="FF0000"/>
                </a:solidFill>
              </a:rPr>
              <a:t>confidence </a:t>
            </a:r>
            <a:r>
              <a:rPr lang="en-IN" b="1" dirty="0">
                <a:solidFill>
                  <a:srgbClr val="FF0000"/>
                </a:solidFill>
              </a:rPr>
              <a:t>= 2/2 = 100%</a:t>
            </a:r>
          </a:p>
          <a:p>
            <a:pPr algn="just"/>
            <a:r>
              <a:rPr lang="en-IN" dirty="0"/>
              <a:t>I1 ⇒ {I2, I5}, 		</a:t>
            </a:r>
            <a:r>
              <a:rPr lang="en-IN" i="1" dirty="0"/>
              <a:t>confidence </a:t>
            </a:r>
            <a:r>
              <a:rPr lang="en-IN" dirty="0"/>
              <a:t>= 2/6 = 33%</a:t>
            </a:r>
          </a:p>
          <a:p>
            <a:pPr algn="just"/>
            <a:r>
              <a:rPr lang="en-IN" dirty="0"/>
              <a:t>I2 ⇒ {I1, I5}, 		</a:t>
            </a:r>
            <a:r>
              <a:rPr lang="en-IN" i="1" dirty="0"/>
              <a:t>confidence </a:t>
            </a:r>
            <a:r>
              <a:rPr lang="en-IN" dirty="0"/>
              <a:t>= 2/7 = 29%</a:t>
            </a:r>
          </a:p>
          <a:p>
            <a:pPr algn="just"/>
            <a:r>
              <a:rPr lang="en-IN" dirty="0"/>
              <a:t>I5 ⇒ {I1, I2}, 		</a:t>
            </a:r>
            <a:r>
              <a:rPr lang="en-IN" b="1" i="1" dirty="0">
                <a:solidFill>
                  <a:srgbClr val="FF0000"/>
                </a:solidFill>
              </a:rPr>
              <a:t>confidence </a:t>
            </a:r>
            <a:r>
              <a:rPr lang="en-IN" b="1" dirty="0">
                <a:solidFill>
                  <a:srgbClr val="FF0000"/>
                </a:solidFill>
              </a:rPr>
              <a:t>= 2/2 = 100% </a:t>
            </a:r>
          </a:p>
          <a:p>
            <a:pPr algn="just"/>
            <a:endParaRPr lang="en-IN" dirty="0"/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049E4-BB5A-F44B-ADE0-EF11808B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41ADD-8BEA-1849-AC8E-E17ED9DF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5B51D7-BA5E-5E42-8A8E-F58E732A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Association Rules from </a:t>
            </a:r>
            <a:br>
              <a:rPr lang="en-IN" dirty="0"/>
            </a:br>
            <a:r>
              <a:rPr lang="en-IN" dirty="0"/>
              <a:t>Frequent Itemsets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64842-C1A4-0A97-189C-6D0418DA3AD1}"/>
              </a:ext>
            </a:extLst>
          </p:cNvPr>
          <p:cNvSpPr txBox="1"/>
          <p:nvPr/>
        </p:nvSpPr>
        <p:spPr>
          <a:xfrm>
            <a:off x="7174706" y="5152231"/>
            <a:ext cx="2514600" cy="41549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Confidence = 70%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06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D0C3B-8341-DA4E-ACE4-B7D044FB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756024"/>
          </a:xfrm>
        </p:spPr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just"/>
            <a:r>
              <a:rPr lang="en-IN" sz="2200" b="1" i="0" u="none" strike="noStrike" baseline="0" dirty="0">
                <a:solidFill>
                  <a:srgbClr val="FF0000"/>
                </a:solidFill>
              </a:rPr>
              <a:t>Advantages </a:t>
            </a:r>
            <a:endParaRPr lang="en-IN" sz="2200" b="0" i="0" u="none" strike="noStrike" baseline="0" dirty="0">
              <a:solidFill>
                <a:srgbClr val="FF0000"/>
              </a:solidFill>
            </a:endParaRPr>
          </a:p>
          <a:p>
            <a:pPr lvl="1" algn="just"/>
            <a:r>
              <a:rPr lang="en-IN" sz="2200" b="0" i="0" u="none" strike="noStrike" baseline="0" dirty="0">
                <a:solidFill>
                  <a:srgbClr val="000000"/>
                </a:solidFill>
              </a:rPr>
              <a:t>Easy to understand algorithm </a:t>
            </a:r>
          </a:p>
          <a:p>
            <a:pPr lvl="1" algn="just"/>
            <a:r>
              <a:rPr lang="en-US" sz="2200" b="0" i="0" u="none" strike="noStrike" baseline="0" dirty="0">
                <a:solidFill>
                  <a:srgbClr val="000000"/>
                </a:solidFill>
              </a:rPr>
              <a:t>Join and Prune steps are easy to implement on large </a:t>
            </a:r>
            <a:r>
              <a:rPr lang="en-US" sz="2200" b="0" i="0" u="none" strike="noStrike" baseline="0" dirty="0" err="1">
                <a:solidFill>
                  <a:srgbClr val="000000"/>
                </a:solidFill>
              </a:rPr>
              <a:t>itemsets</a:t>
            </a:r>
            <a:r>
              <a:rPr lang="en-US" sz="2200" b="0" i="0" u="none" strike="noStrike" baseline="0" dirty="0">
                <a:solidFill>
                  <a:srgbClr val="000000"/>
                </a:solidFill>
              </a:rPr>
              <a:t> in large databases </a:t>
            </a:r>
          </a:p>
          <a:p>
            <a:pPr algn="just"/>
            <a:endParaRPr lang="en-IN" sz="2200" b="0" i="0" u="none" strike="noStrike" baseline="0" dirty="0">
              <a:solidFill>
                <a:srgbClr val="000000"/>
              </a:solidFill>
            </a:endParaRPr>
          </a:p>
          <a:p>
            <a:pPr algn="just"/>
            <a:r>
              <a:rPr lang="en-IN" sz="2200" b="1" i="0" u="none" strike="noStrike" baseline="0" dirty="0">
                <a:solidFill>
                  <a:srgbClr val="FF0000"/>
                </a:solidFill>
              </a:rPr>
              <a:t>Disadvantages </a:t>
            </a:r>
            <a:endParaRPr lang="en-IN" sz="2200" b="0" i="0" u="none" strike="noStrike" baseline="0" dirty="0">
              <a:solidFill>
                <a:srgbClr val="FF0000"/>
              </a:solidFill>
            </a:endParaRPr>
          </a:p>
          <a:p>
            <a:pPr lvl="1" algn="just"/>
            <a:r>
              <a:rPr lang="en-US" sz="2200" b="0" i="0" u="none" strike="noStrike" baseline="0" dirty="0">
                <a:solidFill>
                  <a:srgbClr val="000000"/>
                </a:solidFill>
              </a:rPr>
              <a:t>It requires high computation if the </a:t>
            </a:r>
            <a:r>
              <a:rPr lang="en-US" sz="2200" b="0" i="0" u="none" strike="noStrike" baseline="0" dirty="0" err="1">
                <a:solidFill>
                  <a:srgbClr val="000000"/>
                </a:solidFill>
              </a:rPr>
              <a:t>itemsets</a:t>
            </a:r>
            <a:r>
              <a:rPr lang="en-US" sz="2200" b="0" i="0" u="none" strike="noStrike" baseline="0" dirty="0">
                <a:solidFill>
                  <a:srgbClr val="000000"/>
                </a:solidFill>
              </a:rPr>
              <a:t> are very large and the minimum support is kept very low. </a:t>
            </a:r>
          </a:p>
          <a:p>
            <a:pPr lvl="1" algn="just"/>
            <a:r>
              <a:rPr lang="en-US" sz="2200" b="0" i="0" u="none" strike="noStrike" baseline="0" dirty="0">
                <a:solidFill>
                  <a:srgbClr val="000000"/>
                </a:solidFill>
              </a:rPr>
              <a:t>The entire database needs to be scanned. </a:t>
            </a: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1503C-DCC7-0D48-907F-0B2E7F5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01598-F030-CA4C-8E9A-CEC59D2C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7BED66-848A-AC44-B036-B598E0DE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Algorithm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68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D6F026-2959-DE43-BBD7-A8980AAC1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2200" b="1" dirty="0">
                <a:solidFill>
                  <a:srgbClr val="FF0000"/>
                </a:solidFill>
              </a:rPr>
              <a:t>Transaction reduction </a:t>
            </a:r>
            <a:r>
              <a:rPr lang="en-IN" altLang="en-US" sz="2200" dirty="0"/>
              <a:t>(reducing the number of transactions scanned in future </a:t>
            </a:r>
            <a:r>
              <a:rPr lang="en-IN" altLang="en-US" sz="2200" dirty="0" err="1"/>
              <a:t>iteraions</a:t>
            </a:r>
            <a:r>
              <a:rPr lang="en-IN" altLang="en-US" sz="2200" dirty="0"/>
              <a:t>): </a:t>
            </a:r>
          </a:p>
          <a:p>
            <a:pPr lvl="1" algn="just"/>
            <a:r>
              <a:rPr lang="en-IN" altLang="en-US" sz="2200" dirty="0"/>
              <a:t>A transaction that does not contain any frequent </a:t>
            </a:r>
            <a:r>
              <a:rPr lang="en-IN" altLang="en-US" sz="2200" i="1" dirty="0"/>
              <a:t>k</a:t>
            </a:r>
            <a:r>
              <a:rPr lang="en-IN" altLang="en-US" sz="2200" dirty="0"/>
              <a:t>-</a:t>
            </a:r>
            <a:r>
              <a:rPr lang="en-IN" altLang="en-US" sz="2200" dirty="0" err="1"/>
              <a:t>itemsets</a:t>
            </a:r>
            <a:r>
              <a:rPr lang="en-IN" altLang="en-US" sz="2200" dirty="0"/>
              <a:t> cannot contain any frequent (</a:t>
            </a:r>
            <a:r>
              <a:rPr lang="en-IN" altLang="en-US" sz="2200" i="1" dirty="0"/>
              <a:t>k </a:t>
            </a:r>
            <a:r>
              <a:rPr lang="en-IN" altLang="en-US" sz="2200" dirty="0"/>
              <a:t>+ 1)-</a:t>
            </a:r>
            <a:r>
              <a:rPr lang="en-IN" altLang="en-US" sz="2200" dirty="0" err="1"/>
              <a:t>itemsets</a:t>
            </a:r>
            <a:r>
              <a:rPr lang="en-IN" altLang="en-US" sz="2200" dirty="0"/>
              <a:t>. </a:t>
            </a:r>
          </a:p>
          <a:p>
            <a:pPr algn="just"/>
            <a:r>
              <a:rPr lang="en-IN" altLang="en-US" sz="2200" b="1" dirty="0">
                <a:solidFill>
                  <a:srgbClr val="FF0000"/>
                </a:solidFill>
              </a:rPr>
              <a:t>Partitioning</a:t>
            </a:r>
            <a:r>
              <a:rPr lang="en-IN" altLang="en-US" sz="2200" b="1" dirty="0"/>
              <a:t> </a:t>
            </a:r>
            <a:r>
              <a:rPr lang="en-IN" altLang="en-US" sz="2200" dirty="0"/>
              <a:t>(partitioning the data to find candidate </a:t>
            </a:r>
            <a:r>
              <a:rPr lang="en-IN" altLang="en-US" sz="2200" dirty="0" err="1"/>
              <a:t>itemsets</a:t>
            </a:r>
            <a:r>
              <a:rPr lang="en-IN" altLang="en-US" sz="2200" dirty="0"/>
              <a:t>): </a:t>
            </a:r>
          </a:p>
          <a:p>
            <a:pPr lvl="1" algn="just"/>
            <a:r>
              <a:rPr lang="en-IN" altLang="en-US" sz="2200" dirty="0"/>
              <a:t>A partitioning technique can be used that requires just two database scans to mine the frequent </a:t>
            </a:r>
            <a:r>
              <a:rPr lang="en-IN" altLang="en-US" sz="2200" dirty="0" err="1"/>
              <a:t>itemsets</a:t>
            </a:r>
            <a:r>
              <a:rPr lang="en-IN" altLang="en-US" sz="2200" dirty="0"/>
              <a:t>. </a:t>
            </a: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7BC38-DF29-2D4D-968C-9FF27368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A6253-CCD9-134E-A332-C0880C79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43E1DC-AE4E-3642-990C-47A83A1A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Improving the Efficiency of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55EA8B2-C044-564E-9F30-7ABDFF90A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11" y="4385896"/>
            <a:ext cx="7855794" cy="277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84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D6F026-2959-DE43-BBD7-A8980AAC1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2485231"/>
            <a:ext cx="9455993" cy="2165224"/>
          </a:xfrm>
        </p:spPr>
        <p:txBody>
          <a:bodyPr/>
          <a:lstStyle/>
          <a:p>
            <a:pPr algn="just"/>
            <a:r>
              <a:rPr lang="en-IN" altLang="en-US" sz="2200" b="1" dirty="0"/>
              <a:t>Sampling </a:t>
            </a:r>
            <a:r>
              <a:rPr lang="en-IN" altLang="en-US" sz="2200" dirty="0"/>
              <a:t>(mining on a subset of the given data): </a:t>
            </a:r>
          </a:p>
          <a:p>
            <a:pPr lvl="1" algn="just"/>
            <a:r>
              <a:rPr lang="en-IN" altLang="en-US" sz="2200" dirty="0"/>
              <a:t>The basic idea of the sampling approach </a:t>
            </a:r>
            <a:r>
              <a:rPr lang="en-IN" altLang="en-US" sz="2200" dirty="0">
                <a:solidFill>
                  <a:srgbClr val="FF0000"/>
                </a:solidFill>
              </a:rPr>
              <a:t>is to pick a random sample </a:t>
            </a:r>
            <a:r>
              <a:rPr lang="en-IN" altLang="en-US" sz="2200" i="1" dirty="0">
                <a:solidFill>
                  <a:srgbClr val="FF0000"/>
                </a:solidFill>
              </a:rPr>
              <a:t>S </a:t>
            </a:r>
            <a:r>
              <a:rPr lang="en-IN" altLang="en-US" sz="2200" dirty="0"/>
              <a:t>of the given data </a:t>
            </a:r>
            <a:r>
              <a:rPr lang="en-IN" altLang="en-US" sz="2200" i="1" dirty="0"/>
              <a:t>D</a:t>
            </a:r>
            <a:r>
              <a:rPr lang="en-IN" altLang="en-US" sz="2200" dirty="0"/>
              <a:t>, and then search for frequent </a:t>
            </a:r>
            <a:r>
              <a:rPr lang="en-IN" altLang="en-US" sz="2200" dirty="0" err="1"/>
              <a:t>itemsets</a:t>
            </a:r>
            <a:r>
              <a:rPr lang="en-IN" altLang="en-US" sz="2200" dirty="0"/>
              <a:t> in </a:t>
            </a:r>
            <a:r>
              <a:rPr lang="en-IN" altLang="en-US" sz="2200" i="1" dirty="0"/>
              <a:t>S </a:t>
            </a:r>
            <a:r>
              <a:rPr lang="en-IN" altLang="en-US" sz="2200" dirty="0"/>
              <a:t>instead of </a:t>
            </a:r>
            <a:r>
              <a:rPr lang="en-IN" altLang="en-US" sz="2200" i="1" dirty="0"/>
              <a:t>D</a:t>
            </a:r>
            <a:r>
              <a:rPr lang="en-IN" altLang="en-US" sz="2200" dirty="0"/>
              <a:t>. </a:t>
            </a:r>
          </a:p>
          <a:p>
            <a:pPr lvl="1" algn="just"/>
            <a:r>
              <a:rPr lang="en-IN" altLang="en-US" sz="2200" dirty="0"/>
              <a:t>In this way, we </a:t>
            </a:r>
            <a:r>
              <a:rPr lang="en-IN" altLang="en-US" sz="2200" dirty="0">
                <a:solidFill>
                  <a:srgbClr val="FF0000"/>
                </a:solidFill>
              </a:rPr>
              <a:t>trade off some degree of accuracy against efficiency. </a:t>
            </a:r>
          </a:p>
          <a:p>
            <a:pPr algn="just"/>
            <a:endParaRPr lang="en-IN" altLang="en-US" sz="2200" dirty="0"/>
          </a:p>
          <a:p>
            <a:pPr lvl="2" algn="just"/>
            <a:endParaRPr lang="en-IN" altLang="en-US" sz="2200" dirty="0"/>
          </a:p>
          <a:p>
            <a:pPr marL="756094" lvl="2" indent="0" algn="just">
              <a:buNone/>
            </a:pPr>
            <a:endParaRPr lang="en-IN" altLang="en-US" sz="2200" i="1" dirty="0"/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7BC38-DF29-2D4D-968C-9FF27368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A6253-CCD9-134E-A332-C0880C79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43E1DC-AE4E-3642-990C-47A83A1A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Improving the Efficiency of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51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33A0-8D8A-78F6-2614-903FB1C6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83F8C-005D-2084-9AC9-C4E8C011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FF24FF-1D21-8398-916B-F493F783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D663A2-F522-64C7-8BF4-A37932AF9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06" y="1494631"/>
            <a:ext cx="9067800" cy="533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71410E-818F-ABD8-5697-717E0B95A876}"/>
              </a:ext>
            </a:extLst>
          </p:cNvPr>
          <p:cNvSpPr txBox="1"/>
          <p:nvPr/>
        </p:nvSpPr>
        <p:spPr>
          <a:xfrm>
            <a:off x="6260306" y="1494631"/>
            <a:ext cx="3505201" cy="73866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FF"/>
                </a:solidFill>
              </a:rPr>
              <a:t>Support – 33%</a:t>
            </a:r>
          </a:p>
          <a:p>
            <a:r>
              <a:rPr lang="en-IN" b="1" dirty="0">
                <a:solidFill>
                  <a:srgbClr val="0000FF"/>
                </a:solidFill>
              </a:rPr>
              <a:t>Confidence – 50%</a:t>
            </a:r>
          </a:p>
        </p:txBody>
      </p:sp>
    </p:spTree>
    <p:extLst>
      <p:ext uri="{BB962C8B-B14F-4D97-AF65-F5344CB8AC3E}">
        <p14:creationId xmlns:p14="http://schemas.microsoft.com/office/powerpoint/2010/main" val="359685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CF220F-3AC3-9C0C-1F6A-AB17CCBBB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106" y="2926619"/>
            <a:ext cx="9455993" cy="2987612"/>
          </a:xfrm>
        </p:spPr>
        <p:txBody>
          <a:bodyPr/>
          <a:lstStyle/>
          <a:p>
            <a:pPr algn="just"/>
            <a:r>
              <a:rPr lang="en-IN" sz="2800" dirty="0">
                <a:hlinkClick r:id="rId2"/>
              </a:rPr>
              <a:t>https://www.youtube.com/watch?v=NT6beZBYbmU</a:t>
            </a:r>
            <a:endParaRPr lang="en-IN" sz="2800" dirty="0"/>
          </a:p>
          <a:p>
            <a:pPr algn="just"/>
            <a:endParaRPr lang="en-IN" sz="2800" dirty="0"/>
          </a:p>
          <a:p>
            <a:pPr algn="just"/>
            <a:r>
              <a:rPr lang="en-IN" sz="2800" dirty="0">
                <a:hlinkClick r:id="rId3"/>
              </a:rPr>
              <a:t>https://www.youtube.com/watch?v=43CMKRHdH30</a:t>
            </a:r>
            <a:endParaRPr lang="en-IN" sz="2800" dirty="0"/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https://www.youtube.com/watch?v=yXEtrsiuxvQ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CF8A8-BB54-F6A1-4DED-48DEC0ACF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9E64-7F9E-D14F-3C6F-4F0F9777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3C74FC-624F-5D6B-AB49-86238DF9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8700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675C236-852D-ED4D-A0BD-7361C6F7D2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8147" r="5255" b="8028"/>
          <a:stretch/>
        </p:blipFill>
        <p:spPr bwMode="auto">
          <a:xfrm>
            <a:off x="88106" y="0"/>
            <a:ext cx="1840707" cy="80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A1D25D-4219-13B0-7E07-5392E8415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3" y="1113631"/>
            <a:ext cx="7608093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22093"/>
      </p:ext>
    </p:extLst>
  </p:cSld>
  <p:clrMapOvr>
    <a:masterClrMapping/>
  </p:clrMapOvr>
  <p:transition>
    <p:zo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04OLAP</Template>
  <TotalTime>22124</TotalTime>
  <Words>1320</Words>
  <Application>Microsoft Office PowerPoint</Application>
  <PresentationFormat>Custom</PresentationFormat>
  <Paragraphs>174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Cambria</vt:lpstr>
      <vt:lpstr>Georgia</vt:lpstr>
      <vt:lpstr>Tw Cen MT</vt:lpstr>
      <vt:lpstr>Wingdings</vt:lpstr>
      <vt:lpstr>Wingdings 2</vt:lpstr>
      <vt:lpstr>WidescreenPresentation16x9</vt:lpstr>
      <vt:lpstr>PowerPoint Presentation</vt:lpstr>
      <vt:lpstr>Mining Frequent Patterns, Associations,  and Correlations</vt:lpstr>
      <vt:lpstr>Apriori Algorithm: Finding Frequent  Itemsets by Confined Candidate Generation </vt:lpstr>
      <vt:lpstr>Apriori Algorithm: Finding Frequent  Itemsets by Confined Candidate Generation </vt:lpstr>
      <vt:lpstr>Apriori Algorithm:</vt:lpstr>
      <vt:lpstr>Apriori Algorithm:</vt:lpstr>
      <vt:lpstr>Steps In Apriori</vt:lpstr>
      <vt:lpstr>Steps In Apriori</vt:lpstr>
      <vt:lpstr>Steps In Apriori</vt:lpstr>
      <vt:lpstr>Apriori: Example</vt:lpstr>
      <vt:lpstr>Example</vt:lpstr>
      <vt:lpstr>Example</vt:lpstr>
      <vt:lpstr>Example</vt:lpstr>
      <vt:lpstr>Apriori: Example</vt:lpstr>
      <vt:lpstr>Apriori: Example</vt:lpstr>
      <vt:lpstr>Apriori: Example</vt:lpstr>
      <vt:lpstr>Generating Association Rules from  Frequent Itemsets </vt:lpstr>
      <vt:lpstr>Generating Association Rules from  Frequent Itemsets </vt:lpstr>
      <vt:lpstr> Apriori Algorithm</vt:lpstr>
      <vt:lpstr>Improving the Efficiency of Apriori </vt:lpstr>
      <vt:lpstr>Improving the Efficiency of Apriori </vt:lpstr>
      <vt:lpstr>Practice Problem</vt:lpstr>
      <vt:lpstr>References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Oxidation of Organic Compounds using Nanomaterial Based Technologies</dc:title>
  <dc:creator>Gautham Jegadeesan</dc:creator>
  <cp:lastModifiedBy>Manikandan G</cp:lastModifiedBy>
  <cp:revision>940</cp:revision>
  <cp:lastPrinted>2020-09-05T11:27:37Z</cp:lastPrinted>
  <dcterms:created xsi:type="dcterms:W3CDTF">2015-02-25T10:23:39Z</dcterms:created>
  <dcterms:modified xsi:type="dcterms:W3CDTF">2025-02-05T04:54:47Z</dcterms:modified>
</cp:coreProperties>
</file>