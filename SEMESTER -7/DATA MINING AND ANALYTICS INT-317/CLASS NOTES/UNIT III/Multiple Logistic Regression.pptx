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1" r:id="rId5"/>
    <p:sldId id="263" r:id="rId6"/>
    <p:sldId id="259" r:id="rId7"/>
    <p:sldId id="262" r:id="rId8"/>
    <p:sldId id="264" r:id="rId9"/>
    <p:sldId id="260" r:id="rId10"/>
    <p:sldId id="268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51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086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48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95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64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13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844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406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308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221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2394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537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0662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6341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677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18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55A80-7CEF-497D-B708-3DC33BD53CC4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891FC11-6078-4E64-8843-5E6BE650C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3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120D-1629-97D0-593A-0A6A4ACD6A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UNIT-III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6B0BF3-8BEF-6B07-2D3D-69A0AE583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2153322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dirty="0"/>
              <a:t>Multiple logistic regression 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dirty="0"/>
              <a:t>Forward method 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dirty="0"/>
              <a:t>Backward method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50102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86FF-9114-E04A-5B40-A5A1A635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56" y="43376"/>
            <a:ext cx="8596668" cy="65471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Multiple Logistic Regression (MLR)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1A34B-8523-D986-3422-A5EAC59F35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4044" y="784073"/>
                <a:ext cx="11544162" cy="5872366"/>
              </a:xfrm>
            </p:spPr>
            <p:txBody>
              <a:bodyPr>
                <a:noAutofit/>
              </a:bodyPr>
              <a:lstStyle/>
              <a:p>
                <a:r>
                  <a:rPr lang="en-IN" sz="2600" b="1" dirty="0"/>
                  <a:t>Purpose</a:t>
                </a:r>
                <a:r>
                  <a:rPr lang="en-IN" sz="2600" dirty="0"/>
                  <a:t>: Models the probability of a </a:t>
                </a:r>
                <a:r>
                  <a:rPr lang="en-IN" sz="2600" dirty="0">
                    <a:solidFill>
                      <a:srgbClr val="FF0000"/>
                    </a:solidFill>
                  </a:rPr>
                  <a:t>binary outcome </a:t>
                </a:r>
                <a:r>
                  <a:rPr lang="en-IN" sz="2600" dirty="0"/>
                  <a:t>(e.g., disease present vs. not present) using </a:t>
                </a:r>
                <a:r>
                  <a:rPr lang="en-IN" sz="2600" dirty="0">
                    <a:solidFill>
                      <a:srgbClr val="FF0000"/>
                    </a:solidFill>
                  </a:rPr>
                  <a:t>multiple predictor variables.</a:t>
                </a:r>
              </a:p>
              <a:p>
                <a:r>
                  <a:rPr lang="en-IN" sz="2600" b="1" dirty="0"/>
                  <a:t>Equation (general form)</a:t>
                </a:r>
                <a:r>
                  <a:rPr lang="en-IN" sz="2600" dirty="0"/>
                  <a:t>: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ar-AE" sz="26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600"/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ar-AE" sz="2600" i="1"/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2600" i="1"/>
                                </m:ctrlPr>
                              </m:fPr>
                              <m:num>
                                <m:r>
                                  <a:rPr lang="ar-AE" sz="2600" i="1"/>
                                  <m:t>𝑝</m:t>
                                </m:r>
                              </m:num>
                              <m:den>
                                <m:r>
                                  <a:rPr lang="ar-AE" sz="2600"/>
                                  <m:t>1</m:t>
                                </m:r>
                                <m:r>
                                  <a:rPr lang="ar-AE" sz="2600"/>
                                  <m:t>−</m:t>
                                </m:r>
                                <m:r>
                                  <a:rPr lang="ar-AE" sz="2600" i="1"/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ar-AE" sz="2600"/>
                      <m:t>=</m:t>
                    </m:r>
                    <m:sSub>
                      <m:sSubPr>
                        <m:ctrlPr>
                          <a:rPr lang="ar-AE" sz="2600" i="1"/>
                        </m:ctrlPr>
                      </m:sSubPr>
                      <m:e>
                        <m:r>
                          <a:rPr lang="ar-AE" sz="2600" i="1"/>
                          <m:t>𝛽</m:t>
                        </m:r>
                      </m:e>
                      <m:sub>
                        <m:r>
                          <a:rPr lang="ar-AE" sz="2600"/>
                          <m:t>0</m:t>
                        </m:r>
                      </m:sub>
                    </m:sSub>
                    <m:r>
                      <a:rPr lang="ar-AE" sz="2600"/>
                      <m:t>+</m:t>
                    </m:r>
                    <m:sSub>
                      <m:sSubPr>
                        <m:ctrlPr>
                          <a:rPr lang="ar-AE" sz="2600" i="1"/>
                        </m:ctrlPr>
                      </m:sSubPr>
                      <m:e>
                        <m:r>
                          <a:rPr lang="ar-AE" sz="2600" i="1"/>
                          <m:t>𝛽</m:t>
                        </m:r>
                      </m:e>
                      <m:sub>
                        <m:r>
                          <a:rPr lang="ar-AE" sz="2600"/>
                          <m:t>1</m:t>
                        </m:r>
                      </m:sub>
                    </m:sSub>
                    <m:sSub>
                      <m:sSubPr>
                        <m:ctrlPr>
                          <a:rPr lang="ar-AE" sz="2600" i="1"/>
                        </m:ctrlPr>
                      </m:sSubPr>
                      <m:e>
                        <m:r>
                          <a:rPr lang="ar-AE" sz="2600" i="1"/>
                          <m:t>𝑋</m:t>
                        </m:r>
                      </m:e>
                      <m:sub>
                        <m:r>
                          <a:rPr lang="ar-AE" sz="2600"/>
                          <m:t>1</m:t>
                        </m:r>
                      </m:sub>
                    </m:sSub>
                    <m:r>
                      <a:rPr lang="ar-AE" sz="2600"/>
                      <m:t>+</m:t>
                    </m:r>
                    <m:sSub>
                      <m:sSubPr>
                        <m:ctrlPr>
                          <a:rPr lang="ar-AE" sz="2600" i="1"/>
                        </m:ctrlPr>
                      </m:sSubPr>
                      <m:e>
                        <m:r>
                          <a:rPr lang="ar-AE" sz="2600" i="1"/>
                          <m:t>𝛽</m:t>
                        </m:r>
                      </m:e>
                      <m:sub>
                        <m:r>
                          <a:rPr lang="ar-AE" sz="2600"/>
                          <m:t>2</m:t>
                        </m:r>
                      </m:sub>
                    </m:sSub>
                    <m:sSub>
                      <m:sSubPr>
                        <m:ctrlPr>
                          <a:rPr lang="ar-AE" sz="2600" i="1"/>
                        </m:ctrlPr>
                      </m:sSubPr>
                      <m:e>
                        <m:r>
                          <a:rPr lang="ar-AE" sz="2600" i="1"/>
                          <m:t>𝑋</m:t>
                        </m:r>
                      </m:e>
                      <m:sub>
                        <m:r>
                          <a:rPr lang="ar-AE" sz="2600"/>
                          <m:t>2</m:t>
                        </m:r>
                      </m:sub>
                    </m:sSub>
                    <m:r>
                      <a:rPr lang="ar-AE" sz="2600"/>
                      <m:t>+...+</m:t>
                    </m:r>
                    <m:sSub>
                      <m:sSubPr>
                        <m:ctrlPr>
                          <a:rPr lang="ar-AE" sz="2600" i="1"/>
                        </m:ctrlPr>
                      </m:sSubPr>
                      <m:e>
                        <m:r>
                          <a:rPr lang="ar-AE" sz="2600" i="1"/>
                          <m:t>𝛽</m:t>
                        </m:r>
                      </m:e>
                      <m:sub>
                        <m:r>
                          <a:rPr lang="ar-AE" sz="2600" i="1"/>
                          <m:t>𝑘</m:t>
                        </m:r>
                      </m:sub>
                    </m:sSub>
                    <m:sSub>
                      <m:sSubPr>
                        <m:ctrlPr>
                          <a:rPr lang="ar-AE" sz="2600" i="1"/>
                        </m:ctrlPr>
                      </m:sSubPr>
                      <m:e>
                        <m:r>
                          <a:rPr lang="ar-AE" sz="2600" i="1"/>
                          <m:t>𝑋</m:t>
                        </m:r>
                      </m:e>
                      <m:sub>
                        <m:r>
                          <a:rPr lang="ar-AE" sz="2600" i="1"/>
                          <m:t>𝑘</m:t>
                        </m:r>
                      </m:sub>
                    </m:sSub>
                  </m:oMath>
                </a14:m>
                <a:endParaRPr lang="ar-AE" sz="2600" dirty="0"/>
              </a:p>
              <a:p>
                <a:pPr marL="0" indent="0">
                  <a:buNone/>
                </a:pPr>
                <a:r>
                  <a:rPr lang="en-IN" sz="2600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IN" sz="2600" i="1"/>
                      <m:t>𝑝</m:t>
                    </m:r>
                  </m:oMath>
                </a14:m>
                <a:r>
                  <a:rPr lang="en-IN" sz="2600" dirty="0"/>
                  <a:t>= probability of the event occurring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600"/>
                        </m:ctrlPr>
                      </m:sSubPr>
                      <m:e>
                        <m:r>
                          <a:rPr lang="ar-AE" sz="2600" i="1"/>
                          <m:t>𝑋</m:t>
                        </m:r>
                      </m:e>
                      <m:sub>
                        <m:r>
                          <a:rPr lang="ar-AE" sz="2600" i="1"/>
                          <m:t>𝑖</m:t>
                        </m:r>
                      </m:sub>
                    </m:sSub>
                  </m:oMath>
                </a14:m>
                <a:r>
                  <a:rPr lang="ar-AE" sz="2600" dirty="0"/>
                  <a:t>= </a:t>
                </a:r>
                <a:r>
                  <a:rPr lang="en-IN" sz="2600" dirty="0"/>
                  <a:t>predictor variables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600"/>
                        </m:ctrlPr>
                      </m:sSubPr>
                      <m:e>
                        <m:r>
                          <a:rPr lang="ar-AE" sz="2600" i="1"/>
                          <m:t>𝛽</m:t>
                        </m:r>
                      </m:e>
                      <m:sub>
                        <m:r>
                          <a:rPr lang="ar-AE" sz="2600" i="1"/>
                          <m:t>𝑖</m:t>
                        </m:r>
                      </m:sub>
                    </m:sSub>
                  </m:oMath>
                </a14:m>
                <a:r>
                  <a:rPr lang="ar-AE" sz="2600" dirty="0"/>
                  <a:t>= </a:t>
                </a:r>
                <a:r>
                  <a:rPr lang="en-IN" sz="2600" dirty="0"/>
                  <a:t>regression coefficients</a:t>
                </a:r>
              </a:p>
              <a:p>
                <a:r>
                  <a:rPr lang="en-IN" sz="2600" b="1" dirty="0"/>
                  <a:t>Interpretation</a:t>
                </a:r>
                <a:r>
                  <a:rPr lang="en-IN" sz="2600" dirty="0"/>
                  <a:t>: Each coefficient represents the log-odds change in the outcome per unit change in that predictor, holding other variables constant.</a:t>
                </a:r>
              </a:p>
              <a:p>
                <a:endParaRPr lang="en-IN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1A34B-8523-D986-3422-A5EAC59F35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4044" y="784073"/>
                <a:ext cx="11544162" cy="5872366"/>
              </a:xfrm>
              <a:blipFill>
                <a:blip r:embed="rId2"/>
                <a:stretch>
                  <a:fillRect l="-951" t="-10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34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80359-B327-D7A3-6853-F9D970CAA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53" y="156238"/>
            <a:ext cx="8596668" cy="57134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1. Forward Selection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7C560-C0B8-EA41-D795-53B065BEA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589" y="727587"/>
            <a:ext cx="11622821" cy="6302478"/>
          </a:xfrm>
        </p:spPr>
        <p:txBody>
          <a:bodyPr>
            <a:noAutofit/>
          </a:bodyPr>
          <a:lstStyle/>
          <a:p>
            <a:r>
              <a:rPr lang="en-US" sz="2400" dirty="0"/>
              <a:t>When you have many predictors, you usually don’t include them all at once—some </a:t>
            </a:r>
            <a:r>
              <a:rPr lang="en-US" sz="2400" dirty="0">
                <a:solidFill>
                  <a:srgbClr val="FF0000"/>
                </a:solidFill>
              </a:rPr>
              <a:t>may be irrelevant or redundant. </a:t>
            </a:r>
            <a:r>
              <a:rPr lang="en-US" sz="2400" dirty="0"/>
              <a:t>That’s where </a:t>
            </a:r>
            <a:r>
              <a:rPr lang="en-US" sz="2400" b="1" dirty="0"/>
              <a:t>Forward</a:t>
            </a:r>
            <a:r>
              <a:rPr lang="en-US" sz="2400" dirty="0"/>
              <a:t> and </a:t>
            </a:r>
            <a:r>
              <a:rPr lang="en-US" sz="2400" b="1" dirty="0"/>
              <a:t>Backward Selection</a:t>
            </a:r>
            <a:r>
              <a:rPr lang="en-US" sz="2400" dirty="0"/>
              <a:t> come in.</a:t>
            </a:r>
          </a:p>
          <a:p>
            <a:r>
              <a:rPr lang="en-US" sz="2400" b="1" dirty="0"/>
              <a:t>Process</a:t>
            </a:r>
            <a:r>
              <a:rPr lang="en-US" sz="2400" dirty="0"/>
              <a:t>: Start with no predictors → add them one at a time.</a:t>
            </a:r>
          </a:p>
          <a:p>
            <a:r>
              <a:rPr lang="en-US" sz="2400" dirty="0"/>
              <a:t>Steps:</a:t>
            </a:r>
          </a:p>
          <a:p>
            <a:pPr lvl="1"/>
            <a:r>
              <a:rPr lang="en-US" sz="2400" dirty="0"/>
              <a:t>Begin with only the intercept.</a:t>
            </a:r>
          </a:p>
          <a:p>
            <a:pPr lvl="1"/>
            <a:r>
              <a:rPr lang="en-US" sz="2400" dirty="0"/>
              <a:t>Add the predictor that improves the model fit most (lowest p-value, largest likelihood ratio test improvement, or best AIC/BIC score).</a:t>
            </a:r>
          </a:p>
          <a:p>
            <a:pPr lvl="1"/>
            <a:r>
              <a:rPr lang="en-US" sz="2400" dirty="0"/>
              <a:t>Continue adding predictors one by one, at each step picking the most significant one.</a:t>
            </a:r>
          </a:p>
          <a:p>
            <a:pPr lvl="1"/>
            <a:r>
              <a:rPr lang="en-US" sz="2400" dirty="0"/>
              <a:t>Stop when no additional variable significantly improves the model.</a:t>
            </a:r>
          </a:p>
          <a:p>
            <a:r>
              <a:rPr lang="en-US" sz="2400" b="1" dirty="0"/>
              <a:t>Advantage</a:t>
            </a:r>
            <a:r>
              <a:rPr lang="en-US" sz="2400" dirty="0"/>
              <a:t>: Efficient when you have many predictors.</a:t>
            </a:r>
          </a:p>
          <a:p>
            <a:r>
              <a:rPr lang="en-US" sz="2400" b="1" dirty="0"/>
              <a:t>Disadvantage</a:t>
            </a:r>
            <a:r>
              <a:rPr lang="en-US" sz="2400" dirty="0"/>
              <a:t>: May miss predictors that only become significant in combination with others.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56286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F406-541D-350D-9067-826B62C56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25" y="207038"/>
            <a:ext cx="8596668" cy="6096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Forward Selection (Step-by-Step)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BE2CC-7511-8034-0421-04C1A3C1D6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422" y="816638"/>
                <a:ext cx="11603156" cy="5918459"/>
              </a:xfrm>
            </p:spPr>
            <p:txBody>
              <a:bodyPr>
                <a:noAutofit/>
              </a:bodyPr>
              <a:lstStyle/>
              <a:p>
                <a:r>
                  <a:rPr lang="en-IN" sz="2300" b="1" dirty="0"/>
                  <a:t>Goal:</a:t>
                </a:r>
                <a:r>
                  <a:rPr lang="en-IN" sz="2300" dirty="0"/>
                  <a:t> Start with no predictors and gradually add those that improve the model.</a:t>
                </a:r>
              </a:p>
              <a:p>
                <a:r>
                  <a:rPr lang="en-IN" sz="2300" b="1" dirty="0"/>
                  <a:t>Steps:</a:t>
                </a:r>
              </a:p>
              <a:p>
                <a:r>
                  <a:rPr lang="en-IN" sz="2300" b="1" dirty="0"/>
                  <a:t>Start with Null Model</a:t>
                </a:r>
                <a:endParaRPr lang="en-IN" sz="2300" dirty="0"/>
              </a:p>
              <a:p>
                <a:pPr lvl="1"/>
                <a:r>
                  <a:rPr lang="en-IN" sz="2300" dirty="0"/>
                  <a:t>Model contains only the intercept (no predictors).</a:t>
                </a:r>
              </a:p>
              <a:p>
                <a:pPr lvl="1"/>
                <a:r>
                  <a:rPr lang="en-IN" sz="2300" dirty="0"/>
                  <a:t>Logit equation: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ar-AE" sz="23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300"/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ar-AE" sz="2300" i="1"/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2300" i="1"/>
                                </m:ctrlPr>
                              </m:fPr>
                              <m:num>
                                <m:r>
                                  <a:rPr lang="ar-AE" sz="2300" i="1"/>
                                  <m:t>𝑝</m:t>
                                </m:r>
                              </m:num>
                              <m:den>
                                <m:r>
                                  <a:rPr lang="ar-AE" sz="2300"/>
                                  <m:t>1</m:t>
                                </m:r>
                                <m:r>
                                  <a:rPr lang="ar-AE" sz="2300"/>
                                  <m:t>−</m:t>
                                </m:r>
                                <m:r>
                                  <a:rPr lang="ar-AE" sz="2300" i="1"/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ar-AE" sz="2300"/>
                      <m:t>=</m:t>
                    </m:r>
                    <m:sSub>
                      <m:sSubPr>
                        <m:ctrlPr>
                          <a:rPr lang="ar-AE" sz="2300" i="1"/>
                        </m:ctrlPr>
                      </m:sSubPr>
                      <m:e>
                        <m:r>
                          <a:rPr lang="ar-AE" sz="2300" i="1"/>
                          <m:t>𝛽</m:t>
                        </m:r>
                      </m:e>
                      <m:sub>
                        <m:r>
                          <a:rPr lang="ar-AE" sz="2300"/>
                          <m:t>0</m:t>
                        </m:r>
                      </m:sub>
                    </m:sSub>
                  </m:oMath>
                </a14:m>
                <a:endParaRPr lang="ar-AE" sz="2300" dirty="0"/>
              </a:p>
              <a:p>
                <a:r>
                  <a:rPr lang="en-IN" sz="2300" b="1" dirty="0"/>
                  <a:t>Evaluate All Candidate Predictors</a:t>
                </a:r>
                <a:endParaRPr lang="en-IN" sz="2300" dirty="0"/>
              </a:p>
              <a:p>
                <a:pPr lvl="1"/>
                <a:r>
                  <a:rPr lang="en-IN" sz="2300" dirty="0"/>
                  <a:t>Fit separate logistic regression models by adding </a:t>
                </a:r>
                <a:r>
                  <a:rPr lang="en-IN" sz="2300" b="1" dirty="0"/>
                  <a:t>each predictor individually</a:t>
                </a:r>
                <a:r>
                  <a:rPr lang="en-IN" sz="2300" dirty="0"/>
                  <a:t> to the null model.</a:t>
                </a:r>
              </a:p>
              <a:p>
                <a:pPr lvl="1"/>
                <a:r>
                  <a:rPr lang="en-IN" sz="2300" dirty="0"/>
                  <a:t>For each model, record a criterion such as:</a:t>
                </a:r>
              </a:p>
              <a:p>
                <a:pPr lvl="2"/>
                <a:r>
                  <a:rPr lang="en-IN" sz="2300" b="1" dirty="0"/>
                  <a:t>p-value</a:t>
                </a:r>
                <a:r>
                  <a:rPr lang="en-IN" sz="2300" dirty="0"/>
                  <a:t> of predictor’s coefficient</a:t>
                </a:r>
              </a:p>
              <a:p>
                <a:pPr lvl="2"/>
                <a:r>
                  <a:rPr lang="en-IN" sz="2300" b="1" dirty="0"/>
                  <a:t>Likelihood Ratio Test (LRT)</a:t>
                </a:r>
                <a:r>
                  <a:rPr lang="en-IN" sz="2300" dirty="0"/>
                  <a:t> improvement</a:t>
                </a:r>
              </a:p>
              <a:p>
                <a:pPr lvl="2"/>
                <a:r>
                  <a:rPr lang="en-IN" sz="2300" b="1" dirty="0"/>
                  <a:t>Akaike Information Criterion (AIC)</a:t>
                </a:r>
                <a:r>
                  <a:rPr lang="en-IN" sz="2300" dirty="0"/>
                  <a:t> or </a:t>
                </a:r>
                <a:r>
                  <a:rPr lang="en-IN" sz="2300" b="1" dirty="0"/>
                  <a:t>Bayesian Information Criterion (BIC)</a:t>
                </a:r>
                <a:endParaRPr lang="en-IN" sz="2300" dirty="0"/>
              </a:p>
              <a:p>
                <a:endParaRPr lang="en-IN" sz="23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BE2CC-7511-8034-0421-04C1A3C1D6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422" y="816638"/>
                <a:ext cx="11603156" cy="5918459"/>
              </a:xfrm>
              <a:blipFill>
                <a:blip r:embed="rId2"/>
                <a:stretch>
                  <a:fillRect l="-368" t="-824" r="-1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522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37F5-8096-E815-1999-F5A355805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77247" cy="57027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Forward Selection (Step-by-Step)(</a:t>
            </a:r>
            <a:r>
              <a:rPr lang="en-IN" b="1" dirty="0" err="1"/>
              <a:t>contd</a:t>
            </a:r>
            <a:r>
              <a:rPr lang="en-IN" b="1" dirty="0"/>
              <a:t>…)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14DB1-0260-8D05-9175-9E60AB842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63" y="685750"/>
            <a:ext cx="11740808" cy="5946108"/>
          </a:xfrm>
        </p:spPr>
        <p:txBody>
          <a:bodyPr>
            <a:noAutofit/>
          </a:bodyPr>
          <a:lstStyle/>
          <a:p>
            <a:r>
              <a:rPr lang="en-IN" sz="2300" b="1" dirty="0"/>
              <a:t>Select the Best Predictor</a:t>
            </a:r>
            <a:endParaRPr lang="en-IN" sz="2300" dirty="0"/>
          </a:p>
          <a:p>
            <a:pPr lvl="1"/>
            <a:r>
              <a:rPr lang="en-IN" sz="2300" dirty="0"/>
              <a:t>Choose the predictor that gives the most significant improvement (e.g., smallest p-value, lowest AIC).</a:t>
            </a:r>
          </a:p>
          <a:p>
            <a:pPr lvl="1"/>
            <a:r>
              <a:rPr lang="en-IN" sz="2300" dirty="0"/>
              <a:t>Add it to the model.</a:t>
            </a:r>
            <a:endParaRPr lang="en-IN" sz="2300" b="1" dirty="0"/>
          </a:p>
          <a:p>
            <a:r>
              <a:rPr lang="en-IN" sz="2300" b="1" dirty="0"/>
              <a:t>Add Next Predictor</a:t>
            </a:r>
            <a:endParaRPr lang="en-IN" sz="2300" dirty="0"/>
          </a:p>
          <a:p>
            <a:pPr lvl="1"/>
            <a:r>
              <a:rPr lang="en-IN" sz="2300" dirty="0"/>
              <a:t>Consider all remaining predictors.</a:t>
            </a:r>
          </a:p>
          <a:p>
            <a:pPr lvl="1"/>
            <a:r>
              <a:rPr lang="en-IN" sz="2300" dirty="0"/>
              <a:t>Fit models by adding each of them </a:t>
            </a:r>
            <a:r>
              <a:rPr lang="en-IN" sz="2300" b="1" dirty="0"/>
              <a:t>one at a time</a:t>
            </a:r>
            <a:r>
              <a:rPr lang="en-IN" sz="2300" dirty="0"/>
              <a:t> to the current model.</a:t>
            </a:r>
          </a:p>
          <a:p>
            <a:pPr lvl="1"/>
            <a:r>
              <a:rPr lang="en-IN" sz="2300" dirty="0"/>
              <a:t>Again, select the predictor that improves the model most.</a:t>
            </a:r>
          </a:p>
          <a:p>
            <a:r>
              <a:rPr lang="en-IN" sz="2300" b="1" dirty="0"/>
              <a:t>Repeat Until Stopping Rule Met</a:t>
            </a:r>
            <a:endParaRPr lang="en-IN" sz="2300" dirty="0"/>
          </a:p>
          <a:p>
            <a:pPr lvl="1"/>
            <a:r>
              <a:rPr lang="en-IN" sz="2300" dirty="0"/>
              <a:t>Continue adding predictors step by step.</a:t>
            </a:r>
          </a:p>
          <a:p>
            <a:pPr lvl="1"/>
            <a:r>
              <a:rPr lang="en-IN" sz="2300" dirty="0"/>
              <a:t>Stop when:</a:t>
            </a:r>
          </a:p>
          <a:p>
            <a:pPr lvl="2"/>
            <a:r>
              <a:rPr lang="en-IN" sz="2300" dirty="0"/>
              <a:t>No remaining predictor is statistically significant (e.g., p-value &gt; 0.05), or</a:t>
            </a:r>
          </a:p>
          <a:p>
            <a:pPr lvl="2"/>
            <a:r>
              <a:rPr lang="en-IN" sz="2300" dirty="0"/>
              <a:t>Model selection criterion (AIC/BIC) no longer improves.</a:t>
            </a:r>
          </a:p>
          <a:p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1821951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9A51-1D81-4136-F1CA-F11F11B78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22" y="246367"/>
            <a:ext cx="8596668" cy="570271"/>
          </a:xfrm>
        </p:spPr>
        <p:txBody>
          <a:bodyPr>
            <a:normAutofit fontScale="90000"/>
          </a:bodyPr>
          <a:lstStyle/>
          <a:p>
            <a:r>
              <a:rPr lang="en-IN" dirty="0"/>
              <a:t>2.</a:t>
            </a:r>
            <a:r>
              <a:rPr lang="en-US" b="1" dirty="0"/>
              <a:t> Backward Selection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4B8B8-8335-5390-3A54-4247E1A2A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372" y="1049544"/>
            <a:ext cx="11563828" cy="5562089"/>
          </a:xfrm>
        </p:spPr>
        <p:txBody>
          <a:bodyPr>
            <a:noAutofit/>
          </a:bodyPr>
          <a:lstStyle/>
          <a:p>
            <a:r>
              <a:rPr lang="en-US" sz="2600" b="1" dirty="0"/>
              <a:t>Process</a:t>
            </a:r>
            <a:r>
              <a:rPr lang="en-US" sz="2600" dirty="0"/>
              <a:t>: Start with all predictors → remove them one at a time.</a:t>
            </a:r>
          </a:p>
          <a:p>
            <a:r>
              <a:rPr lang="en-US" sz="2600" dirty="0"/>
              <a:t>Steps:</a:t>
            </a:r>
          </a:p>
          <a:p>
            <a:pPr lvl="1"/>
            <a:r>
              <a:rPr lang="en-US" sz="2600" dirty="0"/>
              <a:t>Begin with a model containing all candidate predictors.</a:t>
            </a:r>
          </a:p>
          <a:p>
            <a:pPr lvl="1"/>
            <a:r>
              <a:rPr lang="en-US" sz="2600" dirty="0"/>
              <a:t>Remove the least significant predictor (highest p-value above a cutoff, e.g., 0.05).</a:t>
            </a:r>
          </a:p>
          <a:p>
            <a:pPr lvl="1"/>
            <a:r>
              <a:rPr lang="en-US" sz="2600" dirty="0"/>
              <a:t>Refit the model.</a:t>
            </a:r>
          </a:p>
          <a:p>
            <a:pPr lvl="1"/>
            <a:r>
              <a:rPr lang="en-US" sz="2600" dirty="0"/>
              <a:t>Repeat until all remaining predictors are statistically significant or meet model selection criteria.</a:t>
            </a:r>
          </a:p>
          <a:p>
            <a:r>
              <a:rPr lang="en-US" sz="2600" b="1" dirty="0"/>
              <a:t>Advantage</a:t>
            </a:r>
            <a:r>
              <a:rPr lang="en-US" sz="2600" dirty="0"/>
              <a:t>: Considers joint effects of all predictors from the beginning.</a:t>
            </a:r>
          </a:p>
          <a:p>
            <a:r>
              <a:rPr lang="en-US" sz="2600" b="1" dirty="0"/>
              <a:t>Disadvantage</a:t>
            </a:r>
            <a:r>
              <a:rPr lang="en-US" sz="2600" dirty="0"/>
              <a:t>: Can be </a:t>
            </a:r>
            <a:r>
              <a:rPr lang="en-US" sz="2600" dirty="0">
                <a:solidFill>
                  <a:srgbClr val="FF0000"/>
                </a:solidFill>
              </a:rPr>
              <a:t>unstable </a:t>
            </a:r>
            <a:r>
              <a:rPr lang="en-US" sz="2600" dirty="0"/>
              <a:t>if the dataset is small or highly correlated.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773033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F043-BFEB-69A4-728A-BC9D829F7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096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Backward Selection (Step-by-Step)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B1E39-D29C-1496-521B-45849A29B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609600"/>
                <a:ext cx="12005187" cy="3880773"/>
              </a:xfrm>
            </p:spPr>
            <p:txBody>
              <a:bodyPr>
                <a:noAutofit/>
              </a:bodyPr>
              <a:lstStyle/>
              <a:p>
                <a:r>
                  <a:rPr lang="en-IN" sz="2400" b="1" dirty="0"/>
                  <a:t>Goal:</a:t>
                </a:r>
                <a:r>
                  <a:rPr lang="en-IN" sz="2400" dirty="0"/>
                  <a:t> Start with all predictors and gradually remove those that don’t contribute.</a:t>
                </a:r>
              </a:p>
              <a:p>
                <a:r>
                  <a:rPr lang="en-IN" sz="2400" b="1" dirty="0"/>
                  <a:t>Steps:</a:t>
                </a:r>
              </a:p>
              <a:p>
                <a:r>
                  <a:rPr lang="en-IN" sz="2400" b="1" dirty="0"/>
                  <a:t>Start with Full Model</a:t>
                </a:r>
                <a:endParaRPr lang="en-IN" sz="2400" dirty="0"/>
              </a:p>
              <a:p>
                <a:pPr lvl="1"/>
                <a:r>
                  <a:rPr lang="en-IN" sz="2400" dirty="0"/>
                  <a:t>Model contains </a:t>
                </a:r>
                <a:r>
                  <a:rPr lang="en-IN" sz="2400" b="1" dirty="0"/>
                  <a:t>all candidate predictors</a:t>
                </a:r>
                <a:r>
                  <a:rPr lang="en-IN" sz="2400" dirty="0"/>
                  <a:t>.</a:t>
                </a:r>
              </a:p>
              <a:p>
                <a:pPr lvl="1"/>
                <a:r>
                  <a:rPr lang="en-IN" sz="2400" dirty="0"/>
                  <a:t>Logit equation: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ar-AE" sz="24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400"/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ar-AE" sz="2400" i="1"/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2400" i="1"/>
                                </m:ctrlPr>
                              </m:fPr>
                              <m:num>
                                <m:r>
                                  <a:rPr lang="ar-AE" sz="2400" i="1"/>
                                  <m:t>𝑝</m:t>
                                </m:r>
                              </m:num>
                              <m:den>
                                <m:r>
                                  <a:rPr lang="ar-AE" sz="2400"/>
                                  <m:t>1</m:t>
                                </m:r>
                                <m:r>
                                  <a:rPr lang="ar-AE" sz="2400"/>
                                  <m:t>−</m:t>
                                </m:r>
                                <m:r>
                                  <a:rPr lang="ar-AE" sz="2400" i="1"/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ar-AE" sz="2400"/>
                      <m:t>=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𝛽</m:t>
                        </m:r>
                      </m:e>
                      <m:sub>
                        <m:r>
                          <a:rPr lang="ar-AE" sz="2400"/>
                          <m:t>0</m:t>
                        </m:r>
                      </m:sub>
                    </m:sSub>
                    <m:r>
                      <a:rPr lang="ar-AE" sz="2400"/>
                      <m:t>+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𝛽</m:t>
                        </m:r>
                      </m:e>
                      <m:sub>
                        <m:r>
                          <a:rPr lang="ar-AE" sz="2400"/>
                          <m:t>1</m:t>
                        </m:r>
                      </m:sub>
                    </m:sSub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𝑋</m:t>
                        </m:r>
                      </m:e>
                      <m:sub>
                        <m:r>
                          <a:rPr lang="ar-AE" sz="2400"/>
                          <m:t>1</m:t>
                        </m:r>
                      </m:sub>
                    </m:sSub>
                    <m:r>
                      <a:rPr lang="ar-AE" sz="2400"/>
                      <m:t>+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𝛽</m:t>
                        </m:r>
                      </m:e>
                      <m:sub>
                        <m:r>
                          <a:rPr lang="ar-AE" sz="2400"/>
                          <m:t>2</m:t>
                        </m:r>
                      </m:sub>
                    </m:sSub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𝑋</m:t>
                        </m:r>
                      </m:e>
                      <m:sub>
                        <m:r>
                          <a:rPr lang="ar-AE" sz="2400"/>
                          <m:t>2</m:t>
                        </m:r>
                      </m:sub>
                    </m:sSub>
                    <m:r>
                      <a:rPr lang="ar-AE" sz="2400"/>
                      <m:t>+...+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𝛽</m:t>
                        </m:r>
                      </m:e>
                      <m:sub>
                        <m:r>
                          <a:rPr lang="ar-AE" sz="2400" i="1"/>
                          <m:t>𝑘</m:t>
                        </m:r>
                      </m:sub>
                    </m:sSub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𝑋</m:t>
                        </m:r>
                      </m:e>
                      <m:sub>
                        <m:r>
                          <a:rPr lang="ar-AE" sz="2400" i="1"/>
                          <m:t>𝑘</m:t>
                        </m:r>
                      </m:sub>
                    </m:sSub>
                  </m:oMath>
                </a14:m>
                <a:endParaRPr lang="ar-AE" sz="2400" dirty="0"/>
              </a:p>
              <a:p>
                <a:r>
                  <a:rPr lang="en-IN" sz="2400" b="1" dirty="0"/>
                  <a:t>Evaluate Significance of Predictors</a:t>
                </a:r>
                <a:endParaRPr lang="en-IN" sz="2400" dirty="0"/>
              </a:p>
              <a:p>
                <a:pPr lvl="1"/>
                <a:r>
                  <a:rPr lang="en-IN" sz="2400" dirty="0"/>
                  <a:t>Look at the </a:t>
                </a:r>
                <a:r>
                  <a:rPr lang="en-IN" sz="2400" b="1" dirty="0"/>
                  <a:t>p-values</a:t>
                </a:r>
                <a:r>
                  <a:rPr lang="en-IN" sz="2400" dirty="0"/>
                  <a:t> of all predictors, or check contribution using LRT, AIC/BIC.</a:t>
                </a:r>
              </a:p>
              <a:p>
                <a:r>
                  <a:rPr lang="en-IN" sz="2400" b="1" dirty="0"/>
                  <a:t>Remove the Least Significant Predictor</a:t>
                </a:r>
                <a:endParaRPr lang="en-IN" sz="2400" dirty="0"/>
              </a:p>
              <a:p>
                <a:pPr lvl="1"/>
                <a:r>
                  <a:rPr lang="en-IN" sz="2400" dirty="0"/>
                  <a:t>Identify the predictor with the highest p-value (above a cutoff, e.g., &gt; 0.05).</a:t>
                </a:r>
              </a:p>
              <a:p>
                <a:pPr lvl="1"/>
                <a:r>
                  <a:rPr lang="en-IN" sz="2400" dirty="0"/>
                  <a:t>Drop that variable from the model.</a:t>
                </a:r>
              </a:p>
              <a:p>
                <a:endParaRPr lang="en-IN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B1E39-D29C-1496-521B-45849A29B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609600"/>
                <a:ext cx="12005187" cy="3880773"/>
              </a:xfrm>
              <a:blipFill>
                <a:blip r:embed="rId2"/>
                <a:stretch>
                  <a:fillRect l="-406" t="-1256" b="-477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62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44EDB-1BD6-1B7F-C231-E25FA1735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26" y="156238"/>
            <a:ext cx="11170537" cy="660400"/>
          </a:xfrm>
        </p:spPr>
        <p:txBody>
          <a:bodyPr/>
          <a:lstStyle/>
          <a:p>
            <a:r>
              <a:rPr lang="en-IN" b="1" dirty="0"/>
              <a:t>Backward Selection (Step-by-Step)(</a:t>
            </a:r>
            <a:r>
              <a:rPr lang="en-IN" b="1" dirty="0" err="1"/>
              <a:t>contd</a:t>
            </a:r>
            <a:r>
              <a:rPr lang="en-IN" b="1" dirty="0"/>
              <a:t>…)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0404E-0A2B-C336-C874-A40119A23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205" y="880602"/>
            <a:ext cx="11347518" cy="5215398"/>
          </a:xfrm>
        </p:spPr>
        <p:txBody>
          <a:bodyPr>
            <a:noAutofit/>
          </a:bodyPr>
          <a:lstStyle/>
          <a:p>
            <a:r>
              <a:rPr lang="en-IN" sz="2600" b="1" dirty="0"/>
              <a:t>Refit the Model</a:t>
            </a:r>
            <a:endParaRPr lang="en-IN" sz="2600" dirty="0"/>
          </a:p>
          <a:p>
            <a:pPr lvl="1"/>
            <a:r>
              <a:rPr lang="en-IN" sz="2600" dirty="0"/>
              <a:t>Recalculate coefficients with the reduced set of predictors.</a:t>
            </a:r>
          </a:p>
          <a:p>
            <a:r>
              <a:rPr lang="en-IN" sz="2600" b="1" dirty="0"/>
              <a:t>Repeat Step 2–4</a:t>
            </a:r>
            <a:endParaRPr lang="en-IN" sz="2600" dirty="0"/>
          </a:p>
          <a:p>
            <a:pPr lvl="1"/>
            <a:r>
              <a:rPr lang="en-IN" sz="2600" dirty="0"/>
              <a:t>Continue removing the least significant predictor one at a time.</a:t>
            </a:r>
          </a:p>
          <a:p>
            <a:pPr lvl="1"/>
            <a:r>
              <a:rPr lang="en-IN" sz="2600" dirty="0"/>
              <a:t>At each stage, check model fit and significance.</a:t>
            </a:r>
          </a:p>
          <a:p>
            <a:r>
              <a:rPr lang="en-IN" sz="2600" b="1" dirty="0"/>
              <a:t>Stop When All Predictors are Significant</a:t>
            </a:r>
            <a:endParaRPr lang="en-IN" sz="2600" dirty="0"/>
          </a:p>
          <a:p>
            <a:pPr lvl="1"/>
            <a:r>
              <a:rPr lang="en-IN" sz="2600" dirty="0"/>
              <a:t>Final model contains only predictors that make a statistically meaningful contribution.</a:t>
            </a:r>
          </a:p>
          <a:p>
            <a:pPr lvl="1"/>
            <a:r>
              <a:rPr lang="en-IN" sz="2600" dirty="0"/>
              <a:t>Or stop when removing any more variables worsens AIC/BIC.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515939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E6F6-7993-0848-8BFB-090201C4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8" y="53208"/>
            <a:ext cx="8596668" cy="753037"/>
          </a:xfrm>
        </p:spPr>
        <p:txBody>
          <a:bodyPr/>
          <a:lstStyle/>
          <a:p>
            <a:r>
              <a:rPr lang="en-IN" dirty="0"/>
              <a:t>Comparison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CFBBA80-0024-4067-CDF3-2B12947CE5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4600712"/>
              </p:ext>
            </p:extLst>
          </p:nvPr>
        </p:nvGraphicFramePr>
        <p:xfrm>
          <a:off x="196645" y="806245"/>
          <a:ext cx="11444748" cy="4914396"/>
        </p:xfrm>
        <a:graphic>
          <a:graphicData uri="http://schemas.openxmlformats.org/drawingml/2006/table">
            <a:tbl>
              <a:tblPr/>
              <a:tblGrid>
                <a:gridCol w="3814916">
                  <a:extLst>
                    <a:ext uri="{9D8B030D-6E8A-4147-A177-3AD203B41FA5}">
                      <a16:colId xmlns:a16="http://schemas.microsoft.com/office/drawing/2014/main" val="1478859863"/>
                    </a:ext>
                  </a:extLst>
                </a:gridCol>
                <a:gridCol w="3814916">
                  <a:extLst>
                    <a:ext uri="{9D8B030D-6E8A-4147-A177-3AD203B41FA5}">
                      <a16:colId xmlns:a16="http://schemas.microsoft.com/office/drawing/2014/main" val="1030860275"/>
                    </a:ext>
                  </a:extLst>
                </a:gridCol>
                <a:gridCol w="3814916">
                  <a:extLst>
                    <a:ext uri="{9D8B030D-6E8A-4147-A177-3AD203B41FA5}">
                      <a16:colId xmlns:a16="http://schemas.microsoft.com/office/drawing/2014/main" val="3981794506"/>
                    </a:ext>
                  </a:extLst>
                </a:gridCol>
              </a:tblGrid>
              <a:tr h="10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Aspect</a:t>
                      </a:r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Forward Selection</a:t>
                      </a:r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Backward Selection</a:t>
                      </a:r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710242"/>
                  </a:ext>
                </a:extLst>
              </a:tr>
              <a:tr h="186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Starting Point</a:t>
                      </a:r>
                      <a:endParaRPr lang="en-IN" sz="2400" dirty="0"/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Begins with no predictors (null model)</a:t>
                      </a:r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Begins with all candidate predictors (full model)</a:t>
                      </a:r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5255"/>
                  </a:ext>
                </a:extLst>
              </a:tr>
              <a:tr h="186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Process</a:t>
                      </a:r>
                      <a:endParaRPr lang="en-IN" sz="2400"/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Adds predictors one at a time</a:t>
                      </a:r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Removes predictors one at a time</a:t>
                      </a:r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50638"/>
                  </a:ext>
                </a:extLst>
              </a:tr>
              <a:tr h="10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Model Building Direction</a:t>
                      </a:r>
                      <a:endParaRPr lang="en-IN" sz="2400"/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Bottom-up approach</a:t>
                      </a:r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Top-down approach</a:t>
                      </a:r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913410"/>
                  </a:ext>
                </a:extLst>
              </a:tr>
              <a:tr h="34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Computation</a:t>
                      </a:r>
                      <a:endParaRPr lang="en-IN" sz="2400" dirty="0"/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Generally less computationally intensive (especially with large datasets)</a:t>
                      </a:r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More computationally intensive (must fit full model with all predictors first)</a:t>
                      </a:r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128696"/>
                  </a:ext>
                </a:extLst>
              </a:tr>
              <a:tr h="265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Best Use Case</a:t>
                      </a:r>
                      <a:endParaRPr lang="en-IN" sz="2400"/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When number of predictors is </a:t>
                      </a:r>
                      <a:r>
                        <a:rPr lang="en-US" sz="2400" b="1"/>
                        <a:t>large</a:t>
                      </a:r>
                      <a:r>
                        <a:rPr lang="en-US" sz="2400"/>
                        <a:t> and dataset is relatively </a:t>
                      </a:r>
                      <a:r>
                        <a:rPr lang="en-US" sz="2400" b="1"/>
                        <a:t>small</a:t>
                      </a:r>
                      <a:endParaRPr lang="en-US" sz="2400"/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When dataset is </a:t>
                      </a:r>
                      <a:r>
                        <a:rPr lang="en-US" sz="2400" b="1" dirty="0"/>
                        <a:t>large</a:t>
                      </a:r>
                      <a:r>
                        <a:rPr lang="en-US" sz="2400" dirty="0"/>
                        <a:t> and number of predictors is </a:t>
                      </a:r>
                      <a:r>
                        <a:rPr lang="en-US" sz="2400" b="1" dirty="0"/>
                        <a:t>moderate or small</a:t>
                      </a:r>
                      <a:endParaRPr lang="en-US" sz="2400" dirty="0"/>
                    </a:p>
                  </a:txBody>
                  <a:tcPr marL="26585" marR="26585" marT="13293" marB="13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975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379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291305-16C2-DF37-CFBC-3A439AC853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5539758"/>
              </p:ext>
            </p:extLst>
          </p:nvPr>
        </p:nvGraphicFramePr>
        <p:xfrm>
          <a:off x="323372" y="223635"/>
          <a:ext cx="10471404" cy="5653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0468">
                  <a:extLst>
                    <a:ext uri="{9D8B030D-6E8A-4147-A177-3AD203B41FA5}">
                      <a16:colId xmlns:a16="http://schemas.microsoft.com/office/drawing/2014/main" val="1037622454"/>
                    </a:ext>
                  </a:extLst>
                </a:gridCol>
                <a:gridCol w="3490468">
                  <a:extLst>
                    <a:ext uri="{9D8B030D-6E8A-4147-A177-3AD203B41FA5}">
                      <a16:colId xmlns:a16="http://schemas.microsoft.com/office/drawing/2014/main" val="243023983"/>
                    </a:ext>
                  </a:extLst>
                </a:gridCol>
                <a:gridCol w="3490468">
                  <a:extLst>
                    <a:ext uri="{9D8B030D-6E8A-4147-A177-3AD203B41FA5}">
                      <a16:colId xmlns:a16="http://schemas.microsoft.com/office/drawing/2014/main" val="3960201598"/>
                    </a:ext>
                  </a:extLst>
                </a:gridCol>
              </a:tblGrid>
              <a:tr h="10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rgbClr val="FF0000"/>
                          </a:solidFill>
                        </a:rPr>
                        <a:t>Aspect</a:t>
                      </a:r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FF0000"/>
                          </a:solidFill>
                        </a:rPr>
                        <a:t>Forward Selection</a:t>
                      </a:r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FF0000"/>
                          </a:solidFill>
                        </a:rPr>
                        <a:t>Backward Selection</a:t>
                      </a:r>
                    </a:p>
                  </a:txBody>
                  <a:tcPr marL="26585" marR="26585" marT="13293" marB="13293" anchor="ctr"/>
                </a:tc>
                <a:extLst>
                  <a:ext uri="{0D108BD9-81ED-4DB2-BD59-A6C34878D82A}">
                    <a16:rowId xmlns:a16="http://schemas.microsoft.com/office/drawing/2014/main" val="1490766973"/>
                  </a:ext>
                </a:extLst>
              </a:tr>
              <a:tr h="34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Risk of Missing Variables</a:t>
                      </a:r>
                      <a:endParaRPr lang="en-IN" sz="2600" dirty="0"/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May miss variables that are only significant when combined with others</a:t>
                      </a:r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Considers joint effects of all variables from the start, so less likely to miss interactions</a:t>
                      </a:r>
                    </a:p>
                  </a:txBody>
                  <a:tcPr marL="26585" marR="26585" marT="13293" marB="13293" anchor="ctr"/>
                </a:tc>
                <a:extLst>
                  <a:ext uri="{0D108BD9-81ED-4DB2-BD59-A6C34878D82A}">
                    <a16:rowId xmlns:a16="http://schemas.microsoft.com/office/drawing/2014/main" val="3715960985"/>
                  </a:ext>
                </a:extLst>
              </a:tr>
              <a:tr h="34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Collinearity Issues</a:t>
                      </a:r>
                      <a:endParaRPr lang="en-IN" sz="2600" dirty="0"/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Less prone to multicollinearity early on, since variables enter gradually</a:t>
                      </a:r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Can suffer more from multicollinearity at the start (with all predictors included)</a:t>
                      </a:r>
                    </a:p>
                  </a:txBody>
                  <a:tcPr marL="26585" marR="26585" marT="13293" marB="13293" anchor="ctr"/>
                </a:tc>
                <a:extLst>
                  <a:ext uri="{0D108BD9-81ED-4DB2-BD59-A6C34878D82A}">
                    <a16:rowId xmlns:a16="http://schemas.microsoft.com/office/drawing/2014/main" val="15808972"/>
                  </a:ext>
                </a:extLst>
              </a:tr>
              <a:tr h="425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Overfitting Risk</a:t>
                      </a:r>
                      <a:endParaRPr lang="en-IN" sz="2600" dirty="0"/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Lower in the beginning (model starts simple), but can overfit if too many predictors are added</a:t>
                      </a:r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Higher initially (model starts complex), then reduced as non-significant variables are dropped</a:t>
                      </a:r>
                    </a:p>
                  </a:txBody>
                  <a:tcPr marL="26585" marR="26585" marT="13293" marB="13293" anchor="ctr"/>
                </a:tc>
                <a:extLst>
                  <a:ext uri="{0D108BD9-81ED-4DB2-BD59-A6C34878D82A}">
                    <a16:rowId xmlns:a16="http://schemas.microsoft.com/office/drawing/2014/main" val="1499525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810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997D2D-0BE1-D865-3F7D-C85C90DAA8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3424191"/>
              </p:ext>
            </p:extLst>
          </p:nvPr>
        </p:nvGraphicFramePr>
        <p:xfrm>
          <a:off x="245808" y="341621"/>
          <a:ext cx="11375922" cy="6194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91974">
                  <a:extLst>
                    <a:ext uri="{9D8B030D-6E8A-4147-A177-3AD203B41FA5}">
                      <a16:colId xmlns:a16="http://schemas.microsoft.com/office/drawing/2014/main" val="3284767711"/>
                    </a:ext>
                  </a:extLst>
                </a:gridCol>
                <a:gridCol w="3791974">
                  <a:extLst>
                    <a:ext uri="{9D8B030D-6E8A-4147-A177-3AD203B41FA5}">
                      <a16:colId xmlns:a16="http://schemas.microsoft.com/office/drawing/2014/main" val="1368717012"/>
                    </a:ext>
                  </a:extLst>
                </a:gridCol>
                <a:gridCol w="3791974">
                  <a:extLst>
                    <a:ext uri="{9D8B030D-6E8A-4147-A177-3AD203B41FA5}">
                      <a16:colId xmlns:a16="http://schemas.microsoft.com/office/drawing/2014/main" val="2483582656"/>
                    </a:ext>
                  </a:extLst>
                </a:gridCol>
              </a:tblGrid>
              <a:tr h="10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Aspect</a:t>
                      </a:r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Forward Selection</a:t>
                      </a:r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Backward Selection</a:t>
                      </a:r>
                    </a:p>
                  </a:txBody>
                  <a:tcPr marL="26585" marR="26585" marT="13293" marB="13293" anchor="ctr"/>
                </a:tc>
                <a:extLst>
                  <a:ext uri="{0D108BD9-81ED-4DB2-BD59-A6C34878D82A}">
                    <a16:rowId xmlns:a16="http://schemas.microsoft.com/office/drawing/2014/main" val="2931381448"/>
                  </a:ext>
                </a:extLst>
              </a:tr>
              <a:tr h="34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Stopping Criterion</a:t>
                      </a:r>
                      <a:endParaRPr lang="en-IN" sz="2200" dirty="0"/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Stops when no additional predictor improves the model (p-value, AIC, BIC, LRT, etc.)</a:t>
                      </a:r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Stops when all remaining predictors are statistically significant or improve model criteria</a:t>
                      </a:r>
                    </a:p>
                  </a:txBody>
                  <a:tcPr marL="26585" marR="26585" marT="13293" marB="13293" anchor="ctr"/>
                </a:tc>
                <a:extLst>
                  <a:ext uri="{0D108BD9-81ED-4DB2-BD59-A6C34878D82A}">
                    <a16:rowId xmlns:a16="http://schemas.microsoft.com/office/drawing/2014/main" val="1165625139"/>
                  </a:ext>
                </a:extLst>
              </a:tr>
              <a:tr h="265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Interpretability During Process</a:t>
                      </a:r>
                      <a:endParaRPr lang="en-IN" sz="2200" dirty="0"/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Easier to interpret at early stages (few variables)</a:t>
                      </a:r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Harder to interpret at early stages (all variables included)</a:t>
                      </a:r>
                    </a:p>
                  </a:txBody>
                  <a:tcPr marL="26585" marR="26585" marT="13293" marB="13293" anchor="ctr"/>
                </a:tc>
                <a:extLst>
                  <a:ext uri="{0D108BD9-81ED-4DB2-BD59-A6C34878D82A}">
                    <a16:rowId xmlns:a16="http://schemas.microsoft.com/office/drawing/2014/main" val="2234973719"/>
                  </a:ext>
                </a:extLst>
              </a:tr>
              <a:tr h="34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Dependence on Significance Threshold</a:t>
                      </a:r>
                      <a:endParaRPr lang="en-IN" sz="2200"/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Strongly dependent (a variable not significant alone won’t enter even if useful with others)</a:t>
                      </a:r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More robust, since all variables are considered together before being removed</a:t>
                      </a:r>
                    </a:p>
                  </a:txBody>
                  <a:tcPr marL="26585" marR="26585" marT="13293" marB="13293" anchor="ctr"/>
                </a:tc>
                <a:extLst>
                  <a:ext uri="{0D108BD9-81ED-4DB2-BD59-A6C34878D82A}">
                    <a16:rowId xmlns:a16="http://schemas.microsoft.com/office/drawing/2014/main" val="3019276362"/>
                  </a:ext>
                </a:extLst>
              </a:tr>
              <a:tr h="265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Computation Time (when many predictors)</a:t>
                      </a:r>
                      <a:endParaRPr lang="en-US" sz="2200"/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Faster, since it avoids fitting models with all variables at once</a:t>
                      </a:r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Slower, especially with high-dimensional data</a:t>
                      </a:r>
                    </a:p>
                  </a:txBody>
                  <a:tcPr marL="26585" marR="26585" marT="13293" marB="13293" anchor="ctr"/>
                </a:tc>
                <a:extLst>
                  <a:ext uri="{0D108BD9-81ED-4DB2-BD59-A6C34878D82A}">
                    <a16:rowId xmlns:a16="http://schemas.microsoft.com/office/drawing/2014/main" val="2010262524"/>
                  </a:ext>
                </a:extLst>
              </a:tr>
              <a:tr h="34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Preferred When</a:t>
                      </a:r>
                      <a:endParaRPr lang="en-IN" sz="2200"/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High-dimensional data, exploratory analysis, need quick/efficient model building</a:t>
                      </a:r>
                    </a:p>
                  </a:txBody>
                  <a:tcPr marL="26585" marR="26585" marT="13293" marB="132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Smaller, cleaner datasets where full model is computationally feasible</a:t>
                      </a:r>
                    </a:p>
                  </a:txBody>
                  <a:tcPr marL="26585" marR="26585" marT="13293" marB="13293" anchor="ctr"/>
                </a:tc>
                <a:extLst>
                  <a:ext uri="{0D108BD9-81ED-4DB2-BD59-A6C34878D82A}">
                    <a16:rowId xmlns:a16="http://schemas.microsoft.com/office/drawing/2014/main" val="522233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704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6073-FBE2-0D6F-2120-CDFF0647B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540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Statistical Criteria for Selection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DA75-668B-F5AB-B02E-D7579AC6A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21" y="1315015"/>
            <a:ext cx="11219698" cy="5252933"/>
          </a:xfrm>
        </p:spPr>
        <p:txBody>
          <a:bodyPr>
            <a:noAutofit/>
          </a:bodyPr>
          <a:lstStyle/>
          <a:p>
            <a:r>
              <a:rPr lang="en-US" sz="2600" b="1" dirty="0"/>
              <a:t>p-value</a:t>
            </a:r>
            <a:r>
              <a:rPr lang="en-US" sz="2600" dirty="0"/>
              <a:t>: Predictors are added or removed based on the significance level of their p-values. Common thresholds are 0.05 for inclusion and 0.10 for exclusion. </a:t>
            </a:r>
          </a:p>
          <a:p>
            <a:r>
              <a:rPr lang="en-US" sz="2600" b="1" dirty="0"/>
              <a:t>AIC (Akaike Information Criterion)</a:t>
            </a:r>
            <a:r>
              <a:rPr lang="en-US" sz="2600" dirty="0"/>
              <a:t>: AIC compares models based on their fit and penalizes for complexity. Lower AIC values indicate a better model. </a:t>
            </a:r>
          </a:p>
          <a:p>
            <a:r>
              <a:rPr lang="en-US" sz="2600" b="1" dirty="0"/>
              <a:t>BIC (Bayesian Information Criterion)</a:t>
            </a:r>
            <a:r>
              <a:rPr lang="en-US" sz="2600" dirty="0"/>
              <a:t>: Similar to AIC but with a stronger penalty for models with more predictors. </a:t>
            </a:r>
          </a:p>
          <a:p>
            <a:r>
              <a:rPr lang="en-US" sz="2600" b="1" dirty="0"/>
              <a:t>Likelihood Ratio Test</a:t>
            </a:r>
            <a:r>
              <a:rPr lang="en-US" sz="2600" dirty="0"/>
              <a:t>: Compares the fit of two models, usually with and without a specific predictor, to determine if the simpler model significantly worsens the fit. 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0035312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</TotalTime>
  <Words>1149</Words>
  <Application>Microsoft Office PowerPoint</Application>
  <PresentationFormat>Widescreen</PresentationFormat>
  <Paragraphs>132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Trebuchet MS</vt:lpstr>
      <vt:lpstr>Wingdings</vt:lpstr>
      <vt:lpstr>Wingdings 3</vt:lpstr>
      <vt:lpstr>Facet</vt:lpstr>
      <vt:lpstr>UNIT-III</vt:lpstr>
      <vt:lpstr>Multiple Logistic Regression (MLR) </vt:lpstr>
      <vt:lpstr>1. Forward Selection </vt:lpstr>
      <vt:lpstr>Forward Selection (Step-by-Step) </vt:lpstr>
      <vt:lpstr>Forward Selection (Step-by-Step)(contd…)</vt:lpstr>
      <vt:lpstr>2. Backward Selection </vt:lpstr>
      <vt:lpstr>Backward Selection (Step-by-Step) </vt:lpstr>
      <vt:lpstr>Backward Selection (Step-by-Step)(contd…)</vt:lpstr>
      <vt:lpstr>Comparison</vt:lpstr>
      <vt:lpstr>PowerPoint Presentation</vt:lpstr>
      <vt:lpstr>PowerPoint Presentation</vt:lpstr>
      <vt:lpstr>Statistical Criteria for Selection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Isabella S</dc:creator>
  <cp:lastModifiedBy>Isabella S</cp:lastModifiedBy>
  <cp:revision>1</cp:revision>
  <dcterms:created xsi:type="dcterms:W3CDTF">2025-09-12T03:26:29Z</dcterms:created>
  <dcterms:modified xsi:type="dcterms:W3CDTF">2025-09-12T05:10:43Z</dcterms:modified>
</cp:coreProperties>
</file>