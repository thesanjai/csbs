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8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90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7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77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85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59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47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01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3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2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81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3278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986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5397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68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43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62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76349-F816-42FA-BCCE-6C12842A2DFC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EA595A-8996-492C-82BD-87FD1E84BE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5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987FB-D1F0-8539-BE4F-17C9D3042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422" y="703553"/>
            <a:ext cx="7766936" cy="1646302"/>
          </a:xfrm>
        </p:spPr>
        <p:txBody>
          <a:bodyPr/>
          <a:lstStyle/>
          <a:p>
            <a:pPr algn="ctr"/>
            <a:r>
              <a:rPr lang="en-IN" dirty="0"/>
              <a:t>UNIT-III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2B4AF-857B-8FD2-B62D-561C86DA6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5725" y="2693981"/>
            <a:ext cx="7766936" cy="2408961"/>
          </a:xfrm>
        </p:spPr>
        <p:txBody>
          <a:bodyPr>
            <a:noAutofit/>
          </a:bodyPr>
          <a:lstStyle/>
          <a:p>
            <a:pPr algn="l"/>
            <a:r>
              <a:rPr lang="en-US" sz="3000" b="1" dirty="0"/>
              <a:t>Descriptive analytics: 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000" dirty="0"/>
              <a:t>Data Modeling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000" dirty="0"/>
              <a:t>Trend Analysis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3000" dirty="0"/>
              <a:t>Simple Linear Regression Analysis 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472075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1E5E-BF3C-6861-25CE-B534A3F6C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15" y="285135"/>
            <a:ext cx="8596668" cy="63909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Descriptive analytics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F5A4-E965-CC32-AAAC-EE713A933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81" y="1128202"/>
            <a:ext cx="10482279" cy="4535179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Descriptive analytics in </a:t>
            </a:r>
            <a:r>
              <a:rPr lang="en-US" sz="2600" b="1" dirty="0"/>
              <a:t>data mining</a:t>
            </a:r>
            <a:r>
              <a:rPr lang="en-US" sz="2600" dirty="0"/>
              <a:t> refers to the process of analyzing </a:t>
            </a:r>
            <a:r>
              <a:rPr lang="en-US" sz="2600" dirty="0">
                <a:solidFill>
                  <a:srgbClr val="FF0000"/>
                </a:solidFill>
              </a:rPr>
              <a:t>historical data to summarize </a:t>
            </a:r>
            <a:r>
              <a:rPr lang="en-US" sz="2600" dirty="0"/>
              <a:t>and </a:t>
            </a:r>
            <a:r>
              <a:rPr lang="en-US" sz="2600" dirty="0">
                <a:solidFill>
                  <a:srgbClr val="FF0000"/>
                </a:solidFill>
              </a:rPr>
              <a:t>understand patterns, trends, and relationships within it. </a:t>
            </a:r>
          </a:p>
          <a:p>
            <a:pPr marL="0" indent="0" algn="just">
              <a:buNone/>
            </a:pPr>
            <a:r>
              <a:rPr lang="en-US" sz="2600" b="1" dirty="0"/>
              <a:t>Purpose</a:t>
            </a:r>
          </a:p>
          <a:p>
            <a:pPr algn="just"/>
            <a:r>
              <a:rPr lang="en-US" sz="2600" dirty="0"/>
              <a:t>Provides </a:t>
            </a:r>
            <a:r>
              <a:rPr lang="en-US" sz="2600" dirty="0">
                <a:solidFill>
                  <a:srgbClr val="FF0000"/>
                </a:solidFill>
              </a:rPr>
              <a:t>insights</a:t>
            </a:r>
            <a:r>
              <a:rPr lang="en-US" sz="2600" dirty="0"/>
              <a:t> into historical data.</a:t>
            </a:r>
          </a:p>
          <a:p>
            <a:pPr algn="just"/>
            <a:r>
              <a:rPr lang="en-US" sz="2600" dirty="0"/>
              <a:t>Helps organizations </a:t>
            </a:r>
            <a:r>
              <a:rPr lang="en-US" sz="2600" dirty="0">
                <a:solidFill>
                  <a:srgbClr val="FF0000"/>
                </a:solidFill>
              </a:rPr>
              <a:t>understand past behaviors, performance, and outcomes.</a:t>
            </a:r>
          </a:p>
          <a:p>
            <a:pPr algn="just"/>
            <a:r>
              <a:rPr lang="en-US" sz="2600" dirty="0"/>
              <a:t>Serves as the </a:t>
            </a:r>
            <a:r>
              <a:rPr lang="en-US" sz="2600" dirty="0">
                <a:solidFill>
                  <a:srgbClr val="FF0000"/>
                </a:solidFill>
              </a:rPr>
              <a:t>foundation</a:t>
            </a:r>
            <a:r>
              <a:rPr lang="en-US" sz="2600" dirty="0"/>
              <a:t> for more advanced analytics (predictive and prescriptive).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0131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DD94-79FE-0074-298A-F60AF810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11" y="255640"/>
            <a:ext cx="10383956" cy="75708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Techniques Used for Descriptive Analytics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A1362-AD5F-A215-5F66-6A0F4DAB8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211" y="1012724"/>
            <a:ext cx="11436009" cy="3880773"/>
          </a:xfrm>
        </p:spPr>
        <p:txBody>
          <a:bodyPr>
            <a:noAutofit/>
          </a:bodyPr>
          <a:lstStyle/>
          <a:p>
            <a:pPr algn="just"/>
            <a:r>
              <a:rPr lang="en-IN" sz="2600" b="1" dirty="0"/>
              <a:t>Data summarization</a:t>
            </a:r>
            <a:r>
              <a:rPr lang="en-IN" sz="2600" dirty="0"/>
              <a:t>: Mean, median, mode, variance, standard deviation.</a:t>
            </a:r>
          </a:p>
          <a:p>
            <a:pPr algn="just"/>
            <a:r>
              <a:rPr lang="en-IN" sz="2600" b="1" dirty="0"/>
              <a:t>Clustering</a:t>
            </a:r>
            <a:r>
              <a:rPr lang="en-IN" sz="2600" dirty="0"/>
              <a:t>: Groups similar data points together (e.g., customer segmentation).</a:t>
            </a:r>
          </a:p>
          <a:p>
            <a:pPr algn="just"/>
            <a:r>
              <a:rPr lang="en-IN" sz="2600" b="1" dirty="0"/>
              <a:t>Association rule mining</a:t>
            </a:r>
            <a:r>
              <a:rPr lang="en-IN" sz="2600" dirty="0"/>
              <a:t>: Identifies relationships between variables (e.g., market basket analysis – “customers who buy bread also buy butter”).</a:t>
            </a:r>
          </a:p>
          <a:p>
            <a:pPr algn="just"/>
            <a:r>
              <a:rPr lang="en-IN" sz="2600" b="1" dirty="0"/>
              <a:t>Frequent pattern mining</a:t>
            </a:r>
            <a:r>
              <a:rPr lang="en-IN" sz="2600" dirty="0"/>
              <a:t>: Finds recurring patterns in large datasets.</a:t>
            </a:r>
          </a:p>
          <a:p>
            <a:pPr algn="just"/>
            <a:r>
              <a:rPr lang="en-IN" sz="2600" b="1" dirty="0"/>
              <a:t>OLAP (Online Analytical Processing)</a:t>
            </a:r>
            <a:r>
              <a:rPr lang="en-IN" sz="2600" dirty="0"/>
              <a:t>: Multidimensional analysis using drill-down, roll-up, and slice-dice operations.</a:t>
            </a:r>
          </a:p>
          <a:p>
            <a:pPr algn="just"/>
            <a:r>
              <a:rPr lang="en-IN" sz="2600" b="1" dirty="0"/>
              <a:t>Data visualization</a:t>
            </a:r>
            <a:r>
              <a:rPr lang="en-IN" sz="2600" dirty="0"/>
              <a:t>: Charts, dashboards, heatmaps for intuitive understanding.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91024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196E-88EE-AD9E-FD69-6CAE2C574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40" y="304800"/>
            <a:ext cx="8596668" cy="1320800"/>
          </a:xfrm>
        </p:spPr>
        <p:txBody>
          <a:bodyPr/>
          <a:lstStyle/>
          <a:p>
            <a:r>
              <a:rPr lang="en-IN" b="1" dirty="0"/>
              <a:t>Examples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83FA-58F7-4919-6A35-72D22DA80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540" y="1488613"/>
            <a:ext cx="10747750" cy="3880773"/>
          </a:xfrm>
        </p:spPr>
        <p:txBody>
          <a:bodyPr>
            <a:normAutofit/>
          </a:bodyPr>
          <a:lstStyle/>
          <a:p>
            <a:pPr algn="just"/>
            <a:r>
              <a:rPr lang="en-IN" sz="2600" b="1" dirty="0"/>
              <a:t>Retail</a:t>
            </a:r>
            <a:r>
              <a:rPr lang="en-IN" sz="2600" dirty="0"/>
              <a:t>: Identifying </a:t>
            </a:r>
            <a:r>
              <a:rPr lang="en-IN" sz="2600" dirty="0">
                <a:solidFill>
                  <a:srgbClr val="FF0000"/>
                </a:solidFill>
              </a:rPr>
              <a:t>top-selling products </a:t>
            </a:r>
            <a:r>
              <a:rPr lang="en-IN" sz="2600" dirty="0"/>
              <a:t>and </a:t>
            </a:r>
            <a:r>
              <a:rPr lang="en-IN" sz="2600" dirty="0">
                <a:solidFill>
                  <a:srgbClr val="FF0000"/>
                </a:solidFill>
              </a:rPr>
              <a:t>customer purchase patterns.</a:t>
            </a:r>
          </a:p>
          <a:p>
            <a:pPr algn="just"/>
            <a:r>
              <a:rPr lang="en-IN" sz="2600" b="1" dirty="0"/>
              <a:t>Healthcare</a:t>
            </a:r>
            <a:r>
              <a:rPr lang="en-IN" sz="2600" dirty="0"/>
              <a:t>: Summarizing </a:t>
            </a:r>
            <a:r>
              <a:rPr lang="en-IN" sz="2600" dirty="0">
                <a:solidFill>
                  <a:srgbClr val="FF0000"/>
                </a:solidFill>
              </a:rPr>
              <a:t>patient demographics</a:t>
            </a:r>
            <a:r>
              <a:rPr lang="en-IN" sz="2600" dirty="0"/>
              <a:t> and historical disease prevalence.</a:t>
            </a:r>
          </a:p>
          <a:p>
            <a:pPr algn="just"/>
            <a:r>
              <a:rPr lang="en-IN" sz="2600" b="1" dirty="0"/>
              <a:t>Finance</a:t>
            </a:r>
            <a:r>
              <a:rPr lang="en-IN" sz="2600" dirty="0"/>
              <a:t>: </a:t>
            </a:r>
            <a:r>
              <a:rPr lang="en-IN" sz="2600" dirty="0" err="1"/>
              <a:t>Analyzing</a:t>
            </a:r>
            <a:r>
              <a:rPr lang="en-IN" sz="2600" dirty="0"/>
              <a:t> spending trends, transaction histories, and fraud patterns.</a:t>
            </a:r>
          </a:p>
          <a:p>
            <a:pPr algn="just"/>
            <a:r>
              <a:rPr lang="en-IN" sz="2600" b="1" dirty="0"/>
              <a:t>Web analytics</a:t>
            </a:r>
            <a:r>
              <a:rPr lang="en-IN" sz="2600" dirty="0"/>
              <a:t>: Tracking website traffic, user </a:t>
            </a:r>
            <a:r>
              <a:rPr lang="en-IN" sz="2600" dirty="0" err="1"/>
              <a:t>behaviors</a:t>
            </a:r>
            <a:r>
              <a:rPr lang="en-IN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85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9BB6-C34A-DC8D-F8AF-7029232F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CFFF-BFA9-9AA0-697D-23A3F12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508" y="1718138"/>
            <a:ext cx="10737918" cy="3880773"/>
          </a:xfrm>
        </p:spPr>
        <p:txBody>
          <a:bodyPr>
            <a:normAutofit/>
          </a:bodyPr>
          <a:lstStyle/>
          <a:p>
            <a:r>
              <a:rPr lang="en-US" sz="2600" dirty="0"/>
              <a:t>Provides a </a:t>
            </a:r>
            <a:r>
              <a:rPr lang="en-US" sz="2600" dirty="0">
                <a:solidFill>
                  <a:srgbClr val="FF0000"/>
                </a:solidFill>
              </a:rPr>
              <a:t>clear picture of past performance.</a:t>
            </a:r>
          </a:p>
          <a:p>
            <a:r>
              <a:rPr lang="en-US" sz="2600" dirty="0"/>
              <a:t>Helps </a:t>
            </a:r>
            <a:r>
              <a:rPr lang="en-US" sz="2600" dirty="0">
                <a:solidFill>
                  <a:srgbClr val="FF0000"/>
                </a:solidFill>
              </a:rPr>
              <a:t>detect anomalies, hidden patterns, or correlations.</a:t>
            </a:r>
          </a:p>
          <a:p>
            <a:r>
              <a:rPr lang="en-US" sz="2600" dirty="0"/>
              <a:t>Builds the </a:t>
            </a:r>
            <a:r>
              <a:rPr lang="en-US" sz="2600" dirty="0">
                <a:solidFill>
                  <a:srgbClr val="FF0000"/>
                </a:solidFill>
              </a:rPr>
              <a:t>foundation </a:t>
            </a:r>
            <a:r>
              <a:rPr lang="en-US" sz="2600" dirty="0"/>
              <a:t>for predictive modeling.</a:t>
            </a:r>
          </a:p>
          <a:p>
            <a:r>
              <a:rPr lang="en-US" sz="2600" dirty="0"/>
              <a:t>Supports </a:t>
            </a:r>
            <a:r>
              <a:rPr lang="en-US" sz="2600" dirty="0">
                <a:solidFill>
                  <a:srgbClr val="FF0000"/>
                </a:solidFill>
              </a:rPr>
              <a:t>better decision-making </a:t>
            </a:r>
            <a:r>
              <a:rPr lang="en-US" sz="2600" dirty="0"/>
              <a:t>through dashboards and reports.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632571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A2FF-DBE2-F08C-09CB-5C23A81D9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77309"/>
          </a:xfrm>
        </p:spPr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Modeling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EB7C4-5A43-775F-8D90-5271FDEF3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508" y="1590318"/>
            <a:ext cx="10610098" cy="4427024"/>
          </a:xfrm>
        </p:spPr>
        <p:txBody>
          <a:bodyPr>
            <a:noAutofit/>
          </a:bodyPr>
          <a:lstStyle/>
          <a:p>
            <a:pPr algn="just"/>
            <a:r>
              <a:rPr lang="en-US" sz="2600" b="1" dirty="0"/>
              <a:t>Data modeling</a:t>
            </a:r>
            <a:r>
              <a:rPr lang="en-US" sz="2600" dirty="0"/>
              <a:t> is the process of </a:t>
            </a:r>
            <a:r>
              <a:rPr lang="en-US" sz="2600" b="1" dirty="0">
                <a:solidFill>
                  <a:srgbClr val="FF0000"/>
                </a:solidFill>
              </a:rPr>
              <a:t>structuring and organizing data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to represent real-world </a:t>
            </a:r>
            <a:r>
              <a:rPr lang="en-US" sz="2600" dirty="0">
                <a:solidFill>
                  <a:srgbClr val="FF0000"/>
                </a:solidFill>
              </a:rPr>
              <a:t>entities,</a:t>
            </a:r>
            <a:r>
              <a:rPr lang="en-US" sz="2600" dirty="0"/>
              <a:t> their </a:t>
            </a:r>
            <a:r>
              <a:rPr lang="en-US" sz="2600" dirty="0">
                <a:solidFill>
                  <a:srgbClr val="FF0000"/>
                </a:solidFill>
              </a:rPr>
              <a:t>attributes, </a:t>
            </a:r>
            <a:r>
              <a:rPr lang="en-US" sz="2600" dirty="0"/>
              <a:t>and the </a:t>
            </a:r>
            <a:r>
              <a:rPr lang="en-US" sz="2600" dirty="0">
                <a:solidFill>
                  <a:srgbClr val="FF0000"/>
                </a:solidFill>
              </a:rPr>
              <a:t>relationships</a:t>
            </a:r>
            <a:r>
              <a:rPr lang="en-US" sz="2600" dirty="0"/>
              <a:t> between them. It acts as a </a:t>
            </a:r>
            <a:r>
              <a:rPr lang="en-US" sz="2600" b="1" dirty="0">
                <a:solidFill>
                  <a:srgbClr val="FF0000"/>
                </a:solidFill>
              </a:rPr>
              <a:t>blueprint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for designing databases, data warehouses, or analytical systems.</a:t>
            </a:r>
          </a:p>
          <a:p>
            <a:pPr algn="just"/>
            <a:r>
              <a:rPr lang="en-US" sz="2600" dirty="0"/>
              <a:t>Entities = objects (e.g., customer, product, patient).</a:t>
            </a:r>
          </a:p>
          <a:p>
            <a:pPr algn="just"/>
            <a:r>
              <a:rPr lang="en-US" sz="2600" dirty="0"/>
              <a:t>Attributes = characteristics of entities (e.g., name, age, price, diagnosis).</a:t>
            </a:r>
          </a:p>
          <a:p>
            <a:pPr algn="just"/>
            <a:r>
              <a:rPr lang="en-US" sz="2600" dirty="0"/>
              <a:t>Relationships = connections between entities (e.g., a customer </a:t>
            </a:r>
            <a:r>
              <a:rPr lang="en-US" sz="2600" i="1" dirty="0"/>
              <a:t>purchases</a:t>
            </a:r>
            <a:r>
              <a:rPr lang="en-US" sz="2600" dirty="0"/>
              <a:t> a product).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937282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54BC-EBC0-A374-69AC-36E93A7C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Objectives of Data Modeling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255F2-A182-90FC-F272-2EA762E36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941505" cy="388077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Provide a </a:t>
            </a:r>
            <a:r>
              <a:rPr lang="en-US" sz="2600" b="1" dirty="0">
                <a:solidFill>
                  <a:srgbClr val="FF0000"/>
                </a:solidFill>
              </a:rPr>
              <a:t>clear structure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for data storage and retrieval.</a:t>
            </a:r>
          </a:p>
          <a:p>
            <a:pPr algn="just"/>
            <a:r>
              <a:rPr lang="en-US" sz="2600" dirty="0"/>
              <a:t>Ensure </a:t>
            </a:r>
            <a:r>
              <a:rPr lang="en-US" sz="2600" b="1" dirty="0">
                <a:solidFill>
                  <a:srgbClr val="FF0000"/>
                </a:solidFill>
              </a:rPr>
              <a:t>consistency and integrity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of data.</a:t>
            </a:r>
          </a:p>
          <a:p>
            <a:pPr algn="just"/>
            <a:r>
              <a:rPr lang="en-US" sz="2600" dirty="0"/>
              <a:t>Simplify </a:t>
            </a:r>
            <a:r>
              <a:rPr lang="en-US" sz="2600" b="1" dirty="0">
                <a:solidFill>
                  <a:srgbClr val="FF0000"/>
                </a:solidFill>
              </a:rPr>
              <a:t>data integration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across systems.</a:t>
            </a:r>
          </a:p>
          <a:p>
            <a:pPr algn="just"/>
            <a:r>
              <a:rPr lang="en-US" sz="2600" dirty="0"/>
              <a:t>Enable efficient </a:t>
            </a:r>
            <a:r>
              <a:rPr lang="en-US" sz="2600" b="1" dirty="0">
                <a:solidFill>
                  <a:srgbClr val="FF0000"/>
                </a:solidFill>
              </a:rPr>
              <a:t>data mining and analytics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r>
              <a:rPr lang="en-US" sz="2600" dirty="0"/>
              <a:t>Serve as a </a:t>
            </a:r>
            <a:r>
              <a:rPr lang="en-US" sz="2600" b="1" dirty="0">
                <a:solidFill>
                  <a:srgbClr val="FF0000"/>
                </a:solidFill>
              </a:rPr>
              <a:t>communication tool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between technical teams and business stakeholders.</a:t>
            </a:r>
            <a:br>
              <a:rPr lang="en-US" sz="2600" dirty="0"/>
            </a:b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461495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4147A-5FA7-3712-A9AC-266FFB6F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79" y="226142"/>
            <a:ext cx="8596668" cy="511277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/>
              <a:t>Types of Data Models</a:t>
            </a:r>
            <a:b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2811F1-0F66-5257-B62B-164B791338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379" y="881993"/>
            <a:ext cx="11455673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modeling usually progresses in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levels of abstraction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Conceptual Data Model (High-level)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what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important,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not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will be implemented.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entities, attributes, and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"A customer places an order."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Logical Data Model (Middle-level)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more detail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data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tables, keys, and relationships,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still not tied to a specific database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 (CustomerID, Name, Email)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linked to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OrderID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Date, CustomerID)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Physical Data Model (Implementation-level)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Specifies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the data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 actually be stored in a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indexes, partitions, storage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Implementing tables in MySQL or Oracle with data types (e.g., VARCHAR, INT).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924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F837-5E1F-55EF-17C3-4F142D514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Data </a:t>
            </a:r>
            <a:r>
              <a:rPr lang="en-IN" b="1" dirty="0" err="1"/>
              <a:t>Modeling</a:t>
            </a:r>
            <a:r>
              <a:rPr lang="en-IN" b="1" dirty="0"/>
              <a:t> Techniques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142EF-53A4-D451-951A-BBC5F567E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20" y="1570653"/>
            <a:ext cx="11024145" cy="4677747"/>
          </a:xfrm>
        </p:spPr>
        <p:txBody>
          <a:bodyPr>
            <a:noAutofit/>
          </a:bodyPr>
          <a:lstStyle/>
          <a:p>
            <a:pPr algn="just"/>
            <a:r>
              <a:rPr lang="en-IN" sz="2600" b="1" dirty="0"/>
              <a:t>Entity-Relationship (ER) </a:t>
            </a:r>
            <a:r>
              <a:rPr lang="en-IN" sz="2600" b="1" dirty="0" err="1"/>
              <a:t>Modeling</a:t>
            </a:r>
            <a:r>
              <a:rPr lang="en-IN" sz="2600" dirty="0"/>
              <a:t> – Diagrams with </a:t>
            </a:r>
            <a:r>
              <a:rPr lang="en-IN" sz="2600" dirty="0">
                <a:solidFill>
                  <a:srgbClr val="FF0000"/>
                </a:solidFill>
              </a:rPr>
              <a:t>entities, attributes, relationships.</a:t>
            </a:r>
          </a:p>
          <a:p>
            <a:pPr algn="just"/>
            <a:r>
              <a:rPr lang="en-IN" sz="2600" b="1" dirty="0"/>
              <a:t>Relational </a:t>
            </a:r>
            <a:r>
              <a:rPr lang="en-IN" sz="2600" b="1" dirty="0" err="1"/>
              <a:t>Modeling</a:t>
            </a:r>
            <a:r>
              <a:rPr lang="en-IN" sz="2600" dirty="0"/>
              <a:t> – Based on </a:t>
            </a:r>
            <a:r>
              <a:rPr lang="en-IN" sz="2600" dirty="0">
                <a:solidFill>
                  <a:srgbClr val="FF0000"/>
                </a:solidFill>
              </a:rPr>
              <a:t>relational database principles </a:t>
            </a:r>
            <a:r>
              <a:rPr lang="en-IN" sz="2600" dirty="0"/>
              <a:t>(tables, keys).</a:t>
            </a:r>
          </a:p>
          <a:p>
            <a:pPr algn="just"/>
            <a:r>
              <a:rPr lang="en-IN" sz="2600" b="1" dirty="0"/>
              <a:t>Dimensional </a:t>
            </a:r>
            <a:r>
              <a:rPr lang="en-IN" sz="2600" b="1" dirty="0" err="1"/>
              <a:t>Modeling</a:t>
            </a:r>
            <a:r>
              <a:rPr lang="en-IN" sz="2600" dirty="0"/>
              <a:t> – Used in </a:t>
            </a:r>
            <a:r>
              <a:rPr lang="en-IN" sz="2600" dirty="0">
                <a:solidFill>
                  <a:srgbClr val="FF0000"/>
                </a:solidFill>
              </a:rPr>
              <a:t>data warehouses </a:t>
            </a:r>
            <a:r>
              <a:rPr lang="en-IN" sz="2600" dirty="0"/>
              <a:t>(fact tables + dimension tables).</a:t>
            </a:r>
          </a:p>
          <a:p>
            <a:pPr algn="just"/>
            <a:r>
              <a:rPr lang="en-IN" sz="2600" b="1" dirty="0"/>
              <a:t>Object-Oriented </a:t>
            </a:r>
            <a:r>
              <a:rPr lang="en-IN" sz="2600" b="1" dirty="0" err="1"/>
              <a:t>Modeling</a:t>
            </a:r>
            <a:r>
              <a:rPr lang="en-IN" sz="2600" dirty="0"/>
              <a:t> – </a:t>
            </a:r>
            <a:r>
              <a:rPr lang="en-IN" sz="2600" dirty="0">
                <a:solidFill>
                  <a:srgbClr val="FF0000"/>
                </a:solidFill>
              </a:rPr>
              <a:t>Combines data and </a:t>
            </a:r>
            <a:r>
              <a:rPr lang="en-IN" sz="2600" dirty="0" err="1">
                <a:solidFill>
                  <a:srgbClr val="FF0000"/>
                </a:solidFill>
              </a:rPr>
              <a:t>behavior</a:t>
            </a:r>
            <a:r>
              <a:rPr lang="en-IN" sz="2600" dirty="0">
                <a:solidFill>
                  <a:srgbClr val="FF0000"/>
                </a:solidFill>
              </a:rPr>
              <a:t> </a:t>
            </a:r>
            <a:r>
              <a:rPr lang="en-IN" sz="2600" dirty="0"/>
              <a:t>(common in modern applications).</a:t>
            </a:r>
          </a:p>
          <a:p>
            <a:pPr algn="just"/>
            <a:r>
              <a:rPr lang="en-IN" sz="2600" b="1" dirty="0"/>
              <a:t>NoSQL Data </a:t>
            </a:r>
            <a:r>
              <a:rPr lang="en-IN" sz="2600" b="1" dirty="0" err="1"/>
              <a:t>Modeling</a:t>
            </a:r>
            <a:r>
              <a:rPr lang="en-IN" sz="2600" dirty="0"/>
              <a:t> – For </a:t>
            </a:r>
            <a:r>
              <a:rPr lang="en-IN" sz="2600" dirty="0">
                <a:solidFill>
                  <a:srgbClr val="FF0000"/>
                </a:solidFill>
              </a:rPr>
              <a:t>unstructured or semi-structured data </a:t>
            </a:r>
            <a:r>
              <a:rPr lang="en-IN" sz="2600" dirty="0"/>
              <a:t>(JSON, document-based).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37662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67D5-31FB-7C4D-2AD1-008A0B32B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80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Importance in Data Mining &amp; Analytics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B056B-8753-EBB6-5B02-645D905CA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78" y="1462499"/>
            <a:ext cx="10472447" cy="4633501"/>
          </a:xfrm>
        </p:spPr>
        <p:txBody>
          <a:bodyPr>
            <a:noAutofit/>
          </a:bodyPr>
          <a:lstStyle/>
          <a:p>
            <a:r>
              <a:rPr lang="en-US" sz="2600" dirty="0"/>
              <a:t>Ensures </a:t>
            </a:r>
            <a:r>
              <a:rPr lang="en-US" sz="2600" b="1" dirty="0">
                <a:solidFill>
                  <a:srgbClr val="FF0000"/>
                </a:solidFill>
              </a:rPr>
              <a:t>clean, structured data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ready for mining.</a:t>
            </a:r>
          </a:p>
          <a:p>
            <a:r>
              <a:rPr lang="en-US" sz="2600" dirty="0"/>
              <a:t>Defines </a:t>
            </a:r>
            <a:r>
              <a:rPr lang="en-US" sz="2600" b="1" dirty="0">
                <a:solidFill>
                  <a:srgbClr val="FF0000"/>
                </a:solidFill>
              </a:rPr>
              <a:t>relationships</a:t>
            </a:r>
            <a:r>
              <a:rPr lang="en-US" sz="2600" dirty="0"/>
              <a:t> (important for association rules and clustering).</a:t>
            </a:r>
          </a:p>
          <a:p>
            <a:r>
              <a:rPr lang="en-US" sz="2600" dirty="0"/>
              <a:t>Reduces </a:t>
            </a:r>
            <a:r>
              <a:rPr lang="en-US" sz="2600" b="1" dirty="0">
                <a:solidFill>
                  <a:srgbClr val="FF0000"/>
                </a:solidFill>
              </a:rPr>
              <a:t>data redundancy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and improves </a:t>
            </a:r>
            <a:r>
              <a:rPr lang="en-US" sz="2600" b="1" dirty="0">
                <a:solidFill>
                  <a:srgbClr val="FF0000"/>
                </a:solidFill>
              </a:rPr>
              <a:t>data quality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r>
              <a:rPr lang="en-US" sz="2600" dirty="0"/>
              <a:t>Makes predictive models </a:t>
            </a:r>
            <a:r>
              <a:rPr lang="en-US" sz="2600" dirty="0">
                <a:solidFill>
                  <a:srgbClr val="FF0000"/>
                </a:solidFill>
              </a:rPr>
              <a:t>more reliable </a:t>
            </a:r>
            <a:r>
              <a:rPr lang="en-US" sz="2600" dirty="0"/>
              <a:t>by ensuring well-structured inputs.</a:t>
            </a:r>
          </a:p>
          <a:p>
            <a:r>
              <a:rPr lang="en-US" sz="2600" dirty="0"/>
              <a:t>Example: In healthcare analytics, modeling patient, diagnosis, and treatment data helps in disease prediction studies.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183283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FBED-484B-E9F6-0664-088CBCC3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B125-6265-19F5-EC43-F03C35EE6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442950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Imagine a </a:t>
            </a:r>
            <a:r>
              <a:rPr lang="en-US" sz="2600" b="1" dirty="0"/>
              <a:t>university database</a:t>
            </a:r>
            <a:r>
              <a:rPr lang="en-US" sz="2600" dirty="0"/>
              <a:t>:</a:t>
            </a:r>
          </a:p>
          <a:p>
            <a:r>
              <a:rPr lang="en-US" sz="2600" b="1" dirty="0"/>
              <a:t>Entities</a:t>
            </a:r>
            <a:r>
              <a:rPr lang="en-US" sz="2600" dirty="0"/>
              <a:t>: Student, Course, Instructor.</a:t>
            </a:r>
          </a:p>
          <a:p>
            <a:r>
              <a:rPr lang="en-US" sz="2600" b="1" dirty="0"/>
              <a:t>Attributes</a:t>
            </a:r>
            <a:r>
              <a:rPr lang="en-US" sz="2600" dirty="0"/>
              <a:t>: Student (ID, Name, Age), Course (</a:t>
            </a:r>
            <a:r>
              <a:rPr lang="en-US" sz="2600" dirty="0" err="1"/>
              <a:t>CourseID</a:t>
            </a:r>
            <a:r>
              <a:rPr lang="en-US" sz="2600" dirty="0"/>
              <a:t>, Title, Credits).</a:t>
            </a:r>
          </a:p>
          <a:p>
            <a:r>
              <a:rPr lang="en-US" sz="2600" b="1" dirty="0"/>
              <a:t>Relationships</a:t>
            </a:r>
            <a:r>
              <a:rPr lang="en-US" sz="2600" dirty="0"/>
              <a:t>: A Student </a:t>
            </a:r>
            <a:r>
              <a:rPr lang="en-US" sz="2600" i="1" dirty="0"/>
              <a:t>enrolls in</a:t>
            </a:r>
            <a:r>
              <a:rPr lang="en-US" sz="2600" dirty="0"/>
              <a:t> a Course; an Instructor </a:t>
            </a:r>
            <a:r>
              <a:rPr lang="en-US" sz="2600" i="1" dirty="0"/>
              <a:t>teaches</a:t>
            </a:r>
            <a:r>
              <a:rPr lang="en-US" sz="2600" dirty="0"/>
              <a:t> a Course.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924492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BA63-010D-FC37-761E-08ED91A3C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52284"/>
            <a:ext cx="8596668" cy="80624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Benefits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B6602-C49B-B550-7317-1479FBE19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366" y="1488613"/>
            <a:ext cx="11013221" cy="3880773"/>
          </a:xfrm>
        </p:spPr>
        <p:txBody>
          <a:bodyPr>
            <a:normAutofit/>
          </a:bodyPr>
          <a:lstStyle/>
          <a:p>
            <a:r>
              <a:rPr lang="en-US" sz="2600" dirty="0"/>
              <a:t>Improves </a:t>
            </a:r>
            <a:r>
              <a:rPr lang="en-US" sz="2600" b="1" dirty="0">
                <a:solidFill>
                  <a:srgbClr val="FF0000"/>
                </a:solidFill>
              </a:rPr>
              <a:t>data consistency and accuracy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r>
              <a:rPr lang="en-US" sz="2600" dirty="0"/>
              <a:t>Simplifies </a:t>
            </a:r>
            <a:r>
              <a:rPr lang="en-US" sz="2600" b="1" dirty="0">
                <a:solidFill>
                  <a:srgbClr val="FF0000"/>
                </a:solidFill>
              </a:rPr>
              <a:t>complex data environments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r>
              <a:rPr lang="en-US" sz="2600" dirty="0"/>
              <a:t>Provides a </a:t>
            </a:r>
            <a:r>
              <a:rPr lang="en-US" sz="2600" b="1" dirty="0">
                <a:solidFill>
                  <a:srgbClr val="FF0000"/>
                </a:solidFill>
              </a:rPr>
              <a:t>shared understanding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>
                <a:solidFill>
                  <a:schemeClr val="tx1"/>
                </a:solidFill>
              </a:rPr>
              <a:t>between business and technical teams.</a:t>
            </a:r>
          </a:p>
          <a:p>
            <a:r>
              <a:rPr lang="en-US" sz="2600" dirty="0"/>
              <a:t>Serves as a </a:t>
            </a:r>
            <a:r>
              <a:rPr lang="en-US" sz="2600" b="1" dirty="0">
                <a:solidFill>
                  <a:srgbClr val="FF0000"/>
                </a:solidFill>
              </a:rPr>
              <a:t>foundation for database design, machine learning pipelines, and reporting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78545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A285-04BB-892C-14B1-0B703750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69A5B-6745-820D-F5F1-7979098F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84" y="1629647"/>
            <a:ext cx="10728085" cy="3880773"/>
          </a:xfrm>
        </p:spPr>
        <p:txBody>
          <a:bodyPr>
            <a:noAutofit/>
          </a:bodyPr>
          <a:lstStyle/>
          <a:p>
            <a:r>
              <a:rPr lang="en-US" sz="2600" b="1" dirty="0"/>
              <a:t>Trend Analysis</a:t>
            </a:r>
            <a:r>
              <a:rPr lang="en-US" sz="2600" dirty="0"/>
              <a:t> is the process of examining </a:t>
            </a:r>
            <a:r>
              <a:rPr lang="en-US" sz="2600" b="1" dirty="0">
                <a:solidFill>
                  <a:srgbClr val="FF0000"/>
                </a:solidFill>
              </a:rPr>
              <a:t>historical data over time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to identify consistent </a:t>
            </a:r>
            <a:r>
              <a:rPr lang="en-US" sz="2600" dirty="0">
                <a:solidFill>
                  <a:srgbClr val="FF0000"/>
                </a:solidFill>
              </a:rPr>
              <a:t>patterns, movements, or tendencies.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Objectives</a:t>
            </a:r>
          </a:p>
          <a:p>
            <a:r>
              <a:rPr lang="en-US" sz="2600" dirty="0"/>
              <a:t>Detect whether variables are </a:t>
            </a:r>
            <a:r>
              <a:rPr lang="en-US" sz="2600" dirty="0">
                <a:solidFill>
                  <a:srgbClr val="FF0000"/>
                </a:solidFill>
              </a:rPr>
              <a:t>increasing, decreasing, or stable.</a:t>
            </a:r>
          </a:p>
          <a:p>
            <a:r>
              <a:rPr lang="en-US" sz="2600" dirty="0"/>
              <a:t>Identify </a:t>
            </a:r>
            <a:r>
              <a:rPr lang="en-US" sz="2600" b="1" dirty="0">
                <a:solidFill>
                  <a:srgbClr val="FF0000"/>
                </a:solidFill>
              </a:rPr>
              <a:t>seasonal patterns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(daily, monthly, yearly cycles).</a:t>
            </a:r>
          </a:p>
          <a:p>
            <a:r>
              <a:rPr lang="en-US" sz="2600" dirty="0"/>
              <a:t>Spot </a:t>
            </a:r>
            <a:r>
              <a:rPr lang="en-US" sz="2600" b="1" dirty="0">
                <a:solidFill>
                  <a:srgbClr val="FF0000"/>
                </a:solidFill>
              </a:rPr>
              <a:t>long-term movements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(growth or decline).</a:t>
            </a:r>
          </a:p>
          <a:p>
            <a:r>
              <a:rPr lang="en-US" sz="2600" dirty="0"/>
              <a:t>Reveal </a:t>
            </a:r>
            <a:r>
              <a:rPr lang="en-US" sz="2600" b="1" dirty="0">
                <a:solidFill>
                  <a:srgbClr val="FF0000"/>
                </a:solidFill>
              </a:rPr>
              <a:t>outliers or anomalies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(sudden spikes or drops).</a:t>
            </a:r>
          </a:p>
          <a:p>
            <a:r>
              <a:rPr lang="en-US" sz="2600" dirty="0"/>
              <a:t>Provide a foundation for </a:t>
            </a:r>
            <a:r>
              <a:rPr lang="en-US" sz="2600" b="1" dirty="0">
                <a:solidFill>
                  <a:srgbClr val="FF0000"/>
                </a:solidFill>
              </a:rPr>
              <a:t>predictive modeling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sz="2600" b="1" dirty="0"/>
          </a:p>
          <a:p>
            <a:pPr marL="0" indent="0">
              <a:buNone/>
            </a:pPr>
            <a:br>
              <a:rPr lang="en-US" sz="2600" dirty="0"/>
            </a:b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571883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58D9-B613-5287-B205-9B1FCA65E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167813"/>
            <a:ext cx="8596668" cy="9432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Trends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83A9-7737-E819-D972-C82770F99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706" y="1203477"/>
            <a:ext cx="11239364" cy="506950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400" b="1" dirty="0"/>
              <a:t>Upward Trend</a:t>
            </a:r>
            <a:r>
              <a:rPr lang="en-US" sz="3400" dirty="0"/>
              <a:t> – Data values consistently </a:t>
            </a:r>
            <a:r>
              <a:rPr lang="en-US" sz="3400" dirty="0">
                <a:solidFill>
                  <a:srgbClr val="FF0000"/>
                </a:solidFill>
              </a:rPr>
              <a:t>increase over time</a:t>
            </a:r>
            <a:r>
              <a:rPr lang="en-US" sz="3400" dirty="0"/>
              <a:t>.</a:t>
            </a:r>
          </a:p>
          <a:p>
            <a:pPr marL="457200" lvl="1" indent="0" algn="just">
              <a:buNone/>
            </a:pPr>
            <a:r>
              <a:rPr lang="en-US" sz="3400" dirty="0"/>
              <a:t>Example: Rising number of online shoppers each year.</a:t>
            </a:r>
          </a:p>
          <a:p>
            <a:pPr algn="just"/>
            <a:r>
              <a:rPr lang="en-US" sz="3400" b="1" dirty="0"/>
              <a:t>Downward Trend</a:t>
            </a:r>
            <a:r>
              <a:rPr lang="en-US" sz="3400" dirty="0"/>
              <a:t> – Data values consistently </a:t>
            </a:r>
            <a:r>
              <a:rPr lang="en-US" sz="3400" dirty="0">
                <a:solidFill>
                  <a:srgbClr val="FF0000"/>
                </a:solidFill>
              </a:rPr>
              <a:t>decrease</a:t>
            </a:r>
            <a:r>
              <a:rPr lang="en-US" sz="3400" dirty="0"/>
              <a:t>.</a:t>
            </a:r>
          </a:p>
          <a:p>
            <a:pPr marL="457200" lvl="1" indent="0" algn="just">
              <a:buNone/>
            </a:pPr>
            <a:r>
              <a:rPr lang="en-US" sz="3400" dirty="0"/>
              <a:t>Example: Declining sales of CDs with the rise of streaming.</a:t>
            </a:r>
          </a:p>
          <a:p>
            <a:pPr algn="just"/>
            <a:r>
              <a:rPr lang="en-US" sz="3400" b="1" dirty="0"/>
              <a:t>Horizontal/Stable Trend</a:t>
            </a:r>
            <a:r>
              <a:rPr lang="en-US" sz="3400" dirty="0"/>
              <a:t> – Data values show </a:t>
            </a:r>
            <a:r>
              <a:rPr lang="en-US" sz="3400" dirty="0">
                <a:solidFill>
                  <a:srgbClr val="FF0000"/>
                </a:solidFill>
              </a:rPr>
              <a:t>little to no change</a:t>
            </a:r>
            <a:r>
              <a:rPr lang="en-US" sz="3400" dirty="0"/>
              <a:t>.</a:t>
            </a:r>
          </a:p>
          <a:p>
            <a:pPr marL="457200" lvl="1" indent="0" algn="just">
              <a:buNone/>
            </a:pPr>
            <a:r>
              <a:rPr lang="en-US" sz="3400" dirty="0"/>
              <a:t>Example: A product’s sales remain steady over several years.</a:t>
            </a:r>
          </a:p>
          <a:p>
            <a:pPr algn="just"/>
            <a:r>
              <a:rPr lang="en-US" sz="3400" b="1" dirty="0"/>
              <a:t>Seasonal Trend</a:t>
            </a:r>
            <a:r>
              <a:rPr lang="en-US" sz="3400" dirty="0"/>
              <a:t> – Repeating cycles over </a:t>
            </a:r>
            <a:r>
              <a:rPr lang="en-US" sz="3400" dirty="0">
                <a:solidFill>
                  <a:srgbClr val="FF0000"/>
                </a:solidFill>
              </a:rPr>
              <a:t>specific periods.</a:t>
            </a:r>
          </a:p>
          <a:p>
            <a:pPr marL="457200" lvl="1" indent="0" algn="just">
              <a:buNone/>
            </a:pPr>
            <a:r>
              <a:rPr lang="en-US" sz="3400" dirty="0"/>
              <a:t>Example: Higher retail sales during December holidays.</a:t>
            </a:r>
          </a:p>
          <a:p>
            <a:pPr algn="just"/>
            <a:r>
              <a:rPr lang="en-US" sz="3400" b="1" dirty="0"/>
              <a:t>Irregular Trend (Random)</a:t>
            </a:r>
            <a:r>
              <a:rPr lang="en-US" sz="3400" dirty="0"/>
              <a:t> – </a:t>
            </a:r>
            <a:r>
              <a:rPr lang="en-US" sz="3400" dirty="0">
                <a:solidFill>
                  <a:srgbClr val="FF0000"/>
                </a:solidFill>
              </a:rPr>
              <a:t>Sudden, unpredictable fluctuations.</a:t>
            </a:r>
          </a:p>
          <a:p>
            <a:pPr marL="457200" lvl="1" indent="0" algn="just">
              <a:buNone/>
            </a:pPr>
            <a:r>
              <a:rPr lang="en-US" sz="3400" dirty="0"/>
              <a:t>Example: Stock market crashes due to unforeseen events.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78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368C-65AD-BE3D-E3C3-24394EC3A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25" y="78658"/>
            <a:ext cx="10600266" cy="59976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Techniques for Trend Analysis in Data Mining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9346D-08DC-459B-B996-39DF5D68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582" y="678426"/>
            <a:ext cx="11504835" cy="6108340"/>
          </a:xfrm>
        </p:spPr>
        <p:txBody>
          <a:bodyPr>
            <a:noAutofit/>
          </a:bodyPr>
          <a:lstStyle/>
          <a:p>
            <a:r>
              <a:rPr lang="en-US" sz="2100" b="1" dirty="0"/>
              <a:t>Time Series Analysis</a:t>
            </a:r>
            <a:endParaRPr lang="en-US" sz="2100" dirty="0"/>
          </a:p>
          <a:p>
            <a:pPr lvl="1"/>
            <a:r>
              <a:rPr lang="en-US" sz="2100" dirty="0">
                <a:solidFill>
                  <a:srgbClr val="FF0000"/>
                </a:solidFill>
              </a:rPr>
              <a:t>Uses past data points </a:t>
            </a:r>
            <a:r>
              <a:rPr lang="en-US" sz="2100" dirty="0"/>
              <a:t>to identify trends, cycles, and seasonality.</a:t>
            </a:r>
          </a:p>
          <a:p>
            <a:pPr lvl="1"/>
            <a:r>
              <a:rPr lang="en-US" sz="2100" dirty="0"/>
              <a:t>Tools: ARIMA, Holt-Winters, exponential smoothing.</a:t>
            </a:r>
          </a:p>
          <a:p>
            <a:r>
              <a:rPr lang="en-US" sz="2100" b="1" dirty="0"/>
              <a:t>Moving Averages</a:t>
            </a:r>
            <a:endParaRPr lang="en-US" sz="2100" dirty="0"/>
          </a:p>
          <a:p>
            <a:pPr lvl="1"/>
            <a:r>
              <a:rPr lang="en-US" sz="2100" dirty="0"/>
              <a:t>Smooths out </a:t>
            </a:r>
            <a:r>
              <a:rPr lang="en-US" sz="2100" dirty="0">
                <a:solidFill>
                  <a:srgbClr val="FF0000"/>
                </a:solidFill>
              </a:rPr>
              <a:t>short-term fluctuations to highlight long-term trends.</a:t>
            </a:r>
          </a:p>
          <a:p>
            <a:r>
              <a:rPr lang="en-US" sz="2100" b="1" dirty="0"/>
              <a:t>Regression Analysis</a:t>
            </a:r>
            <a:endParaRPr lang="en-US" sz="2100" dirty="0"/>
          </a:p>
          <a:p>
            <a:pPr lvl="1"/>
            <a:r>
              <a:rPr lang="en-US" sz="2100" dirty="0">
                <a:solidFill>
                  <a:srgbClr val="FF0000"/>
                </a:solidFill>
              </a:rPr>
              <a:t>Fits a line </a:t>
            </a:r>
            <a:r>
              <a:rPr lang="en-US" sz="2100" dirty="0"/>
              <a:t>(linear, polynomial, exponential) to historical data to estimate trends.</a:t>
            </a:r>
          </a:p>
          <a:p>
            <a:r>
              <a:rPr lang="en-US" sz="2100" b="1" dirty="0"/>
              <a:t>Data Visualization</a:t>
            </a:r>
            <a:endParaRPr lang="en-US" sz="2100" dirty="0"/>
          </a:p>
          <a:p>
            <a:pPr lvl="1"/>
            <a:r>
              <a:rPr lang="en-US" sz="2100" dirty="0"/>
              <a:t>Line charts, scatter plots, bar graphs, and heatmaps to reveal visible patterns.</a:t>
            </a:r>
          </a:p>
          <a:p>
            <a:r>
              <a:rPr lang="en-US" sz="2100" b="1" dirty="0"/>
              <a:t>Clustering for Temporal Data</a:t>
            </a:r>
            <a:endParaRPr lang="en-US" sz="2100" dirty="0"/>
          </a:p>
          <a:p>
            <a:pPr lvl="1"/>
            <a:r>
              <a:rPr lang="en-US" sz="2100" dirty="0"/>
              <a:t>Groups time-dependent data into similar trend categories.</a:t>
            </a:r>
          </a:p>
          <a:p>
            <a:r>
              <a:rPr lang="en-US" sz="2100" b="1" dirty="0"/>
              <a:t>Machine Learning Models</a:t>
            </a:r>
            <a:endParaRPr lang="en-US" sz="2100" dirty="0"/>
          </a:p>
          <a:p>
            <a:pPr lvl="1"/>
            <a:r>
              <a:rPr lang="en-US" sz="2100" dirty="0"/>
              <a:t>LSTM (Long Short-Term Memory), Prophet (by Meta), and Gradient Boosting for trend forecasting.</a:t>
            </a:r>
          </a:p>
          <a:p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1085216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EF01-308F-9660-584C-BE443672B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97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CD2F-42A4-EFB9-7CCE-028E7A043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79" y="1393673"/>
            <a:ext cx="10895234" cy="3880773"/>
          </a:xfrm>
        </p:spPr>
        <p:txBody>
          <a:bodyPr>
            <a:noAutofit/>
          </a:bodyPr>
          <a:lstStyle/>
          <a:p>
            <a:pPr algn="just"/>
            <a:r>
              <a:rPr lang="en-IN" sz="2600" b="1" dirty="0"/>
              <a:t>Business</a:t>
            </a:r>
            <a:r>
              <a:rPr lang="en-IN" sz="2600" dirty="0"/>
              <a:t> – Sales forecasting, market growth detection, customer </a:t>
            </a:r>
            <a:r>
              <a:rPr lang="en-IN" sz="2600" dirty="0" err="1"/>
              <a:t>behavior</a:t>
            </a:r>
            <a:r>
              <a:rPr lang="en-IN" sz="2600" dirty="0"/>
              <a:t> monitoring.</a:t>
            </a:r>
          </a:p>
          <a:p>
            <a:pPr algn="just"/>
            <a:r>
              <a:rPr lang="en-IN" sz="2600" b="1" dirty="0"/>
              <a:t>Healthcare</a:t>
            </a:r>
            <a:r>
              <a:rPr lang="en-IN" sz="2600" dirty="0"/>
              <a:t> – Tracking disease outbreaks, patient recovery trends, hospital admission rates.</a:t>
            </a:r>
          </a:p>
          <a:p>
            <a:pPr algn="just"/>
            <a:r>
              <a:rPr lang="en-IN" sz="2600" b="1" dirty="0"/>
              <a:t>Finance</a:t>
            </a:r>
            <a:r>
              <a:rPr lang="en-IN" sz="2600" dirty="0"/>
              <a:t> – Stock market analysis, revenue forecasting, fraud pattern recognition.</a:t>
            </a:r>
          </a:p>
          <a:p>
            <a:pPr algn="just"/>
            <a:r>
              <a:rPr lang="en-IN" sz="2600" b="1" dirty="0"/>
              <a:t>Social Media</a:t>
            </a:r>
            <a:r>
              <a:rPr lang="en-IN" sz="2600" dirty="0"/>
              <a:t> – Identifying trending hashtags, viral content analysis.</a:t>
            </a:r>
          </a:p>
          <a:p>
            <a:pPr algn="just"/>
            <a:r>
              <a:rPr lang="en-IN" sz="2600" b="1" dirty="0"/>
              <a:t>Climate Studies</a:t>
            </a:r>
            <a:r>
              <a:rPr lang="en-IN" sz="2600" dirty="0"/>
              <a:t> – Detecting long-term temperature/rainfall changes.</a:t>
            </a:r>
          </a:p>
          <a:p>
            <a:pPr algn="just"/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953737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10457-86B2-7AD2-F1DA-DDB7DF18A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80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93BF-6869-17C7-283A-AD3C9EE33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023" y="1708305"/>
            <a:ext cx="10787079" cy="3880773"/>
          </a:xfrm>
        </p:spPr>
        <p:txBody>
          <a:bodyPr>
            <a:normAutofit/>
          </a:bodyPr>
          <a:lstStyle/>
          <a:p>
            <a:r>
              <a:rPr lang="en-US" sz="2600" dirty="0"/>
              <a:t>A retail company tracks monthly sales for 5 years.</a:t>
            </a:r>
          </a:p>
          <a:p>
            <a:r>
              <a:rPr lang="en-US" sz="2600" dirty="0"/>
              <a:t>Trend analysis reveals:</a:t>
            </a:r>
          </a:p>
          <a:p>
            <a:pPr lvl="1"/>
            <a:r>
              <a:rPr lang="en-US" sz="2600" dirty="0"/>
              <a:t>An </a:t>
            </a:r>
            <a:r>
              <a:rPr lang="en-US" sz="2600" b="1" dirty="0"/>
              <a:t>upward long-term trend</a:t>
            </a:r>
            <a:r>
              <a:rPr lang="en-US" sz="2600" dirty="0"/>
              <a:t> (sales are growing each year).</a:t>
            </a:r>
          </a:p>
          <a:p>
            <a:pPr lvl="1"/>
            <a:r>
              <a:rPr lang="en-US" sz="2600" dirty="0"/>
              <a:t>A </a:t>
            </a:r>
            <a:r>
              <a:rPr lang="en-US" sz="2600" b="1" dirty="0"/>
              <a:t>seasonal pattern</a:t>
            </a:r>
            <a:r>
              <a:rPr lang="en-US" sz="2600" dirty="0"/>
              <a:t> (sales spike in December).</a:t>
            </a:r>
          </a:p>
          <a:p>
            <a:pPr lvl="1"/>
            <a:r>
              <a:rPr lang="en-US" sz="2600" b="1" dirty="0"/>
              <a:t>Outliers</a:t>
            </a:r>
            <a:r>
              <a:rPr lang="en-US" sz="2600" dirty="0"/>
              <a:t> (a sudden dip in sales during COVID-19 lockdown).</a:t>
            </a:r>
          </a:p>
          <a:p>
            <a:endParaRPr lang="en-IN" sz="2600" dirty="0"/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900419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0CB8-9718-1670-2AD3-65E2D7F8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1612-ADAF-42CA-D9BD-87A922398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7131"/>
            <a:ext cx="11032885" cy="3880773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Simplifies decision-making</a:t>
            </a:r>
            <a:r>
              <a:rPr lang="en-US" sz="2600" dirty="0"/>
              <a:t> with </a:t>
            </a:r>
            <a:r>
              <a:rPr lang="en-US" sz="2600" b="1" dirty="0">
                <a:solidFill>
                  <a:srgbClr val="FF0000"/>
                </a:solidFill>
              </a:rPr>
              <a:t>evidence-based insights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r>
              <a:rPr lang="en-US" sz="2600" dirty="0"/>
              <a:t>Provides </a:t>
            </a:r>
            <a:r>
              <a:rPr lang="en-US" sz="2600" b="1" dirty="0">
                <a:solidFill>
                  <a:srgbClr val="FF0000"/>
                </a:solidFill>
              </a:rPr>
              <a:t>early warnings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of risks or opportunities.</a:t>
            </a:r>
          </a:p>
          <a:p>
            <a:r>
              <a:rPr lang="en-US" sz="2600" dirty="0"/>
              <a:t>Helps in </a:t>
            </a:r>
            <a:r>
              <a:rPr lang="en-US" sz="2600" b="1" dirty="0">
                <a:solidFill>
                  <a:srgbClr val="FF0000"/>
                </a:solidFill>
              </a:rPr>
              <a:t>forecasting future outcomes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r>
              <a:rPr lang="en-US" sz="2600" dirty="0"/>
              <a:t>Supports </a:t>
            </a:r>
            <a:r>
              <a:rPr lang="en-US" sz="2600" b="1" dirty="0">
                <a:solidFill>
                  <a:srgbClr val="FF0000"/>
                </a:solidFill>
              </a:rPr>
              <a:t>resource planning and strategy development</a:t>
            </a:r>
            <a:r>
              <a:rPr lang="en-US" sz="2600" dirty="0">
                <a:solidFill>
                  <a:srgbClr val="FF0000"/>
                </a:solidFill>
              </a:rPr>
              <a:t>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226924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ED44-D3EA-7A32-8855-10BA96A9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27" y="68826"/>
            <a:ext cx="11485169" cy="737419"/>
          </a:xfrm>
        </p:spPr>
        <p:txBody>
          <a:bodyPr>
            <a:normAutofit/>
          </a:bodyPr>
          <a:lstStyle/>
          <a:p>
            <a:r>
              <a:rPr lang="en-US" dirty="0"/>
              <a:t>Simple Linear Regression             </a:t>
            </a:r>
            <a:r>
              <a:rPr lang="en-US" sz="2200" dirty="0">
                <a:solidFill>
                  <a:srgbClr val="FF0000"/>
                </a:solidFill>
              </a:rPr>
              <a:t>(Refer the Linear Regression PDF)</a:t>
            </a:r>
            <a:endParaRPr lang="en-IN" sz="2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C96AD-E4ED-B8F9-5CFA-7331FD727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28" y="999214"/>
            <a:ext cx="10787079" cy="1940632"/>
          </a:xfrm>
        </p:spPr>
        <p:txBody>
          <a:bodyPr>
            <a:noAutofit/>
          </a:bodyPr>
          <a:lstStyle/>
          <a:p>
            <a:r>
              <a:rPr lang="en-US" sz="2400" b="1" dirty="0"/>
              <a:t>Simple Linear Regression (SLR)</a:t>
            </a:r>
            <a:r>
              <a:rPr lang="en-US" sz="2400" dirty="0"/>
              <a:t> is a statistical method used to model the relationship between </a:t>
            </a:r>
            <a:r>
              <a:rPr lang="en-US" sz="2400" b="1" dirty="0"/>
              <a:t>two variables</a:t>
            </a:r>
            <a:r>
              <a:rPr lang="en-US" sz="2400" dirty="0"/>
              <a:t>:</a:t>
            </a:r>
          </a:p>
          <a:p>
            <a:r>
              <a:rPr lang="en-US" sz="2400" b="1" dirty="0"/>
              <a:t>Independent variable (X)</a:t>
            </a:r>
            <a:r>
              <a:rPr lang="en-US" sz="2400" dirty="0"/>
              <a:t> → predictor/explanatory variable.</a:t>
            </a:r>
          </a:p>
          <a:p>
            <a:r>
              <a:rPr lang="en-US" sz="2400" b="1" dirty="0"/>
              <a:t>Dependent variable (Y)</a:t>
            </a:r>
            <a:r>
              <a:rPr lang="en-US" sz="2400" dirty="0"/>
              <a:t> → response/outcome variable.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25C57-81C8-2A13-E820-A9BCEDF44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99" y="2939846"/>
            <a:ext cx="7859222" cy="339137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133DEF7-F1F7-ABC1-81A0-BFC4033ACFB1}"/>
              </a:ext>
            </a:extLst>
          </p:cNvPr>
          <p:cNvSpPr/>
          <p:nvPr/>
        </p:nvSpPr>
        <p:spPr>
          <a:xfrm>
            <a:off x="5633884" y="304799"/>
            <a:ext cx="1081548" cy="2654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6337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101</TotalTime>
  <Words>1252</Words>
  <Application>Microsoft Office PowerPoint</Application>
  <PresentationFormat>Widescreen</PresentationFormat>
  <Paragraphs>133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Unicode MS</vt:lpstr>
      <vt:lpstr>Trebuchet MS</vt:lpstr>
      <vt:lpstr>Wingdings</vt:lpstr>
      <vt:lpstr>Wingdings 3</vt:lpstr>
      <vt:lpstr>Facet</vt:lpstr>
      <vt:lpstr>UNIT-III</vt:lpstr>
      <vt:lpstr>Descriptive analytics </vt:lpstr>
      <vt:lpstr>Techniques Used for Descriptive Analytics </vt:lpstr>
      <vt:lpstr>Examples </vt:lpstr>
      <vt:lpstr>Benefits </vt:lpstr>
      <vt:lpstr>Data Modeling</vt:lpstr>
      <vt:lpstr>Objectives of Data Modeling </vt:lpstr>
      <vt:lpstr>Types of Data Models </vt:lpstr>
      <vt:lpstr>Common Data Modeling Techniques </vt:lpstr>
      <vt:lpstr>Importance in Data Mining &amp; Analytics </vt:lpstr>
      <vt:lpstr>Example </vt:lpstr>
      <vt:lpstr>Benefits </vt:lpstr>
      <vt:lpstr>Trend Analysis</vt:lpstr>
      <vt:lpstr>Types of Trends </vt:lpstr>
      <vt:lpstr>Techniques for Trend Analysis in Data Mining </vt:lpstr>
      <vt:lpstr>Applications </vt:lpstr>
      <vt:lpstr>Example </vt:lpstr>
      <vt:lpstr>Benefits </vt:lpstr>
      <vt:lpstr>Simple Linear Regression             (Refer the Linear Regression PDF)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Isabella S</dc:creator>
  <cp:lastModifiedBy>Isabella S</cp:lastModifiedBy>
  <cp:revision>3</cp:revision>
  <dcterms:created xsi:type="dcterms:W3CDTF">2025-09-04T03:41:55Z</dcterms:created>
  <dcterms:modified xsi:type="dcterms:W3CDTF">2025-09-04T09:02:20Z</dcterms:modified>
</cp:coreProperties>
</file>