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90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7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7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85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9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47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01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3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2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81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327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86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539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68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3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2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76349-F816-42FA-BCCE-6C12842A2DF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87FB-D1F0-8539-BE4F-17C9D3042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422" y="703553"/>
            <a:ext cx="7766936" cy="1646302"/>
          </a:xfrm>
        </p:spPr>
        <p:txBody>
          <a:bodyPr/>
          <a:lstStyle/>
          <a:p>
            <a:pPr algn="ctr"/>
            <a:r>
              <a:rPr lang="en-IN" dirty="0"/>
              <a:t>UNIT-III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2B4AF-857B-8FD2-B62D-561C86DA6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724" y="2693981"/>
            <a:ext cx="9475565" cy="2408961"/>
          </a:xfrm>
        </p:spPr>
        <p:txBody>
          <a:bodyPr>
            <a:noAutofit/>
          </a:bodyPr>
          <a:lstStyle/>
          <a:p>
            <a:pPr algn="l"/>
            <a:r>
              <a:rPr lang="en-IN" sz="3200" dirty="0"/>
              <a:t>Forecasting Models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dirty="0"/>
              <a:t>Heuristic methods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dirty="0"/>
              <a:t>Predictive modeling and pattern discovery </a:t>
            </a:r>
            <a:endParaRPr lang="en-IN" sz="3200" dirty="0"/>
          </a:p>
          <a:p>
            <a:pPr algn="l"/>
            <a:endParaRPr lang="en-IN" sz="3200" dirty="0"/>
          </a:p>
          <a:p>
            <a:pPr algn="l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7207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EE56-6528-0616-7EDE-A332CF9E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50" y="412955"/>
            <a:ext cx="8596668" cy="629265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Forecasting?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44E13-D076-D432-185F-829EF73D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91" y="1488613"/>
            <a:ext cx="11770306" cy="3880773"/>
          </a:xfrm>
        </p:spPr>
        <p:txBody>
          <a:bodyPr>
            <a:normAutofit/>
          </a:bodyPr>
          <a:lstStyle/>
          <a:p>
            <a:pPr algn="just"/>
            <a:r>
              <a:rPr lang="en-US" sz="2600" b="1" dirty="0"/>
              <a:t>Forecasting</a:t>
            </a:r>
            <a:r>
              <a:rPr lang="en-US" sz="2600" dirty="0"/>
              <a:t> is the process of using </a:t>
            </a:r>
            <a:r>
              <a:rPr lang="en-US" sz="2600" b="1" dirty="0">
                <a:solidFill>
                  <a:srgbClr val="FF0000"/>
                </a:solidFill>
              </a:rPr>
              <a:t>historical data</a:t>
            </a:r>
            <a:r>
              <a:rPr lang="en-US" sz="2600" dirty="0">
                <a:solidFill>
                  <a:srgbClr val="FF0000"/>
                </a:solidFill>
              </a:rPr>
              <a:t> and </a:t>
            </a:r>
            <a:r>
              <a:rPr lang="en-US" sz="2600" b="1" dirty="0">
                <a:solidFill>
                  <a:srgbClr val="FF0000"/>
                </a:solidFill>
              </a:rPr>
              <a:t>statistical/machine learning models</a:t>
            </a:r>
            <a:r>
              <a:rPr lang="en-US" sz="2600" dirty="0">
                <a:solidFill>
                  <a:srgbClr val="FF0000"/>
                </a:solidFill>
              </a:rPr>
              <a:t> to </a:t>
            </a:r>
            <a:r>
              <a:rPr lang="en-US" sz="2600" b="1" dirty="0">
                <a:solidFill>
                  <a:srgbClr val="FF0000"/>
                </a:solidFill>
              </a:rPr>
              <a:t>predict future values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  <a:br>
              <a:rPr lang="en-US" sz="2600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  <a:p>
            <a:r>
              <a:rPr lang="en-US" sz="2600" dirty="0"/>
              <a:t>It helps answer the question:</a:t>
            </a:r>
            <a:br>
              <a:rPr lang="en-US" sz="2600" dirty="0"/>
            </a:br>
            <a:r>
              <a:rPr lang="en-US" sz="2600" dirty="0"/>
              <a:t> </a:t>
            </a:r>
            <a:r>
              <a:rPr lang="en-US" sz="2600" i="1" dirty="0"/>
              <a:t>“What is likely to happen in the future based on past patterns?”</a:t>
            </a:r>
          </a:p>
          <a:p>
            <a:pPr marL="0" indent="0">
              <a:buNone/>
            </a:pPr>
            <a:endParaRPr lang="en-US" sz="2600" dirty="0"/>
          </a:p>
          <a:p>
            <a:pPr algn="just"/>
            <a:r>
              <a:rPr lang="en-US" sz="2600" dirty="0"/>
              <a:t>Forecasting is widely used in </a:t>
            </a:r>
            <a:r>
              <a:rPr lang="en-US" sz="2600" b="1" dirty="0">
                <a:solidFill>
                  <a:srgbClr val="FF0000"/>
                </a:solidFill>
              </a:rPr>
              <a:t>business, economics, healthcare, supply chain, climate science, and finance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9706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F574-FA62-68C1-5117-FD5302E6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0" y="206478"/>
            <a:ext cx="8596668" cy="717755"/>
          </a:xfrm>
        </p:spPr>
        <p:txBody>
          <a:bodyPr/>
          <a:lstStyle/>
          <a:p>
            <a:r>
              <a:rPr lang="en-IN" dirty="0"/>
              <a:t>Heuristic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39158-2E69-71E6-254C-27CFB3BC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35" y="1095323"/>
            <a:ext cx="11533784" cy="5040006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A </a:t>
            </a:r>
            <a:r>
              <a:rPr lang="en-US" sz="2600" b="1" dirty="0"/>
              <a:t>heuristic</a:t>
            </a:r>
            <a:r>
              <a:rPr lang="en-US" sz="2600" dirty="0"/>
              <a:t> is a </a:t>
            </a:r>
            <a:r>
              <a:rPr lang="en-US" sz="2600" b="1" dirty="0"/>
              <a:t>problem-solving approach</a:t>
            </a:r>
            <a:r>
              <a:rPr lang="en-US" sz="2600" dirty="0"/>
              <a:t> that uses </a:t>
            </a:r>
            <a:r>
              <a:rPr lang="en-US" sz="2600" b="1" dirty="0">
                <a:solidFill>
                  <a:srgbClr val="FF0000"/>
                </a:solidFill>
              </a:rPr>
              <a:t>intuition, or simplified strategies</a:t>
            </a:r>
            <a:r>
              <a:rPr lang="en-US" sz="2600" dirty="0">
                <a:solidFill>
                  <a:srgbClr val="FF0000"/>
                </a:solidFill>
              </a:rPr>
              <a:t> to find </a:t>
            </a:r>
            <a:r>
              <a:rPr lang="en-US" sz="2600" b="1" dirty="0">
                <a:solidFill>
                  <a:srgbClr val="FF0000"/>
                </a:solidFill>
              </a:rPr>
              <a:t>good-enough solutions quickly</a:t>
            </a:r>
            <a:r>
              <a:rPr lang="en-US" sz="2600" dirty="0">
                <a:solidFill>
                  <a:srgbClr val="FF0000"/>
                </a:solidFill>
              </a:rPr>
              <a:t>, </a:t>
            </a:r>
            <a:r>
              <a:rPr lang="en-US" sz="2600" dirty="0"/>
              <a:t>rather than guaranteed </a:t>
            </a:r>
            <a:r>
              <a:rPr lang="en-US" sz="2600" i="1" dirty="0"/>
              <a:t>optimal</a:t>
            </a:r>
            <a:r>
              <a:rPr lang="en-US" sz="2600" dirty="0"/>
              <a:t> ones.</a:t>
            </a:r>
          </a:p>
          <a:p>
            <a:pPr algn="just"/>
            <a:r>
              <a:rPr lang="en-US" sz="2600" dirty="0"/>
              <a:t>Derived from the Greek word </a:t>
            </a:r>
            <a:r>
              <a:rPr lang="en-US" sz="2600" i="1" dirty="0" err="1">
                <a:solidFill>
                  <a:srgbClr val="FF0000"/>
                </a:solidFill>
              </a:rPr>
              <a:t>heuriskein</a:t>
            </a:r>
            <a:r>
              <a:rPr lang="en-US" sz="2600" dirty="0">
                <a:solidFill>
                  <a:srgbClr val="FF0000"/>
                </a:solidFill>
              </a:rPr>
              <a:t> → “to find” or “to discover.”</a:t>
            </a:r>
          </a:p>
          <a:p>
            <a:pPr algn="just"/>
            <a:r>
              <a:rPr lang="en-US" sz="2600" dirty="0"/>
              <a:t>Useful when:</a:t>
            </a:r>
          </a:p>
          <a:p>
            <a:pPr lvl="1" algn="just"/>
            <a:r>
              <a:rPr lang="en-US" sz="2600" dirty="0"/>
              <a:t>Problems are </a:t>
            </a:r>
            <a:r>
              <a:rPr lang="en-US" sz="2600" dirty="0">
                <a:solidFill>
                  <a:srgbClr val="FF0000"/>
                </a:solidFill>
              </a:rPr>
              <a:t>too complex </a:t>
            </a:r>
            <a:r>
              <a:rPr lang="en-US" sz="2600" dirty="0"/>
              <a:t>for exact methods.</a:t>
            </a:r>
          </a:p>
          <a:p>
            <a:pPr lvl="1" algn="just"/>
            <a:r>
              <a:rPr lang="en-US" sz="2600" dirty="0">
                <a:solidFill>
                  <a:srgbClr val="FF0000"/>
                </a:solidFill>
              </a:rPr>
              <a:t>Time and resources </a:t>
            </a:r>
            <a:r>
              <a:rPr lang="en-US" sz="2600" dirty="0"/>
              <a:t>are limited.</a:t>
            </a:r>
          </a:p>
          <a:p>
            <a:pPr lvl="1" algn="just"/>
            <a:r>
              <a:rPr lang="en-US" sz="2600" dirty="0">
                <a:solidFill>
                  <a:srgbClr val="FF0000"/>
                </a:solidFill>
              </a:rPr>
              <a:t>Approximate solutions </a:t>
            </a:r>
            <a:r>
              <a:rPr lang="en-US" sz="2600" dirty="0"/>
              <a:t>are acceptable.</a:t>
            </a:r>
          </a:p>
          <a:p>
            <a:pPr algn="just"/>
            <a:r>
              <a:rPr lang="en-US" sz="2600" dirty="0"/>
              <a:t>In short: Heuristics trade </a:t>
            </a:r>
            <a:r>
              <a:rPr lang="en-US" sz="2600" b="1" dirty="0"/>
              <a:t>accuracy/optimality</a:t>
            </a:r>
            <a:r>
              <a:rPr lang="en-US" sz="2600" dirty="0"/>
              <a:t> for </a:t>
            </a:r>
            <a:r>
              <a:rPr lang="en-US" sz="2600" b="1" dirty="0"/>
              <a:t>speed and practicality</a:t>
            </a:r>
            <a:r>
              <a:rPr lang="en-US" sz="2600" dirty="0"/>
              <a:t>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79333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BFCE-FA20-BBBF-B7F8-2A17F99E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79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Characteristics of Heuristic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0E644-EFC9-B51B-1AD7-7099E87B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49" y="1639479"/>
            <a:ext cx="10718253" cy="3880773"/>
          </a:xfrm>
        </p:spPr>
        <p:txBody>
          <a:bodyPr>
            <a:normAutofit/>
          </a:bodyPr>
          <a:lstStyle/>
          <a:p>
            <a:r>
              <a:rPr lang="en-US" sz="2600" b="1" dirty="0"/>
              <a:t>Approximate</a:t>
            </a:r>
            <a:r>
              <a:rPr lang="en-US" sz="2600" dirty="0"/>
              <a:t>: Provide </a:t>
            </a:r>
            <a:r>
              <a:rPr lang="en-US" sz="2600" dirty="0">
                <a:solidFill>
                  <a:srgbClr val="FF0000"/>
                </a:solidFill>
              </a:rPr>
              <a:t>near-optimal solutions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FF0000"/>
                </a:solidFill>
              </a:rPr>
              <a:t>not guaranteed optimal.</a:t>
            </a:r>
          </a:p>
          <a:p>
            <a:r>
              <a:rPr lang="en-US" sz="2600" b="1" dirty="0"/>
              <a:t>Fast &amp; Practical</a:t>
            </a:r>
            <a:r>
              <a:rPr lang="en-US" sz="2600" dirty="0"/>
              <a:t>: Focus on </a:t>
            </a:r>
            <a:r>
              <a:rPr lang="en-US" sz="2600" dirty="0">
                <a:solidFill>
                  <a:srgbClr val="FF0000"/>
                </a:solidFill>
              </a:rPr>
              <a:t>efficiency</a:t>
            </a:r>
            <a:r>
              <a:rPr lang="en-US" sz="2600" dirty="0"/>
              <a:t> when exact methods are computationally expensive.</a:t>
            </a:r>
          </a:p>
          <a:p>
            <a:r>
              <a:rPr lang="en-US" sz="2600" b="1" dirty="0"/>
              <a:t>Flexible</a:t>
            </a:r>
            <a:r>
              <a:rPr lang="en-US" sz="2600" dirty="0"/>
              <a:t>: Can </a:t>
            </a:r>
            <a:r>
              <a:rPr lang="en-US" sz="2600" dirty="0">
                <a:solidFill>
                  <a:srgbClr val="FF0000"/>
                </a:solidFill>
              </a:rPr>
              <a:t>adapt</a:t>
            </a:r>
            <a:r>
              <a:rPr lang="en-US" sz="2600" dirty="0"/>
              <a:t> to different problem types.</a:t>
            </a:r>
          </a:p>
          <a:p>
            <a:r>
              <a:rPr lang="en-US" sz="2600" b="1" dirty="0"/>
              <a:t>Intuitive</a:t>
            </a:r>
            <a:r>
              <a:rPr lang="en-US" sz="2600" dirty="0"/>
              <a:t>: Often inspired by </a:t>
            </a:r>
            <a:r>
              <a:rPr lang="en-US" sz="2600" dirty="0">
                <a:solidFill>
                  <a:srgbClr val="FF0000"/>
                </a:solidFill>
              </a:rPr>
              <a:t>human reasoning or natural phenomena.</a:t>
            </a:r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09405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B166-8A7D-4D7B-697A-393607EE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7" y="113071"/>
            <a:ext cx="8596668" cy="5358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Heuristic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FCDD-48D1-F462-EE2E-8FD8919B1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7" y="757645"/>
            <a:ext cx="11417434" cy="719665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1. Constructive Heuristics</a:t>
            </a:r>
          </a:p>
          <a:p>
            <a:pPr lvl="1" algn="just"/>
            <a:r>
              <a:rPr lang="en-US" sz="2000" dirty="0"/>
              <a:t>Build a solution </a:t>
            </a:r>
            <a:r>
              <a:rPr lang="en-US" sz="2000" dirty="0">
                <a:solidFill>
                  <a:srgbClr val="FF0000"/>
                </a:solidFill>
              </a:rPr>
              <a:t>step by step.</a:t>
            </a:r>
          </a:p>
          <a:p>
            <a:pPr lvl="1" algn="just"/>
            <a:r>
              <a:rPr lang="en-US" sz="2000" dirty="0"/>
              <a:t>Example: Nearest Neighbor Algorithm for the Traveling Salesman Problem (TSP).</a:t>
            </a:r>
          </a:p>
          <a:p>
            <a:pPr marL="0" indent="0" algn="just">
              <a:buNone/>
            </a:pPr>
            <a:r>
              <a:rPr lang="en-US" sz="2000" b="1" dirty="0"/>
              <a:t>2. Improvement Heuristics</a:t>
            </a:r>
          </a:p>
          <a:p>
            <a:pPr lvl="1" algn="just"/>
            <a:r>
              <a:rPr lang="en-US" sz="2000" dirty="0"/>
              <a:t>Start with an </a:t>
            </a:r>
            <a:r>
              <a:rPr lang="en-US" sz="2000" dirty="0">
                <a:solidFill>
                  <a:srgbClr val="FF0000"/>
                </a:solidFill>
              </a:rPr>
              <a:t>initial solution and improve </a:t>
            </a:r>
            <a:r>
              <a:rPr lang="en-US" sz="2000" dirty="0"/>
              <a:t>it iteratively.</a:t>
            </a:r>
          </a:p>
          <a:p>
            <a:pPr lvl="1" algn="just"/>
            <a:r>
              <a:rPr lang="en-US" sz="2000" dirty="0"/>
              <a:t>Example: Local Search, Hill Climbing.</a:t>
            </a:r>
          </a:p>
          <a:p>
            <a:pPr marL="0" indent="0" algn="just">
              <a:buNone/>
            </a:pPr>
            <a:r>
              <a:rPr lang="en-US" sz="2000" b="1" dirty="0"/>
              <a:t>3. Meta-Heuristics (general strategies for optimization)</a:t>
            </a:r>
          </a:p>
          <a:p>
            <a:pPr lvl="1" algn="just"/>
            <a:r>
              <a:rPr lang="en-US" sz="2000" b="1" dirty="0"/>
              <a:t>Genetic Algorithms (GA)</a:t>
            </a:r>
            <a:r>
              <a:rPr lang="en-US" sz="2000" dirty="0"/>
              <a:t> → Inspired by </a:t>
            </a:r>
            <a:r>
              <a:rPr lang="en-US" sz="2000" dirty="0">
                <a:solidFill>
                  <a:srgbClr val="FF0000"/>
                </a:solidFill>
              </a:rPr>
              <a:t>natural selection.</a:t>
            </a:r>
          </a:p>
          <a:p>
            <a:pPr lvl="1" algn="just"/>
            <a:r>
              <a:rPr lang="en-US" sz="2000" b="1" dirty="0"/>
              <a:t>Simulated Annealing (SA)</a:t>
            </a:r>
            <a:r>
              <a:rPr lang="en-US" sz="2000" dirty="0"/>
              <a:t> → </a:t>
            </a:r>
            <a:r>
              <a:rPr lang="en-US" sz="2000" b="1" dirty="0"/>
              <a:t>mimics the cooling of metals</a:t>
            </a:r>
            <a:r>
              <a:rPr lang="en-US" sz="2000" dirty="0"/>
              <a:t>. accepting worse solutions, it avoids getting stuck in local optima and increases the chance of finding the </a:t>
            </a:r>
            <a:r>
              <a:rPr lang="en-US" sz="2000" b="1" dirty="0"/>
              <a:t>global best solution</a:t>
            </a:r>
            <a:r>
              <a:rPr lang="en-US" sz="2000" dirty="0"/>
              <a:t>.</a:t>
            </a:r>
          </a:p>
          <a:p>
            <a:pPr lvl="1" algn="just"/>
            <a:r>
              <a:rPr lang="en-US" sz="2000" b="1" dirty="0"/>
              <a:t>Tabu Search</a:t>
            </a:r>
            <a:r>
              <a:rPr lang="en-US" sz="2000" dirty="0"/>
              <a:t> → Uses </a:t>
            </a:r>
            <a:r>
              <a:rPr lang="en-US" sz="2000" dirty="0">
                <a:solidFill>
                  <a:srgbClr val="FF0000"/>
                </a:solidFill>
              </a:rPr>
              <a:t>memory structures </a:t>
            </a:r>
            <a:r>
              <a:rPr lang="en-US" sz="2000" dirty="0"/>
              <a:t>to avoid cycling back to previous solutions.</a:t>
            </a:r>
          </a:p>
          <a:p>
            <a:pPr lvl="1" algn="just"/>
            <a:r>
              <a:rPr lang="en-US" sz="2000" b="1" dirty="0"/>
              <a:t>Ant Colony Optimization (ACO)</a:t>
            </a:r>
            <a:r>
              <a:rPr lang="en-US" sz="2000" dirty="0"/>
              <a:t> → Models </a:t>
            </a:r>
            <a:r>
              <a:rPr lang="en-US" sz="2000" dirty="0">
                <a:solidFill>
                  <a:srgbClr val="FF0000"/>
                </a:solidFill>
              </a:rPr>
              <a:t>how ants find shortest paths.</a:t>
            </a:r>
          </a:p>
          <a:p>
            <a:pPr lvl="1" algn="just"/>
            <a:r>
              <a:rPr lang="en-US" sz="2000" b="1" dirty="0"/>
              <a:t>Particle Swarm Optimization (PSO)</a:t>
            </a:r>
            <a:r>
              <a:rPr lang="en-US" sz="2000" dirty="0"/>
              <a:t> → Inspired by </a:t>
            </a:r>
            <a:r>
              <a:rPr lang="en-US" sz="2000" dirty="0">
                <a:solidFill>
                  <a:srgbClr val="FF0000"/>
                </a:solidFill>
              </a:rPr>
              <a:t>bird flocking</a:t>
            </a:r>
            <a:r>
              <a:rPr lang="en-US" sz="2000" dirty="0"/>
              <a:t>(just as birds move together in a flock to find food)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8547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5897-6198-DB24-898D-01BC9C18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1" y="452844"/>
            <a:ext cx="8596668" cy="72758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in Data Mining &amp;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48DE-C53D-2593-ACAB-F5A4CB1AE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204" y="1324847"/>
            <a:ext cx="11111543" cy="3880773"/>
          </a:xfrm>
        </p:spPr>
        <p:txBody>
          <a:bodyPr>
            <a:noAutofit/>
          </a:bodyPr>
          <a:lstStyle/>
          <a:p>
            <a:r>
              <a:rPr lang="en-IN" sz="2600" b="1" dirty="0"/>
              <a:t>Feature Selection</a:t>
            </a:r>
            <a:r>
              <a:rPr lang="en-IN" sz="2600" dirty="0"/>
              <a:t> → Using heuristics (e.g., GA, PSO) to select the best subset of features.</a:t>
            </a:r>
          </a:p>
          <a:p>
            <a:r>
              <a:rPr lang="en-IN" sz="2600" b="1" dirty="0"/>
              <a:t>Clustering</a:t>
            </a:r>
            <a:r>
              <a:rPr lang="en-IN" sz="2600" dirty="0"/>
              <a:t> → Heuristic algorithms like K-means (not guaranteed optimal but effective).</a:t>
            </a:r>
          </a:p>
          <a:p>
            <a:r>
              <a:rPr lang="en-IN" sz="2600" b="1" dirty="0"/>
              <a:t>Classification</a:t>
            </a:r>
            <a:r>
              <a:rPr lang="en-IN" sz="2600" dirty="0"/>
              <a:t> → Rule-based heuristics for fast decision-making.</a:t>
            </a:r>
          </a:p>
          <a:p>
            <a:r>
              <a:rPr lang="en-IN" sz="2600" b="1" dirty="0"/>
              <a:t>Optimization Problems</a:t>
            </a:r>
            <a:r>
              <a:rPr lang="en-IN" sz="2600" dirty="0"/>
              <a:t> → Scheduling, routing, resource allocation.</a:t>
            </a:r>
          </a:p>
          <a:p>
            <a:r>
              <a:rPr lang="en-IN" sz="2600" b="1" dirty="0"/>
              <a:t>Big Data</a:t>
            </a:r>
            <a:r>
              <a:rPr lang="en-IN" sz="2600" dirty="0"/>
              <a:t> → When datasets are huge, heuristics provide feasible solutions faster than exact methods.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61113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0DC0-CE7F-EE00-FEC9-9455C642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57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AE94B-19E8-793B-36E9-8AAAEA4A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83" y="1678809"/>
            <a:ext cx="10737918" cy="3880773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rgbClr val="FF0000"/>
                </a:solidFill>
              </a:rPr>
              <a:t>Traveling Salesman Problem (TSP):</a:t>
            </a:r>
            <a:endParaRPr lang="en-US" sz="2600" dirty="0">
              <a:solidFill>
                <a:srgbClr val="FF0000"/>
              </a:solidFill>
            </a:endParaRPr>
          </a:p>
          <a:p>
            <a:r>
              <a:rPr lang="en-US" sz="2600" dirty="0"/>
              <a:t>Goal: Find the shortest path visiting all cities once.</a:t>
            </a:r>
          </a:p>
          <a:p>
            <a:r>
              <a:rPr lang="en-US" sz="2600" dirty="0"/>
              <a:t>Exact algorithms (like dynamic programming) take exponential time.</a:t>
            </a:r>
          </a:p>
          <a:p>
            <a:r>
              <a:rPr lang="en-US" sz="2600" dirty="0"/>
              <a:t>A heuristic (Nearest Neighbor) quickly finds a short (not always shortest) path by repeatedly visiting the nearest unvisited city.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39744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5747-2708-D89E-1BAC-4B3E3456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72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Advantages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747AA-1A33-97D4-6797-EA5019837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403621" cy="3880773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solidFill>
                  <a:srgbClr val="FF0000"/>
                </a:solidFill>
              </a:rPr>
              <a:t>Faster</a:t>
            </a:r>
            <a:r>
              <a:rPr lang="en-US" sz="2600" dirty="0"/>
              <a:t> than exact methods for large/complex problems.</a:t>
            </a:r>
          </a:p>
          <a:p>
            <a:pPr algn="just"/>
            <a:r>
              <a:rPr lang="en-US" sz="2600" dirty="0">
                <a:solidFill>
                  <a:srgbClr val="FF0000"/>
                </a:solidFill>
              </a:rPr>
              <a:t>Easier</a:t>
            </a:r>
            <a:r>
              <a:rPr lang="en-US" sz="2600" dirty="0"/>
              <a:t> to implement.</a:t>
            </a:r>
          </a:p>
          <a:p>
            <a:pPr algn="just"/>
            <a:r>
              <a:rPr lang="en-US" sz="2600" dirty="0"/>
              <a:t>Can provide </a:t>
            </a:r>
            <a:r>
              <a:rPr lang="en-US" sz="2600" dirty="0">
                <a:solidFill>
                  <a:srgbClr val="FF0000"/>
                </a:solidFill>
              </a:rPr>
              <a:t>good-enough solutions </a:t>
            </a:r>
            <a:r>
              <a:rPr lang="en-US" sz="2600" dirty="0"/>
              <a:t>when optimality is less critical.</a:t>
            </a:r>
          </a:p>
          <a:p>
            <a:pPr algn="just"/>
            <a:r>
              <a:rPr lang="en-US" sz="2600" dirty="0">
                <a:solidFill>
                  <a:srgbClr val="FF0000"/>
                </a:solidFill>
              </a:rPr>
              <a:t>Adaptable</a:t>
            </a:r>
            <a:r>
              <a:rPr lang="en-US" sz="2600" dirty="0"/>
              <a:t> across problem domains.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96393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2D34-B6C5-35C8-F0C1-FE3C635A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Disadvantages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FEA1-8181-1187-CD25-8DF91E0C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265969" cy="3880773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solidFill>
                  <a:srgbClr val="FF0000"/>
                </a:solidFill>
              </a:rPr>
              <a:t>No guarantee of optimal solution.</a:t>
            </a:r>
          </a:p>
          <a:p>
            <a:pPr algn="just"/>
            <a:r>
              <a:rPr lang="en-US" sz="2600" dirty="0">
                <a:solidFill>
                  <a:srgbClr val="FF0000"/>
                </a:solidFill>
              </a:rPr>
              <a:t>Quality</a:t>
            </a:r>
            <a:r>
              <a:rPr lang="en-US" sz="2600" dirty="0"/>
              <a:t> of solution </a:t>
            </a:r>
            <a:r>
              <a:rPr lang="en-US" sz="2600" dirty="0">
                <a:solidFill>
                  <a:srgbClr val="FF0000"/>
                </a:solidFill>
              </a:rPr>
              <a:t>depends on the heuristic </a:t>
            </a:r>
            <a:r>
              <a:rPr lang="en-US" sz="2600" dirty="0"/>
              <a:t>chosen.</a:t>
            </a:r>
          </a:p>
          <a:p>
            <a:pPr algn="just"/>
            <a:r>
              <a:rPr lang="en-US" sz="2600" dirty="0"/>
              <a:t>May get stuck in </a:t>
            </a:r>
            <a:r>
              <a:rPr lang="en-US" sz="2600" b="1" dirty="0">
                <a:solidFill>
                  <a:srgbClr val="FF0000"/>
                </a:solidFill>
              </a:rPr>
              <a:t>local optima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(worse solution when a better one exists globally).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078302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ADBD-39AA-EB61-674B-E1ED5195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27" y="471949"/>
            <a:ext cx="10796911" cy="1320800"/>
          </a:xfrm>
        </p:spPr>
        <p:txBody>
          <a:bodyPr>
            <a:normAutofit/>
          </a:bodyPr>
          <a:lstStyle/>
          <a:p>
            <a:r>
              <a:rPr lang="en-US" altLang="en-US" b="1" dirty="0"/>
              <a:t>Difference Between Heuristic and Exact Methods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42F11E-B541-61E8-98B6-F21650F2C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800046"/>
              </p:ext>
            </p:extLst>
          </p:nvPr>
        </p:nvGraphicFramePr>
        <p:xfrm>
          <a:off x="805682" y="1792749"/>
          <a:ext cx="10954791" cy="2834640"/>
        </p:xfrm>
        <a:graphic>
          <a:graphicData uri="http://schemas.openxmlformats.org/drawingml/2006/table">
            <a:tbl>
              <a:tblPr/>
              <a:tblGrid>
                <a:gridCol w="1996512">
                  <a:extLst>
                    <a:ext uri="{9D8B030D-6E8A-4147-A177-3AD203B41FA5}">
                      <a16:colId xmlns:a16="http://schemas.microsoft.com/office/drawing/2014/main" val="545636367"/>
                    </a:ext>
                  </a:extLst>
                </a:gridCol>
                <a:gridCol w="4031225">
                  <a:extLst>
                    <a:ext uri="{9D8B030D-6E8A-4147-A177-3AD203B41FA5}">
                      <a16:colId xmlns:a16="http://schemas.microsoft.com/office/drawing/2014/main" val="490012903"/>
                    </a:ext>
                  </a:extLst>
                </a:gridCol>
                <a:gridCol w="4927054">
                  <a:extLst>
                    <a:ext uri="{9D8B030D-6E8A-4147-A177-3AD203B41FA5}">
                      <a16:colId xmlns:a16="http://schemas.microsoft.com/office/drawing/2014/main" val="3567419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</a:rPr>
                        <a:t>Aspect</a:t>
                      </a:r>
                      <a:endParaRPr lang="en-IN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</a:rPr>
                        <a:t>Heuristic Methods</a:t>
                      </a:r>
                      <a:endParaRPr lang="en-IN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</a:rPr>
                        <a:t>Exact Methods</a:t>
                      </a:r>
                      <a:endParaRPr lang="en-IN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27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C000"/>
                          </a:solidFill>
                        </a:rPr>
                        <a:t>Goal</a:t>
                      </a:r>
                      <a:endParaRPr lang="en-IN" sz="26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0070C0"/>
                          </a:solidFill>
                        </a:rPr>
                        <a:t>Good-enough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CC00CC"/>
                          </a:solidFill>
                        </a:rPr>
                        <a:t>Guaranteed optimal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0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C000"/>
                          </a:solidFill>
                        </a:rPr>
                        <a:t>Speed</a:t>
                      </a:r>
                      <a:endParaRPr lang="en-IN" sz="26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0070C0"/>
                          </a:solidFill>
                        </a:rPr>
                        <a:t>Fast, 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CC00CC"/>
                          </a:solidFill>
                        </a:rPr>
                        <a:t>Slower, often exponential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301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C000"/>
                          </a:solidFill>
                        </a:rPr>
                        <a:t>Accuracy</a:t>
                      </a:r>
                      <a:endParaRPr lang="en-IN" sz="26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0070C0"/>
                          </a:solidFill>
                        </a:rPr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CC00CC"/>
                          </a:solidFill>
                        </a:rPr>
                        <a:t>Precise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582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solidFill>
                            <a:srgbClr val="FFC000"/>
                          </a:solidFill>
                        </a:rPr>
                        <a:t>Use case</a:t>
                      </a:r>
                      <a:endParaRPr lang="en-IN" sz="26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0070C0"/>
                          </a:solidFill>
                        </a:rPr>
                        <a:t>Large/complex problems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solidFill>
                            <a:srgbClr val="CC00CC"/>
                          </a:solidFill>
                        </a:rPr>
                        <a:t>Smaller, well-defined problems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923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577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E7BB-B2FD-01D7-C323-24801CA8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2" y="157316"/>
            <a:ext cx="8596668" cy="550606"/>
          </a:xfrm>
        </p:spPr>
        <p:txBody>
          <a:bodyPr>
            <a:normAutofit fontScale="90000"/>
          </a:bodyPr>
          <a:lstStyle/>
          <a:p>
            <a:pPr marL="457200" indent="-457200"/>
            <a:r>
              <a:rPr lang="en-US" dirty="0"/>
              <a:t>Predictive modeling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B2F933-2D46-1AC3-5D38-7A73EE5962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170" y="764024"/>
            <a:ext cx="11573659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Predictive modeling is the process of building models that can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make predictions about unknown or future outcomes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historical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forecast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events, trends, or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commonly used: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models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(linear regression, logistic regression)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algorithms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(decision trees, random forest, SVM, neural networks)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methods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(boosting, bagging, stacking)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more complex tasks.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in practice: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whether a patient has heart disease based on medical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 stock market trends.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62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2087-0EC3-2CAB-6E4A-C6894599A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1" y="111465"/>
            <a:ext cx="8596668" cy="660400"/>
          </a:xfrm>
        </p:spPr>
        <p:txBody>
          <a:bodyPr/>
          <a:lstStyle/>
          <a:p>
            <a:r>
              <a:rPr lang="en-US" dirty="0"/>
              <a:t>Pattern Discovery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F5FECE-7814-BD77-0728-8E6FA29AF9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720" y="682076"/>
            <a:ext cx="11820559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Pattern discovery focuses on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identifying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hidden, interesting, and previously unknown structures or relationships within large datasets.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uncover associations, correlations, clusters, and trends.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commonly used: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Association rule mining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FP-Growth → finding “if-then” patterns like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who buy bread also buy butter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K-means, DBSCAN → grouping similar objects without predefined labels).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 pattern mining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(discovering common sequences of events, like customer purchase orders).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detection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(identifying rare or unusual patterns, such as fraud detection).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in practice: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basket analysis in retail.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patient subgroups in healthcare.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fraudulent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9338573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405</TotalTime>
  <Words>832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Trebuchet MS</vt:lpstr>
      <vt:lpstr>Wingdings</vt:lpstr>
      <vt:lpstr>Wingdings 3</vt:lpstr>
      <vt:lpstr>Facet</vt:lpstr>
      <vt:lpstr>UNIT-III</vt:lpstr>
      <vt:lpstr>What is Forecasting?</vt:lpstr>
      <vt:lpstr>Heuristic Methods</vt:lpstr>
      <vt:lpstr>Characteristics of Heuristic Methods </vt:lpstr>
      <vt:lpstr>Types of Heuristic Methods </vt:lpstr>
      <vt:lpstr>Applications in Data Mining &amp; Analytics </vt:lpstr>
      <vt:lpstr>Example </vt:lpstr>
      <vt:lpstr>Advantages </vt:lpstr>
      <vt:lpstr>Disadvantages </vt:lpstr>
      <vt:lpstr>Difference Between Heuristic and Exact Methods </vt:lpstr>
      <vt:lpstr>Predictive modeling  </vt:lpstr>
      <vt:lpstr>Pattern Discovery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S</dc:creator>
  <cp:lastModifiedBy>Isabella S</cp:lastModifiedBy>
  <cp:revision>5</cp:revision>
  <dcterms:created xsi:type="dcterms:W3CDTF">2025-09-04T03:41:55Z</dcterms:created>
  <dcterms:modified xsi:type="dcterms:W3CDTF">2025-09-10T08:45:54Z</dcterms:modified>
</cp:coreProperties>
</file>