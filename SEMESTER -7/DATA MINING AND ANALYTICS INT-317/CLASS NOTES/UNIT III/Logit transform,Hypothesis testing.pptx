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190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63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77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50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257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294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76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88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58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22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9349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220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8723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387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521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37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6FE321-222B-4864-91DA-F07C884DE3D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40C9850E-824E-4ED3-AA09-9516EB9CF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93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C007-CF6E-B9C4-D3DC-38DDA7D9D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304" y="1012722"/>
            <a:ext cx="8825658" cy="943897"/>
          </a:xfrm>
        </p:spPr>
        <p:txBody>
          <a:bodyPr/>
          <a:lstStyle/>
          <a:p>
            <a:r>
              <a:rPr lang="en-US" dirty="0"/>
              <a:t>UNIT-III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60E1A-9F40-DD5C-6324-BCD9657A5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8982" y="2486463"/>
            <a:ext cx="8825658" cy="3049097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B0F0"/>
                </a:solidFill>
              </a:rPr>
              <a:t>Logit transform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B0F0"/>
                </a:solidFill>
              </a:rPr>
              <a:t>Tests of hypotheses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B0F0"/>
                </a:solidFill>
              </a:rPr>
              <a:t>Wald test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B0F0"/>
                </a:solidFill>
              </a:rPr>
              <a:t>LR test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B0F0"/>
                </a:solidFill>
              </a:rPr>
              <a:t>score test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0B0F0"/>
                </a:solidFill>
              </a:rPr>
              <a:t>test for overall regression</a:t>
            </a:r>
            <a:endParaRPr lang="en-IN" sz="2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970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4AA49-CF91-120C-8DE6-1A4637C7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03" y="639372"/>
            <a:ext cx="8761413" cy="706964"/>
          </a:xfrm>
        </p:spPr>
        <p:txBody>
          <a:bodyPr/>
          <a:lstStyle/>
          <a:p>
            <a:r>
              <a:rPr lang="en-US" b="1" dirty="0"/>
              <a:t>logit transform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3A3F7B-7621-408B-E144-59056ED44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80" y="1423628"/>
                <a:ext cx="11400840" cy="5154151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600" dirty="0"/>
                  <a:t>The </a:t>
                </a:r>
                <a:r>
                  <a:rPr lang="en-US" sz="2600" b="1" dirty="0"/>
                  <a:t>logit transform</a:t>
                </a:r>
                <a:r>
                  <a:rPr lang="en-US" sz="2600" dirty="0"/>
                  <a:t> is a mathematical function commonly used in </a:t>
                </a:r>
                <a:r>
                  <a:rPr lang="en-US" sz="2600" b="1" dirty="0">
                    <a:solidFill>
                      <a:srgbClr val="FF0000"/>
                    </a:solidFill>
                  </a:rPr>
                  <a:t>data mining, machine learning, and statistics</a:t>
                </a:r>
                <a:r>
                  <a:rPr lang="en-US" sz="2600" dirty="0"/>
                  <a:t>—especially in </a:t>
                </a:r>
                <a:r>
                  <a:rPr lang="en-US" sz="2600" b="1" dirty="0"/>
                  <a:t>classification problems</a:t>
                </a:r>
                <a:r>
                  <a:rPr lang="en-US" sz="2600" dirty="0"/>
                  <a:t> where probabilities need to be mapped to a continuous scale.</a:t>
                </a:r>
              </a:p>
              <a:p>
                <a:pPr algn="just"/>
                <a:r>
                  <a:rPr lang="en-IN" sz="2600" b="1" dirty="0"/>
                  <a:t>Definition</a:t>
                </a:r>
              </a:p>
              <a:p>
                <a:pPr algn="just"/>
                <a:r>
                  <a:rPr lang="en-IN" sz="2600" dirty="0"/>
                  <a:t>The </a:t>
                </a:r>
                <a:r>
                  <a:rPr lang="en-IN" sz="2600" b="1" dirty="0"/>
                  <a:t>logit function</a:t>
                </a:r>
                <a:r>
                  <a:rPr lang="en-IN" sz="2600" dirty="0"/>
                  <a:t> is the </a:t>
                </a:r>
                <a:r>
                  <a:rPr lang="en-IN" sz="2600" b="1" dirty="0"/>
                  <a:t>log of the odds</a:t>
                </a:r>
                <a:r>
                  <a:rPr lang="en-IN" sz="2600" dirty="0"/>
                  <a:t> of a probability value </a:t>
                </a:r>
                <a14:m>
                  <m:oMath xmlns:m="http://schemas.openxmlformats.org/officeDocument/2006/math">
                    <m:r>
                      <a:rPr lang="en-IN" sz="2600" i="1"/>
                      <m:t>𝑝</m:t>
                    </m:r>
                  </m:oMath>
                </a14:m>
                <a:r>
                  <a:rPr lang="en-IN" sz="2600" dirty="0"/>
                  <a:t>: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600" b="0"/>
                      <m:t>logit</m:t>
                    </m:r>
                    <m:d>
                      <m:dPr>
                        <m:ctrlPr>
                          <a:rPr lang="ar-AE" sz="2600" i="1"/>
                        </m:ctrlPr>
                      </m:dPr>
                      <m:e>
                        <m:r>
                          <a:rPr lang="ar-AE" sz="2600" b="0" i="1"/>
                          <m:t>𝑝</m:t>
                        </m:r>
                      </m:e>
                    </m:d>
                    <m:r>
                      <a:rPr lang="ar-AE" sz="2600"/>
                      <m:t>=</m:t>
                    </m:r>
                    <m:func>
                      <m:funcPr>
                        <m:ctrlPr>
                          <a:rPr lang="ar-AE" sz="2600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600"/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ar-AE" sz="2600" i="1"/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2600" i="1"/>
                                </m:ctrlPr>
                              </m:fPr>
                              <m:num>
                                <m:r>
                                  <a:rPr lang="ar-AE" sz="2600" i="1"/>
                                  <m:t>𝑝</m:t>
                                </m:r>
                              </m:num>
                              <m:den>
                                <m:r>
                                  <a:rPr lang="ar-AE" sz="2600"/>
                                  <m:t>1</m:t>
                                </m:r>
                                <m:r>
                                  <a:rPr lang="ar-AE" sz="2600"/>
                                  <m:t>−</m:t>
                                </m:r>
                                <m:r>
                                  <a:rPr lang="ar-AE" sz="2600" i="1"/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ar-AE" sz="2600"/>
                      <m:t>, </m:t>
                    </m:r>
                    <m:r>
                      <a:rPr lang="ar-AE" sz="2600"/>
                      <m:t>0</m:t>
                    </m:r>
                    <m:r>
                      <a:rPr lang="ar-AE" sz="2600"/>
                      <m:t>&lt;</m:t>
                    </m:r>
                    <m:r>
                      <a:rPr lang="ar-AE" sz="2600" i="1"/>
                      <m:t>𝑝</m:t>
                    </m:r>
                    <m:r>
                      <a:rPr lang="ar-AE" sz="2600"/>
                      <m:t>&lt;</m:t>
                    </m:r>
                    <m:r>
                      <a:rPr lang="ar-AE" sz="2600"/>
                      <m:t>1</m:t>
                    </m:r>
                  </m:oMath>
                </a14:m>
                <a:endParaRPr lang="ar-AE" sz="2600" b="0" dirty="0"/>
              </a:p>
              <a:p>
                <a:pPr algn="just"/>
                <a14:m>
                  <m:oMath xmlns:m="http://schemas.openxmlformats.org/officeDocument/2006/math">
                    <m:r>
                      <a:rPr lang="ar-AE" sz="2600" i="1"/>
                      <m:t>𝑝</m:t>
                    </m:r>
                  </m:oMath>
                </a14:m>
                <a:r>
                  <a:rPr lang="ar-AE" sz="2600" dirty="0"/>
                  <a:t>= </a:t>
                </a:r>
                <a:r>
                  <a:rPr lang="en-IN" sz="2600" dirty="0"/>
                  <a:t>probability of success (event occurring).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ar-AE" sz="2600"/>
                        </m:ctrlPr>
                      </m:fPr>
                      <m:num>
                        <m:r>
                          <a:rPr lang="ar-AE" sz="2600" i="1"/>
                          <m:t>𝑝</m:t>
                        </m:r>
                      </m:num>
                      <m:den>
                        <m:r>
                          <a:rPr lang="ar-AE" sz="2600"/>
                          <m:t>1</m:t>
                        </m:r>
                        <m:r>
                          <a:rPr lang="ar-AE" sz="2600"/>
                          <m:t>−</m:t>
                        </m:r>
                        <m:r>
                          <a:rPr lang="ar-AE" sz="2600" i="1"/>
                          <m:t>𝑝</m:t>
                        </m:r>
                      </m:den>
                    </m:f>
                  </m:oMath>
                </a14:m>
                <a:r>
                  <a:rPr lang="ar-AE" sz="2600" dirty="0"/>
                  <a:t>= </a:t>
                </a:r>
                <a:r>
                  <a:rPr lang="en-IN" sz="2600" dirty="0"/>
                  <a:t>odds of the event occurring.</a:t>
                </a:r>
              </a:p>
              <a:p>
                <a:pPr algn="just"/>
                <a:endParaRPr lang="en-IN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3A3F7B-7621-408B-E144-59056ED44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80" y="1423628"/>
                <a:ext cx="11400840" cy="5154151"/>
              </a:xfrm>
              <a:blipFill>
                <a:blip r:embed="rId2"/>
                <a:stretch>
                  <a:fillRect l="-535" t="-1183" r="-9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3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F6D8-208D-8B4E-B825-FDFA5B31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976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Why Use Logit Transform?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45F4E-8726-2C46-78CE-49FCF37CC0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1738" y="1331297"/>
                <a:ext cx="11288524" cy="3880773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IN" sz="2600" b="1" dirty="0"/>
                  <a:t>Mapping probabilities to real numbers</a:t>
                </a:r>
                <a:endParaRPr lang="en-IN" sz="2600" dirty="0"/>
              </a:p>
              <a:p>
                <a:pPr lvl="1" algn="just"/>
                <a:r>
                  <a:rPr lang="en-IN" sz="2600" dirty="0"/>
                  <a:t>Probabilities are bounded between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2600"/>
                        </m:ctrlPr>
                      </m:dPr>
                      <m:e>
                        <m:r>
                          <a:rPr lang="ar-AE" sz="2600"/>
                          <m:t>0</m:t>
                        </m:r>
                      </m:e>
                      <m:e>
                        <m:r>
                          <a:rPr lang="ar-AE" sz="2600"/>
                          <m:t>1</m:t>
                        </m:r>
                      </m:e>
                    </m:d>
                  </m:oMath>
                </a14:m>
                <a:r>
                  <a:rPr lang="ar-AE" sz="2600" dirty="0"/>
                  <a:t>.</a:t>
                </a:r>
              </a:p>
              <a:p>
                <a:pPr lvl="1" algn="just"/>
                <a:r>
                  <a:rPr lang="en-IN" sz="2600" dirty="0"/>
                  <a:t>Logit transform maps them to the entire real line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600"/>
                        </m:ctrlPr>
                      </m:dPr>
                      <m:e>
                        <m:r>
                          <a:rPr lang="ar-AE" sz="2600"/>
                          <m:t>−</m:t>
                        </m:r>
                      </m:e>
                      <m:e>
                        <m:r>
                          <a:rPr lang="ar-AE" sz="2600"/>
                          <m:t>∞</m:t>
                        </m:r>
                        <m:r>
                          <a:rPr lang="ar-AE" sz="2600"/>
                          <m:t>+</m:t>
                        </m:r>
                        <m:r>
                          <a:rPr lang="ar-AE" sz="2600"/>
                          <m:t>∞</m:t>
                        </m:r>
                      </m:e>
                    </m:d>
                  </m:oMath>
                </a14:m>
                <a:r>
                  <a:rPr lang="ar-AE" sz="2600" dirty="0"/>
                  <a:t>.</a:t>
                </a:r>
              </a:p>
              <a:p>
                <a:pPr algn="just"/>
                <a:r>
                  <a:rPr lang="en-IN" sz="2600" b="1" dirty="0"/>
                  <a:t>Linearization</a:t>
                </a:r>
                <a:endParaRPr lang="en-IN" sz="2600" dirty="0"/>
              </a:p>
              <a:p>
                <a:pPr lvl="1" algn="just"/>
                <a:r>
                  <a:rPr lang="en-IN" sz="2600" dirty="0"/>
                  <a:t>Useful in </a:t>
                </a:r>
                <a:r>
                  <a:rPr lang="en-IN" sz="2600" b="1" dirty="0"/>
                  <a:t>logistic regression</a:t>
                </a:r>
                <a:r>
                  <a:rPr lang="en-IN" sz="2600" dirty="0"/>
                  <a:t>, where the relationship between predictors and the log-odds is linear.</a:t>
                </a:r>
              </a:p>
              <a:p>
                <a:pPr algn="just"/>
                <a:r>
                  <a:rPr lang="en-IN" sz="2600" b="1" dirty="0"/>
                  <a:t>Better handling in models</a:t>
                </a:r>
                <a:endParaRPr lang="en-IN" sz="2600" dirty="0"/>
              </a:p>
              <a:p>
                <a:pPr lvl="1" algn="just"/>
                <a:r>
                  <a:rPr lang="en-IN" sz="2600" dirty="0"/>
                  <a:t>Many algorithms (e.g., regression-based methods) work better with unbounded continuous values instead of constrained probabilities.</a:t>
                </a:r>
              </a:p>
              <a:p>
                <a:pPr algn="just"/>
                <a:endParaRPr lang="en-IN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45F4E-8726-2C46-78CE-49FCF37CC0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1738" y="1331297"/>
                <a:ext cx="11288524" cy="3880773"/>
              </a:xfrm>
              <a:blipFill>
                <a:blip r:embed="rId2"/>
                <a:stretch>
                  <a:fillRect l="-540" t="-1413" r="-972" b="-197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853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7895-D88A-AB93-1AB1-3D08FEA8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24" y="167149"/>
            <a:ext cx="8596668" cy="71775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Applications in Data Mining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54AD7B-9115-81B8-0FCD-09FEF77490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6224" y="693175"/>
                <a:ext cx="11563827" cy="6164825"/>
              </a:xfrm>
            </p:spPr>
            <p:txBody>
              <a:bodyPr>
                <a:noAutofit/>
              </a:bodyPr>
              <a:lstStyle/>
              <a:p>
                <a:r>
                  <a:rPr lang="en-IN" sz="2400" b="1" dirty="0"/>
                  <a:t>Logistic Regression</a:t>
                </a:r>
                <a:endParaRPr lang="en-IN" sz="2400" dirty="0"/>
              </a:p>
              <a:p>
                <a:pPr lvl="1"/>
                <a:r>
                  <a:rPr lang="en-IN" sz="2400" dirty="0"/>
                  <a:t>Central use case: predicts </a:t>
                </a:r>
                <a:r>
                  <a:rPr lang="en-IN" sz="2400" dirty="0">
                    <a:solidFill>
                      <a:srgbClr val="FF0000"/>
                    </a:solidFill>
                  </a:rPr>
                  <a:t>binary</a:t>
                </a:r>
                <a:r>
                  <a:rPr lang="en-IN" sz="2400" dirty="0"/>
                  <a:t> outcomes.</a:t>
                </a:r>
              </a:p>
              <a:p>
                <a:pPr lvl="1"/>
                <a:r>
                  <a:rPr lang="en-IN" sz="2400" dirty="0"/>
                  <a:t>The model is: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b="0"/>
                      <m:t>logit</m:t>
                    </m:r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b="0" i="1"/>
                          <m:t>𝑝</m:t>
                        </m:r>
                      </m:e>
                    </m:d>
                    <m:r>
                      <a:rPr lang="ar-AE" sz="2400"/>
                      <m:t>=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𝛽</m:t>
                        </m:r>
                      </m:e>
                      <m:sub>
                        <m:r>
                          <a:rPr lang="ar-AE" sz="2400"/>
                          <m:t>0</m:t>
                        </m:r>
                      </m:sub>
                    </m:sSub>
                    <m:r>
                      <a:rPr lang="ar-AE" sz="2400"/>
                      <m:t>+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𝛽</m:t>
                        </m:r>
                      </m:e>
                      <m:sub>
                        <m:r>
                          <a:rPr lang="ar-AE" sz="2400"/>
                          <m:t>1</m:t>
                        </m:r>
                      </m:sub>
                    </m:sSub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𝑥</m:t>
                        </m:r>
                      </m:e>
                      <m:sub>
                        <m:r>
                          <a:rPr lang="ar-AE" sz="2400"/>
                          <m:t>1</m:t>
                        </m:r>
                      </m:sub>
                    </m:sSub>
                    <m:r>
                      <a:rPr lang="ar-AE" sz="2400"/>
                      <m:t>+⋯+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𝛽</m:t>
                        </m:r>
                      </m:e>
                      <m:sub>
                        <m:r>
                          <a:rPr lang="ar-AE" sz="2400" i="1"/>
                          <m:t>𝑛</m:t>
                        </m:r>
                      </m:sub>
                    </m:sSub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𝑥</m:t>
                        </m:r>
                      </m:e>
                      <m:sub>
                        <m:r>
                          <a:rPr lang="ar-AE" sz="2400" i="1"/>
                          <m:t>𝑛</m:t>
                        </m:r>
                      </m:sub>
                    </m:sSub>
                  </m:oMath>
                </a14:m>
                <a:endParaRPr lang="ar-AE" sz="2400" b="0" dirty="0"/>
              </a:p>
              <a:p>
                <a:pPr lvl="1"/>
                <a:r>
                  <a:rPr lang="en-IN" sz="2400" dirty="0"/>
                  <a:t>where </a:t>
                </a:r>
                <a14:m>
                  <m:oMath xmlns:m="http://schemas.openxmlformats.org/officeDocument/2006/math">
                    <m:r>
                      <a:rPr lang="en-IN" sz="2400" i="1"/>
                      <m:t>𝑝</m:t>
                    </m:r>
                  </m:oMath>
                </a14:m>
                <a:r>
                  <a:rPr lang="en-IN" sz="2400" dirty="0"/>
                  <a:t>is the probability of the target class.</a:t>
                </a:r>
              </a:p>
              <a:p>
                <a:r>
                  <a:rPr lang="en-IN" sz="2400" b="1" dirty="0"/>
                  <a:t>Probability Calibration</a:t>
                </a:r>
                <a:endParaRPr lang="en-IN" sz="2400" dirty="0"/>
              </a:p>
              <a:p>
                <a:pPr lvl="1"/>
                <a:r>
                  <a:rPr lang="en-IN" sz="2400" dirty="0"/>
                  <a:t>Converts model scores (like from decision trees or SVMs) into well-calibrated probabilities.</a:t>
                </a:r>
              </a:p>
              <a:p>
                <a:r>
                  <a:rPr lang="en-IN" sz="2400" b="1" dirty="0"/>
                  <a:t>Feature Transformation</a:t>
                </a:r>
                <a:endParaRPr lang="en-IN" sz="2400" dirty="0"/>
              </a:p>
              <a:p>
                <a:pPr lvl="1"/>
                <a:r>
                  <a:rPr lang="en-IN" sz="2400" dirty="0"/>
                  <a:t>Applied to probability-like features to </a:t>
                </a:r>
                <a:r>
                  <a:rPr lang="en-IN" sz="2400" dirty="0">
                    <a:solidFill>
                      <a:srgbClr val="FF0000"/>
                    </a:solidFill>
                  </a:rPr>
                  <a:t>make them more suitable for algorithms </a:t>
                </a:r>
                <a:r>
                  <a:rPr lang="en-IN" sz="2400" dirty="0"/>
                  <a:t>that assume linearity.</a:t>
                </a:r>
              </a:p>
              <a:p>
                <a:r>
                  <a:rPr lang="en-IN" sz="2400" b="1" dirty="0"/>
                  <a:t>Link Function in GLMs (Generalized Linear Models)</a:t>
                </a:r>
                <a:endParaRPr lang="en-IN" sz="2400" dirty="0"/>
              </a:p>
              <a:p>
                <a:pPr lvl="1"/>
                <a:r>
                  <a:rPr lang="en-IN" sz="2400" dirty="0"/>
                  <a:t>Logit is the canonical link for the </a:t>
                </a:r>
                <a:r>
                  <a:rPr lang="en-IN" sz="2400" b="1" dirty="0"/>
                  <a:t>binomial family</a:t>
                </a:r>
                <a:r>
                  <a:rPr lang="en-IN" sz="2400" dirty="0"/>
                  <a:t> in GLMs.</a:t>
                </a:r>
              </a:p>
              <a:p>
                <a:endParaRPr lang="en-IN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54AD7B-9115-81B8-0FCD-09FEF77490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224" y="693175"/>
                <a:ext cx="11563827" cy="6164825"/>
              </a:xfrm>
              <a:blipFill>
                <a:blip r:embed="rId2"/>
                <a:stretch>
                  <a:fillRect l="-422" t="-791" r="-896" b="-14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570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8C565-B887-806F-69A0-78D73CFB5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775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816154-CB8A-BA2C-A144-475ABA9B8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3" y="2160589"/>
                <a:ext cx="9784189" cy="3880773"/>
              </a:xfrm>
            </p:spPr>
            <p:txBody>
              <a:bodyPr>
                <a:normAutofit/>
              </a:bodyPr>
              <a:lstStyle/>
              <a:p>
                <a:r>
                  <a:rPr lang="en-IN" sz="2600" dirty="0"/>
                  <a:t>Suppose a classifier outputs </a:t>
                </a:r>
                <a14:m>
                  <m:oMath xmlns:m="http://schemas.openxmlformats.org/officeDocument/2006/math">
                    <m:r>
                      <a:rPr lang="en-IN" sz="2600" i="1"/>
                      <m:t>𝑝</m:t>
                    </m:r>
                    <m:r>
                      <a:rPr lang="en-IN" sz="2600"/>
                      <m:t>=</m:t>
                    </m:r>
                    <m:r>
                      <a:rPr lang="en-IN" sz="2600"/>
                      <m:t>0</m:t>
                    </m:r>
                    <m:r>
                      <a:rPr lang="en-IN" sz="2600"/>
                      <m:t>.</m:t>
                    </m:r>
                    <m:r>
                      <a:rPr lang="en-IN" sz="2600"/>
                      <m:t>8</m:t>
                    </m:r>
                  </m:oMath>
                </a14:m>
                <a:r>
                  <a:rPr lang="en-IN" sz="2600" dirty="0"/>
                  <a:t>.</a:t>
                </a:r>
              </a:p>
              <a:p>
                <a:r>
                  <a:rPr lang="en-IN" sz="2600" dirty="0"/>
                  <a:t>Odds = </a:t>
                </a:r>
                <a14:m>
                  <m:oMath xmlns:m="http://schemas.openxmlformats.org/officeDocument/2006/math">
                    <m:r>
                      <a:rPr lang="en-IN" sz="2600"/>
                      <m:t>0</m:t>
                    </m:r>
                    <m:r>
                      <a:rPr lang="en-IN" sz="2600"/>
                      <m:t>.</m:t>
                    </m:r>
                    <m:r>
                      <a:rPr lang="en-IN" sz="2600"/>
                      <m:t>8</m:t>
                    </m:r>
                    <m:r>
                      <a:rPr lang="en-IN" sz="2600"/>
                      <m:t>/</m:t>
                    </m:r>
                    <m:d>
                      <m:dPr>
                        <m:ctrlPr>
                          <a:rPr lang="ar-AE" sz="2600" i="1"/>
                        </m:ctrlPr>
                      </m:dPr>
                      <m:e>
                        <m:r>
                          <a:rPr lang="ar-AE" sz="2600"/>
                          <m:t>1</m:t>
                        </m:r>
                        <m:r>
                          <a:rPr lang="ar-AE" sz="2600"/>
                          <m:t>−</m:t>
                        </m:r>
                        <m:r>
                          <a:rPr lang="ar-AE" sz="2600"/>
                          <m:t>0</m:t>
                        </m:r>
                        <m:r>
                          <a:rPr lang="ar-AE" sz="2600"/>
                          <m:t>.</m:t>
                        </m:r>
                        <m:r>
                          <a:rPr lang="ar-AE" sz="2600"/>
                          <m:t>8</m:t>
                        </m:r>
                      </m:e>
                    </m:d>
                    <m:r>
                      <a:rPr lang="ar-AE" sz="2600"/>
                      <m:t>=</m:t>
                    </m:r>
                    <m:r>
                      <a:rPr lang="ar-AE" sz="2600"/>
                      <m:t>4</m:t>
                    </m:r>
                  </m:oMath>
                </a14:m>
                <a:endParaRPr lang="ar-AE" sz="2600" dirty="0"/>
              </a:p>
              <a:p>
                <a:r>
                  <a:rPr lang="en-IN" sz="2600" dirty="0"/>
                  <a:t>Logit = ln⁡(4)≈1.386</a:t>
                </a:r>
              </a:p>
              <a:p>
                <a:r>
                  <a:rPr lang="en-IN" sz="2600" dirty="0"/>
                  <a:t>This transforms the bounded probability (0.8) into an unbounded continuous number.</a:t>
                </a:r>
              </a:p>
              <a:p>
                <a:endParaRPr lang="en-IN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816154-CB8A-BA2C-A144-475ABA9B8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3" y="2160589"/>
                <a:ext cx="9784189" cy="3880773"/>
              </a:xfrm>
              <a:blipFill>
                <a:blip r:embed="rId2"/>
                <a:stretch>
                  <a:fillRect l="-623" t="-14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2109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FF685-03AD-A90F-20F6-079E60154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Hypothesis Testing in Regression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6E6DCD-3B4C-23F4-291F-D53D7E593D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2160589"/>
                <a:ext cx="10541272" cy="3880773"/>
              </a:xfrm>
            </p:spPr>
            <p:txBody>
              <a:bodyPr>
                <a:normAutofit/>
              </a:bodyPr>
              <a:lstStyle/>
              <a:p>
                <a:r>
                  <a:rPr lang="en-IN" sz="2600" dirty="0"/>
                  <a:t>We often test hypotheses of the form: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600"/>
                        </m:ctrlPr>
                      </m:sSubPr>
                      <m:e>
                        <m:r>
                          <a:rPr lang="ar-AE" sz="2600" i="1"/>
                          <m:t>𝐻</m:t>
                        </m:r>
                      </m:e>
                      <m:sub>
                        <m:r>
                          <a:rPr lang="ar-AE" sz="2600"/>
                          <m:t>0</m:t>
                        </m:r>
                      </m:sub>
                    </m:sSub>
                    <m:r>
                      <a:rPr lang="ar-AE" sz="2600"/>
                      <m:t>:</m:t>
                    </m:r>
                    <m:r>
                      <a:rPr lang="ar-AE" sz="2600" i="1"/>
                      <m:t>𝜃</m:t>
                    </m:r>
                    <m:r>
                      <a:rPr lang="ar-AE" sz="2600"/>
                      <m:t>=</m:t>
                    </m:r>
                    <m:sSub>
                      <m:sSubPr>
                        <m:ctrlPr>
                          <a:rPr lang="ar-AE" sz="2600" i="1"/>
                        </m:ctrlPr>
                      </m:sSubPr>
                      <m:e>
                        <m:r>
                          <a:rPr lang="ar-AE" sz="2600" i="1"/>
                          <m:t>𝜃</m:t>
                        </m:r>
                      </m:e>
                      <m:sub>
                        <m:r>
                          <a:rPr lang="ar-AE" sz="2600"/>
                          <m:t>0</m:t>
                        </m:r>
                      </m:sub>
                    </m:sSub>
                    <m:r>
                      <a:rPr lang="ar-AE" sz="2600"/>
                      <m:t> </m:t>
                    </m:r>
                    <m:r>
                      <m:rPr>
                        <m:nor/>
                      </m:rPr>
                      <a:rPr lang="en-IN" sz="2600" i="1"/>
                      <m:t>vs</m:t>
                    </m:r>
                    <m:r>
                      <m:rPr>
                        <m:nor/>
                      </m:rPr>
                      <a:rPr lang="en-IN" sz="2600" i="1"/>
                      <m:t>.</m:t>
                    </m:r>
                    <m:r>
                      <a:rPr lang="en-IN" sz="2600"/>
                      <m:t> </m:t>
                    </m:r>
                    <m:sSub>
                      <m:sSubPr>
                        <m:ctrlPr>
                          <a:rPr lang="ar-AE" sz="2600" i="1"/>
                        </m:ctrlPr>
                      </m:sSubPr>
                      <m:e>
                        <m:r>
                          <a:rPr lang="ar-AE" sz="2600" i="1"/>
                          <m:t>𝐻</m:t>
                        </m:r>
                      </m:e>
                      <m:sub>
                        <m:r>
                          <a:rPr lang="ar-AE" sz="2600"/>
                          <m:t>1</m:t>
                        </m:r>
                      </m:sub>
                    </m:sSub>
                    <m:r>
                      <a:rPr lang="ar-AE" sz="2600"/>
                      <m:t>:</m:t>
                    </m:r>
                    <m:r>
                      <a:rPr lang="ar-AE" sz="2600" i="1"/>
                      <m:t>𝜃</m:t>
                    </m:r>
                    <m:r>
                      <a:rPr lang="ar-AE" sz="2600"/>
                      <m:t>≠</m:t>
                    </m:r>
                    <m:sSub>
                      <m:sSubPr>
                        <m:ctrlPr>
                          <a:rPr lang="ar-AE" sz="2600" i="1"/>
                        </m:ctrlPr>
                      </m:sSubPr>
                      <m:e>
                        <m:r>
                          <a:rPr lang="ar-AE" sz="2600" i="1"/>
                          <m:t>𝜃</m:t>
                        </m:r>
                      </m:e>
                      <m:sub>
                        <m:r>
                          <a:rPr lang="ar-AE" sz="2600"/>
                          <m:t>0</m:t>
                        </m:r>
                      </m:sub>
                    </m:sSub>
                  </m:oMath>
                </a14:m>
                <a:endParaRPr lang="ar-AE" sz="2600" b="0" dirty="0"/>
              </a:p>
              <a:p>
                <a:r>
                  <a:rPr lang="en-IN" sz="2600" dirty="0"/>
                  <a:t>where </a:t>
                </a:r>
                <a14:m>
                  <m:oMath xmlns:m="http://schemas.openxmlformats.org/officeDocument/2006/math">
                    <m:r>
                      <a:rPr lang="en-IN" sz="2600" i="1"/>
                      <m:t>𝜃</m:t>
                    </m:r>
                  </m:oMath>
                </a14:m>
                <a:r>
                  <a:rPr lang="en-IN" sz="2600" dirty="0"/>
                  <a:t>could be a single parameter (e.g., coefficient) or a set of parameters.</a:t>
                </a:r>
              </a:p>
              <a:p>
                <a:endParaRPr lang="en-IN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6E6DCD-3B4C-23F4-291F-D53D7E593D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2160589"/>
                <a:ext cx="10541272" cy="3880773"/>
              </a:xfrm>
              <a:blipFill>
                <a:blip r:embed="rId2"/>
                <a:stretch>
                  <a:fillRect l="-578" t="-14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070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246A-BA99-82E4-83B0-FB398C07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842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Wald Test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13E31-643C-B750-BE61-A53B104F68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0688" y="1288026"/>
                <a:ext cx="10570769" cy="5279922"/>
              </a:xfrm>
            </p:spPr>
            <p:txBody>
              <a:bodyPr>
                <a:noAutofit/>
              </a:bodyPr>
              <a:lstStyle/>
              <a:p>
                <a:r>
                  <a:rPr lang="en-IN" sz="2600" b="1" dirty="0"/>
                  <a:t>Idea</a:t>
                </a:r>
                <a:r>
                  <a:rPr lang="en-IN" sz="2600" dirty="0"/>
                  <a:t>: Compare the </a:t>
                </a:r>
                <a:r>
                  <a:rPr lang="en-IN" sz="2600" dirty="0">
                    <a:solidFill>
                      <a:srgbClr val="FF0000"/>
                    </a:solidFill>
                  </a:rPr>
                  <a:t>estimated parameter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600">
                            <a:solidFill>
                              <a:srgbClr val="FF0000"/>
                            </a:solidFill>
                          </a:rPr>
                        </m:ctrlPr>
                      </m:accPr>
                      <m:e>
                        <m:r>
                          <a:rPr lang="ar-AE" sz="2600" i="1">
                            <a:solidFill>
                              <a:srgbClr val="FF0000"/>
                            </a:solidFill>
                          </a:rPr>
                          <m:t>𝜃</m:t>
                        </m:r>
                      </m:e>
                    </m:acc>
                  </m:oMath>
                </a14:m>
                <a:r>
                  <a:rPr lang="en-IN" sz="2600" dirty="0"/>
                  <a:t> with its </a:t>
                </a:r>
                <a:r>
                  <a:rPr lang="en-IN" sz="2600" dirty="0">
                    <a:solidFill>
                      <a:srgbClr val="FF0000"/>
                    </a:solidFill>
                  </a:rPr>
                  <a:t>hypothesized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600">
                            <a:solidFill>
                              <a:srgbClr val="FF0000"/>
                            </a:solidFill>
                          </a:rPr>
                        </m:ctrlPr>
                      </m:sSubPr>
                      <m:e>
                        <m:r>
                          <a:rPr lang="ar-AE" sz="2600" i="1">
                            <a:solidFill>
                              <a:srgbClr val="FF0000"/>
                            </a:solidFill>
                          </a:rPr>
                          <m:t>𝜃</m:t>
                        </m:r>
                      </m:e>
                      <m:sub>
                        <m:r>
                          <a:rPr lang="ar-AE" sz="2600">
                            <a:solidFill>
                              <a:srgbClr val="FF0000"/>
                            </a:solidFill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600" dirty="0"/>
                  <a:t>, </a:t>
                </a:r>
                <a:r>
                  <a:rPr lang="en-IN" sz="2600" dirty="0"/>
                  <a:t>scaled by its estimated variance.</a:t>
                </a:r>
              </a:p>
              <a:p>
                <a:r>
                  <a:rPr lang="en-IN" sz="2600" b="1" dirty="0"/>
                  <a:t>Statistic</a:t>
                </a:r>
                <a:r>
                  <a:rPr lang="en-IN" sz="2600" dirty="0"/>
                  <a:t> (single parameter case):</a:t>
                </a:r>
              </a:p>
              <a:p>
                <a14:m>
                  <m:oMath xmlns:m="http://schemas.openxmlformats.org/officeDocument/2006/math">
                    <m:r>
                      <a:rPr lang="en-IN" sz="2600" i="1"/>
                      <m:t>𝑊</m:t>
                    </m:r>
                    <m:r>
                      <a:rPr lang="en-IN" sz="2600"/>
                      <m:t>=</m:t>
                    </m:r>
                    <m:f>
                      <m:fPr>
                        <m:ctrlPr>
                          <a:rPr lang="ar-AE" sz="2600" i="1"/>
                        </m:ctrlPr>
                      </m:fPr>
                      <m:num>
                        <m:d>
                          <m:dPr>
                            <m:endChr m:val=""/>
                            <m:ctrlPr>
                              <a:rPr lang="ar-AE" sz="2600" i="1"/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ar-AE" sz="2600" i="1"/>
                                </m:ctrlPr>
                              </m:accPr>
                              <m:e>
                                <m:r>
                                  <a:rPr lang="ar-AE" sz="2600" i="1"/>
                                  <m:t>𝜃</m:t>
                                </m:r>
                              </m:e>
                            </m:acc>
                            <m:r>
                              <a:rPr lang="ar-AE" sz="2600"/>
                              <m:t>−</m:t>
                            </m:r>
                            <m:sSub>
                              <m:sSubPr>
                                <m:ctrlPr>
                                  <a:rPr lang="ar-AE" sz="2600" i="1"/>
                                </m:ctrlPr>
                              </m:sSubPr>
                              <m:e>
                                <m:r>
                                  <a:rPr lang="ar-AE" sz="2600" i="1"/>
                                  <m:t>𝜃</m:t>
                                </m:r>
                              </m:e>
                              <m:sub>
                                <m:r>
                                  <a:rPr lang="ar-AE" sz="2600"/>
                                  <m:t>0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sz="2600" i="1"/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2600" i="1"/>
                                    </m:ctrlPr>
                                  </m:dPr>
                                  <m:e>
                                    <m:r>
                                      <a:rPr lang="ar-AE" sz="2600"/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2600"/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m:rPr>
                            <m:nor/>
                          </m:rPr>
                          <a:rPr lang="en-IN" sz="2600" i="1"/>
                          <m:t>Var</m:t>
                        </m:r>
                        <m:d>
                          <m:dPr>
                            <m:ctrlPr>
                              <a:rPr lang="ar-AE" sz="2600" i="1"/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ar-AE" sz="2600" i="1"/>
                                </m:ctrlPr>
                              </m:accPr>
                              <m:e>
                                <m:r>
                                  <a:rPr lang="ar-AE" sz="2600" i="1"/>
                                  <m:t>𝜃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endParaRPr lang="ar-AE" sz="2600" b="0" dirty="0"/>
              </a:p>
              <a:p>
                <a:r>
                  <a:rPr lang="en-IN" sz="2600" b="1" dirty="0"/>
                  <a:t>Distribution</a:t>
                </a:r>
                <a:r>
                  <a:rPr lang="en-IN" sz="2600" dirty="0"/>
                  <a:t>:</a:t>
                </a:r>
              </a:p>
              <a:p>
                <a:pPr lvl="1"/>
                <a:r>
                  <a:rPr lang="en-IN" sz="2600" dirty="0"/>
                  <a:t>Approx.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600"/>
                        </m:ctrlPr>
                      </m:sSupPr>
                      <m:e>
                        <m:r>
                          <a:rPr lang="ar-AE" sz="2600" i="1"/>
                          <m:t>𝜒</m:t>
                        </m:r>
                      </m:e>
                      <m:sup>
                        <m:r>
                          <a:rPr lang="ar-AE" sz="2600"/>
                          <m:t>2</m:t>
                        </m:r>
                      </m:sup>
                    </m:sSup>
                  </m:oMath>
                </a14:m>
                <a:r>
                  <a:rPr lang="en-IN" sz="2600" dirty="0"/>
                  <a:t>distribution (for large samples).</a:t>
                </a:r>
              </a:p>
              <a:p>
                <a:pPr lvl="1"/>
                <a:r>
                  <a:rPr lang="en-IN" sz="2600" dirty="0"/>
                  <a:t>Equivalent to a squared </a:t>
                </a:r>
                <a:r>
                  <a:rPr lang="en-IN" sz="2600" b="1" dirty="0"/>
                  <a:t>z-test</a:t>
                </a:r>
                <a:r>
                  <a:rPr lang="en-IN" sz="2600" dirty="0"/>
                  <a:t> for one parameter.</a:t>
                </a:r>
              </a:p>
              <a:p>
                <a:r>
                  <a:rPr lang="en-IN" sz="2600" b="1" dirty="0"/>
                  <a:t>Use</a:t>
                </a:r>
                <a:r>
                  <a:rPr lang="en-IN" sz="2600" dirty="0"/>
                  <a:t>: Tests if individual regression coefficients differ significantly from 0.</a:t>
                </a:r>
              </a:p>
              <a:p>
                <a:endParaRPr lang="en-IN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13E31-643C-B750-BE61-A53B104F68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0688" y="1288026"/>
                <a:ext cx="10570769" cy="5279922"/>
              </a:xfrm>
              <a:blipFill>
                <a:blip r:embed="rId2"/>
                <a:stretch>
                  <a:fillRect l="-577" t="-8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276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39FB-C6DD-F018-AE12-684D35B6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691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Likelihood Ratio (LR) Test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2BEC97-B909-B3D7-C44C-BED6A48B3B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3" y="1376516"/>
                <a:ext cx="11190201" cy="5299587"/>
              </a:xfrm>
            </p:spPr>
            <p:txBody>
              <a:bodyPr>
                <a:noAutofit/>
              </a:bodyPr>
              <a:lstStyle/>
              <a:p>
                <a:r>
                  <a:rPr lang="en-IN" sz="2600" b="1" dirty="0"/>
                  <a:t>Idea</a:t>
                </a:r>
                <a:r>
                  <a:rPr lang="en-IN" sz="2600" dirty="0"/>
                  <a:t>: Compare the </a:t>
                </a:r>
                <a:r>
                  <a:rPr lang="en-IN" sz="2600" b="1" dirty="0"/>
                  <a:t>maximized likelihoods</a:t>
                </a:r>
                <a:r>
                  <a:rPr lang="en-IN" sz="2600" dirty="0"/>
                  <a:t> of two models:</a:t>
                </a:r>
              </a:p>
              <a:p>
                <a:pPr lvl="1"/>
                <a:r>
                  <a:rPr lang="en-IN" sz="2600" dirty="0"/>
                  <a:t>Restricted model (under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600"/>
                        </m:ctrlPr>
                      </m:sSubPr>
                      <m:e>
                        <m:r>
                          <a:rPr lang="ar-AE" sz="2600" i="1"/>
                          <m:t>𝐻</m:t>
                        </m:r>
                      </m:e>
                      <m:sub>
                        <m:r>
                          <a:rPr lang="ar-AE" sz="2600"/>
                          <m:t>0</m:t>
                        </m:r>
                      </m:sub>
                    </m:sSub>
                  </m:oMath>
                </a14:m>
                <a:r>
                  <a:rPr lang="en-US" sz="2600" dirty="0"/>
                  <a:t>)</a:t>
                </a:r>
                <a:endParaRPr lang="ar-AE" sz="2600" dirty="0"/>
              </a:p>
              <a:p>
                <a:pPr lvl="1"/>
                <a:r>
                  <a:rPr lang="en-IN" sz="2600" dirty="0"/>
                  <a:t>Unrestricted model (full model)</a:t>
                </a:r>
              </a:p>
              <a:p>
                <a:r>
                  <a:rPr lang="en-IN" sz="2600" b="1" dirty="0"/>
                  <a:t>Statistic</a:t>
                </a:r>
                <a:r>
                  <a:rPr lang="en-IN" sz="26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sz="2600" i="1"/>
                      <m:t>𝐿𝑅</m:t>
                    </m:r>
                    <m:r>
                      <a:rPr lang="en-IN" sz="2600"/>
                      <m:t>=−</m:t>
                    </m:r>
                    <m:r>
                      <a:rPr lang="en-IN" sz="2600"/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ar-AE" sz="2600" i="1"/>
                        </m:ctrlPr>
                      </m:dPr>
                      <m:e>
                        <m:r>
                          <a:rPr lang="ar-AE" sz="2600"/>
                          <m:t>ℓ</m:t>
                        </m:r>
                        <m:d>
                          <m:dPr>
                            <m:ctrlPr>
                              <a:rPr lang="ar-AE" sz="2600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2600" i="1"/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sz="2600" i="1"/>
                                    </m:ctrlPr>
                                  </m:accPr>
                                  <m:e>
                                    <m:r>
                                      <a:rPr lang="ar-AE" sz="2600" i="1"/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sz="2600"/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ar-AE" sz="2600"/>
                          <m:t>−</m:t>
                        </m:r>
                        <m:r>
                          <a:rPr lang="ar-AE" sz="2600"/>
                          <m:t>ℓ</m:t>
                        </m:r>
                        <m:d>
                          <m:dPr>
                            <m:ctrlPr>
                              <a:rPr lang="ar-AE" sz="2600" i="1"/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ar-AE" sz="2600" i="1"/>
                                </m:ctrlPr>
                              </m:accPr>
                              <m:e>
                                <m:r>
                                  <a:rPr lang="ar-AE" sz="2600" i="1"/>
                                  <m:t>𝜃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endParaRPr lang="ar-AE" sz="2600" dirty="0"/>
              </a:p>
              <a:p>
                <a:r>
                  <a:rPr lang="en-IN" sz="2600" dirty="0"/>
                  <a:t>where </a:t>
                </a:r>
                <a14:m>
                  <m:oMath xmlns:m="http://schemas.openxmlformats.org/officeDocument/2006/math">
                    <m:r>
                      <a:rPr lang="en-IN" sz="2600"/>
                      <m:t>ℓ</m:t>
                    </m:r>
                  </m:oMath>
                </a14:m>
                <a:r>
                  <a:rPr lang="en-IN" sz="2600" dirty="0"/>
                  <a:t>= log-likelihood.</a:t>
                </a:r>
              </a:p>
              <a:p>
                <a:r>
                  <a:rPr lang="en-IN" sz="2600" b="1" dirty="0"/>
                  <a:t>Distribution</a:t>
                </a:r>
                <a:r>
                  <a:rPr lang="en-IN" sz="2600" dirty="0"/>
                  <a:t>: Approx.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600"/>
                        </m:ctrlPr>
                      </m:sSupPr>
                      <m:e>
                        <m:r>
                          <a:rPr lang="ar-AE" sz="2600" i="1"/>
                          <m:t>𝜒</m:t>
                        </m:r>
                      </m:e>
                      <m:sup>
                        <m:r>
                          <a:rPr lang="ar-AE" sz="2600"/>
                          <m:t>2</m:t>
                        </m:r>
                      </m:sup>
                    </m:sSup>
                  </m:oMath>
                </a14:m>
                <a:r>
                  <a:rPr lang="en-IN" sz="2600" dirty="0"/>
                  <a:t>with </a:t>
                </a:r>
                <a:r>
                  <a:rPr lang="en-IN" sz="2600" dirty="0" err="1"/>
                  <a:t>df</a:t>
                </a:r>
                <a:r>
                  <a:rPr lang="en-IN" sz="2600" dirty="0"/>
                  <a:t> = number of restrictions.</a:t>
                </a:r>
              </a:p>
              <a:p>
                <a:r>
                  <a:rPr lang="en-IN" sz="2600" b="1" dirty="0"/>
                  <a:t>Use</a:t>
                </a:r>
                <a:r>
                  <a:rPr lang="en-IN" sz="2600" dirty="0"/>
                  <a:t>:</a:t>
                </a:r>
              </a:p>
              <a:p>
                <a:pPr lvl="1"/>
                <a:r>
                  <a:rPr lang="en-IN" sz="2600" dirty="0"/>
                  <a:t>Very general, works with nested models.</a:t>
                </a:r>
              </a:p>
              <a:p>
                <a:pPr lvl="1"/>
                <a:r>
                  <a:rPr lang="en-IN" sz="2600" dirty="0"/>
                  <a:t>Often more reliable than Wald in small samples.</a:t>
                </a:r>
              </a:p>
              <a:p>
                <a:endParaRPr lang="en-IN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2BEC97-B909-B3D7-C44C-BED6A48B3B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3" y="1376516"/>
                <a:ext cx="11190201" cy="5299587"/>
              </a:xfrm>
              <a:blipFill>
                <a:blip r:embed="rId2"/>
                <a:stretch>
                  <a:fillRect l="-545" t="-1036" b="-25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168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5841-8900-A925-8639-2C8437C2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79" y="294968"/>
            <a:ext cx="8596668" cy="75708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Score Test (Lagrange Multiplier Test)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B7AAE9-9B90-68B6-922D-BFBA7B1256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7157" y="953729"/>
                <a:ext cx="11337686" cy="5609303"/>
              </a:xfrm>
            </p:spPr>
            <p:txBody>
              <a:bodyPr>
                <a:noAutofit/>
              </a:bodyPr>
              <a:lstStyle/>
              <a:p>
                <a:r>
                  <a:rPr lang="en-IN" sz="2400" b="1" dirty="0"/>
                  <a:t>Idea</a:t>
                </a:r>
                <a:r>
                  <a:rPr lang="en-IN" sz="2400" dirty="0"/>
                  <a:t>: Instead of estimating the unrestricted model, test if the </a:t>
                </a:r>
                <a:r>
                  <a:rPr lang="en-IN" sz="2400" b="1" dirty="0">
                    <a:solidFill>
                      <a:srgbClr val="FF0000"/>
                    </a:solidFill>
                  </a:rPr>
                  <a:t>slope of the likelihood function</a:t>
                </a:r>
                <a:r>
                  <a:rPr lang="en-IN" sz="2400" dirty="0">
                    <a:solidFill>
                      <a:srgbClr val="FF0000"/>
                    </a:solidFill>
                  </a:rPr>
                  <a:t> </a:t>
                </a:r>
                <a:r>
                  <a:rPr lang="en-IN" sz="2400" dirty="0"/>
                  <a:t>at the restricted estimate is “close to zero.”</a:t>
                </a:r>
              </a:p>
              <a:p>
                <a:r>
                  <a:rPr lang="en-IN" sz="2400" b="1" dirty="0"/>
                  <a:t>Statistic</a:t>
                </a:r>
                <a:r>
                  <a:rPr lang="en-IN" sz="24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sz="2400" i="1"/>
                      <m:t>𝑆</m:t>
                    </m:r>
                    <m:r>
                      <a:rPr lang="en-IN" sz="2400"/>
                      <m:t>=</m:t>
                    </m:r>
                    <m:r>
                      <a:rPr lang="en-IN" sz="2400" i="1"/>
                      <m:t>𝑈</m:t>
                    </m:r>
                    <m:d>
                      <m:dPr>
                        <m:endChr m:val=""/>
                        <m:ctrlPr>
                          <a:rPr lang="ar-AE" sz="2400" i="1"/>
                        </m:ctrlPr>
                      </m:dPr>
                      <m:e>
                        <m:sSub>
                          <m:sSubPr>
                            <m:ctrlPr>
                              <a:rPr lang="ar-AE" sz="2400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ar-AE" sz="2400" i="1"/>
                                </m:ctrlPr>
                              </m:accPr>
                              <m:e>
                                <m:r>
                                  <a:rPr lang="ar-AE" sz="2400" i="1"/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ar-AE" sz="2400"/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ar-AE" sz="2400" i="1"/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sz="2400" i="1"/>
                                </m:ctrlPr>
                              </m:dPr>
                              <m:e>
                                <m:r>
                                  <a:rPr lang="ar-AE" sz="2400"/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sz="2400" i="1"/>
                              <m:t>𝑇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sz="2400" i="1"/>
                          <m:t> </m:t>
                        </m:r>
                        <m:r>
                          <a:rPr lang="ar-AE" sz="2400" i="1"/>
                          <m:t>𝐼</m:t>
                        </m:r>
                        <m:d>
                          <m:dPr>
                            <m:endChr m:val=""/>
                            <m:ctrlPr>
                              <a:rPr lang="ar-AE" sz="2400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2400" i="1"/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ar-AE" sz="2400" i="1"/>
                                    </m:ctrlPr>
                                  </m:accPr>
                                  <m:e>
                                    <m:r>
                                      <a:rPr lang="ar-AE" sz="2400" i="1"/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ar-AE" sz="2400"/>
                                  <m:t>0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ar-AE" sz="2400" i="1"/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2400" i="1"/>
                                    </m:ctrlPr>
                                  </m:dPr>
                                  <m:e>
                                    <m:r>
                                      <a:rPr lang="ar-AE" sz="2400"/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2400"/>
                                  <m:t>−</m:t>
                                </m:r>
                                <m:r>
                                  <a:rPr lang="ar-AE" sz="2400"/>
                                  <m:t>1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ar-AE" sz="2400" i="1"/>
                              <m:t> </m:t>
                            </m:r>
                            <m:r>
                              <a:rPr lang="ar-AE" sz="2400" i="1"/>
                              <m:t>𝑈</m:t>
                            </m:r>
                            <m:d>
                              <m:dPr>
                                <m:ctrlPr>
                                  <a:rPr lang="ar-AE" sz="2400" i="1"/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sz="2400" i="1"/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ar-AE" sz="2400" i="1"/>
                                        </m:ctrlPr>
                                      </m:accPr>
                                      <m:e>
                                        <m:r>
                                          <a:rPr lang="ar-AE" sz="2400" i="1"/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 sz="2400"/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ar-AE" sz="2400" b="0" dirty="0"/>
              </a:p>
              <a:p>
                <a:r>
                  <a:rPr lang="en-IN" sz="2400" dirty="0"/>
                  <a:t>where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400" i="1"/>
                      <m:t>𝑈</m:t>
                    </m:r>
                    <m:d>
                      <m:dPr>
                        <m:ctrlPr>
                          <a:rPr lang="ar-AE" sz="2400" i="1"/>
                        </m:ctrlPr>
                      </m:dPr>
                      <m:e>
                        <m:sSub>
                          <m:sSubPr>
                            <m:ctrlPr>
                              <a:rPr lang="ar-AE" sz="2400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ar-AE" sz="2400" i="1"/>
                                </m:ctrlPr>
                              </m:accPr>
                              <m:e>
                                <m:r>
                                  <a:rPr lang="ar-AE" sz="2400" i="1"/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ar-AE" sz="2400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400" dirty="0"/>
                  <a:t>= </a:t>
                </a:r>
                <a:r>
                  <a:rPr lang="en-IN" sz="2400" dirty="0"/>
                  <a:t>score function (first derivative of log-likelihood at restricted estimate),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400" i="1"/>
                      <m:t>𝐼</m:t>
                    </m:r>
                    <m:d>
                      <m:dPr>
                        <m:ctrlPr>
                          <a:rPr lang="ar-AE" sz="2400" i="1"/>
                        </m:ctrlPr>
                      </m:dPr>
                      <m:e>
                        <m:sSub>
                          <m:sSubPr>
                            <m:ctrlPr>
                              <a:rPr lang="ar-AE" sz="2400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ar-AE" sz="2400" i="1"/>
                                </m:ctrlPr>
                              </m:accPr>
                              <m:e>
                                <m:r>
                                  <a:rPr lang="ar-AE" sz="2400" i="1"/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ar-AE" sz="2400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400" dirty="0"/>
                  <a:t>= </a:t>
                </a:r>
                <a:r>
                  <a:rPr lang="en-IN" sz="2400" dirty="0"/>
                  <a:t>Fisher information (variance of the score).</a:t>
                </a:r>
              </a:p>
              <a:p>
                <a:r>
                  <a:rPr lang="en-IN" sz="2400" b="1" dirty="0"/>
                  <a:t>Distribution</a:t>
                </a:r>
                <a:r>
                  <a:rPr lang="en-IN" sz="2400" dirty="0"/>
                  <a:t>: Approx.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400"/>
                        </m:ctrlPr>
                      </m:sSupPr>
                      <m:e>
                        <m:r>
                          <a:rPr lang="ar-AE" sz="2400" i="1"/>
                          <m:t>𝜒</m:t>
                        </m:r>
                      </m:e>
                      <m:sup>
                        <m:r>
                          <a:rPr lang="ar-AE" sz="2400"/>
                          <m:t>2</m:t>
                        </m:r>
                      </m:sup>
                    </m:sSup>
                  </m:oMath>
                </a14:m>
                <a:r>
                  <a:rPr lang="ar-AE" sz="2400" dirty="0"/>
                  <a:t>.</a:t>
                </a:r>
              </a:p>
              <a:p>
                <a:r>
                  <a:rPr lang="en-IN" sz="2400" b="1" dirty="0"/>
                  <a:t>Use</a:t>
                </a:r>
                <a:r>
                  <a:rPr lang="en-IN" sz="2400" dirty="0"/>
                  <a:t>: Helpful when </a:t>
                </a:r>
                <a:r>
                  <a:rPr lang="en-IN" sz="2400" dirty="0">
                    <a:solidFill>
                      <a:srgbClr val="FF0000"/>
                    </a:solidFill>
                  </a:rPr>
                  <a:t>unrestricted model is difficult to estimate </a:t>
                </a:r>
                <a:r>
                  <a:rPr lang="en-IN" sz="2400" dirty="0"/>
                  <a:t>(since only restricted estimation is needed).</a:t>
                </a:r>
              </a:p>
              <a:p>
                <a:endParaRPr lang="en-IN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B7AAE9-9B90-68B6-922D-BFBA7B1256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7157" y="953729"/>
                <a:ext cx="11337686" cy="5609303"/>
              </a:xfrm>
              <a:blipFill>
                <a:blip r:embed="rId2"/>
                <a:stretch>
                  <a:fillRect l="-430" t="-8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832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36B9-1D1A-ACF9-2D2F-2ECD7F55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53" y="275304"/>
            <a:ext cx="8596668" cy="6980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Test for Overall Regression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E23607-27C0-1C33-FDE3-0ECCDDD27A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4042" y="973393"/>
                <a:ext cx="10482279" cy="5771535"/>
              </a:xfrm>
            </p:spPr>
            <p:txBody>
              <a:bodyPr>
                <a:noAutofit/>
              </a:bodyPr>
              <a:lstStyle/>
              <a:p>
                <a:r>
                  <a:rPr lang="en-IN" sz="2400" b="1" dirty="0"/>
                  <a:t>Context</a:t>
                </a:r>
                <a:r>
                  <a:rPr lang="en-IN" sz="2400" dirty="0"/>
                  <a:t>: In regression (linear or logistic), we often test whether the model </a:t>
                </a:r>
                <a:r>
                  <a:rPr lang="en-IN" sz="2400" b="1" dirty="0">
                    <a:solidFill>
                      <a:srgbClr val="FF0000"/>
                    </a:solidFill>
                  </a:rPr>
                  <a:t>as a whole</a:t>
                </a:r>
                <a:r>
                  <a:rPr lang="en-IN" sz="2400" dirty="0">
                    <a:solidFill>
                      <a:srgbClr val="FF0000"/>
                    </a:solidFill>
                  </a:rPr>
                  <a:t> explains significant variation </a:t>
                </a:r>
                <a:r>
                  <a:rPr lang="en-IN" sz="2400" dirty="0"/>
                  <a:t>in the outcome.</a:t>
                </a:r>
              </a:p>
              <a:p>
                <a:r>
                  <a:rPr lang="en-IN" sz="2400" b="1" dirty="0"/>
                  <a:t>Linear Regression:</a:t>
                </a:r>
              </a:p>
              <a:p>
                <a:r>
                  <a:rPr lang="en-IN" sz="2400" dirty="0"/>
                  <a:t>Null: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𝐻</m:t>
                        </m:r>
                      </m:e>
                      <m:sub>
                        <m:r>
                          <a:rPr lang="ar-AE" sz="2400"/>
                          <m:t>0</m:t>
                        </m:r>
                      </m:sub>
                    </m:sSub>
                    <m:r>
                      <a:rPr lang="ar-AE" sz="2400"/>
                      <m:t>: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𝛽</m:t>
                        </m:r>
                      </m:e>
                      <m:sub>
                        <m:r>
                          <a:rPr lang="ar-AE" sz="2400"/>
                          <m:t>1</m:t>
                        </m:r>
                      </m:sub>
                    </m:sSub>
                    <m:r>
                      <a:rPr lang="ar-AE" sz="2400"/>
                      <m:t>=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𝛽</m:t>
                        </m:r>
                      </m:e>
                      <m:sub>
                        <m:r>
                          <a:rPr lang="ar-AE" sz="2400"/>
                          <m:t>2</m:t>
                        </m:r>
                      </m:sub>
                    </m:sSub>
                    <m:r>
                      <a:rPr lang="ar-AE" sz="2400"/>
                      <m:t>=⋯=</m:t>
                    </m:r>
                    <m:sSub>
                      <m:sSubPr>
                        <m:ctrlPr>
                          <a:rPr lang="ar-AE" sz="2400" i="1"/>
                        </m:ctrlPr>
                      </m:sSubPr>
                      <m:e>
                        <m:r>
                          <a:rPr lang="ar-AE" sz="2400" i="1"/>
                          <m:t>𝛽</m:t>
                        </m:r>
                      </m:e>
                      <m:sub>
                        <m:r>
                          <a:rPr lang="ar-AE" sz="2400" i="1"/>
                          <m:t>𝑘</m:t>
                        </m:r>
                      </m:sub>
                    </m:sSub>
                    <m:r>
                      <a:rPr lang="ar-AE" sz="2400"/>
                      <m:t>=</m:t>
                    </m:r>
                    <m:r>
                      <a:rPr lang="ar-AE" sz="2400"/>
                      <m:t>0</m:t>
                    </m:r>
                  </m:oMath>
                </a14:m>
                <a:endParaRPr lang="ar-AE" sz="2400" dirty="0"/>
              </a:p>
              <a:p>
                <a:r>
                  <a:rPr lang="en-IN" sz="2400" dirty="0"/>
                  <a:t>Alternative: At least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𝛽</m:t>
                        </m:r>
                      </m:e>
                      <m:sub>
                        <m:r>
                          <a:rPr lang="ar-AE" sz="2400" i="1"/>
                          <m:t>𝑗</m:t>
                        </m:r>
                      </m:sub>
                    </m:sSub>
                    <m:r>
                      <a:rPr lang="ar-AE" sz="2400"/>
                      <m:t>≠</m:t>
                    </m:r>
                    <m:r>
                      <a:rPr lang="ar-AE" sz="2400"/>
                      <m:t>0</m:t>
                    </m:r>
                  </m:oMath>
                </a14:m>
                <a:endParaRPr lang="ar-AE" sz="2400" dirty="0"/>
              </a:p>
              <a:p>
                <a:r>
                  <a:rPr lang="en-IN" sz="2400" b="1" dirty="0"/>
                  <a:t>Test statistic</a:t>
                </a:r>
                <a:r>
                  <a:rPr lang="en-IN" sz="2400" dirty="0"/>
                  <a:t>: F-test</a:t>
                </a:r>
              </a:p>
              <a:p>
                <a14:m>
                  <m:oMath xmlns:m="http://schemas.openxmlformats.org/officeDocument/2006/math">
                    <m:r>
                      <a:rPr lang="en-IN" sz="2400" i="1"/>
                      <m:t>𝐹</m:t>
                    </m:r>
                    <m:r>
                      <a:rPr lang="en-IN" sz="2400"/>
                      <m:t>=</m:t>
                    </m:r>
                    <m:f>
                      <m:fPr>
                        <m:ctrlPr>
                          <a:rPr lang="ar-AE" sz="2400" i="1"/>
                        </m:ctrlPr>
                      </m:fPr>
                      <m:num>
                        <m:d>
                          <m:dPr>
                            <m:ctrlPr>
                              <a:rPr lang="ar-AE" sz="2400" i="1"/>
                            </m:ctrlPr>
                          </m:dPr>
                          <m:e>
                            <m:r>
                              <a:rPr lang="ar-AE" sz="2400" i="1"/>
                              <m:t>𝑆𝑆𝑅</m:t>
                            </m:r>
                            <m:r>
                              <a:rPr lang="ar-AE" sz="2400"/>
                              <m:t>/</m:t>
                            </m:r>
                            <m:r>
                              <a:rPr lang="ar-AE" sz="2400" i="1"/>
                              <m:t>𝑘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ar-AE" sz="2400" i="1"/>
                            </m:ctrlPr>
                          </m:dPr>
                          <m:e>
                            <m:r>
                              <a:rPr lang="ar-AE" sz="2400" i="1"/>
                              <m:t>𝑆𝑆𝐸</m:t>
                            </m:r>
                            <m:r>
                              <a:rPr lang="ar-AE" sz="2400"/>
                              <m:t>/</m:t>
                            </m:r>
                            <m:d>
                              <m:dPr>
                                <m:ctrlPr>
                                  <a:rPr lang="ar-AE" sz="2400" i="1"/>
                                </m:ctrlPr>
                              </m:dPr>
                              <m:e>
                                <m:r>
                                  <a:rPr lang="ar-AE" sz="2400" i="1"/>
                                  <m:t>𝑛</m:t>
                                </m:r>
                                <m:r>
                                  <a:rPr lang="ar-AE" sz="2400"/>
                                  <m:t>−</m:t>
                                </m:r>
                                <m:r>
                                  <a:rPr lang="ar-AE" sz="2400" i="1"/>
                                  <m:t>𝑘</m:t>
                                </m:r>
                                <m:r>
                                  <a:rPr lang="ar-AE" sz="2400"/>
                                  <m:t>−</m:t>
                                </m:r>
                                <m:r>
                                  <a:rPr lang="ar-AE" sz="2400"/>
                                  <m:t>1</m:t>
                                </m:r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en-US" sz="2400" dirty="0"/>
                  <a:t>   where:</a:t>
                </a:r>
              </a:p>
              <a:p>
                <a:r>
                  <a:rPr lang="en-US" sz="2400" b="1" dirty="0"/>
                  <a:t>SSR</a:t>
                </a:r>
                <a:r>
                  <a:rPr lang="en-US" sz="2400" dirty="0"/>
                  <a:t> = Regression Sum of Squares (variation explained by the model).</a:t>
                </a:r>
              </a:p>
              <a:p>
                <a:r>
                  <a:rPr lang="en-US" sz="2400" b="1" dirty="0"/>
                  <a:t>SSE</a:t>
                </a:r>
                <a:r>
                  <a:rPr lang="en-US" sz="2400" dirty="0"/>
                  <a:t> = Error (or Residual) Sum of Squares (unexplained variation).</a:t>
                </a:r>
              </a:p>
              <a:p>
                <a:r>
                  <a:rPr lang="en-US" sz="2400" b="1" dirty="0"/>
                  <a:t>n</a:t>
                </a:r>
                <a:r>
                  <a:rPr lang="en-US" sz="2400" dirty="0"/>
                  <a:t> = sample size (number of observations).</a:t>
                </a:r>
              </a:p>
              <a:p>
                <a:r>
                  <a:rPr lang="en-US" sz="2400" b="1" dirty="0"/>
                  <a:t>k</a:t>
                </a:r>
                <a:r>
                  <a:rPr lang="en-US" sz="2400" dirty="0"/>
                  <a:t> = number of predictors (independent variables).</a:t>
                </a:r>
              </a:p>
              <a:p>
                <a:pPr marL="0" indent="0">
                  <a:buNone/>
                </a:pPr>
                <a:br>
                  <a:rPr lang="en-US" sz="2400" dirty="0"/>
                </a:br>
                <a:endParaRPr lang="ar-AE" sz="2400" dirty="0"/>
              </a:p>
              <a:p>
                <a:endParaRPr lang="en-IN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E23607-27C0-1C33-FDE3-0ECCDDD27A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4042" y="973393"/>
                <a:ext cx="10482279" cy="5771535"/>
              </a:xfrm>
              <a:blipFill>
                <a:blip r:embed="rId2"/>
                <a:stretch>
                  <a:fillRect l="-465" t="-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73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F1F82-0944-64A0-188E-815CB627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 / GLMs: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CD7B1-FE7B-CB93-00B9-A2F6797C7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803853" cy="3880773"/>
          </a:xfrm>
        </p:spPr>
        <p:txBody>
          <a:bodyPr>
            <a:normAutofit/>
          </a:bodyPr>
          <a:lstStyle/>
          <a:p>
            <a:r>
              <a:rPr lang="en-US" sz="2600" dirty="0"/>
              <a:t>Equivalent tests:</a:t>
            </a:r>
          </a:p>
          <a:p>
            <a:pPr lvl="1"/>
            <a:r>
              <a:rPr lang="en-US" sz="2600" b="1" dirty="0"/>
              <a:t>Likelihood Ratio Test</a:t>
            </a:r>
            <a:r>
              <a:rPr lang="en-US" sz="2600" dirty="0"/>
              <a:t> (compare full vs intercept-only model)</a:t>
            </a:r>
          </a:p>
          <a:p>
            <a:pPr lvl="1"/>
            <a:r>
              <a:rPr lang="en-US" sz="2600" b="1" dirty="0"/>
              <a:t>Score Test</a:t>
            </a:r>
            <a:r>
              <a:rPr lang="en-US" sz="2600" dirty="0"/>
              <a:t> (test slope at intercept-only model)</a:t>
            </a:r>
          </a:p>
          <a:p>
            <a:pPr lvl="1"/>
            <a:r>
              <a:rPr lang="en-US" sz="2600" b="1" dirty="0"/>
              <a:t>Wald Test</a:t>
            </a:r>
            <a:r>
              <a:rPr lang="en-US" sz="2600" dirty="0"/>
              <a:t> (joint test of coefficients)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061157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B4DB-7798-A80B-4A3A-A27224621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🔹 Comparison of the Three Tests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DFC933-1D5B-1F1B-DD2D-A7B50CA46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775094"/>
              </p:ext>
            </p:extLst>
          </p:nvPr>
        </p:nvGraphicFramePr>
        <p:xfrm>
          <a:off x="451191" y="1716712"/>
          <a:ext cx="11032885" cy="43281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25734">
                  <a:extLst>
                    <a:ext uri="{9D8B030D-6E8A-4147-A177-3AD203B41FA5}">
                      <a16:colId xmlns:a16="http://schemas.microsoft.com/office/drawing/2014/main" val="2969979049"/>
                    </a:ext>
                  </a:extLst>
                </a:gridCol>
                <a:gridCol w="3426017">
                  <a:extLst>
                    <a:ext uri="{9D8B030D-6E8A-4147-A177-3AD203B41FA5}">
                      <a16:colId xmlns:a16="http://schemas.microsoft.com/office/drawing/2014/main" val="864188043"/>
                    </a:ext>
                  </a:extLst>
                </a:gridCol>
                <a:gridCol w="3622913">
                  <a:extLst>
                    <a:ext uri="{9D8B030D-6E8A-4147-A177-3AD203B41FA5}">
                      <a16:colId xmlns:a16="http://schemas.microsoft.com/office/drawing/2014/main" val="3083398509"/>
                    </a:ext>
                  </a:extLst>
                </a:gridCol>
                <a:gridCol w="2758221">
                  <a:extLst>
                    <a:ext uri="{9D8B030D-6E8A-4147-A177-3AD203B41FA5}">
                      <a16:colId xmlns:a16="http://schemas.microsoft.com/office/drawing/2014/main" val="621876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Needs unrestricted model?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770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/>
                        <a:t>Wald</a:t>
                      </a:r>
                      <a:endParaRPr lang="en-IN" sz="2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Sometimes </a:t>
                      </a:r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poor </a:t>
                      </a:r>
                      <a:r>
                        <a:rPr lang="en-US" sz="2600" dirty="0"/>
                        <a:t>in small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Easy to compute, widely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48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/>
                        <a:t>LR</a:t>
                      </a:r>
                      <a:endParaRPr lang="en-IN" sz="2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Generally </a:t>
                      </a:r>
                      <a:r>
                        <a:rPr lang="en-IN" sz="2600" dirty="0">
                          <a:solidFill>
                            <a:srgbClr val="FF0000"/>
                          </a:solidFill>
                        </a:rPr>
                        <a:t>most reliable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Compares fits of full vs restricted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84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/>
                        <a:t>Score</a:t>
                      </a:r>
                      <a:endParaRPr lang="en-IN" sz="2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No (only restricted model needed)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>
                          <a:solidFill>
                            <a:srgbClr val="FF0000"/>
                          </a:solidFill>
                        </a:rPr>
                        <a:t>Good for nested model </a:t>
                      </a:r>
                      <a:r>
                        <a:rPr lang="en-US" sz="2600" dirty="0"/>
                        <a:t>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Useful when unrestricted estimation is hard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7966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2582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72B99-3E51-AB30-C2F9-5F706372D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E7391-A0E8-64FF-EF67-A88CF1055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144" y="1488613"/>
            <a:ext cx="11101711" cy="3880773"/>
          </a:xfrm>
        </p:spPr>
        <p:txBody>
          <a:bodyPr>
            <a:normAutofit/>
          </a:bodyPr>
          <a:lstStyle/>
          <a:p>
            <a:r>
              <a:rPr lang="en-US" sz="2600" b="1" dirty="0"/>
              <a:t>Wald</a:t>
            </a:r>
            <a:r>
              <a:rPr lang="en-US" sz="2600" dirty="0"/>
              <a:t>: Test if estimated coefficients differ from hypothesized values.</a:t>
            </a:r>
          </a:p>
          <a:p>
            <a:r>
              <a:rPr lang="en-US" sz="2600" b="1" dirty="0"/>
              <a:t>LR</a:t>
            </a:r>
            <a:r>
              <a:rPr lang="en-US" sz="2600" dirty="0"/>
              <a:t>: Compare likelihoods of restricted vs unrestricted models.</a:t>
            </a:r>
          </a:p>
          <a:p>
            <a:r>
              <a:rPr lang="en-US" sz="2600" b="1" dirty="0"/>
              <a:t>Score</a:t>
            </a:r>
            <a:r>
              <a:rPr lang="en-US" sz="2600" dirty="0"/>
              <a:t>: Check slope of likelihood at restricted estimates.</a:t>
            </a:r>
          </a:p>
          <a:p>
            <a:r>
              <a:rPr lang="en-US" sz="2600" b="1" dirty="0"/>
              <a:t>Overall regression test</a:t>
            </a:r>
            <a:r>
              <a:rPr lang="en-US" sz="2600" dirty="0"/>
              <a:t>: F-test in linear regression, LR/Score/Wald in logistic or GLM settings.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3187140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126</TotalTime>
  <Words>825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Trebuchet MS</vt:lpstr>
      <vt:lpstr>Wingdings</vt:lpstr>
      <vt:lpstr>Wingdings 3</vt:lpstr>
      <vt:lpstr>Facet</vt:lpstr>
      <vt:lpstr>UNIT-III</vt:lpstr>
      <vt:lpstr>logit transform</vt:lpstr>
      <vt:lpstr>Why Use Logit Transform? </vt:lpstr>
      <vt:lpstr>Applications in Data Mining </vt:lpstr>
      <vt:lpstr>Example </vt:lpstr>
      <vt:lpstr>Hypothesis Testing in Regression </vt:lpstr>
      <vt:lpstr>Wald Test </vt:lpstr>
      <vt:lpstr>Likelihood Ratio (LR) Test </vt:lpstr>
      <vt:lpstr>Score Test (Lagrange Multiplier Test) </vt:lpstr>
      <vt:lpstr>Test for Overall Regression </vt:lpstr>
      <vt:lpstr>Logistic Regression / GLMs: </vt:lpstr>
      <vt:lpstr>🔹 Comparison of the Three Tests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Isabella S</dc:creator>
  <cp:lastModifiedBy>Isabella S</cp:lastModifiedBy>
  <cp:revision>2</cp:revision>
  <dcterms:created xsi:type="dcterms:W3CDTF">2025-09-11T04:17:49Z</dcterms:created>
  <dcterms:modified xsi:type="dcterms:W3CDTF">2025-09-11T06:24:34Z</dcterms:modified>
</cp:coreProperties>
</file>