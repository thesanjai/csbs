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20"/>
  </p:notesMasterIdLst>
  <p:handoutMasterIdLst>
    <p:handoutMasterId r:id="rId21"/>
  </p:handoutMasterIdLst>
  <p:sldIdLst>
    <p:sldId id="842" r:id="rId2"/>
    <p:sldId id="839" r:id="rId3"/>
    <p:sldId id="841" r:id="rId4"/>
    <p:sldId id="840" r:id="rId5"/>
    <p:sldId id="847" r:id="rId6"/>
    <p:sldId id="846" r:id="rId7"/>
    <p:sldId id="1182" r:id="rId8"/>
    <p:sldId id="844" r:id="rId9"/>
    <p:sldId id="845" r:id="rId10"/>
    <p:sldId id="849" r:id="rId11"/>
    <p:sldId id="850" r:id="rId12"/>
    <p:sldId id="851" r:id="rId13"/>
    <p:sldId id="852" r:id="rId14"/>
    <p:sldId id="257" r:id="rId15"/>
    <p:sldId id="560" r:id="rId16"/>
    <p:sldId id="817" r:id="rId17"/>
    <p:sldId id="816" r:id="rId18"/>
    <p:sldId id="822" r:id="rId19"/>
  </p:sldIdLst>
  <p:sldSz cx="9144000" cy="6858000" type="screen4x3"/>
  <p:notesSz cx="6831013" cy="91170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2">
          <p15:clr>
            <a:srgbClr val="A4A3A4"/>
          </p15:clr>
        </p15:guide>
        <p15:guide id="2" pos="215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E6EA"/>
    <a:srgbClr val="FAE2F6"/>
    <a:srgbClr val="170981"/>
    <a:srgbClr val="121328"/>
    <a:srgbClr val="D7FDF9"/>
    <a:srgbClr val="003366"/>
    <a:srgbClr val="006666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 varScale="1">
        <p:scale>
          <a:sx n="78" d="100"/>
          <a:sy n="78" d="100"/>
        </p:scale>
        <p:origin x="159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5760"/>
    </p:cViewPr>
  </p:sorterViewPr>
  <p:notesViewPr>
    <p:cSldViewPr>
      <p:cViewPr varScale="1">
        <p:scale>
          <a:sx n="38" d="100"/>
          <a:sy n="38" d="100"/>
        </p:scale>
        <p:origin x="-1530" y="-72"/>
      </p:cViewPr>
      <p:guideLst>
        <p:guide orient="horz" pos="2872"/>
        <p:guide pos="21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8.xml"/><Relationship Id="rId13" Type="http://schemas.openxmlformats.org/officeDocument/2006/relationships/slide" Target="slides/slide13.xml"/><Relationship Id="rId3" Type="http://schemas.openxmlformats.org/officeDocument/2006/relationships/slide" Target="slides/slide3.xml"/><Relationship Id="rId7" Type="http://schemas.openxmlformats.org/officeDocument/2006/relationships/slide" Target="slides/slide7.xml"/><Relationship Id="rId12" Type="http://schemas.openxmlformats.org/officeDocument/2006/relationships/slide" Target="slides/slide12.xml"/><Relationship Id="rId17" Type="http://schemas.openxmlformats.org/officeDocument/2006/relationships/slide" Target="slides/slide18.xml"/><Relationship Id="rId2" Type="http://schemas.openxmlformats.org/officeDocument/2006/relationships/slide" Target="slides/slide2.xml"/><Relationship Id="rId16" Type="http://schemas.openxmlformats.org/officeDocument/2006/relationships/slide" Target="slides/slide17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11" Type="http://schemas.openxmlformats.org/officeDocument/2006/relationships/slide" Target="slides/slide11.xml"/><Relationship Id="rId5" Type="http://schemas.openxmlformats.org/officeDocument/2006/relationships/slide" Target="slides/slide5.xml"/><Relationship Id="rId15" Type="http://schemas.openxmlformats.org/officeDocument/2006/relationships/slide" Target="slides/slide16.xml"/><Relationship Id="rId10" Type="http://schemas.openxmlformats.org/officeDocument/2006/relationships/slide" Target="slides/slide10.xml"/><Relationship Id="rId4" Type="http://schemas.openxmlformats.org/officeDocument/2006/relationships/slide" Target="slides/slide4.xml"/><Relationship Id="rId9" Type="http://schemas.openxmlformats.org/officeDocument/2006/relationships/slide" Target="slides/slide9.xml"/><Relationship Id="rId14" Type="http://schemas.openxmlformats.org/officeDocument/2006/relationships/slide" Target="slides/slide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468B6BBF-C151-0085-9BDF-578BB6CB468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CA9AC4BC-D8B2-22E7-E505-43FF0268594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algn="r"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8" name="Rectangle 4">
            <a:extLst>
              <a:ext uri="{FF2B5EF4-FFF2-40B4-BE49-F238E27FC236}">
                <a16:creationId xmlns:a16="http://schemas.microsoft.com/office/drawing/2014/main" id="{0CF0F838-4457-6618-2E39-E3CBB11378D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9" name="Rectangle 5">
            <a:extLst>
              <a:ext uri="{FF2B5EF4-FFF2-40B4-BE49-F238E27FC236}">
                <a16:creationId xmlns:a16="http://schemas.microsoft.com/office/drawing/2014/main" id="{CAEB8302-5347-4CD7-2506-03737C407D6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algn="r" defTabSz="911225">
              <a:defRPr sz="1200">
                <a:latin typeface="Times New Roman" panose="02020603050405020304" pitchFamily="18" charset="0"/>
              </a:defRPr>
            </a:lvl1pPr>
          </a:lstStyle>
          <a:p>
            <a:fld id="{54730756-7849-4C00-86FD-8B073333D3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E1BC485-BBDF-9AAF-5B7D-16D7FE8BE3F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35C9E70-C08D-8CDF-2160-393B0D457C3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algn="r"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E108F4D-DF81-48EB-C823-522293AC22B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6650" y="684213"/>
            <a:ext cx="4557713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94D968FF-C72C-1A38-7942-FE471E6C103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330700"/>
            <a:ext cx="5008563" cy="410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76511DB9-3274-C37D-40D1-A5E4B70CB86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6140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BF7A7339-C20A-2AAA-ECBB-B1528BA7CF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algn="r" defTabSz="911225">
              <a:defRPr sz="1200">
                <a:latin typeface="Times New Roman" panose="02020603050405020304" pitchFamily="18" charset="0"/>
              </a:defRPr>
            </a:lvl1pPr>
          </a:lstStyle>
          <a:p>
            <a:fld id="{C7C564C5-6FCF-471C-AA59-F34F79F02B7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02B1A0D-D34C-D380-7FB4-E1334BEF1C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7C48082-F04C-417A-8A18-BE755B5BB8E6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02B1A0D-D34C-D380-7FB4-E1334BEF1C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7C48082-F04C-417A-8A18-BE755B5BB8E6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628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02B1A0D-D34C-D380-7FB4-E1334BEF1C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7C48082-F04C-417A-8A18-BE755B5BB8E6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9535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02B1A0D-D34C-D380-7FB4-E1334BEF1C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7C48082-F04C-417A-8A18-BE755B5BB8E6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5375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A8612C8-B987-4A46-33B0-E3081891E480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70002586-B973-3B97-003D-1EFFE11FFA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F4C89EC6-5F76-DCE7-58D6-A4FB6CF82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11B912DD-319B-45BF-0B58-910B12952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1C3F4582-B2BD-32CC-8668-A760E3A414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D9ED4C9-65DA-DC38-F9D7-9F3A525B03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D5EC0B5-BE67-030C-559E-B4A8F66C41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CEB6ECC3-07E8-EAB9-F6DF-21CAC7F8E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EB0DCAF7-E022-FB80-D3D4-05BBE940B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63820984-7AA7-5B50-74BA-9D4527BC4F8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A88C11FC-4C7D-B285-9AB2-AC206649F3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AAF11D6F-24BA-4A60-AB11-918731EE4854}" type="datetime4">
              <a:rPr lang="en-US"/>
              <a:pPr>
                <a:defRPr/>
              </a:pPr>
              <a:t>July 15, 2025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18775BE3-62DF-AA3D-E913-26E6762090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F69D6CA9-30D7-0D8E-B511-DACC9F7800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fld id="{D5B11D2E-DEBC-4F08-8EF3-4BCEB82C3B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7329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59">
            <a:extLst>
              <a:ext uri="{FF2B5EF4-FFF2-40B4-BE49-F238E27FC236}">
                <a16:creationId xmlns:a16="http://schemas.microsoft.com/office/drawing/2014/main" id="{9740D77D-7A18-FCC6-CBFD-CAB853217A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96CACE-3807-4D67-872E-78FEB3CCD8F9}" type="datetime4">
              <a:rPr lang="en-US"/>
              <a:pPr>
                <a:defRPr/>
              </a:pPr>
              <a:t>July 15, 2025</a:t>
            </a:fld>
            <a:endParaRPr lang="en-US"/>
          </a:p>
        </p:txBody>
      </p:sp>
      <p:sp>
        <p:nvSpPr>
          <p:cNvPr id="5" name="Rectangle 2060">
            <a:extLst>
              <a:ext uri="{FF2B5EF4-FFF2-40B4-BE49-F238E27FC236}">
                <a16:creationId xmlns:a16="http://schemas.microsoft.com/office/drawing/2014/main" id="{4E3C07C7-E1C3-E7EF-5E22-28BB8F2BF1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E775043A-36F1-15DA-4853-20E53C1C86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BBAD64-AC0E-49C2-A5D9-061661FDDE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7954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059">
            <a:extLst>
              <a:ext uri="{FF2B5EF4-FFF2-40B4-BE49-F238E27FC236}">
                <a16:creationId xmlns:a16="http://schemas.microsoft.com/office/drawing/2014/main" id="{16BE6A21-A8AF-98EE-6A9B-CBD9014B76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7F59EF-2B93-45DF-8E06-11974BE1016B}" type="datetime4">
              <a:rPr lang="en-US"/>
              <a:pPr>
                <a:defRPr/>
              </a:pPr>
              <a:t>July 15, 2025</a:t>
            </a:fld>
            <a:endParaRPr lang="en-US"/>
          </a:p>
        </p:txBody>
      </p:sp>
      <p:sp>
        <p:nvSpPr>
          <p:cNvPr id="5" name="Rectangle 2060">
            <a:extLst>
              <a:ext uri="{FF2B5EF4-FFF2-40B4-BE49-F238E27FC236}">
                <a16:creationId xmlns:a16="http://schemas.microsoft.com/office/drawing/2014/main" id="{F79D8541-2215-B12F-7852-7E60457997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2B88D64A-DD24-BB39-CD91-4E5A9A8BB2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CE82F7-1372-4871-B8D0-ACF00CEB8C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088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478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59">
            <a:extLst>
              <a:ext uri="{FF2B5EF4-FFF2-40B4-BE49-F238E27FC236}">
                <a16:creationId xmlns:a16="http://schemas.microsoft.com/office/drawing/2014/main" id="{6FC6B73C-A2A8-C52D-D55F-C25D23B4E6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0723-C738-4D33-A699-7B785B38F64A}" type="datetime4">
              <a:rPr lang="en-US"/>
              <a:pPr>
                <a:defRPr/>
              </a:pPr>
              <a:t>July 15, 2025</a:t>
            </a:fld>
            <a:endParaRPr lang="en-US"/>
          </a:p>
        </p:txBody>
      </p:sp>
      <p:sp>
        <p:nvSpPr>
          <p:cNvPr id="6" name="Rectangle 2060">
            <a:extLst>
              <a:ext uri="{FF2B5EF4-FFF2-40B4-BE49-F238E27FC236}">
                <a16:creationId xmlns:a16="http://schemas.microsoft.com/office/drawing/2014/main" id="{9548A165-093F-E63B-2C66-EB3F992123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EA1BEB91-08E6-C89F-11C3-23DC1232CD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2B3B3E-CBF5-4F99-AE2E-907BEAA56B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9837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59">
            <a:extLst>
              <a:ext uri="{FF2B5EF4-FFF2-40B4-BE49-F238E27FC236}">
                <a16:creationId xmlns:a16="http://schemas.microsoft.com/office/drawing/2014/main" id="{6E72A056-4017-EC18-78E9-D06E3FD2CA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6DA5F5-9EC0-495A-ACD6-92C996CC5AC5}" type="datetime4">
              <a:rPr lang="en-US"/>
              <a:pPr>
                <a:defRPr/>
              </a:pPr>
              <a:t>July 15, 2025</a:t>
            </a:fld>
            <a:endParaRPr lang="en-US"/>
          </a:p>
        </p:txBody>
      </p:sp>
      <p:sp>
        <p:nvSpPr>
          <p:cNvPr id="8" name="Rectangle 2060">
            <a:extLst>
              <a:ext uri="{FF2B5EF4-FFF2-40B4-BE49-F238E27FC236}">
                <a16:creationId xmlns:a16="http://schemas.microsoft.com/office/drawing/2014/main" id="{ED8F3A1F-9758-B5F5-74A9-83051C3235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9" name="Rectangle 2061">
            <a:extLst>
              <a:ext uri="{FF2B5EF4-FFF2-40B4-BE49-F238E27FC236}">
                <a16:creationId xmlns:a16="http://schemas.microsoft.com/office/drawing/2014/main" id="{C0E21611-DDDE-2472-3AAB-64C2360182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34240C-0C9A-466F-A396-5ECAE43847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811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059">
            <a:extLst>
              <a:ext uri="{FF2B5EF4-FFF2-40B4-BE49-F238E27FC236}">
                <a16:creationId xmlns:a16="http://schemas.microsoft.com/office/drawing/2014/main" id="{D392ED1B-60FA-85E1-2E95-A5BD0583AC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63C632-ADC1-4704-BA7C-7EDD4ABC60EC}" type="datetime4">
              <a:rPr lang="en-US"/>
              <a:pPr>
                <a:defRPr/>
              </a:pPr>
              <a:t>July 15, 2025</a:t>
            </a:fld>
            <a:endParaRPr lang="en-US"/>
          </a:p>
        </p:txBody>
      </p:sp>
      <p:sp>
        <p:nvSpPr>
          <p:cNvPr id="4" name="Rectangle 2060">
            <a:extLst>
              <a:ext uri="{FF2B5EF4-FFF2-40B4-BE49-F238E27FC236}">
                <a16:creationId xmlns:a16="http://schemas.microsoft.com/office/drawing/2014/main" id="{5B9FE503-24C4-CBC4-2951-06BB9FCDDF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A9C5570F-D028-931F-1444-D80CF4353B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6C40C2-09F1-40B4-B1D8-92319C3333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2909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59">
            <a:extLst>
              <a:ext uri="{FF2B5EF4-FFF2-40B4-BE49-F238E27FC236}">
                <a16:creationId xmlns:a16="http://schemas.microsoft.com/office/drawing/2014/main" id="{469EFFF5-FD4D-073F-22E9-2C02567C8C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FCAD8-F28D-4267-B747-E7F61FEE4C90}" type="datetime4">
              <a:rPr lang="en-US"/>
              <a:pPr>
                <a:defRPr/>
              </a:pPr>
              <a:t>July 15, 2025</a:t>
            </a:fld>
            <a:endParaRPr lang="en-US"/>
          </a:p>
        </p:txBody>
      </p:sp>
      <p:sp>
        <p:nvSpPr>
          <p:cNvPr id="3" name="Rectangle 2060">
            <a:extLst>
              <a:ext uri="{FF2B5EF4-FFF2-40B4-BE49-F238E27FC236}">
                <a16:creationId xmlns:a16="http://schemas.microsoft.com/office/drawing/2014/main" id="{C11D08D0-EA3D-DA0A-7068-32349C37BC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93B95985-F2DB-429C-64C6-97BB7872BA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0F1D1A-5252-4189-B4D3-D6C8768C9C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83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59">
            <a:extLst>
              <a:ext uri="{FF2B5EF4-FFF2-40B4-BE49-F238E27FC236}">
                <a16:creationId xmlns:a16="http://schemas.microsoft.com/office/drawing/2014/main" id="{5ABD121C-F9A0-1D65-A5B4-BF92BC7C07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61235C-8410-45A8-AA87-F5A3E051E533}" type="datetime4">
              <a:rPr lang="en-US"/>
              <a:pPr>
                <a:defRPr/>
              </a:pPr>
              <a:t>July 15, 2025</a:t>
            </a:fld>
            <a:endParaRPr lang="en-US"/>
          </a:p>
        </p:txBody>
      </p:sp>
      <p:sp>
        <p:nvSpPr>
          <p:cNvPr id="6" name="Rectangle 2060">
            <a:extLst>
              <a:ext uri="{FF2B5EF4-FFF2-40B4-BE49-F238E27FC236}">
                <a16:creationId xmlns:a16="http://schemas.microsoft.com/office/drawing/2014/main" id="{226FC5C8-6FB4-2EB6-9C6C-EC9C9A97DA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9AF06192-D167-5C74-77AA-2828692C92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D11814-1557-45CE-9EBA-198285B3EB9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3714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59">
            <a:extLst>
              <a:ext uri="{FF2B5EF4-FFF2-40B4-BE49-F238E27FC236}">
                <a16:creationId xmlns:a16="http://schemas.microsoft.com/office/drawing/2014/main" id="{CEA3774A-C7BB-08EB-58A7-18A944D6CF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199DBD-886A-4108-8C2F-58E355C8169D}" type="datetime4">
              <a:rPr lang="en-US"/>
              <a:pPr>
                <a:defRPr/>
              </a:pPr>
              <a:t>July 15, 2025</a:t>
            </a:fld>
            <a:endParaRPr lang="en-US"/>
          </a:p>
        </p:txBody>
      </p:sp>
      <p:sp>
        <p:nvSpPr>
          <p:cNvPr id="6" name="Rectangle 2060">
            <a:extLst>
              <a:ext uri="{FF2B5EF4-FFF2-40B4-BE49-F238E27FC236}">
                <a16:creationId xmlns:a16="http://schemas.microsoft.com/office/drawing/2014/main" id="{15F906FA-BFC0-FAA2-4F1C-BD62DC0B9D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DFE95A2C-053D-6D8E-6E00-B9BFB82191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FD5ED2-DEB0-4F2F-BB1F-789171374C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0732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59">
            <a:extLst>
              <a:ext uri="{FF2B5EF4-FFF2-40B4-BE49-F238E27FC236}">
                <a16:creationId xmlns:a16="http://schemas.microsoft.com/office/drawing/2014/main" id="{CD32FB75-F7B0-060E-D4EE-7EAEA5DEA0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113589-BDDD-47C8-B5A0-AE0F2F176F09}" type="datetime4">
              <a:rPr lang="en-US"/>
              <a:pPr>
                <a:defRPr/>
              </a:pPr>
              <a:t>July 15, 2025</a:t>
            </a:fld>
            <a:endParaRPr lang="en-US"/>
          </a:p>
        </p:txBody>
      </p:sp>
      <p:sp>
        <p:nvSpPr>
          <p:cNvPr id="5" name="Rectangle 2060">
            <a:extLst>
              <a:ext uri="{FF2B5EF4-FFF2-40B4-BE49-F238E27FC236}">
                <a16:creationId xmlns:a16="http://schemas.microsoft.com/office/drawing/2014/main" id="{6C815209-EDCB-CD59-0598-7A9EA705C2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7A508FD2-F3C1-3055-D47C-D392380DC8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AB20BD-0D56-4144-80DE-F855D52269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691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381000"/>
            <a:ext cx="20955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0"/>
            <a:ext cx="61341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59">
            <a:extLst>
              <a:ext uri="{FF2B5EF4-FFF2-40B4-BE49-F238E27FC236}">
                <a16:creationId xmlns:a16="http://schemas.microsoft.com/office/drawing/2014/main" id="{89E8A183-84F3-9021-BE59-5885815EE5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7925FB-E7BD-4745-8115-1585E5631F01}" type="datetime4">
              <a:rPr lang="en-US"/>
              <a:pPr>
                <a:defRPr/>
              </a:pPr>
              <a:t>July 15, 2025</a:t>
            </a:fld>
            <a:endParaRPr lang="en-US"/>
          </a:p>
        </p:txBody>
      </p:sp>
      <p:sp>
        <p:nvSpPr>
          <p:cNvPr id="5" name="Rectangle 2060">
            <a:extLst>
              <a:ext uri="{FF2B5EF4-FFF2-40B4-BE49-F238E27FC236}">
                <a16:creationId xmlns:a16="http://schemas.microsoft.com/office/drawing/2014/main" id="{5AF0D816-C3C4-BA2E-5F8F-61070A1711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F89DF129-8259-0245-9805-F1E43F26C1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23D6B2-6399-477D-8EA6-E5E37EA72C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9644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7793038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81000" y="1447800"/>
            <a:ext cx="8382000" cy="5029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059">
            <a:extLst>
              <a:ext uri="{FF2B5EF4-FFF2-40B4-BE49-F238E27FC236}">
                <a16:creationId xmlns:a16="http://schemas.microsoft.com/office/drawing/2014/main" id="{DDEC8A1E-A0AA-4574-882D-AD6C92AE58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045C4-E6D8-4137-B3E5-6DF0E9CFCC74}" type="datetime4">
              <a:rPr lang="en-US"/>
              <a:pPr>
                <a:defRPr/>
              </a:pPr>
              <a:t>July 15, 2025</a:t>
            </a:fld>
            <a:endParaRPr lang="en-US"/>
          </a:p>
        </p:txBody>
      </p:sp>
      <p:sp>
        <p:nvSpPr>
          <p:cNvPr id="5" name="Rectangle 2060">
            <a:extLst>
              <a:ext uri="{FF2B5EF4-FFF2-40B4-BE49-F238E27FC236}">
                <a16:creationId xmlns:a16="http://schemas.microsoft.com/office/drawing/2014/main" id="{48CEC891-B25A-0ECD-9A45-5D894DD8ED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4E589870-2E0F-9E9A-4B59-D67C539BEF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512ED2-21C0-47CA-AFBA-81A1F05075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3172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56">
            <a:extLst>
              <a:ext uri="{FF2B5EF4-FFF2-40B4-BE49-F238E27FC236}">
                <a16:creationId xmlns:a16="http://schemas.microsoft.com/office/drawing/2014/main" id="{297B9905-3521-D7E3-F7C1-FBF3F5B96C7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" y="1219200"/>
            <a:ext cx="8410575" cy="46038"/>
          </a:xfrm>
          <a:prstGeom prst="rect">
            <a:avLst/>
          </a:prstGeom>
          <a:solidFill>
            <a:schemeClr val="tx2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 sz="2400"/>
          </a:p>
        </p:txBody>
      </p:sp>
      <p:sp>
        <p:nvSpPr>
          <p:cNvPr id="1027" name="Rectangle 2057">
            <a:extLst>
              <a:ext uri="{FF2B5EF4-FFF2-40B4-BE49-F238E27FC236}">
                <a16:creationId xmlns:a16="http://schemas.microsoft.com/office/drawing/2014/main" id="{756EF268-A203-F036-D678-80A5D112E0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81000"/>
            <a:ext cx="779303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2058">
            <a:extLst>
              <a:ext uri="{FF2B5EF4-FFF2-40B4-BE49-F238E27FC236}">
                <a16:creationId xmlns:a16="http://schemas.microsoft.com/office/drawing/2014/main" id="{4B710D9E-B387-6AF1-F7E8-0AD8181D78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47800"/>
            <a:ext cx="8382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28779" name="Rectangle 2059">
            <a:extLst>
              <a:ext uri="{FF2B5EF4-FFF2-40B4-BE49-F238E27FC236}">
                <a16:creationId xmlns:a16="http://schemas.microsoft.com/office/drawing/2014/main" id="{3F2793E5-1A5F-81F8-26BB-7743DE82CDE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6324600"/>
            <a:ext cx="1905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fld id="{6884534A-B13A-4DC3-93A2-ACF6C3833188}" type="datetime4">
              <a:rPr lang="en-US"/>
              <a:pPr>
                <a:defRPr/>
              </a:pPr>
              <a:t>July 15, 2025</a:t>
            </a:fld>
            <a:endParaRPr lang="en-US"/>
          </a:p>
        </p:txBody>
      </p:sp>
      <p:sp>
        <p:nvSpPr>
          <p:cNvPr id="928780" name="Rectangle 2060">
            <a:extLst>
              <a:ext uri="{FF2B5EF4-FFF2-40B4-BE49-F238E27FC236}">
                <a16:creationId xmlns:a16="http://schemas.microsoft.com/office/drawing/2014/main" id="{2BE7B73F-618F-45AA-D1D8-73BBA7D096C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324600"/>
            <a:ext cx="2895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928781" name="Rectangle 2061">
            <a:extLst>
              <a:ext uri="{FF2B5EF4-FFF2-40B4-BE49-F238E27FC236}">
                <a16:creationId xmlns:a16="http://schemas.microsoft.com/office/drawing/2014/main" id="{99B5B6C8-01DA-EC0D-B2BE-7EB3E586ED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9B1B63E-0A58-456E-AA76-C5E4EAC4818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bm.com/topics/artificial-intelligence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>
            <a:extLst>
              <a:ext uri="{FF2B5EF4-FFF2-40B4-BE49-F238E27FC236}">
                <a16:creationId xmlns:a16="http://schemas.microsoft.com/office/drawing/2014/main" id="{25DFB38D-539E-2453-1D7B-FF612457F05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5BACB7-5FBE-4DE4-83A1-243B91D8EF10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15, 2025</a:t>
            </a:fld>
            <a:endParaRPr lang="en-US" altLang="en-US" sz="1200"/>
          </a:p>
        </p:txBody>
      </p:sp>
      <p:sp>
        <p:nvSpPr>
          <p:cNvPr id="6147" name="Footer Placeholder 4">
            <a:extLst>
              <a:ext uri="{FF2B5EF4-FFF2-40B4-BE49-F238E27FC236}">
                <a16:creationId xmlns:a16="http://schemas.microsoft.com/office/drawing/2014/main" id="{BAC3D88E-733D-6A64-68AD-1746E283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/>
              <a:t>Data Mining: Concepts and Techniques</a:t>
            </a:r>
          </a:p>
        </p:txBody>
      </p:sp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0CDCD1F4-4032-BC8E-BE66-4C6B5FF2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201DE9-3A35-4632-8DE6-24DE5A3E0C6B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DD0D5-E688-5BB2-7DE0-7E5E0E4B0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1" y="-6832"/>
            <a:ext cx="2666999" cy="67099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0A75F78E-33DF-6AA5-0868-A98599AFB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384" y="4570274"/>
            <a:ext cx="806881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2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INT317</a:t>
            </a:r>
          </a:p>
          <a:p>
            <a:pPr algn="ctr"/>
            <a:r>
              <a:rPr lang="en-US" altLang="ko-KR" sz="3600" b="1" dirty="0">
                <a:solidFill>
                  <a:schemeClr val="tx2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DATA MINING AND ANALYTICS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411DBBA2-ED6D-1D4F-0810-E397F2E10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524000"/>
            <a:ext cx="2772287" cy="236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457128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>
            <a:extLst>
              <a:ext uri="{FF2B5EF4-FFF2-40B4-BE49-F238E27FC236}">
                <a16:creationId xmlns:a16="http://schemas.microsoft.com/office/drawing/2014/main" id="{25DFB38D-539E-2453-1D7B-FF612457F05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5BACB7-5FBE-4DE4-83A1-243B91D8EF10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15, 2025</a:t>
            </a:fld>
            <a:endParaRPr lang="en-US" altLang="en-US" sz="1200"/>
          </a:p>
        </p:txBody>
      </p:sp>
      <p:sp>
        <p:nvSpPr>
          <p:cNvPr id="6147" name="Footer Placeholder 4">
            <a:extLst>
              <a:ext uri="{FF2B5EF4-FFF2-40B4-BE49-F238E27FC236}">
                <a16:creationId xmlns:a16="http://schemas.microsoft.com/office/drawing/2014/main" id="{BAC3D88E-733D-6A64-68AD-1746E283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Data Mining: Concepts and Techniques</a:t>
            </a:r>
          </a:p>
        </p:txBody>
      </p:sp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0CDCD1F4-4032-BC8E-BE66-4C6B5FF2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201DE9-3A35-4632-8DE6-24DE5A3E0C6B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723D85A5-C0A9-553C-E672-FC142448F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600" y="155575"/>
            <a:ext cx="7543800" cy="1066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dirty="0"/>
              <a:t>Syllabus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DD0D5-E688-5BB2-7DE0-7E5E0E4B0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1" y="-6832"/>
            <a:ext cx="2666999" cy="6709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2786C8-AAF4-09DD-660D-0C14CB07B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623094"/>
            <a:ext cx="8788400" cy="472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17242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>
            <a:extLst>
              <a:ext uri="{FF2B5EF4-FFF2-40B4-BE49-F238E27FC236}">
                <a16:creationId xmlns:a16="http://schemas.microsoft.com/office/drawing/2014/main" id="{25DFB38D-539E-2453-1D7B-FF612457F05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5BACB7-5FBE-4DE4-83A1-243B91D8EF10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15, 2025</a:t>
            </a:fld>
            <a:endParaRPr lang="en-US" altLang="en-US" sz="1200"/>
          </a:p>
        </p:txBody>
      </p:sp>
      <p:sp>
        <p:nvSpPr>
          <p:cNvPr id="6147" name="Footer Placeholder 4">
            <a:extLst>
              <a:ext uri="{FF2B5EF4-FFF2-40B4-BE49-F238E27FC236}">
                <a16:creationId xmlns:a16="http://schemas.microsoft.com/office/drawing/2014/main" id="{BAC3D88E-733D-6A64-68AD-1746E283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Data Mining: Concepts and Techniques</a:t>
            </a:r>
          </a:p>
        </p:txBody>
      </p:sp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0CDCD1F4-4032-BC8E-BE66-4C6B5FF2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201DE9-3A35-4632-8DE6-24DE5A3E0C6B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723D85A5-C0A9-553C-E672-FC142448F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600" y="155575"/>
            <a:ext cx="7543800" cy="1066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dirty="0"/>
              <a:t>Syllabus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DD0D5-E688-5BB2-7DE0-7E5E0E4B0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1" y="-6832"/>
            <a:ext cx="2666999" cy="6709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083EAA-E652-AB73-E1F0-D721D8017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05" y="1453826"/>
            <a:ext cx="8246495" cy="502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185411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>
            <a:extLst>
              <a:ext uri="{FF2B5EF4-FFF2-40B4-BE49-F238E27FC236}">
                <a16:creationId xmlns:a16="http://schemas.microsoft.com/office/drawing/2014/main" id="{25DFB38D-539E-2453-1D7B-FF612457F05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5BACB7-5FBE-4DE4-83A1-243B91D8EF10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15, 2025</a:t>
            </a:fld>
            <a:endParaRPr lang="en-US" altLang="en-US" sz="1200"/>
          </a:p>
        </p:txBody>
      </p:sp>
      <p:sp>
        <p:nvSpPr>
          <p:cNvPr id="6147" name="Footer Placeholder 4">
            <a:extLst>
              <a:ext uri="{FF2B5EF4-FFF2-40B4-BE49-F238E27FC236}">
                <a16:creationId xmlns:a16="http://schemas.microsoft.com/office/drawing/2014/main" id="{BAC3D88E-733D-6A64-68AD-1746E283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Data Mining: Concepts and Techniques</a:t>
            </a:r>
          </a:p>
        </p:txBody>
      </p:sp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0CDCD1F4-4032-BC8E-BE66-4C6B5FF2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201DE9-3A35-4632-8DE6-24DE5A3E0C6B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723D85A5-C0A9-553C-E672-FC142448F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600" y="155575"/>
            <a:ext cx="7543800" cy="1066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dirty="0"/>
              <a:t>Syllabus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DD0D5-E688-5BB2-7DE0-7E5E0E4B0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1" y="-6832"/>
            <a:ext cx="2666999" cy="6709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622CB8-4C75-D73A-4477-A0D69F9A1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31" y="1685278"/>
            <a:ext cx="8426969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439212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>
            <a:extLst>
              <a:ext uri="{FF2B5EF4-FFF2-40B4-BE49-F238E27FC236}">
                <a16:creationId xmlns:a16="http://schemas.microsoft.com/office/drawing/2014/main" id="{25DFB38D-539E-2453-1D7B-FF612457F05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5BACB7-5FBE-4DE4-83A1-243B91D8EF10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15, 2025</a:t>
            </a:fld>
            <a:endParaRPr lang="en-US" altLang="en-US" sz="1200"/>
          </a:p>
        </p:txBody>
      </p:sp>
      <p:sp>
        <p:nvSpPr>
          <p:cNvPr id="6147" name="Footer Placeholder 4">
            <a:extLst>
              <a:ext uri="{FF2B5EF4-FFF2-40B4-BE49-F238E27FC236}">
                <a16:creationId xmlns:a16="http://schemas.microsoft.com/office/drawing/2014/main" id="{BAC3D88E-733D-6A64-68AD-1746E283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Data Mining: Concepts and Techniques</a:t>
            </a:r>
          </a:p>
        </p:txBody>
      </p:sp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0CDCD1F4-4032-BC8E-BE66-4C6B5FF2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201DE9-3A35-4632-8DE6-24DE5A3E0C6B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723D85A5-C0A9-553C-E672-FC142448F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600" y="155575"/>
            <a:ext cx="7543800" cy="1066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4000" b="1" dirty="0"/>
              <a:t>Data vs. Information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DD0D5-E688-5BB2-7DE0-7E5E0E4B0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1" y="-6832"/>
            <a:ext cx="2666999" cy="6709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75C029-009D-E1C6-5831-C22D32B76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19" y="1384782"/>
            <a:ext cx="8121161" cy="2590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019548-910A-11A7-CAB9-89E1DAB5828C}"/>
              </a:ext>
            </a:extLst>
          </p:cNvPr>
          <p:cNvSpPr txBox="1"/>
          <p:nvPr/>
        </p:nvSpPr>
        <p:spPr>
          <a:xfrm>
            <a:off x="685800" y="3646944"/>
            <a:ext cx="812116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</a:rPr>
              <a:t>Example:</a:t>
            </a:r>
          </a:p>
          <a:p>
            <a:pPr algn="just"/>
            <a:r>
              <a:rPr lang="en-US" dirty="0"/>
              <a:t>	A list of exam scores (85, 92, 78, 95, 88) is </a:t>
            </a:r>
            <a:r>
              <a:rPr lang="en-US" dirty="0">
                <a:solidFill>
                  <a:srgbClr val="FF0000"/>
                </a:solidFill>
              </a:rPr>
              <a:t>data.</a:t>
            </a:r>
          </a:p>
          <a:p>
            <a:pPr algn="just"/>
            <a:r>
              <a:rPr lang="en-US" dirty="0"/>
              <a:t>	The average score (87.6), highest score (95), or pass/fail status derived from that list is </a:t>
            </a:r>
            <a:r>
              <a:rPr lang="en-US" dirty="0">
                <a:solidFill>
                  <a:srgbClr val="FF0000"/>
                </a:solidFill>
              </a:rPr>
              <a:t>information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76589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>
            <a:extLst>
              <a:ext uri="{FF2B5EF4-FFF2-40B4-BE49-F238E27FC236}">
                <a16:creationId xmlns:a16="http://schemas.microsoft.com/office/drawing/2014/main" id="{25DFB38D-539E-2453-1D7B-FF612457F05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5BACB7-5FBE-4DE4-83A1-243B91D8EF10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15, 2025</a:t>
            </a:fld>
            <a:endParaRPr lang="en-US" altLang="en-US" sz="1200"/>
          </a:p>
        </p:txBody>
      </p:sp>
      <p:sp>
        <p:nvSpPr>
          <p:cNvPr id="6147" name="Footer Placeholder 4">
            <a:extLst>
              <a:ext uri="{FF2B5EF4-FFF2-40B4-BE49-F238E27FC236}">
                <a16:creationId xmlns:a16="http://schemas.microsoft.com/office/drawing/2014/main" id="{BAC3D88E-733D-6A64-68AD-1746E283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Data Mining: Concepts and Techniques</a:t>
            </a:r>
          </a:p>
        </p:txBody>
      </p:sp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0CDCD1F4-4032-BC8E-BE66-4C6B5FF2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201DE9-3A35-4632-8DE6-24DE5A3E0C6B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723D85A5-C0A9-553C-E672-FC142448F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600" y="155575"/>
            <a:ext cx="7543800" cy="1066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5400" b="1" dirty="0"/>
              <a:t>Data Analytics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DD0D5-E688-5BB2-7DE0-7E5E0E4B0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1" y="-6832"/>
            <a:ext cx="2666999" cy="6709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A573A2-C412-C311-296D-20042BCFB908}"/>
              </a:ext>
            </a:extLst>
          </p:cNvPr>
          <p:cNvSpPr txBox="1"/>
          <p:nvPr/>
        </p:nvSpPr>
        <p:spPr>
          <a:xfrm>
            <a:off x="304800" y="1699105"/>
            <a:ext cx="8686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	Data analytics is the process of examining raw data to identify trends, patterns, and insights that can be used to make informed decisions and solve problems.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	It involves collecting, cleaning, transforming, and analyzing data using various techniques to extract meaningful information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1819500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BFA27-C3AE-B923-9F84-F480E1D74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>
            <a:extLst>
              <a:ext uri="{FF2B5EF4-FFF2-40B4-BE49-F238E27FC236}">
                <a16:creationId xmlns:a16="http://schemas.microsoft.com/office/drawing/2014/main" id="{9E0A026F-2FB4-8EB1-D0C6-F4423219122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5BACB7-5FBE-4DE4-83A1-243B91D8EF10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15, 2025</a:t>
            </a:fld>
            <a:endParaRPr lang="en-US" altLang="en-US" sz="1200"/>
          </a:p>
        </p:txBody>
      </p:sp>
      <p:sp>
        <p:nvSpPr>
          <p:cNvPr id="6147" name="Footer Placeholder 4">
            <a:extLst>
              <a:ext uri="{FF2B5EF4-FFF2-40B4-BE49-F238E27FC236}">
                <a16:creationId xmlns:a16="http://schemas.microsoft.com/office/drawing/2014/main" id="{CEFE7527-B358-F3A1-1B5F-852FAC938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Data Mining: Concepts and Techniques</a:t>
            </a:r>
          </a:p>
        </p:txBody>
      </p:sp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74D73A76-7CE4-A87B-3536-C7FB5F9B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201DE9-3A35-4632-8DE6-24DE5A3E0C6B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91E3F830-74F0-8600-A626-A2C5DA32A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600" y="155575"/>
            <a:ext cx="7543800" cy="1066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5400" b="1" dirty="0"/>
              <a:t>Data Analytics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AFA577-0CAF-3CC1-2621-D81EA7868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1" y="-6832"/>
            <a:ext cx="2666999" cy="670996"/>
          </a:xfrm>
          <a:prstGeom prst="rect">
            <a:avLst/>
          </a:prstGeom>
        </p:spPr>
      </p:pic>
      <p:pic>
        <p:nvPicPr>
          <p:cNvPr id="2" name="Picture 2" descr="Unlocking Data Analytics: Harnessing Insights for Business Success">
            <a:extLst>
              <a:ext uri="{FF2B5EF4-FFF2-40B4-BE49-F238E27FC236}">
                <a16:creationId xmlns:a16="http://schemas.microsoft.com/office/drawing/2014/main" id="{0CF3E665-9649-2501-B025-E867EA446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9482"/>
            <a:ext cx="9144000" cy="5177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024723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>
            <a:extLst>
              <a:ext uri="{FF2B5EF4-FFF2-40B4-BE49-F238E27FC236}">
                <a16:creationId xmlns:a16="http://schemas.microsoft.com/office/drawing/2014/main" id="{25DFB38D-539E-2453-1D7B-FF612457F05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5BACB7-5FBE-4DE4-83A1-243B91D8EF10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15, 2025</a:t>
            </a:fld>
            <a:endParaRPr lang="en-US" altLang="en-US" sz="1200"/>
          </a:p>
        </p:txBody>
      </p:sp>
      <p:sp>
        <p:nvSpPr>
          <p:cNvPr id="6147" name="Footer Placeholder 4">
            <a:extLst>
              <a:ext uri="{FF2B5EF4-FFF2-40B4-BE49-F238E27FC236}">
                <a16:creationId xmlns:a16="http://schemas.microsoft.com/office/drawing/2014/main" id="{BAC3D88E-733D-6A64-68AD-1746E283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Data Mining: Concepts and Techniques</a:t>
            </a:r>
          </a:p>
        </p:txBody>
      </p:sp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0CDCD1F4-4032-BC8E-BE66-4C6B5FF2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201DE9-3A35-4632-8DE6-24DE5A3E0C6B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723D85A5-C0A9-553C-E672-FC142448F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600" y="155575"/>
            <a:ext cx="7543800" cy="1066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5400" b="1" dirty="0"/>
              <a:t>Data Science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DD0D5-E688-5BB2-7DE0-7E5E0E4B0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1" y="-6832"/>
            <a:ext cx="2666999" cy="670996"/>
          </a:xfrm>
          <a:prstGeom prst="rect">
            <a:avLst/>
          </a:prstGeom>
        </p:spPr>
      </p:pic>
      <p:pic>
        <p:nvPicPr>
          <p:cNvPr id="2" name="Picture 2" descr="What is the Scope of Data Science | Benefits and Advantage of Data Science  Course- FORE">
            <a:extLst>
              <a:ext uri="{FF2B5EF4-FFF2-40B4-BE49-F238E27FC236}">
                <a16:creationId xmlns:a16="http://schemas.microsoft.com/office/drawing/2014/main" id="{1912086D-BD88-5785-C966-E2B3F3CED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437144"/>
            <a:ext cx="5562362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FF5C75-2774-AA6E-4652-D3A34D9920B3}"/>
              </a:ext>
            </a:extLst>
          </p:cNvPr>
          <p:cNvSpPr txBox="1"/>
          <p:nvPr/>
        </p:nvSpPr>
        <p:spPr>
          <a:xfrm>
            <a:off x="533400" y="4024769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i="0" dirty="0">
                <a:solidFill>
                  <a:srgbClr val="202124"/>
                </a:solidFill>
                <a:effectLst/>
                <a:latin typeface="Google Sans"/>
              </a:rPr>
              <a:t>Data science is </a:t>
            </a:r>
            <a:r>
              <a:rPr lang="en-US" sz="2800" i="0" dirty="0">
                <a:solidFill>
                  <a:srgbClr val="040C28"/>
                </a:solidFill>
                <a:effectLst/>
                <a:latin typeface="Google Sans"/>
              </a:rPr>
              <a:t>the study of data to extract meaningful   insights for business</a:t>
            </a:r>
            <a:r>
              <a:rPr lang="en-US" sz="2800" i="0" dirty="0">
                <a:solidFill>
                  <a:srgbClr val="202124"/>
                </a:solidFill>
                <a:effectLst/>
                <a:latin typeface="Google Sans"/>
              </a:rPr>
              <a:t>. It is a multidisciplinary approach      that combines principles and practices from the fields   of mathematics, statistics, artificial intelligence, and           computer engineering to analyze large amounts of data.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71302937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>
            <a:extLst>
              <a:ext uri="{FF2B5EF4-FFF2-40B4-BE49-F238E27FC236}">
                <a16:creationId xmlns:a16="http://schemas.microsoft.com/office/drawing/2014/main" id="{25DFB38D-539E-2453-1D7B-FF612457F05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5BACB7-5FBE-4DE4-83A1-243B91D8EF10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15, 2025</a:t>
            </a:fld>
            <a:endParaRPr lang="en-US" altLang="en-US" sz="1200"/>
          </a:p>
        </p:txBody>
      </p:sp>
      <p:sp>
        <p:nvSpPr>
          <p:cNvPr id="6147" name="Footer Placeholder 4">
            <a:extLst>
              <a:ext uri="{FF2B5EF4-FFF2-40B4-BE49-F238E27FC236}">
                <a16:creationId xmlns:a16="http://schemas.microsoft.com/office/drawing/2014/main" id="{BAC3D88E-733D-6A64-68AD-1746E283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Data Mining: Concepts and Techniques</a:t>
            </a:r>
          </a:p>
        </p:txBody>
      </p:sp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0CDCD1F4-4032-BC8E-BE66-4C6B5FF2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201DE9-3A35-4632-8DE6-24DE5A3E0C6B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723D85A5-C0A9-553C-E672-FC142448F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600" y="155574"/>
            <a:ext cx="8102600" cy="1292225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4000" b="1" dirty="0"/>
              <a:t>Data Science Vs Data Analytics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DD0D5-E688-5BB2-7DE0-7E5E0E4B0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1" y="-6832"/>
            <a:ext cx="2666999" cy="6709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5BD792-3F6A-80AA-72DB-53FD5700EF78}"/>
              </a:ext>
            </a:extLst>
          </p:cNvPr>
          <p:cNvSpPr txBox="1"/>
          <p:nvPr/>
        </p:nvSpPr>
        <p:spPr>
          <a:xfrm>
            <a:off x="254000" y="1844401"/>
            <a:ext cx="83058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600" dirty="0"/>
              <a:t>	Data science and data analytics are related fields focused on </a:t>
            </a:r>
            <a:r>
              <a:rPr lang="en-US" sz="2600" dirty="0">
                <a:solidFill>
                  <a:srgbClr val="FF0000"/>
                </a:solidFill>
              </a:rPr>
              <a:t>extracting insights from data</a:t>
            </a:r>
            <a:r>
              <a:rPr lang="en-US" sz="2600" dirty="0"/>
              <a:t>, but they differ in scope and objectives. 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600" dirty="0"/>
              <a:t>	Data science is a broader field that encompasses data analytics, using advanced techniques like machine learning and predictive modeling to build models and solve complex problems. 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600" dirty="0"/>
              <a:t>	Data analytics, on the other hand, focuses on analyzing historical data to understand past trends and inform current business decisions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90126658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>
            <a:extLst>
              <a:ext uri="{FF2B5EF4-FFF2-40B4-BE49-F238E27FC236}">
                <a16:creationId xmlns:a16="http://schemas.microsoft.com/office/drawing/2014/main" id="{25DFB38D-539E-2453-1D7B-FF612457F05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5BACB7-5FBE-4DE4-83A1-243B91D8EF10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15, 2025</a:t>
            </a:fld>
            <a:endParaRPr lang="en-US" altLang="en-US" sz="1200"/>
          </a:p>
        </p:txBody>
      </p:sp>
      <p:sp>
        <p:nvSpPr>
          <p:cNvPr id="6147" name="Footer Placeholder 4">
            <a:extLst>
              <a:ext uri="{FF2B5EF4-FFF2-40B4-BE49-F238E27FC236}">
                <a16:creationId xmlns:a16="http://schemas.microsoft.com/office/drawing/2014/main" id="{BAC3D88E-733D-6A64-68AD-1746E283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Data Mining: Concepts and Techniques</a:t>
            </a:r>
          </a:p>
        </p:txBody>
      </p:sp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0CDCD1F4-4032-BC8E-BE66-4C6B5FF2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201DE9-3A35-4632-8DE6-24DE5A3E0C6B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723D85A5-C0A9-553C-E672-FC142448F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600" y="155575"/>
            <a:ext cx="7543800" cy="1066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4000" b="1" dirty="0"/>
              <a:t>Datasets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DD0D5-E688-5BB2-7DE0-7E5E0E4B0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1" y="-6832"/>
            <a:ext cx="2666999" cy="6709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43EEB4-017E-BE6F-88FC-C6AA007D3E1E}"/>
              </a:ext>
            </a:extLst>
          </p:cNvPr>
          <p:cNvSpPr txBox="1"/>
          <p:nvPr/>
        </p:nvSpPr>
        <p:spPr>
          <a:xfrm>
            <a:off x="152400" y="1483639"/>
            <a:ext cx="838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A data set (or dataset) is </a:t>
            </a:r>
            <a:r>
              <a:rPr lang="en-US" sz="2400" b="0" i="0" dirty="0">
                <a:solidFill>
                  <a:srgbClr val="040C28"/>
                </a:solidFill>
                <a:effectLst/>
                <a:latin typeface="Google Sans"/>
              </a:rPr>
              <a:t>a collection of data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. In the case of tabular data, a data set corresponds to one or more database tables,         where every column of a table represents a particular variable,      and each row corresponds to a given record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5D3F12-8E25-7CFD-A999-B5A999887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743" y="3178172"/>
            <a:ext cx="2514600" cy="2373594"/>
          </a:xfrm>
          <a:prstGeom prst="rect">
            <a:avLst/>
          </a:prstGeom>
        </p:spPr>
      </p:pic>
      <p:pic>
        <p:nvPicPr>
          <p:cNvPr id="7" name="Picture 2" descr="Dataset">
            <a:extLst>
              <a:ext uri="{FF2B5EF4-FFF2-40B4-BE49-F238E27FC236}">
                <a16:creationId xmlns:a16="http://schemas.microsoft.com/office/drawing/2014/main" id="{CC24B852-4321-B2EA-8F41-43BAB39CF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58282"/>
            <a:ext cx="6096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13032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>
            <a:extLst>
              <a:ext uri="{FF2B5EF4-FFF2-40B4-BE49-F238E27FC236}">
                <a16:creationId xmlns:a16="http://schemas.microsoft.com/office/drawing/2014/main" id="{25DFB38D-539E-2453-1D7B-FF612457F05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5BACB7-5FBE-4DE4-83A1-243B91D8EF10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15, 2025</a:t>
            </a:fld>
            <a:endParaRPr lang="en-US" altLang="en-US" sz="1200"/>
          </a:p>
        </p:txBody>
      </p:sp>
      <p:sp>
        <p:nvSpPr>
          <p:cNvPr id="6147" name="Footer Placeholder 4">
            <a:extLst>
              <a:ext uri="{FF2B5EF4-FFF2-40B4-BE49-F238E27FC236}">
                <a16:creationId xmlns:a16="http://schemas.microsoft.com/office/drawing/2014/main" id="{BAC3D88E-733D-6A64-68AD-1746E283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Data Mining: Concepts and Techniques</a:t>
            </a:r>
          </a:p>
        </p:txBody>
      </p:sp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0CDCD1F4-4032-BC8E-BE66-4C6B5FF2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201DE9-3A35-4632-8DE6-24DE5A3E0C6B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723D85A5-C0A9-553C-E672-FC142448F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600" y="155575"/>
            <a:ext cx="7543800" cy="1066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4000" b="1" dirty="0" err="1"/>
              <a:t>Dataframe</a:t>
            </a:r>
            <a:r>
              <a:rPr lang="en-US" altLang="en-US" sz="4000" b="1" dirty="0"/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DD0D5-E688-5BB2-7DE0-7E5E0E4B0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1" y="-6832"/>
            <a:ext cx="2666999" cy="6709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DA76E2-A752-F53C-38AA-53248E7D6C77}"/>
              </a:ext>
            </a:extLst>
          </p:cNvPr>
          <p:cNvSpPr txBox="1"/>
          <p:nvPr/>
        </p:nvSpPr>
        <p:spPr>
          <a:xfrm>
            <a:off x="254000" y="1692735"/>
            <a:ext cx="8534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A </a:t>
            </a:r>
            <a:r>
              <a:rPr lang="en-US" sz="2400" b="0" i="0" dirty="0" err="1">
                <a:solidFill>
                  <a:srgbClr val="202124"/>
                </a:solidFill>
                <a:effectLst/>
                <a:latin typeface="Google Sans"/>
              </a:rPr>
              <a:t>DataFrame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 is </a:t>
            </a:r>
            <a:r>
              <a:rPr lang="en-US" sz="2400" b="0" i="0" dirty="0">
                <a:solidFill>
                  <a:srgbClr val="040C28"/>
                </a:solidFill>
                <a:effectLst/>
                <a:latin typeface="Google Sans"/>
              </a:rPr>
              <a:t>a data structure that organizes data into a                   2-dimensional table of rows and columns, like a spreadsheet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Google Sans"/>
              </a:rPr>
              <a:t> </a:t>
            </a: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3BE73F-829E-2440-FCF9-76DF326DF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2850888"/>
            <a:ext cx="64389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163965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>
            <a:extLst>
              <a:ext uri="{FF2B5EF4-FFF2-40B4-BE49-F238E27FC236}">
                <a16:creationId xmlns:a16="http://schemas.microsoft.com/office/drawing/2014/main" id="{25DFB38D-539E-2453-1D7B-FF612457F05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5BACB7-5FBE-4DE4-83A1-243B91D8EF10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15, 2025</a:t>
            </a:fld>
            <a:endParaRPr lang="en-US" altLang="en-US" sz="1200"/>
          </a:p>
        </p:txBody>
      </p:sp>
      <p:sp>
        <p:nvSpPr>
          <p:cNvPr id="6147" name="Footer Placeholder 4">
            <a:extLst>
              <a:ext uri="{FF2B5EF4-FFF2-40B4-BE49-F238E27FC236}">
                <a16:creationId xmlns:a16="http://schemas.microsoft.com/office/drawing/2014/main" id="{BAC3D88E-733D-6A64-68AD-1746E283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Data Mining: Concepts and Techniques</a:t>
            </a:r>
          </a:p>
        </p:txBody>
      </p:sp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0CDCD1F4-4032-BC8E-BE66-4C6B5FF2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201DE9-3A35-4632-8DE6-24DE5A3E0C6B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723D85A5-C0A9-553C-E672-FC142448F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600" y="155575"/>
            <a:ext cx="7543800" cy="1066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4000" b="1" dirty="0"/>
              <a:t>Big Data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DD0D5-E688-5BB2-7DE0-7E5E0E4B0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1" y="-6832"/>
            <a:ext cx="2666999" cy="6709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583A07-C8A6-EA5E-045E-08E72B2CB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384782"/>
            <a:ext cx="5867400" cy="514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99481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>
            <a:extLst>
              <a:ext uri="{FF2B5EF4-FFF2-40B4-BE49-F238E27FC236}">
                <a16:creationId xmlns:a16="http://schemas.microsoft.com/office/drawing/2014/main" id="{25DFB38D-539E-2453-1D7B-FF612457F05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5BACB7-5FBE-4DE4-83A1-243B91D8EF10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15, 2025</a:t>
            </a:fld>
            <a:endParaRPr lang="en-US" altLang="en-US" sz="1200"/>
          </a:p>
        </p:txBody>
      </p:sp>
      <p:sp>
        <p:nvSpPr>
          <p:cNvPr id="6147" name="Footer Placeholder 4">
            <a:extLst>
              <a:ext uri="{FF2B5EF4-FFF2-40B4-BE49-F238E27FC236}">
                <a16:creationId xmlns:a16="http://schemas.microsoft.com/office/drawing/2014/main" id="{BAC3D88E-733D-6A64-68AD-1746E283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Data Mining: Concepts and Techniques</a:t>
            </a:r>
          </a:p>
        </p:txBody>
      </p:sp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0CDCD1F4-4032-BC8E-BE66-4C6B5FF2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201DE9-3A35-4632-8DE6-24DE5A3E0C6B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723D85A5-C0A9-553C-E672-FC142448F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600" y="155575"/>
            <a:ext cx="7543800" cy="1066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4000" b="1" dirty="0"/>
              <a:t>Machine Learning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DD0D5-E688-5BB2-7DE0-7E5E0E4B0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1" y="-6832"/>
            <a:ext cx="2666999" cy="67099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2620678-945F-D6EF-6192-F242AE977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1" y="1524941"/>
            <a:ext cx="3905250" cy="25941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A3A295-D0F6-6494-FAE3-2DCFB19EA3C4}"/>
              </a:ext>
            </a:extLst>
          </p:cNvPr>
          <p:cNvSpPr txBox="1"/>
          <p:nvPr/>
        </p:nvSpPr>
        <p:spPr>
          <a:xfrm>
            <a:off x="742951" y="4202825"/>
            <a:ext cx="7772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dirty="0">
                <a:solidFill>
                  <a:srgbClr val="16161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is a branch of </a:t>
            </a:r>
            <a:r>
              <a:rPr lang="en-US" sz="2400" b="0" i="0" u="none" strike="noStrike" dirty="0">
                <a:solidFill>
                  <a:srgbClr val="0062F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artificial intelligence (AI)</a:t>
            </a:r>
            <a:r>
              <a:rPr lang="en-US" sz="2400" b="0" i="0" dirty="0">
                <a:solidFill>
                  <a:srgbClr val="16161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computer science which focuses on the use of data and           algorithms to imitate the way that humans learn, gradually       improving its accuracy.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713492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685800" y="1254542"/>
            <a:ext cx="8057290" cy="5610832"/>
          </a:xfrm>
          <a:prstGeom prst="rect">
            <a:avLst/>
          </a:prstGeom>
        </p:spPr>
        <p:txBody>
          <a:bodyPr vert="horz" wrap="square" lIns="0" tIns="1086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01359" indent="-290499">
              <a:lnSpc>
                <a:spcPct val="150000"/>
              </a:lnSpc>
              <a:spcBef>
                <a:spcPts val="86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01359" algn="l"/>
              </a:tabLst>
            </a:pPr>
            <a:r>
              <a:rPr dirty="0" err="1"/>
              <a:t>Wh</a:t>
            </a:r>
            <a:r>
              <a:rPr lang="en-IN" dirty="0"/>
              <a:t>at Is</a:t>
            </a:r>
            <a:r>
              <a:rPr spc="30" dirty="0"/>
              <a:t> </a:t>
            </a:r>
            <a:r>
              <a:rPr dirty="0"/>
              <a:t>Data</a:t>
            </a:r>
            <a:r>
              <a:rPr spc="30" dirty="0"/>
              <a:t> </a:t>
            </a:r>
            <a:r>
              <a:rPr spc="-9" dirty="0"/>
              <a:t>Mining?</a:t>
            </a:r>
          </a:p>
          <a:p>
            <a:pPr marL="301359" indent="-290499">
              <a:lnSpc>
                <a:spcPct val="15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01359" algn="l"/>
              </a:tabLst>
            </a:pPr>
            <a:r>
              <a:rPr dirty="0" err="1"/>
              <a:t>Wh</a:t>
            </a:r>
            <a:r>
              <a:rPr lang="en-IN" dirty="0"/>
              <a:t>y</a:t>
            </a:r>
            <a:r>
              <a:rPr spc="51" dirty="0"/>
              <a:t> </a:t>
            </a:r>
            <a:r>
              <a:rPr dirty="0"/>
              <a:t>Data</a:t>
            </a:r>
            <a:r>
              <a:rPr spc="47" dirty="0"/>
              <a:t> </a:t>
            </a:r>
            <a:r>
              <a:rPr spc="-9" dirty="0"/>
              <a:t>Mining?</a:t>
            </a:r>
          </a:p>
          <a:p>
            <a:pPr marL="301359" indent="-290499">
              <a:lnSpc>
                <a:spcPct val="15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01359" algn="l"/>
              </a:tabLst>
            </a:pPr>
            <a:r>
              <a:rPr dirty="0"/>
              <a:t>What</a:t>
            </a:r>
            <a:r>
              <a:rPr spc="38" dirty="0"/>
              <a:t> </a:t>
            </a:r>
            <a:r>
              <a:rPr dirty="0"/>
              <a:t>Kind</a:t>
            </a:r>
            <a:r>
              <a:rPr spc="51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dirty="0"/>
              <a:t>Data</a:t>
            </a:r>
            <a:r>
              <a:rPr spc="43" dirty="0"/>
              <a:t> </a:t>
            </a:r>
            <a:r>
              <a:rPr dirty="0"/>
              <a:t>Can</a:t>
            </a:r>
            <a:r>
              <a:rPr spc="43" dirty="0"/>
              <a:t> </a:t>
            </a:r>
            <a:r>
              <a:rPr dirty="0"/>
              <a:t>Be</a:t>
            </a:r>
            <a:r>
              <a:rPr spc="43" dirty="0"/>
              <a:t> </a:t>
            </a:r>
            <a:r>
              <a:rPr spc="-9" dirty="0"/>
              <a:t>Mined?</a:t>
            </a:r>
          </a:p>
          <a:p>
            <a:pPr marL="301359" indent="-290499">
              <a:lnSpc>
                <a:spcPct val="150000"/>
              </a:lnSpc>
              <a:spcBef>
                <a:spcPts val="4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01359" algn="l"/>
              </a:tabLst>
            </a:pPr>
            <a:r>
              <a:rPr dirty="0"/>
              <a:t>What</a:t>
            </a:r>
            <a:r>
              <a:rPr spc="43" dirty="0"/>
              <a:t> </a:t>
            </a:r>
            <a:r>
              <a:rPr dirty="0"/>
              <a:t>Kinds</a:t>
            </a:r>
            <a:r>
              <a:rPr spc="47" dirty="0"/>
              <a:t> </a:t>
            </a:r>
            <a:r>
              <a:rPr dirty="0"/>
              <a:t>of</a:t>
            </a:r>
            <a:r>
              <a:rPr spc="34" dirty="0"/>
              <a:t> </a:t>
            </a:r>
            <a:r>
              <a:rPr dirty="0"/>
              <a:t>Patterns</a:t>
            </a:r>
            <a:r>
              <a:rPr spc="47" dirty="0"/>
              <a:t> </a:t>
            </a:r>
            <a:r>
              <a:rPr dirty="0"/>
              <a:t>Can</a:t>
            </a:r>
            <a:r>
              <a:rPr spc="47" dirty="0"/>
              <a:t> </a:t>
            </a:r>
            <a:r>
              <a:rPr dirty="0"/>
              <a:t>Be</a:t>
            </a:r>
            <a:r>
              <a:rPr spc="47" dirty="0"/>
              <a:t> </a:t>
            </a:r>
            <a:r>
              <a:rPr spc="-9" dirty="0"/>
              <a:t>Mined?</a:t>
            </a:r>
          </a:p>
          <a:p>
            <a:pPr marL="301359" indent="-290499">
              <a:lnSpc>
                <a:spcPct val="15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01359" algn="l"/>
              </a:tabLst>
            </a:pPr>
            <a:r>
              <a:rPr dirty="0"/>
              <a:t>Which</a:t>
            </a:r>
            <a:r>
              <a:rPr spc="26" dirty="0"/>
              <a:t> </a:t>
            </a:r>
            <a:r>
              <a:rPr dirty="0"/>
              <a:t>Technologies</a:t>
            </a:r>
            <a:r>
              <a:rPr spc="30" dirty="0"/>
              <a:t> </a:t>
            </a:r>
            <a:r>
              <a:rPr dirty="0"/>
              <a:t>Are</a:t>
            </a:r>
            <a:r>
              <a:rPr spc="30" dirty="0"/>
              <a:t> </a:t>
            </a:r>
            <a:r>
              <a:rPr spc="-17" dirty="0"/>
              <a:t>Used?</a:t>
            </a:r>
          </a:p>
          <a:p>
            <a:pPr marL="301359" indent="-290499">
              <a:lnSpc>
                <a:spcPct val="15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01359" algn="l"/>
              </a:tabLst>
            </a:pPr>
            <a:r>
              <a:rPr dirty="0"/>
              <a:t>Which</a:t>
            </a:r>
            <a:r>
              <a:rPr spc="56" dirty="0"/>
              <a:t> </a:t>
            </a:r>
            <a:r>
              <a:rPr dirty="0"/>
              <a:t>Kinds</a:t>
            </a:r>
            <a:r>
              <a:rPr spc="60" dirty="0"/>
              <a:t> </a:t>
            </a:r>
            <a:r>
              <a:rPr dirty="0"/>
              <a:t>of</a:t>
            </a:r>
            <a:r>
              <a:rPr spc="47" dirty="0"/>
              <a:t> </a:t>
            </a:r>
            <a:r>
              <a:rPr dirty="0"/>
              <a:t>Applications</a:t>
            </a:r>
            <a:r>
              <a:rPr spc="56" dirty="0"/>
              <a:t> </a:t>
            </a:r>
            <a:r>
              <a:rPr dirty="0"/>
              <a:t>Are</a:t>
            </a:r>
            <a:r>
              <a:rPr spc="60" dirty="0"/>
              <a:t> </a:t>
            </a:r>
            <a:r>
              <a:rPr spc="-9" dirty="0"/>
              <a:t>Targeted?</a:t>
            </a:r>
          </a:p>
          <a:p>
            <a:pPr marL="301359" indent="-290499">
              <a:lnSpc>
                <a:spcPct val="15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01359" algn="l"/>
              </a:tabLst>
            </a:pPr>
            <a:r>
              <a:rPr dirty="0"/>
              <a:t>Major</a:t>
            </a:r>
            <a:r>
              <a:rPr spc="60" dirty="0"/>
              <a:t> </a:t>
            </a:r>
            <a:r>
              <a:rPr dirty="0"/>
              <a:t>Issues</a:t>
            </a:r>
            <a:r>
              <a:rPr spc="68" dirty="0"/>
              <a:t> </a:t>
            </a:r>
            <a:r>
              <a:rPr dirty="0"/>
              <a:t>in</a:t>
            </a:r>
            <a:r>
              <a:rPr spc="64" dirty="0"/>
              <a:t> </a:t>
            </a:r>
            <a:r>
              <a:rPr dirty="0"/>
              <a:t>Data</a:t>
            </a:r>
            <a:r>
              <a:rPr spc="64" dirty="0"/>
              <a:t> </a:t>
            </a:r>
            <a:r>
              <a:rPr spc="-9" dirty="0"/>
              <a:t>Mining</a:t>
            </a:r>
          </a:p>
          <a:p>
            <a:pPr marL="301359" indent="-290499">
              <a:lnSpc>
                <a:spcPct val="150000"/>
              </a:lnSpc>
              <a:buClr>
                <a:srgbClr val="DA1F28"/>
              </a:buClr>
              <a:buSzPct val="63157"/>
              <a:buFont typeface="Wingdings"/>
              <a:buChar char=""/>
              <a:tabLst>
                <a:tab pos="301359" algn="l"/>
              </a:tabLst>
            </a:pPr>
            <a:r>
              <a:rPr spc="-9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1910" y="182183"/>
            <a:ext cx="6663880" cy="925523"/>
          </a:xfrm>
          <a:prstGeom prst="rect">
            <a:avLst/>
          </a:prstGeom>
        </p:spPr>
        <p:txBody>
          <a:bodyPr vert="horz" wrap="square" lIns="0" tIns="367932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1282539">
              <a:spcBef>
                <a:spcPts val="86"/>
              </a:spcBef>
            </a:pPr>
            <a:r>
              <a:rPr dirty="0"/>
              <a:t>Chapter</a:t>
            </a:r>
            <a:r>
              <a:rPr spc="-34" dirty="0"/>
              <a:t> </a:t>
            </a:r>
            <a:r>
              <a:rPr dirty="0"/>
              <a:t>1:</a:t>
            </a:r>
            <a:r>
              <a:rPr spc="-17" dirty="0"/>
              <a:t> </a:t>
            </a:r>
            <a:r>
              <a:rPr spc="-9" dirty="0"/>
              <a:t>Introduction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9618957" y="7140473"/>
            <a:ext cx="843915" cy="2491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3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0860">
              <a:spcBef>
                <a:spcPts val="21"/>
              </a:spcBef>
            </a:pPr>
            <a:r>
              <a:rPr lang="en-IN" sz="1500" b="0" spc="-10"/>
              <a:t>10/03/21</a:t>
            </a:r>
            <a:endParaRPr sz="1283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>
            <a:extLst>
              <a:ext uri="{FF2B5EF4-FFF2-40B4-BE49-F238E27FC236}">
                <a16:creationId xmlns:a16="http://schemas.microsoft.com/office/drawing/2014/main" id="{08375EBC-8229-7D8B-0B80-83D2040383D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9312A3-9D95-4108-8351-2ABA2342629F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15, 2025</a:t>
            </a:fld>
            <a:endParaRPr lang="en-US" altLang="en-US" sz="1200"/>
          </a:p>
        </p:txBody>
      </p:sp>
      <p:sp>
        <p:nvSpPr>
          <p:cNvPr id="7171" name="Footer Placeholder 4">
            <a:extLst>
              <a:ext uri="{FF2B5EF4-FFF2-40B4-BE49-F238E27FC236}">
                <a16:creationId xmlns:a16="http://schemas.microsoft.com/office/drawing/2014/main" id="{04D74EE3-7626-1F84-6CF0-38E3ADFB7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Data Mining: Concepts and Techniques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4C95DE19-F819-95BD-F770-40CC1D363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67BA1B-DA13-4DB1-A4DE-589317B0FD49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/>
          </a:p>
        </p:txBody>
      </p:sp>
      <p:sp>
        <p:nvSpPr>
          <p:cNvPr id="7173" name="Rectangle 2">
            <a:extLst>
              <a:ext uri="{FF2B5EF4-FFF2-40B4-BE49-F238E27FC236}">
                <a16:creationId xmlns:a16="http://schemas.microsoft.com/office/drawing/2014/main" id="{E5E72D43-C37B-AB2D-FCE0-1A3DF8D5B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0104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Introduction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  <p:pic>
        <p:nvPicPr>
          <p:cNvPr id="7175" name="Picture 6" descr="SASTRA_DEEMED_NEW.png">
            <a:extLst>
              <a:ext uri="{FF2B5EF4-FFF2-40B4-BE49-F238E27FC236}">
                <a16:creationId xmlns:a16="http://schemas.microsoft.com/office/drawing/2014/main" id="{D6E4735C-B10D-877C-31D5-0FEB6D447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73050"/>
            <a:ext cx="24384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9F8C44-475D-BDD1-7EE7-8C525BF60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" y="2124075"/>
            <a:ext cx="7896225" cy="2609850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>
            <a:extLst>
              <a:ext uri="{FF2B5EF4-FFF2-40B4-BE49-F238E27FC236}">
                <a16:creationId xmlns:a16="http://schemas.microsoft.com/office/drawing/2014/main" id="{08375EBC-8229-7D8B-0B80-83D2040383D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9312A3-9D95-4108-8351-2ABA2342629F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15, 2025</a:t>
            </a:fld>
            <a:endParaRPr lang="en-US" altLang="en-US" sz="1200"/>
          </a:p>
        </p:txBody>
      </p:sp>
      <p:sp>
        <p:nvSpPr>
          <p:cNvPr id="7171" name="Footer Placeholder 4">
            <a:extLst>
              <a:ext uri="{FF2B5EF4-FFF2-40B4-BE49-F238E27FC236}">
                <a16:creationId xmlns:a16="http://schemas.microsoft.com/office/drawing/2014/main" id="{04D74EE3-7626-1F84-6CF0-38E3ADFB7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Data Mining: Concepts and Techniques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4C95DE19-F819-95BD-F770-40CC1D363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67BA1B-DA13-4DB1-A4DE-589317B0FD49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/>
          </a:p>
        </p:txBody>
      </p:sp>
      <p:sp>
        <p:nvSpPr>
          <p:cNvPr id="7173" name="Rectangle 2">
            <a:extLst>
              <a:ext uri="{FF2B5EF4-FFF2-40B4-BE49-F238E27FC236}">
                <a16:creationId xmlns:a16="http://schemas.microsoft.com/office/drawing/2014/main" id="{E5E72D43-C37B-AB2D-FCE0-1A3DF8D5B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0104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 dirty="0">
                <a:solidFill>
                  <a:srgbClr val="FF0000"/>
                </a:solidFill>
              </a:rPr>
              <a:t>Introduction - What is Data mining?</a:t>
            </a:r>
          </a:p>
        </p:txBody>
      </p:sp>
      <p:pic>
        <p:nvPicPr>
          <p:cNvPr id="7175" name="Picture 6" descr="SASTRA_DEEMED_NEW.png">
            <a:extLst>
              <a:ext uri="{FF2B5EF4-FFF2-40B4-BE49-F238E27FC236}">
                <a16:creationId xmlns:a16="http://schemas.microsoft.com/office/drawing/2014/main" id="{D6E4735C-B10D-877C-31D5-0FEB6D447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73050"/>
            <a:ext cx="19050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422A3218-8637-DD2E-4FCC-1A095CE89D1D}"/>
              </a:ext>
            </a:extLst>
          </p:cNvPr>
          <p:cNvSpPr txBox="1"/>
          <p:nvPr/>
        </p:nvSpPr>
        <p:spPr>
          <a:xfrm>
            <a:off x="443796" y="1505898"/>
            <a:ext cx="8243004" cy="487858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52425" indent="-339725" algn="just">
              <a:lnSpc>
                <a:spcPct val="100000"/>
              </a:lnSpc>
              <a:spcBef>
                <a:spcPts val="91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800" dirty="0">
                <a:latin typeface="Cambria"/>
                <a:cs typeface="Cambria"/>
              </a:rPr>
              <a:t>Data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mining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(knowledge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discovery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from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data)</a:t>
            </a:r>
            <a:endParaRPr lang="en-IN" sz="1800" spc="-10" dirty="0">
              <a:latin typeface="Cambria"/>
              <a:cs typeface="Cambria"/>
            </a:endParaRPr>
          </a:p>
          <a:p>
            <a:pPr marL="812800" lvl="1" indent="-342900" algn="just">
              <a:spcBef>
                <a:spcPts val="915"/>
              </a:spcBef>
              <a:buClr>
                <a:srgbClr val="DA1F28"/>
              </a:buClr>
              <a:buSzPct val="63157"/>
              <a:buFont typeface="Wingdings" panose="05000000000000000000" pitchFamily="2" charset="2"/>
              <a:buChar char="Ø"/>
              <a:tabLst>
                <a:tab pos="352425" algn="l"/>
              </a:tabLst>
            </a:pP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discovering</a:t>
            </a:r>
            <a:r>
              <a:rPr sz="1800" spc="26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254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interesting</a:t>
            </a:r>
            <a:r>
              <a:rPr sz="1800" spc="26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(non-trivial,</a:t>
            </a:r>
            <a:r>
              <a:rPr sz="1800" spc="25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implicit,</a:t>
            </a:r>
            <a:r>
              <a:rPr sz="1800" spc="26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previously</a:t>
            </a:r>
            <a:r>
              <a:rPr sz="1800" spc="26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unknown</a:t>
            </a:r>
            <a:r>
              <a:rPr sz="1800" spc="265" dirty="0">
                <a:latin typeface="Cambria"/>
                <a:cs typeface="Cambria"/>
              </a:rPr>
              <a:t>  </a:t>
            </a:r>
            <a:r>
              <a:rPr sz="1800" spc="-25" dirty="0">
                <a:latin typeface="Cambria"/>
                <a:cs typeface="Cambria"/>
              </a:rPr>
              <a:t>and </a:t>
            </a:r>
            <a:r>
              <a:rPr sz="1800" dirty="0">
                <a:latin typeface="Cambria"/>
                <a:cs typeface="Cambria"/>
              </a:rPr>
              <a:t>potentially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useful)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patterns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knowledge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from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large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amount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data</a:t>
            </a:r>
            <a:endParaRPr sz="1800" dirty="0">
              <a:latin typeface="Cambria"/>
              <a:cs typeface="Cambria"/>
            </a:endParaRPr>
          </a:p>
          <a:p>
            <a:pPr marL="352425" indent="-339725" algn="just">
              <a:lnSpc>
                <a:spcPct val="100000"/>
              </a:lnSpc>
              <a:spcBef>
                <a:spcPts val="122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800" dirty="0">
                <a:latin typeface="Cambria"/>
                <a:cs typeface="Cambria"/>
              </a:rPr>
              <a:t>Alternative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names</a:t>
            </a:r>
            <a:endParaRPr sz="1800" dirty="0">
              <a:latin typeface="Cambria"/>
              <a:cs typeface="Cambria"/>
            </a:endParaRPr>
          </a:p>
          <a:p>
            <a:pPr marL="748030" marR="5080" indent="-342900" algn="just">
              <a:lnSpc>
                <a:spcPct val="114199"/>
              </a:lnSpc>
              <a:spcBef>
                <a:spcPts val="1090"/>
              </a:spcBef>
              <a:buFont typeface="Wingdings" panose="05000000000000000000" pitchFamily="2" charset="2"/>
              <a:buChar char="Ø"/>
            </a:pPr>
            <a:r>
              <a:rPr sz="1800" dirty="0">
                <a:latin typeface="Cambria"/>
                <a:cs typeface="Cambria"/>
              </a:rPr>
              <a:t>Knowledge</a:t>
            </a:r>
            <a:r>
              <a:rPr sz="1800" spc="16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discovery</a:t>
            </a:r>
            <a:r>
              <a:rPr sz="1800" spc="16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(mining)</a:t>
            </a:r>
            <a:r>
              <a:rPr sz="1800" spc="16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in</a:t>
            </a:r>
            <a:r>
              <a:rPr sz="1800" spc="16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databases</a:t>
            </a:r>
            <a:r>
              <a:rPr sz="1800" spc="165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(KDD),</a:t>
            </a:r>
            <a:r>
              <a:rPr sz="1800" spc="16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knowledge</a:t>
            </a:r>
            <a:r>
              <a:rPr sz="1800" spc="165" dirty="0">
                <a:latin typeface="Cambria"/>
                <a:cs typeface="Cambria"/>
              </a:rPr>
              <a:t>  </a:t>
            </a:r>
            <a:r>
              <a:rPr sz="1800" spc="-10" dirty="0">
                <a:latin typeface="Cambria"/>
                <a:cs typeface="Cambria"/>
              </a:rPr>
              <a:t>extraction, </a:t>
            </a:r>
            <a:r>
              <a:rPr sz="1800" dirty="0">
                <a:latin typeface="Cambria"/>
                <a:cs typeface="Cambria"/>
              </a:rPr>
              <a:t>data/pattern</a:t>
            </a:r>
            <a:r>
              <a:rPr sz="1800" spc="2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analysis,</a:t>
            </a:r>
            <a:r>
              <a:rPr sz="1800" spc="2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2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archeology,</a:t>
            </a:r>
            <a:r>
              <a:rPr sz="1800" spc="2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2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dredging,</a:t>
            </a:r>
            <a:r>
              <a:rPr sz="1800" spc="2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information</a:t>
            </a:r>
            <a:r>
              <a:rPr sz="1800" spc="2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harvesting, </a:t>
            </a:r>
            <a:r>
              <a:rPr sz="1800" dirty="0">
                <a:latin typeface="Cambria"/>
                <a:cs typeface="Cambria"/>
              </a:rPr>
              <a:t>business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intelligence,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etc.</a:t>
            </a:r>
            <a:endParaRPr sz="1800" dirty="0">
              <a:latin typeface="Cambria"/>
              <a:cs typeface="Cambria"/>
            </a:endParaRPr>
          </a:p>
          <a:p>
            <a:pPr marL="352425" indent="-339725" algn="just">
              <a:lnSpc>
                <a:spcPct val="100000"/>
              </a:lnSpc>
              <a:spcBef>
                <a:spcPts val="1415"/>
              </a:spcBef>
              <a:buClr>
                <a:srgbClr val="DA1F28"/>
              </a:buClr>
              <a:buSzPct val="63157"/>
              <a:buFont typeface="Wingdings"/>
              <a:buChar char=""/>
              <a:tabLst>
                <a:tab pos="352425" algn="l"/>
              </a:tabLst>
            </a:pPr>
            <a:r>
              <a:rPr sz="1800" dirty="0">
                <a:latin typeface="Cambria"/>
                <a:cs typeface="Cambria"/>
              </a:rPr>
              <a:t>Watch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out: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everything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“data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mining”?</a:t>
            </a:r>
            <a:endParaRPr sz="1800" dirty="0">
              <a:latin typeface="Cambria"/>
              <a:cs typeface="Cambria"/>
            </a:endParaRPr>
          </a:p>
          <a:p>
            <a:pPr marL="748665" indent="-342900">
              <a:lnSpc>
                <a:spcPct val="100000"/>
              </a:lnSpc>
              <a:spcBef>
                <a:spcPts val="1420"/>
              </a:spcBef>
              <a:buFont typeface="Wingdings" panose="05000000000000000000" pitchFamily="2" charset="2"/>
              <a:buChar char="Ø"/>
              <a:tabLst>
                <a:tab pos="696595" algn="l"/>
              </a:tabLst>
            </a:pPr>
            <a:r>
              <a:rPr sz="1800" dirty="0">
                <a:latin typeface="Cambria"/>
                <a:cs typeface="Cambria"/>
              </a:rPr>
              <a:t>Simple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search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query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processing</a:t>
            </a:r>
            <a:endParaRPr lang="en-IN" sz="1800" spc="-10" dirty="0">
              <a:latin typeface="Cambria"/>
              <a:cs typeface="Cambria"/>
            </a:endParaRPr>
          </a:p>
          <a:p>
            <a:pPr marL="748665" indent="-342900">
              <a:lnSpc>
                <a:spcPct val="100000"/>
              </a:lnSpc>
              <a:spcBef>
                <a:spcPts val="1420"/>
              </a:spcBef>
              <a:buFont typeface="Wingdings" panose="05000000000000000000" pitchFamily="2" charset="2"/>
              <a:buChar char="Ø"/>
              <a:tabLst>
                <a:tab pos="696595" algn="l"/>
              </a:tabLst>
            </a:pPr>
            <a:r>
              <a:rPr lang="en-IN" sz="1800" dirty="0">
                <a:latin typeface="Cambria"/>
                <a:cs typeface="Cambria"/>
              </a:rPr>
              <a:t>(</a:t>
            </a:r>
            <a:r>
              <a:rPr sz="1800" dirty="0">
                <a:latin typeface="Cambria"/>
                <a:cs typeface="Cambria"/>
              </a:rPr>
              <a:t>Deductive)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expert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systems</a:t>
            </a:r>
            <a:r>
              <a:rPr lang="en-IN" sz="1800" spc="-10" dirty="0">
                <a:latin typeface="Cambria"/>
                <a:cs typeface="Cambria"/>
              </a:rPr>
              <a:t> </a:t>
            </a:r>
            <a:r>
              <a:rPr lang="en-IN" sz="1800" dirty="0"/>
              <a:t>(systems applying </a:t>
            </a:r>
          </a:p>
          <a:p>
            <a:pPr marL="405765">
              <a:lnSpc>
                <a:spcPct val="100000"/>
              </a:lnSpc>
              <a:spcBef>
                <a:spcPts val="1420"/>
              </a:spcBef>
              <a:tabLst>
                <a:tab pos="696595" algn="l"/>
              </a:tabLst>
            </a:pPr>
            <a:r>
              <a:rPr lang="en-IN" sz="1800" dirty="0"/>
              <a:t>     predefined rules)</a:t>
            </a:r>
          </a:p>
          <a:p>
            <a:pPr marL="405765">
              <a:lnSpc>
                <a:spcPct val="100000"/>
              </a:lnSpc>
              <a:spcBef>
                <a:spcPts val="1535"/>
              </a:spcBef>
              <a:tabLst>
                <a:tab pos="696595" algn="l"/>
              </a:tabLst>
            </a:pPr>
            <a:endParaRPr sz="1800" dirty="0">
              <a:latin typeface="Cambria"/>
              <a:cs typeface="Cambria"/>
            </a:endParaRPr>
          </a:p>
        </p:txBody>
      </p:sp>
      <p:pic>
        <p:nvPicPr>
          <p:cNvPr id="8" name="object 5">
            <a:extLst>
              <a:ext uri="{FF2B5EF4-FFF2-40B4-BE49-F238E27FC236}">
                <a16:creationId xmlns:a16="http://schemas.microsoft.com/office/drawing/2014/main" id="{150CE07F-716D-2878-0113-D21BE6A4C01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55949" y="4126790"/>
            <a:ext cx="2622464" cy="2731210"/>
          </a:xfrm>
          <a:prstGeom prst="rect">
            <a:avLst/>
          </a:prstGeom>
        </p:spPr>
      </p:pic>
      <p:sp>
        <p:nvSpPr>
          <p:cNvPr id="11" name="object 6">
            <a:extLst>
              <a:ext uri="{FF2B5EF4-FFF2-40B4-BE49-F238E27FC236}">
                <a16:creationId xmlns:a16="http://schemas.microsoft.com/office/drawing/2014/main" id="{1755892E-5E98-5323-6731-6ADA85F9EFBF}"/>
              </a:ext>
            </a:extLst>
          </p:cNvPr>
          <p:cNvSpPr txBox="1"/>
          <p:nvPr/>
        </p:nvSpPr>
        <p:spPr>
          <a:xfrm>
            <a:off x="8305800" y="6384478"/>
            <a:ext cx="532765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b="1" spc="-10" dirty="0">
                <a:latin typeface="Times New Roman"/>
                <a:cs typeface="Times New Roman"/>
              </a:rPr>
              <a:t>Knowledge</a:t>
            </a:r>
            <a:endParaRPr sz="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30877181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>
            <a:extLst>
              <a:ext uri="{FF2B5EF4-FFF2-40B4-BE49-F238E27FC236}">
                <a16:creationId xmlns:a16="http://schemas.microsoft.com/office/drawing/2014/main" id="{08375EBC-8229-7D8B-0B80-83D2040383D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9312A3-9D95-4108-8351-2ABA2342629F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15, 2025</a:t>
            </a:fld>
            <a:endParaRPr lang="en-US" altLang="en-US" sz="1200"/>
          </a:p>
        </p:txBody>
      </p:sp>
      <p:sp>
        <p:nvSpPr>
          <p:cNvPr id="7171" name="Footer Placeholder 4">
            <a:extLst>
              <a:ext uri="{FF2B5EF4-FFF2-40B4-BE49-F238E27FC236}">
                <a16:creationId xmlns:a16="http://schemas.microsoft.com/office/drawing/2014/main" id="{04D74EE3-7626-1F84-6CF0-38E3ADFB7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Data Mining: Concepts and Techniques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4C95DE19-F819-95BD-F770-40CC1D363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67BA1B-DA13-4DB1-A4DE-589317B0FD49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/>
          </a:p>
        </p:txBody>
      </p:sp>
      <p:sp>
        <p:nvSpPr>
          <p:cNvPr id="7173" name="Rectangle 2">
            <a:extLst>
              <a:ext uri="{FF2B5EF4-FFF2-40B4-BE49-F238E27FC236}">
                <a16:creationId xmlns:a16="http://schemas.microsoft.com/office/drawing/2014/main" id="{E5E72D43-C37B-AB2D-FCE0-1A3DF8D5B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0104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Introduction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  <p:pic>
        <p:nvPicPr>
          <p:cNvPr id="7175" name="Picture 6" descr="SASTRA_DEEMED_NEW.png">
            <a:extLst>
              <a:ext uri="{FF2B5EF4-FFF2-40B4-BE49-F238E27FC236}">
                <a16:creationId xmlns:a16="http://schemas.microsoft.com/office/drawing/2014/main" id="{D6E4735C-B10D-877C-31D5-0FEB6D447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73050"/>
            <a:ext cx="24384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2CFA1E-FC48-18B9-C33D-2258E8CEB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12" y="1371600"/>
            <a:ext cx="8639175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840706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>
            <a:extLst>
              <a:ext uri="{FF2B5EF4-FFF2-40B4-BE49-F238E27FC236}">
                <a16:creationId xmlns:a16="http://schemas.microsoft.com/office/drawing/2014/main" id="{08375EBC-8229-7D8B-0B80-83D2040383D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9312A3-9D95-4108-8351-2ABA2342629F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15, 2025</a:t>
            </a:fld>
            <a:endParaRPr lang="en-US" altLang="en-US" sz="1200"/>
          </a:p>
        </p:txBody>
      </p:sp>
      <p:sp>
        <p:nvSpPr>
          <p:cNvPr id="7171" name="Footer Placeholder 4">
            <a:extLst>
              <a:ext uri="{FF2B5EF4-FFF2-40B4-BE49-F238E27FC236}">
                <a16:creationId xmlns:a16="http://schemas.microsoft.com/office/drawing/2014/main" id="{04D74EE3-7626-1F84-6CF0-38E3ADFB7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/>
              <a:t>Data Mining: Concepts and Techniques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4C95DE19-F819-95BD-F770-40CC1D363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67BA1B-DA13-4DB1-A4DE-589317B0FD49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/>
          </a:p>
        </p:txBody>
      </p:sp>
      <p:sp>
        <p:nvSpPr>
          <p:cNvPr id="7173" name="Rectangle 2">
            <a:extLst>
              <a:ext uri="{FF2B5EF4-FFF2-40B4-BE49-F238E27FC236}">
                <a16:creationId xmlns:a16="http://schemas.microsoft.com/office/drawing/2014/main" id="{E5E72D43-C37B-AB2D-FCE0-1A3DF8D5B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0104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Introduction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  <p:pic>
        <p:nvPicPr>
          <p:cNvPr id="7175" name="Picture 6" descr="SASTRA_DEEMED_NEW.png">
            <a:extLst>
              <a:ext uri="{FF2B5EF4-FFF2-40B4-BE49-F238E27FC236}">
                <a16:creationId xmlns:a16="http://schemas.microsoft.com/office/drawing/2014/main" id="{D6E4735C-B10D-877C-31D5-0FEB6D447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73050"/>
            <a:ext cx="24384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CFBA21-DD91-479F-826A-96F245E68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12" y="1524000"/>
            <a:ext cx="8639175" cy="48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206891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7095</TotalTime>
  <Words>642</Words>
  <Application>Microsoft Office PowerPoint</Application>
  <PresentationFormat>On-screen Show (4:3)</PresentationFormat>
  <Paragraphs>105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Cambria</vt:lpstr>
      <vt:lpstr>Google Sans</vt:lpstr>
      <vt:lpstr>Tahoma</vt:lpstr>
      <vt:lpstr>Times New Roman</vt:lpstr>
      <vt:lpstr>Wingdings</vt:lpstr>
      <vt:lpstr>Blends</vt:lpstr>
      <vt:lpstr>PowerPoint Presentation</vt:lpstr>
      <vt:lpstr>Syllabus </vt:lpstr>
      <vt:lpstr>Syllabus </vt:lpstr>
      <vt:lpstr>Syllabus </vt:lpstr>
      <vt:lpstr>Data vs. Information   </vt:lpstr>
      <vt:lpstr>Data Analytics   </vt:lpstr>
      <vt:lpstr>Data Analytics   </vt:lpstr>
      <vt:lpstr>Data Science  </vt:lpstr>
      <vt:lpstr>Data Science Vs Data Analytics  </vt:lpstr>
      <vt:lpstr>Datasets </vt:lpstr>
      <vt:lpstr>Dataframe  </vt:lpstr>
      <vt:lpstr>Big Data   </vt:lpstr>
      <vt:lpstr>Machine Learning </vt:lpstr>
      <vt:lpstr>Chapter 1: Introduction</vt:lpstr>
      <vt:lpstr>Introduction</vt:lpstr>
      <vt:lpstr>Introduction - What is Data mining?</vt:lpstr>
      <vt:lpstr>Introduction</vt:lpstr>
      <vt:lpstr>Introduction</vt:lpstr>
    </vt:vector>
  </TitlesOfParts>
  <Company>S.F.U.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Jiawei Han</dc:creator>
  <cp:lastModifiedBy>Isabella S</cp:lastModifiedBy>
  <cp:revision>266</cp:revision>
  <cp:lastPrinted>1999-09-10T20:38:56Z</cp:lastPrinted>
  <dcterms:created xsi:type="dcterms:W3CDTF">1998-06-19T04:38:52Z</dcterms:created>
  <dcterms:modified xsi:type="dcterms:W3CDTF">2025-07-15T11:27:24Z</dcterms:modified>
</cp:coreProperties>
</file>