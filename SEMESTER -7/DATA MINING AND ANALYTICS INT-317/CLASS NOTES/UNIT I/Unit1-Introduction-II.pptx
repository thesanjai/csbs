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29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823" r:id="rId2"/>
    <p:sldId id="1183" r:id="rId3"/>
    <p:sldId id="818" r:id="rId4"/>
    <p:sldId id="1105" r:id="rId5"/>
    <p:sldId id="1184" r:id="rId6"/>
    <p:sldId id="1185" r:id="rId7"/>
    <p:sldId id="1186" r:id="rId8"/>
    <p:sldId id="820" r:id="rId9"/>
    <p:sldId id="264" r:id="rId10"/>
    <p:sldId id="82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118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1188" r:id="rId35"/>
    <p:sldId id="1189" r:id="rId36"/>
    <p:sldId id="287" r:id="rId37"/>
    <p:sldId id="1190" r:id="rId38"/>
    <p:sldId id="1191" r:id="rId39"/>
    <p:sldId id="288" r:id="rId40"/>
    <p:sldId id="1192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1193" r:id="rId51"/>
    <p:sldId id="298" r:id="rId52"/>
    <p:sldId id="299" r:id="rId53"/>
    <p:sldId id="300" r:id="rId54"/>
    <p:sldId id="301" r:id="rId5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2" autoAdjust="0"/>
  </p:normalViewPr>
  <p:slideViewPr>
    <p:cSldViewPr>
      <p:cViewPr varScale="1">
        <p:scale>
          <a:sx n="71" d="100"/>
          <a:sy n="71" d="100"/>
        </p:scale>
        <p:origin x="144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E9236-14D9-49DC-9AC2-2E4B94120DDA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78962-4736-4452-8227-6CC18BF3C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794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02B1A0D-D34C-D380-7FB4-E1334BEF1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48082-F04C-417A-8A18-BE755B5BB8E6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CA3C0302-119D-87FF-BD24-98CFF5E2D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1.`Classification</a:t>
            </a:r>
            <a:r>
              <a:rPr lang="en-IN" dirty="0"/>
              <a:t>: Categorising pages into topics (e.g. news, sports, technology).</a:t>
            </a:r>
          </a:p>
          <a:p>
            <a:r>
              <a:rPr lang="en-IN" b="1" dirty="0"/>
              <a:t>Clustering</a:t>
            </a:r>
            <a:r>
              <a:rPr lang="en-IN" dirty="0"/>
              <a:t>: Grouping similar web pages together without predefined categories.</a:t>
            </a:r>
          </a:p>
          <a:p>
            <a:r>
              <a:rPr lang="en-IN" b="1" dirty="0"/>
              <a:t>PageRank &amp; HITS algorithms</a:t>
            </a:r>
            <a:r>
              <a:rPr lang="en-IN" dirty="0"/>
              <a:t>: Ranking pages based on link structures for search engines like Google.</a:t>
            </a:r>
          </a:p>
          <a:p>
            <a:r>
              <a:rPr lang="en-IN" dirty="0"/>
              <a:t>2.</a:t>
            </a:r>
            <a:r>
              <a:rPr lang="en-US" b="1" dirty="0"/>
              <a:t> E-commerce</a:t>
            </a:r>
            <a:r>
              <a:rPr lang="en-US" dirty="0"/>
              <a:t>: Suggesting products on Amazon.</a:t>
            </a:r>
          </a:p>
          <a:p>
            <a:r>
              <a:rPr lang="en-US" b="1" dirty="0"/>
              <a:t>Entertainment</a:t>
            </a:r>
            <a:r>
              <a:rPr lang="en-US" dirty="0"/>
              <a:t>: Recommending movies on Netflix based on user preferences.</a:t>
            </a:r>
          </a:p>
          <a:p>
            <a:r>
              <a:rPr lang="en-US" dirty="0"/>
              <a:t>Uses </a:t>
            </a:r>
            <a:r>
              <a:rPr lang="en-US" b="1" dirty="0"/>
              <a:t>collaborative filtering</a:t>
            </a:r>
            <a:r>
              <a:rPr lang="en-US" dirty="0"/>
              <a:t> techniques to find user-item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478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02B1A0D-D34C-D380-7FB4-E1334BEF1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48082-F04C-417A-8A18-BE755B5BB8E6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2492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02B1A0D-D34C-D380-7FB4-E1334BEF1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48082-F04C-417A-8A18-BE755B5BB8E6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AC6ACB1-9F7F-3130-0B84-BE842376A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Feature Selection </a:t>
            </a:r>
            <a:r>
              <a:rPr lang="en-US" dirty="0"/>
              <a:t>Selecting a </a:t>
            </a:r>
            <a:r>
              <a:rPr lang="en-US" b="1" dirty="0"/>
              <a:t>subset of relevant features</a:t>
            </a:r>
            <a:r>
              <a:rPr lang="en-US" dirty="0"/>
              <a:t> (original variables) from the existing features.</a:t>
            </a:r>
          </a:p>
          <a:p>
            <a:r>
              <a:rPr lang="en-US" b="1" dirty="0"/>
              <a:t>Dimensionality Reduction </a:t>
            </a:r>
            <a:r>
              <a:rPr lang="en-US" dirty="0"/>
              <a:t>Transforming data from high-dimensional space to a </a:t>
            </a:r>
            <a:r>
              <a:rPr lang="en-US" b="1" dirty="0"/>
              <a:t>lower-dimensional space</a:t>
            </a:r>
            <a:r>
              <a:rPr lang="en-US" dirty="0"/>
              <a:t> using mathematical techniques.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480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02B1A0D-D34C-D380-7FB4-E1334BEF1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48082-F04C-417A-8A18-BE755B5BB8E6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05CAF20-E1FA-364E-E941-70EFB6AAE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Data streams and sensor data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Continuous data coming from sensors, IoT devices, or online streaming sources.</a:t>
            </a:r>
            <a:br>
              <a:rPr lang="en-IN" dirty="0"/>
            </a:br>
            <a:r>
              <a:rPr lang="en-IN" i="1" dirty="0"/>
              <a:t>Example</a:t>
            </a:r>
            <a:r>
              <a:rPr lang="en-IN" dirty="0"/>
              <a:t>: Temperature sensors, ECG monitors.</a:t>
            </a:r>
          </a:p>
          <a:p>
            <a:r>
              <a:rPr lang="en-IN" b="1" dirty="0"/>
              <a:t>Time-series data, temporal data, sequence data (including bio-sequences)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Data collected over time intervals.</a:t>
            </a:r>
            <a:br>
              <a:rPr lang="en-IN" dirty="0"/>
            </a:br>
            <a:r>
              <a:rPr lang="en-IN" i="1" dirty="0"/>
              <a:t>Example</a:t>
            </a:r>
            <a:r>
              <a:rPr lang="en-IN" dirty="0"/>
              <a:t>: Stock prices, gene sequences.</a:t>
            </a:r>
          </a:p>
          <a:p>
            <a:r>
              <a:rPr lang="en-IN" b="1" dirty="0"/>
              <a:t>Structured data, graphs, social networks, and information networks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Data representing relationships or connections.</a:t>
            </a:r>
            <a:br>
              <a:rPr lang="en-IN" dirty="0"/>
            </a:br>
            <a:r>
              <a:rPr lang="en-IN" i="1" dirty="0"/>
              <a:t>Example</a:t>
            </a:r>
            <a:r>
              <a:rPr lang="en-IN" dirty="0"/>
              <a:t>: Social network graphs (Facebook connections), citation networks.</a:t>
            </a:r>
          </a:p>
          <a:p>
            <a:r>
              <a:rPr lang="en-IN" b="1" dirty="0"/>
              <a:t>Spatial data and spatiotemporal data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Data with geographical or spatial information and time-based aspects.</a:t>
            </a:r>
            <a:br>
              <a:rPr lang="en-IN" dirty="0"/>
            </a:br>
            <a:r>
              <a:rPr lang="en-IN" i="1" dirty="0"/>
              <a:t>Example</a:t>
            </a:r>
            <a:r>
              <a:rPr lang="en-IN" dirty="0"/>
              <a:t>: GPS data, weather tracking data.</a:t>
            </a:r>
          </a:p>
          <a:p>
            <a:r>
              <a:rPr lang="en-IN" b="1" dirty="0"/>
              <a:t>Multimedia databases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Contain images, audio, and video data.</a:t>
            </a:r>
            <a:br>
              <a:rPr lang="en-IN" dirty="0"/>
            </a:br>
            <a:r>
              <a:rPr lang="en-IN" i="1" dirty="0"/>
              <a:t>Example</a:t>
            </a:r>
            <a:r>
              <a:rPr lang="en-IN" dirty="0"/>
              <a:t>: YouTube’s video database.</a:t>
            </a:r>
          </a:p>
          <a:p>
            <a:r>
              <a:rPr lang="en-IN" b="1" dirty="0"/>
              <a:t>Text databases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Collections of textual documents.</a:t>
            </a:r>
            <a:br>
              <a:rPr lang="en-IN" dirty="0"/>
            </a:br>
            <a:r>
              <a:rPr lang="en-IN" i="1" dirty="0"/>
              <a:t>Example</a:t>
            </a:r>
            <a:r>
              <a:rPr lang="en-IN" dirty="0"/>
              <a:t>: News articles, research papers.</a:t>
            </a:r>
          </a:p>
          <a:p>
            <a:r>
              <a:rPr lang="en-IN" b="1" dirty="0"/>
              <a:t>The World-Wide Web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Web data mining extracts patterns from websites, user clicks, and web structures.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11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227A8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60" dirty="0"/>
              <a:t>Dr.</a:t>
            </a:r>
            <a:r>
              <a:rPr spc="-20" dirty="0"/>
              <a:t> </a:t>
            </a:r>
            <a:r>
              <a:rPr dirty="0"/>
              <a:t>R.</a:t>
            </a:r>
            <a:r>
              <a:rPr spc="-20" dirty="0"/>
              <a:t> </a:t>
            </a:r>
            <a:r>
              <a:rPr spc="-30" dirty="0"/>
              <a:t>Elakkiya,</a:t>
            </a:r>
            <a:r>
              <a:rPr spc="-20" dirty="0"/>
              <a:t> </a:t>
            </a:r>
            <a:r>
              <a:rPr spc="-60" dirty="0"/>
              <a:t>AP-</a:t>
            </a:r>
            <a:r>
              <a:rPr spc="-10" dirty="0"/>
              <a:t>SoC,</a:t>
            </a:r>
            <a:r>
              <a:rPr spc="-20" dirty="0"/>
              <a:t> </a:t>
            </a:r>
            <a:r>
              <a:rPr spc="-35" dirty="0"/>
              <a:t>SASTRA</a:t>
            </a:r>
            <a:r>
              <a:rPr spc="-30" dirty="0"/>
              <a:t> </a:t>
            </a:r>
            <a:r>
              <a:rPr spc="-25" dirty="0"/>
              <a:t>Deemed</a:t>
            </a:r>
            <a:r>
              <a:rPr spc="-3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b="0" spc="-10" dirty="0">
                <a:latin typeface="Cambria"/>
                <a:cs typeface="Cambria"/>
              </a:rPr>
              <a:t>10/03/21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27A8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60" dirty="0"/>
              <a:t>Dr.</a:t>
            </a:r>
            <a:r>
              <a:rPr spc="-20" dirty="0"/>
              <a:t> </a:t>
            </a:r>
            <a:r>
              <a:rPr dirty="0"/>
              <a:t>R.</a:t>
            </a:r>
            <a:r>
              <a:rPr spc="-20" dirty="0"/>
              <a:t> </a:t>
            </a:r>
            <a:r>
              <a:rPr spc="-30" dirty="0"/>
              <a:t>Elakkiya,</a:t>
            </a:r>
            <a:r>
              <a:rPr spc="-20" dirty="0"/>
              <a:t> </a:t>
            </a:r>
            <a:r>
              <a:rPr spc="-60" dirty="0"/>
              <a:t>AP-</a:t>
            </a:r>
            <a:r>
              <a:rPr spc="-10" dirty="0"/>
              <a:t>SoC,</a:t>
            </a:r>
            <a:r>
              <a:rPr spc="-20" dirty="0"/>
              <a:t> </a:t>
            </a:r>
            <a:r>
              <a:rPr spc="-35" dirty="0"/>
              <a:t>SASTRA</a:t>
            </a:r>
            <a:r>
              <a:rPr spc="-30" dirty="0"/>
              <a:t> </a:t>
            </a:r>
            <a:r>
              <a:rPr spc="-25" dirty="0"/>
              <a:t>Deemed</a:t>
            </a:r>
            <a:r>
              <a:rPr spc="-3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b="0" spc="-10" dirty="0">
                <a:latin typeface="Cambria"/>
                <a:cs typeface="Cambria"/>
              </a:rPr>
              <a:t>10/03/21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27A8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60" dirty="0"/>
              <a:t>Dr.</a:t>
            </a:r>
            <a:r>
              <a:rPr spc="-20" dirty="0"/>
              <a:t> </a:t>
            </a:r>
            <a:r>
              <a:rPr dirty="0"/>
              <a:t>R.</a:t>
            </a:r>
            <a:r>
              <a:rPr spc="-20" dirty="0"/>
              <a:t> </a:t>
            </a:r>
            <a:r>
              <a:rPr spc="-30" dirty="0"/>
              <a:t>Elakkiya,</a:t>
            </a:r>
            <a:r>
              <a:rPr spc="-20" dirty="0"/>
              <a:t> </a:t>
            </a:r>
            <a:r>
              <a:rPr spc="-60" dirty="0"/>
              <a:t>AP-</a:t>
            </a:r>
            <a:r>
              <a:rPr spc="-10" dirty="0"/>
              <a:t>SoC,</a:t>
            </a:r>
            <a:r>
              <a:rPr spc="-20" dirty="0"/>
              <a:t> </a:t>
            </a:r>
            <a:r>
              <a:rPr spc="-35" dirty="0"/>
              <a:t>SASTRA</a:t>
            </a:r>
            <a:r>
              <a:rPr spc="-30" dirty="0"/>
              <a:t> </a:t>
            </a:r>
            <a:r>
              <a:rPr spc="-25" dirty="0"/>
              <a:t>Deemed</a:t>
            </a:r>
            <a:r>
              <a:rPr spc="-3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b="0" spc="-10" dirty="0">
                <a:latin typeface="Cambria"/>
                <a:cs typeface="Cambria"/>
              </a:rPr>
              <a:t>10/03/21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27A8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60" dirty="0"/>
              <a:t>Dr.</a:t>
            </a:r>
            <a:r>
              <a:rPr spc="-20" dirty="0"/>
              <a:t> </a:t>
            </a:r>
            <a:r>
              <a:rPr dirty="0"/>
              <a:t>R.</a:t>
            </a:r>
            <a:r>
              <a:rPr spc="-20" dirty="0"/>
              <a:t> </a:t>
            </a:r>
            <a:r>
              <a:rPr spc="-30" dirty="0"/>
              <a:t>Elakkiya,</a:t>
            </a:r>
            <a:r>
              <a:rPr spc="-20" dirty="0"/>
              <a:t> </a:t>
            </a:r>
            <a:r>
              <a:rPr spc="-60" dirty="0"/>
              <a:t>AP-</a:t>
            </a:r>
            <a:r>
              <a:rPr spc="-10" dirty="0"/>
              <a:t>SoC,</a:t>
            </a:r>
            <a:r>
              <a:rPr spc="-20" dirty="0"/>
              <a:t> </a:t>
            </a:r>
            <a:r>
              <a:rPr spc="-35" dirty="0"/>
              <a:t>SASTRA</a:t>
            </a:r>
            <a:r>
              <a:rPr spc="-30" dirty="0"/>
              <a:t> </a:t>
            </a:r>
            <a:r>
              <a:rPr spc="-25" dirty="0"/>
              <a:t>Deemed</a:t>
            </a:r>
            <a:r>
              <a:rPr spc="-3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b="0" spc="-10" dirty="0">
                <a:latin typeface="Cambria"/>
                <a:cs typeface="Cambria"/>
              </a:rPr>
              <a:t>10/03/21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8391" y="273334"/>
            <a:ext cx="1786750" cy="6903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60" dirty="0"/>
              <a:t>Dr.</a:t>
            </a:r>
            <a:r>
              <a:rPr spc="-20" dirty="0"/>
              <a:t> </a:t>
            </a:r>
            <a:r>
              <a:rPr dirty="0"/>
              <a:t>R.</a:t>
            </a:r>
            <a:r>
              <a:rPr spc="-20" dirty="0"/>
              <a:t> </a:t>
            </a:r>
            <a:r>
              <a:rPr spc="-30" dirty="0"/>
              <a:t>Elakkiya,</a:t>
            </a:r>
            <a:r>
              <a:rPr spc="-20" dirty="0"/>
              <a:t> </a:t>
            </a:r>
            <a:r>
              <a:rPr spc="-60" dirty="0"/>
              <a:t>AP-</a:t>
            </a:r>
            <a:r>
              <a:rPr spc="-10" dirty="0"/>
              <a:t>SoC,</a:t>
            </a:r>
            <a:r>
              <a:rPr spc="-20" dirty="0"/>
              <a:t> </a:t>
            </a:r>
            <a:r>
              <a:rPr spc="-35" dirty="0"/>
              <a:t>SASTRA</a:t>
            </a:r>
            <a:r>
              <a:rPr spc="-30" dirty="0"/>
              <a:t> </a:t>
            </a:r>
            <a:r>
              <a:rPr spc="-25" dirty="0"/>
              <a:t>Deemed</a:t>
            </a:r>
            <a:r>
              <a:rPr spc="-3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b="0" spc="-10" dirty="0">
                <a:latin typeface="Cambria"/>
                <a:cs typeface="Cambria"/>
              </a:rPr>
              <a:t>10/03/21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154AC5BD-C464-BB3E-21A0-78D792898A9B}"/>
              </a:ext>
            </a:extLst>
          </p:cNvPr>
          <p:cNvSpPr txBox="1">
            <a:spLocks/>
          </p:cNvSpPr>
          <p:nvPr userDrawn="1"/>
        </p:nvSpPr>
        <p:spPr>
          <a:xfrm>
            <a:off x="0" y="1115171"/>
            <a:ext cx="623782" cy="269602"/>
          </a:xfrm>
          <a:prstGeom prst="rect">
            <a:avLst/>
          </a:prstGeom>
        </p:spPr>
        <p:txBody>
          <a:bodyPr lIns="86241" tIns="43120" rIns="86241" bIns="43120" anchor="ctr">
            <a:normAutofit/>
          </a:bodyPr>
          <a:lstStyle>
            <a:lvl1pPr defTabSz="10414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14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14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14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14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1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1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1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1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defRPr/>
            </a:pPr>
            <a:fld id="{4AA3169E-B777-45F3-ADF8-78F9DA82B3E1}" type="slidenum">
              <a:rPr lang="en-US" altLang="en-US" sz="1434" smtClean="0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  <a:defRPr/>
              </a:pPr>
              <a:t>‹#›</a:t>
            </a:fld>
            <a:endParaRPr lang="en-US" altLang="en-US" sz="1434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2391AB-8A42-79B0-B657-13720EFB1B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975494" y="41749"/>
            <a:ext cx="2673350" cy="9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90616" y="1562803"/>
            <a:ext cx="9457397" cy="140038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5559" y="309881"/>
            <a:ext cx="7396268" cy="4154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870599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351" y="1185284"/>
            <a:ext cx="9728200" cy="245745"/>
          </a:xfrm>
          <a:custGeom>
            <a:avLst/>
            <a:gdLst/>
            <a:ahLst/>
            <a:cxnLst/>
            <a:rect l="l" t="t" r="r" b="b"/>
            <a:pathLst>
              <a:path w="9728200" h="245744">
                <a:moveTo>
                  <a:pt x="9728104" y="0"/>
                </a:moveTo>
                <a:lnTo>
                  <a:pt x="0" y="0"/>
                </a:lnTo>
                <a:lnTo>
                  <a:pt x="0" y="245264"/>
                </a:lnTo>
                <a:lnTo>
                  <a:pt x="9728104" y="245264"/>
                </a:lnTo>
                <a:lnTo>
                  <a:pt x="9728104" y="0"/>
                </a:lnTo>
                <a:close/>
              </a:path>
            </a:pathLst>
          </a:custGeom>
          <a:solidFill>
            <a:srgbClr val="2DA2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9700" y="7009882"/>
            <a:ext cx="10400030" cy="445134"/>
          </a:xfrm>
          <a:custGeom>
            <a:avLst/>
            <a:gdLst/>
            <a:ahLst/>
            <a:cxnLst/>
            <a:rect l="l" t="t" r="r" b="b"/>
            <a:pathLst>
              <a:path w="10400030" h="445134">
                <a:moveTo>
                  <a:pt x="0" y="445016"/>
                </a:moveTo>
                <a:lnTo>
                  <a:pt x="0" y="0"/>
                </a:lnTo>
                <a:lnTo>
                  <a:pt x="10399755" y="0"/>
                </a:lnTo>
                <a:lnTo>
                  <a:pt x="10399755" y="445016"/>
                </a:lnTo>
                <a:lnTo>
                  <a:pt x="0" y="445016"/>
                </a:lnTo>
                <a:close/>
              </a:path>
            </a:pathLst>
          </a:custGeom>
          <a:solidFill>
            <a:srgbClr val="00A3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432" y="372631"/>
            <a:ext cx="1786750" cy="6903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40143" y="47601"/>
            <a:ext cx="7358964" cy="107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227A8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7593" y="1795166"/>
            <a:ext cx="4847590" cy="506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4754" y="7149617"/>
            <a:ext cx="3758565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60" dirty="0"/>
              <a:t>Dr.</a:t>
            </a:r>
            <a:r>
              <a:rPr spc="-20" dirty="0"/>
              <a:t> </a:t>
            </a:r>
            <a:r>
              <a:rPr dirty="0"/>
              <a:t>R.</a:t>
            </a:r>
            <a:r>
              <a:rPr spc="-20" dirty="0"/>
              <a:t> </a:t>
            </a:r>
            <a:r>
              <a:rPr spc="-30" dirty="0"/>
              <a:t>Elakkiya,</a:t>
            </a:r>
            <a:r>
              <a:rPr spc="-20" dirty="0"/>
              <a:t> </a:t>
            </a:r>
            <a:r>
              <a:rPr spc="-60" dirty="0"/>
              <a:t>AP-</a:t>
            </a:r>
            <a:r>
              <a:rPr spc="-10" dirty="0"/>
              <a:t>SoC,</a:t>
            </a:r>
            <a:r>
              <a:rPr spc="-20" dirty="0"/>
              <a:t> </a:t>
            </a:r>
            <a:r>
              <a:rPr spc="-35" dirty="0"/>
              <a:t>SASTRA</a:t>
            </a:r>
            <a:r>
              <a:rPr spc="-30" dirty="0"/>
              <a:t> </a:t>
            </a:r>
            <a:r>
              <a:rPr spc="-25" dirty="0"/>
              <a:t>Deemed</a:t>
            </a:r>
            <a:r>
              <a:rPr spc="-3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618957" y="7140473"/>
            <a:ext cx="843915" cy="249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b="0" spc="-10" dirty="0">
                <a:latin typeface="Cambria"/>
                <a:cs typeface="Cambria"/>
              </a:rPr>
              <a:t>10/03/21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>
            <a:extLst>
              <a:ext uri="{FF2B5EF4-FFF2-40B4-BE49-F238E27FC236}">
                <a16:creationId xmlns:a16="http://schemas.microsoft.com/office/drawing/2014/main" id="{E5E72D43-C37B-AB2D-FCE0-1A3DF8D5B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407262"/>
            <a:ext cx="7730913" cy="656529"/>
          </a:xfrm>
          <a:noFill/>
        </p:spPr>
        <p:txBody>
          <a:bodyPr wrap="square" lIns="101538" tIns="50770" rIns="101538" bIns="50770" anchor="ctr">
            <a:spAutoFit/>
          </a:bodyPr>
          <a:lstStyle/>
          <a:p>
            <a:pPr eaLnBrk="1" hangingPunct="1"/>
            <a:r>
              <a:rPr lang="en-US" altLang="en-US" sz="3600" dirty="0">
                <a:solidFill>
                  <a:srgbClr val="FF0000"/>
                </a:solidFill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7649B7-3BB2-F1E4-709F-22CA3A89B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23" y="1395942"/>
            <a:ext cx="9695154" cy="54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9819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36D3-9241-48E6-7153-9CB10327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329" y="150852"/>
            <a:ext cx="8242301" cy="1107996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rgbClr val="FF0000"/>
                </a:solidFill>
              </a:rPr>
              <a:t>Knowledge Discovery from Data (KDD) Process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DEB1A59-0ED0-DDC7-C236-FF1F4E2A33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4958" y="1429960"/>
            <a:ext cx="9243483" cy="5211206"/>
          </a:xfrm>
          <a:prstGeom prst="rect">
            <a:avLst/>
          </a:prstGeom>
        </p:spPr>
        <p:txBody>
          <a:bodyPr vert="horz" wrap="square" lIns="0" tIns="14005" rIns="0" bIns="0" rtlCol="0">
            <a:spAutoFit/>
          </a:bodyPr>
          <a:lstStyle/>
          <a:p>
            <a:pPr marL="388654" indent="-374649">
              <a:spcBef>
                <a:spcPts val="11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88654" algn="l"/>
              </a:tabLst>
            </a:pPr>
            <a:r>
              <a:rPr sz="2095" dirty="0"/>
              <a:t>Data</a:t>
            </a:r>
            <a:r>
              <a:rPr sz="2095" spc="66" dirty="0"/>
              <a:t> </a:t>
            </a:r>
            <a:r>
              <a:rPr sz="2095" dirty="0"/>
              <a:t>mining</a:t>
            </a:r>
            <a:r>
              <a:rPr sz="2095" spc="77" dirty="0"/>
              <a:t> </a:t>
            </a:r>
            <a:r>
              <a:rPr sz="2095" dirty="0"/>
              <a:t>plays</a:t>
            </a:r>
            <a:r>
              <a:rPr sz="2095" spc="72" dirty="0"/>
              <a:t> </a:t>
            </a:r>
            <a:r>
              <a:rPr sz="2095" dirty="0"/>
              <a:t>an</a:t>
            </a:r>
            <a:r>
              <a:rPr sz="2095" spc="72" dirty="0"/>
              <a:t> </a:t>
            </a:r>
            <a:r>
              <a:rPr sz="2095" dirty="0"/>
              <a:t>essential</a:t>
            </a:r>
            <a:r>
              <a:rPr sz="2095" spc="66" dirty="0"/>
              <a:t> </a:t>
            </a:r>
            <a:r>
              <a:rPr sz="2095" dirty="0"/>
              <a:t>role</a:t>
            </a:r>
            <a:r>
              <a:rPr sz="2095" spc="72" dirty="0"/>
              <a:t> </a:t>
            </a:r>
            <a:r>
              <a:rPr sz="2095" dirty="0"/>
              <a:t>in</a:t>
            </a:r>
            <a:r>
              <a:rPr sz="2095" spc="66" dirty="0"/>
              <a:t> </a:t>
            </a:r>
            <a:r>
              <a:rPr sz="2095" dirty="0"/>
              <a:t>the</a:t>
            </a:r>
            <a:r>
              <a:rPr sz="2095" spc="72" dirty="0"/>
              <a:t> </a:t>
            </a:r>
            <a:r>
              <a:rPr sz="2095" dirty="0"/>
              <a:t>knowledge</a:t>
            </a:r>
            <a:r>
              <a:rPr sz="2095" spc="72" dirty="0"/>
              <a:t> </a:t>
            </a:r>
            <a:r>
              <a:rPr sz="2095" dirty="0"/>
              <a:t>discovery</a:t>
            </a:r>
            <a:r>
              <a:rPr sz="2095" spc="77" dirty="0"/>
              <a:t> </a:t>
            </a:r>
            <a:r>
              <a:rPr sz="2095" spc="-11" dirty="0"/>
              <a:t>process</a:t>
            </a:r>
            <a:endParaRPr sz="2095" dirty="0"/>
          </a:p>
          <a:p>
            <a:pPr marL="388654" indent="-374649">
              <a:spcBef>
                <a:spcPts val="2221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88654" algn="l"/>
              </a:tabLst>
            </a:pPr>
            <a:r>
              <a:rPr sz="2095" dirty="0"/>
              <a:t>The</a:t>
            </a:r>
            <a:r>
              <a:rPr sz="2095" spc="50" dirty="0"/>
              <a:t> </a:t>
            </a:r>
            <a:r>
              <a:rPr sz="2095" dirty="0"/>
              <a:t>KDD</a:t>
            </a:r>
            <a:r>
              <a:rPr sz="2095" spc="66" dirty="0"/>
              <a:t> </a:t>
            </a:r>
            <a:r>
              <a:rPr sz="2095" spc="-11" dirty="0"/>
              <a:t>process</a:t>
            </a:r>
            <a:endParaRPr sz="2095" dirty="0"/>
          </a:p>
          <a:p>
            <a:pPr marL="790378" indent="-342900">
              <a:spcBef>
                <a:spcPts val="2354"/>
              </a:spcBef>
              <a:buFont typeface="Wingdings" panose="05000000000000000000" pitchFamily="2" charset="2"/>
              <a:buChar char="Ø"/>
              <a:tabLst>
                <a:tab pos="768205" algn="l"/>
              </a:tabLst>
            </a:pPr>
            <a:r>
              <a:rPr sz="2095" dirty="0"/>
              <a:t>Data</a:t>
            </a:r>
            <a:r>
              <a:rPr sz="2095" spc="66" dirty="0"/>
              <a:t> </a:t>
            </a:r>
            <a:r>
              <a:rPr sz="2095" spc="-11" dirty="0"/>
              <a:t>cleaning</a:t>
            </a:r>
            <a:endParaRPr sz="2095" dirty="0"/>
          </a:p>
          <a:p>
            <a:pPr marL="790378" indent="-342900">
              <a:spcBef>
                <a:spcPts val="2221"/>
              </a:spcBef>
              <a:buFont typeface="Wingdings" panose="05000000000000000000" pitchFamily="2" charset="2"/>
              <a:buChar char="Ø"/>
              <a:tabLst>
                <a:tab pos="768205" algn="l"/>
              </a:tabLst>
            </a:pPr>
            <a:r>
              <a:rPr sz="2095" dirty="0"/>
              <a:t>Data</a:t>
            </a:r>
            <a:r>
              <a:rPr sz="2095" spc="66" dirty="0"/>
              <a:t> </a:t>
            </a:r>
            <a:r>
              <a:rPr sz="2095" spc="-11" dirty="0"/>
              <a:t>integration</a:t>
            </a:r>
            <a:endParaRPr sz="2095" dirty="0"/>
          </a:p>
          <a:p>
            <a:pPr marL="790378" indent="-342900">
              <a:spcBef>
                <a:spcPts val="2228"/>
              </a:spcBef>
              <a:buFont typeface="Wingdings" panose="05000000000000000000" pitchFamily="2" charset="2"/>
              <a:buChar char="Ø"/>
              <a:tabLst>
                <a:tab pos="768205" algn="l"/>
              </a:tabLst>
            </a:pPr>
            <a:r>
              <a:rPr sz="2095" dirty="0"/>
              <a:t>Data</a:t>
            </a:r>
            <a:r>
              <a:rPr sz="2095" spc="66" dirty="0"/>
              <a:t> </a:t>
            </a:r>
            <a:r>
              <a:rPr sz="2095" spc="-11" dirty="0"/>
              <a:t>selection</a:t>
            </a:r>
            <a:endParaRPr sz="2095" dirty="0"/>
          </a:p>
          <a:p>
            <a:pPr marL="790378" indent="-342900">
              <a:spcBef>
                <a:spcPts val="2221"/>
              </a:spcBef>
              <a:buFont typeface="Wingdings" panose="05000000000000000000" pitchFamily="2" charset="2"/>
              <a:buChar char="Ø"/>
              <a:tabLst>
                <a:tab pos="768205" algn="l"/>
              </a:tabLst>
            </a:pPr>
            <a:r>
              <a:rPr sz="2095" dirty="0"/>
              <a:t>Data</a:t>
            </a:r>
            <a:r>
              <a:rPr sz="2095" spc="66" dirty="0"/>
              <a:t> </a:t>
            </a:r>
            <a:r>
              <a:rPr sz="2095" spc="-11" dirty="0"/>
              <a:t>transformation</a:t>
            </a:r>
            <a:endParaRPr sz="2095" dirty="0"/>
          </a:p>
          <a:p>
            <a:pPr marL="790378" indent="-342900">
              <a:spcBef>
                <a:spcPts val="2249"/>
              </a:spcBef>
              <a:buFont typeface="Wingdings" panose="05000000000000000000" pitchFamily="2" charset="2"/>
              <a:buChar char="Ø"/>
              <a:tabLst>
                <a:tab pos="768205" algn="l"/>
              </a:tabLst>
            </a:pPr>
            <a:r>
              <a:rPr sz="2095" dirty="0"/>
              <a:t>Data</a:t>
            </a:r>
            <a:r>
              <a:rPr sz="2095" spc="66" dirty="0"/>
              <a:t> </a:t>
            </a:r>
            <a:r>
              <a:rPr sz="2095" spc="-11" dirty="0"/>
              <a:t>mining</a:t>
            </a:r>
            <a:endParaRPr sz="2095" dirty="0"/>
          </a:p>
          <a:p>
            <a:pPr marL="790378" indent="-342900">
              <a:spcBef>
                <a:spcPts val="2221"/>
              </a:spcBef>
              <a:buFont typeface="Wingdings" panose="05000000000000000000" pitchFamily="2" charset="2"/>
              <a:buChar char="Ø"/>
              <a:tabLst>
                <a:tab pos="768205" algn="l"/>
              </a:tabLst>
            </a:pPr>
            <a:r>
              <a:rPr sz="2095" dirty="0"/>
              <a:t>Pattern</a:t>
            </a:r>
            <a:r>
              <a:rPr sz="2095" spc="55" dirty="0"/>
              <a:t> </a:t>
            </a:r>
            <a:r>
              <a:rPr sz="2095" spc="-11" dirty="0"/>
              <a:t>evaluation</a:t>
            </a:r>
            <a:endParaRPr sz="2095" dirty="0"/>
          </a:p>
          <a:p>
            <a:pPr marL="790378" indent="-342900">
              <a:spcBef>
                <a:spcPts val="2327"/>
              </a:spcBef>
              <a:buFont typeface="Wingdings" panose="05000000000000000000" pitchFamily="2" charset="2"/>
              <a:buChar char="Ø"/>
              <a:tabLst>
                <a:tab pos="768205" algn="l"/>
              </a:tabLst>
            </a:pPr>
            <a:r>
              <a:rPr sz="2095" dirty="0"/>
              <a:t>Knowledge</a:t>
            </a:r>
            <a:r>
              <a:rPr sz="2095" spc="132" dirty="0"/>
              <a:t> </a:t>
            </a:r>
            <a:r>
              <a:rPr sz="2095" spc="-11" dirty="0"/>
              <a:t>presentation</a:t>
            </a:r>
            <a:endParaRPr sz="2095" dirty="0"/>
          </a:p>
        </p:txBody>
      </p:sp>
    </p:spTree>
    <p:extLst>
      <p:ext uri="{BB962C8B-B14F-4D97-AF65-F5344CB8AC3E}">
        <p14:creationId xmlns:p14="http://schemas.microsoft.com/office/powerpoint/2010/main" val="473070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>
            <a:extLst>
              <a:ext uri="{FF2B5EF4-FFF2-40B4-BE49-F238E27FC236}">
                <a16:creationId xmlns:a16="http://schemas.microsoft.com/office/drawing/2014/main" id="{E5E72D43-C37B-AB2D-FCE0-1A3DF8D5B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1" y="439750"/>
            <a:ext cx="5041900" cy="656529"/>
          </a:xfrm>
          <a:noFill/>
        </p:spPr>
        <p:txBody>
          <a:bodyPr wrap="square" lIns="101538" tIns="50770" rIns="101538" bIns="50770" anchor="ctr">
            <a:spAutoFit/>
          </a:bodyPr>
          <a:lstStyle/>
          <a:p>
            <a:pPr eaLnBrk="1" hangingPunct="1"/>
            <a:r>
              <a:rPr lang="en-US" altLang="en-US" sz="3600" dirty="0">
                <a:solidFill>
                  <a:srgbClr val="FF0000"/>
                </a:solidFill>
              </a:rPr>
              <a:t>KDD Process</a:t>
            </a:r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04D74EE3-7626-1F84-6CF0-38E3ADFB7D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Data Mining: Concepts and Techniques</a:t>
            </a:r>
            <a:endParaRPr lang="en-US" altLang="en-US" sz="1323" dirty="0"/>
          </a:p>
        </p:txBody>
      </p:sp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08375EBC-8229-7D8B-0B80-83D2040383D8}"/>
              </a:ext>
            </a:extLst>
          </p:cNvPr>
          <p:cNvSpPr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9696CACE-3807-4D67-872E-78FEB3CCD8F9}" type="datetime4">
              <a:rPr lang="en-US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July 24, 2025</a:t>
            </a:fld>
            <a:endParaRPr lang="en-US" altLang="en-US" sz="1323"/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4C95DE19-F819-95BD-F770-40CC1D3638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BBAD64-AC0E-49C2-A5D9-061661FDDE54}" type="slidenum">
              <a:rPr lang="en-US" altLang="en-US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323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BBB84B-5B42-5A15-4D68-3C3B00F2D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08" y="1512570"/>
            <a:ext cx="9779185" cy="57509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23B676-A164-85A5-4F1C-1E0EE906B64A}"/>
              </a:ext>
            </a:extLst>
          </p:cNvPr>
          <p:cNvSpPr txBox="1"/>
          <p:nvPr/>
        </p:nvSpPr>
        <p:spPr>
          <a:xfrm>
            <a:off x="8565480" y="3131985"/>
            <a:ext cx="210695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data warehouse</a:t>
            </a:r>
            <a:r>
              <a:rPr lang="en-US" dirty="0"/>
              <a:t> is a </a:t>
            </a:r>
            <a:r>
              <a:rPr lang="en-US" b="1" dirty="0" err="1"/>
              <a:t>centralised</a:t>
            </a:r>
            <a:r>
              <a:rPr lang="en-US" b="1" dirty="0"/>
              <a:t> repository</a:t>
            </a:r>
            <a:r>
              <a:rPr lang="en-US" dirty="0"/>
              <a:t> that stores large volumes of data collected from multiple sources in an </a:t>
            </a:r>
            <a:r>
              <a:rPr lang="en-US" dirty="0" err="1"/>
              <a:t>organised</a:t>
            </a:r>
            <a:r>
              <a:rPr lang="en-US" dirty="0"/>
              <a:t> manner to support </a:t>
            </a:r>
            <a:r>
              <a:rPr lang="en-US" b="1" dirty="0"/>
              <a:t>business analysis and decision-making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AF36E1-EC3F-180C-BA2D-0694E1FE7F09}"/>
              </a:ext>
            </a:extLst>
          </p:cNvPr>
          <p:cNvCxnSpPr/>
          <p:nvPr/>
        </p:nvCxnSpPr>
        <p:spPr>
          <a:xfrm flipV="1">
            <a:off x="3365500" y="3476625"/>
            <a:ext cx="5199980" cy="17526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788040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1">
            <a:extLst>
              <a:ext uri="{FF2B5EF4-FFF2-40B4-BE49-F238E27FC236}">
                <a16:creationId xmlns:a16="http://schemas.microsoft.com/office/drawing/2014/main" id="{EE5FA259-EAB1-0A20-19B8-15235AC0E8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7500" y="1190625"/>
            <a:ext cx="10210800" cy="658161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1.Data cleaning 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noise(</a:t>
            </a:r>
            <a:r>
              <a:rPr lang="en-US" sz="2400" b="1" dirty="0"/>
              <a:t>irrelevant, random, outliers or meaningless data)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inconsistent data. </a:t>
            </a:r>
            <a:r>
              <a:rPr lang="en-US" sz="2400" b="1" dirty="0"/>
              <a:t>Ex</a:t>
            </a:r>
            <a:r>
              <a:rPr lang="en-US" sz="2400" dirty="0"/>
              <a:t>: Handling missing values, correcting typos, removing duplicates.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multiple data sources may be combined.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Ex</a:t>
            </a:r>
            <a:r>
              <a:rPr lang="en-US" sz="2400" dirty="0"/>
              <a:t>: Merging different databases (e.g. sales + customer support data).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400" b="1" dirty="0">
                <a:solidFill>
                  <a:srgbClr val="FF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selection 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data relevant to the analysis task are retrieved from the database. </a:t>
            </a:r>
            <a:r>
              <a:rPr lang="en-US" sz="2400" b="1" dirty="0"/>
              <a:t>Ex</a:t>
            </a:r>
            <a:r>
              <a:rPr lang="en-US" sz="2400" dirty="0"/>
              <a:t>: Selecting only customer transaction data within the last year.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2400" b="1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-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data are transformed and consolidated into forms appropriate for mining by performing summary or aggregation operations.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Ex</a:t>
            </a:r>
            <a:r>
              <a:rPr lang="en-US" sz="2400" dirty="0"/>
              <a:t>: Normalization (scaling data into a specific range), aggregation, encoding categorical variables.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Title 2">
            <a:extLst>
              <a:ext uri="{FF2B5EF4-FFF2-40B4-BE49-F238E27FC236}">
                <a16:creationId xmlns:a16="http://schemas.microsoft.com/office/drawing/2014/main" id="{FAFE7A0B-7ECE-48EF-CCAA-B6C81E4F5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0100" y="581025"/>
            <a:ext cx="4953000" cy="415498"/>
          </a:xfrm>
        </p:spPr>
        <p:txBody>
          <a:bodyPr/>
          <a:lstStyle/>
          <a:p>
            <a:r>
              <a:rPr lang="en-US" altLang="en-US" dirty="0"/>
              <a:t>knowledge discovery process</a:t>
            </a:r>
            <a:endParaRPr lang="en-IN" altLang="en-US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9E1169-A2E6-F130-2298-35964E171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16" y="1562803"/>
            <a:ext cx="9685284" cy="5909310"/>
          </a:xfrm>
        </p:spPr>
        <p:txBody>
          <a:bodyPr/>
          <a:lstStyle/>
          <a:p>
            <a:pPr algn="just"/>
            <a:r>
              <a:rPr lang="en-US" altLang="en-US" sz="2400" b="1" dirty="0">
                <a:solidFill>
                  <a:srgbClr val="CC99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5.Data mining -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 essential process where intelligent methods are applied to extract data patterns.</a:t>
            </a:r>
          </a:p>
          <a:p>
            <a:pPr algn="just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1.Classification (predicting categories)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2.Clustering (grouping similar data)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3.Association rule mining (finding item relationships)</a:t>
            </a:r>
          </a:p>
          <a:p>
            <a:pPr algn="just"/>
            <a:r>
              <a:rPr lang="en-US" alt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6.Pattern evaluation -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identify the truly interesting patterns representing knowledge based on interestingness measures</a:t>
            </a:r>
          </a:p>
          <a:p>
            <a:pPr algn="just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Evaluating rules based on confidence, support, or statistical significance.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b="1" dirty="0">
                <a:solidFill>
                  <a:srgbClr val="CC99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7.Knowledge presentation-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where visualization and knowledge representation techniques are used to present mined knowledge to users.</a:t>
            </a:r>
          </a:p>
          <a:p>
            <a:pPr algn="just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Using graphs, charts, reports, dashboards, or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visualisation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tools.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endParaRPr lang="en-IN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3E867A9-6406-C23C-C8E4-29C448E43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34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671436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8F2B7-A3A1-26B3-D929-E69BAB42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0" y="504825"/>
            <a:ext cx="7358964" cy="492443"/>
          </a:xfrm>
        </p:spPr>
        <p:txBody>
          <a:bodyPr/>
          <a:lstStyle/>
          <a:p>
            <a:r>
              <a:rPr lang="en-IN" sz="3200" dirty="0"/>
              <a:t>Classification Vs Clustering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5AF1EC-E411-92D3-4ABE-DBC8E391CCD9}"/>
              </a:ext>
            </a:extLst>
          </p:cNvPr>
          <p:cNvGraphicFramePr>
            <a:graphicFrameLocks noGrp="1"/>
          </p:cNvGraphicFramePr>
          <p:nvPr/>
        </p:nvGraphicFramePr>
        <p:xfrm>
          <a:off x="698500" y="1724025"/>
          <a:ext cx="9525000" cy="48956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436159252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418855031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570612626"/>
                    </a:ext>
                  </a:extLst>
                </a:gridCol>
              </a:tblGrid>
              <a:tr h="112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Aspect</a:t>
                      </a:r>
                      <a:endParaRPr lang="en-IN" sz="2400" dirty="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Classification</a:t>
                      </a:r>
                      <a:endParaRPr lang="en-IN" sz="2400" dirty="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Clustering</a:t>
                      </a:r>
                      <a:endParaRPr lang="en-IN" sz="2400" dirty="0"/>
                    </a:p>
                  </a:txBody>
                  <a:tcPr marL="28152" marR="28152" marT="14076" marB="14076" anchor="ctr"/>
                </a:tc>
                <a:extLst>
                  <a:ext uri="{0D108BD9-81ED-4DB2-BD59-A6C34878D82A}">
                    <a16:rowId xmlns:a16="http://schemas.microsoft.com/office/drawing/2014/main" val="3214533835"/>
                  </a:ext>
                </a:extLst>
              </a:tr>
              <a:tr h="197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Type of learning</a:t>
                      </a:r>
                      <a:endParaRPr lang="en-IN" sz="240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Supervised learning</a:t>
                      </a:r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Unsupervised learning</a:t>
                      </a:r>
                    </a:p>
                  </a:txBody>
                  <a:tcPr marL="28152" marR="28152" marT="14076" marB="14076" anchor="ctr"/>
                </a:tc>
                <a:extLst>
                  <a:ext uri="{0D108BD9-81ED-4DB2-BD59-A6C34878D82A}">
                    <a16:rowId xmlns:a16="http://schemas.microsoft.com/office/drawing/2014/main" val="1526486163"/>
                  </a:ext>
                </a:extLst>
              </a:tr>
              <a:tr h="619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Definition</a:t>
                      </a:r>
                      <a:endParaRPr lang="en-IN" sz="2400" dirty="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Assigning data items to </a:t>
                      </a:r>
                      <a:r>
                        <a:rPr lang="en-US" sz="2400" b="1"/>
                        <a:t>predefined classes or categories</a:t>
                      </a:r>
                      <a:r>
                        <a:rPr lang="en-US" sz="2400"/>
                        <a:t> based on training data.</a:t>
                      </a:r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Grouping similar data items into </a:t>
                      </a:r>
                      <a:r>
                        <a:rPr lang="en-US" sz="2400" b="1"/>
                        <a:t>clusters without predefined labels</a:t>
                      </a:r>
                      <a:r>
                        <a:rPr lang="en-US" sz="2400"/>
                        <a:t>.</a:t>
                      </a:r>
                    </a:p>
                  </a:txBody>
                  <a:tcPr marL="28152" marR="28152" marT="14076" marB="14076" anchor="ctr"/>
                </a:tc>
                <a:extLst>
                  <a:ext uri="{0D108BD9-81ED-4DB2-BD59-A6C34878D82A}">
                    <a16:rowId xmlns:a16="http://schemas.microsoft.com/office/drawing/2014/main" val="1825704364"/>
                  </a:ext>
                </a:extLst>
              </a:tr>
              <a:tr h="450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Training data</a:t>
                      </a:r>
                      <a:endParaRPr lang="en-IN" sz="240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Requires labelled data (each example has a known class).</a:t>
                      </a:r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Does </a:t>
                      </a:r>
                      <a:r>
                        <a:rPr lang="en-US" sz="2400" b="1"/>
                        <a:t>not</a:t>
                      </a:r>
                      <a:r>
                        <a:rPr lang="en-US" sz="2400"/>
                        <a:t> require labelled data.</a:t>
                      </a:r>
                    </a:p>
                  </a:txBody>
                  <a:tcPr marL="28152" marR="28152" marT="14076" marB="14076" anchor="ctr"/>
                </a:tc>
                <a:extLst>
                  <a:ext uri="{0D108BD9-81ED-4DB2-BD59-A6C34878D82A}">
                    <a16:rowId xmlns:a16="http://schemas.microsoft.com/office/drawing/2014/main" val="4243069141"/>
                  </a:ext>
                </a:extLst>
              </a:tr>
              <a:tr h="619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Goal</a:t>
                      </a:r>
                      <a:endParaRPr lang="en-IN" sz="240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Predict class labels for new data based on learnt patterns.</a:t>
                      </a:r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Discover </a:t>
                      </a:r>
                      <a:r>
                        <a:rPr lang="en-US" sz="2400" b="1" dirty="0"/>
                        <a:t>hidden patterns</a:t>
                      </a:r>
                      <a:r>
                        <a:rPr lang="en-US" sz="2400" dirty="0"/>
                        <a:t> or structures in data by grouping similar items.</a:t>
                      </a:r>
                    </a:p>
                  </a:txBody>
                  <a:tcPr marL="28152" marR="28152" marT="14076" marB="14076" anchor="ctr"/>
                </a:tc>
                <a:extLst>
                  <a:ext uri="{0D108BD9-81ED-4DB2-BD59-A6C34878D82A}">
                    <a16:rowId xmlns:a16="http://schemas.microsoft.com/office/drawing/2014/main" val="1377491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39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66506-82C5-4CCF-ADA1-9CD014DB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100" y="590337"/>
            <a:ext cx="7358964" cy="430887"/>
          </a:xfrm>
        </p:spPr>
        <p:txBody>
          <a:bodyPr/>
          <a:lstStyle/>
          <a:p>
            <a:r>
              <a:rPr lang="en-IN" sz="2800" dirty="0"/>
              <a:t>Classification Vs Clustering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5D9602-B274-FADE-C03C-B4CFED40629E}"/>
              </a:ext>
            </a:extLst>
          </p:cNvPr>
          <p:cNvGraphicFramePr>
            <a:graphicFrameLocks noGrp="1"/>
          </p:cNvGraphicFramePr>
          <p:nvPr/>
        </p:nvGraphicFramePr>
        <p:xfrm>
          <a:off x="469900" y="1495425"/>
          <a:ext cx="9639300" cy="547708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213100">
                  <a:extLst>
                    <a:ext uri="{9D8B030D-6E8A-4147-A177-3AD203B41FA5}">
                      <a16:colId xmlns:a16="http://schemas.microsoft.com/office/drawing/2014/main" val="2960184144"/>
                    </a:ext>
                  </a:extLst>
                </a:gridCol>
                <a:gridCol w="3213100">
                  <a:extLst>
                    <a:ext uri="{9D8B030D-6E8A-4147-A177-3AD203B41FA5}">
                      <a16:colId xmlns:a16="http://schemas.microsoft.com/office/drawing/2014/main" val="4075437626"/>
                    </a:ext>
                  </a:extLst>
                </a:gridCol>
                <a:gridCol w="3213100">
                  <a:extLst>
                    <a:ext uri="{9D8B030D-6E8A-4147-A177-3AD203B41FA5}">
                      <a16:colId xmlns:a16="http://schemas.microsoft.com/office/drawing/2014/main" val="20545408"/>
                    </a:ext>
                  </a:extLst>
                </a:gridCol>
              </a:tblGrid>
              <a:tr h="1041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Examples</a:t>
                      </a:r>
                      <a:endParaRPr lang="en-IN" sz="2200" dirty="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- Email spam detection (spam / not spam) - Disease diagnosis (diabetic / non-diabetic) - Image recognition (cat / dog / car)</a:t>
                      </a:r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- Customer segmentation (grouping similar customers) - Grouping news articles by topic - Market segmentation</a:t>
                      </a:r>
                    </a:p>
                  </a:txBody>
                  <a:tcPr marL="28152" marR="28152" marT="14076" marB="14076" anchor="ctr"/>
                </a:tc>
                <a:extLst>
                  <a:ext uri="{0D108BD9-81ED-4DB2-BD59-A6C34878D82A}">
                    <a16:rowId xmlns:a16="http://schemas.microsoft.com/office/drawing/2014/main" val="1693545414"/>
                  </a:ext>
                </a:extLst>
              </a:tr>
              <a:tr h="450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Output</a:t>
                      </a:r>
                      <a:endParaRPr lang="en-IN" sz="2200" dirty="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Model that can assign </a:t>
                      </a:r>
                      <a:r>
                        <a:rPr lang="en-US" sz="2200" b="1" dirty="0"/>
                        <a:t>new unseen data</a:t>
                      </a:r>
                      <a:r>
                        <a:rPr lang="en-US" sz="2200" dirty="0"/>
                        <a:t> to one of the known classes.</a:t>
                      </a:r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Groups or clusters, where each cluster contains similar items.</a:t>
                      </a:r>
                    </a:p>
                  </a:txBody>
                  <a:tcPr marL="28152" marR="28152" marT="14076" marB="14076" anchor="ctr"/>
                </a:tc>
                <a:extLst>
                  <a:ext uri="{0D108BD9-81ED-4DB2-BD59-A6C34878D82A}">
                    <a16:rowId xmlns:a16="http://schemas.microsoft.com/office/drawing/2014/main" val="3912159548"/>
                  </a:ext>
                </a:extLst>
              </a:tr>
              <a:tr h="619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Algorithms used</a:t>
                      </a:r>
                      <a:endParaRPr lang="en-IN" sz="220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Decision Trees, Naive Bayes, k-NN, SVM, Neural Networks.</a:t>
                      </a:r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K-Means, Hierarchical clustering, DBSCAN, Gaussian Mixture Models.</a:t>
                      </a:r>
                    </a:p>
                  </a:txBody>
                  <a:tcPr marL="28152" marR="28152" marT="14076" marB="14076" anchor="ctr"/>
                </a:tc>
                <a:extLst>
                  <a:ext uri="{0D108BD9-81ED-4DB2-BD59-A6C34878D82A}">
                    <a16:rowId xmlns:a16="http://schemas.microsoft.com/office/drawing/2014/main" val="2173592019"/>
                  </a:ext>
                </a:extLst>
              </a:tr>
              <a:tr h="957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Example situation</a:t>
                      </a:r>
                      <a:endParaRPr lang="en-IN" sz="2200"/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You have a dataset of flowers with species labels and want to predict the species of a new flower.</a:t>
                      </a:r>
                    </a:p>
                  </a:txBody>
                  <a:tcPr marL="28152" marR="28152" marT="14076" marB="140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You have customer purchasing data with no labels and want to group customers into segments based on buying behavior.</a:t>
                      </a:r>
                    </a:p>
                  </a:txBody>
                  <a:tcPr marL="28152" marR="28152" marT="14076" marB="14076" anchor="ctr"/>
                </a:tc>
                <a:extLst>
                  <a:ext uri="{0D108BD9-81ED-4DB2-BD59-A6C34878D82A}">
                    <a16:rowId xmlns:a16="http://schemas.microsoft.com/office/drawing/2014/main" val="544847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74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C37820-F455-C3CB-76A6-7ABF8A7FB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63" y="1266825"/>
            <a:ext cx="9747673" cy="5715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83256B-75AD-3170-CB8C-F0496535C1EC}"/>
              </a:ext>
            </a:extLst>
          </p:cNvPr>
          <p:cNvGraphicFramePr>
            <a:graphicFrameLocks noGrp="1"/>
          </p:cNvGraphicFramePr>
          <p:nvPr/>
        </p:nvGraphicFramePr>
        <p:xfrm>
          <a:off x="887413" y="4009073"/>
          <a:ext cx="4848224" cy="640080"/>
        </p:xfrm>
        <a:graphic>
          <a:graphicData uri="http://schemas.openxmlformats.org/drawingml/2006/table">
            <a:tbl>
              <a:tblPr/>
              <a:tblGrid>
                <a:gridCol w="2424112">
                  <a:extLst>
                    <a:ext uri="{9D8B030D-6E8A-4147-A177-3AD203B41FA5}">
                      <a16:colId xmlns:a16="http://schemas.microsoft.com/office/drawing/2014/main" val="3528454357"/>
                    </a:ext>
                  </a:extLst>
                </a:gridCol>
                <a:gridCol w="2424112">
                  <a:extLst>
                    <a:ext uri="{9D8B030D-6E8A-4147-A177-3AD203B41FA5}">
                      <a16:colId xmlns:a16="http://schemas.microsoft.com/office/drawing/2014/main" val="359527401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Feature Selection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Dimensionality Reduction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184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844659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8488" y="465177"/>
            <a:ext cx="38227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6889" algn="l"/>
              </a:tabLst>
            </a:pPr>
            <a:r>
              <a:rPr dirty="0">
                <a:solidFill>
                  <a:srgbClr val="FF0000"/>
                </a:solidFill>
              </a:rPr>
              <a:t>Chapter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1.</a:t>
            </a:r>
            <a:r>
              <a:rPr dirty="0">
                <a:solidFill>
                  <a:srgbClr val="FF0000"/>
                </a:solidFill>
              </a:rPr>
              <a:t>	</a:t>
            </a:r>
            <a:r>
              <a:rPr spc="-1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Mining?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dirty="0"/>
              <a:t>Data</a:t>
            </a:r>
            <a:r>
              <a:rPr spc="55" dirty="0"/>
              <a:t> </a:t>
            </a:r>
            <a:r>
              <a:rPr spc="-10" dirty="0"/>
              <a:t>Mining?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45" dirty="0"/>
              <a:t> </a:t>
            </a:r>
            <a:r>
              <a:rPr dirty="0"/>
              <a:t>Kind</a:t>
            </a:r>
            <a:r>
              <a:rPr spc="6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dirty="0"/>
              <a:t>Can</a:t>
            </a:r>
            <a:r>
              <a:rPr spc="50" dirty="0"/>
              <a:t> </a:t>
            </a:r>
            <a:r>
              <a:rPr dirty="0"/>
              <a:t>Be</a:t>
            </a:r>
            <a:r>
              <a:rPr spc="50" dirty="0"/>
              <a:t> </a:t>
            </a:r>
            <a:r>
              <a:rPr spc="-10" dirty="0"/>
              <a:t>Mined?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spcBef>
                <a:spcPts val="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Kinds</a:t>
            </a:r>
            <a:r>
              <a:rPr spc="5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dirty="0"/>
              <a:t>Patterns</a:t>
            </a:r>
            <a:r>
              <a:rPr spc="55" dirty="0"/>
              <a:t> </a:t>
            </a:r>
            <a:r>
              <a:rPr dirty="0"/>
              <a:t>Can</a:t>
            </a:r>
            <a:r>
              <a:rPr spc="55" dirty="0"/>
              <a:t> </a:t>
            </a:r>
            <a:r>
              <a:rPr dirty="0"/>
              <a:t>Be</a:t>
            </a:r>
            <a:r>
              <a:rPr spc="55" dirty="0"/>
              <a:t> </a:t>
            </a:r>
            <a:r>
              <a:rPr spc="-10" dirty="0"/>
              <a:t>Mined?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Which</a:t>
            </a:r>
            <a:r>
              <a:rPr spc="30" dirty="0"/>
              <a:t> </a:t>
            </a:r>
            <a:r>
              <a:rPr dirty="0"/>
              <a:t>Technologies</a:t>
            </a:r>
            <a:r>
              <a:rPr spc="35" dirty="0"/>
              <a:t> </a:t>
            </a:r>
            <a:r>
              <a:rPr dirty="0"/>
              <a:t>Are</a:t>
            </a:r>
            <a:r>
              <a:rPr spc="35" dirty="0"/>
              <a:t> </a:t>
            </a:r>
            <a:r>
              <a:rPr spc="-20" dirty="0"/>
              <a:t>Used?</a:t>
            </a: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DA1F28"/>
              </a:buClr>
              <a:buFont typeface="Wingdings"/>
              <a:buChar char=""/>
            </a:pPr>
            <a:endParaRPr spc="-2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Which</a:t>
            </a:r>
            <a:r>
              <a:rPr spc="65" dirty="0"/>
              <a:t> </a:t>
            </a:r>
            <a:r>
              <a:rPr dirty="0"/>
              <a:t>Kinds</a:t>
            </a:r>
            <a:r>
              <a:rPr spc="70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Applications</a:t>
            </a:r>
            <a:r>
              <a:rPr spc="65" dirty="0"/>
              <a:t> </a:t>
            </a:r>
            <a:r>
              <a:rPr dirty="0"/>
              <a:t>Are</a:t>
            </a:r>
            <a:r>
              <a:rPr spc="70" dirty="0"/>
              <a:t> </a:t>
            </a:r>
            <a:r>
              <a:rPr spc="-10" dirty="0"/>
              <a:t>Targeted?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Major</a:t>
            </a:r>
            <a:r>
              <a:rPr spc="70" dirty="0"/>
              <a:t> </a:t>
            </a:r>
            <a:r>
              <a:rPr dirty="0"/>
              <a:t>Issues</a:t>
            </a:r>
            <a:r>
              <a:rPr spc="80" dirty="0"/>
              <a:t> </a:t>
            </a:r>
            <a:r>
              <a:rPr dirty="0"/>
              <a:t>in</a:t>
            </a:r>
            <a:r>
              <a:rPr spc="75" dirty="0"/>
              <a:t> </a:t>
            </a:r>
            <a:r>
              <a:rPr dirty="0"/>
              <a:t>Data</a:t>
            </a:r>
            <a:r>
              <a:rPr spc="75" dirty="0"/>
              <a:t> </a:t>
            </a:r>
            <a:r>
              <a:rPr spc="-10" dirty="0"/>
              <a:t>Mining</a:t>
            </a: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pc="-10" dirty="0"/>
              <a:t>Summary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790587" y="2888039"/>
            <a:ext cx="426720" cy="340995"/>
            <a:chOff x="4790587" y="2888039"/>
            <a:chExt cx="426720" cy="340995"/>
          </a:xfrm>
        </p:grpSpPr>
        <p:sp>
          <p:nvSpPr>
            <p:cNvPr id="6" name="object 6"/>
            <p:cNvSpPr/>
            <p:nvPr/>
          </p:nvSpPr>
          <p:spPr>
            <a:xfrm>
              <a:off x="4796938" y="2910975"/>
              <a:ext cx="353695" cy="311150"/>
            </a:xfrm>
            <a:custGeom>
              <a:avLst/>
              <a:gdLst/>
              <a:ahLst/>
              <a:cxnLst/>
              <a:rect l="l" t="t" r="r" b="b"/>
              <a:pathLst>
                <a:path w="353695" h="311150">
                  <a:moveTo>
                    <a:pt x="46879" y="0"/>
                  </a:moveTo>
                  <a:lnTo>
                    <a:pt x="0" y="187027"/>
                  </a:lnTo>
                  <a:lnTo>
                    <a:pt x="147499" y="311141"/>
                  </a:lnTo>
                  <a:lnTo>
                    <a:pt x="122344" y="233356"/>
                  </a:lnTo>
                  <a:lnTo>
                    <a:pt x="353167" y="158644"/>
                  </a:lnTo>
                  <a:lnTo>
                    <a:pt x="302858" y="3074"/>
                  </a:lnTo>
                  <a:lnTo>
                    <a:pt x="72034" y="77784"/>
                  </a:lnTo>
                  <a:lnTo>
                    <a:pt x="46879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1945" y="2894389"/>
              <a:ext cx="98903" cy="1712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796938" y="2910976"/>
              <a:ext cx="353695" cy="311150"/>
            </a:xfrm>
            <a:custGeom>
              <a:avLst/>
              <a:gdLst/>
              <a:ahLst/>
              <a:cxnLst/>
              <a:rect l="l" t="t" r="r" b="b"/>
              <a:pathLst>
                <a:path w="353695" h="311150">
                  <a:moveTo>
                    <a:pt x="147498" y="311140"/>
                  </a:moveTo>
                  <a:lnTo>
                    <a:pt x="122343" y="233355"/>
                  </a:lnTo>
                  <a:lnTo>
                    <a:pt x="353167" y="158644"/>
                  </a:lnTo>
                  <a:lnTo>
                    <a:pt x="302857" y="3074"/>
                  </a:lnTo>
                  <a:lnTo>
                    <a:pt x="72034" y="77785"/>
                  </a:lnTo>
                  <a:lnTo>
                    <a:pt x="46879" y="0"/>
                  </a:lnTo>
                  <a:lnTo>
                    <a:pt x="0" y="187027"/>
                  </a:lnTo>
                  <a:lnTo>
                    <a:pt x="147498" y="311140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595" y="2888039"/>
              <a:ext cx="111604" cy="183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>
            <a:extLst>
              <a:ext uri="{FF2B5EF4-FFF2-40B4-BE49-F238E27FC236}">
                <a16:creationId xmlns:a16="http://schemas.microsoft.com/office/drawing/2014/main" id="{E5E72D43-C37B-AB2D-FCE0-1A3DF8D5B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6005"/>
            <a:ext cx="7730913" cy="656529"/>
          </a:xfrm>
          <a:noFill/>
        </p:spPr>
        <p:txBody>
          <a:bodyPr wrap="square" lIns="101538" tIns="50770" rIns="101538" bIns="50770" anchor="ctr">
            <a:spAutoFit/>
          </a:bodyPr>
          <a:lstStyle/>
          <a:p>
            <a:pPr eaLnBrk="1" hangingPunct="1"/>
            <a:r>
              <a:rPr lang="en-US" altLang="en-US" sz="3600" dirty="0">
                <a:solidFill>
                  <a:srgbClr val="FF0000"/>
                </a:solidFill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E9858-94AE-69E9-E96F-E824EEA00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07" y="1410185"/>
            <a:ext cx="9558893" cy="50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29733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706774"/>
            <a:ext cx="9043035" cy="44456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 marR="5080" indent="-340360">
              <a:lnSpc>
                <a:spcPct val="101099"/>
              </a:lnSpc>
              <a:spcBef>
                <a:spcPts val="7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Applied</a:t>
            </a:r>
            <a:r>
              <a:rPr sz="1900" spc="2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2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any</a:t>
            </a:r>
            <a:r>
              <a:rPr sz="1900" spc="2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kind</a:t>
            </a:r>
            <a:r>
              <a:rPr sz="1900" spc="2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2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2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as</a:t>
            </a:r>
            <a:r>
              <a:rPr sz="1900" spc="2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long</a:t>
            </a:r>
            <a:r>
              <a:rPr sz="1900" spc="2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as</a:t>
            </a:r>
            <a:r>
              <a:rPr sz="1900" spc="2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2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information</a:t>
            </a:r>
            <a:r>
              <a:rPr sz="1900" spc="2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is</a:t>
            </a:r>
            <a:r>
              <a:rPr sz="1900" spc="2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meaningful</a:t>
            </a:r>
            <a:r>
              <a:rPr sz="1900" spc="21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for</a:t>
            </a:r>
            <a:r>
              <a:rPr sz="1900" spc="229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targeted application.</a:t>
            </a:r>
            <a:endParaRPr sz="19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Database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Data:</a:t>
            </a:r>
            <a:endParaRPr sz="1900" dirty="0">
              <a:latin typeface="Cambria"/>
              <a:cs typeface="Cambria"/>
            </a:endParaRPr>
          </a:p>
          <a:p>
            <a:pPr marL="696595" marR="5080" indent="-291465">
              <a:lnSpc>
                <a:spcPct val="100000"/>
              </a:lnSpc>
              <a:spcBef>
                <a:spcPts val="1220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DBMS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–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collection</a:t>
            </a:r>
            <a:r>
              <a:rPr sz="1900" spc="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interrelated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(database)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set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6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programs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spc="-25" dirty="0">
                <a:latin typeface="Cambria"/>
                <a:cs typeface="Cambria"/>
              </a:rPr>
              <a:t>for </a:t>
            </a:r>
            <a:r>
              <a:rPr sz="1900" spc="-10" dirty="0">
                <a:latin typeface="Cambria"/>
                <a:cs typeface="Cambria"/>
              </a:rPr>
              <a:t>manipulation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RD</a:t>
            </a:r>
            <a:r>
              <a:rPr lang="en-IN" sz="1900" dirty="0">
                <a:latin typeface="Cambria"/>
                <a:cs typeface="Cambria"/>
              </a:rPr>
              <a:t>B</a:t>
            </a:r>
            <a:r>
              <a:rPr sz="1900" dirty="0">
                <a:latin typeface="Cambria"/>
                <a:cs typeface="Cambria"/>
              </a:rPr>
              <a:t>MS</a:t>
            </a:r>
            <a:r>
              <a:rPr sz="1900" spc="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–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collection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tables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(unique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name)</a:t>
            </a:r>
            <a:endParaRPr sz="1900" dirty="0">
              <a:latin typeface="Cambria"/>
              <a:cs typeface="Cambria"/>
            </a:endParaRPr>
          </a:p>
          <a:p>
            <a:pPr marL="992505" lvl="1" indent="-244475">
              <a:lnSpc>
                <a:spcPct val="100000"/>
              </a:lnSpc>
              <a:spcBef>
                <a:spcPts val="1130"/>
              </a:spcBef>
              <a:buClr>
                <a:srgbClr val="DA1F28"/>
              </a:buClr>
              <a:buSzPct val="73684"/>
              <a:buFont typeface="Wingdings"/>
              <a:buChar char=""/>
              <a:tabLst>
                <a:tab pos="992505" algn="l"/>
              </a:tabLst>
            </a:pPr>
            <a:r>
              <a:rPr sz="1900" dirty="0">
                <a:latin typeface="Cambria"/>
                <a:cs typeface="Cambria"/>
              </a:rPr>
              <a:t>Table</a:t>
            </a:r>
            <a:r>
              <a:rPr sz="1900" spc="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–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set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attributes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(columns/fields)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stores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tuples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(records/rows)</a:t>
            </a:r>
            <a:endParaRPr sz="1900" dirty="0">
              <a:latin typeface="Cambria"/>
              <a:cs typeface="Cambria"/>
            </a:endParaRPr>
          </a:p>
          <a:p>
            <a:pPr marL="992505" lvl="1" indent="-244475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73684"/>
              <a:buFont typeface="Wingdings"/>
              <a:buChar char=""/>
              <a:tabLst>
                <a:tab pos="992505" algn="l"/>
              </a:tabLst>
            </a:pPr>
            <a:r>
              <a:rPr sz="1900" dirty="0">
                <a:latin typeface="Cambria"/>
                <a:cs typeface="Cambria"/>
              </a:rPr>
              <a:t>Unique</a:t>
            </a:r>
            <a:r>
              <a:rPr sz="1900" spc="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key</a:t>
            </a:r>
            <a:r>
              <a:rPr sz="1900" spc="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–ER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model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0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RD</a:t>
            </a:r>
            <a:r>
              <a:rPr lang="en-IN" sz="1900" dirty="0">
                <a:latin typeface="Cambria"/>
                <a:cs typeface="Cambria"/>
              </a:rPr>
              <a:t>B</a:t>
            </a:r>
            <a:r>
              <a:rPr sz="1900" dirty="0">
                <a:latin typeface="Cambria"/>
                <a:cs typeface="Cambria"/>
              </a:rPr>
              <a:t>MS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–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accessed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by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database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queries</a:t>
            </a:r>
            <a:r>
              <a:rPr sz="1900" spc="4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(SQL)</a:t>
            </a:r>
            <a:endParaRPr sz="1900" dirty="0">
              <a:latin typeface="Cambria"/>
              <a:cs typeface="Cambria"/>
            </a:endParaRPr>
          </a:p>
          <a:p>
            <a:pPr marL="992505" lvl="1" indent="-244475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73684"/>
              <a:buFont typeface="Wingdings"/>
              <a:buChar char=""/>
              <a:tabLst>
                <a:tab pos="992505" algn="l"/>
              </a:tabLst>
            </a:pPr>
            <a:r>
              <a:rPr sz="1900" dirty="0">
                <a:latin typeface="Cambria"/>
                <a:cs typeface="Cambria"/>
              </a:rPr>
              <a:t>Query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–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relational</a:t>
            </a:r>
            <a:r>
              <a:rPr sz="1900" spc="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operations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such</a:t>
            </a:r>
            <a:r>
              <a:rPr sz="1900" spc="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as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join,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selection</a:t>
            </a:r>
            <a:r>
              <a:rPr sz="1900" spc="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&amp;</a:t>
            </a:r>
            <a:r>
              <a:rPr sz="1900" spc="4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projection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RD</a:t>
            </a:r>
            <a:r>
              <a:rPr lang="en-IN" sz="1900" dirty="0">
                <a:latin typeface="Cambria"/>
                <a:cs typeface="Cambria"/>
              </a:rPr>
              <a:t>B</a:t>
            </a:r>
            <a:r>
              <a:rPr sz="1900" dirty="0">
                <a:latin typeface="Cambria"/>
                <a:cs typeface="Cambria"/>
              </a:rPr>
              <a:t>MS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–</a:t>
            </a:r>
            <a:r>
              <a:rPr sz="1900" spc="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analyze</a:t>
            </a:r>
            <a:r>
              <a:rPr sz="1900" spc="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trends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or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patterns</a:t>
            </a:r>
            <a:endParaRPr sz="19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370205">
              <a:lnSpc>
                <a:spcPct val="100000"/>
              </a:lnSpc>
              <a:spcBef>
                <a:spcPts val="100"/>
              </a:spcBef>
            </a:pPr>
            <a:r>
              <a:rPr dirty="0"/>
              <a:t>1.3</a:t>
            </a:r>
            <a:r>
              <a:rPr spc="5" dirty="0"/>
              <a:t> </a:t>
            </a:r>
            <a:r>
              <a:rPr dirty="0"/>
              <a:t>What Kinds</a:t>
            </a:r>
            <a:r>
              <a:rPr spc="1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Data</a:t>
            </a:r>
            <a:r>
              <a:rPr spc="5" dirty="0"/>
              <a:t> </a:t>
            </a:r>
            <a:r>
              <a:rPr dirty="0"/>
              <a:t>Can Be</a:t>
            </a:r>
            <a:r>
              <a:rPr spc="10" dirty="0"/>
              <a:t> </a:t>
            </a:r>
            <a:r>
              <a:rPr spc="-10" dirty="0"/>
              <a:t>Mined?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706774"/>
            <a:ext cx="904240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 marR="5080" indent="-340360">
              <a:lnSpc>
                <a:spcPct val="101099"/>
              </a:lnSpc>
              <a:spcBef>
                <a:spcPts val="7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Example: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relational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database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for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AllElectronics.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company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is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described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by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the </a:t>
            </a:r>
            <a:r>
              <a:rPr sz="1900" dirty="0">
                <a:latin typeface="Cambria"/>
                <a:cs typeface="Cambria"/>
              </a:rPr>
              <a:t>following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relation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tables: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customer,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item,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employee,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branch.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65341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What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Kinds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Data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Can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Be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Mined?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75534" y="2843850"/>
            <a:ext cx="893444" cy="3251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i="1" spc="-65" dirty="0">
                <a:latin typeface="Calibri"/>
                <a:cs typeface="Calibri"/>
              </a:rPr>
              <a:t>customer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85177" y="3100681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23355" y="310068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63945" y="310068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43692" y="3755151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93931" y="375515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85488" y="4106057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77753" y="4456964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02207" y="4807871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38139" y="4807871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77171" y="4807871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53694" y="480787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03413" y="516017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02207" y="5160171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96654" y="5160171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78959" y="5511077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64355" y="3450395"/>
            <a:ext cx="1017269" cy="21291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557530" algn="r">
              <a:lnSpc>
                <a:spcPct val="118100"/>
              </a:lnSpc>
              <a:spcBef>
                <a:spcPts val="80"/>
              </a:spcBef>
            </a:pPr>
            <a:r>
              <a:rPr sz="1950" i="1" spc="-55" dirty="0">
                <a:latin typeface="Calibri"/>
                <a:cs typeface="Calibri"/>
              </a:rPr>
              <a:t>item </a:t>
            </a:r>
            <a:r>
              <a:rPr sz="1950" i="1" spc="-10" dirty="0">
                <a:latin typeface="Calibri"/>
                <a:cs typeface="Calibri"/>
              </a:rPr>
              <a:t>employee branch </a:t>
            </a:r>
            <a:r>
              <a:rPr sz="1950" i="1" spc="-25" dirty="0">
                <a:latin typeface="Calibri"/>
                <a:cs typeface="Calibri"/>
              </a:rPr>
              <a:t>purchases items</a:t>
            </a:r>
            <a:r>
              <a:rPr sz="1950" i="1" spc="45" dirty="0">
                <a:latin typeface="Calibri"/>
                <a:cs typeface="Calibri"/>
              </a:rPr>
              <a:t> </a:t>
            </a:r>
            <a:r>
              <a:rPr sz="1950" i="1" spc="-40" dirty="0">
                <a:latin typeface="Calibri"/>
                <a:cs typeface="Calibri"/>
              </a:rPr>
              <a:t>sold </a:t>
            </a:r>
            <a:r>
              <a:rPr sz="1950" i="1" spc="-25" dirty="0">
                <a:latin typeface="Calibri"/>
                <a:cs typeface="Calibri"/>
              </a:rPr>
              <a:t>works</a:t>
            </a:r>
            <a:r>
              <a:rPr sz="1950" i="1" spc="50" dirty="0">
                <a:latin typeface="Calibri"/>
                <a:cs typeface="Calibri"/>
              </a:rPr>
              <a:t> </a:t>
            </a:r>
            <a:r>
              <a:rPr sz="1950" i="1" spc="-25" dirty="0">
                <a:latin typeface="Calibri"/>
                <a:cs typeface="Calibri"/>
              </a:rPr>
              <a:t>at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85488" y="5511077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16783" y="5511077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4955" y="0"/>
                </a:lnTo>
              </a:path>
            </a:pathLst>
          </a:custGeom>
          <a:ln w="11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288750" y="2843850"/>
            <a:ext cx="7491730" cy="27355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3970" marR="5080">
              <a:lnSpc>
                <a:spcPct val="102699"/>
              </a:lnSpc>
              <a:spcBef>
                <a:spcPts val="50"/>
              </a:spcBef>
            </a:pPr>
            <a:r>
              <a:rPr sz="1950" i="1" spc="-20" dirty="0">
                <a:latin typeface="Georgia"/>
                <a:cs typeface="Georgia"/>
              </a:rPr>
              <a:t>(</a:t>
            </a:r>
            <a:r>
              <a:rPr sz="1950" i="1" spc="-20" dirty="0">
                <a:latin typeface="Calibri"/>
                <a:cs typeface="Calibri"/>
              </a:rPr>
              <a:t>cust</a:t>
            </a:r>
            <a:r>
              <a:rPr sz="1950" i="1" spc="85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55" dirty="0">
                <a:latin typeface="Calibri"/>
                <a:cs typeface="Calibri"/>
              </a:rPr>
              <a:t> </a:t>
            </a:r>
            <a:r>
              <a:rPr sz="1950" i="1" spc="-35" dirty="0">
                <a:latin typeface="Calibri"/>
                <a:cs typeface="Calibri"/>
              </a:rPr>
              <a:t>name,</a:t>
            </a:r>
            <a:r>
              <a:rPr sz="1950" i="1" spc="-50" dirty="0">
                <a:latin typeface="Calibri"/>
                <a:cs typeface="Calibri"/>
              </a:rPr>
              <a:t> </a:t>
            </a:r>
            <a:r>
              <a:rPr sz="1950" i="1" spc="-70" dirty="0">
                <a:latin typeface="Calibri"/>
                <a:cs typeface="Calibri"/>
              </a:rPr>
              <a:t>address,</a:t>
            </a:r>
            <a:r>
              <a:rPr sz="1950" i="1" spc="-40" dirty="0">
                <a:latin typeface="Calibri"/>
                <a:cs typeface="Calibri"/>
              </a:rPr>
              <a:t> </a:t>
            </a:r>
            <a:r>
              <a:rPr sz="1950" i="1" spc="-120" dirty="0">
                <a:latin typeface="Calibri"/>
                <a:cs typeface="Calibri"/>
              </a:rPr>
              <a:t>age,</a:t>
            </a:r>
            <a:r>
              <a:rPr sz="1950" i="1" spc="10" dirty="0">
                <a:latin typeface="Calibri"/>
                <a:cs typeface="Calibri"/>
              </a:rPr>
              <a:t> </a:t>
            </a:r>
            <a:r>
              <a:rPr sz="1950" i="1" spc="-45" dirty="0">
                <a:latin typeface="Calibri"/>
                <a:cs typeface="Calibri"/>
              </a:rPr>
              <a:t>occupation,</a:t>
            </a:r>
            <a:r>
              <a:rPr sz="1950" i="1" spc="-50" dirty="0">
                <a:latin typeface="Calibri"/>
                <a:cs typeface="Calibri"/>
              </a:rPr>
              <a:t> </a:t>
            </a:r>
            <a:r>
              <a:rPr sz="1950" i="1" dirty="0">
                <a:latin typeface="Calibri"/>
                <a:cs typeface="Calibri"/>
              </a:rPr>
              <a:t>annual</a:t>
            </a:r>
            <a:r>
              <a:rPr sz="1950" i="1" spc="170" dirty="0">
                <a:latin typeface="Calibri"/>
                <a:cs typeface="Calibri"/>
              </a:rPr>
              <a:t> </a:t>
            </a:r>
            <a:r>
              <a:rPr sz="1950" i="1" spc="-35" dirty="0">
                <a:latin typeface="Calibri"/>
                <a:cs typeface="Calibri"/>
              </a:rPr>
              <a:t>income</a:t>
            </a:r>
            <a:r>
              <a:rPr sz="1950" spc="-35" dirty="0">
                <a:latin typeface="Calibri"/>
                <a:cs typeface="Calibri"/>
              </a:rPr>
              <a:t>,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i="1" spc="-10" dirty="0">
                <a:latin typeface="Calibri"/>
                <a:cs typeface="Calibri"/>
              </a:rPr>
              <a:t>credit</a:t>
            </a:r>
            <a:r>
              <a:rPr sz="1950" i="1" spc="165" dirty="0">
                <a:latin typeface="Calibri"/>
                <a:cs typeface="Calibri"/>
              </a:rPr>
              <a:t> </a:t>
            </a:r>
            <a:r>
              <a:rPr sz="1950" i="1" spc="-10" dirty="0">
                <a:latin typeface="Calibri"/>
                <a:cs typeface="Calibri"/>
              </a:rPr>
              <a:t>information, </a:t>
            </a:r>
            <a:r>
              <a:rPr sz="1950" i="1" spc="-75" dirty="0">
                <a:latin typeface="Calibri"/>
                <a:cs typeface="Calibri"/>
              </a:rPr>
              <a:t>category</a:t>
            </a:r>
            <a:r>
              <a:rPr sz="1950" spc="-75" dirty="0">
                <a:latin typeface="Calibri"/>
                <a:cs typeface="Calibri"/>
              </a:rPr>
              <a:t>,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i="1" spc="-50" dirty="0">
                <a:latin typeface="Georgia"/>
                <a:cs typeface="Georgia"/>
              </a:rPr>
              <a:t>)</a:t>
            </a:r>
            <a:endParaRPr sz="1950">
              <a:latin typeface="Georgia"/>
              <a:cs typeface="Georgia"/>
            </a:endParaRPr>
          </a:p>
          <a:p>
            <a:pPr marL="14604" marR="826769" indent="-1270">
              <a:lnSpc>
                <a:spcPct val="117500"/>
              </a:lnSpc>
              <a:spcBef>
                <a:spcPts val="15"/>
              </a:spcBef>
            </a:pPr>
            <a:r>
              <a:rPr sz="1950" i="1" dirty="0">
                <a:latin typeface="Georgia"/>
                <a:cs typeface="Georgia"/>
              </a:rPr>
              <a:t>(</a:t>
            </a:r>
            <a:r>
              <a:rPr sz="1950" i="1" dirty="0">
                <a:latin typeface="Calibri"/>
                <a:cs typeface="Calibri"/>
              </a:rPr>
              <a:t>item</a:t>
            </a:r>
            <a:r>
              <a:rPr sz="1950" i="1" spc="35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40" dirty="0">
                <a:latin typeface="Calibri"/>
                <a:cs typeface="Calibri"/>
              </a:rPr>
              <a:t> </a:t>
            </a:r>
            <a:r>
              <a:rPr sz="1950" i="1" spc="-20" dirty="0">
                <a:latin typeface="Calibri"/>
                <a:cs typeface="Calibri"/>
              </a:rPr>
              <a:t>brand,</a:t>
            </a:r>
            <a:r>
              <a:rPr sz="1950" i="1" spc="-45" dirty="0">
                <a:latin typeface="Calibri"/>
                <a:cs typeface="Calibri"/>
              </a:rPr>
              <a:t> </a:t>
            </a:r>
            <a:r>
              <a:rPr sz="1950" i="1" spc="-95" dirty="0">
                <a:latin typeface="Calibri"/>
                <a:cs typeface="Calibri"/>
              </a:rPr>
              <a:t>category,</a:t>
            </a:r>
            <a:r>
              <a:rPr sz="1950" i="1" spc="-15" dirty="0">
                <a:latin typeface="Calibri"/>
                <a:cs typeface="Calibri"/>
              </a:rPr>
              <a:t> </a:t>
            </a:r>
            <a:r>
              <a:rPr sz="1950" i="1" spc="-50" dirty="0">
                <a:latin typeface="Calibri"/>
                <a:cs typeface="Calibri"/>
              </a:rPr>
              <a:t>type,</a:t>
            </a:r>
            <a:r>
              <a:rPr sz="1950" i="1" spc="-40" dirty="0">
                <a:latin typeface="Calibri"/>
                <a:cs typeface="Calibri"/>
              </a:rPr>
              <a:t> </a:t>
            </a:r>
            <a:r>
              <a:rPr sz="1950" i="1" spc="-20" dirty="0">
                <a:latin typeface="Calibri"/>
                <a:cs typeface="Calibri"/>
              </a:rPr>
              <a:t>price,</a:t>
            </a:r>
            <a:r>
              <a:rPr sz="1950" i="1" spc="-40" dirty="0">
                <a:latin typeface="Calibri"/>
                <a:cs typeface="Calibri"/>
              </a:rPr>
              <a:t> </a:t>
            </a:r>
            <a:r>
              <a:rPr sz="1950" i="1" spc="-35" dirty="0">
                <a:latin typeface="Calibri"/>
                <a:cs typeface="Calibri"/>
              </a:rPr>
              <a:t>place</a:t>
            </a:r>
            <a:r>
              <a:rPr sz="1950" i="1" spc="185" dirty="0">
                <a:latin typeface="Calibri"/>
                <a:cs typeface="Calibri"/>
              </a:rPr>
              <a:t> </a:t>
            </a:r>
            <a:r>
              <a:rPr sz="1950" i="1" spc="-45" dirty="0">
                <a:latin typeface="Calibri"/>
                <a:cs typeface="Calibri"/>
              </a:rPr>
              <a:t>made,</a:t>
            </a:r>
            <a:r>
              <a:rPr sz="1950" i="1" spc="-40" dirty="0">
                <a:latin typeface="Calibri"/>
                <a:cs typeface="Calibri"/>
              </a:rPr>
              <a:t> </a:t>
            </a:r>
            <a:r>
              <a:rPr sz="1950" i="1" spc="-35" dirty="0">
                <a:latin typeface="Calibri"/>
                <a:cs typeface="Calibri"/>
              </a:rPr>
              <a:t>supplier,</a:t>
            </a:r>
            <a:r>
              <a:rPr sz="1950" i="1" spc="-40" dirty="0">
                <a:latin typeface="Calibri"/>
                <a:cs typeface="Calibri"/>
              </a:rPr>
              <a:t> </a:t>
            </a:r>
            <a:r>
              <a:rPr sz="1950" i="1" spc="-80" dirty="0">
                <a:latin typeface="Calibri"/>
                <a:cs typeface="Calibri"/>
              </a:rPr>
              <a:t>cost</a:t>
            </a:r>
            <a:r>
              <a:rPr sz="1950" spc="-80" dirty="0">
                <a:latin typeface="Calibri"/>
                <a:cs typeface="Calibri"/>
              </a:rPr>
              <a:t>,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i="1" spc="-50" dirty="0">
                <a:latin typeface="Georgia"/>
                <a:cs typeface="Georgia"/>
              </a:rPr>
              <a:t>) </a:t>
            </a:r>
            <a:r>
              <a:rPr sz="1950" i="1" dirty="0">
                <a:latin typeface="Georgia"/>
                <a:cs typeface="Georgia"/>
              </a:rPr>
              <a:t>(</a:t>
            </a:r>
            <a:r>
              <a:rPr sz="1950" i="1" dirty="0">
                <a:latin typeface="Calibri"/>
                <a:cs typeface="Calibri"/>
              </a:rPr>
              <a:t>empl</a:t>
            </a:r>
            <a:r>
              <a:rPr sz="1950" i="1" spc="130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20" dirty="0">
                <a:latin typeface="Calibri"/>
                <a:cs typeface="Calibri"/>
              </a:rPr>
              <a:t> </a:t>
            </a:r>
            <a:r>
              <a:rPr sz="1950" i="1" spc="-35" dirty="0">
                <a:latin typeface="Calibri"/>
                <a:cs typeface="Calibri"/>
              </a:rPr>
              <a:t>name,</a:t>
            </a:r>
            <a:r>
              <a:rPr sz="1950" i="1" spc="-20" dirty="0">
                <a:latin typeface="Calibri"/>
                <a:cs typeface="Calibri"/>
              </a:rPr>
              <a:t> </a:t>
            </a:r>
            <a:r>
              <a:rPr sz="1950" i="1" spc="-95" dirty="0">
                <a:latin typeface="Calibri"/>
                <a:cs typeface="Calibri"/>
              </a:rPr>
              <a:t>category,</a:t>
            </a:r>
            <a:r>
              <a:rPr sz="1950" i="1" spc="-15" dirty="0">
                <a:latin typeface="Calibri"/>
                <a:cs typeface="Calibri"/>
              </a:rPr>
              <a:t> </a:t>
            </a:r>
            <a:r>
              <a:rPr sz="1950" i="1" spc="-60" dirty="0">
                <a:latin typeface="Calibri"/>
                <a:cs typeface="Calibri"/>
              </a:rPr>
              <a:t>group,</a:t>
            </a:r>
            <a:r>
              <a:rPr sz="1950" i="1" spc="-20" dirty="0">
                <a:latin typeface="Calibri"/>
                <a:cs typeface="Calibri"/>
              </a:rPr>
              <a:t> </a:t>
            </a:r>
            <a:r>
              <a:rPr sz="1950" i="1" spc="-50" dirty="0">
                <a:latin typeface="Calibri"/>
                <a:cs typeface="Calibri"/>
              </a:rPr>
              <a:t>salary,</a:t>
            </a:r>
            <a:r>
              <a:rPr sz="1950" i="1" spc="-20" dirty="0">
                <a:latin typeface="Calibri"/>
                <a:cs typeface="Calibri"/>
              </a:rPr>
              <a:t> </a:t>
            </a:r>
            <a:r>
              <a:rPr sz="1950" i="1" spc="-40" dirty="0">
                <a:latin typeface="Calibri"/>
                <a:cs typeface="Calibri"/>
              </a:rPr>
              <a:t>commission</a:t>
            </a:r>
            <a:r>
              <a:rPr sz="1950" spc="-40" dirty="0">
                <a:latin typeface="Calibri"/>
                <a:cs typeface="Calibri"/>
              </a:rPr>
              <a:t>,</a:t>
            </a:r>
            <a:r>
              <a:rPr sz="1950" spc="-25" dirty="0">
                <a:latin typeface="Calibri"/>
                <a:cs typeface="Calibri"/>
              </a:rPr>
              <a:t> 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65" dirty="0">
                <a:latin typeface="Calibri"/>
                <a:cs typeface="Calibri"/>
              </a:rPr>
              <a:t> </a:t>
            </a:r>
            <a:r>
              <a:rPr sz="1950" i="1" spc="-50" dirty="0">
                <a:latin typeface="Georgia"/>
                <a:cs typeface="Georgia"/>
              </a:rPr>
              <a:t>)</a:t>
            </a:r>
            <a:endParaRPr sz="1950">
              <a:latin typeface="Georgia"/>
              <a:cs typeface="Georgia"/>
            </a:endParaRPr>
          </a:p>
          <a:p>
            <a:pPr marL="13970">
              <a:lnSpc>
                <a:spcPct val="100000"/>
              </a:lnSpc>
              <a:spcBef>
                <a:spcPts val="425"/>
              </a:spcBef>
            </a:pPr>
            <a:r>
              <a:rPr sz="1950" i="1" spc="-10" dirty="0">
                <a:latin typeface="Georgia"/>
                <a:cs typeface="Georgia"/>
              </a:rPr>
              <a:t>(</a:t>
            </a:r>
            <a:r>
              <a:rPr sz="1950" i="1" spc="-10" dirty="0">
                <a:latin typeface="Calibri"/>
                <a:cs typeface="Calibri"/>
              </a:rPr>
              <a:t>branch</a:t>
            </a:r>
            <a:r>
              <a:rPr sz="1950" i="1" spc="125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30" dirty="0">
                <a:latin typeface="Calibri"/>
                <a:cs typeface="Calibri"/>
              </a:rPr>
              <a:t> </a:t>
            </a:r>
            <a:r>
              <a:rPr sz="1950" i="1" spc="-35" dirty="0">
                <a:latin typeface="Calibri"/>
                <a:cs typeface="Calibri"/>
              </a:rPr>
              <a:t>name,</a:t>
            </a:r>
            <a:r>
              <a:rPr sz="1950" i="1" spc="-25" dirty="0">
                <a:latin typeface="Calibri"/>
                <a:cs typeface="Calibri"/>
              </a:rPr>
              <a:t> </a:t>
            </a:r>
            <a:r>
              <a:rPr sz="1950" i="1" spc="-75" dirty="0">
                <a:latin typeface="Calibri"/>
                <a:cs typeface="Calibri"/>
              </a:rPr>
              <a:t>address</a:t>
            </a:r>
            <a:r>
              <a:rPr sz="1950" spc="-75" dirty="0">
                <a:latin typeface="Calibri"/>
                <a:cs typeface="Calibri"/>
              </a:rPr>
              <a:t>,</a:t>
            </a:r>
            <a:r>
              <a:rPr sz="1950" spc="-25" dirty="0">
                <a:latin typeface="Calibri"/>
                <a:cs typeface="Calibri"/>
              </a:rPr>
              <a:t> 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.</a:t>
            </a:r>
            <a:r>
              <a:rPr sz="1950" spc="-170" dirty="0">
                <a:latin typeface="Calibri"/>
                <a:cs typeface="Calibri"/>
              </a:rPr>
              <a:t> </a:t>
            </a:r>
            <a:r>
              <a:rPr sz="1950" i="1" spc="-50" dirty="0">
                <a:latin typeface="Georgia"/>
                <a:cs typeface="Georgia"/>
              </a:rPr>
              <a:t>)</a:t>
            </a:r>
            <a:endParaRPr sz="1950">
              <a:latin typeface="Georgia"/>
              <a:cs typeface="Georgia"/>
            </a:endParaRPr>
          </a:p>
          <a:p>
            <a:pPr marL="12700" marR="1318260" indent="-635">
              <a:lnSpc>
                <a:spcPts val="2770"/>
              </a:lnSpc>
              <a:spcBef>
                <a:spcPts val="155"/>
              </a:spcBef>
            </a:pPr>
            <a:r>
              <a:rPr sz="1950" i="1" dirty="0">
                <a:latin typeface="Georgia"/>
                <a:cs typeface="Georgia"/>
              </a:rPr>
              <a:t>(</a:t>
            </a:r>
            <a:r>
              <a:rPr sz="1950" i="1" dirty="0">
                <a:latin typeface="Calibri"/>
                <a:cs typeface="Calibri"/>
              </a:rPr>
              <a:t>trans</a:t>
            </a:r>
            <a:r>
              <a:rPr sz="1950" i="1" spc="105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75" dirty="0">
                <a:latin typeface="Calibri"/>
                <a:cs typeface="Calibri"/>
              </a:rPr>
              <a:t> </a:t>
            </a:r>
            <a:r>
              <a:rPr sz="1950" i="1" spc="-20" dirty="0">
                <a:latin typeface="Calibri"/>
                <a:cs typeface="Calibri"/>
              </a:rPr>
              <a:t>cust</a:t>
            </a:r>
            <a:r>
              <a:rPr sz="1950" i="1" spc="120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75" dirty="0">
                <a:latin typeface="Calibri"/>
                <a:cs typeface="Calibri"/>
              </a:rPr>
              <a:t> </a:t>
            </a:r>
            <a:r>
              <a:rPr sz="1950" i="1" dirty="0">
                <a:latin typeface="Calibri"/>
                <a:cs typeface="Calibri"/>
              </a:rPr>
              <a:t>empl</a:t>
            </a:r>
            <a:r>
              <a:rPr sz="1950" i="1" spc="135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75" dirty="0">
                <a:latin typeface="Calibri"/>
                <a:cs typeface="Calibri"/>
              </a:rPr>
              <a:t> </a:t>
            </a:r>
            <a:r>
              <a:rPr sz="1950" i="1" spc="-65" dirty="0">
                <a:latin typeface="Calibri"/>
                <a:cs typeface="Calibri"/>
              </a:rPr>
              <a:t>date,</a:t>
            </a:r>
            <a:r>
              <a:rPr sz="1950" i="1" spc="-45" dirty="0">
                <a:latin typeface="Calibri"/>
                <a:cs typeface="Calibri"/>
              </a:rPr>
              <a:t> </a:t>
            </a:r>
            <a:r>
              <a:rPr sz="1950" i="1" spc="-20" dirty="0">
                <a:latin typeface="Calibri"/>
                <a:cs typeface="Calibri"/>
              </a:rPr>
              <a:t>time,</a:t>
            </a:r>
            <a:r>
              <a:rPr sz="1950" i="1" spc="-70" dirty="0">
                <a:latin typeface="Calibri"/>
                <a:cs typeface="Calibri"/>
              </a:rPr>
              <a:t> </a:t>
            </a:r>
            <a:r>
              <a:rPr sz="1950" i="1" spc="-30" dirty="0">
                <a:latin typeface="Calibri"/>
                <a:cs typeface="Calibri"/>
              </a:rPr>
              <a:t>method</a:t>
            </a:r>
            <a:r>
              <a:rPr sz="1950" i="1" spc="130" dirty="0">
                <a:latin typeface="Calibri"/>
                <a:cs typeface="Calibri"/>
              </a:rPr>
              <a:t> </a:t>
            </a:r>
            <a:r>
              <a:rPr sz="1950" i="1" dirty="0">
                <a:latin typeface="Calibri"/>
                <a:cs typeface="Calibri"/>
              </a:rPr>
              <a:t>paid,</a:t>
            </a:r>
            <a:r>
              <a:rPr sz="1950" i="1" spc="-75" dirty="0">
                <a:latin typeface="Calibri"/>
                <a:cs typeface="Calibri"/>
              </a:rPr>
              <a:t> </a:t>
            </a:r>
            <a:r>
              <a:rPr sz="1950" i="1" spc="-10" dirty="0">
                <a:latin typeface="Calibri"/>
                <a:cs typeface="Calibri"/>
              </a:rPr>
              <a:t>amount</a:t>
            </a:r>
            <a:r>
              <a:rPr sz="1950" i="1" spc="-10" dirty="0">
                <a:latin typeface="Georgia"/>
                <a:cs typeface="Georgia"/>
              </a:rPr>
              <a:t>) </a:t>
            </a:r>
            <a:r>
              <a:rPr sz="1950" i="1" dirty="0">
                <a:latin typeface="Georgia"/>
                <a:cs typeface="Georgia"/>
              </a:rPr>
              <a:t>(</a:t>
            </a:r>
            <a:r>
              <a:rPr sz="1950" i="1" dirty="0">
                <a:latin typeface="Calibri"/>
                <a:cs typeface="Calibri"/>
              </a:rPr>
              <a:t>trans</a:t>
            </a:r>
            <a:r>
              <a:rPr sz="1950" i="1" spc="145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70" dirty="0">
                <a:latin typeface="Calibri"/>
                <a:cs typeface="Calibri"/>
              </a:rPr>
              <a:t> </a:t>
            </a:r>
            <a:r>
              <a:rPr sz="1950" i="1" dirty="0">
                <a:latin typeface="Calibri"/>
                <a:cs typeface="Calibri"/>
              </a:rPr>
              <a:t>item</a:t>
            </a:r>
            <a:r>
              <a:rPr sz="1950" i="1" spc="125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65" dirty="0">
                <a:latin typeface="Calibri"/>
                <a:cs typeface="Calibri"/>
              </a:rPr>
              <a:t> </a:t>
            </a:r>
            <a:r>
              <a:rPr sz="1950" i="1" spc="-20" dirty="0">
                <a:latin typeface="Calibri"/>
                <a:cs typeface="Calibri"/>
              </a:rPr>
              <a:t>qty</a:t>
            </a:r>
            <a:r>
              <a:rPr sz="1950" i="1" spc="-20" dirty="0">
                <a:latin typeface="Georgia"/>
                <a:cs typeface="Georgia"/>
              </a:rPr>
              <a:t>)</a:t>
            </a:r>
            <a:endParaRPr sz="1950">
              <a:latin typeface="Georgia"/>
              <a:cs typeface="Georgia"/>
            </a:endParaRPr>
          </a:p>
          <a:p>
            <a:pPr marL="13335">
              <a:lnSpc>
                <a:spcPct val="100000"/>
              </a:lnSpc>
              <a:spcBef>
                <a:spcPts val="265"/>
              </a:spcBef>
            </a:pPr>
            <a:r>
              <a:rPr sz="1950" i="1" dirty="0">
                <a:latin typeface="Georgia"/>
                <a:cs typeface="Georgia"/>
              </a:rPr>
              <a:t>(</a:t>
            </a:r>
            <a:r>
              <a:rPr sz="1950" i="1" dirty="0">
                <a:latin typeface="Calibri"/>
                <a:cs typeface="Calibri"/>
              </a:rPr>
              <a:t>empl</a:t>
            </a:r>
            <a:r>
              <a:rPr sz="1950" i="1" spc="110" dirty="0">
                <a:latin typeface="Calibri"/>
                <a:cs typeface="Calibri"/>
              </a:rPr>
              <a:t> </a:t>
            </a:r>
            <a:r>
              <a:rPr sz="1950" i="1" spc="95" dirty="0">
                <a:latin typeface="Calibri"/>
                <a:cs typeface="Calibri"/>
              </a:rPr>
              <a:t>ID,</a:t>
            </a:r>
            <a:r>
              <a:rPr sz="1950" i="1" spc="-90" dirty="0">
                <a:latin typeface="Calibri"/>
                <a:cs typeface="Calibri"/>
              </a:rPr>
              <a:t> </a:t>
            </a:r>
            <a:r>
              <a:rPr sz="1950" i="1" spc="-10" dirty="0">
                <a:latin typeface="Calibri"/>
                <a:cs typeface="Calibri"/>
              </a:rPr>
              <a:t>branch</a:t>
            </a:r>
            <a:r>
              <a:rPr sz="1950" i="1" spc="114" dirty="0">
                <a:latin typeface="Calibri"/>
                <a:cs typeface="Calibri"/>
              </a:rPr>
              <a:t> </a:t>
            </a:r>
            <a:r>
              <a:rPr sz="1950" i="1" spc="105" dirty="0">
                <a:latin typeface="Calibri"/>
                <a:cs typeface="Calibri"/>
              </a:rPr>
              <a:t>ID</a:t>
            </a:r>
            <a:r>
              <a:rPr sz="1950" i="1" spc="105" dirty="0">
                <a:latin typeface="Georgia"/>
                <a:cs typeface="Georgia"/>
              </a:rPr>
              <a:t>)</a:t>
            </a:r>
            <a:endParaRPr sz="19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6306" y="1446099"/>
            <a:ext cx="9955109" cy="1837041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405"/>
              </a:spcBef>
              <a:buClr>
                <a:srgbClr val="DA1F28"/>
              </a:buClr>
              <a:buSzPct val="61904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Data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Warehouse</a:t>
            </a:r>
            <a:r>
              <a:rPr lang="en-IN" sz="2400" spc="-10" dirty="0">
                <a:latin typeface="Cambria"/>
                <a:cs typeface="Cambria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1405"/>
              </a:spcBef>
              <a:buClr>
                <a:srgbClr val="DA1F28"/>
              </a:buClr>
              <a:buSzPct val="61904"/>
              <a:tabLst>
                <a:tab pos="352425" algn="l"/>
              </a:tabLst>
            </a:pPr>
            <a:r>
              <a:rPr lang="en-IN" sz="2400" spc="-10" dirty="0">
                <a:latin typeface="Cambria"/>
                <a:cs typeface="Cambria"/>
              </a:rPr>
              <a:t>	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lang="en-IN" sz="2400" spc="-50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data</a:t>
            </a:r>
            <a:r>
              <a:rPr sz="2400" b="1" dirty="0">
                <a:latin typeface="Cambria"/>
                <a:cs typeface="Cambria"/>
              </a:rPr>
              <a:t>	warehouse</a:t>
            </a:r>
            <a:r>
              <a:rPr sz="2400" b="1" spc="9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9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85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repository</a:t>
            </a:r>
            <a:r>
              <a:rPr lang="en-IN"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9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information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collected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from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multiple </a:t>
            </a:r>
            <a:r>
              <a:rPr sz="2400" dirty="0">
                <a:latin typeface="Cambria"/>
                <a:cs typeface="Cambria"/>
              </a:rPr>
              <a:t>sources,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stored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under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unified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schema,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usually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residing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</a:t>
            </a:r>
            <a:r>
              <a:rPr lang="en-IN" sz="2400" spc="65" dirty="0">
                <a:latin typeface="Cambria"/>
                <a:cs typeface="Cambria"/>
              </a:rPr>
              <a:t>  	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single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site.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65341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What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Kinds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Data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Can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Be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Mined?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733291" y="3940714"/>
            <a:ext cx="785495" cy="473709"/>
            <a:chOff x="2733291" y="3940714"/>
            <a:chExt cx="785495" cy="473709"/>
          </a:xfrm>
        </p:grpSpPr>
        <p:sp>
          <p:nvSpPr>
            <p:cNvPr id="6" name="object 6"/>
            <p:cNvSpPr/>
            <p:nvPr/>
          </p:nvSpPr>
          <p:spPr>
            <a:xfrm>
              <a:off x="2741704" y="3947750"/>
              <a:ext cx="769620" cy="100330"/>
            </a:xfrm>
            <a:custGeom>
              <a:avLst/>
              <a:gdLst/>
              <a:ahLst/>
              <a:cxnLst/>
              <a:rect l="l" t="t" r="r" b="b"/>
              <a:pathLst>
                <a:path w="769620" h="100329">
                  <a:moveTo>
                    <a:pt x="769516" y="49541"/>
                  </a:moveTo>
                  <a:lnTo>
                    <a:pt x="715935" y="24110"/>
                  </a:lnTo>
                  <a:lnTo>
                    <a:pt x="677533" y="17278"/>
                  </a:lnTo>
                  <a:lnTo>
                    <a:pt x="631080" y="11436"/>
                  </a:lnTo>
                  <a:lnTo>
                    <a:pt x="577909" y="6686"/>
                  </a:lnTo>
                  <a:lnTo>
                    <a:pt x="519353" y="3129"/>
                  </a:lnTo>
                  <a:lnTo>
                    <a:pt x="456745" y="867"/>
                  </a:lnTo>
                  <a:lnTo>
                    <a:pt x="391415" y="0"/>
                  </a:lnTo>
                  <a:lnTo>
                    <a:pt x="324698" y="628"/>
                  </a:lnTo>
                  <a:lnTo>
                    <a:pt x="257926" y="2855"/>
                  </a:lnTo>
                  <a:lnTo>
                    <a:pt x="192431" y="6780"/>
                  </a:lnTo>
                  <a:lnTo>
                    <a:pt x="128565" y="12713"/>
                  </a:lnTo>
                  <a:lnTo>
                    <a:pt x="77408" y="19825"/>
                  </a:lnTo>
                  <a:lnTo>
                    <a:pt x="38966" y="27853"/>
                  </a:lnTo>
                  <a:lnTo>
                    <a:pt x="255" y="45599"/>
                  </a:lnTo>
                  <a:lnTo>
                    <a:pt x="0" y="54790"/>
                  </a:lnTo>
                  <a:lnTo>
                    <a:pt x="12486" y="63841"/>
                  </a:lnTo>
                  <a:lnTo>
                    <a:pt x="75713" y="80469"/>
                  </a:lnTo>
                  <a:lnTo>
                    <a:pt x="126466" y="87517"/>
                  </a:lnTo>
                  <a:lnTo>
                    <a:pt x="189989" y="93371"/>
                  </a:lnTo>
                  <a:lnTo>
                    <a:pt x="255295" y="97216"/>
                  </a:lnTo>
                  <a:lnTo>
                    <a:pt x="321963" y="99361"/>
                  </a:lnTo>
                  <a:lnTo>
                    <a:pt x="388658" y="99908"/>
                  </a:lnTo>
                  <a:lnTo>
                    <a:pt x="454043" y="98958"/>
                  </a:lnTo>
                  <a:lnTo>
                    <a:pt x="516781" y="96611"/>
                  </a:lnTo>
                  <a:lnTo>
                    <a:pt x="575534" y="92968"/>
                  </a:lnTo>
                  <a:lnTo>
                    <a:pt x="628966" y="88130"/>
                  </a:lnTo>
                  <a:lnTo>
                    <a:pt x="675740" y="82200"/>
                  </a:lnTo>
                  <a:lnTo>
                    <a:pt x="714518" y="75276"/>
                  </a:lnTo>
                  <a:lnTo>
                    <a:pt x="762744" y="58855"/>
                  </a:lnTo>
                  <a:lnTo>
                    <a:pt x="769516" y="49560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1704" y="4307055"/>
              <a:ext cx="769620" cy="100330"/>
            </a:xfrm>
            <a:custGeom>
              <a:avLst/>
              <a:gdLst/>
              <a:ahLst/>
              <a:cxnLst/>
              <a:rect l="l" t="t" r="r" b="b"/>
              <a:pathLst>
                <a:path w="769620" h="100329">
                  <a:moveTo>
                    <a:pt x="769516" y="49546"/>
                  </a:moveTo>
                  <a:lnTo>
                    <a:pt x="715935" y="24099"/>
                  </a:lnTo>
                  <a:lnTo>
                    <a:pt x="677533" y="17266"/>
                  </a:lnTo>
                  <a:lnTo>
                    <a:pt x="631080" y="11425"/>
                  </a:lnTo>
                  <a:lnTo>
                    <a:pt x="577909" y="6677"/>
                  </a:lnTo>
                  <a:lnTo>
                    <a:pt x="519353" y="3123"/>
                  </a:lnTo>
                  <a:lnTo>
                    <a:pt x="456745" y="864"/>
                  </a:lnTo>
                  <a:lnTo>
                    <a:pt x="391415" y="0"/>
                  </a:lnTo>
                  <a:lnTo>
                    <a:pt x="324698" y="631"/>
                  </a:lnTo>
                  <a:lnTo>
                    <a:pt x="257926" y="2860"/>
                  </a:lnTo>
                  <a:lnTo>
                    <a:pt x="192431" y="6785"/>
                  </a:lnTo>
                  <a:lnTo>
                    <a:pt x="128565" y="12718"/>
                  </a:lnTo>
                  <a:lnTo>
                    <a:pt x="77408" y="19830"/>
                  </a:lnTo>
                  <a:lnTo>
                    <a:pt x="38966" y="27858"/>
                  </a:lnTo>
                  <a:lnTo>
                    <a:pt x="255" y="45604"/>
                  </a:lnTo>
                  <a:lnTo>
                    <a:pt x="0" y="54795"/>
                  </a:lnTo>
                  <a:lnTo>
                    <a:pt x="12486" y="63846"/>
                  </a:lnTo>
                  <a:lnTo>
                    <a:pt x="75713" y="80474"/>
                  </a:lnTo>
                  <a:lnTo>
                    <a:pt x="126466" y="87523"/>
                  </a:lnTo>
                  <a:lnTo>
                    <a:pt x="189989" y="93376"/>
                  </a:lnTo>
                  <a:lnTo>
                    <a:pt x="255295" y="97221"/>
                  </a:lnTo>
                  <a:lnTo>
                    <a:pt x="321963" y="99364"/>
                  </a:lnTo>
                  <a:lnTo>
                    <a:pt x="388658" y="99908"/>
                  </a:lnTo>
                  <a:lnTo>
                    <a:pt x="454043" y="98955"/>
                  </a:lnTo>
                  <a:lnTo>
                    <a:pt x="516781" y="96604"/>
                  </a:lnTo>
                  <a:lnTo>
                    <a:pt x="575534" y="92959"/>
                  </a:lnTo>
                  <a:lnTo>
                    <a:pt x="628966" y="88120"/>
                  </a:lnTo>
                  <a:lnTo>
                    <a:pt x="675740" y="82188"/>
                  </a:lnTo>
                  <a:lnTo>
                    <a:pt x="714518" y="75265"/>
                  </a:lnTo>
                  <a:lnTo>
                    <a:pt x="762744" y="58852"/>
                  </a:lnTo>
                  <a:lnTo>
                    <a:pt x="769516" y="49565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0333" y="3995285"/>
              <a:ext cx="0" cy="363855"/>
            </a:xfrm>
            <a:custGeom>
              <a:avLst/>
              <a:gdLst/>
              <a:ahLst/>
              <a:cxnLst/>
              <a:rect l="l" t="t" r="r" b="b"/>
              <a:pathLst>
                <a:path h="363854">
                  <a:moveTo>
                    <a:pt x="0" y="0"/>
                  </a:moveTo>
                  <a:lnTo>
                    <a:pt x="0" y="363814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11148" y="3998527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7435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11148" y="3998527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7435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737798" y="4673960"/>
            <a:ext cx="785495" cy="473709"/>
            <a:chOff x="2737798" y="4673960"/>
            <a:chExt cx="785495" cy="473709"/>
          </a:xfrm>
        </p:grpSpPr>
        <p:sp>
          <p:nvSpPr>
            <p:cNvPr id="12" name="object 12"/>
            <p:cNvSpPr/>
            <p:nvPr/>
          </p:nvSpPr>
          <p:spPr>
            <a:xfrm>
              <a:off x="2746317" y="4680997"/>
              <a:ext cx="769620" cy="100330"/>
            </a:xfrm>
            <a:custGeom>
              <a:avLst/>
              <a:gdLst/>
              <a:ahLst/>
              <a:cxnLst/>
              <a:rect l="l" t="t" r="r" b="b"/>
              <a:pathLst>
                <a:path w="769620" h="100329">
                  <a:moveTo>
                    <a:pt x="769516" y="49551"/>
                  </a:moveTo>
                  <a:lnTo>
                    <a:pt x="715935" y="24112"/>
                  </a:lnTo>
                  <a:lnTo>
                    <a:pt x="677533" y="17279"/>
                  </a:lnTo>
                  <a:lnTo>
                    <a:pt x="631080" y="11437"/>
                  </a:lnTo>
                  <a:lnTo>
                    <a:pt x="577909" y="6687"/>
                  </a:lnTo>
                  <a:lnTo>
                    <a:pt x="519353" y="3131"/>
                  </a:lnTo>
                  <a:lnTo>
                    <a:pt x="456745" y="868"/>
                  </a:lnTo>
                  <a:lnTo>
                    <a:pt x="391415" y="0"/>
                  </a:lnTo>
                  <a:lnTo>
                    <a:pt x="324698" y="627"/>
                  </a:lnTo>
                  <a:lnTo>
                    <a:pt x="257926" y="2851"/>
                  </a:lnTo>
                  <a:lnTo>
                    <a:pt x="192431" y="6772"/>
                  </a:lnTo>
                  <a:lnTo>
                    <a:pt x="128565" y="12709"/>
                  </a:lnTo>
                  <a:lnTo>
                    <a:pt x="77408" y="19824"/>
                  </a:lnTo>
                  <a:lnTo>
                    <a:pt x="38966" y="27852"/>
                  </a:lnTo>
                  <a:lnTo>
                    <a:pt x="255" y="45598"/>
                  </a:lnTo>
                  <a:lnTo>
                    <a:pt x="0" y="54788"/>
                  </a:lnTo>
                  <a:lnTo>
                    <a:pt x="12486" y="63837"/>
                  </a:lnTo>
                  <a:lnTo>
                    <a:pt x="75713" y="80462"/>
                  </a:lnTo>
                  <a:lnTo>
                    <a:pt x="126466" y="87510"/>
                  </a:lnTo>
                  <a:lnTo>
                    <a:pt x="189989" y="93363"/>
                  </a:lnTo>
                  <a:lnTo>
                    <a:pt x="255295" y="97208"/>
                  </a:lnTo>
                  <a:lnTo>
                    <a:pt x="321963" y="99353"/>
                  </a:lnTo>
                  <a:lnTo>
                    <a:pt x="388658" y="99900"/>
                  </a:lnTo>
                  <a:lnTo>
                    <a:pt x="454043" y="98950"/>
                  </a:lnTo>
                  <a:lnTo>
                    <a:pt x="516781" y="96604"/>
                  </a:lnTo>
                  <a:lnTo>
                    <a:pt x="575534" y="92962"/>
                  </a:lnTo>
                  <a:lnTo>
                    <a:pt x="628966" y="88126"/>
                  </a:lnTo>
                  <a:lnTo>
                    <a:pt x="675740" y="82197"/>
                  </a:lnTo>
                  <a:lnTo>
                    <a:pt x="714518" y="75276"/>
                  </a:lnTo>
                  <a:lnTo>
                    <a:pt x="762744" y="58861"/>
                  </a:lnTo>
                  <a:lnTo>
                    <a:pt x="769516" y="49570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6317" y="5040321"/>
              <a:ext cx="769620" cy="100330"/>
            </a:xfrm>
            <a:custGeom>
              <a:avLst/>
              <a:gdLst/>
              <a:ahLst/>
              <a:cxnLst/>
              <a:rect l="l" t="t" r="r" b="b"/>
              <a:pathLst>
                <a:path w="769620" h="100329">
                  <a:moveTo>
                    <a:pt x="769516" y="49538"/>
                  </a:moveTo>
                  <a:lnTo>
                    <a:pt x="715935" y="24094"/>
                  </a:lnTo>
                  <a:lnTo>
                    <a:pt x="677533" y="17262"/>
                  </a:lnTo>
                  <a:lnTo>
                    <a:pt x="631080" y="11423"/>
                  </a:lnTo>
                  <a:lnTo>
                    <a:pt x="577909" y="6676"/>
                  </a:lnTo>
                  <a:lnTo>
                    <a:pt x="519353" y="3123"/>
                  </a:lnTo>
                  <a:lnTo>
                    <a:pt x="456745" y="864"/>
                  </a:lnTo>
                  <a:lnTo>
                    <a:pt x="391415" y="0"/>
                  </a:lnTo>
                  <a:lnTo>
                    <a:pt x="324698" y="630"/>
                  </a:lnTo>
                  <a:lnTo>
                    <a:pt x="257926" y="2856"/>
                  </a:lnTo>
                  <a:lnTo>
                    <a:pt x="192431" y="6777"/>
                  </a:lnTo>
                  <a:lnTo>
                    <a:pt x="128565" y="12710"/>
                  </a:lnTo>
                  <a:lnTo>
                    <a:pt x="77408" y="19822"/>
                  </a:lnTo>
                  <a:lnTo>
                    <a:pt x="38966" y="27850"/>
                  </a:lnTo>
                  <a:lnTo>
                    <a:pt x="255" y="45598"/>
                  </a:lnTo>
                  <a:lnTo>
                    <a:pt x="0" y="54790"/>
                  </a:lnTo>
                  <a:lnTo>
                    <a:pt x="12486" y="63843"/>
                  </a:lnTo>
                  <a:lnTo>
                    <a:pt x="75713" y="80476"/>
                  </a:lnTo>
                  <a:lnTo>
                    <a:pt x="126466" y="87529"/>
                  </a:lnTo>
                  <a:lnTo>
                    <a:pt x="189989" y="93387"/>
                  </a:lnTo>
                  <a:lnTo>
                    <a:pt x="255295" y="97227"/>
                  </a:lnTo>
                  <a:lnTo>
                    <a:pt x="321963" y="99367"/>
                  </a:lnTo>
                  <a:lnTo>
                    <a:pt x="388658" y="99908"/>
                  </a:lnTo>
                  <a:lnTo>
                    <a:pt x="454043" y="98952"/>
                  </a:lnTo>
                  <a:lnTo>
                    <a:pt x="516781" y="96600"/>
                  </a:lnTo>
                  <a:lnTo>
                    <a:pt x="575534" y="92953"/>
                  </a:lnTo>
                  <a:lnTo>
                    <a:pt x="628966" y="88113"/>
                  </a:lnTo>
                  <a:lnTo>
                    <a:pt x="675740" y="82181"/>
                  </a:lnTo>
                  <a:lnTo>
                    <a:pt x="714518" y="75258"/>
                  </a:lnTo>
                  <a:lnTo>
                    <a:pt x="762744" y="58845"/>
                  </a:lnTo>
                  <a:lnTo>
                    <a:pt x="769516" y="49557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4840" y="4728673"/>
              <a:ext cx="0" cy="363855"/>
            </a:xfrm>
            <a:custGeom>
              <a:avLst/>
              <a:gdLst/>
              <a:ahLst/>
              <a:cxnLst/>
              <a:rect l="l" t="t" r="r" b="b"/>
              <a:pathLst>
                <a:path h="363854">
                  <a:moveTo>
                    <a:pt x="0" y="0"/>
                  </a:moveTo>
                  <a:lnTo>
                    <a:pt x="0" y="363814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15770" y="4731862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7435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15770" y="4731862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7435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733291" y="5379622"/>
            <a:ext cx="785495" cy="473709"/>
            <a:chOff x="2733291" y="5379622"/>
            <a:chExt cx="785495" cy="473709"/>
          </a:xfrm>
        </p:grpSpPr>
        <p:sp>
          <p:nvSpPr>
            <p:cNvPr id="18" name="object 18"/>
            <p:cNvSpPr/>
            <p:nvPr/>
          </p:nvSpPr>
          <p:spPr>
            <a:xfrm>
              <a:off x="2741704" y="5386658"/>
              <a:ext cx="769620" cy="100330"/>
            </a:xfrm>
            <a:custGeom>
              <a:avLst/>
              <a:gdLst/>
              <a:ahLst/>
              <a:cxnLst/>
              <a:rect l="l" t="t" r="r" b="b"/>
              <a:pathLst>
                <a:path w="769620" h="100329">
                  <a:moveTo>
                    <a:pt x="769516" y="49567"/>
                  </a:moveTo>
                  <a:lnTo>
                    <a:pt x="715935" y="24125"/>
                  </a:lnTo>
                  <a:lnTo>
                    <a:pt x="677533" y="17290"/>
                  </a:lnTo>
                  <a:lnTo>
                    <a:pt x="631080" y="11446"/>
                  </a:lnTo>
                  <a:lnTo>
                    <a:pt x="577909" y="6694"/>
                  </a:lnTo>
                  <a:lnTo>
                    <a:pt x="519353" y="3135"/>
                  </a:lnTo>
                  <a:lnTo>
                    <a:pt x="456745" y="870"/>
                  </a:lnTo>
                  <a:lnTo>
                    <a:pt x="391415" y="0"/>
                  </a:lnTo>
                  <a:lnTo>
                    <a:pt x="324698" y="625"/>
                  </a:lnTo>
                  <a:lnTo>
                    <a:pt x="257926" y="2848"/>
                  </a:lnTo>
                  <a:lnTo>
                    <a:pt x="192431" y="6769"/>
                  </a:lnTo>
                  <a:lnTo>
                    <a:pt x="128565" y="12702"/>
                  </a:lnTo>
                  <a:lnTo>
                    <a:pt x="77408" y="19814"/>
                  </a:lnTo>
                  <a:lnTo>
                    <a:pt x="38966" y="27842"/>
                  </a:lnTo>
                  <a:lnTo>
                    <a:pt x="255" y="45591"/>
                  </a:lnTo>
                  <a:lnTo>
                    <a:pt x="0" y="54785"/>
                  </a:lnTo>
                  <a:lnTo>
                    <a:pt x="12486" y="63839"/>
                  </a:lnTo>
                  <a:lnTo>
                    <a:pt x="75713" y="80478"/>
                  </a:lnTo>
                  <a:lnTo>
                    <a:pt x="126466" y="87534"/>
                  </a:lnTo>
                  <a:lnTo>
                    <a:pt x="189989" y="93398"/>
                  </a:lnTo>
                  <a:lnTo>
                    <a:pt x="255295" y="97238"/>
                  </a:lnTo>
                  <a:lnTo>
                    <a:pt x="321963" y="99380"/>
                  </a:lnTo>
                  <a:lnTo>
                    <a:pt x="388658" y="99924"/>
                  </a:lnTo>
                  <a:lnTo>
                    <a:pt x="454043" y="98971"/>
                  </a:lnTo>
                  <a:lnTo>
                    <a:pt x="516781" y="96622"/>
                  </a:lnTo>
                  <a:lnTo>
                    <a:pt x="575534" y="92978"/>
                  </a:lnTo>
                  <a:lnTo>
                    <a:pt x="628966" y="88139"/>
                  </a:lnTo>
                  <a:lnTo>
                    <a:pt x="675740" y="82208"/>
                  </a:lnTo>
                  <a:lnTo>
                    <a:pt x="714518" y="75284"/>
                  </a:lnTo>
                  <a:lnTo>
                    <a:pt x="762744" y="58863"/>
                  </a:lnTo>
                  <a:lnTo>
                    <a:pt x="769516" y="49567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1704" y="5745990"/>
              <a:ext cx="769620" cy="100330"/>
            </a:xfrm>
            <a:custGeom>
              <a:avLst/>
              <a:gdLst/>
              <a:ahLst/>
              <a:cxnLst/>
              <a:rect l="l" t="t" r="r" b="b"/>
              <a:pathLst>
                <a:path w="769620" h="100329">
                  <a:moveTo>
                    <a:pt x="769516" y="49546"/>
                  </a:moveTo>
                  <a:lnTo>
                    <a:pt x="715935" y="24099"/>
                  </a:lnTo>
                  <a:lnTo>
                    <a:pt x="677533" y="17266"/>
                  </a:lnTo>
                  <a:lnTo>
                    <a:pt x="631080" y="11425"/>
                  </a:lnTo>
                  <a:lnTo>
                    <a:pt x="577909" y="6677"/>
                  </a:lnTo>
                  <a:lnTo>
                    <a:pt x="519353" y="3123"/>
                  </a:lnTo>
                  <a:lnTo>
                    <a:pt x="456745" y="864"/>
                  </a:lnTo>
                  <a:lnTo>
                    <a:pt x="391415" y="0"/>
                  </a:lnTo>
                  <a:lnTo>
                    <a:pt x="324698" y="631"/>
                  </a:lnTo>
                  <a:lnTo>
                    <a:pt x="257926" y="2860"/>
                  </a:lnTo>
                  <a:lnTo>
                    <a:pt x="192431" y="6785"/>
                  </a:lnTo>
                  <a:lnTo>
                    <a:pt x="128565" y="12714"/>
                  </a:lnTo>
                  <a:lnTo>
                    <a:pt x="77408" y="19822"/>
                  </a:lnTo>
                  <a:lnTo>
                    <a:pt x="38966" y="27847"/>
                  </a:lnTo>
                  <a:lnTo>
                    <a:pt x="255" y="45592"/>
                  </a:lnTo>
                  <a:lnTo>
                    <a:pt x="0" y="54784"/>
                  </a:lnTo>
                  <a:lnTo>
                    <a:pt x="12486" y="63838"/>
                  </a:lnTo>
                  <a:lnTo>
                    <a:pt x="75713" y="80476"/>
                  </a:lnTo>
                  <a:lnTo>
                    <a:pt x="126466" y="87532"/>
                  </a:lnTo>
                  <a:lnTo>
                    <a:pt x="189989" y="93395"/>
                  </a:lnTo>
                  <a:lnTo>
                    <a:pt x="255295" y="97231"/>
                  </a:lnTo>
                  <a:lnTo>
                    <a:pt x="321963" y="99368"/>
                  </a:lnTo>
                  <a:lnTo>
                    <a:pt x="388658" y="99908"/>
                  </a:lnTo>
                  <a:lnTo>
                    <a:pt x="454043" y="98951"/>
                  </a:lnTo>
                  <a:lnTo>
                    <a:pt x="516781" y="96599"/>
                  </a:lnTo>
                  <a:lnTo>
                    <a:pt x="575534" y="92952"/>
                  </a:lnTo>
                  <a:lnTo>
                    <a:pt x="628966" y="88112"/>
                  </a:lnTo>
                  <a:lnTo>
                    <a:pt x="675740" y="82179"/>
                  </a:lnTo>
                  <a:lnTo>
                    <a:pt x="714518" y="75255"/>
                  </a:lnTo>
                  <a:lnTo>
                    <a:pt x="762744" y="58838"/>
                  </a:lnTo>
                  <a:lnTo>
                    <a:pt x="769516" y="49546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0333" y="5434348"/>
              <a:ext cx="0" cy="363855"/>
            </a:xfrm>
            <a:custGeom>
              <a:avLst/>
              <a:gdLst/>
              <a:ahLst/>
              <a:cxnLst/>
              <a:rect l="l" t="t" r="r" b="b"/>
              <a:pathLst>
                <a:path h="363854">
                  <a:moveTo>
                    <a:pt x="0" y="0"/>
                  </a:moveTo>
                  <a:lnTo>
                    <a:pt x="0" y="363814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11148" y="5437539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7435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11148" y="5437539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7435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728597" y="6113449"/>
            <a:ext cx="785495" cy="472440"/>
            <a:chOff x="2728597" y="6113449"/>
            <a:chExt cx="785495" cy="472440"/>
          </a:xfrm>
        </p:grpSpPr>
        <p:sp>
          <p:nvSpPr>
            <p:cNvPr id="24" name="object 24"/>
            <p:cNvSpPr/>
            <p:nvPr/>
          </p:nvSpPr>
          <p:spPr>
            <a:xfrm>
              <a:off x="2737091" y="6120485"/>
              <a:ext cx="769620" cy="100330"/>
            </a:xfrm>
            <a:custGeom>
              <a:avLst/>
              <a:gdLst/>
              <a:ahLst/>
              <a:cxnLst/>
              <a:rect l="l" t="t" r="r" b="b"/>
              <a:pathLst>
                <a:path w="769620" h="100329">
                  <a:moveTo>
                    <a:pt x="769516" y="49559"/>
                  </a:moveTo>
                  <a:lnTo>
                    <a:pt x="715935" y="24118"/>
                  </a:lnTo>
                  <a:lnTo>
                    <a:pt x="677533" y="17283"/>
                  </a:lnTo>
                  <a:lnTo>
                    <a:pt x="631080" y="11439"/>
                  </a:lnTo>
                  <a:lnTo>
                    <a:pt x="577909" y="6688"/>
                  </a:lnTo>
                  <a:lnTo>
                    <a:pt x="519353" y="3131"/>
                  </a:lnTo>
                  <a:lnTo>
                    <a:pt x="456745" y="867"/>
                  </a:lnTo>
                  <a:lnTo>
                    <a:pt x="391415" y="0"/>
                  </a:lnTo>
                  <a:lnTo>
                    <a:pt x="324698" y="628"/>
                  </a:lnTo>
                  <a:lnTo>
                    <a:pt x="257926" y="2855"/>
                  </a:lnTo>
                  <a:lnTo>
                    <a:pt x="192431" y="6780"/>
                  </a:lnTo>
                  <a:lnTo>
                    <a:pt x="128565" y="12713"/>
                  </a:lnTo>
                  <a:lnTo>
                    <a:pt x="77408" y="19825"/>
                  </a:lnTo>
                  <a:lnTo>
                    <a:pt x="38966" y="27853"/>
                  </a:lnTo>
                  <a:lnTo>
                    <a:pt x="255" y="45600"/>
                  </a:lnTo>
                  <a:lnTo>
                    <a:pt x="0" y="54792"/>
                  </a:lnTo>
                  <a:lnTo>
                    <a:pt x="12486" y="63845"/>
                  </a:lnTo>
                  <a:lnTo>
                    <a:pt x="75713" y="80478"/>
                  </a:lnTo>
                  <a:lnTo>
                    <a:pt x="126466" y="87531"/>
                  </a:lnTo>
                  <a:lnTo>
                    <a:pt x="189989" y="93390"/>
                  </a:lnTo>
                  <a:lnTo>
                    <a:pt x="255295" y="97230"/>
                  </a:lnTo>
                  <a:lnTo>
                    <a:pt x="321963" y="99372"/>
                  </a:lnTo>
                  <a:lnTo>
                    <a:pt x="388658" y="99916"/>
                  </a:lnTo>
                  <a:lnTo>
                    <a:pt x="454043" y="98963"/>
                  </a:lnTo>
                  <a:lnTo>
                    <a:pt x="516781" y="96614"/>
                  </a:lnTo>
                  <a:lnTo>
                    <a:pt x="575534" y="92970"/>
                  </a:lnTo>
                  <a:lnTo>
                    <a:pt x="628966" y="88132"/>
                  </a:lnTo>
                  <a:lnTo>
                    <a:pt x="675740" y="82200"/>
                  </a:lnTo>
                  <a:lnTo>
                    <a:pt x="714518" y="75276"/>
                  </a:lnTo>
                  <a:lnTo>
                    <a:pt x="762744" y="58855"/>
                  </a:lnTo>
                  <a:lnTo>
                    <a:pt x="769516" y="49559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37091" y="6478872"/>
              <a:ext cx="769620" cy="100330"/>
            </a:xfrm>
            <a:custGeom>
              <a:avLst/>
              <a:gdLst/>
              <a:ahLst/>
              <a:cxnLst/>
              <a:rect l="l" t="t" r="r" b="b"/>
              <a:pathLst>
                <a:path w="769620" h="100329">
                  <a:moveTo>
                    <a:pt x="769516" y="49546"/>
                  </a:moveTo>
                  <a:lnTo>
                    <a:pt x="715935" y="24099"/>
                  </a:lnTo>
                  <a:lnTo>
                    <a:pt x="677533" y="17266"/>
                  </a:lnTo>
                  <a:lnTo>
                    <a:pt x="631080" y="11425"/>
                  </a:lnTo>
                  <a:lnTo>
                    <a:pt x="577909" y="6677"/>
                  </a:lnTo>
                  <a:lnTo>
                    <a:pt x="519353" y="3123"/>
                  </a:lnTo>
                  <a:lnTo>
                    <a:pt x="456745" y="864"/>
                  </a:lnTo>
                  <a:lnTo>
                    <a:pt x="391415" y="0"/>
                  </a:lnTo>
                  <a:lnTo>
                    <a:pt x="324698" y="631"/>
                  </a:lnTo>
                  <a:lnTo>
                    <a:pt x="257926" y="2860"/>
                  </a:lnTo>
                  <a:lnTo>
                    <a:pt x="192431" y="6785"/>
                  </a:lnTo>
                  <a:lnTo>
                    <a:pt x="128565" y="12718"/>
                  </a:lnTo>
                  <a:lnTo>
                    <a:pt x="77408" y="19829"/>
                  </a:lnTo>
                  <a:lnTo>
                    <a:pt x="38966" y="27855"/>
                  </a:lnTo>
                  <a:lnTo>
                    <a:pt x="255" y="45599"/>
                  </a:lnTo>
                  <a:lnTo>
                    <a:pt x="0" y="54790"/>
                  </a:lnTo>
                  <a:lnTo>
                    <a:pt x="12486" y="63843"/>
                  </a:lnTo>
                  <a:lnTo>
                    <a:pt x="75713" y="80477"/>
                  </a:lnTo>
                  <a:lnTo>
                    <a:pt x="126466" y="87533"/>
                  </a:lnTo>
                  <a:lnTo>
                    <a:pt x="189989" y="93395"/>
                  </a:lnTo>
                  <a:lnTo>
                    <a:pt x="255295" y="97239"/>
                  </a:lnTo>
                  <a:lnTo>
                    <a:pt x="321963" y="99381"/>
                  </a:lnTo>
                  <a:lnTo>
                    <a:pt x="388658" y="99924"/>
                  </a:lnTo>
                  <a:lnTo>
                    <a:pt x="454043" y="98969"/>
                  </a:lnTo>
                  <a:lnTo>
                    <a:pt x="516781" y="96616"/>
                  </a:lnTo>
                  <a:lnTo>
                    <a:pt x="575534" y="92968"/>
                  </a:lnTo>
                  <a:lnTo>
                    <a:pt x="628966" y="88127"/>
                  </a:lnTo>
                  <a:lnTo>
                    <a:pt x="675740" y="82193"/>
                  </a:lnTo>
                  <a:lnTo>
                    <a:pt x="714518" y="75268"/>
                  </a:lnTo>
                  <a:lnTo>
                    <a:pt x="762744" y="58853"/>
                  </a:lnTo>
                  <a:lnTo>
                    <a:pt x="769516" y="49565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35639" y="6168169"/>
              <a:ext cx="0" cy="363855"/>
            </a:xfrm>
            <a:custGeom>
              <a:avLst/>
              <a:gdLst/>
              <a:ahLst/>
              <a:cxnLst/>
              <a:rect l="l" t="t" r="r" b="b"/>
              <a:pathLst>
                <a:path h="363854">
                  <a:moveTo>
                    <a:pt x="0" y="0"/>
                  </a:moveTo>
                  <a:lnTo>
                    <a:pt x="0" y="363814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06535" y="6170045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7435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06535" y="6170045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7435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5317051" y="4722223"/>
            <a:ext cx="785495" cy="1229995"/>
            <a:chOff x="5317051" y="4722223"/>
            <a:chExt cx="785495" cy="1229995"/>
          </a:xfrm>
        </p:grpSpPr>
        <p:sp>
          <p:nvSpPr>
            <p:cNvPr id="30" name="object 30"/>
            <p:cNvSpPr/>
            <p:nvPr/>
          </p:nvSpPr>
          <p:spPr>
            <a:xfrm>
              <a:off x="5325725" y="4729526"/>
              <a:ext cx="769620" cy="133350"/>
            </a:xfrm>
            <a:custGeom>
              <a:avLst/>
              <a:gdLst/>
              <a:ahLst/>
              <a:cxnLst/>
              <a:rect l="l" t="t" r="r" b="b"/>
              <a:pathLst>
                <a:path w="769620" h="133350">
                  <a:moveTo>
                    <a:pt x="769516" y="65942"/>
                  </a:moveTo>
                  <a:lnTo>
                    <a:pt x="715935" y="32087"/>
                  </a:lnTo>
                  <a:lnTo>
                    <a:pt x="677533" y="22993"/>
                  </a:lnTo>
                  <a:lnTo>
                    <a:pt x="631080" y="15219"/>
                  </a:lnTo>
                  <a:lnTo>
                    <a:pt x="577909" y="8898"/>
                  </a:lnTo>
                  <a:lnTo>
                    <a:pt x="519353" y="4165"/>
                  </a:lnTo>
                  <a:lnTo>
                    <a:pt x="456745" y="1154"/>
                  </a:lnTo>
                  <a:lnTo>
                    <a:pt x="391415" y="0"/>
                  </a:lnTo>
                  <a:lnTo>
                    <a:pt x="324698" y="835"/>
                  </a:lnTo>
                  <a:lnTo>
                    <a:pt x="257926" y="3796"/>
                  </a:lnTo>
                  <a:lnTo>
                    <a:pt x="192431" y="9015"/>
                  </a:lnTo>
                  <a:lnTo>
                    <a:pt x="128565" y="16912"/>
                  </a:lnTo>
                  <a:lnTo>
                    <a:pt x="77408" y="26378"/>
                  </a:lnTo>
                  <a:lnTo>
                    <a:pt x="38966" y="37063"/>
                  </a:lnTo>
                  <a:lnTo>
                    <a:pt x="255" y="60682"/>
                  </a:lnTo>
                  <a:lnTo>
                    <a:pt x="0" y="72916"/>
                  </a:lnTo>
                  <a:lnTo>
                    <a:pt x="12486" y="84963"/>
                  </a:lnTo>
                  <a:lnTo>
                    <a:pt x="75713" y="107097"/>
                  </a:lnTo>
                  <a:lnTo>
                    <a:pt x="126466" y="116482"/>
                  </a:lnTo>
                  <a:lnTo>
                    <a:pt x="189989" y="124276"/>
                  </a:lnTo>
                  <a:lnTo>
                    <a:pt x="255295" y="129395"/>
                  </a:lnTo>
                  <a:lnTo>
                    <a:pt x="321963" y="132250"/>
                  </a:lnTo>
                  <a:lnTo>
                    <a:pt x="388658" y="132977"/>
                  </a:lnTo>
                  <a:lnTo>
                    <a:pt x="454043" y="131710"/>
                  </a:lnTo>
                  <a:lnTo>
                    <a:pt x="516781" y="128585"/>
                  </a:lnTo>
                  <a:lnTo>
                    <a:pt x="575534" y="123734"/>
                  </a:lnTo>
                  <a:lnTo>
                    <a:pt x="628966" y="117294"/>
                  </a:lnTo>
                  <a:lnTo>
                    <a:pt x="675740" y="109399"/>
                  </a:lnTo>
                  <a:lnTo>
                    <a:pt x="714518" y="100184"/>
                  </a:lnTo>
                  <a:lnTo>
                    <a:pt x="762744" y="78330"/>
                  </a:lnTo>
                  <a:lnTo>
                    <a:pt x="769516" y="65961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25725" y="5811406"/>
              <a:ext cx="769620" cy="133350"/>
            </a:xfrm>
            <a:custGeom>
              <a:avLst/>
              <a:gdLst/>
              <a:ahLst/>
              <a:cxnLst/>
              <a:rect l="l" t="t" r="r" b="b"/>
              <a:pathLst>
                <a:path w="769620" h="133350">
                  <a:moveTo>
                    <a:pt x="769516" y="65937"/>
                  </a:moveTo>
                  <a:lnTo>
                    <a:pt x="715935" y="32074"/>
                  </a:lnTo>
                  <a:lnTo>
                    <a:pt x="677533" y="22980"/>
                  </a:lnTo>
                  <a:lnTo>
                    <a:pt x="631080" y="15207"/>
                  </a:lnTo>
                  <a:lnTo>
                    <a:pt x="577909" y="8888"/>
                  </a:lnTo>
                  <a:lnTo>
                    <a:pt x="519353" y="4158"/>
                  </a:lnTo>
                  <a:lnTo>
                    <a:pt x="456745" y="1150"/>
                  </a:lnTo>
                  <a:lnTo>
                    <a:pt x="391415" y="0"/>
                  </a:lnTo>
                  <a:lnTo>
                    <a:pt x="324698" y="840"/>
                  </a:lnTo>
                  <a:lnTo>
                    <a:pt x="257926" y="3805"/>
                  </a:lnTo>
                  <a:lnTo>
                    <a:pt x="192431" y="9029"/>
                  </a:lnTo>
                  <a:lnTo>
                    <a:pt x="128565" y="16921"/>
                  </a:lnTo>
                  <a:lnTo>
                    <a:pt x="77408" y="26385"/>
                  </a:lnTo>
                  <a:lnTo>
                    <a:pt x="38966" y="37068"/>
                  </a:lnTo>
                  <a:lnTo>
                    <a:pt x="255" y="60687"/>
                  </a:lnTo>
                  <a:lnTo>
                    <a:pt x="0" y="72920"/>
                  </a:lnTo>
                  <a:lnTo>
                    <a:pt x="12486" y="84967"/>
                  </a:lnTo>
                  <a:lnTo>
                    <a:pt x="75713" y="107099"/>
                  </a:lnTo>
                  <a:lnTo>
                    <a:pt x="126466" y="116481"/>
                  </a:lnTo>
                  <a:lnTo>
                    <a:pt x="189989" y="124271"/>
                  </a:lnTo>
                  <a:lnTo>
                    <a:pt x="255295" y="129389"/>
                  </a:lnTo>
                  <a:lnTo>
                    <a:pt x="321963" y="132244"/>
                  </a:lnTo>
                  <a:lnTo>
                    <a:pt x="388658" y="132970"/>
                  </a:lnTo>
                  <a:lnTo>
                    <a:pt x="454043" y="131702"/>
                  </a:lnTo>
                  <a:lnTo>
                    <a:pt x="516781" y="128575"/>
                  </a:lnTo>
                  <a:lnTo>
                    <a:pt x="575534" y="123724"/>
                  </a:lnTo>
                  <a:lnTo>
                    <a:pt x="628966" y="117285"/>
                  </a:lnTo>
                  <a:lnTo>
                    <a:pt x="675740" y="109391"/>
                  </a:lnTo>
                  <a:lnTo>
                    <a:pt x="714518" y="100178"/>
                  </a:lnTo>
                  <a:lnTo>
                    <a:pt x="762744" y="78335"/>
                  </a:lnTo>
                  <a:lnTo>
                    <a:pt x="769516" y="65974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24354" y="4792842"/>
              <a:ext cx="0" cy="1083945"/>
            </a:xfrm>
            <a:custGeom>
              <a:avLst/>
              <a:gdLst/>
              <a:ahLst/>
              <a:cxnLst/>
              <a:rect l="l" t="t" r="r" b="b"/>
              <a:pathLst>
                <a:path h="1083945">
                  <a:moveTo>
                    <a:pt x="0" y="0"/>
                  </a:moveTo>
                  <a:lnTo>
                    <a:pt x="0" y="1083938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95241" y="4802598"/>
              <a:ext cx="0" cy="1064895"/>
            </a:xfrm>
            <a:custGeom>
              <a:avLst/>
              <a:gdLst/>
              <a:ahLst/>
              <a:cxnLst/>
              <a:rect l="l" t="t" r="r" b="b"/>
              <a:pathLst>
                <a:path h="1064895">
                  <a:moveTo>
                    <a:pt x="0" y="0"/>
                  </a:moveTo>
                  <a:lnTo>
                    <a:pt x="0" y="1064424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5241" y="4802598"/>
              <a:ext cx="0" cy="1064895"/>
            </a:xfrm>
            <a:custGeom>
              <a:avLst/>
              <a:gdLst/>
              <a:ahLst/>
              <a:cxnLst/>
              <a:rect l="l" t="t" r="r" b="b"/>
              <a:pathLst>
                <a:path h="1064895">
                  <a:moveTo>
                    <a:pt x="0" y="0"/>
                  </a:moveTo>
                  <a:lnTo>
                    <a:pt x="0" y="1064424"/>
                  </a:lnTo>
                </a:path>
              </a:pathLst>
            </a:custGeom>
            <a:ln w="14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410115" y="4397377"/>
            <a:ext cx="14319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source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Chicago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24988" y="5833309"/>
            <a:ext cx="140208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source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Toronto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40403" y="6569907"/>
            <a:ext cx="157099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source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Vancouver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55805" y="5111497"/>
            <a:ext cx="154051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source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New </a:t>
            </a:r>
            <a:r>
              <a:rPr sz="1150" spc="-20" dirty="0">
                <a:latin typeface="Times New Roman"/>
                <a:cs typeface="Times New Roman"/>
              </a:rPr>
              <a:t>York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051311" y="4519741"/>
            <a:ext cx="1052830" cy="1624330"/>
            <a:chOff x="4051311" y="4519741"/>
            <a:chExt cx="1052830" cy="1624330"/>
          </a:xfrm>
        </p:grpSpPr>
        <p:sp>
          <p:nvSpPr>
            <p:cNvPr id="40" name="object 40"/>
            <p:cNvSpPr/>
            <p:nvPr/>
          </p:nvSpPr>
          <p:spPr>
            <a:xfrm>
              <a:off x="4056006" y="5766829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4">
                  <a:moveTo>
                    <a:pt x="0" y="0"/>
                  </a:moveTo>
                  <a:lnTo>
                    <a:pt x="706286" y="0"/>
                  </a:lnTo>
                </a:path>
              </a:pathLst>
            </a:custGeom>
            <a:ln w="1407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56006" y="4918178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4">
                  <a:moveTo>
                    <a:pt x="0" y="0"/>
                  </a:moveTo>
                  <a:lnTo>
                    <a:pt x="706286" y="0"/>
                  </a:lnTo>
                </a:path>
              </a:pathLst>
            </a:custGeom>
            <a:ln w="1407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058353" y="4934296"/>
              <a:ext cx="0" cy="807720"/>
            </a:xfrm>
            <a:custGeom>
              <a:avLst/>
              <a:gdLst/>
              <a:ahLst/>
              <a:cxnLst/>
              <a:rect l="l" t="t" r="r" b="b"/>
              <a:pathLst>
                <a:path h="807720">
                  <a:moveTo>
                    <a:pt x="0" y="807183"/>
                  </a:moveTo>
                  <a:lnTo>
                    <a:pt x="0" y="0"/>
                  </a:lnTo>
                </a:path>
              </a:pathLst>
            </a:custGeom>
            <a:ln w="1408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60039" y="5773771"/>
              <a:ext cx="0" cy="364490"/>
            </a:xfrm>
            <a:custGeom>
              <a:avLst/>
              <a:gdLst/>
              <a:ahLst/>
              <a:cxnLst/>
              <a:rect l="l" t="t" r="r" b="b"/>
              <a:pathLst>
                <a:path h="364489">
                  <a:moveTo>
                    <a:pt x="0" y="364377"/>
                  </a:moveTo>
                  <a:lnTo>
                    <a:pt x="0" y="0"/>
                  </a:lnTo>
                </a:path>
              </a:pathLst>
            </a:custGeom>
            <a:ln w="1408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60039" y="4546859"/>
              <a:ext cx="0" cy="364490"/>
            </a:xfrm>
            <a:custGeom>
              <a:avLst/>
              <a:gdLst/>
              <a:ahLst/>
              <a:cxnLst/>
              <a:rect l="l" t="t" r="r" b="b"/>
              <a:pathLst>
                <a:path h="364489">
                  <a:moveTo>
                    <a:pt x="0" y="364377"/>
                  </a:moveTo>
                  <a:lnTo>
                    <a:pt x="0" y="0"/>
                  </a:lnTo>
                </a:path>
              </a:pathLst>
            </a:custGeom>
            <a:ln w="1408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771307" y="4526782"/>
              <a:ext cx="325755" cy="788670"/>
            </a:xfrm>
            <a:custGeom>
              <a:avLst/>
              <a:gdLst/>
              <a:ahLst/>
              <a:cxnLst/>
              <a:rect l="l" t="t" r="r" b="b"/>
              <a:pathLst>
                <a:path w="325754" h="788670">
                  <a:moveTo>
                    <a:pt x="325256" y="788233"/>
                  </a:moveTo>
                  <a:lnTo>
                    <a:pt x="0" y="0"/>
                  </a:lnTo>
                </a:path>
              </a:pathLst>
            </a:custGeom>
            <a:ln w="1408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71494" y="5337907"/>
              <a:ext cx="322580" cy="799465"/>
            </a:xfrm>
            <a:custGeom>
              <a:avLst/>
              <a:gdLst/>
              <a:ahLst/>
              <a:cxnLst/>
              <a:rect l="l" t="t" r="r" b="b"/>
              <a:pathLst>
                <a:path w="322579" h="799464">
                  <a:moveTo>
                    <a:pt x="322063" y="0"/>
                  </a:moveTo>
                  <a:lnTo>
                    <a:pt x="0" y="799115"/>
                  </a:lnTo>
                </a:path>
              </a:pathLst>
            </a:custGeom>
            <a:ln w="1408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363861" y="5113748"/>
            <a:ext cx="689610" cy="3860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89230">
              <a:lnSpc>
                <a:spcPct val="102800"/>
              </a:lnSpc>
              <a:spcBef>
                <a:spcPts val="90"/>
              </a:spcBef>
            </a:pPr>
            <a:r>
              <a:rPr sz="1150" spc="-20" dirty="0">
                <a:latin typeface="Times New Roman"/>
                <a:cs typeface="Times New Roman"/>
              </a:rPr>
              <a:t>Data </a:t>
            </a:r>
            <a:r>
              <a:rPr sz="1150" spc="-10" dirty="0">
                <a:latin typeface="Times New Roman"/>
                <a:cs typeface="Times New Roman"/>
              </a:rPr>
              <a:t>Warehouse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213822" y="4898537"/>
            <a:ext cx="654685" cy="8445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ct val="91100"/>
              </a:lnSpc>
              <a:spcBef>
                <a:spcPts val="254"/>
              </a:spcBef>
            </a:pPr>
            <a:r>
              <a:rPr sz="1150" spc="-10" dirty="0">
                <a:latin typeface="Times New Roman"/>
                <a:cs typeface="Times New Roman"/>
              </a:rPr>
              <a:t>Clean Integrate Transform </a:t>
            </a:r>
            <a:r>
              <a:rPr sz="1150" spc="-20" dirty="0">
                <a:latin typeface="Times New Roman"/>
                <a:cs typeface="Times New Roman"/>
              </a:rPr>
              <a:t>Load </a:t>
            </a:r>
            <a:r>
              <a:rPr sz="1150" spc="-10" dirty="0">
                <a:latin typeface="Times New Roman"/>
                <a:cs typeface="Times New Roman"/>
              </a:rPr>
              <a:t>Refresh</a:t>
            </a:r>
            <a:endParaRPr sz="1150" dirty="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139206" y="5125470"/>
            <a:ext cx="1386205" cy="412115"/>
            <a:chOff x="6139206" y="5125470"/>
            <a:chExt cx="1386205" cy="412115"/>
          </a:xfrm>
        </p:grpSpPr>
        <p:sp>
          <p:nvSpPr>
            <p:cNvPr id="50" name="object 50"/>
            <p:cNvSpPr/>
            <p:nvPr/>
          </p:nvSpPr>
          <p:spPr>
            <a:xfrm>
              <a:off x="6146509" y="5333028"/>
              <a:ext cx="337185" cy="0"/>
            </a:xfrm>
            <a:custGeom>
              <a:avLst/>
              <a:gdLst/>
              <a:ahLst/>
              <a:cxnLst/>
              <a:rect l="l" t="t" r="r" b="b"/>
              <a:pathLst>
                <a:path w="337185">
                  <a:moveTo>
                    <a:pt x="0" y="0"/>
                  </a:moveTo>
                  <a:lnTo>
                    <a:pt x="336899" y="0"/>
                  </a:lnTo>
                </a:path>
              </a:pathLst>
            </a:custGeom>
            <a:ln w="14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462938" y="5263081"/>
              <a:ext cx="121920" cy="140335"/>
            </a:xfrm>
            <a:custGeom>
              <a:avLst/>
              <a:gdLst/>
              <a:ahLst/>
              <a:cxnLst/>
              <a:rect l="l" t="t" r="r" b="b"/>
              <a:pathLst>
                <a:path w="121920" h="140335">
                  <a:moveTo>
                    <a:pt x="0" y="0"/>
                  </a:moveTo>
                  <a:lnTo>
                    <a:pt x="0" y="140327"/>
                  </a:lnTo>
                  <a:lnTo>
                    <a:pt x="121652" y="70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627069" y="5132772"/>
              <a:ext cx="890905" cy="397510"/>
            </a:xfrm>
            <a:custGeom>
              <a:avLst/>
              <a:gdLst/>
              <a:ahLst/>
              <a:cxnLst/>
              <a:rect l="l" t="t" r="r" b="b"/>
              <a:pathLst>
                <a:path w="890904" h="397510">
                  <a:moveTo>
                    <a:pt x="0" y="341861"/>
                  </a:moveTo>
                  <a:lnTo>
                    <a:pt x="4367" y="363349"/>
                  </a:lnTo>
                  <a:lnTo>
                    <a:pt x="16260" y="380949"/>
                  </a:lnTo>
                  <a:lnTo>
                    <a:pt x="33868" y="392843"/>
                  </a:lnTo>
                  <a:lnTo>
                    <a:pt x="55379" y="397212"/>
                  </a:lnTo>
                  <a:lnTo>
                    <a:pt x="835299" y="397212"/>
                  </a:lnTo>
                  <a:lnTo>
                    <a:pt x="856790" y="392843"/>
                  </a:lnTo>
                  <a:lnTo>
                    <a:pt x="874407" y="380949"/>
                  </a:lnTo>
                  <a:lnTo>
                    <a:pt x="886320" y="363349"/>
                  </a:lnTo>
                  <a:lnTo>
                    <a:pt x="890698" y="341861"/>
                  </a:lnTo>
                  <a:lnTo>
                    <a:pt x="890698" y="55350"/>
                  </a:lnTo>
                  <a:lnTo>
                    <a:pt x="886320" y="33878"/>
                  </a:lnTo>
                  <a:lnTo>
                    <a:pt x="874407" y="16276"/>
                  </a:lnTo>
                  <a:lnTo>
                    <a:pt x="856790" y="4374"/>
                  </a:lnTo>
                  <a:lnTo>
                    <a:pt x="835299" y="0"/>
                  </a:lnTo>
                  <a:lnTo>
                    <a:pt x="55379" y="0"/>
                  </a:lnTo>
                  <a:lnTo>
                    <a:pt x="33868" y="4374"/>
                  </a:lnTo>
                  <a:lnTo>
                    <a:pt x="16260" y="16276"/>
                  </a:lnTo>
                  <a:lnTo>
                    <a:pt x="4367" y="33878"/>
                  </a:lnTo>
                  <a:lnTo>
                    <a:pt x="0" y="55350"/>
                  </a:lnTo>
                  <a:lnTo>
                    <a:pt x="0" y="341861"/>
                  </a:lnTo>
                  <a:close/>
                </a:path>
              </a:pathLst>
            </a:custGeom>
            <a:ln w="1407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663383" y="5109808"/>
            <a:ext cx="818515" cy="3860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8265">
              <a:lnSpc>
                <a:spcPct val="102800"/>
              </a:lnSpc>
              <a:spcBef>
                <a:spcPts val="90"/>
              </a:spcBef>
            </a:pPr>
            <a:r>
              <a:rPr sz="1150" dirty="0">
                <a:latin typeface="Times New Roman"/>
                <a:cs typeface="Times New Roman"/>
              </a:rPr>
              <a:t>Query</a:t>
            </a:r>
            <a:r>
              <a:rPr sz="1150" spc="-25" dirty="0">
                <a:latin typeface="Times New Roman"/>
                <a:cs typeface="Times New Roman"/>
              </a:rPr>
              <a:t> and </a:t>
            </a:r>
            <a:r>
              <a:rPr sz="1150" dirty="0">
                <a:latin typeface="Times New Roman"/>
                <a:cs typeface="Times New Roman"/>
              </a:rPr>
              <a:t>analysis</a:t>
            </a:r>
            <a:r>
              <a:rPr sz="1150" spc="-5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tools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505006" y="4551174"/>
            <a:ext cx="1508125" cy="1527175"/>
            <a:chOff x="7505006" y="4551174"/>
            <a:chExt cx="1508125" cy="1527175"/>
          </a:xfrm>
        </p:grpSpPr>
        <p:sp>
          <p:nvSpPr>
            <p:cNvPr id="55" name="object 55"/>
            <p:cNvSpPr/>
            <p:nvPr/>
          </p:nvSpPr>
          <p:spPr>
            <a:xfrm>
              <a:off x="7519269" y="4807289"/>
              <a:ext cx="784225" cy="364490"/>
            </a:xfrm>
            <a:custGeom>
              <a:avLst/>
              <a:gdLst/>
              <a:ahLst/>
              <a:cxnLst/>
              <a:rect l="l" t="t" r="r" b="b"/>
              <a:pathLst>
                <a:path w="784225" h="364489">
                  <a:moveTo>
                    <a:pt x="0" y="364377"/>
                  </a:moveTo>
                  <a:lnTo>
                    <a:pt x="783656" y="0"/>
                  </a:lnTo>
                </a:path>
              </a:pathLst>
            </a:custGeom>
            <a:ln w="14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254758" y="4752669"/>
              <a:ext cx="140335" cy="127635"/>
            </a:xfrm>
            <a:custGeom>
              <a:avLst/>
              <a:gdLst/>
              <a:ahLst/>
              <a:cxnLst/>
              <a:rect l="l" t="t" r="r" b="b"/>
              <a:pathLst>
                <a:path w="140334" h="127635">
                  <a:moveTo>
                    <a:pt x="0" y="0"/>
                  </a:moveTo>
                  <a:lnTo>
                    <a:pt x="59248" y="127232"/>
                  </a:lnTo>
                  <a:lnTo>
                    <a:pt x="139904" y="12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228368" y="5746884"/>
              <a:ext cx="186055" cy="172085"/>
            </a:xfrm>
            <a:custGeom>
              <a:avLst/>
              <a:gdLst/>
              <a:ahLst/>
              <a:cxnLst/>
              <a:rect l="l" t="t" r="r" b="b"/>
              <a:pathLst>
                <a:path w="186054" h="172085">
                  <a:moveTo>
                    <a:pt x="186029" y="150152"/>
                  </a:moveTo>
                  <a:lnTo>
                    <a:pt x="74295" y="0"/>
                  </a:lnTo>
                  <a:lnTo>
                    <a:pt x="37249" y="85636"/>
                  </a:lnTo>
                  <a:lnTo>
                    <a:pt x="0" y="171742"/>
                  </a:lnTo>
                  <a:lnTo>
                    <a:pt x="186029" y="1501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512043" y="5507149"/>
              <a:ext cx="779145" cy="336550"/>
            </a:xfrm>
            <a:custGeom>
              <a:avLst/>
              <a:gdLst/>
              <a:ahLst/>
              <a:cxnLst/>
              <a:rect l="l" t="t" r="r" b="b"/>
              <a:pathLst>
                <a:path w="779145" h="336550">
                  <a:moveTo>
                    <a:pt x="0" y="0"/>
                  </a:moveTo>
                  <a:lnTo>
                    <a:pt x="778774" y="336232"/>
                  </a:lnTo>
                </a:path>
              </a:pathLst>
            </a:custGeom>
            <a:ln w="14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243959" y="5771051"/>
              <a:ext cx="139700" cy="128905"/>
            </a:xfrm>
            <a:custGeom>
              <a:avLst/>
              <a:gdLst/>
              <a:ahLst/>
              <a:cxnLst/>
              <a:rect l="l" t="t" r="r" b="b"/>
              <a:pathLst>
                <a:path w="139700" h="128904">
                  <a:moveTo>
                    <a:pt x="55718" y="0"/>
                  </a:moveTo>
                  <a:lnTo>
                    <a:pt x="0" y="128807"/>
                  </a:lnTo>
                  <a:lnTo>
                    <a:pt x="139529" y="112596"/>
                  </a:lnTo>
                  <a:lnTo>
                    <a:pt x="557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368654" y="4558211"/>
              <a:ext cx="633095" cy="309245"/>
            </a:xfrm>
            <a:custGeom>
              <a:avLst/>
              <a:gdLst/>
              <a:ahLst/>
              <a:cxnLst/>
              <a:rect l="l" t="t" r="r" b="b"/>
              <a:pathLst>
                <a:path w="633095" h="309245">
                  <a:moveTo>
                    <a:pt x="632484" y="154513"/>
                  </a:moveTo>
                  <a:lnTo>
                    <a:pt x="607631" y="214645"/>
                  </a:lnTo>
                  <a:lnTo>
                    <a:pt x="578472" y="240888"/>
                  </a:lnTo>
                  <a:lnTo>
                    <a:pt x="539855" y="263753"/>
                  </a:lnTo>
                  <a:lnTo>
                    <a:pt x="493052" y="282619"/>
                  </a:lnTo>
                  <a:lnTo>
                    <a:pt x="439334" y="296865"/>
                  </a:lnTo>
                  <a:lnTo>
                    <a:pt x="379973" y="305868"/>
                  </a:lnTo>
                  <a:lnTo>
                    <a:pt x="316242" y="309007"/>
                  </a:lnTo>
                  <a:lnTo>
                    <a:pt x="252510" y="305868"/>
                  </a:lnTo>
                  <a:lnTo>
                    <a:pt x="193150" y="296865"/>
                  </a:lnTo>
                  <a:lnTo>
                    <a:pt x="139432" y="282619"/>
                  </a:lnTo>
                  <a:lnTo>
                    <a:pt x="92628" y="263753"/>
                  </a:lnTo>
                  <a:lnTo>
                    <a:pt x="54011" y="240888"/>
                  </a:lnTo>
                  <a:lnTo>
                    <a:pt x="24853" y="214645"/>
                  </a:lnTo>
                  <a:lnTo>
                    <a:pt x="0" y="154513"/>
                  </a:lnTo>
                  <a:lnTo>
                    <a:pt x="6425" y="123373"/>
                  </a:lnTo>
                  <a:lnTo>
                    <a:pt x="54011" y="68123"/>
                  </a:lnTo>
                  <a:lnTo>
                    <a:pt x="92628" y="45256"/>
                  </a:lnTo>
                  <a:lnTo>
                    <a:pt x="139432" y="26388"/>
                  </a:lnTo>
                  <a:lnTo>
                    <a:pt x="193150" y="12142"/>
                  </a:lnTo>
                  <a:lnTo>
                    <a:pt x="252510" y="3139"/>
                  </a:lnTo>
                  <a:lnTo>
                    <a:pt x="316242" y="0"/>
                  </a:lnTo>
                  <a:lnTo>
                    <a:pt x="379973" y="3139"/>
                  </a:lnTo>
                  <a:lnTo>
                    <a:pt x="439334" y="12142"/>
                  </a:lnTo>
                  <a:lnTo>
                    <a:pt x="493052" y="26388"/>
                  </a:lnTo>
                  <a:lnTo>
                    <a:pt x="539855" y="45256"/>
                  </a:lnTo>
                  <a:lnTo>
                    <a:pt x="578472" y="68123"/>
                  </a:lnTo>
                  <a:lnTo>
                    <a:pt x="607631" y="94370"/>
                  </a:lnTo>
                  <a:lnTo>
                    <a:pt x="632484" y="154513"/>
                  </a:lnTo>
                  <a:close/>
                </a:path>
              </a:pathLst>
            </a:custGeom>
            <a:ln w="1407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373161" y="5762063"/>
              <a:ext cx="633095" cy="309245"/>
            </a:xfrm>
            <a:custGeom>
              <a:avLst/>
              <a:gdLst/>
              <a:ahLst/>
              <a:cxnLst/>
              <a:rect l="l" t="t" r="r" b="b"/>
              <a:pathLst>
                <a:path w="633095" h="309245">
                  <a:moveTo>
                    <a:pt x="632484" y="154494"/>
                  </a:moveTo>
                  <a:lnTo>
                    <a:pt x="607633" y="214645"/>
                  </a:lnTo>
                  <a:lnTo>
                    <a:pt x="578477" y="240892"/>
                  </a:lnTo>
                  <a:lnTo>
                    <a:pt x="539862" y="263758"/>
                  </a:lnTo>
                  <a:lnTo>
                    <a:pt x="493060" y="282623"/>
                  </a:lnTo>
                  <a:lnTo>
                    <a:pt x="439341" y="296867"/>
                  </a:lnTo>
                  <a:lnTo>
                    <a:pt x="379978" y="305869"/>
                  </a:lnTo>
                  <a:lnTo>
                    <a:pt x="316242" y="309007"/>
                  </a:lnTo>
                  <a:lnTo>
                    <a:pt x="252510" y="305869"/>
                  </a:lnTo>
                  <a:lnTo>
                    <a:pt x="193150" y="296867"/>
                  </a:lnTo>
                  <a:lnTo>
                    <a:pt x="139432" y="282623"/>
                  </a:lnTo>
                  <a:lnTo>
                    <a:pt x="92628" y="263758"/>
                  </a:lnTo>
                  <a:lnTo>
                    <a:pt x="54011" y="240892"/>
                  </a:lnTo>
                  <a:lnTo>
                    <a:pt x="24853" y="214645"/>
                  </a:lnTo>
                  <a:lnTo>
                    <a:pt x="0" y="154494"/>
                  </a:lnTo>
                  <a:lnTo>
                    <a:pt x="6425" y="123361"/>
                  </a:lnTo>
                  <a:lnTo>
                    <a:pt x="54011" y="68119"/>
                  </a:lnTo>
                  <a:lnTo>
                    <a:pt x="92628" y="45253"/>
                  </a:lnTo>
                  <a:lnTo>
                    <a:pt x="139432" y="26387"/>
                  </a:lnTo>
                  <a:lnTo>
                    <a:pt x="193150" y="12142"/>
                  </a:lnTo>
                  <a:lnTo>
                    <a:pt x="252510" y="3139"/>
                  </a:lnTo>
                  <a:lnTo>
                    <a:pt x="316242" y="0"/>
                  </a:lnTo>
                  <a:lnTo>
                    <a:pt x="379978" y="3139"/>
                  </a:lnTo>
                  <a:lnTo>
                    <a:pt x="439341" y="12142"/>
                  </a:lnTo>
                  <a:lnTo>
                    <a:pt x="493060" y="26387"/>
                  </a:lnTo>
                  <a:lnTo>
                    <a:pt x="539862" y="45253"/>
                  </a:lnTo>
                  <a:lnTo>
                    <a:pt x="578477" y="68119"/>
                  </a:lnTo>
                  <a:lnTo>
                    <a:pt x="607633" y="94362"/>
                  </a:lnTo>
                  <a:lnTo>
                    <a:pt x="632484" y="154494"/>
                  </a:lnTo>
                  <a:close/>
                </a:path>
              </a:pathLst>
            </a:custGeom>
            <a:ln w="1407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492480" y="5791468"/>
            <a:ext cx="39306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10" dirty="0">
                <a:latin typeface="Times New Roman"/>
                <a:cs typeface="Times New Roman"/>
              </a:rPr>
              <a:t>Client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488724" y="4592513"/>
            <a:ext cx="39306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10" dirty="0">
                <a:latin typeface="Times New Roman"/>
                <a:cs typeface="Times New Roman"/>
              </a:rPr>
              <a:t>Client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628158"/>
            <a:ext cx="9043670" cy="42011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1790" indent="-339090" algn="just">
              <a:lnSpc>
                <a:spcPct val="100000"/>
              </a:lnSpc>
              <a:spcBef>
                <a:spcPts val="72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1790" algn="l"/>
              </a:tabLst>
            </a:pPr>
            <a:r>
              <a:rPr sz="1800" dirty="0">
                <a:latin typeface="Cambria"/>
                <a:cs typeface="Cambria"/>
              </a:rPr>
              <a:t>Transactional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Data:</a:t>
            </a:r>
            <a:endParaRPr sz="18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2200"/>
              </a:lnSpc>
              <a:spcBef>
                <a:spcPts val="580"/>
              </a:spcBef>
            </a:pPr>
            <a:r>
              <a:rPr sz="1300" spc="229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300" spc="24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transactional</a:t>
            </a:r>
            <a:r>
              <a:rPr sz="1800" spc="7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database</a:t>
            </a:r>
            <a:r>
              <a:rPr sz="1800" spc="9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captures</a:t>
            </a:r>
            <a:r>
              <a:rPr sz="1800" spc="8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8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transaction</a:t>
            </a:r>
            <a:r>
              <a:rPr sz="1800" spc="9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-</a:t>
            </a:r>
            <a:r>
              <a:rPr sz="1800" spc="8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8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customer’s</a:t>
            </a:r>
            <a:r>
              <a:rPr sz="1800" spc="8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purchase,</a:t>
            </a:r>
            <a:r>
              <a:rPr sz="1800" spc="8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85" dirty="0">
                <a:latin typeface="Cambria"/>
                <a:cs typeface="Cambria"/>
              </a:rPr>
              <a:t>  </a:t>
            </a:r>
            <a:r>
              <a:rPr sz="1800" spc="-10" dirty="0">
                <a:latin typeface="Cambria"/>
                <a:cs typeface="Cambria"/>
              </a:rPr>
              <a:t>flight </a:t>
            </a:r>
            <a:r>
              <a:rPr sz="1800" dirty="0">
                <a:latin typeface="Cambria"/>
                <a:cs typeface="Cambria"/>
              </a:rPr>
              <a:t>booking,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user’s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clicks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web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page.</a:t>
            </a:r>
            <a:endParaRPr sz="1800" dirty="0">
              <a:latin typeface="Cambria"/>
              <a:cs typeface="Cambria"/>
            </a:endParaRPr>
          </a:p>
          <a:p>
            <a:pPr marL="696595" marR="5715" indent="-291465" algn="just">
              <a:lnSpc>
                <a:spcPct val="101699"/>
              </a:lnSpc>
              <a:spcBef>
                <a:spcPts val="610"/>
              </a:spcBef>
            </a:pPr>
            <a:r>
              <a:rPr sz="1300" spc="229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300" spc="24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4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transaction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typically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includes</a:t>
            </a:r>
            <a:r>
              <a:rPr sz="1800" spc="3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3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unique</a:t>
            </a:r>
            <a:r>
              <a:rPr sz="1800" spc="3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transaction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identity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number</a:t>
            </a:r>
            <a:r>
              <a:rPr sz="1800" spc="3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(trans</a:t>
            </a:r>
            <a:r>
              <a:rPr sz="1800" spc="39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ID)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list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items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making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up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transaction,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such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items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purchased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the </a:t>
            </a:r>
            <a:r>
              <a:rPr sz="1800" spc="-10" dirty="0">
                <a:latin typeface="Cambria"/>
                <a:cs typeface="Cambria"/>
              </a:rPr>
              <a:t>transaction.</a:t>
            </a:r>
            <a:endParaRPr sz="18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4400"/>
              </a:lnSpc>
              <a:spcBef>
                <a:spcPts val="555"/>
              </a:spcBef>
            </a:pPr>
            <a:r>
              <a:rPr sz="1300" spc="229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300" spc="22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32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transactional</a:t>
            </a:r>
            <a:r>
              <a:rPr sz="1800" spc="30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database</a:t>
            </a:r>
            <a:r>
              <a:rPr sz="1800" spc="31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may</a:t>
            </a:r>
            <a:r>
              <a:rPr sz="1800" spc="31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have</a:t>
            </a:r>
            <a:r>
              <a:rPr sz="1800" spc="31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additional</a:t>
            </a:r>
            <a:r>
              <a:rPr sz="1800" spc="30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tables,</a:t>
            </a:r>
            <a:r>
              <a:rPr sz="1800" spc="30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31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contain</a:t>
            </a:r>
            <a:r>
              <a:rPr sz="1800" spc="310" dirty="0">
                <a:latin typeface="Cambria"/>
                <a:cs typeface="Cambria"/>
              </a:rPr>
              <a:t>  </a:t>
            </a:r>
            <a:r>
              <a:rPr sz="1800" spc="-10" dirty="0">
                <a:latin typeface="Cambria"/>
                <a:cs typeface="Cambria"/>
              </a:rPr>
              <a:t>other </a:t>
            </a:r>
            <a:r>
              <a:rPr sz="1800" dirty="0">
                <a:latin typeface="Cambria"/>
                <a:cs typeface="Cambria"/>
              </a:rPr>
              <a:t>information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related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transactions,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such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item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description,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information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about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salesperson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branch,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so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on.</a:t>
            </a:r>
            <a:endParaRPr sz="1800" dirty="0">
              <a:latin typeface="Cambria"/>
              <a:cs typeface="Cambria"/>
            </a:endParaRPr>
          </a:p>
          <a:p>
            <a:pPr marL="352425" marR="6350" indent="-340360">
              <a:lnSpc>
                <a:spcPct val="102200"/>
              </a:lnSpc>
              <a:spcBef>
                <a:spcPts val="57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Example:</a:t>
            </a:r>
            <a:r>
              <a:rPr sz="1800" spc="3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3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transactional</a:t>
            </a:r>
            <a:r>
              <a:rPr sz="1800" spc="3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database</a:t>
            </a:r>
            <a:r>
              <a:rPr sz="1800" spc="3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AllElectronics</a:t>
            </a:r>
            <a:r>
              <a:rPr sz="1800" dirty="0">
                <a:latin typeface="Cambria"/>
                <a:cs typeface="Cambria"/>
              </a:rPr>
              <a:t>.</a:t>
            </a:r>
            <a:r>
              <a:rPr sz="1800" spc="3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Transactions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3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stored</a:t>
            </a:r>
            <a:r>
              <a:rPr sz="1800" spc="3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330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a </a:t>
            </a:r>
            <a:r>
              <a:rPr sz="1800" dirty="0">
                <a:latin typeface="Cambria"/>
                <a:cs typeface="Cambria"/>
              </a:rPr>
              <a:t>table,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record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transaction</a:t>
            </a:r>
            <a:endParaRPr sz="18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65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i="1" dirty="0">
                <a:latin typeface="Cambria"/>
                <a:cs typeface="Cambria"/>
              </a:rPr>
              <a:t>Nested</a:t>
            </a:r>
            <a:r>
              <a:rPr sz="1800" i="1" spc="9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relational</a:t>
            </a:r>
            <a:r>
              <a:rPr sz="1800" i="1" spc="7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structures:</a:t>
            </a:r>
            <a:r>
              <a:rPr sz="1800" i="1" spc="6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list_of_item_IDs</a:t>
            </a:r>
            <a:r>
              <a:rPr sz="1800" i="1" spc="8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consists</a:t>
            </a:r>
            <a:r>
              <a:rPr sz="1800" i="1" spc="7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of</a:t>
            </a:r>
            <a:r>
              <a:rPr sz="1800" i="1" spc="6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set</a:t>
            </a:r>
            <a:r>
              <a:rPr sz="1800" i="1" spc="7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of</a:t>
            </a:r>
            <a:r>
              <a:rPr sz="1800" i="1" spc="60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items</a:t>
            </a:r>
            <a:endParaRPr sz="18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62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i="1" dirty="0">
                <a:latin typeface="Cambria"/>
                <a:cs typeface="Cambria"/>
              </a:rPr>
              <a:t>Query:</a:t>
            </a:r>
            <a:r>
              <a:rPr sz="1800" i="1" spc="5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Which</a:t>
            </a:r>
            <a:r>
              <a:rPr sz="1800" i="1" spc="8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items</a:t>
            </a:r>
            <a:r>
              <a:rPr sz="1800" i="1" spc="6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sold</a:t>
            </a:r>
            <a:r>
              <a:rPr sz="1800" i="1" spc="8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well</a:t>
            </a:r>
            <a:r>
              <a:rPr sz="1800" i="1" spc="65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together?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65341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What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Kinds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Data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Can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Be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Mined?</a:t>
            </a:r>
          </a:p>
        </p:txBody>
      </p:sp>
      <p:sp>
        <p:nvSpPr>
          <p:cNvPr id="5" name="object 5"/>
          <p:cNvSpPr/>
          <p:nvPr/>
        </p:nvSpPr>
        <p:spPr>
          <a:xfrm>
            <a:off x="8185753" y="5870300"/>
            <a:ext cx="73025" cy="0"/>
          </a:xfrm>
          <a:custGeom>
            <a:avLst/>
            <a:gdLst/>
            <a:ahLst/>
            <a:cxnLst/>
            <a:rect l="l" t="t" r="r" b="b"/>
            <a:pathLst>
              <a:path w="73025">
                <a:moveTo>
                  <a:pt x="0" y="0"/>
                </a:moveTo>
                <a:lnTo>
                  <a:pt x="72747" y="0"/>
                </a:lnTo>
              </a:path>
            </a:pathLst>
          </a:custGeom>
          <a:ln w="107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51211" y="5870300"/>
            <a:ext cx="73025" cy="0"/>
          </a:xfrm>
          <a:custGeom>
            <a:avLst/>
            <a:gdLst/>
            <a:ahLst/>
            <a:cxnLst/>
            <a:rect l="l" t="t" r="r" b="b"/>
            <a:pathLst>
              <a:path w="73025">
                <a:moveTo>
                  <a:pt x="0" y="0"/>
                </a:moveTo>
                <a:lnTo>
                  <a:pt x="72747" y="0"/>
                </a:lnTo>
              </a:path>
            </a:pathLst>
          </a:custGeom>
          <a:ln w="107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10829" y="5870300"/>
            <a:ext cx="73025" cy="0"/>
          </a:xfrm>
          <a:custGeom>
            <a:avLst/>
            <a:gdLst/>
            <a:ahLst/>
            <a:cxnLst/>
            <a:rect l="l" t="t" r="r" b="b"/>
            <a:pathLst>
              <a:path w="73025">
                <a:moveTo>
                  <a:pt x="0" y="0"/>
                </a:moveTo>
                <a:lnTo>
                  <a:pt x="72747" y="0"/>
                </a:lnTo>
              </a:path>
            </a:pathLst>
          </a:custGeom>
          <a:ln w="107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19249" y="5870300"/>
            <a:ext cx="73025" cy="0"/>
          </a:xfrm>
          <a:custGeom>
            <a:avLst/>
            <a:gdLst/>
            <a:ahLst/>
            <a:cxnLst/>
            <a:rect l="l" t="t" r="r" b="b"/>
            <a:pathLst>
              <a:path w="73025">
                <a:moveTo>
                  <a:pt x="0" y="0"/>
                </a:moveTo>
                <a:lnTo>
                  <a:pt x="72747" y="0"/>
                </a:lnTo>
              </a:path>
            </a:pathLst>
          </a:custGeom>
          <a:ln w="107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513083" y="5616036"/>
          <a:ext cx="2978149" cy="1447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i="1" spc="-10" dirty="0">
                          <a:latin typeface="Calibri"/>
                          <a:cs typeface="Calibri"/>
                        </a:rPr>
                        <a:t>trans</a:t>
                      </a:r>
                      <a:r>
                        <a:rPr sz="1900" i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i="1" spc="130" dirty="0">
                          <a:latin typeface="Calibri"/>
                          <a:cs typeface="Calibri"/>
                        </a:rPr>
                        <a:t>ID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i="1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900" i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i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900" i="1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i="1" dirty="0">
                          <a:latin typeface="Calibri"/>
                          <a:cs typeface="Calibri"/>
                        </a:rPr>
                        <a:t>item</a:t>
                      </a:r>
                      <a:r>
                        <a:rPr sz="1900" i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i="1" spc="35" dirty="0">
                          <a:latin typeface="Calibri"/>
                          <a:cs typeface="Calibri"/>
                        </a:rPr>
                        <a:t>IDs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spc="-20" dirty="0">
                          <a:latin typeface="Calibri"/>
                          <a:cs typeface="Calibri"/>
                        </a:rPr>
                        <a:t>T100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I1,</a:t>
                      </a:r>
                      <a:r>
                        <a:rPr sz="19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I3,</a:t>
                      </a:r>
                      <a:r>
                        <a:rPr sz="19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I8,</a:t>
                      </a:r>
                      <a:r>
                        <a:rPr sz="19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5" dirty="0">
                          <a:latin typeface="Calibri"/>
                          <a:cs typeface="Calibri"/>
                        </a:rPr>
                        <a:t>I16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spc="-20" dirty="0">
                          <a:latin typeface="Calibri"/>
                          <a:cs typeface="Calibri"/>
                        </a:rPr>
                        <a:t>T200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I2,</a:t>
                      </a:r>
                      <a:r>
                        <a:rPr sz="19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30" dirty="0">
                          <a:latin typeface="Calibri"/>
                          <a:cs typeface="Calibri"/>
                        </a:rPr>
                        <a:t>I8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900" i="1" spc="125" dirty="0">
                          <a:latin typeface="Georgia"/>
                          <a:cs typeface="Georgia"/>
                        </a:rPr>
                        <a:t>... </a:t>
                      </a:r>
                      <a:endParaRPr sz="1900">
                        <a:latin typeface="Georgia"/>
                        <a:cs typeface="Georgia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900" i="1" spc="125" dirty="0">
                          <a:latin typeface="Georgia"/>
                          <a:cs typeface="Georgia"/>
                        </a:rPr>
                        <a:t>... </a:t>
                      </a:r>
                      <a:endParaRPr sz="1900">
                        <a:latin typeface="Georgia"/>
                        <a:cs typeface="Georgia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8488" y="465177"/>
            <a:ext cx="38227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6889" algn="l"/>
              </a:tabLst>
            </a:pPr>
            <a:r>
              <a:rPr dirty="0">
                <a:solidFill>
                  <a:srgbClr val="FF0000"/>
                </a:solidFill>
              </a:rPr>
              <a:t>Chapter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1.</a:t>
            </a:r>
            <a:r>
              <a:rPr dirty="0">
                <a:solidFill>
                  <a:srgbClr val="FF0000"/>
                </a:solidFill>
              </a:rPr>
              <a:t>	</a:t>
            </a:r>
            <a:r>
              <a:rPr spc="-1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Mining?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dirty="0"/>
              <a:t>Data</a:t>
            </a:r>
            <a:r>
              <a:rPr spc="55" dirty="0"/>
              <a:t> </a:t>
            </a:r>
            <a:r>
              <a:rPr spc="-10" dirty="0"/>
              <a:t>Mining?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45" dirty="0"/>
              <a:t> </a:t>
            </a:r>
            <a:r>
              <a:rPr dirty="0"/>
              <a:t>Kind</a:t>
            </a:r>
            <a:r>
              <a:rPr spc="6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dirty="0"/>
              <a:t>Can</a:t>
            </a:r>
            <a:r>
              <a:rPr spc="50" dirty="0"/>
              <a:t> </a:t>
            </a:r>
            <a:r>
              <a:rPr dirty="0"/>
              <a:t>Be</a:t>
            </a:r>
            <a:r>
              <a:rPr spc="50" dirty="0"/>
              <a:t> </a:t>
            </a:r>
            <a:r>
              <a:rPr spc="-10" dirty="0"/>
              <a:t>Mined?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spcBef>
                <a:spcPts val="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Kinds</a:t>
            </a:r>
            <a:r>
              <a:rPr spc="5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dirty="0"/>
              <a:t>Patterns</a:t>
            </a:r>
            <a:r>
              <a:rPr spc="55" dirty="0"/>
              <a:t> </a:t>
            </a:r>
            <a:r>
              <a:rPr dirty="0"/>
              <a:t>Can</a:t>
            </a:r>
            <a:r>
              <a:rPr spc="55" dirty="0"/>
              <a:t> </a:t>
            </a:r>
            <a:r>
              <a:rPr dirty="0"/>
              <a:t>Be</a:t>
            </a:r>
            <a:r>
              <a:rPr spc="55" dirty="0"/>
              <a:t> </a:t>
            </a:r>
            <a:r>
              <a:rPr spc="-10" dirty="0"/>
              <a:t>Mined?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Which</a:t>
            </a:r>
            <a:r>
              <a:rPr spc="30" dirty="0"/>
              <a:t> </a:t>
            </a:r>
            <a:r>
              <a:rPr dirty="0"/>
              <a:t>Technologies</a:t>
            </a:r>
            <a:r>
              <a:rPr spc="35" dirty="0"/>
              <a:t> </a:t>
            </a:r>
            <a:r>
              <a:rPr dirty="0"/>
              <a:t>Are</a:t>
            </a:r>
            <a:r>
              <a:rPr spc="35" dirty="0"/>
              <a:t> </a:t>
            </a:r>
            <a:r>
              <a:rPr spc="-20" dirty="0"/>
              <a:t>Used?</a:t>
            </a: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DA1F28"/>
              </a:buClr>
              <a:buFont typeface="Wingdings"/>
              <a:buChar char=""/>
            </a:pPr>
            <a:endParaRPr spc="-2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Which</a:t>
            </a:r>
            <a:r>
              <a:rPr spc="65" dirty="0"/>
              <a:t> </a:t>
            </a:r>
            <a:r>
              <a:rPr dirty="0"/>
              <a:t>Kinds</a:t>
            </a:r>
            <a:r>
              <a:rPr spc="70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Applications</a:t>
            </a:r>
            <a:r>
              <a:rPr spc="65" dirty="0"/>
              <a:t> </a:t>
            </a:r>
            <a:r>
              <a:rPr dirty="0"/>
              <a:t>Are</a:t>
            </a:r>
            <a:r>
              <a:rPr spc="70" dirty="0"/>
              <a:t> </a:t>
            </a:r>
            <a:r>
              <a:rPr spc="-10" dirty="0"/>
              <a:t>Targeted?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Major</a:t>
            </a:r>
            <a:r>
              <a:rPr spc="70" dirty="0"/>
              <a:t> </a:t>
            </a:r>
            <a:r>
              <a:rPr dirty="0"/>
              <a:t>Issues</a:t>
            </a:r>
            <a:r>
              <a:rPr spc="80" dirty="0"/>
              <a:t> </a:t>
            </a:r>
            <a:r>
              <a:rPr dirty="0"/>
              <a:t>in</a:t>
            </a:r>
            <a:r>
              <a:rPr spc="75" dirty="0"/>
              <a:t> </a:t>
            </a:r>
            <a:r>
              <a:rPr dirty="0"/>
              <a:t>Data</a:t>
            </a:r>
            <a:r>
              <a:rPr spc="75" dirty="0"/>
              <a:t> </a:t>
            </a:r>
            <a:r>
              <a:rPr spc="-10" dirty="0"/>
              <a:t>Mining</a:t>
            </a: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pc="-10" dirty="0"/>
              <a:t>Summary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309416" y="3457539"/>
            <a:ext cx="426720" cy="340995"/>
            <a:chOff x="5309416" y="3457539"/>
            <a:chExt cx="426720" cy="340995"/>
          </a:xfrm>
        </p:grpSpPr>
        <p:sp>
          <p:nvSpPr>
            <p:cNvPr id="6" name="object 6"/>
            <p:cNvSpPr/>
            <p:nvPr/>
          </p:nvSpPr>
          <p:spPr>
            <a:xfrm>
              <a:off x="5315769" y="3480476"/>
              <a:ext cx="353695" cy="311150"/>
            </a:xfrm>
            <a:custGeom>
              <a:avLst/>
              <a:gdLst/>
              <a:ahLst/>
              <a:cxnLst/>
              <a:rect l="l" t="t" r="r" b="b"/>
              <a:pathLst>
                <a:path w="353695" h="311150">
                  <a:moveTo>
                    <a:pt x="46878" y="0"/>
                  </a:moveTo>
                  <a:lnTo>
                    <a:pt x="0" y="187027"/>
                  </a:lnTo>
                  <a:lnTo>
                    <a:pt x="147497" y="311141"/>
                  </a:lnTo>
                  <a:lnTo>
                    <a:pt x="122342" y="233354"/>
                  </a:lnTo>
                  <a:lnTo>
                    <a:pt x="353166" y="158644"/>
                  </a:lnTo>
                  <a:lnTo>
                    <a:pt x="302856" y="3074"/>
                  </a:lnTo>
                  <a:lnTo>
                    <a:pt x="72033" y="77784"/>
                  </a:lnTo>
                  <a:lnTo>
                    <a:pt x="4687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0774" y="3463890"/>
              <a:ext cx="98903" cy="1712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15768" y="3480476"/>
              <a:ext cx="353695" cy="311150"/>
            </a:xfrm>
            <a:custGeom>
              <a:avLst/>
              <a:gdLst/>
              <a:ahLst/>
              <a:cxnLst/>
              <a:rect l="l" t="t" r="r" b="b"/>
              <a:pathLst>
                <a:path w="353695" h="311150">
                  <a:moveTo>
                    <a:pt x="147498" y="311140"/>
                  </a:moveTo>
                  <a:lnTo>
                    <a:pt x="122343" y="233355"/>
                  </a:lnTo>
                  <a:lnTo>
                    <a:pt x="353167" y="158644"/>
                  </a:lnTo>
                  <a:lnTo>
                    <a:pt x="302857" y="3074"/>
                  </a:lnTo>
                  <a:lnTo>
                    <a:pt x="72034" y="77785"/>
                  </a:lnTo>
                  <a:lnTo>
                    <a:pt x="46879" y="0"/>
                  </a:lnTo>
                  <a:lnTo>
                    <a:pt x="0" y="187027"/>
                  </a:lnTo>
                  <a:lnTo>
                    <a:pt x="147498" y="311140"/>
                  </a:lnTo>
                  <a:close/>
                </a:path>
              </a:pathLst>
            </a:custGeom>
            <a:ln w="12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4424" y="3457539"/>
              <a:ext cx="111604" cy="183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2300" y="2181225"/>
            <a:ext cx="9906000" cy="277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 algn="just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Concept/Class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Description: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Characterization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Discrimination</a:t>
            </a:r>
            <a:endParaRPr sz="2400" dirty="0">
              <a:latin typeface="Cambria"/>
              <a:cs typeface="Cambria"/>
            </a:endParaRPr>
          </a:p>
          <a:p>
            <a:pPr marL="352425" marR="2179955" indent="-340360" algn="just">
              <a:lnSpc>
                <a:spcPct val="171600"/>
              </a:lnSpc>
              <a:spcBef>
                <a:spcPts val="9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Mining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Frequent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Patterns,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Associations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and</a:t>
            </a:r>
            <a:r>
              <a:rPr lang="en-IN"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Correlations</a:t>
            </a:r>
            <a:endParaRPr sz="24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70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Classification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Regression</a:t>
            </a:r>
            <a:endParaRPr sz="24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7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Cluster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Analysis</a:t>
            </a:r>
            <a:endParaRPr sz="24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63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Outlier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Analysis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42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dirty="0"/>
              <a:t>1.4</a:t>
            </a:r>
            <a:r>
              <a:rPr spc="-10" dirty="0"/>
              <a:t> </a:t>
            </a: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Kinds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Patterns</a:t>
            </a:r>
            <a:r>
              <a:rPr spc="-5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Mined?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692047"/>
            <a:ext cx="4843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spc="-10" dirty="0">
                <a:latin typeface="Cambria"/>
                <a:cs typeface="Cambria"/>
              </a:rPr>
              <a:t>Data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associated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with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classes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concepts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038" y="2036471"/>
            <a:ext cx="647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3530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20" dirty="0">
                <a:latin typeface="Cambria"/>
                <a:cs typeface="Cambria"/>
              </a:rPr>
              <a:t>E.g.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8872" y="1966487"/>
            <a:ext cx="5452110" cy="71437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spc="-20" dirty="0">
                <a:latin typeface="Cambria"/>
                <a:cs typeface="Cambria"/>
              </a:rPr>
              <a:t>classes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items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–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computers,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printers,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…</a:t>
            </a:r>
            <a:endParaRPr sz="1800" dirty="0">
              <a:latin typeface="Cambria"/>
              <a:cs typeface="Cambria"/>
            </a:endParaRPr>
          </a:p>
          <a:p>
            <a:pPr marL="27940">
              <a:lnSpc>
                <a:spcPct val="100000"/>
              </a:lnSpc>
              <a:spcBef>
                <a:spcPts val="550"/>
              </a:spcBef>
            </a:pPr>
            <a:r>
              <a:rPr sz="1800" spc="-25" dirty="0">
                <a:latin typeface="Cambria"/>
                <a:cs typeface="Cambria"/>
              </a:rPr>
              <a:t>concepts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customers </a:t>
            </a:r>
            <a:r>
              <a:rPr sz="1800" dirty="0">
                <a:latin typeface="Cambria"/>
                <a:cs typeface="Cambria"/>
              </a:rPr>
              <a:t>–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bigSpenders,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budgetSpenders,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…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760" y="2987567"/>
            <a:ext cx="9400540" cy="350031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spc="21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spc="25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pc="-30" dirty="0">
                <a:latin typeface="Cambria"/>
                <a:cs typeface="Cambria"/>
              </a:rPr>
              <a:t>Descriptions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can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be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spc="-35" dirty="0">
                <a:latin typeface="Cambria"/>
                <a:cs typeface="Cambria"/>
              </a:rPr>
              <a:t>derived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via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spc="-1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pc="-30" dirty="0">
                <a:solidFill>
                  <a:srgbClr val="FF0000"/>
                </a:solidFill>
                <a:latin typeface="Cambria"/>
                <a:cs typeface="Cambria"/>
              </a:rPr>
              <a:t>characterization</a:t>
            </a:r>
            <a:r>
              <a:rPr lang="en-IN" spc="-35" dirty="0">
                <a:solidFill>
                  <a:srgbClr val="FF0000"/>
                </a:solidFill>
                <a:latin typeface="Cambria"/>
                <a:cs typeface="Cambria"/>
              </a:rPr>
              <a:t>(</a:t>
            </a:r>
            <a:r>
              <a:rPr spc="-1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lang="en-IN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pc="-30" dirty="0" err="1">
                <a:solidFill>
                  <a:srgbClr val="FF0000"/>
                </a:solidFill>
                <a:latin typeface="Cambria"/>
                <a:cs typeface="Cambria"/>
              </a:rPr>
              <a:t>summariz</a:t>
            </a:r>
            <a:r>
              <a:rPr lang="en-IN" spc="-30" dirty="0">
                <a:solidFill>
                  <a:srgbClr val="FF0000"/>
                </a:solidFill>
                <a:latin typeface="Cambria"/>
                <a:cs typeface="Cambria"/>
              </a:rPr>
              <a:t>ation)</a:t>
            </a:r>
            <a:r>
              <a:rPr spc="-30" dirty="0">
                <a:solidFill>
                  <a:srgbClr val="FF0000"/>
                </a:solidFill>
                <a:latin typeface="Cambria"/>
                <a:cs typeface="Cambria"/>
              </a:rPr>
              <a:t>,</a:t>
            </a:r>
            <a:r>
              <a:rPr lang="en-IN" spc="-30" dirty="0">
                <a:solidFill>
                  <a:srgbClr val="FF0000"/>
                </a:solidFill>
                <a:latin typeface="Cambria"/>
                <a:cs typeface="Cambria"/>
              </a:rPr>
              <a:t>                                         Data discrimination</a:t>
            </a:r>
            <a:r>
              <a:rPr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pc="-20" dirty="0">
                <a:solidFill>
                  <a:srgbClr val="FF0000"/>
                </a:solidFill>
                <a:latin typeface="Cambria"/>
                <a:cs typeface="Cambria"/>
              </a:rPr>
              <a:t>both</a:t>
            </a:r>
            <a:endParaRPr dirty="0">
              <a:latin typeface="Cambria"/>
              <a:cs typeface="Cambria"/>
            </a:endParaRPr>
          </a:p>
          <a:p>
            <a:pPr marL="600075" marR="11430" indent="-245745" algn="just">
              <a:lnSpc>
                <a:spcPts val="2110"/>
              </a:lnSpc>
              <a:spcBef>
                <a:spcPts val="640"/>
              </a:spcBef>
              <a:buClr>
                <a:srgbClr val="DA1F28"/>
              </a:buClr>
              <a:buSzPct val="72222"/>
              <a:buFont typeface="Wingdings"/>
              <a:buChar char=""/>
              <a:tabLst>
                <a:tab pos="600075" algn="l"/>
              </a:tabLst>
            </a:pPr>
            <a:r>
              <a:rPr dirty="0">
                <a:latin typeface="Cambria"/>
                <a:cs typeface="Cambria"/>
              </a:rPr>
              <a:t>Data</a:t>
            </a:r>
            <a:r>
              <a:rPr spc="40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characterization</a:t>
            </a:r>
            <a:r>
              <a:rPr spc="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–</a:t>
            </a:r>
            <a:r>
              <a:rPr spc="4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summarizing</a:t>
            </a:r>
            <a:r>
              <a:rPr spc="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35" dirty="0">
                <a:latin typeface="Cambria"/>
                <a:cs typeface="Cambria"/>
              </a:rPr>
              <a:t> </a:t>
            </a:r>
            <a:r>
              <a:rPr dirty="0">
                <a:solidFill>
                  <a:srgbClr val="FF0000"/>
                </a:solidFill>
                <a:latin typeface="Cambria"/>
                <a:cs typeface="Cambria"/>
              </a:rPr>
              <a:t>general</a:t>
            </a:r>
            <a:r>
              <a:rPr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pc="-20" dirty="0">
                <a:solidFill>
                  <a:srgbClr val="FF0000"/>
                </a:solidFill>
                <a:latin typeface="Cambria"/>
                <a:cs typeface="Cambria"/>
              </a:rPr>
              <a:t>characteristics</a:t>
            </a:r>
            <a:r>
              <a:rPr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</a:t>
            </a:r>
            <a:r>
              <a:rPr spc="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target</a:t>
            </a:r>
            <a:r>
              <a:rPr spc="5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class</a:t>
            </a:r>
            <a:r>
              <a:rPr spc="45" dirty="0">
                <a:latin typeface="Cambria"/>
                <a:cs typeface="Cambria"/>
              </a:rPr>
              <a:t> </a:t>
            </a:r>
            <a:r>
              <a:rPr spc="-25" dirty="0">
                <a:latin typeface="Cambria"/>
                <a:cs typeface="Cambria"/>
              </a:rPr>
              <a:t>of </a:t>
            </a:r>
            <a:r>
              <a:rPr spc="-10" dirty="0">
                <a:latin typeface="Cambria"/>
                <a:cs typeface="Cambria"/>
              </a:rPr>
              <a:t>data.</a:t>
            </a:r>
            <a:endParaRPr dirty="0">
              <a:latin typeface="Cambria"/>
              <a:cs typeface="Cambria"/>
            </a:endParaRPr>
          </a:p>
          <a:p>
            <a:pPr marL="1089660" marR="8255" lvl="1" indent="-245745" algn="just">
              <a:lnSpc>
                <a:spcPts val="2110"/>
              </a:lnSpc>
              <a:spcBef>
                <a:spcPts val="580"/>
              </a:spcBef>
              <a:buClr>
                <a:srgbClr val="EB641B"/>
              </a:buClr>
              <a:buSzPct val="72222"/>
              <a:buFont typeface="Wingdings"/>
              <a:buChar char=""/>
              <a:tabLst>
                <a:tab pos="1089660" algn="l"/>
              </a:tabLst>
            </a:pPr>
            <a:r>
              <a:rPr dirty="0">
                <a:latin typeface="Cambria"/>
                <a:cs typeface="Cambria"/>
              </a:rPr>
              <a:t>E.g.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30" dirty="0">
                <a:latin typeface="Cambria"/>
                <a:cs typeface="Cambria"/>
              </a:rPr>
              <a:t>summarizing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spc="-30" dirty="0">
                <a:latin typeface="Cambria"/>
                <a:cs typeface="Cambria"/>
              </a:rPr>
              <a:t>characteristics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30" dirty="0">
                <a:latin typeface="Cambria"/>
                <a:cs typeface="Cambria"/>
              </a:rPr>
              <a:t>customers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who</a:t>
            </a:r>
            <a:r>
              <a:rPr spc="-60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spend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more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than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$1,000 </a:t>
            </a:r>
            <a:r>
              <a:rPr dirty="0">
                <a:latin typeface="Cambria"/>
                <a:cs typeface="Cambria"/>
              </a:rPr>
              <a:t>a</a:t>
            </a:r>
            <a:r>
              <a:rPr spc="-70" dirty="0">
                <a:latin typeface="Cambria"/>
                <a:cs typeface="Cambria"/>
              </a:rPr>
              <a:t> </a:t>
            </a:r>
            <a:r>
              <a:rPr spc="-25" dirty="0">
                <a:latin typeface="Cambria"/>
                <a:cs typeface="Cambria"/>
              </a:rPr>
              <a:t>year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at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i="1" spc="-10" dirty="0">
                <a:latin typeface="Cambria"/>
                <a:cs typeface="Cambria"/>
              </a:rPr>
              <a:t>AllElectronics</a:t>
            </a:r>
            <a:r>
              <a:rPr spc="-10" dirty="0">
                <a:latin typeface="Cambria"/>
                <a:cs typeface="Cambria"/>
              </a:rPr>
              <a:t>.</a:t>
            </a:r>
            <a:endParaRPr dirty="0">
              <a:latin typeface="Cambria"/>
              <a:cs typeface="Cambria"/>
            </a:endParaRPr>
          </a:p>
          <a:p>
            <a:pPr marL="1089660" marR="8255" lvl="1" indent="-245745" algn="just">
              <a:lnSpc>
                <a:spcPts val="2110"/>
              </a:lnSpc>
              <a:spcBef>
                <a:spcPts val="580"/>
              </a:spcBef>
              <a:buClr>
                <a:srgbClr val="EB641B"/>
              </a:buClr>
              <a:buSzPct val="72222"/>
              <a:buFont typeface="Wingdings"/>
              <a:buChar char=""/>
              <a:tabLst>
                <a:tab pos="1089660" algn="l"/>
              </a:tabLst>
            </a:pPr>
            <a:r>
              <a:rPr dirty="0">
                <a:latin typeface="Cambria"/>
                <a:cs typeface="Cambria"/>
              </a:rPr>
              <a:t>Result</a:t>
            </a:r>
            <a:r>
              <a:rPr spc="1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can</a:t>
            </a:r>
            <a:r>
              <a:rPr spc="16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be</a:t>
            </a:r>
            <a:r>
              <a:rPr spc="1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</a:t>
            </a:r>
            <a:r>
              <a:rPr spc="1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general</a:t>
            </a:r>
            <a:r>
              <a:rPr spc="18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profile</a:t>
            </a:r>
            <a:r>
              <a:rPr spc="16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spc="18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1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customers,</a:t>
            </a:r>
            <a:r>
              <a:rPr spc="1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such</a:t>
            </a:r>
            <a:r>
              <a:rPr spc="16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as</a:t>
            </a:r>
            <a:r>
              <a:rPr spc="1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40</a:t>
            </a:r>
            <a:r>
              <a:rPr spc="1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–</a:t>
            </a:r>
            <a:r>
              <a:rPr spc="1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50</a:t>
            </a:r>
            <a:r>
              <a:rPr spc="1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years</a:t>
            </a:r>
            <a:r>
              <a:rPr spc="180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old, </a:t>
            </a:r>
            <a:r>
              <a:rPr spc="-35" dirty="0">
                <a:latin typeface="Cambria"/>
                <a:cs typeface="Cambria"/>
              </a:rPr>
              <a:t>employed, </a:t>
            </a:r>
            <a:r>
              <a:rPr spc="-40" dirty="0">
                <a:latin typeface="Cambria"/>
                <a:cs typeface="Cambria"/>
              </a:rPr>
              <a:t>have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spc="-30" dirty="0">
                <a:latin typeface="Cambria"/>
                <a:cs typeface="Cambria"/>
              </a:rPr>
              <a:t>excellent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credit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ratings.</a:t>
            </a:r>
            <a:endParaRPr dirty="0">
              <a:latin typeface="Cambria"/>
              <a:cs typeface="Cambria"/>
            </a:endParaRPr>
          </a:p>
          <a:p>
            <a:pPr marL="600075" marR="5080" indent="-245745" algn="just">
              <a:lnSpc>
                <a:spcPts val="2110"/>
              </a:lnSpc>
              <a:spcBef>
                <a:spcPts val="580"/>
              </a:spcBef>
              <a:buClr>
                <a:srgbClr val="DA1F28"/>
              </a:buClr>
              <a:buSzPct val="72222"/>
              <a:buFont typeface="Wingdings"/>
              <a:buChar char=""/>
              <a:tabLst>
                <a:tab pos="600075" algn="l"/>
              </a:tabLst>
            </a:pPr>
            <a:r>
              <a:rPr dirty="0">
                <a:latin typeface="Cambria"/>
                <a:cs typeface="Cambria"/>
              </a:rPr>
              <a:t>Data</a:t>
            </a:r>
            <a:r>
              <a:rPr spc="8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discrimination</a:t>
            </a:r>
            <a:r>
              <a:rPr spc="8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–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comparing</a:t>
            </a:r>
            <a:r>
              <a:rPr spc="8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85" dirty="0">
                <a:latin typeface="Cambria"/>
                <a:cs typeface="Cambria"/>
              </a:rPr>
              <a:t> </a:t>
            </a:r>
            <a:r>
              <a:rPr dirty="0">
                <a:solidFill>
                  <a:srgbClr val="FF0000"/>
                </a:solidFill>
                <a:latin typeface="Cambria"/>
                <a:cs typeface="Cambria"/>
              </a:rPr>
              <a:t>target</a:t>
            </a:r>
            <a:r>
              <a:rPr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FF0000"/>
                </a:solidFill>
                <a:latin typeface="Cambria"/>
                <a:cs typeface="Cambria"/>
              </a:rPr>
              <a:t>class</a:t>
            </a:r>
            <a:r>
              <a:rPr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with</a:t>
            </a:r>
            <a:r>
              <a:rPr spc="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one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or</a:t>
            </a:r>
            <a:r>
              <a:rPr spc="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set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spc="10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comparative classes</a:t>
            </a:r>
            <a:endParaRPr dirty="0">
              <a:latin typeface="Cambria"/>
              <a:cs typeface="Cambria"/>
            </a:endParaRPr>
          </a:p>
          <a:p>
            <a:pPr marL="1089660" marR="5080" lvl="1" indent="-245745" algn="just">
              <a:lnSpc>
                <a:spcPct val="97200"/>
              </a:lnSpc>
              <a:spcBef>
                <a:spcPts val="530"/>
              </a:spcBef>
              <a:buClr>
                <a:srgbClr val="EB641B"/>
              </a:buClr>
              <a:buSzPct val="72222"/>
              <a:buFont typeface="Wingdings"/>
              <a:buChar char=""/>
              <a:tabLst>
                <a:tab pos="1089660" algn="l"/>
              </a:tabLst>
            </a:pPr>
            <a:r>
              <a:rPr dirty="0">
                <a:latin typeface="Cambria"/>
                <a:cs typeface="Cambria"/>
              </a:rPr>
              <a:t>E.g.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Compare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general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features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25" dirty="0">
                <a:latin typeface="Cambria"/>
                <a:cs typeface="Cambria"/>
              </a:rPr>
              <a:t>software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products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whole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sales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20" dirty="0">
                <a:solidFill>
                  <a:srgbClr val="FF0000"/>
                </a:solidFill>
                <a:latin typeface="Cambria"/>
                <a:cs typeface="Cambria"/>
              </a:rPr>
              <a:t>increase</a:t>
            </a:r>
            <a:r>
              <a:rPr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pc="-25" dirty="0">
                <a:solidFill>
                  <a:srgbClr val="FF0000"/>
                </a:solidFill>
                <a:latin typeface="Cambria"/>
                <a:cs typeface="Cambria"/>
              </a:rPr>
              <a:t>by </a:t>
            </a:r>
            <a:r>
              <a:rPr dirty="0">
                <a:solidFill>
                  <a:srgbClr val="FF0000"/>
                </a:solidFill>
                <a:latin typeface="Cambria"/>
                <a:cs typeface="Cambria"/>
              </a:rPr>
              <a:t>10%</a:t>
            </a:r>
            <a:r>
              <a:rPr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in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last</a:t>
            </a:r>
            <a:r>
              <a:rPr spc="-1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year</a:t>
            </a:r>
            <a:r>
              <a:rPr spc="-1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with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those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whose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sales</a:t>
            </a:r>
            <a:r>
              <a:rPr spc="-25" dirty="0">
                <a:latin typeface="Cambria"/>
                <a:cs typeface="Cambria"/>
              </a:rPr>
              <a:t> </a:t>
            </a:r>
            <a:r>
              <a:rPr spc="-10" dirty="0">
                <a:solidFill>
                  <a:srgbClr val="FF0000"/>
                </a:solidFill>
                <a:latin typeface="Cambria"/>
                <a:cs typeface="Cambria"/>
              </a:rPr>
              <a:t>decrease</a:t>
            </a:r>
            <a:r>
              <a:rPr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FF0000"/>
                </a:solidFill>
                <a:latin typeface="Cambria"/>
                <a:cs typeface="Cambria"/>
              </a:rPr>
              <a:t>by</a:t>
            </a:r>
            <a:r>
              <a:rPr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FF0000"/>
                </a:solidFill>
                <a:latin typeface="Cambria"/>
                <a:cs typeface="Cambria"/>
              </a:rPr>
              <a:t>30%</a:t>
            </a:r>
            <a:r>
              <a:rPr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during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-25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same </a:t>
            </a:r>
            <a:r>
              <a:rPr spc="-10" dirty="0">
                <a:latin typeface="Cambria"/>
                <a:cs typeface="Cambria"/>
              </a:rPr>
              <a:t>period</a:t>
            </a:r>
            <a:endParaRPr dirty="0">
              <a:latin typeface="Cambria"/>
              <a:cs typeface="Cambria"/>
            </a:endParaRPr>
          </a:p>
          <a:p>
            <a:pPr marL="599440" indent="-245110" algn="just">
              <a:lnSpc>
                <a:spcPct val="100000"/>
              </a:lnSpc>
              <a:spcBef>
                <a:spcPts val="455"/>
              </a:spcBef>
              <a:buClr>
                <a:srgbClr val="DA1F28"/>
              </a:buClr>
              <a:buSzPct val="72222"/>
              <a:buFont typeface="Wingdings"/>
              <a:buChar char=""/>
              <a:tabLst>
                <a:tab pos="599440" algn="l"/>
              </a:tabLst>
            </a:pPr>
            <a:r>
              <a:rPr dirty="0">
                <a:latin typeface="Cambria"/>
                <a:cs typeface="Cambria"/>
              </a:rPr>
              <a:t>Or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both</a:t>
            </a:r>
            <a:r>
              <a:rPr spc="-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spc="-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-9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above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471170" marR="5080" indent="323215">
              <a:lnSpc>
                <a:spcPct val="102200"/>
              </a:lnSpc>
              <a:spcBef>
                <a:spcPts val="30"/>
              </a:spcBef>
            </a:pPr>
            <a:r>
              <a:rPr dirty="0"/>
              <a:t>1.4.1</a:t>
            </a:r>
            <a:r>
              <a:rPr spc="5" dirty="0"/>
              <a:t> </a:t>
            </a:r>
            <a:r>
              <a:rPr dirty="0"/>
              <a:t>Concept/Class</a:t>
            </a:r>
            <a:r>
              <a:rPr spc="10" dirty="0"/>
              <a:t> </a:t>
            </a:r>
            <a:r>
              <a:rPr spc="-10" dirty="0"/>
              <a:t>Description: </a:t>
            </a:r>
            <a:r>
              <a:rPr dirty="0"/>
              <a:t>Characterization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Discrimination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7480111" y="1809104"/>
            <a:ext cx="772795" cy="871855"/>
            <a:chOff x="7480111" y="1809104"/>
            <a:chExt cx="772795" cy="871855"/>
          </a:xfrm>
        </p:grpSpPr>
        <p:sp>
          <p:nvSpPr>
            <p:cNvPr id="9" name="object 9"/>
            <p:cNvSpPr/>
            <p:nvPr/>
          </p:nvSpPr>
          <p:spPr>
            <a:xfrm>
              <a:off x="7492465" y="2000944"/>
              <a:ext cx="222250" cy="667385"/>
            </a:xfrm>
            <a:custGeom>
              <a:avLst/>
              <a:gdLst/>
              <a:ahLst/>
              <a:cxnLst/>
              <a:rect l="l" t="t" r="r" b="b"/>
              <a:pathLst>
                <a:path w="222250" h="667385">
                  <a:moveTo>
                    <a:pt x="0" y="0"/>
                  </a:moveTo>
                  <a:lnTo>
                    <a:pt x="43180" y="1453"/>
                  </a:lnTo>
                  <a:lnTo>
                    <a:pt x="78442" y="5417"/>
                  </a:lnTo>
                  <a:lnTo>
                    <a:pt x="102217" y="11296"/>
                  </a:lnTo>
                  <a:lnTo>
                    <a:pt x="110935" y="18496"/>
                  </a:lnTo>
                  <a:lnTo>
                    <a:pt x="110935" y="315183"/>
                  </a:lnTo>
                  <a:lnTo>
                    <a:pt x="119652" y="322382"/>
                  </a:lnTo>
                  <a:lnTo>
                    <a:pt x="143427" y="328261"/>
                  </a:lnTo>
                  <a:lnTo>
                    <a:pt x="178689" y="332225"/>
                  </a:lnTo>
                  <a:lnTo>
                    <a:pt x="221870" y="333679"/>
                  </a:lnTo>
                  <a:lnTo>
                    <a:pt x="178689" y="335132"/>
                  </a:lnTo>
                  <a:lnTo>
                    <a:pt x="143427" y="339096"/>
                  </a:lnTo>
                  <a:lnTo>
                    <a:pt x="119652" y="344975"/>
                  </a:lnTo>
                  <a:lnTo>
                    <a:pt x="110935" y="352175"/>
                  </a:lnTo>
                  <a:lnTo>
                    <a:pt x="110935" y="648862"/>
                  </a:lnTo>
                  <a:lnTo>
                    <a:pt x="102217" y="656061"/>
                  </a:lnTo>
                  <a:lnTo>
                    <a:pt x="78442" y="661940"/>
                  </a:lnTo>
                  <a:lnTo>
                    <a:pt x="43180" y="665904"/>
                  </a:lnTo>
                  <a:lnTo>
                    <a:pt x="0" y="667358"/>
                  </a:lnTo>
                </a:path>
              </a:pathLst>
            </a:custGeom>
            <a:ln w="24707">
              <a:solidFill>
                <a:srgbClr val="DA1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25869" y="1818370"/>
              <a:ext cx="517525" cy="653415"/>
            </a:xfrm>
            <a:custGeom>
              <a:avLst/>
              <a:gdLst/>
              <a:ahLst/>
              <a:cxnLst/>
              <a:rect l="l" t="t" r="r" b="b"/>
              <a:pathLst>
                <a:path w="517525" h="653414">
                  <a:moveTo>
                    <a:pt x="517335" y="285620"/>
                  </a:moveTo>
                  <a:lnTo>
                    <a:pt x="279924" y="0"/>
                  </a:lnTo>
                  <a:lnTo>
                    <a:pt x="0" y="653096"/>
                  </a:lnTo>
                </a:path>
              </a:pathLst>
            </a:custGeom>
            <a:ln w="18532">
              <a:solidFill>
                <a:srgbClr val="1E76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39035" y="1673567"/>
            <a:ext cx="1399540" cy="772795"/>
          </a:xfrm>
          <a:prstGeom prst="rect">
            <a:avLst/>
          </a:prstGeom>
          <a:solidFill>
            <a:srgbClr val="2DA2BF"/>
          </a:solidFill>
          <a:ln w="18535">
            <a:solidFill>
              <a:srgbClr val="1E768C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200025" marR="187960" indent="-1905" algn="ctr">
              <a:lnSpc>
                <a:spcPct val="96700"/>
              </a:lnSpc>
              <a:spcBef>
                <a:spcPts val="390"/>
              </a:spcBef>
            </a:pPr>
            <a:r>
              <a:rPr sz="1500" b="1" spc="-10" dirty="0">
                <a:solidFill>
                  <a:srgbClr val="FFFFFF"/>
                </a:solidFill>
                <a:latin typeface="Cambria"/>
                <a:cs typeface="Cambria"/>
              </a:rPr>
              <a:t>Class/ Concept </a:t>
            </a:r>
            <a:r>
              <a:rPr sz="1500" b="1" spc="-30" dirty="0">
                <a:solidFill>
                  <a:srgbClr val="FFFFFF"/>
                </a:solidFill>
                <a:latin typeface="Cambria"/>
                <a:cs typeface="Cambria"/>
              </a:rPr>
              <a:t>Description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3006" y="1647825"/>
            <a:ext cx="9807388" cy="4687052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52425" indent="-339725" algn="just">
              <a:lnSpc>
                <a:spcPct val="100000"/>
              </a:lnSpc>
              <a:spcBef>
                <a:spcPts val="132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200" dirty="0">
                <a:latin typeface="Cambria"/>
                <a:cs typeface="Cambria"/>
              </a:rPr>
              <a:t>Frequent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patterns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are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patterns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that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occur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frequently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data</a:t>
            </a:r>
            <a:endParaRPr sz="22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200" spc="-10" dirty="0">
                <a:latin typeface="Cambria"/>
                <a:cs typeface="Cambria"/>
              </a:rPr>
              <a:t>Types:</a:t>
            </a:r>
            <a:endParaRPr sz="2200" dirty="0">
              <a:latin typeface="Cambria"/>
              <a:cs typeface="Cambria"/>
            </a:endParaRPr>
          </a:p>
          <a:p>
            <a:pPr marL="696595" marR="8255" indent="-291465" algn="just">
              <a:lnSpc>
                <a:spcPct val="101099"/>
              </a:lnSpc>
              <a:spcBef>
                <a:spcPts val="1200"/>
              </a:spcBef>
              <a:tabLst>
                <a:tab pos="696595" algn="l"/>
                <a:tab pos="1823085" algn="l"/>
                <a:tab pos="2839720" algn="l"/>
                <a:tab pos="3126740" algn="l"/>
                <a:tab pos="3603625" algn="l"/>
                <a:tab pos="3975100" algn="l"/>
                <a:tab pos="4723130" algn="l"/>
                <a:tab pos="5313045" algn="l"/>
                <a:tab pos="6571615" algn="l"/>
                <a:tab pos="7476490" algn="l"/>
                <a:tab pos="8539480" algn="l"/>
                <a:tab pos="8910955" algn="l"/>
              </a:tabLst>
            </a:pPr>
            <a:r>
              <a:rPr sz="22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Frequent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itemset: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200" spc="-50" dirty="0">
                <a:latin typeface="Cambria"/>
                <a:cs typeface="Cambria"/>
              </a:rPr>
              <a:t>a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5" dirty="0">
                <a:latin typeface="Cambria"/>
                <a:cs typeface="Cambria"/>
              </a:rPr>
              <a:t>set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5" dirty="0">
                <a:latin typeface="Cambria"/>
                <a:cs typeface="Cambria"/>
              </a:rPr>
              <a:t>of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items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0" dirty="0">
                <a:latin typeface="Cambria"/>
                <a:cs typeface="Cambria"/>
              </a:rPr>
              <a:t>that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 err="1">
                <a:latin typeface="Cambria"/>
                <a:cs typeface="Cambria"/>
              </a:rPr>
              <a:t>frequentl</a:t>
            </a:r>
            <a:r>
              <a:rPr lang="en-IN" sz="2200" spc="-10" dirty="0">
                <a:latin typeface="Cambria"/>
                <a:cs typeface="Cambria"/>
              </a:rPr>
              <a:t>y </a:t>
            </a:r>
            <a:r>
              <a:rPr sz="2200" spc="-10" dirty="0">
                <a:latin typeface="Cambria"/>
                <a:cs typeface="Cambria"/>
              </a:rPr>
              <a:t>appear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together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5" dirty="0">
                <a:latin typeface="Cambria"/>
                <a:cs typeface="Cambria"/>
              </a:rPr>
              <a:t>in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50" dirty="0">
                <a:latin typeface="Cambria"/>
                <a:cs typeface="Cambria"/>
              </a:rPr>
              <a:t>a </a:t>
            </a:r>
            <a:r>
              <a:rPr sz="2200" dirty="0">
                <a:latin typeface="Cambria"/>
                <a:cs typeface="Cambria"/>
              </a:rPr>
              <a:t>transactional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data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set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(e.g.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charger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cable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adapter)</a:t>
            </a:r>
            <a:endParaRPr sz="2200" dirty="0">
              <a:latin typeface="Cambria"/>
              <a:cs typeface="Cambria"/>
            </a:endParaRPr>
          </a:p>
          <a:p>
            <a:pPr marL="696595" marR="8890" indent="-291465" algn="just">
              <a:lnSpc>
                <a:spcPct val="105300"/>
              </a:lnSpc>
              <a:spcBef>
                <a:spcPts val="1080"/>
              </a:spcBef>
              <a:tabLst>
                <a:tab pos="696595" algn="l"/>
              </a:tabLst>
            </a:pPr>
            <a:r>
              <a:rPr sz="22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Frequent</a:t>
            </a:r>
            <a:r>
              <a:rPr sz="2200" spc="22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subsequence</a:t>
            </a:r>
            <a:r>
              <a:rPr sz="220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/</a:t>
            </a:r>
            <a:r>
              <a:rPr sz="22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sequential</a:t>
            </a:r>
            <a:r>
              <a:rPr sz="2200" spc="22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patterns:</a:t>
            </a:r>
            <a:r>
              <a:rPr sz="220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2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pattern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that</a:t>
            </a:r>
            <a:r>
              <a:rPr sz="2200" spc="2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customers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tend</a:t>
            </a:r>
            <a:r>
              <a:rPr sz="2200" spc="25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to </a:t>
            </a:r>
            <a:r>
              <a:rPr sz="2200" dirty="0">
                <a:latin typeface="Cambria"/>
                <a:cs typeface="Cambria"/>
              </a:rPr>
              <a:t>purchase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product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A,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followed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by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purchase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product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</a:t>
            </a:r>
            <a:endParaRPr lang="en-IN" sz="2200" dirty="0">
              <a:latin typeface="Cambria"/>
              <a:cs typeface="Cambria"/>
            </a:endParaRPr>
          </a:p>
          <a:p>
            <a:pPr marL="696595" marR="8890" indent="-291465" algn="just">
              <a:lnSpc>
                <a:spcPct val="105300"/>
              </a:lnSpc>
              <a:spcBef>
                <a:spcPts val="1080"/>
              </a:spcBef>
              <a:tabLst>
                <a:tab pos="696595" algn="l"/>
              </a:tabLst>
            </a:pPr>
            <a:r>
              <a:rPr lang="en-IN" sz="2200" spc="120" dirty="0">
                <a:latin typeface="Cambria"/>
                <a:cs typeface="Cambria"/>
              </a:rPr>
              <a:t>	 </a:t>
            </a:r>
            <a:r>
              <a:rPr lang="en-IN" sz="2200" dirty="0">
                <a:latin typeface="Cambria"/>
                <a:cs typeface="Cambria"/>
              </a:rPr>
              <a:t>(Ex:</a:t>
            </a:r>
            <a:r>
              <a:rPr lang="en-IN" sz="2200" spc="75" dirty="0">
                <a:latin typeface="Cambria"/>
                <a:cs typeface="Cambria"/>
              </a:rPr>
              <a:t> </a:t>
            </a:r>
            <a:r>
              <a:rPr lang="en-IN" sz="2200" dirty="0">
                <a:latin typeface="Cambria"/>
                <a:cs typeface="Cambria"/>
              </a:rPr>
              <a:t>Mobile</a:t>
            </a:r>
            <a:r>
              <a:rPr lang="en-IN" sz="2200" spc="80" dirty="0">
                <a:latin typeface="Cambria"/>
                <a:cs typeface="Cambria"/>
              </a:rPr>
              <a:t> </a:t>
            </a:r>
            <a:r>
              <a:rPr lang="en-IN" sz="2200" dirty="0">
                <a:latin typeface="Cambria"/>
                <a:cs typeface="Cambria"/>
              </a:rPr>
              <a:t>--</a:t>
            </a:r>
            <a:r>
              <a:rPr lang="en-IN" sz="2200" spc="-10" dirty="0">
                <a:latin typeface="Cambria"/>
                <a:cs typeface="Cambria"/>
              </a:rPr>
              <a:t>&gt;Charger</a:t>
            </a:r>
            <a:r>
              <a:rPr lang="en-IN" sz="2200" dirty="0">
                <a:latin typeface="Cambria"/>
                <a:cs typeface="Cambria"/>
              </a:rPr>
              <a:t>   </a:t>
            </a:r>
            <a:r>
              <a:rPr sz="2200" dirty="0">
                <a:latin typeface="Cambria"/>
                <a:cs typeface="Cambria"/>
              </a:rPr>
              <a:t>--</a:t>
            </a:r>
            <a:r>
              <a:rPr sz="2200" spc="-10" dirty="0">
                <a:latin typeface="Cambria"/>
                <a:cs typeface="Cambria"/>
              </a:rPr>
              <a:t>&gt;Earphones)</a:t>
            </a:r>
            <a:endParaRPr sz="22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1099"/>
              </a:lnSpc>
              <a:spcBef>
                <a:spcPts val="1220"/>
              </a:spcBef>
            </a:pPr>
            <a:r>
              <a:rPr sz="22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200" spc="15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Frequent</a:t>
            </a:r>
            <a:r>
              <a:rPr sz="2200" spc="3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substructure:</a:t>
            </a:r>
            <a:r>
              <a:rPr sz="2200" spc="3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3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substructure</a:t>
            </a:r>
            <a:r>
              <a:rPr sz="2200" spc="3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can</a:t>
            </a:r>
            <a:r>
              <a:rPr sz="2200" spc="3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refer</a:t>
            </a:r>
            <a:r>
              <a:rPr sz="2200" spc="3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3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different</a:t>
            </a:r>
            <a:r>
              <a:rPr sz="2200" spc="3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structural</a:t>
            </a:r>
            <a:r>
              <a:rPr sz="2200" spc="30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forms </a:t>
            </a:r>
            <a:r>
              <a:rPr sz="2200" dirty="0">
                <a:latin typeface="Cambria"/>
                <a:cs typeface="Cambria"/>
              </a:rPr>
              <a:t>(e.g.,</a:t>
            </a:r>
            <a:r>
              <a:rPr sz="2200" spc="195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  <a:cs typeface="Cambria"/>
              </a:rPr>
              <a:t>graphs,</a:t>
            </a:r>
            <a:r>
              <a:rPr sz="2200" spc="200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  <a:cs typeface="Cambria"/>
              </a:rPr>
              <a:t>trees,</a:t>
            </a:r>
            <a:r>
              <a:rPr sz="2200" spc="195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  <a:cs typeface="Cambria"/>
              </a:rPr>
              <a:t>or</a:t>
            </a:r>
            <a:r>
              <a:rPr sz="2200" spc="200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</a:rPr>
              <a:t>lattices</a:t>
            </a:r>
            <a:r>
              <a:rPr lang="en-IN" sz="2200" dirty="0">
                <a:latin typeface="Cambria"/>
              </a:rPr>
              <a:t>(</a:t>
            </a:r>
            <a:r>
              <a:rPr lang="en-US" sz="2200" dirty="0">
                <a:latin typeface="Cambria"/>
              </a:rPr>
              <a:t>Lattices represent all possible combinations of items and their frequency counts</a:t>
            </a:r>
            <a:r>
              <a:rPr sz="2200" dirty="0">
                <a:latin typeface="Cambria"/>
              </a:rPr>
              <a:t>)  that  may  be  combined  with  itemsets  or subsequences.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004569" marR="5080" indent="-128905">
              <a:lnSpc>
                <a:spcPct val="102200"/>
              </a:lnSpc>
              <a:spcBef>
                <a:spcPts val="30"/>
              </a:spcBef>
            </a:pPr>
            <a:r>
              <a:rPr dirty="0"/>
              <a:t>1.4.2</a:t>
            </a:r>
            <a:r>
              <a:rPr spc="-15" dirty="0"/>
              <a:t> </a:t>
            </a:r>
            <a:r>
              <a:rPr dirty="0"/>
              <a:t>Mining</a:t>
            </a:r>
            <a:r>
              <a:rPr spc="-25" dirty="0"/>
              <a:t> </a:t>
            </a:r>
            <a:r>
              <a:rPr dirty="0"/>
              <a:t>Frequent</a:t>
            </a:r>
            <a:r>
              <a:rPr spc="-20" dirty="0"/>
              <a:t> </a:t>
            </a:r>
            <a:r>
              <a:rPr spc="-10" dirty="0"/>
              <a:t>Patterns, </a:t>
            </a:r>
            <a:r>
              <a:rPr dirty="0"/>
              <a:t>Associations</a:t>
            </a:r>
            <a:r>
              <a:rPr spc="-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Correlations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3700" y="1545863"/>
            <a:ext cx="10058400" cy="507998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  <a:tabLst>
                <a:tab pos="303530" algn="l"/>
              </a:tabLst>
            </a:pPr>
            <a:r>
              <a:rPr sz="2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2200" spc="-30" dirty="0">
                <a:latin typeface="Cambria"/>
                <a:cs typeface="Cambria"/>
              </a:rPr>
              <a:t>Association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Analysis: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find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frequent </a:t>
            </a:r>
            <a:r>
              <a:rPr sz="2200" spc="-10" dirty="0">
                <a:latin typeface="Cambria"/>
                <a:cs typeface="Cambria"/>
              </a:rPr>
              <a:t>patterns</a:t>
            </a:r>
            <a:endParaRPr sz="2200" dirty="0">
              <a:latin typeface="Cambria"/>
              <a:cs typeface="Cambria"/>
            </a:endParaRPr>
          </a:p>
          <a:p>
            <a:pPr marL="599440" indent="-245110">
              <a:lnSpc>
                <a:spcPct val="100000"/>
              </a:lnSpc>
              <a:spcBef>
                <a:spcPts val="1150"/>
              </a:spcBef>
              <a:buClr>
                <a:srgbClr val="DA1F28"/>
              </a:buClr>
              <a:buSzPct val="72222"/>
              <a:buFont typeface="Wingdings"/>
              <a:buChar char=""/>
              <a:tabLst>
                <a:tab pos="599440" algn="l"/>
              </a:tabLst>
            </a:pPr>
            <a:r>
              <a:rPr sz="2200" spc="-10" dirty="0">
                <a:latin typeface="Cambria"/>
                <a:cs typeface="Cambria"/>
              </a:rPr>
              <a:t>E.g.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AllElectronics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Store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which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items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are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frequently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purchased:</a:t>
            </a:r>
            <a:endParaRPr sz="2200" dirty="0">
              <a:latin typeface="Cambria"/>
              <a:cs typeface="Cambria"/>
            </a:endParaRPr>
          </a:p>
          <a:p>
            <a:pPr marL="600075" algn="just">
              <a:lnSpc>
                <a:spcPct val="100000"/>
              </a:lnSpc>
              <a:spcBef>
                <a:spcPts val="1035"/>
              </a:spcBef>
            </a:pPr>
            <a:r>
              <a:rPr sz="2200" spc="-30" dirty="0">
                <a:latin typeface="Cambria"/>
                <a:cs typeface="Cambria"/>
              </a:rPr>
              <a:t>buys(X,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“computer”)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=&gt;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buys(X,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“software”)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[support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=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1%,</a:t>
            </a:r>
            <a:r>
              <a:rPr sz="2200" spc="-30" dirty="0">
                <a:latin typeface="Cambria"/>
                <a:cs typeface="Cambria"/>
              </a:rPr>
              <a:t> confidence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=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50%]</a:t>
            </a:r>
            <a:endParaRPr sz="2200" dirty="0">
              <a:latin typeface="Cambria"/>
              <a:cs typeface="Cambria"/>
            </a:endParaRPr>
          </a:p>
          <a:p>
            <a:pPr marL="600075" marR="5080" indent="-47625" algn="just">
              <a:lnSpc>
                <a:spcPct val="97200"/>
              </a:lnSpc>
              <a:spcBef>
                <a:spcPts val="1210"/>
              </a:spcBef>
            </a:pPr>
            <a:r>
              <a:rPr sz="2200" dirty="0">
                <a:latin typeface="Cambria"/>
                <a:cs typeface="Cambria"/>
              </a:rPr>
              <a:t>(if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customer </a:t>
            </a:r>
            <a:r>
              <a:rPr sz="2200" spc="-10" dirty="0">
                <a:latin typeface="Cambria"/>
                <a:cs typeface="Cambria"/>
              </a:rPr>
              <a:t>buys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45" dirty="0">
                <a:latin typeface="Cambria"/>
                <a:cs typeface="Cambria"/>
              </a:rPr>
              <a:t>computer,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there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50%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chance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that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he/she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will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buy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software. </a:t>
            </a:r>
            <a:r>
              <a:rPr sz="2200" dirty="0">
                <a:latin typeface="Cambria"/>
                <a:cs typeface="Cambria"/>
              </a:rPr>
              <a:t>1%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all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transactions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under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analysis showed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that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computer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software </a:t>
            </a:r>
            <a:r>
              <a:rPr sz="2200" spc="-25" dirty="0">
                <a:latin typeface="Cambria"/>
                <a:cs typeface="Cambria"/>
              </a:rPr>
              <a:t>are </a:t>
            </a:r>
            <a:r>
              <a:rPr sz="2200" spc="-30" dirty="0">
                <a:latin typeface="Cambria"/>
                <a:cs typeface="Cambria"/>
              </a:rPr>
              <a:t>purchased</a:t>
            </a:r>
            <a:r>
              <a:rPr sz="2200" spc="-45" dirty="0">
                <a:latin typeface="Cambria"/>
                <a:cs typeface="Cambria"/>
              </a:rPr>
              <a:t> together.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)</a:t>
            </a:r>
            <a:endParaRPr sz="2200" dirty="0">
              <a:latin typeface="Cambria"/>
              <a:cs typeface="Cambria"/>
            </a:endParaRPr>
          </a:p>
          <a:p>
            <a:pPr marL="599440" indent="-245110">
              <a:lnSpc>
                <a:spcPct val="100000"/>
              </a:lnSpc>
              <a:spcBef>
                <a:spcPts val="1155"/>
              </a:spcBef>
              <a:buClr>
                <a:srgbClr val="DA1F28"/>
              </a:buClr>
              <a:buSzPct val="72222"/>
              <a:buFont typeface="Wingdings"/>
              <a:buChar char=""/>
              <a:tabLst>
                <a:tab pos="599440" algn="l"/>
              </a:tabLst>
            </a:pPr>
            <a:r>
              <a:rPr sz="2200" spc="-10" dirty="0">
                <a:latin typeface="Cambria"/>
                <a:cs typeface="Cambria"/>
              </a:rPr>
              <a:t>This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association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rule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40" dirty="0">
                <a:latin typeface="Cambria"/>
                <a:cs typeface="Cambria"/>
              </a:rPr>
              <a:t>involves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ambria"/>
                <a:cs typeface="Cambria"/>
              </a:rPr>
              <a:t>single</a:t>
            </a:r>
            <a:r>
              <a:rPr sz="2200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Cambria"/>
                <a:cs typeface="Cambria"/>
              </a:rPr>
              <a:t>attribute</a:t>
            </a:r>
            <a:r>
              <a:rPr sz="2200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2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Cambria"/>
                <a:cs typeface="Cambria"/>
              </a:rPr>
              <a:t>predicate</a:t>
            </a:r>
            <a:r>
              <a:rPr sz="22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(i.e.,</a:t>
            </a:r>
            <a:r>
              <a:rPr sz="2200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i="1" spc="-20" dirty="0">
                <a:solidFill>
                  <a:srgbClr val="FF0000"/>
                </a:solidFill>
                <a:latin typeface="Cambria"/>
                <a:cs typeface="Cambria"/>
              </a:rPr>
              <a:t>buys</a:t>
            </a:r>
            <a:r>
              <a:rPr sz="2200" spc="-20" dirty="0">
                <a:solidFill>
                  <a:srgbClr val="FF0000"/>
                </a:solidFill>
                <a:latin typeface="Cambria"/>
                <a:cs typeface="Cambria"/>
              </a:rPr>
              <a:t>)</a:t>
            </a:r>
            <a:r>
              <a:rPr sz="22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that</a:t>
            </a:r>
            <a:r>
              <a:rPr sz="22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repeats</a:t>
            </a:r>
            <a:r>
              <a:rPr sz="2200" spc="-10" dirty="0">
                <a:latin typeface="Cambria"/>
                <a:cs typeface="Cambria"/>
              </a:rPr>
              <a:t>.</a:t>
            </a:r>
            <a:endParaRPr sz="2200" dirty="0">
              <a:latin typeface="Cambria"/>
              <a:cs typeface="Cambria"/>
            </a:endParaRPr>
          </a:p>
          <a:p>
            <a:pPr marL="600075" marR="6985" indent="-245745">
              <a:lnSpc>
                <a:spcPts val="2110"/>
              </a:lnSpc>
              <a:spcBef>
                <a:spcPts val="1145"/>
              </a:spcBef>
              <a:buClr>
                <a:srgbClr val="DA1F28"/>
              </a:buClr>
              <a:buSzPct val="72222"/>
              <a:buFont typeface="Wingdings"/>
              <a:buChar char=""/>
              <a:tabLst>
                <a:tab pos="600075" algn="l"/>
                <a:tab pos="1843405" algn="l"/>
                <a:tab pos="2473325" algn="l"/>
                <a:tab pos="3004820" algn="l"/>
                <a:tab pos="3862704" algn="l"/>
                <a:tab pos="4120515" algn="l"/>
                <a:tab pos="4828540" algn="l"/>
                <a:tab pos="5871845" algn="l"/>
                <a:tab pos="6327775" algn="l"/>
                <a:tab pos="7261859" algn="l"/>
                <a:tab pos="7603490" algn="l"/>
                <a:tab pos="7957184" algn="l"/>
              </a:tabLst>
            </a:pPr>
            <a:r>
              <a:rPr sz="2200" spc="-10" dirty="0">
                <a:latin typeface="Cambria"/>
                <a:cs typeface="Cambria"/>
              </a:rPr>
              <a:t>Association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0" dirty="0">
                <a:latin typeface="Cambria"/>
                <a:cs typeface="Cambria"/>
              </a:rPr>
              <a:t>rules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0" dirty="0">
                <a:latin typeface="Cambria"/>
                <a:cs typeface="Cambria"/>
              </a:rPr>
              <a:t>that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contain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50" dirty="0">
                <a:latin typeface="Cambria"/>
                <a:cs typeface="Cambria"/>
              </a:rPr>
              <a:t>a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single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predicate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5" dirty="0">
                <a:latin typeface="Cambria"/>
                <a:cs typeface="Cambria"/>
              </a:rPr>
              <a:t>are</a:t>
            </a:r>
            <a:r>
              <a:rPr lang="en-IN" sz="2200" spc="-2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referred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5" dirty="0">
                <a:latin typeface="Cambria"/>
                <a:cs typeface="Cambria"/>
              </a:rPr>
              <a:t>to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25" dirty="0">
                <a:latin typeface="Cambria"/>
                <a:cs typeface="Cambria"/>
              </a:rPr>
              <a:t>as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b="1" spc="-35" dirty="0">
                <a:solidFill>
                  <a:srgbClr val="FF0000"/>
                </a:solidFill>
                <a:latin typeface="Cambria"/>
                <a:cs typeface="Cambria"/>
              </a:rPr>
              <a:t>single- dimensional</a:t>
            </a:r>
            <a:r>
              <a:rPr sz="2200" b="1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Cambria"/>
                <a:cs typeface="Cambria"/>
              </a:rPr>
              <a:t>association</a:t>
            </a:r>
            <a:r>
              <a:rPr sz="22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mbria"/>
                <a:cs typeface="Cambria"/>
              </a:rPr>
              <a:t>rules</a:t>
            </a: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2200" dirty="0">
              <a:latin typeface="Cambria"/>
              <a:cs typeface="Cambria"/>
            </a:endParaRPr>
          </a:p>
          <a:p>
            <a:pPr marL="599440" indent="-245110">
              <a:lnSpc>
                <a:spcPct val="100000"/>
              </a:lnSpc>
              <a:spcBef>
                <a:spcPts val="1065"/>
              </a:spcBef>
              <a:buClr>
                <a:srgbClr val="DA1F28"/>
              </a:buClr>
              <a:buSzPct val="72222"/>
              <a:buFont typeface="Wingdings"/>
              <a:buChar char=""/>
              <a:tabLst>
                <a:tab pos="599440" algn="l"/>
              </a:tabLst>
            </a:pPr>
            <a:r>
              <a:rPr sz="2200" spc="-30" dirty="0">
                <a:latin typeface="Cambria"/>
                <a:cs typeface="Cambria"/>
              </a:rPr>
              <a:t>Dropping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Cambria"/>
                <a:cs typeface="Cambria"/>
              </a:rPr>
              <a:t>predicate</a:t>
            </a:r>
            <a:r>
              <a:rPr sz="22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Cambria"/>
                <a:cs typeface="Cambria"/>
              </a:rPr>
              <a:t>notation</a:t>
            </a:r>
            <a:r>
              <a:rPr sz="2200" spc="-25" dirty="0">
                <a:latin typeface="Cambria"/>
                <a:cs typeface="Cambria"/>
              </a:rPr>
              <a:t>,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rule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can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written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simply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as</a:t>
            </a:r>
            <a:endParaRPr sz="2200" dirty="0">
              <a:latin typeface="Cambria"/>
              <a:cs typeface="Cambria"/>
            </a:endParaRPr>
          </a:p>
          <a:p>
            <a:pPr marL="340995" algn="ctr">
              <a:lnSpc>
                <a:spcPct val="100000"/>
              </a:lnSpc>
              <a:spcBef>
                <a:spcPts val="1155"/>
              </a:spcBef>
            </a:pPr>
            <a:r>
              <a:rPr sz="2200" i="1" spc="-30" dirty="0">
                <a:latin typeface="Cambria"/>
                <a:cs typeface="Cambria"/>
              </a:rPr>
              <a:t>computer</a:t>
            </a:r>
            <a:r>
              <a:rPr sz="2200" i="1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⇒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i="1" spc="-25" dirty="0">
                <a:latin typeface="Cambria"/>
                <a:cs typeface="Cambria"/>
              </a:rPr>
              <a:t>software</a:t>
            </a:r>
            <a:r>
              <a:rPr sz="2200" i="1" spc="-6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[1%,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50%]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004569" marR="5080" indent="297180">
              <a:lnSpc>
                <a:spcPct val="102200"/>
              </a:lnSpc>
              <a:spcBef>
                <a:spcPts val="30"/>
              </a:spcBef>
            </a:pPr>
            <a:r>
              <a:rPr dirty="0">
                <a:solidFill>
                  <a:srgbClr val="FF0000"/>
                </a:solidFill>
              </a:rPr>
              <a:t>Mining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Frequent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Patterns, </a:t>
            </a:r>
            <a:r>
              <a:rPr dirty="0">
                <a:solidFill>
                  <a:srgbClr val="FF0000"/>
                </a:solidFill>
              </a:rPr>
              <a:t>Associations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Correlations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446" y="1724025"/>
            <a:ext cx="9564507" cy="5323252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993140" indent="-245110">
              <a:spcBef>
                <a:spcPts val="1250"/>
              </a:spcBef>
              <a:buClr>
                <a:srgbClr val="DA1F28"/>
              </a:buClr>
              <a:buSzPct val="72222"/>
              <a:buFont typeface="Wingdings"/>
              <a:buChar char=""/>
              <a:tabLst>
                <a:tab pos="993140" algn="l"/>
              </a:tabLst>
            </a:pPr>
            <a:r>
              <a:rPr sz="2400" spc="-30" dirty="0">
                <a:latin typeface="Cambria"/>
                <a:cs typeface="Cambria"/>
              </a:rPr>
              <a:t>AllElectronics: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Purchases</a:t>
            </a:r>
            <a:endParaRPr sz="2400" dirty="0">
              <a:latin typeface="Cambria"/>
              <a:cs typeface="Cambria"/>
            </a:endParaRPr>
          </a:p>
          <a:p>
            <a:pPr marL="1482725" marR="5080" lvl="1" indent="-245745">
              <a:spcBef>
                <a:spcPts val="1265"/>
              </a:spcBef>
              <a:buClr>
                <a:srgbClr val="EB641B"/>
              </a:buClr>
              <a:buSzPct val="72222"/>
              <a:buFont typeface="Wingdings"/>
              <a:buChar char=""/>
              <a:tabLst>
                <a:tab pos="1482725" algn="l"/>
              </a:tabLst>
            </a:pPr>
            <a:r>
              <a:rPr sz="2400" dirty="0">
                <a:latin typeface="Cambria"/>
                <a:cs typeface="Cambria"/>
              </a:rPr>
              <a:t>EX: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age(X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“20..29”)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∧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income(X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“40K..49K”)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⇒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buys(X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“laptop”)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[support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= </a:t>
            </a:r>
            <a:r>
              <a:rPr sz="2400" spc="-10" dirty="0">
                <a:latin typeface="Cambria"/>
                <a:cs typeface="Cambria"/>
              </a:rPr>
              <a:t>2%,</a:t>
            </a:r>
            <a:r>
              <a:rPr sz="2400" spc="-30" dirty="0">
                <a:latin typeface="Cambria"/>
                <a:cs typeface="Cambria"/>
              </a:rPr>
              <a:t> confidence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60%].</a:t>
            </a:r>
            <a:endParaRPr sz="2400" dirty="0">
              <a:latin typeface="Cambria"/>
              <a:cs typeface="Cambria"/>
            </a:endParaRPr>
          </a:p>
          <a:p>
            <a:pPr marL="352425" marR="5080" indent="-340360">
              <a:spcBef>
                <a:spcPts val="108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Rule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denotes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2%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20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29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years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old</a:t>
            </a: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income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$40,000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$49,000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have </a:t>
            </a:r>
            <a:r>
              <a:rPr sz="2400" spc="-30" dirty="0">
                <a:latin typeface="Cambria"/>
                <a:cs typeface="Cambria"/>
              </a:rPr>
              <a:t>purchased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laptop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(computer)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AllElectronics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  <a:p>
            <a:pPr marL="352425" marR="5080" indent="-340360">
              <a:spcBef>
                <a:spcPts val="118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There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60%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probability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customer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age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income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group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will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purchase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spc="-10" dirty="0">
                <a:latin typeface="Cambria"/>
                <a:cs typeface="Cambria"/>
              </a:rPr>
              <a:t>laptop.</a:t>
            </a:r>
            <a:endParaRPr sz="2400" dirty="0">
              <a:latin typeface="Cambria"/>
              <a:cs typeface="Cambria"/>
            </a:endParaRPr>
          </a:p>
          <a:p>
            <a:pPr marL="352425" indent="-339725">
              <a:spcBef>
                <a:spcPts val="106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This</a:t>
            </a:r>
            <a:r>
              <a:rPr lang="en-IN" sz="24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 an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association </a:t>
            </a:r>
            <a:r>
              <a:rPr sz="2400" spc="-20" dirty="0">
                <a:latin typeface="Cambria"/>
                <a:cs typeface="Cambria"/>
              </a:rPr>
              <a:t>involving</a:t>
            </a:r>
            <a:r>
              <a:rPr sz="2400" dirty="0">
                <a:latin typeface="Cambria"/>
                <a:cs typeface="Cambria"/>
              </a:rPr>
              <a:t> more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than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40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attribute</a:t>
            </a:r>
            <a:r>
              <a:rPr sz="240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400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predicate</a:t>
            </a:r>
            <a:r>
              <a:rPr sz="240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(i.e.,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age,</a:t>
            </a:r>
            <a:r>
              <a:rPr sz="2400" i="1" spc="1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income</a:t>
            </a:r>
            <a:r>
              <a:rPr sz="2400" spc="-10" dirty="0">
                <a:latin typeface="Cambria"/>
                <a:cs typeface="Cambria"/>
              </a:rPr>
              <a:t>,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and</a:t>
            </a:r>
            <a:r>
              <a:rPr lang="en-IN" sz="2400" dirty="0">
                <a:latin typeface="Cambria"/>
                <a:cs typeface="Cambria"/>
              </a:rPr>
              <a:t> </a:t>
            </a:r>
            <a:r>
              <a:rPr sz="2400" i="1" spc="-20" dirty="0">
                <a:latin typeface="Cambria"/>
                <a:cs typeface="Cambria"/>
              </a:rPr>
              <a:t>buys</a:t>
            </a:r>
            <a:r>
              <a:rPr sz="2400" spc="-20" dirty="0">
                <a:latin typeface="Cambria"/>
                <a:cs typeface="Cambria"/>
              </a:rPr>
              <a:t>)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multidimensional</a:t>
            </a:r>
            <a:r>
              <a:rPr sz="2400" b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30" dirty="0">
                <a:solidFill>
                  <a:srgbClr val="FF0000"/>
                </a:solidFill>
                <a:latin typeface="Cambria"/>
                <a:cs typeface="Cambria"/>
              </a:rPr>
              <a:t>association</a:t>
            </a:r>
            <a:r>
              <a:rPr sz="2400" b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rule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  <a:p>
            <a:pPr marL="352425" indent="-339725">
              <a:spcBef>
                <a:spcPts val="103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400" spc="-30" dirty="0">
                <a:latin typeface="Cambria"/>
                <a:cs typeface="Cambria"/>
              </a:rPr>
              <a:t>Typically,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association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rules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discarded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uninteresting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they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do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not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satisfy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both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lang="en-IN" sz="2400" dirty="0">
                <a:latin typeface="Cambria"/>
                <a:cs typeface="Cambria"/>
              </a:rPr>
              <a:t> </a:t>
            </a:r>
            <a:r>
              <a:rPr sz="2400" b="1" spc="-30" dirty="0">
                <a:solidFill>
                  <a:srgbClr val="FF0000"/>
                </a:solidFill>
                <a:latin typeface="Cambria"/>
                <a:cs typeface="Cambria"/>
              </a:rPr>
              <a:t>minimum</a:t>
            </a:r>
            <a:r>
              <a:rPr sz="2400" b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mbria"/>
                <a:cs typeface="Cambria"/>
              </a:rPr>
              <a:t>support 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threshold</a:t>
            </a:r>
            <a:r>
              <a:rPr sz="24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and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30" dirty="0">
                <a:solidFill>
                  <a:srgbClr val="FF0000"/>
                </a:solidFill>
                <a:latin typeface="Cambria"/>
                <a:cs typeface="Cambria"/>
              </a:rPr>
              <a:t>minimum</a:t>
            </a:r>
            <a:r>
              <a:rPr sz="2400" b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confidence</a:t>
            </a:r>
            <a:r>
              <a:rPr sz="24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threshold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004569" marR="5080" indent="297180">
              <a:lnSpc>
                <a:spcPct val="102200"/>
              </a:lnSpc>
              <a:spcBef>
                <a:spcPts val="30"/>
              </a:spcBef>
            </a:pPr>
            <a:r>
              <a:rPr dirty="0">
                <a:solidFill>
                  <a:srgbClr val="FF0000"/>
                </a:solidFill>
              </a:rPr>
              <a:t>Mining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Frequent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Patterns, </a:t>
            </a:r>
            <a:r>
              <a:rPr dirty="0">
                <a:solidFill>
                  <a:srgbClr val="FF0000"/>
                </a:solidFill>
              </a:rPr>
              <a:t>Associations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Correlations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692561"/>
            <a:ext cx="9048115" cy="184848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52425" marR="5080" indent="-340360">
              <a:lnSpc>
                <a:spcPts val="2020"/>
              </a:lnSpc>
              <a:spcBef>
                <a:spcPts val="185"/>
              </a:spcBef>
              <a:buClr>
                <a:srgbClr val="DA1F28"/>
              </a:buClr>
              <a:buSzPct val="58823"/>
              <a:buFont typeface="Wingdings"/>
              <a:buChar char=""/>
              <a:tabLst>
                <a:tab pos="352425" algn="l"/>
              </a:tabLst>
            </a:pPr>
            <a:r>
              <a:rPr sz="1700" b="1" spc="-25" dirty="0">
                <a:solidFill>
                  <a:srgbClr val="FF0000"/>
                </a:solidFill>
                <a:latin typeface="Cambria"/>
                <a:cs typeface="Cambria"/>
              </a:rPr>
              <a:t>Classification:</a:t>
            </a:r>
            <a:r>
              <a:rPr sz="1700" b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1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finding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model</a:t>
            </a:r>
            <a:r>
              <a:rPr sz="1700" spc="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that</a:t>
            </a:r>
            <a:r>
              <a:rPr sz="1700" spc="1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describes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 </a:t>
            </a:r>
            <a:r>
              <a:rPr sz="1700" spc="-20" dirty="0">
                <a:latin typeface="Cambria"/>
                <a:cs typeface="Cambria"/>
              </a:rPr>
              <a:t>distinguishes</a:t>
            </a:r>
            <a:r>
              <a:rPr sz="1700" spc="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data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classes </a:t>
            </a:r>
            <a:r>
              <a:rPr sz="1700" dirty="0">
                <a:latin typeface="Cambria"/>
                <a:cs typeface="Cambria"/>
              </a:rPr>
              <a:t>or</a:t>
            </a:r>
            <a:r>
              <a:rPr sz="1700" spc="-6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concepts.</a:t>
            </a:r>
            <a:endParaRPr sz="1700" dirty="0">
              <a:latin typeface="Cambria"/>
              <a:cs typeface="Cambria"/>
            </a:endParaRPr>
          </a:p>
          <a:p>
            <a:pPr marL="696595" marR="5080" indent="-291465">
              <a:lnSpc>
                <a:spcPts val="1989"/>
              </a:lnSpc>
              <a:spcBef>
                <a:spcPts val="1095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derived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1700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based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on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analysis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set</a:t>
            </a:r>
            <a:r>
              <a:rPr sz="170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700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-20" dirty="0">
                <a:solidFill>
                  <a:srgbClr val="FF0000"/>
                </a:solidFill>
                <a:latin typeface="Cambria"/>
                <a:cs typeface="Cambria"/>
              </a:rPr>
              <a:t>training</a:t>
            </a:r>
            <a:r>
              <a:rPr sz="170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700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(data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objects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whose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class </a:t>
            </a:r>
            <a:r>
              <a:rPr sz="1700" spc="-20" dirty="0">
                <a:latin typeface="Cambria"/>
                <a:cs typeface="Cambria"/>
              </a:rPr>
              <a:t>label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known).</a:t>
            </a:r>
            <a:endParaRPr sz="1700" dirty="0">
              <a:latin typeface="Cambria"/>
              <a:cs typeface="Cambria"/>
            </a:endParaRPr>
          </a:p>
          <a:p>
            <a:pPr marL="696595" marR="6985" indent="-291465">
              <a:lnSpc>
                <a:spcPts val="1989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3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model</a:t>
            </a:r>
            <a:r>
              <a:rPr sz="1700" spc="3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can</a:t>
            </a:r>
            <a:r>
              <a:rPr sz="1700" spc="3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be</a:t>
            </a:r>
            <a:r>
              <a:rPr sz="1700" spc="37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represented</a:t>
            </a:r>
            <a:r>
              <a:rPr sz="1700" spc="3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</a:t>
            </a:r>
            <a:r>
              <a:rPr sz="1700" spc="37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classification</a:t>
            </a:r>
            <a:r>
              <a:rPr sz="1700" spc="370" dirty="0">
                <a:latin typeface="Cambria"/>
                <a:cs typeface="Cambria"/>
              </a:rPr>
              <a:t> </a:t>
            </a:r>
            <a:r>
              <a:rPr sz="1700" spc="-90" dirty="0">
                <a:latin typeface="Cambria"/>
                <a:cs typeface="Cambria"/>
              </a:rPr>
              <a:t>(IF-</a:t>
            </a:r>
            <a:r>
              <a:rPr sz="1700" dirty="0">
                <a:latin typeface="Cambria"/>
                <a:cs typeface="Cambria"/>
              </a:rPr>
              <a:t>THEN)</a:t>
            </a:r>
            <a:r>
              <a:rPr sz="1700" spc="3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rules,</a:t>
            </a:r>
            <a:r>
              <a:rPr sz="1700" spc="3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decision</a:t>
            </a:r>
            <a:r>
              <a:rPr sz="1700" spc="3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trees,</a:t>
            </a:r>
            <a:r>
              <a:rPr sz="1700" spc="38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neural </a:t>
            </a:r>
            <a:r>
              <a:rPr sz="1700" spc="-30" dirty="0">
                <a:latin typeface="Cambria"/>
                <a:cs typeface="Cambria"/>
              </a:rPr>
              <a:t>networks,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etc.</a:t>
            </a:r>
            <a:endParaRPr sz="17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868170" marR="5080" indent="-1513840">
              <a:lnSpc>
                <a:spcPct val="102200"/>
              </a:lnSpc>
              <a:spcBef>
                <a:spcPts val="30"/>
              </a:spcBef>
            </a:pPr>
            <a:r>
              <a:rPr dirty="0"/>
              <a:t>1.4.3</a:t>
            </a:r>
            <a:r>
              <a:rPr spc="-10" dirty="0"/>
              <a:t> </a:t>
            </a:r>
            <a:r>
              <a:rPr dirty="0"/>
              <a:t>Classification</a:t>
            </a:r>
            <a:r>
              <a:rPr spc="-1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Regression</a:t>
            </a:r>
            <a:r>
              <a:rPr spc="-10" dirty="0"/>
              <a:t> </a:t>
            </a:r>
            <a:r>
              <a:rPr spc="-25" dirty="0"/>
              <a:t>for </a:t>
            </a:r>
            <a:r>
              <a:rPr spc="-10" dirty="0"/>
              <a:t>predictive</a:t>
            </a:r>
            <a:r>
              <a:rPr spc="-125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253972" y="3559052"/>
            <a:ext cx="526415" cy="114300"/>
            <a:chOff x="6253972" y="3559052"/>
            <a:chExt cx="526415" cy="114300"/>
          </a:xfrm>
        </p:grpSpPr>
        <p:sp>
          <p:nvSpPr>
            <p:cNvPr id="6" name="object 6"/>
            <p:cNvSpPr/>
            <p:nvPr/>
          </p:nvSpPr>
          <p:spPr>
            <a:xfrm>
              <a:off x="6253972" y="3615856"/>
              <a:ext cx="445134" cy="0"/>
            </a:xfrm>
            <a:custGeom>
              <a:avLst/>
              <a:gdLst/>
              <a:ahLst/>
              <a:cxnLst/>
              <a:rect l="l" t="t" r="r" b="b"/>
              <a:pathLst>
                <a:path w="445134">
                  <a:moveTo>
                    <a:pt x="0" y="0"/>
                  </a:moveTo>
                  <a:lnTo>
                    <a:pt x="444590" y="0"/>
                  </a:lnTo>
                </a:path>
              </a:pathLst>
            </a:custGeom>
            <a:ln w="114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81110" y="3559052"/>
              <a:ext cx="99695" cy="114300"/>
            </a:xfrm>
            <a:custGeom>
              <a:avLst/>
              <a:gdLst/>
              <a:ahLst/>
              <a:cxnLst/>
              <a:rect l="l" t="t" r="r" b="b"/>
              <a:pathLst>
                <a:path w="99695" h="114300">
                  <a:moveTo>
                    <a:pt x="0" y="0"/>
                  </a:moveTo>
                  <a:lnTo>
                    <a:pt x="0" y="113925"/>
                  </a:lnTo>
                  <a:lnTo>
                    <a:pt x="99160" y="5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253972" y="3853807"/>
            <a:ext cx="526415" cy="114300"/>
            <a:chOff x="6253972" y="3853807"/>
            <a:chExt cx="526415" cy="114300"/>
          </a:xfrm>
        </p:grpSpPr>
        <p:sp>
          <p:nvSpPr>
            <p:cNvPr id="9" name="object 9"/>
            <p:cNvSpPr/>
            <p:nvPr/>
          </p:nvSpPr>
          <p:spPr>
            <a:xfrm>
              <a:off x="6253972" y="3910609"/>
              <a:ext cx="445134" cy="0"/>
            </a:xfrm>
            <a:custGeom>
              <a:avLst/>
              <a:gdLst/>
              <a:ahLst/>
              <a:cxnLst/>
              <a:rect l="l" t="t" r="r" b="b"/>
              <a:pathLst>
                <a:path w="445134">
                  <a:moveTo>
                    <a:pt x="0" y="0"/>
                  </a:moveTo>
                  <a:lnTo>
                    <a:pt x="444590" y="0"/>
                  </a:lnTo>
                </a:path>
              </a:pathLst>
            </a:custGeom>
            <a:ln w="114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81110" y="3853807"/>
              <a:ext cx="99695" cy="114300"/>
            </a:xfrm>
            <a:custGeom>
              <a:avLst/>
              <a:gdLst/>
              <a:ahLst/>
              <a:cxnLst/>
              <a:rect l="l" t="t" r="r" b="b"/>
              <a:pathLst>
                <a:path w="99695" h="114300">
                  <a:moveTo>
                    <a:pt x="0" y="0"/>
                  </a:moveTo>
                  <a:lnTo>
                    <a:pt x="0" y="113925"/>
                  </a:lnTo>
                  <a:lnTo>
                    <a:pt x="99160" y="569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53972" y="4127996"/>
            <a:ext cx="526415" cy="114300"/>
            <a:chOff x="6253972" y="4127996"/>
            <a:chExt cx="526415" cy="114300"/>
          </a:xfrm>
        </p:grpSpPr>
        <p:sp>
          <p:nvSpPr>
            <p:cNvPr id="12" name="object 12"/>
            <p:cNvSpPr/>
            <p:nvPr/>
          </p:nvSpPr>
          <p:spPr>
            <a:xfrm>
              <a:off x="6253972" y="4184799"/>
              <a:ext cx="445134" cy="0"/>
            </a:xfrm>
            <a:custGeom>
              <a:avLst/>
              <a:gdLst/>
              <a:ahLst/>
              <a:cxnLst/>
              <a:rect l="l" t="t" r="r" b="b"/>
              <a:pathLst>
                <a:path w="445134">
                  <a:moveTo>
                    <a:pt x="0" y="0"/>
                  </a:moveTo>
                  <a:lnTo>
                    <a:pt x="444590" y="0"/>
                  </a:lnTo>
                </a:path>
              </a:pathLst>
            </a:custGeom>
            <a:ln w="114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81110" y="4127996"/>
              <a:ext cx="99695" cy="114300"/>
            </a:xfrm>
            <a:custGeom>
              <a:avLst/>
              <a:gdLst/>
              <a:ahLst/>
              <a:cxnLst/>
              <a:rect l="l" t="t" r="r" b="b"/>
              <a:pathLst>
                <a:path w="99695" h="114300">
                  <a:moveTo>
                    <a:pt x="0" y="0"/>
                  </a:moveTo>
                  <a:lnTo>
                    <a:pt x="0" y="113926"/>
                  </a:lnTo>
                  <a:lnTo>
                    <a:pt x="99160" y="5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253972" y="4425035"/>
            <a:ext cx="526415" cy="114300"/>
            <a:chOff x="6253972" y="4425035"/>
            <a:chExt cx="526415" cy="114300"/>
          </a:xfrm>
        </p:grpSpPr>
        <p:sp>
          <p:nvSpPr>
            <p:cNvPr id="15" name="object 15"/>
            <p:cNvSpPr/>
            <p:nvPr/>
          </p:nvSpPr>
          <p:spPr>
            <a:xfrm>
              <a:off x="6253972" y="4481838"/>
              <a:ext cx="445134" cy="0"/>
            </a:xfrm>
            <a:custGeom>
              <a:avLst/>
              <a:gdLst/>
              <a:ahLst/>
              <a:cxnLst/>
              <a:rect l="l" t="t" r="r" b="b"/>
              <a:pathLst>
                <a:path w="445134">
                  <a:moveTo>
                    <a:pt x="0" y="0"/>
                  </a:moveTo>
                  <a:lnTo>
                    <a:pt x="444590" y="0"/>
                  </a:lnTo>
                </a:path>
              </a:pathLst>
            </a:custGeom>
            <a:ln w="114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81110" y="4425035"/>
              <a:ext cx="99695" cy="114300"/>
            </a:xfrm>
            <a:custGeom>
              <a:avLst/>
              <a:gdLst/>
              <a:ahLst/>
              <a:cxnLst/>
              <a:rect l="l" t="t" r="r" b="b"/>
              <a:pathLst>
                <a:path w="99695" h="114300">
                  <a:moveTo>
                    <a:pt x="0" y="0"/>
                  </a:moveTo>
                  <a:lnTo>
                    <a:pt x="0" y="113925"/>
                  </a:lnTo>
                  <a:lnTo>
                    <a:pt x="99160" y="5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25692" y="3406654"/>
            <a:ext cx="3000375" cy="11798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00" i="1" dirty="0">
                <a:latin typeface="Times New Roman"/>
                <a:cs typeface="Times New Roman"/>
              </a:rPr>
              <a:t>age(X,</a:t>
            </a:r>
            <a:r>
              <a:rPr sz="1400" i="1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“youth”</a:t>
            </a:r>
            <a:r>
              <a:rPr sz="1400" i="1" dirty="0">
                <a:latin typeface="Times New Roman"/>
                <a:cs typeface="Times New Roman"/>
              </a:rPr>
              <a:t>)</a:t>
            </a:r>
            <a:r>
              <a:rPr sz="1400" i="1" spc="14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AND</a:t>
            </a:r>
            <a:r>
              <a:rPr sz="1400" i="1" spc="13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income(X,</a:t>
            </a:r>
            <a:r>
              <a:rPr sz="1400" i="1" spc="1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“high”</a:t>
            </a:r>
            <a:r>
              <a:rPr sz="1400" i="1" spc="-10" dirty="0">
                <a:latin typeface="Times New Roman"/>
                <a:cs typeface="Times New Roman"/>
              </a:rPr>
              <a:t>)</a:t>
            </a:r>
            <a:endParaRPr sz="1400" dirty="0">
              <a:latin typeface="Times New Roman"/>
              <a:cs typeface="Times New Roman"/>
            </a:endParaRPr>
          </a:p>
          <a:p>
            <a:pPr marL="12700" marR="59690">
              <a:lnSpc>
                <a:spcPts val="2280"/>
              </a:lnSpc>
              <a:spcBef>
                <a:spcPts val="160"/>
              </a:spcBef>
            </a:pPr>
            <a:r>
              <a:rPr sz="1400" i="1" dirty="0">
                <a:latin typeface="Times New Roman"/>
                <a:cs typeface="Times New Roman"/>
              </a:rPr>
              <a:t>age(X,</a:t>
            </a:r>
            <a:r>
              <a:rPr sz="1400" i="1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“youth”</a:t>
            </a:r>
            <a:r>
              <a:rPr sz="1400" i="1" dirty="0">
                <a:latin typeface="Times New Roman"/>
                <a:cs typeface="Times New Roman"/>
              </a:rPr>
              <a:t>)</a:t>
            </a:r>
            <a:r>
              <a:rPr sz="1400" i="1" spc="14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AND</a:t>
            </a:r>
            <a:r>
              <a:rPr sz="1400" i="1" spc="13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income(X,</a:t>
            </a:r>
            <a:r>
              <a:rPr sz="1400" i="1" spc="1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“low”</a:t>
            </a:r>
            <a:r>
              <a:rPr sz="1400" i="1" spc="-10" dirty="0">
                <a:latin typeface="Times New Roman"/>
                <a:cs typeface="Times New Roman"/>
              </a:rPr>
              <a:t>) </a:t>
            </a:r>
            <a:r>
              <a:rPr sz="1400" i="1" dirty="0">
                <a:latin typeface="Times New Roman"/>
                <a:cs typeface="Times New Roman"/>
              </a:rPr>
              <a:t>age(X,</a:t>
            </a:r>
            <a:r>
              <a:rPr sz="1400" i="1" spc="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“middle_aged”</a:t>
            </a:r>
            <a:r>
              <a:rPr sz="1400" i="1" spc="-10" dirty="0">
                <a:latin typeface="Times New Roman"/>
                <a:cs typeface="Times New Roman"/>
              </a:rPr>
              <a:t>)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400" i="1" dirty="0">
                <a:latin typeface="Times New Roman"/>
                <a:cs typeface="Times New Roman"/>
              </a:rPr>
              <a:t>age(X,</a:t>
            </a:r>
            <a:r>
              <a:rPr sz="1400" i="1" spc="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“senior”</a:t>
            </a:r>
            <a:r>
              <a:rPr sz="1400" i="1" spc="-10" dirty="0">
                <a:latin typeface="Times New Roman"/>
                <a:cs typeface="Times New Roman"/>
              </a:rPr>
              <a:t>)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29159" y="3386089"/>
            <a:ext cx="1010285" cy="118427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400" i="1" dirty="0">
                <a:latin typeface="Times New Roman"/>
                <a:cs typeface="Times New Roman"/>
              </a:rPr>
              <a:t>class(X,</a:t>
            </a:r>
            <a:r>
              <a:rPr sz="1400" i="1" spc="1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“A”</a:t>
            </a:r>
            <a:r>
              <a:rPr sz="1400" i="1" spc="-20" dirty="0">
                <a:latin typeface="Times New Roman"/>
                <a:cs typeface="Times New Roman"/>
              </a:rPr>
              <a:t>)</a:t>
            </a:r>
            <a:endParaRPr sz="1400" dirty="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640"/>
              </a:spcBef>
            </a:pPr>
            <a:r>
              <a:rPr sz="1400" i="1" dirty="0">
                <a:latin typeface="Times New Roman"/>
                <a:cs typeface="Times New Roman"/>
              </a:rPr>
              <a:t>class(X,</a:t>
            </a:r>
            <a:r>
              <a:rPr sz="1400" i="1" spc="1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“B”</a:t>
            </a:r>
            <a:r>
              <a:rPr sz="1400" i="1" spc="-20" dirty="0">
                <a:latin typeface="Times New Roman"/>
                <a:cs typeface="Times New Roman"/>
              </a:rPr>
              <a:t>)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400" i="1" dirty="0">
                <a:latin typeface="Times New Roman"/>
                <a:cs typeface="Times New Roman"/>
              </a:rPr>
              <a:t>class(X,</a:t>
            </a:r>
            <a:r>
              <a:rPr sz="1400" i="1" spc="1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“C”</a:t>
            </a:r>
            <a:r>
              <a:rPr sz="1400" i="1" spc="-20" dirty="0">
                <a:latin typeface="Times New Roman"/>
                <a:cs typeface="Times New Roman"/>
              </a:rPr>
              <a:t>)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00" i="1" dirty="0">
                <a:latin typeface="Times New Roman"/>
                <a:cs typeface="Times New Roman"/>
              </a:rPr>
              <a:t>class(X,</a:t>
            </a:r>
            <a:r>
              <a:rPr sz="1400" i="1" spc="1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“C”</a:t>
            </a:r>
            <a:r>
              <a:rPr sz="1400" i="1" spc="-20" dirty="0">
                <a:latin typeface="Times New Roman"/>
                <a:cs typeface="Times New Roman"/>
              </a:rPr>
              <a:t>)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7762" y="4913641"/>
            <a:ext cx="2515870" cy="1972310"/>
            <a:chOff x="2397762" y="4913641"/>
            <a:chExt cx="2515870" cy="1972310"/>
          </a:xfrm>
        </p:grpSpPr>
        <p:sp>
          <p:nvSpPr>
            <p:cNvPr id="20" name="object 20"/>
            <p:cNvSpPr/>
            <p:nvPr/>
          </p:nvSpPr>
          <p:spPr>
            <a:xfrm>
              <a:off x="2897719" y="5714760"/>
              <a:ext cx="646430" cy="297180"/>
            </a:xfrm>
            <a:custGeom>
              <a:avLst/>
              <a:gdLst/>
              <a:ahLst/>
              <a:cxnLst/>
              <a:rect l="l" t="t" r="r" b="b"/>
              <a:pathLst>
                <a:path w="646429" h="297179">
                  <a:moveTo>
                    <a:pt x="0" y="246431"/>
                  </a:moveTo>
                  <a:lnTo>
                    <a:pt x="3952" y="266062"/>
                  </a:lnTo>
                  <a:lnTo>
                    <a:pt x="14731" y="282091"/>
                  </a:lnTo>
                  <a:lnTo>
                    <a:pt x="30719" y="292898"/>
                  </a:lnTo>
                  <a:lnTo>
                    <a:pt x="50299" y="296861"/>
                  </a:lnTo>
                  <a:lnTo>
                    <a:pt x="596051" y="296861"/>
                  </a:lnTo>
                  <a:lnTo>
                    <a:pt x="615652" y="292898"/>
                  </a:lnTo>
                  <a:lnTo>
                    <a:pt x="631638" y="282091"/>
                  </a:lnTo>
                  <a:lnTo>
                    <a:pt x="642405" y="266062"/>
                  </a:lnTo>
                  <a:lnTo>
                    <a:pt x="646351" y="246431"/>
                  </a:lnTo>
                  <a:lnTo>
                    <a:pt x="646351" y="50429"/>
                  </a:lnTo>
                  <a:lnTo>
                    <a:pt x="642405" y="30777"/>
                  </a:lnTo>
                  <a:lnTo>
                    <a:pt x="631638" y="14750"/>
                  </a:lnTo>
                  <a:lnTo>
                    <a:pt x="615652" y="3955"/>
                  </a:lnTo>
                  <a:lnTo>
                    <a:pt x="596051" y="0"/>
                  </a:lnTo>
                  <a:lnTo>
                    <a:pt x="50299" y="0"/>
                  </a:lnTo>
                  <a:lnTo>
                    <a:pt x="30719" y="3955"/>
                  </a:lnTo>
                  <a:lnTo>
                    <a:pt x="14731" y="14750"/>
                  </a:lnTo>
                  <a:lnTo>
                    <a:pt x="3952" y="30777"/>
                  </a:lnTo>
                  <a:lnTo>
                    <a:pt x="0" y="50429"/>
                  </a:lnTo>
                  <a:lnTo>
                    <a:pt x="0" y="246431"/>
                  </a:lnTo>
                  <a:close/>
                </a:path>
              </a:pathLst>
            </a:custGeom>
            <a:ln w="126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23448" y="4919991"/>
              <a:ext cx="646430" cy="297180"/>
            </a:xfrm>
            <a:custGeom>
              <a:avLst/>
              <a:gdLst/>
              <a:ahLst/>
              <a:cxnLst/>
              <a:rect l="l" t="t" r="r" b="b"/>
              <a:pathLst>
                <a:path w="646429" h="297179">
                  <a:moveTo>
                    <a:pt x="0" y="246431"/>
                  </a:moveTo>
                  <a:lnTo>
                    <a:pt x="3952" y="266062"/>
                  </a:lnTo>
                  <a:lnTo>
                    <a:pt x="14731" y="282091"/>
                  </a:lnTo>
                  <a:lnTo>
                    <a:pt x="30719" y="292898"/>
                  </a:lnTo>
                  <a:lnTo>
                    <a:pt x="50299" y="296861"/>
                  </a:lnTo>
                  <a:lnTo>
                    <a:pt x="596051" y="296861"/>
                  </a:lnTo>
                  <a:lnTo>
                    <a:pt x="615652" y="292898"/>
                  </a:lnTo>
                  <a:lnTo>
                    <a:pt x="631638" y="282091"/>
                  </a:lnTo>
                  <a:lnTo>
                    <a:pt x="642405" y="266062"/>
                  </a:lnTo>
                  <a:lnTo>
                    <a:pt x="646351" y="246431"/>
                  </a:lnTo>
                  <a:lnTo>
                    <a:pt x="646351" y="50429"/>
                  </a:lnTo>
                  <a:lnTo>
                    <a:pt x="642405" y="30777"/>
                  </a:lnTo>
                  <a:lnTo>
                    <a:pt x="631638" y="14750"/>
                  </a:lnTo>
                  <a:lnTo>
                    <a:pt x="615652" y="3955"/>
                  </a:lnTo>
                  <a:lnTo>
                    <a:pt x="596051" y="0"/>
                  </a:lnTo>
                  <a:lnTo>
                    <a:pt x="50299" y="0"/>
                  </a:lnTo>
                  <a:lnTo>
                    <a:pt x="30719" y="3955"/>
                  </a:lnTo>
                  <a:lnTo>
                    <a:pt x="14731" y="14750"/>
                  </a:lnTo>
                  <a:lnTo>
                    <a:pt x="3952" y="30777"/>
                  </a:lnTo>
                  <a:lnTo>
                    <a:pt x="0" y="50429"/>
                  </a:lnTo>
                  <a:lnTo>
                    <a:pt x="0" y="246431"/>
                  </a:lnTo>
                  <a:close/>
                </a:path>
              </a:pathLst>
            </a:custGeom>
            <a:ln w="126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04112" y="6554376"/>
              <a:ext cx="724535" cy="325120"/>
            </a:xfrm>
            <a:custGeom>
              <a:avLst/>
              <a:gdLst/>
              <a:ahLst/>
              <a:cxnLst/>
              <a:rect l="l" t="t" r="r" b="b"/>
              <a:pathLst>
                <a:path w="724535" h="325120">
                  <a:moveTo>
                    <a:pt x="0" y="162416"/>
                  </a:moveTo>
                  <a:lnTo>
                    <a:pt x="22648" y="219087"/>
                  </a:lnTo>
                  <a:lnTo>
                    <a:pt x="85140" y="267057"/>
                  </a:lnTo>
                  <a:lnTo>
                    <a:pt x="128770" y="286633"/>
                  </a:lnTo>
                  <a:lnTo>
                    <a:pt x="179292" y="302657"/>
                  </a:lnTo>
                  <a:lnTo>
                    <a:pt x="235685" y="314670"/>
                  </a:lnTo>
                  <a:lnTo>
                    <a:pt x="296925" y="322215"/>
                  </a:lnTo>
                  <a:lnTo>
                    <a:pt x="361990" y="324832"/>
                  </a:lnTo>
                  <a:lnTo>
                    <a:pt x="427091" y="322215"/>
                  </a:lnTo>
                  <a:lnTo>
                    <a:pt x="488363" y="314670"/>
                  </a:lnTo>
                  <a:lnTo>
                    <a:pt x="544782" y="302657"/>
                  </a:lnTo>
                  <a:lnTo>
                    <a:pt x="595328" y="286633"/>
                  </a:lnTo>
                  <a:lnTo>
                    <a:pt x="638976" y="267057"/>
                  </a:lnTo>
                  <a:lnTo>
                    <a:pt x="674705" y="244389"/>
                  </a:lnTo>
                  <a:lnTo>
                    <a:pt x="718313" y="191610"/>
                  </a:lnTo>
                  <a:lnTo>
                    <a:pt x="724147" y="162416"/>
                  </a:lnTo>
                  <a:lnTo>
                    <a:pt x="718313" y="133222"/>
                  </a:lnTo>
                  <a:lnTo>
                    <a:pt x="674705" y="80442"/>
                  </a:lnTo>
                  <a:lnTo>
                    <a:pt x="638976" y="57774"/>
                  </a:lnTo>
                  <a:lnTo>
                    <a:pt x="595328" y="38199"/>
                  </a:lnTo>
                  <a:lnTo>
                    <a:pt x="544782" y="22175"/>
                  </a:lnTo>
                  <a:lnTo>
                    <a:pt x="488363" y="10161"/>
                  </a:lnTo>
                  <a:lnTo>
                    <a:pt x="427091" y="2616"/>
                  </a:lnTo>
                  <a:lnTo>
                    <a:pt x="361990" y="0"/>
                  </a:lnTo>
                  <a:lnTo>
                    <a:pt x="296925" y="2616"/>
                  </a:lnTo>
                  <a:lnTo>
                    <a:pt x="235685" y="10161"/>
                  </a:lnTo>
                  <a:lnTo>
                    <a:pt x="179292" y="22175"/>
                  </a:lnTo>
                  <a:lnTo>
                    <a:pt x="128770" y="38199"/>
                  </a:lnTo>
                  <a:lnTo>
                    <a:pt x="85140" y="57774"/>
                  </a:lnTo>
                  <a:lnTo>
                    <a:pt x="49425" y="80442"/>
                  </a:lnTo>
                  <a:lnTo>
                    <a:pt x="5832" y="133222"/>
                  </a:lnTo>
                  <a:lnTo>
                    <a:pt x="0" y="162416"/>
                  </a:lnTo>
                  <a:close/>
                </a:path>
              </a:pathLst>
            </a:custGeom>
            <a:ln w="126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52596" y="6545971"/>
              <a:ext cx="716280" cy="325120"/>
            </a:xfrm>
            <a:custGeom>
              <a:avLst/>
              <a:gdLst/>
              <a:ahLst/>
              <a:cxnLst/>
              <a:rect l="l" t="t" r="r" b="b"/>
              <a:pathLst>
                <a:path w="716279" h="325120">
                  <a:moveTo>
                    <a:pt x="0" y="162416"/>
                  </a:moveTo>
                  <a:lnTo>
                    <a:pt x="22386" y="219087"/>
                  </a:lnTo>
                  <a:lnTo>
                    <a:pt x="84153" y="267057"/>
                  </a:lnTo>
                  <a:lnTo>
                    <a:pt x="127278" y="286633"/>
                  </a:lnTo>
                  <a:lnTo>
                    <a:pt x="177216" y="302657"/>
                  </a:lnTo>
                  <a:lnTo>
                    <a:pt x="232956" y="314670"/>
                  </a:lnTo>
                  <a:lnTo>
                    <a:pt x="293487" y="322215"/>
                  </a:lnTo>
                  <a:lnTo>
                    <a:pt x="357798" y="324832"/>
                  </a:lnTo>
                  <a:lnTo>
                    <a:pt x="422137" y="322215"/>
                  </a:lnTo>
                  <a:lnTo>
                    <a:pt x="482695" y="314670"/>
                  </a:lnTo>
                  <a:lnTo>
                    <a:pt x="538461" y="302657"/>
                  </a:lnTo>
                  <a:lnTo>
                    <a:pt x="588422" y="286633"/>
                  </a:lnTo>
                  <a:lnTo>
                    <a:pt x="631568" y="267057"/>
                  </a:lnTo>
                  <a:lnTo>
                    <a:pt x="666887" y="244389"/>
                  </a:lnTo>
                  <a:lnTo>
                    <a:pt x="709996" y="191610"/>
                  </a:lnTo>
                  <a:lnTo>
                    <a:pt x="715764" y="162416"/>
                  </a:lnTo>
                  <a:lnTo>
                    <a:pt x="709996" y="133222"/>
                  </a:lnTo>
                  <a:lnTo>
                    <a:pt x="666887" y="80442"/>
                  </a:lnTo>
                  <a:lnTo>
                    <a:pt x="631568" y="57774"/>
                  </a:lnTo>
                  <a:lnTo>
                    <a:pt x="588422" y="38199"/>
                  </a:lnTo>
                  <a:lnTo>
                    <a:pt x="538461" y="22175"/>
                  </a:lnTo>
                  <a:lnTo>
                    <a:pt x="482695" y="10161"/>
                  </a:lnTo>
                  <a:lnTo>
                    <a:pt x="422137" y="2616"/>
                  </a:lnTo>
                  <a:lnTo>
                    <a:pt x="357798" y="0"/>
                  </a:lnTo>
                  <a:lnTo>
                    <a:pt x="293487" y="2616"/>
                  </a:lnTo>
                  <a:lnTo>
                    <a:pt x="232956" y="10161"/>
                  </a:lnTo>
                  <a:lnTo>
                    <a:pt x="177216" y="22175"/>
                  </a:lnTo>
                  <a:lnTo>
                    <a:pt x="127278" y="38199"/>
                  </a:lnTo>
                  <a:lnTo>
                    <a:pt x="84153" y="57774"/>
                  </a:lnTo>
                  <a:lnTo>
                    <a:pt x="48852" y="80442"/>
                  </a:lnTo>
                  <a:lnTo>
                    <a:pt x="5765" y="133222"/>
                  </a:lnTo>
                  <a:lnTo>
                    <a:pt x="0" y="162416"/>
                  </a:lnTo>
                  <a:close/>
                </a:path>
              </a:pathLst>
            </a:custGeom>
            <a:ln w="126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87907" y="5705447"/>
              <a:ext cx="719455" cy="325120"/>
            </a:xfrm>
            <a:custGeom>
              <a:avLst/>
              <a:gdLst/>
              <a:ahLst/>
              <a:cxnLst/>
              <a:rect l="l" t="t" r="r" b="b"/>
              <a:pathLst>
                <a:path w="719454" h="325120">
                  <a:moveTo>
                    <a:pt x="0" y="162483"/>
                  </a:moveTo>
                  <a:lnTo>
                    <a:pt x="22499" y="219194"/>
                  </a:lnTo>
                  <a:lnTo>
                    <a:pt x="84580" y="267194"/>
                  </a:lnTo>
                  <a:lnTo>
                    <a:pt x="127926" y="286781"/>
                  </a:lnTo>
                  <a:lnTo>
                    <a:pt x="178120" y="302814"/>
                  </a:lnTo>
                  <a:lnTo>
                    <a:pt x="234148" y="314834"/>
                  </a:lnTo>
                  <a:lnTo>
                    <a:pt x="294994" y="322382"/>
                  </a:lnTo>
                  <a:lnTo>
                    <a:pt x="359642" y="325000"/>
                  </a:lnTo>
                  <a:lnTo>
                    <a:pt x="424304" y="322382"/>
                  </a:lnTo>
                  <a:lnTo>
                    <a:pt x="485157" y="314834"/>
                  </a:lnTo>
                  <a:lnTo>
                    <a:pt x="541187" y="302814"/>
                  </a:lnTo>
                  <a:lnTo>
                    <a:pt x="591380" y="286781"/>
                  </a:lnTo>
                  <a:lnTo>
                    <a:pt x="634721" y="267194"/>
                  </a:lnTo>
                  <a:lnTo>
                    <a:pt x="670196" y="244512"/>
                  </a:lnTo>
                  <a:lnTo>
                    <a:pt x="713493" y="191698"/>
                  </a:lnTo>
                  <a:lnTo>
                    <a:pt x="719285" y="162483"/>
                  </a:lnTo>
                  <a:lnTo>
                    <a:pt x="713493" y="133278"/>
                  </a:lnTo>
                  <a:lnTo>
                    <a:pt x="670196" y="80477"/>
                  </a:lnTo>
                  <a:lnTo>
                    <a:pt x="634721" y="57800"/>
                  </a:lnTo>
                  <a:lnTo>
                    <a:pt x="591380" y="38216"/>
                  </a:lnTo>
                  <a:lnTo>
                    <a:pt x="541187" y="22185"/>
                  </a:lnTo>
                  <a:lnTo>
                    <a:pt x="485157" y="10166"/>
                  </a:lnTo>
                  <a:lnTo>
                    <a:pt x="424304" y="2618"/>
                  </a:lnTo>
                  <a:lnTo>
                    <a:pt x="359642" y="0"/>
                  </a:lnTo>
                  <a:lnTo>
                    <a:pt x="294994" y="2618"/>
                  </a:lnTo>
                  <a:lnTo>
                    <a:pt x="234148" y="10166"/>
                  </a:lnTo>
                  <a:lnTo>
                    <a:pt x="178120" y="22185"/>
                  </a:lnTo>
                  <a:lnTo>
                    <a:pt x="127926" y="38216"/>
                  </a:lnTo>
                  <a:lnTo>
                    <a:pt x="84580" y="57800"/>
                  </a:lnTo>
                  <a:lnTo>
                    <a:pt x="49099" y="80477"/>
                  </a:lnTo>
                  <a:lnTo>
                    <a:pt x="5794" y="133278"/>
                  </a:lnTo>
                  <a:lnTo>
                    <a:pt x="0" y="162483"/>
                  </a:lnTo>
                  <a:close/>
                </a:path>
              </a:pathLst>
            </a:custGeom>
            <a:ln w="126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5722" y="5216853"/>
              <a:ext cx="1342390" cy="499745"/>
            </a:xfrm>
            <a:custGeom>
              <a:avLst/>
              <a:gdLst/>
              <a:ahLst/>
              <a:cxnLst/>
              <a:rect l="l" t="t" r="r" b="b"/>
              <a:pathLst>
                <a:path w="1342389" h="499745">
                  <a:moveTo>
                    <a:pt x="0" y="499250"/>
                  </a:moveTo>
                  <a:lnTo>
                    <a:pt x="630422" y="0"/>
                  </a:lnTo>
                  <a:lnTo>
                    <a:pt x="1341828" y="488610"/>
                  </a:lnTo>
                </a:path>
              </a:pathLst>
            </a:custGeom>
            <a:ln w="8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66068" y="6011620"/>
              <a:ext cx="944880" cy="542925"/>
            </a:xfrm>
            <a:custGeom>
              <a:avLst/>
              <a:gdLst/>
              <a:ahLst/>
              <a:cxnLst/>
              <a:rect l="l" t="t" r="r" b="b"/>
              <a:pathLst>
                <a:path w="944879" h="542925">
                  <a:moveTo>
                    <a:pt x="0" y="542788"/>
                  </a:moveTo>
                  <a:lnTo>
                    <a:pt x="447667" y="0"/>
                  </a:lnTo>
                  <a:lnTo>
                    <a:pt x="944292" y="534383"/>
                  </a:lnTo>
                </a:path>
              </a:pathLst>
            </a:custGeom>
            <a:ln w="8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513661" y="5049128"/>
            <a:ext cx="2314575" cy="1482090"/>
            <a:chOff x="5513661" y="5049128"/>
            <a:chExt cx="2314575" cy="1482090"/>
          </a:xfrm>
        </p:grpSpPr>
        <p:sp>
          <p:nvSpPr>
            <p:cNvPr id="28" name="object 28"/>
            <p:cNvSpPr/>
            <p:nvPr/>
          </p:nvSpPr>
          <p:spPr>
            <a:xfrm>
              <a:off x="5878816" y="5566127"/>
              <a:ext cx="556895" cy="536575"/>
            </a:xfrm>
            <a:custGeom>
              <a:avLst/>
              <a:gdLst/>
              <a:ahLst/>
              <a:cxnLst/>
              <a:rect l="l" t="t" r="r" b="b"/>
              <a:pathLst>
                <a:path w="556895" h="536575">
                  <a:moveTo>
                    <a:pt x="556649" y="536064"/>
                  </a:moveTo>
                  <a:lnTo>
                    <a:pt x="0" y="0"/>
                  </a:lnTo>
                </a:path>
              </a:pathLst>
            </a:custGeom>
            <a:ln w="12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78459" y="6044315"/>
              <a:ext cx="121920" cy="121285"/>
            </a:xfrm>
            <a:custGeom>
              <a:avLst/>
              <a:gdLst/>
              <a:ahLst/>
              <a:cxnLst/>
              <a:rect l="l" t="t" r="r" b="b"/>
              <a:pathLst>
                <a:path w="121920" h="121285">
                  <a:moveTo>
                    <a:pt x="86884" y="0"/>
                  </a:moveTo>
                  <a:lnTo>
                    <a:pt x="0" y="90688"/>
                  </a:lnTo>
                  <a:lnTo>
                    <a:pt x="121759" y="120778"/>
                  </a:lnTo>
                  <a:lnTo>
                    <a:pt x="868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89043" y="6031623"/>
              <a:ext cx="504825" cy="186690"/>
            </a:xfrm>
            <a:custGeom>
              <a:avLst/>
              <a:gdLst/>
              <a:ahLst/>
              <a:cxnLst/>
              <a:rect l="l" t="t" r="r" b="b"/>
              <a:pathLst>
                <a:path w="504825" h="186689">
                  <a:moveTo>
                    <a:pt x="504505" y="186252"/>
                  </a:moveTo>
                  <a:lnTo>
                    <a:pt x="0" y="0"/>
                  </a:lnTo>
                </a:path>
              </a:pathLst>
            </a:custGeom>
            <a:ln w="12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53309" y="6152672"/>
              <a:ext cx="123825" cy="118110"/>
            </a:xfrm>
            <a:custGeom>
              <a:avLst/>
              <a:gdLst/>
              <a:ahLst/>
              <a:cxnLst/>
              <a:rect l="l" t="t" r="r" b="b"/>
              <a:pathLst>
                <a:path w="123825" h="118110">
                  <a:moveTo>
                    <a:pt x="43324" y="0"/>
                  </a:moveTo>
                  <a:lnTo>
                    <a:pt x="0" y="117986"/>
                  </a:lnTo>
                  <a:lnTo>
                    <a:pt x="123569" y="96621"/>
                  </a:lnTo>
                  <a:lnTo>
                    <a:pt x="433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77306" y="5834478"/>
              <a:ext cx="509905" cy="181610"/>
            </a:xfrm>
            <a:custGeom>
              <a:avLst/>
              <a:gdLst/>
              <a:ahLst/>
              <a:cxnLst/>
              <a:rect l="l" t="t" r="r" b="b"/>
              <a:pathLst>
                <a:path w="509904" h="181610">
                  <a:moveTo>
                    <a:pt x="509535" y="0"/>
                  </a:moveTo>
                  <a:lnTo>
                    <a:pt x="0" y="181041"/>
                  </a:lnTo>
                </a:path>
              </a:pathLst>
            </a:custGeom>
            <a:ln w="12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48297" y="5781545"/>
              <a:ext cx="123825" cy="118745"/>
            </a:xfrm>
            <a:custGeom>
              <a:avLst/>
              <a:gdLst/>
              <a:ahLst/>
              <a:cxnLst/>
              <a:rect l="l" t="t" r="r" b="b"/>
              <a:pathLst>
                <a:path w="123825" h="118745">
                  <a:moveTo>
                    <a:pt x="0" y="0"/>
                  </a:moveTo>
                  <a:lnTo>
                    <a:pt x="41899" y="118508"/>
                  </a:lnTo>
                  <a:lnTo>
                    <a:pt x="123301" y="22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91726" y="5573186"/>
              <a:ext cx="502284" cy="140970"/>
            </a:xfrm>
            <a:custGeom>
              <a:avLst/>
              <a:gdLst/>
              <a:ahLst/>
              <a:cxnLst/>
              <a:rect l="l" t="t" r="r" b="b"/>
              <a:pathLst>
                <a:path w="502285" h="140970">
                  <a:moveTo>
                    <a:pt x="501823" y="140899"/>
                  </a:moveTo>
                  <a:lnTo>
                    <a:pt x="0" y="0"/>
                  </a:lnTo>
                </a:path>
              </a:pathLst>
            </a:custGeom>
            <a:ln w="12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58340" y="5648831"/>
              <a:ext cx="121920" cy="121285"/>
            </a:xfrm>
            <a:custGeom>
              <a:avLst/>
              <a:gdLst/>
              <a:ahLst/>
              <a:cxnLst/>
              <a:rect l="l" t="t" r="r" b="b"/>
              <a:pathLst>
                <a:path w="121920" h="121285">
                  <a:moveTo>
                    <a:pt x="33818" y="0"/>
                  </a:moveTo>
                  <a:lnTo>
                    <a:pt x="0" y="121064"/>
                  </a:lnTo>
                  <a:lnTo>
                    <a:pt x="121474" y="89898"/>
                  </a:lnTo>
                  <a:lnTo>
                    <a:pt x="338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85523" y="5377723"/>
              <a:ext cx="513080" cy="195580"/>
            </a:xfrm>
            <a:custGeom>
              <a:avLst/>
              <a:gdLst/>
              <a:ahLst/>
              <a:cxnLst/>
              <a:rect l="l" t="t" r="r" b="b"/>
              <a:pathLst>
                <a:path w="513079" h="195579">
                  <a:moveTo>
                    <a:pt x="513056" y="0"/>
                  </a:moveTo>
                  <a:lnTo>
                    <a:pt x="0" y="195161"/>
                  </a:lnTo>
                </a:path>
              </a:pathLst>
            </a:custGeom>
            <a:ln w="12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59128" y="5325730"/>
              <a:ext cx="123825" cy="118110"/>
            </a:xfrm>
            <a:custGeom>
              <a:avLst/>
              <a:gdLst/>
              <a:ahLst/>
              <a:cxnLst/>
              <a:rect l="l" t="t" r="r" b="b"/>
              <a:pathLst>
                <a:path w="123825" h="118110">
                  <a:moveTo>
                    <a:pt x="0" y="0"/>
                  </a:moveTo>
                  <a:lnTo>
                    <a:pt x="44481" y="117549"/>
                  </a:lnTo>
                  <a:lnTo>
                    <a:pt x="123770" y="20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11037" y="5334185"/>
              <a:ext cx="556895" cy="354965"/>
            </a:xfrm>
            <a:custGeom>
              <a:avLst/>
              <a:gdLst/>
              <a:ahLst/>
              <a:cxnLst/>
              <a:rect l="l" t="t" r="r" b="b"/>
              <a:pathLst>
                <a:path w="556895" h="354964">
                  <a:moveTo>
                    <a:pt x="556649" y="354854"/>
                  </a:moveTo>
                  <a:lnTo>
                    <a:pt x="0" y="0"/>
                  </a:lnTo>
                </a:path>
              </a:pathLst>
            </a:custGeom>
            <a:ln w="12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19064" y="5626323"/>
              <a:ext cx="125730" cy="111760"/>
            </a:xfrm>
            <a:custGeom>
              <a:avLst/>
              <a:gdLst/>
              <a:ahLst/>
              <a:cxnLst/>
              <a:rect l="l" t="t" r="r" b="b"/>
              <a:pathLst>
                <a:path w="125729" h="111760">
                  <a:moveTo>
                    <a:pt x="67284" y="0"/>
                  </a:moveTo>
                  <a:lnTo>
                    <a:pt x="0" y="106086"/>
                  </a:lnTo>
                  <a:lnTo>
                    <a:pt x="125296" y="111465"/>
                  </a:lnTo>
                  <a:lnTo>
                    <a:pt x="672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28810" y="5428656"/>
              <a:ext cx="551180" cy="368300"/>
            </a:xfrm>
            <a:custGeom>
              <a:avLst/>
              <a:gdLst/>
              <a:ahLst/>
              <a:cxnLst/>
              <a:rect l="l" t="t" r="r" b="b"/>
              <a:pathLst>
                <a:path w="551179" h="368300">
                  <a:moveTo>
                    <a:pt x="550614" y="0"/>
                  </a:moveTo>
                  <a:lnTo>
                    <a:pt x="0" y="368302"/>
                  </a:lnTo>
                </a:path>
              </a:pathLst>
            </a:custGeom>
            <a:ln w="12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28302" y="5378647"/>
              <a:ext cx="125730" cy="113030"/>
            </a:xfrm>
            <a:custGeom>
              <a:avLst/>
              <a:gdLst/>
              <a:ahLst/>
              <a:cxnLst/>
              <a:rect l="l" t="t" r="r" b="b"/>
              <a:pathLst>
                <a:path w="125729" h="113029">
                  <a:moveTo>
                    <a:pt x="125112" y="0"/>
                  </a:moveTo>
                  <a:lnTo>
                    <a:pt x="0" y="8135"/>
                  </a:lnTo>
                  <a:lnTo>
                    <a:pt x="69564" y="112709"/>
                  </a:lnTo>
                  <a:lnTo>
                    <a:pt x="125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41218" y="5345952"/>
              <a:ext cx="516890" cy="0"/>
            </a:xfrm>
            <a:custGeom>
              <a:avLst/>
              <a:gdLst/>
              <a:ahLst/>
              <a:cxnLst/>
              <a:rect l="l" t="t" r="r" b="b"/>
              <a:pathLst>
                <a:path w="516890">
                  <a:moveTo>
                    <a:pt x="516410" y="0"/>
                  </a:moveTo>
                  <a:lnTo>
                    <a:pt x="0" y="0"/>
                  </a:lnTo>
                </a:path>
              </a:pathLst>
            </a:custGeom>
            <a:ln w="126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39184" y="5283268"/>
              <a:ext cx="109220" cy="125730"/>
            </a:xfrm>
            <a:custGeom>
              <a:avLst/>
              <a:gdLst/>
              <a:ahLst/>
              <a:cxnLst/>
              <a:rect l="l" t="t" r="r" b="b"/>
              <a:pathLst>
                <a:path w="109220" h="125729">
                  <a:moveTo>
                    <a:pt x="0" y="0"/>
                  </a:moveTo>
                  <a:lnTo>
                    <a:pt x="0" y="125721"/>
                  </a:lnTo>
                  <a:lnTo>
                    <a:pt x="108614" y="62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41049" y="6248134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5">
                  <a:moveTo>
                    <a:pt x="519931" y="0"/>
                  </a:moveTo>
                  <a:lnTo>
                    <a:pt x="0" y="0"/>
                  </a:lnTo>
                </a:path>
              </a:pathLst>
            </a:custGeom>
            <a:ln w="126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42538" y="6185450"/>
              <a:ext cx="109220" cy="125730"/>
            </a:xfrm>
            <a:custGeom>
              <a:avLst/>
              <a:gdLst/>
              <a:ahLst/>
              <a:cxnLst/>
              <a:rect l="l" t="t" r="r" b="b"/>
              <a:pathLst>
                <a:path w="109220" h="125729">
                  <a:moveTo>
                    <a:pt x="0" y="0"/>
                  </a:moveTo>
                  <a:lnTo>
                    <a:pt x="0" y="125719"/>
                  </a:lnTo>
                  <a:lnTo>
                    <a:pt x="108596" y="62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828977" y="5799312"/>
              <a:ext cx="550545" cy="365125"/>
            </a:xfrm>
            <a:custGeom>
              <a:avLst/>
              <a:gdLst/>
              <a:ahLst/>
              <a:cxnLst/>
              <a:rect l="l" t="t" r="r" b="b"/>
              <a:pathLst>
                <a:path w="550545" h="365125">
                  <a:moveTo>
                    <a:pt x="550446" y="364604"/>
                  </a:moveTo>
                  <a:lnTo>
                    <a:pt x="0" y="0"/>
                  </a:lnTo>
                </a:path>
              </a:pathLst>
            </a:custGeom>
            <a:ln w="12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29124" y="6101553"/>
              <a:ext cx="125730" cy="113030"/>
            </a:xfrm>
            <a:custGeom>
              <a:avLst/>
              <a:gdLst/>
              <a:ahLst/>
              <a:cxnLst/>
              <a:rect l="l" t="t" r="r" b="b"/>
              <a:pathLst>
                <a:path w="125729" h="113029">
                  <a:moveTo>
                    <a:pt x="69128" y="0"/>
                  </a:moveTo>
                  <a:lnTo>
                    <a:pt x="0" y="104893"/>
                  </a:lnTo>
                  <a:lnTo>
                    <a:pt x="125178" y="112473"/>
                  </a:lnTo>
                  <a:lnTo>
                    <a:pt x="691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20930" y="5898423"/>
              <a:ext cx="553720" cy="354965"/>
            </a:xfrm>
            <a:custGeom>
              <a:avLst/>
              <a:gdLst/>
              <a:ahLst/>
              <a:cxnLst/>
              <a:rect l="l" t="t" r="r" b="b"/>
              <a:pathLst>
                <a:path w="553720" h="354964">
                  <a:moveTo>
                    <a:pt x="553464" y="0"/>
                  </a:moveTo>
                  <a:lnTo>
                    <a:pt x="0" y="354854"/>
                  </a:lnTo>
                </a:path>
              </a:pathLst>
            </a:custGeom>
            <a:ln w="12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23625" y="5849836"/>
              <a:ext cx="125730" cy="111760"/>
            </a:xfrm>
            <a:custGeom>
              <a:avLst/>
              <a:gdLst/>
              <a:ahLst/>
              <a:cxnLst/>
              <a:rect l="l" t="t" r="r" b="b"/>
              <a:pathLst>
                <a:path w="125729" h="111760">
                  <a:moveTo>
                    <a:pt x="125246" y="0"/>
                  </a:moveTo>
                  <a:lnTo>
                    <a:pt x="0" y="5698"/>
                  </a:lnTo>
                  <a:lnTo>
                    <a:pt x="67536" y="111616"/>
                  </a:lnTo>
                  <a:lnTo>
                    <a:pt x="1252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857313" y="5794236"/>
              <a:ext cx="492125" cy="0"/>
            </a:xfrm>
            <a:custGeom>
              <a:avLst/>
              <a:gdLst/>
              <a:ahLst/>
              <a:cxnLst/>
              <a:rect l="l" t="t" r="r" b="b"/>
              <a:pathLst>
                <a:path w="492125">
                  <a:moveTo>
                    <a:pt x="491931" y="0"/>
                  </a:moveTo>
                  <a:lnTo>
                    <a:pt x="0" y="0"/>
                  </a:lnTo>
                </a:path>
              </a:pathLst>
            </a:custGeom>
            <a:ln w="126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330800" y="5731569"/>
              <a:ext cx="109220" cy="125730"/>
            </a:xfrm>
            <a:custGeom>
              <a:avLst/>
              <a:gdLst/>
              <a:ahLst/>
              <a:cxnLst/>
              <a:rect l="l" t="t" r="r" b="b"/>
              <a:pathLst>
                <a:path w="109220" h="125729">
                  <a:moveTo>
                    <a:pt x="0" y="0"/>
                  </a:moveTo>
                  <a:lnTo>
                    <a:pt x="0" y="125719"/>
                  </a:lnTo>
                  <a:lnTo>
                    <a:pt x="108614" y="62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26630" y="5491357"/>
              <a:ext cx="591820" cy="747395"/>
            </a:xfrm>
            <a:custGeom>
              <a:avLst/>
              <a:gdLst/>
              <a:ahLst/>
              <a:cxnLst/>
              <a:rect l="l" t="t" r="r" b="b"/>
              <a:pathLst>
                <a:path w="591820" h="747395">
                  <a:moveTo>
                    <a:pt x="591356" y="0"/>
                  </a:moveTo>
                  <a:lnTo>
                    <a:pt x="0" y="747027"/>
                  </a:lnTo>
                </a:path>
              </a:pathLst>
            </a:custGeom>
            <a:ln w="12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58331" y="5420637"/>
              <a:ext cx="116839" cy="124460"/>
            </a:xfrm>
            <a:custGeom>
              <a:avLst/>
              <a:gdLst/>
              <a:ahLst/>
              <a:cxnLst/>
              <a:rect l="l" t="t" r="r" b="b"/>
              <a:pathLst>
                <a:path w="116840" h="124460">
                  <a:moveTo>
                    <a:pt x="116627" y="0"/>
                  </a:moveTo>
                  <a:lnTo>
                    <a:pt x="0" y="46193"/>
                  </a:lnTo>
                  <a:lnTo>
                    <a:pt x="98219" y="124343"/>
                  </a:lnTo>
                  <a:lnTo>
                    <a:pt x="116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18582" y="5349987"/>
              <a:ext cx="609600" cy="735965"/>
            </a:xfrm>
            <a:custGeom>
              <a:avLst/>
              <a:gdLst/>
              <a:ahLst/>
              <a:cxnLst/>
              <a:rect l="l" t="t" r="r" b="b"/>
              <a:pathLst>
                <a:path w="609600" h="735964">
                  <a:moveTo>
                    <a:pt x="609464" y="735764"/>
                  </a:moveTo>
                  <a:lnTo>
                    <a:pt x="0" y="0"/>
                  </a:lnTo>
                </a:path>
              </a:pathLst>
            </a:custGeom>
            <a:ln w="125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369364" y="6031573"/>
              <a:ext cx="118110" cy="124460"/>
            </a:xfrm>
            <a:custGeom>
              <a:avLst/>
              <a:gdLst/>
              <a:ahLst/>
              <a:cxnLst/>
              <a:rect l="l" t="t" r="r" b="b"/>
              <a:pathLst>
                <a:path w="118109" h="124460">
                  <a:moveTo>
                    <a:pt x="96457" y="0"/>
                  </a:moveTo>
                  <a:lnTo>
                    <a:pt x="0" y="80317"/>
                  </a:lnTo>
                  <a:lnTo>
                    <a:pt x="117600" y="123921"/>
                  </a:lnTo>
                  <a:lnTo>
                    <a:pt x="964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25041" y="5304768"/>
              <a:ext cx="354965" cy="471170"/>
            </a:xfrm>
            <a:custGeom>
              <a:avLst/>
              <a:gdLst/>
              <a:ahLst/>
              <a:cxnLst/>
              <a:rect l="l" t="t" r="r" b="b"/>
              <a:pathLst>
                <a:path w="354964" h="471170">
                  <a:moveTo>
                    <a:pt x="0" y="235337"/>
                  </a:moveTo>
                  <a:lnTo>
                    <a:pt x="4684" y="289287"/>
                  </a:lnTo>
                  <a:lnTo>
                    <a:pt x="18027" y="338817"/>
                  </a:lnTo>
                  <a:lnTo>
                    <a:pt x="38966" y="382514"/>
                  </a:lnTo>
                  <a:lnTo>
                    <a:pt x="66435" y="418962"/>
                  </a:lnTo>
                  <a:lnTo>
                    <a:pt x="99372" y="446748"/>
                  </a:lnTo>
                  <a:lnTo>
                    <a:pt x="136711" y="464457"/>
                  </a:lnTo>
                  <a:lnTo>
                    <a:pt x="177390" y="470674"/>
                  </a:lnTo>
                  <a:lnTo>
                    <a:pt x="218047" y="464457"/>
                  </a:lnTo>
                  <a:lnTo>
                    <a:pt x="255378" y="446748"/>
                  </a:lnTo>
                  <a:lnTo>
                    <a:pt x="288316" y="418962"/>
                  </a:lnTo>
                  <a:lnTo>
                    <a:pt x="315793" y="382514"/>
                  </a:lnTo>
                  <a:lnTo>
                    <a:pt x="336741" y="338817"/>
                  </a:lnTo>
                  <a:lnTo>
                    <a:pt x="350092" y="289287"/>
                  </a:lnTo>
                  <a:lnTo>
                    <a:pt x="354780" y="235337"/>
                  </a:lnTo>
                  <a:lnTo>
                    <a:pt x="350092" y="181376"/>
                  </a:lnTo>
                  <a:lnTo>
                    <a:pt x="336741" y="131841"/>
                  </a:lnTo>
                  <a:lnTo>
                    <a:pt x="315793" y="88145"/>
                  </a:lnTo>
                  <a:lnTo>
                    <a:pt x="288316" y="51700"/>
                  </a:lnTo>
                  <a:lnTo>
                    <a:pt x="255378" y="23919"/>
                  </a:lnTo>
                  <a:lnTo>
                    <a:pt x="218047" y="6215"/>
                  </a:lnTo>
                  <a:lnTo>
                    <a:pt x="177390" y="0"/>
                  </a:lnTo>
                  <a:lnTo>
                    <a:pt x="136711" y="6215"/>
                  </a:lnTo>
                  <a:lnTo>
                    <a:pt x="99372" y="23919"/>
                  </a:lnTo>
                  <a:lnTo>
                    <a:pt x="66435" y="51700"/>
                  </a:lnTo>
                  <a:lnTo>
                    <a:pt x="38966" y="88145"/>
                  </a:lnTo>
                  <a:lnTo>
                    <a:pt x="18027" y="131841"/>
                  </a:lnTo>
                  <a:lnTo>
                    <a:pt x="4684" y="181376"/>
                  </a:lnTo>
                  <a:lnTo>
                    <a:pt x="0" y="235337"/>
                  </a:lnTo>
                  <a:close/>
                </a:path>
              </a:pathLst>
            </a:custGeom>
            <a:ln w="12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20011" y="5804120"/>
              <a:ext cx="364490" cy="471170"/>
            </a:xfrm>
            <a:custGeom>
              <a:avLst/>
              <a:gdLst/>
              <a:ahLst/>
              <a:cxnLst/>
              <a:rect l="l" t="t" r="r" b="b"/>
              <a:pathLst>
                <a:path w="364489" h="471170">
                  <a:moveTo>
                    <a:pt x="182252" y="0"/>
                  </a:moveTo>
                  <a:lnTo>
                    <a:pt x="140455" y="6215"/>
                  </a:lnTo>
                  <a:lnTo>
                    <a:pt x="102090" y="23919"/>
                  </a:lnTo>
                  <a:lnTo>
                    <a:pt x="68251" y="51700"/>
                  </a:lnTo>
                  <a:lnTo>
                    <a:pt x="40030" y="88145"/>
                  </a:lnTo>
                  <a:lnTo>
                    <a:pt x="18519" y="131841"/>
                  </a:lnTo>
                  <a:lnTo>
                    <a:pt x="4811" y="181376"/>
                  </a:lnTo>
                  <a:lnTo>
                    <a:pt x="0" y="235337"/>
                  </a:lnTo>
                  <a:lnTo>
                    <a:pt x="4811" y="289297"/>
                  </a:lnTo>
                  <a:lnTo>
                    <a:pt x="18519" y="338832"/>
                  </a:lnTo>
                  <a:lnTo>
                    <a:pt x="40030" y="382528"/>
                  </a:lnTo>
                  <a:lnTo>
                    <a:pt x="68251" y="418973"/>
                  </a:lnTo>
                  <a:lnTo>
                    <a:pt x="102090" y="446754"/>
                  </a:lnTo>
                  <a:lnTo>
                    <a:pt x="140455" y="464459"/>
                  </a:lnTo>
                  <a:lnTo>
                    <a:pt x="182252" y="470674"/>
                  </a:lnTo>
                  <a:lnTo>
                    <a:pt x="224014" y="464459"/>
                  </a:lnTo>
                  <a:lnTo>
                    <a:pt x="262344" y="446754"/>
                  </a:lnTo>
                  <a:lnTo>
                    <a:pt x="296152" y="418973"/>
                  </a:lnTo>
                  <a:lnTo>
                    <a:pt x="324347" y="382528"/>
                  </a:lnTo>
                  <a:lnTo>
                    <a:pt x="345836" y="338832"/>
                  </a:lnTo>
                  <a:lnTo>
                    <a:pt x="359530" y="289297"/>
                  </a:lnTo>
                  <a:lnTo>
                    <a:pt x="364337" y="235337"/>
                  </a:lnTo>
                  <a:lnTo>
                    <a:pt x="359530" y="181376"/>
                  </a:lnTo>
                  <a:lnTo>
                    <a:pt x="345836" y="131841"/>
                  </a:lnTo>
                  <a:lnTo>
                    <a:pt x="324347" y="88145"/>
                  </a:lnTo>
                  <a:lnTo>
                    <a:pt x="296152" y="51700"/>
                  </a:lnTo>
                  <a:lnTo>
                    <a:pt x="262344" y="23919"/>
                  </a:lnTo>
                  <a:lnTo>
                    <a:pt x="224014" y="6215"/>
                  </a:lnTo>
                  <a:lnTo>
                    <a:pt x="1822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520011" y="5804120"/>
              <a:ext cx="364490" cy="471170"/>
            </a:xfrm>
            <a:custGeom>
              <a:avLst/>
              <a:gdLst/>
              <a:ahLst/>
              <a:cxnLst/>
              <a:rect l="l" t="t" r="r" b="b"/>
              <a:pathLst>
                <a:path w="364489" h="471170">
                  <a:moveTo>
                    <a:pt x="0" y="235337"/>
                  </a:moveTo>
                  <a:lnTo>
                    <a:pt x="4811" y="289297"/>
                  </a:lnTo>
                  <a:lnTo>
                    <a:pt x="18519" y="338832"/>
                  </a:lnTo>
                  <a:lnTo>
                    <a:pt x="40030" y="382528"/>
                  </a:lnTo>
                  <a:lnTo>
                    <a:pt x="68251" y="418973"/>
                  </a:lnTo>
                  <a:lnTo>
                    <a:pt x="102090" y="446754"/>
                  </a:lnTo>
                  <a:lnTo>
                    <a:pt x="140454" y="464458"/>
                  </a:lnTo>
                  <a:lnTo>
                    <a:pt x="182252" y="470674"/>
                  </a:lnTo>
                  <a:lnTo>
                    <a:pt x="224014" y="464458"/>
                  </a:lnTo>
                  <a:lnTo>
                    <a:pt x="262344" y="446754"/>
                  </a:lnTo>
                  <a:lnTo>
                    <a:pt x="296152" y="418973"/>
                  </a:lnTo>
                  <a:lnTo>
                    <a:pt x="324347" y="382528"/>
                  </a:lnTo>
                  <a:lnTo>
                    <a:pt x="345836" y="338832"/>
                  </a:lnTo>
                  <a:lnTo>
                    <a:pt x="359530" y="289297"/>
                  </a:lnTo>
                  <a:lnTo>
                    <a:pt x="364337" y="235337"/>
                  </a:lnTo>
                  <a:lnTo>
                    <a:pt x="359530" y="181376"/>
                  </a:lnTo>
                  <a:lnTo>
                    <a:pt x="345836" y="131841"/>
                  </a:lnTo>
                  <a:lnTo>
                    <a:pt x="324347" y="88145"/>
                  </a:lnTo>
                  <a:lnTo>
                    <a:pt x="296152" y="51700"/>
                  </a:lnTo>
                  <a:lnTo>
                    <a:pt x="262344" y="23919"/>
                  </a:lnTo>
                  <a:lnTo>
                    <a:pt x="224014" y="6215"/>
                  </a:lnTo>
                  <a:lnTo>
                    <a:pt x="182252" y="0"/>
                  </a:lnTo>
                  <a:lnTo>
                    <a:pt x="140454" y="6215"/>
                  </a:lnTo>
                  <a:lnTo>
                    <a:pt x="102090" y="23919"/>
                  </a:lnTo>
                  <a:lnTo>
                    <a:pt x="68251" y="51700"/>
                  </a:lnTo>
                  <a:lnTo>
                    <a:pt x="40030" y="88145"/>
                  </a:lnTo>
                  <a:lnTo>
                    <a:pt x="18519" y="131841"/>
                  </a:lnTo>
                  <a:lnTo>
                    <a:pt x="4811" y="181376"/>
                  </a:lnTo>
                  <a:lnTo>
                    <a:pt x="0" y="235337"/>
                  </a:lnTo>
                  <a:close/>
                </a:path>
              </a:pathLst>
            </a:custGeom>
            <a:ln w="12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77382" y="6054149"/>
              <a:ext cx="366395" cy="471170"/>
            </a:xfrm>
            <a:custGeom>
              <a:avLst/>
              <a:gdLst/>
              <a:ahLst/>
              <a:cxnLst/>
              <a:rect l="l" t="t" r="r" b="b"/>
              <a:pathLst>
                <a:path w="366395" h="471170">
                  <a:moveTo>
                    <a:pt x="183090" y="0"/>
                  </a:moveTo>
                  <a:lnTo>
                    <a:pt x="141120" y="6215"/>
                  </a:lnTo>
                  <a:lnTo>
                    <a:pt x="102586" y="23919"/>
                  </a:lnTo>
                  <a:lnTo>
                    <a:pt x="68590" y="51701"/>
                  </a:lnTo>
                  <a:lnTo>
                    <a:pt x="40233" y="88145"/>
                  </a:lnTo>
                  <a:lnTo>
                    <a:pt x="18615" y="131842"/>
                  </a:lnTo>
                  <a:lnTo>
                    <a:pt x="4837" y="181376"/>
                  </a:lnTo>
                  <a:lnTo>
                    <a:pt x="0" y="235337"/>
                  </a:lnTo>
                  <a:lnTo>
                    <a:pt x="4837" y="289298"/>
                  </a:lnTo>
                  <a:lnTo>
                    <a:pt x="18615" y="338832"/>
                  </a:lnTo>
                  <a:lnTo>
                    <a:pt x="40233" y="382528"/>
                  </a:lnTo>
                  <a:lnTo>
                    <a:pt x="68590" y="418973"/>
                  </a:lnTo>
                  <a:lnTo>
                    <a:pt x="102586" y="446754"/>
                  </a:lnTo>
                  <a:lnTo>
                    <a:pt x="141120" y="464459"/>
                  </a:lnTo>
                  <a:lnTo>
                    <a:pt x="183090" y="470674"/>
                  </a:lnTo>
                  <a:lnTo>
                    <a:pt x="225076" y="464459"/>
                  </a:lnTo>
                  <a:lnTo>
                    <a:pt x="263636" y="446754"/>
                  </a:lnTo>
                  <a:lnTo>
                    <a:pt x="297665" y="418973"/>
                  </a:lnTo>
                  <a:lnTo>
                    <a:pt x="326056" y="382528"/>
                  </a:lnTo>
                  <a:lnTo>
                    <a:pt x="347704" y="338832"/>
                  </a:lnTo>
                  <a:lnTo>
                    <a:pt x="361504" y="289298"/>
                  </a:lnTo>
                  <a:lnTo>
                    <a:pt x="366350" y="235337"/>
                  </a:lnTo>
                  <a:lnTo>
                    <a:pt x="361504" y="181376"/>
                  </a:lnTo>
                  <a:lnTo>
                    <a:pt x="347704" y="131842"/>
                  </a:lnTo>
                  <a:lnTo>
                    <a:pt x="326056" y="88145"/>
                  </a:lnTo>
                  <a:lnTo>
                    <a:pt x="297665" y="51701"/>
                  </a:lnTo>
                  <a:lnTo>
                    <a:pt x="263636" y="23919"/>
                  </a:lnTo>
                  <a:lnTo>
                    <a:pt x="225076" y="6215"/>
                  </a:lnTo>
                  <a:lnTo>
                    <a:pt x="183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477382" y="6054149"/>
              <a:ext cx="366395" cy="471170"/>
            </a:xfrm>
            <a:custGeom>
              <a:avLst/>
              <a:gdLst/>
              <a:ahLst/>
              <a:cxnLst/>
              <a:rect l="l" t="t" r="r" b="b"/>
              <a:pathLst>
                <a:path w="366395" h="471170">
                  <a:moveTo>
                    <a:pt x="0" y="235337"/>
                  </a:moveTo>
                  <a:lnTo>
                    <a:pt x="4837" y="289297"/>
                  </a:lnTo>
                  <a:lnTo>
                    <a:pt x="18615" y="338832"/>
                  </a:lnTo>
                  <a:lnTo>
                    <a:pt x="40233" y="382528"/>
                  </a:lnTo>
                  <a:lnTo>
                    <a:pt x="68590" y="418973"/>
                  </a:lnTo>
                  <a:lnTo>
                    <a:pt x="102586" y="446754"/>
                  </a:lnTo>
                  <a:lnTo>
                    <a:pt x="141120" y="464458"/>
                  </a:lnTo>
                  <a:lnTo>
                    <a:pt x="183090" y="470674"/>
                  </a:lnTo>
                  <a:lnTo>
                    <a:pt x="225076" y="464458"/>
                  </a:lnTo>
                  <a:lnTo>
                    <a:pt x="263635" y="446754"/>
                  </a:lnTo>
                  <a:lnTo>
                    <a:pt x="297664" y="418973"/>
                  </a:lnTo>
                  <a:lnTo>
                    <a:pt x="326055" y="382528"/>
                  </a:lnTo>
                  <a:lnTo>
                    <a:pt x="347703" y="338832"/>
                  </a:lnTo>
                  <a:lnTo>
                    <a:pt x="361503" y="289297"/>
                  </a:lnTo>
                  <a:lnTo>
                    <a:pt x="366349" y="235337"/>
                  </a:lnTo>
                  <a:lnTo>
                    <a:pt x="361503" y="181376"/>
                  </a:lnTo>
                  <a:lnTo>
                    <a:pt x="347703" y="131841"/>
                  </a:lnTo>
                  <a:lnTo>
                    <a:pt x="326055" y="88145"/>
                  </a:lnTo>
                  <a:lnTo>
                    <a:pt x="297664" y="51700"/>
                  </a:lnTo>
                  <a:lnTo>
                    <a:pt x="263635" y="23919"/>
                  </a:lnTo>
                  <a:lnTo>
                    <a:pt x="225076" y="6215"/>
                  </a:lnTo>
                  <a:lnTo>
                    <a:pt x="183090" y="0"/>
                  </a:lnTo>
                  <a:lnTo>
                    <a:pt x="141120" y="6215"/>
                  </a:lnTo>
                  <a:lnTo>
                    <a:pt x="102586" y="23919"/>
                  </a:lnTo>
                  <a:lnTo>
                    <a:pt x="68590" y="51700"/>
                  </a:lnTo>
                  <a:lnTo>
                    <a:pt x="40233" y="88145"/>
                  </a:lnTo>
                  <a:lnTo>
                    <a:pt x="18615" y="131841"/>
                  </a:lnTo>
                  <a:lnTo>
                    <a:pt x="4837" y="181376"/>
                  </a:lnTo>
                  <a:lnTo>
                    <a:pt x="0" y="235337"/>
                  </a:lnTo>
                  <a:close/>
                </a:path>
              </a:pathLst>
            </a:custGeom>
            <a:ln w="12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79060" y="5055478"/>
              <a:ext cx="361315" cy="471170"/>
            </a:xfrm>
            <a:custGeom>
              <a:avLst/>
              <a:gdLst/>
              <a:ahLst/>
              <a:cxnLst/>
              <a:rect l="l" t="t" r="r" b="b"/>
              <a:pathLst>
                <a:path w="361315" h="471170">
                  <a:moveTo>
                    <a:pt x="180574" y="0"/>
                  </a:moveTo>
                  <a:lnTo>
                    <a:pt x="139171" y="6216"/>
                  </a:lnTo>
                  <a:lnTo>
                    <a:pt x="101163" y="23922"/>
                  </a:lnTo>
                  <a:lnTo>
                    <a:pt x="67635" y="51706"/>
                  </a:lnTo>
                  <a:lnTo>
                    <a:pt x="39670" y="88152"/>
                  </a:lnTo>
                  <a:lnTo>
                    <a:pt x="18354" y="131849"/>
                  </a:lnTo>
                  <a:lnTo>
                    <a:pt x="4769" y="181381"/>
                  </a:lnTo>
                  <a:lnTo>
                    <a:pt x="0" y="235337"/>
                  </a:lnTo>
                  <a:lnTo>
                    <a:pt x="4769" y="289298"/>
                  </a:lnTo>
                  <a:lnTo>
                    <a:pt x="18354" y="338833"/>
                  </a:lnTo>
                  <a:lnTo>
                    <a:pt x="39670" y="382529"/>
                  </a:lnTo>
                  <a:lnTo>
                    <a:pt x="67635" y="418974"/>
                  </a:lnTo>
                  <a:lnTo>
                    <a:pt x="101163" y="446754"/>
                  </a:lnTo>
                  <a:lnTo>
                    <a:pt x="139171" y="464459"/>
                  </a:lnTo>
                  <a:lnTo>
                    <a:pt x="180574" y="470674"/>
                  </a:lnTo>
                  <a:lnTo>
                    <a:pt x="221989" y="464459"/>
                  </a:lnTo>
                  <a:lnTo>
                    <a:pt x="260001" y="446754"/>
                  </a:lnTo>
                  <a:lnTo>
                    <a:pt x="293529" y="418974"/>
                  </a:lnTo>
                  <a:lnTo>
                    <a:pt x="321490" y="382529"/>
                  </a:lnTo>
                  <a:lnTo>
                    <a:pt x="342802" y="338833"/>
                  </a:lnTo>
                  <a:lnTo>
                    <a:pt x="356383" y="289298"/>
                  </a:lnTo>
                  <a:lnTo>
                    <a:pt x="361151" y="235337"/>
                  </a:lnTo>
                  <a:lnTo>
                    <a:pt x="356383" y="181381"/>
                  </a:lnTo>
                  <a:lnTo>
                    <a:pt x="342802" y="131849"/>
                  </a:lnTo>
                  <a:lnTo>
                    <a:pt x="321490" y="88152"/>
                  </a:lnTo>
                  <a:lnTo>
                    <a:pt x="293529" y="51706"/>
                  </a:lnTo>
                  <a:lnTo>
                    <a:pt x="260001" y="23922"/>
                  </a:lnTo>
                  <a:lnTo>
                    <a:pt x="221989" y="6216"/>
                  </a:lnTo>
                  <a:lnTo>
                    <a:pt x="180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479060" y="5055478"/>
              <a:ext cx="361315" cy="471170"/>
            </a:xfrm>
            <a:custGeom>
              <a:avLst/>
              <a:gdLst/>
              <a:ahLst/>
              <a:cxnLst/>
              <a:rect l="l" t="t" r="r" b="b"/>
              <a:pathLst>
                <a:path w="361315" h="471170">
                  <a:moveTo>
                    <a:pt x="0" y="235337"/>
                  </a:moveTo>
                  <a:lnTo>
                    <a:pt x="4769" y="289297"/>
                  </a:lnTo>
                  <a:lnTo>
                    <a:pt x="18354" y="338832"/>
                  </a:lnTo>
                  <a:lnTo>
                    <a:pt x="39671" y="382528"/>
                  </a:lnTo>
                  <a:lnTo>
                    <a:pt x="67635" y="418973"/>
                  </a:lnTo>
                  <a:lnTo>
                    <a:pt x="101163" y="446754"/>
                  </a:lnTo>
                  <a:lnTo>
                    <a:pt x="139172" y="464458"/>
                  </a:lnTo>
                  <a:lnTo>
                    <a:pt x="180575" y="470674"/>
                  </a:lnTo>
                  <a:lnTo>
                    <a:pt x="221990" y="464458"/>
                  </a:lnTo>
                  <a:lnTo>
                    <a:pt x="260002" y="446754"/>
                  </a:lnTo>
                  <a:lnTo>
                    <a:pt x="293530" y="418973"/>
                  </a:lnTo>
                  <a:lnTo>
                    <a:pt x="321491" y="382528"/>
                  </a:lnTo>
                  <a:lnTo>
                    <a:pt x="342803" y="338832"/>
                  </a:lnTo>
                  <a:lnTo>
                    <a:pt x="356384" y="289297"/>
                  </a:lnTo>
                  <a:lnTo>
                    <a:pt x="361151" y="235337"/>
                  </a:lnTo>
                  <a:lnTo>
                    <a:pt x="356384" y="181381"/>
                  </a:lnTo>
                  <a:lnTo>
                    <a:pt x="342803" y="131849"/>
                  </a:lnTo>
                  <a:lnTo>
                    <a:pt x="321491" y="88152"/>
                  </a:lnTo>
                  <a:lnTo>
                    <a:pt x="293530" y="51706"/>
                  </a:lnTo>
                  <a:lnTo>
                    <a:pt x="260002" y="23922"/>
                  </a:lnTo>
                  <a:lnTo>
                    <a:pt x="221990" y="6216"/>
                  </a:lnTo>
                  <a:lnTo>
                    <a:pt x="180575" y="0"/>
                  </a:lnTo>
                  <a:lnTo>
                    <a:pt x="139172" y="6216"/>
                  </a:lnTo>
                  <a:lnTo>
                    <a:pt x="101163" y="23922"/>
                  </a:lnTo>
                  <a:lnTo>
                    <a:pt x="67635" y="51706"/>
                  </a:lnTo>
                  <a:lnTo>
                    <a:pt x="39671" y="88152"/>
                  </a:lnTo>
                  <a:lnTo>
                    <a:pt x="18354" y="131849"/>
                  </a:lnTo>
                  <a:lnTo>
                    <a:pt x="4769" y="181381"/>
                  </a:lnTo>
                  <a:lnTo>
                    <a:pt x="0" y="235337"/>
                  </a:lnTo>
                  <a:close/>
                </a:path>
              </a:pathLst>
            </a:custGeom>
            <a:ln w="12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475705" y="5554057"/>
              <a:ext cx="368300" cy="471170"/>
            </a:xfrm>
            <a:custGeom>
              <a:avLst/>
              <a:gdLst/>
              <a:ahLst/>
              <a:cxnLst/>
              <a:rect l="l" t="t" r="r" b="b"/>
              <a:pathLst>
                <a:path w="368300" h="471170">
                  <a:moveTo>
                    <a:pt x="183929" y="0"/>
                  </a:moveTo>
                  <a:lnTo>
                    <a:pt x="141753" y="6215"/>
                  </a:lnTo>
                  <a:lnTo>
                    <a:pt x="103038" y="23919"/>
                  </a:lnTo>
                  <a:lnTo>
                    <a:pt x="68887" y="51701"/>
                  </a:lnTo>
                  <a:lnTo>
                    <a:pt x="40404" y="88145"/>
                  </a:lnTo>
                  <a:lnTo>
                    <a:pt x="18693" y="131842"/>
                  </a:lnTo>
                  <a:lnTo>
                    <a:pt x="4857" y="181376"/>
                  </a:lnTo>
                  <a:lnTo>
                    <a:pt x="0" y="235337"/>
                  </a:lnTo>
                  <a:lnTo>
                    <a:pt x="4857" y="289297"/>
                  </a:lnTo>
                  <a:lnTo>
                    <a:pt x="18693" y="338832"/>
                  </a:lnTo>
                  <a:lnTo>
                    <a:pt x="40404" y="382528"/>
                  </a:lnTo>
                  <a:lnTo>
                    <a:pt x="68887" y="418973"/>
                  </a:lnTo>
                  <a:lnTo>
                    <a:pt x="103038" y="446754"/>
                  </a:lnTo>
                  <a:lnTo>
                    <a:pt x="141753" y="464459"/>
                  </a:lnTo>
                  <a:lnTo>
                    <a:pt x="183929" y="470674"/>
                  </a:lnTo>
                  <a:lnTo>
                    <a:pt x="226110" y="464459"/>
                  </a:lnTo>
                  <a:lnTo>
                    <a:pt x="264827" y="446754"/>
                  </a:lnTo>
                  <a:lnTo>
                    <a:pt x="298978" y="418973"/>
                  </a:lnTo>
                  <a:lnTo>
                    <a:pt x="327459" y="382528"/>
                  </a:lnTo>
                  <a:lnTo>
                    <a:pt x="349168" y="338832"/>
                  </a:lnTo>
                  <a:lnTo>
                    <a:pt x="363002" y="289297"/>
                  </a:lnTo>
                  <a:lnTo>
                    <a:pt x="367859" y="235337"/>
                  </a:lnTo>
                  <a:lnTo>
                    <a:pt x="363002" y="181376"/>
                  </a:lnTo>
                  <a:lnTo>
                    <a:pt x="349168" y="131842"/>
                  </a:lnTo>
                  <a:lnTo>
                    <a:pt x="327459" y="88145"/>
                  </a:lnTo>
                  <a:lnTo>
                    <a:pt x="298978" y="51701"/>
                  </a:lnTo>
                  <a:lnTo>
                    <a:pt x="264827" y="23919"/>
                  </a:lnTo>
                  <a:lnTo>
                    <a:pt x="226110" y="6215"/>
                  </a:lnTo>
                  <a:lnTo>
                    <a:pt x="1839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475705" y="5554057"/>
              <a:ext cx="368300" cy="471170"/>
            </a:xfrm>
            <a:custGeom>
              <a:avLst/>
              <a:gdLst/>
              <a:ahLst/>
              <a:cxnLst/>
              <a:rect l="l" t="t" r="r" b="b"/>
              <a:pathLst>
                <a:path w="368300" h="471170">
                  <a:moveTo>
                    <a:pt x="0" y="235337"/>
                  </a:moveTo>
                  <a:lnTo>
                    <a:pt x="4857" y="289297"/>
                  </a:lnTo>
                  <a:lnTo>
                    <a:pt x="18693" y="338832"/>
                  </a:lnTo>
                  <a:lnTo>
                    <a:pt x="40404" y="382528"/>
                  </a:lnTo>
                  <a:lnTo>
                    <a:pt x="68887" y="418973"/>
                  </a:lnTo>
                  <a:lnTo>
                    <a:pt x="103038" y="446754"/>
                  </a:lnTo>
                  <a:lnTo>
                    <a:pt x="141753" y="464458"/>
                  </a:lnTo>
                  <a:lnTo>
                    <a:pt x="183929" y="470674"/>
                  </a:lnTo>
                  <a:lnTo>
                    <a:pt x="226110" y="464458"/>
                  </a:lnTo>
                  <a:lnTo>
                    <a:pt x="264827" y="446754"/>
                  </a:lnTo>
                  <a:lnTo>
                    <a:pt x="298977" y="418973"/>
                  </a:lnTo>
                  <a:lnTo>
                    <a:pt x="327458" y="382528"/>
                  </a:lnTo>
                  <a:lnTo>
                    <a:pt x="349167" y="338832"/>
                  </a:lnTo>
                  <a:lnTo>
                    <a:pt x="363002" y="289297"/>
                  </a:lnTo>
                  <a:lnTo>
                    <a:pt x="367858" y="235337"/>
                  </a:lnTo>
                  <a:lnTo>
                    <a:pt x="363002" y="181376"/>
                  </a:lnTo>
                  <a:lnTo>
                    <a:pt x="349167" y="131841"/>
                  </a:lnTo>
                  <a:lnTo>
                    <a:pt x="327458" y="88145"/>
                  </a:lnTo>
                  <a:lnTo>
                    <a:pt x="298977" y="51700"/>
                  </a:lnTo>
                  <a:lnTo>
                    <a:pt x="264827" y="23919"/>
                  </a:lnTo>
                  <a:lnTo>
                    <a:pt x="226110" y="6215"/>
                  </a:lnTo>
                  <a:lnTo>
                    <a:pt x="183929" y="0"/>
                  </a:lnTo>
                  <a:lnTo>
                    <a:pt x="141753" y="6215"/>
                  </a:lnTo>
                  <a:lnTo>
                    <a:pt x="103038" y="23919"/>
                  </a:lnTo>
                  <a:lnTo>
                    <a:pt x="68887" y="51700"/>
                  </a:lnTo>
                  <a:lnTo>
                    <a:pt x="40404" y="88145"/>
                  </a:lnTo>
                  <a:lnTo>
                    <a:pt x="18693" y="131841"/>
                  </a:lnTo>
                  <a:lnTo>
                    <a:pt x="4857" y="181376"/>
                  </a:lnTo>
                  <a:lnTo>
                    <a:pt x="0" y="235337"/>
                  </a:lnTo>
                  <a:close/>
                </a:path>
              </a:pathLst>
            </a:custGeom>
            <a:ln w="12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49844" y="6054149"/>
              <a:ext cx="368300" cy="471170"/>
            </a:xfrm>
            <a:custGeom>
              <a:avLst/>
              <a:gdLst/>
              <a:ahLst/>
              <a:cxnLst/>
              <a:rect l="l" t="t" r="r" b="b"/>
              <a:pathLst>
                <a:path w="368300" h="471170">
                  <a:moveTo>
                    <a:pt x="183929" y="0"/>
                  </a:moveTo>
                  <a:lnTo>
                    <a:pt x="141763" y="6215"/>
                  </a:lnTo>
                  <a:lnTo>
                    <a:pt x="103052" y="23919"/>
                  </a:lnTo>
                  <a:lnTo>
                    <a:pt x="68901" y="51701"/>
                  </a:lnTo>
                  <a:lnTo>
                    <a:pt x="40415" y="88145"/>
                  </a:lnTo>
                  <a:lnTo>
                    <a:pt x="18699" y="131842"/>
                  </a:lnTo>
                  <a:lnTo>
                    <a:pt x="4859" y="181376"/>
                  </a:lnTo>
                  <a:lnTo>
                    <a:pt x="0" y="235337"/>
                  </a:lnTo>
                  <a:lnTo>
                    <a:pt x="4859" y="289298"/>
                  </a:lnTo>
                  <a:lnTo>
                    <a:pt x="18699" y="338832"/>
                  </a:lnTo>
                  <a:lnTo>
                    <a:pt x="40415" y="382528"/>
                  </a:lnTo>
                  <a:lnTo>
                    <a:pt x="68901" y="418973"/>
                  </a:lnTo>
                  <a:lnTo>
                    <a:pt x="103052" y="446754"/>
                  </a:lnTo>
                  <a:lnTo>
                    <a:pt x="141763" y="464459"/>
                  </a:lnTo>
                  <a:lnTo>
                    <a:pt x="183929" y="470674"/>
                  </a:lnTo>
                  <a:lnTo>
                    <a:pt x="226119" y="464459"/>
                  </a:lnTo>
                  <a:lnTo>
                    <a:pt x="264860" y="446754"/>
                  </a:lnTo>
                  <a:lnTo>
                    <a:pt x="299043" y="418973"/>
                  </a:lnTo>
                  <a:lnTo>
                    <a:pt x="327560" y="382528"/>
                  </a:lnTo>
                  <a:lnTo>
                    <a:pt x="349301" y="338832"/>
                  </a:lnTo>
                  <a:lnTo>
                    <a:pt x="363159" y="289298"/>
                  </a:lnTo>
                  <a:lnTo>
                    <a:pt x="368025" y="235337"/>
                  </a:lnTo>
                  <a:lnTo>
                    <a:pt x="363159" y="181376"/>
                  </a:lnTo>
                  <a:lnTo>
                    <a:pt x="349301" y="131842"/>
                  </a:lnTo>
                  <a:lnTo>
                    <a:pt x="327560" y="88145"/>
                  </a:lnTo>
                  <a:lnTo>
                    <a:pt x="299043" y="51701"/>
                  </a:lnTo>
                  <a:lnTo>
                    <a:pt x="264860" y="23919"/>
                  </a:lnTo>
                  <a:lnTo>
                    <a:pt x="226119" y="6215"/>
                  </a:lnTo>
                  <a:lnTo>
                    <a:pt x="1839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449844" y="6054149"/>
              <a:ext cx="368300" cy="471170"/>
            </a:xfrm>
            <a:custGeom>
              <a:avLst/>
              <a:gdLst/>
              <a:ahLst/>
              <a:cxnLst/>
              <a:rect l="l" t="t" r="r" b="b"/>
              <a:pathLst>
                <a:path w="368300" h="471170">
                  <a:moveTo>
                    <a:pt x="0" y="235337"/>
                  </a:moveTo>
                  <a:lnTo>
                    <a:pt x="4859" y="289297"/>
                  </a:lnTo>
                  <a:lnTo>
                    <a:pt x="18699" y="338832"/>
                  </a:lnTo>
                  <a:lnTo>
                    <a:pt x="40415" y="382528"/>
                  </a:lnTo>
                  <a:lnTo>
                    <a:pt x="68901" y="418973"/>
                  </a:lnTo>
                  <a:lnTo>
                    <a:pt x="103053" y="446754"/>
                  </a:lnTo>
                  <a:lnTo>
                    <a:pt x="141764" y="464458"/>
                  </a:lnTo>
                  <a:lnTo>
                    <a:pt x="183929" y="470674"/>
                  </a:lnTo>
                  <a:lnTo>
                    <a:pt x="226119" y="464458"/>
                  </a:lnTo>
                  <a:lnTo>
                    <a:pt x="264860" y="446754"/>
                  </a:lnTo>
                  <a:lnTo>
                    <a:pt x="299043" y="418973"/>
                  </a:lnTo>
                  <a:lnTo>
                    <a:pt x="327560" y="382528"/>
                  </a:lnTo>
                  <a:lnTo>
                    <a:pt x="349302" y="338832"/>
                  </a:lnTo>
                  <a:lnTo>
                    <a:pt x="363160" y="289297"/>
                  </a:lnTo>
                  <a:lnTo>
                    <a:pt x="368026" y="235337"/>
                  </a:lnTo>
                  <a:lnTo>
                    <a:pt x="363160" y="181376"/>
                  </a:lnTo>
                  <a:lnTo>
                    <a:pt x="349302" y="131841"/>
                  </a:lnTo>
                  <a:lnTo>
                    <a:pt x="327560" y="88145"/>
                  </a:lnTo>
                  <a:lnTo>
                    <a:pt x="299043" y="51700"/>
                  </a:lnTo>
                  <a:lnTo>
                    <a:pt x="264860" y="23919"/>
                  </a:lnTo>
                  <a:lnTo>
                    <a:pt x="226119" y="6215"/>
                  </a:lnTo>
                  <a:lnTo>
                    <a:pt x="183929" y="0"/>
                  </a:lnTo>
                  <a:lnTo>
                    <a:pt x="141764" y="6215"/>
                  </a:lnTo>
                  <a:lnTo>
                    <a:pt x="103053" y="23919"/>
                  </a:lnTo>
                  <a:lnTo>
                    <a:pt x="68901" y="51700"/>
                  </a:lnTo>
                  <a:lnTo>
                    <a:pt x="40415" y="88145"/>
                  </a:lnTo>
                  <a:lnTo>
                    <a:pt x="18699" y="131841"/>
                  </a:lnTo>
                  <a:lnTo>
                    <a:pt x="4859" y="181376"/>
                  </a:lnTo>
                  <a:lnTo>
                    <a:pt x="0" y="235337"/>
                  </a:lnTo>
                  <a:close/>
                </a:path>
              </a:pathLst>
            </a:custGeom>
            <a:ln w="12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46490" y="5055478"/>
              <a:ext cx="375285" cy="471170"/>
            </a:xfrm>
            <a:custGeom>
              <a:avLst/>
              <a:gdLst/>
              <a:ahLst/>
              <a:cxnLst/>
              <a:rect l="l" t="t" r="r" b="b"/>
              <a:pathLst>
                <a:path w="375284" h="471170">
                  <a:moveTo>
                    <a:pt x="187450" y="0"/>
                  </a:moveTo>
                  <a:lnTo>
                    <a:pt x="144478" y="6216"/>
                  </a:lnTo>
                  <a:lnTo>
                    <a:pt x="105026" y="23922"/>
                  </a:lnTo>
                  <a:lnTo>
                    <a:pt x="70220" y="51706"/>
                  </a:lnTo>
                  <a:lnTo>
                    <a:pt x="41189" y="88152"/>
                  </a:lnTo>
                  <a:lnTo>
                    <a:pt x="19057" y="131849"/>
                  </a:lnTo>
                  <a:lnTo>
                    <a:pt x="4952" y="181381"/>
                  </a:lnTo>
                  <a:lnTo>
                    <a:pt x="0" y="235337"/>
                  </a:lnTo>
                  <a:lnTo>
                    <a:pt x="4952" y="289298"/>
                  </a:lnTo>
                  <a:lnTo>
                    <a:pt x="19057" y="338833"/>
                  </a:lnTo>
                  <a:lnTo>
                    <a:pt x="41189" y="382529"/>
                  </a:lnTo>
                  <a:lnTo>
                    <a:pt x="70220" y="418974"/>
                  </a:lnTo>
                  <a:lnTo>
                    <a:pt x="105026" y="446754"/>
                  </a:lnTo>
                  <a:lnTo>
                    <a:pt x="144478" y="464459"/>
                  </a:lnTo>
                  <a:lnTo>
                    <a:pt x="187450" y="470674"/>
                  </a:lnTo>
                  <a:lnTo>
                    <a:pt x="230469" y="464459"/>
                  </a:lnTo>
                  <a:lnTo>
                    <a:pt x="269959" y="446754"/>
                  </a:lnTo>
                  <a:lnTo>
                    <a:pt x="304795" y="418974"/>
                  </a:lnTo>
                  <a:lnTo>
                    <a:pt x="333850" y="382529"/>
                  </a:lnTo>
                  <a:lnTo>
                    <a:pt x="355999" y="338833"/>
                  </a:lnTo>
                  <a:lnTo>
                    <a:pt x="370113" y="289298"/>
                  </a:lnTo>
                  <a:lnTo>
                    <a:pt x="375069" y="235337"/>
                  </a:lnTo>
                  <a:lnTo>
                    <a:pt x="370113" y="181381"/>
                  </a:lnTo>
                  <a:lnTo>
                    <a:pt x="355999" y="131849"/>
                  </a:lnTo>
                  <a:lnTo>
                    <a:pt x="333850" y="88152"/>
                  </a:lnTo>
                  <a:lnTo>
                    <a:pt x="304795" y="51706"/>
                  </a:lnTo>
                  <a:lnTo>
                    <a:pt x="269959" y="23922"/>
                  </a:lnTo>
                  <a:lnTo>
                    <a:pt x="230469" y="6216"/>
                  </a:lnTo>
                  <a:lnTo>
                    <a:pt x="187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446490" y="5055478"/>
              <a:ext cx="375285" cy="471170"/>
            </a:xfrm>
            <a:custGeom>
              <a:avLst/>
              <a:gdLst/>
              <a:ahLst/>
              <a:cxnLst/>
              <a:rect l="l" t="t" r="r" b="b"/>
              <a:pathLst>
                <a:path w="375284" h="471170">
                  <a:moveTo>
                    <a:pt x="0" y="235337"/>
                  </a:moveTo>
                  <a:lnTo>
                    <a:pt x="4952" y="289297"/>
                  </a:lnTo>
                  <a:lnTo>
                    <a:pt x="19057" y="338832"/>
                  </a:lnTo>
                  <a:lnTo>
                    <a:pt x="41188" y="382528"/>
                  </a:lnTo>
                  <a:lnTo>
                    <a:pt x="70220" y="418973"/>
                  </a:lnTo>
                  <a:lnTo>
                    <a:pt x="105025" y="446754"/>
                  </a:lnTo>
                  <a:lnTo>
                    <a:pt x="144477" y="464458"/>
                  </a:lnTo>
                  <a:lnTo>
                    <a:pt x="187450" y="470674"/>
                  </a:lnTo>
                  <a:lnTo>
                    <a:pt x="230468" y="464458"/>
                  </a:lnTo>
                  <a:lnTo>
                    <a:pt x="269959" y="446754"/>
                  </a:lnTo>
                  <a:lnTo>
                    <a:pt x="304795" y="418973"/>
                  </a:lnTo>
                  <a:lnTo>
                    <a:pt x="333850" y="382528"/>
                  </a:lnTo>
                  <a:lnTo>
                    <a:pt x="355998" y="338832"/>
                  </a:lnTo>
                  <a:lnTo>
                    <a:pt x="370112" y="289297"/>
                  </a:lnTo>
                  <a:lnTo>
                    <a:pt x="375068" y="235337"/>
                  </a:lnTo>
                  <a:lnTo>
                    <a:pt x="370112" y="181381"/>
                  </a:lnTo>
                  <a:lnTo>
                    <a:pt x="355998" y="131849"/>
                  </a:lnTo>
                  <a:lnTo>
                    <a:pt x="333850" y="88152"/>
                  </a:lnTo>
                  <a:lnTo>
                    <a:pt x="304795" y="51706"/>
                  </a:lnTo>
                  <a:lnTo>
                    <a:pt x="269959" y="23922"/>
                  </a:lnTo>
                  <a:lnTo>
                    <a:pt x="230468" y="6216"/>
                  </a:lnTo>
                  <a:lnTo>
                    <a:pt x="187450" y="0"/>
                  </a:lnTo>
                  <a:lnTo>
                    <a:pt x="144477" y="6216"/>
                  </a:lnTo>
                  <a:lnTo>
                    <a:pt x="105025" y="23922"/>
                  </a:lnTo>
                  <a:lnTo>
                    <a:pt x="70220" y="51706"/>
                  </a:lnTo>
                  <a:lnTo>
                    <a:pt x="41188" y="88152"/>
                  </a:lnTo>
                  <a:lnTo>
                    <a:pt x="19057" y="131849"/>
                  </a:lnTo>
                  <a:lnTo>
                    <a:pt x="4952" y="181381"/>
                  </a:lnTo>
                  <a:lnTo>
                    <a:pt x="0" y="235337"/>
                  </a:lnTo>
                  <a:close/>
                </a:path>
              </a:pathLst>
            </a:custGeom>
            <a:ln w="12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446490" y="5554057"/>
              <a:ext cx="375285" cy="471170"/>
            </a:xfrm>
            <a:custGeom>
              <a:avLst/>
              <a:gdLst/>
              <a:ahLst/>
              <a:cxnLst/>
              <a:rect l="l" t="t" r="r" b="b"/>
              <a:pathLst>
                <a:path w="375284" h="471170">
                  <a:moveTo>
                    <a:pt x="0" y="235337"/>
                  </a:moveTo>
                  <a:lnTo>
                    <a:pt x="4949" y="289297"/>
                  </a:lnTo>
                  <a:lnTo>
                    <a:pt x="19048" y="338832"/>
                  </a:lnTo>
                  <a:lnTo>
                    <a:pt x="41173" y="382528"/>
                  </a:lnTo>
                  <a:lnTo>
                    <a:pt x="70199" y="418973"/>
                  </a:lnTo>
                  <a:lnTo>
                    <a:pt x="105003" y="446754"/>
                  </a:lnTo>
                  <a:lnTo>
                    <a:pt x="144461" y="464458"/>
                  </a:lnTo>
                  <a:lnTo>
                    <a:pt x="187450" y="470674"/>
                  </a:lnTo>
                  <a:lnTo>
                    <a:pt x="230397" y="464458"/>
                  </a:lnTo>
                  <a:lnTo>
                    <a:pt x="269819" y="446754"/>
                  </a:lnTo>
                  <a:lnTo>
                    <a:pt x="304592" y="418973"/>
                  </a:lnTo>
                  <a:lnTo>
                    <a:pt x="333594" y="382528"/>
                  </a:lnTo>
                  <a:lnTo>
                    <a:pt x="355699" y="338832"/>
                  </a:lnTo>
                  <a:lnTo>
                    <a:pt x="369787" y="289297"/>
                  </a:lnTo>
                  <a:lnTo>
                    <a:pt x="374732" y="235337"/>
                  </a:lnTo>
                  <a:lnTo>
                    <a:pt x="369787" y="181376"/>
                  </a:lnTo>
                  <a:lnTo>
                    <a:pt x="355699" y="131841"/>
                  </a:lnTo>
                  <a:lnTo>
                    <a:pt x="333594" y="88145"/>
                  </a:lnTo>
                  <a:lnTo>
                    <a:pt x="304592" y="51700"/>
                  </a:lnTo>
                  <a:lnTo>
                    <a:pt x="269819" y="23919"/>
                  </a:lnTo>
                  <a:lnTo>
                    <a:pt x="230397" y="6215"/>
                  </a:lnTo>
                  <a:lnTo>
                    <a:pt x="187450" y="0"/>
                  </a:lnTo>
                  <a:lnTo>
                    <a:pt x="144461" y="6215"/>
                  </a:lnTo>
                  <a:lnTo>
                    <a:pt x="105003" y="23919"/>
                  </a:lnTo>
                  <a:lnTo>
                    <a:pt x="70199" y="51700"/>
                  </a:lnTo>
                  <a:lnTo>
                    <a:pt x="41173" y="88145"/>
                  </a:lnTo>
                  <a:lnTo>
                    <a:pt x="19048" y="131841"/>
                  </a:lnTo>
                  <a:lnTo>
                    <a:pt x="4949" y="181376"/>
                  </a:lnTo>
                  <a:lnTo>
                    <a:pt x="0" y="235337"/>
                  </a:lnTo>
                  <a:close/>
                </a:path>
              </a:pathLst>
            </a:custGeom>
            <a:ln w="12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885187" y="5491357"/>
              <a:ext cx="563880" cy="526415"/>
            </a:xfrm>
            <a:custGeom>
              <a:avLst/>
              <a:gdLst/>
              <a:ahLst/>
              <a:cxnLst/>
              <a:rect l="l" t="t" r="r" b="b"/>
              <a:pathLst>
                <a:path w="563879" h="526414">
                  <a:moveTo>
                    <a:pt x="563691" y="0"/>
                  </a:moveTo>
                  <a:lnTo>
                    <a:pt x="0" y="526146"/>
                  </a:lnTo>
                </a:path>
              </a:pathLst>
            </a:custGeom>
            <a:ln w="12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91924" y="5429816"/>
              <a:ext cx="122555" cy="120650"/>
            </a:xfrm>
            <a:custGeom>
              <a:avLst/>
              <a:gdLst/>
              <a:ahLst/>
              <a:cxnLst/>
              <a:rect l="l" t="t" r="r" b="b"/>
              <a:pathLst>
                <a:path w="122554" h="120650">
                  <a:moveTo>
                    <a:pt x="122210" y="0"/>
                  </a:moveTo>
                  <a:lnTo>
                    <a:pt x="0" y="28190"/>
                  </a:lnTo>
                  <a:lnTo>
                    <a:pt x="85458" y="120206"/>
                  </a:lnTo>
                  <a:lnTo>
                    <a:pt x="122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704904" y="4962765"/>
            <a:ext cx="2838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-20" dirty="0">
                <a:latin typeface="Times New Roman"/>
                <a:cs typeface="Times New Roman"/>
              </a:rPr>
              <a:t>age?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630797" y="5417134"/>
            <a:ext cx="1638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Times New Roman"/>
                <a:cs typeface="Times New Roman"/>
              </a:rPr>
              <a:t>f</a:t>
            </a:r>
            <a:r>
              <a:rPr sz="1200" spc="-37" baseline="-17361" dirty="0">
                <a:latin typeface="Times New Roman"/>
                <a:cs typeface="Times New Roman"/>
              </a:rPr>
              <a:t>1</a:t>
            </a:r>
            <a:endParaRPr sz="1200" baseline="-17361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30797" y="5916553"/>
            <a:ext cx="1638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Times New Roman"/>
                <a:cs typeface="Times New Roman"/>
              </a:rPr>
              <a:t>f</a:t>
            </a:r>
            <a:r>
              <a:rPr sz="1200" spc="-37" baseline="-17361" dirty="0">
                <a:latin typeface="Times New Roman"/>
                <a:cs typeface="Times New Roman"/>
              </a:rPr>
              <a:t>2</a:t>
            </a:r>
            <a:endParaRPr sz="1200" baseline="-17361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588168" y="5167845"/>
            <a:ext cx="1638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Times New Roman"/>
                <a:cs typeface="Times New Roman"/>
              </a:rPr>
              <a:t>f</a:t>
            </a:r>
            <a:r>
              <a:rPr sz="1200" spc="-37" baseline="-17361" dirty="0">
                <a:latin typeface="Times New Roman"/>
                <a:cs typeface="Times New Roman"/>
              </a:rPr>
              <a:t>3</a:t>
            </a:r>
            <a:endParaRPr sz="1200" baseline="-17361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588168" y="5666423"/>
            <a:ext cx="1638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Times New Roman"/>
                <a:cs typeface="Times New Roman"/>
              </a:rPr>
              <a:t>f</a:t>
            </a:r>
            <a:r>
              <a:rPr sz="1200" spc="-37" baseline="-17361" dirty="0">
                <a:latin typeface="Times New Roman"/>
                <a:cs typeface="Times New Roman"/>
              </a:rPr>
              <a:t>4</a:t>
            </a:r>
            <a:endParaRPr sz="1200" baseline="-17361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588168" y="6166515"/>
            <a:ext cx="1638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Times New Roman"/>
                <a:cs typeface="Times New Roman"/>
              </a:rPr>
              <a:t>f</a:t>
            </a:r>
            <a:r>
              <a:rPr sz="1200" spc="-37" baseline="-17361" dirty="0">
                <a:latin typeface="Times New Roman"/>
                <a:cs typeface="Times New Roman"/>
              </a:rPr>
              <a:t>5</a:t>
            </a:r>
            <a:endParaRPr sz="1200" baseline="-17361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560629" y="5167845"/>
            <a:ext cx="16510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Times New Roman"/>
                <a:cs typeface="Times New Roman"/>
              </a:rPr>
              <a:t>f</a:t>
            </a:r>
            <a:r>
              <a:rPr sz="1200" spc="-37" baseline="-17361" dirty="0">
                <a:latin typeface="Times New Roman"/>
                <a:cs typeface="Times New Roman"/>
              </a:rPr>
              <a:t>6</a:t>
            </a:r>
            <a:endParaRPr sz="1200" baseline="-17361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560629" y="5666423"/>
            <a:ext cx="16510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Times New Roman"/>
                <a:cs typeface="Times New Roman"/>
              </a:rPr>
              <a:t>f</a:t>
            </a:r>
            <a:r>
              <a:rPr sz="1200" spc="-37" baseline="-17361" dirty="0">
                <a:latin typeface="Times New Roman"/>
                <a:cs typeface="Times New Roman"/>
              </a:rPr>
              <a:t>7</a:t>
            </a:r>
            <a:endParaRPr sz="1200" baseline="-17361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560629" y="6166515"/>
            <a:ext cx="16510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Times New Roman"/>
                <a:cs typeface="Times New Roman"/>
              </a:rPr>
              <a:t>f</a:t>
            </a:r>
            <a:r>
              <a:rPr sz="1200" spc="-37" baseline="-17361" dirty="0">
                <a:latin typeface="Times New Roman"/>
                <a:cs typeface="Times New Roman"/>
              </a:rPr>
              <a:t>8</a:t>
            </a:r>
            <a:endParaRPr sz="1200" baseline="-17361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980924" y="5757028"/>
            <a:ext cx="480059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-10" dirty="0">
                <a:latin typeface="Times New Roman"/>
                <a:cs typeface="Times New Roman"/>
              </a:rPr>
              <a:t>income?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090410" y="5299970"/>
            <a:ext cx="33147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Times New Roman"/>
                <a:cs typeface="Times New Roman"/>
              </a:rPr>
              <a:t>youth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669569" y="6129533"/>
            <a:ext cx="26416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0" dirty="0">
                <a:latin typeface="Times New Roman"/>
                <a:cs typeface="Times New Roman"/>
              </a:rPr>
              <a:t>high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510748" y="6129533"/>
            <a:ext cx="22352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low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557736" y="6610966"/>
            <a:ext cx="40957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class</a:t>
            </a:r>
            <a:r>
              <a:rPr sz="1050" spc="-60" dirty="0">
                <a:latin typeface="Times New Roman"/>
                <a:cs typeface="Times New Roman"/>
              </a:rPr>
              <a:t> 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834174" y="5182973"/>
            <a:ext cx="40957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class</a:t>
            </a:r>
            <a:r>
              <a:rPr sz="1050" spc="-60" dirty="0">
                <a:latin typeface="Times New Roman"/>
                <a:cs typeface="Times New Roman"/>
              </a:rPr>
              <a:t> 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175710" y="5216593"/>
            <a:ext cx="1320165" cy="90424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50" dirty="0">
                <a:latin typeface="Times New Roman"/>
                <a:cs typeface="Times New Roman"/>
              </a:rPr>
              <a:t>middle_aged,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senior</a:t>
            </a:r>
            <a:endParaRPr sz="1050">
              <a:latin typeface="Times New Roman"/>
              <a:cs typeface="Times New Roman"/>
            </a:endParaRPr>
          </a:p>
          <a:p>
            <a:pPr marL="1105535">
              <a:lnSpc>
                <a:spcPct val="100000"/>
              </a:lnSpc>
              <a:spcBef>
                <a:spcPts val="340"/>
              </a:spcBef>
            </a:pPr>
            <a:r>
              <a:rPr sz="1050" i="1" spc="-25" dirty="0">
                <a:latin typeface="Times New Roman"/>
                <a:cs typeface="Times New Roman"/>
              </a:rPr>
              <a:t>age</a:t>
            </a:r>
            <a:endParaRPr sz="105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1100"/>
              </a:spcBef>
            </a:pPr>
            <a:r>
              <a:rPr sz="1050" dirty="0">
                <a:latin typeface="Times New Roman"/>
                <a:cs typeface="Times New Roman"/>
              </a:rPr>
              <a:t>class </a:t>
            </a:r>
            <a:r>
              <a:rPr sz="1050" spc="-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  <a:p>
            <a:pPr marL="919480">
              <a:lnSpc>
                <a:spcPct val="100000"/>
              </a:lnSpc>
              <a:spcBef>
                <a:spcPts val="95"/>
              </a:spcBef>
            </a:pPr>
            <a:r>
              <a:rPr sz="1050" i="1" spc="-10" dirty="0">
                <a:latin typeface="Times New Roman"/>
                <a:cs typeface="Times New Roman"/>
              </a:rPr>
              <a:t>income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845911" y="6182484"/>
            <a:ext cx="40957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class </a:t>
            </a:r>
            <a:r>
              <a:rPr sz="1050" spc="-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505886" y="6602393"/>
            <a:ext cx="40957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class </a:t>
            </a:r>
            <a:r>
              <a:rPr sz="1050" spc="-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840881" y="5682057"/>
            <a:ext cx="40957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class </a:t>
            </a:r>
            <a:r>
              <a:rPr sz="1050" spc="-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7864544" y="3614795"/>
            <a:ext cx="570865" cy="278130"/>
          </a:xfrm>
          <a:custGeom>
            <a:avLst/>
            <a:gdLst/>
            <a:ahLst/>
            <a:cxnLst/>
            <a:rect l="l" t="t" r="r" b="b"/>
            <a:pathLst>
              <a:path w="570865" h="278129">
                <a:moveTo>
                  <a:pt x="570862" y="10985"/>
                </a:moveTo>
                <a:lnTo>
                  <a:pt x="378004" y="0"/>
                </a:lnTo>
                <a:lnTo>
                  <a:pt x="0" y="278065"/>
                </a:lnTo>
              </a:path>
            </a:pathLst>
          </a:custGeom>
          <a:ln w="18536">
            <a:solidFill>
              <a:srgbClr val="1E76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452556" y="3559182"/>
            <a:ext cx="1260475" cy="297180"/>
          </a:xfrm>
          <a:prstGeom prst="rect">
            <a:avLst/>
          </a:prstGeom>
          <a:solidFill>
            <a:srgbClr val="2DA2BF"/>
          </a:solidFill>
          <a:ln w="18537">
            <a:solidFill>
              <a:srgbClr val="1E768C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40"/>
              </a:spcBef>
            </a:pPr>
            <a:r>
              <a:rPr sz="1600" b="1" spc="-30" dirty="0">
                <a:solidFill>
                  <a:srgbClr val="FFFFFF"/>
                </a:solidFill>
                <a:latin typeface="Cambria"/>
                <a:cs typeface="Cambria"/>
              </a:rPr>
              <a:t>If-</a:t>
            </a:r>
            <a:r>
              <a:rPr sz="1600" b="1" spc="-20" dirty="0">
                <a:solidFill>
                  <a:srgbClr val="FFFFFF"/>
                </a:solidFill>
                <a:latin typeface="Cambria"/>
                <a:cs typeface="Cambria"/>
              </a:rPr>
              <a:t>then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3901947" y="4651838"/>
            <a:ext cx="812165" cy="234315"/>
          </a:xfrm>
          <a:custGeom>
            <a:avLst/>
            <a:gdLst/>
            <a:ahLst/>
            <a:cxnLst/>
            <a:rect l="l" t="t" r="r" b="b"/>
            <a:pathLst>
              <a:path w="812164" h="234314">
                <a:moveTo>
                  <a:pt x="812001" y="76899"/>
                </a:moveTo>
                <a:lnTo>
                  <a:pt x="384829" y="0"/>
                </a:lnTo>
                <a:lnTo>
                  <a:pt x="0" y="234124"/>
                </a:lnTo>
              </a:path>
            </a:pathLst>
          </a:custGeom>
          <a:ln w="18537">
            <a:solidFill>
              <a:srgbClr val="1E76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4701893" y="4596226"/>
            <a:ext cx="2491105" cy="297180"/>
          </a:xfrm>
          <a:prstGeom prst="rect">
            <a:avLst/>
          </a:prstGeom>
          <a:solidFill>
            <a:srgbClr val="2DA2BF"/>
          </a:solidFill>
          <a:ln w="18537">
            <a:solidFill>
              <a:srgbClr val="1E768C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622935">
              <a:lnSpc>
                <a:spcPct val="100000"/>
              </a:lnSpc>
              <a:spcBef>
                <a:spcPts val="160"/>
              </a:spcBef>
            </a:pPr>
            <a:r>
              <a:rPr sz="1600" b="1" spc="-25" dirty="0">
                <a:solidFill>
                  <a:srgbClr val="FFFFFF"/>
                </a:solidFill>
                <a:latin typeface="Cambria"/>
                <a:cs typeface="Cambria"/>
              </a:rPr>
              <a:t>Decision</a:t>
            </a:r>
            <a:r>
              <a:rPr sz="1600" b="1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mbria"/>
                <a:cs typeface="Cambria"/>
              </a:rPr>
              <a:t>Tree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778005" y="4808864"/>
            <a:ext cx="668020" cy="344170"/>
          </a:xfrm>
          <a:custGeom>
            <a:avLst/>
            <a:gdLst/>
            <a:ahLst/>
            <a:cxnLst/>
            <a:rect l="l" t="t" r="r" b="b"/>
            <a:pathLst>
              <a:path w="668020" h="344170">
                <a:moveTo>
                  <a:pt x="667824" y="21970"/>
                </a:moveTo>
                <a:lnTo>
                  <a:pt x="382856" y="0"/>
                </a:lnTo>
                <a:lnTo>
                  <a:pt x="0" y="343978"/>
                </a:lnTo>
              </a:path>
            </a:pathLst>
          </a:custGeom>
          <a:ln w="18536">
            <a:solidFill>
              <a:srgbClr val="1E76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8467247" y="4753251"/>
            <a:ext cx="1838325" cy="297180"/>
          </a:xfrm>
          <a:prstGeom prst="rect">
            <a:avLst/>
          </a:prstGeom>
          <a:solidFill>
            <a:srgbClr val="2DA2BF"/>
          </a:solidFill>
          <a:ln w="18537">
            <a:solidFill>
              <a:srgbClr val="1E768C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45"/>
              </a:spcBef>
            </a:pPr>
            <a:r>
              <a:rPr sz="1600" b="1" spc="-30" dirty="0">
                <a:solidFill>
                  <a:srgbClr val="FFFFFF"/>
                </a:solidFill>
                <a:latin typeface="Cambria"/>
                <a:cs typeface="Cambria"/>
              </a:rPr>
              <a:t>Neural</a:t>
            </a:r>
            <a:r>
              <a:rPr sz="1600" b="1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mbria"/>
                <a:cs typeface="Cambria"/>
              </a:rPr>
              <a:t>Networks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215DF9B-9046-79BE-6B58-DB8287266D7A}"/>
              </a:ext>
            </a:extLst>
          </p:cNvPr>
          <p:cNvSpPr txBox="1"/>
          <p:nvPr/>
        </p:nvSpPr>
        <p:spPr>
          <a:xfrm>
            <a:off x="212260" y="3736684"/>
            <a:ext cx="23003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solidFill>
                  <a:srgbClr val="7030A0"/>
                </a:solidFill>
                <a:latin typeface="Minion-Regular"/>
              </a:rPr>
              <a:t>A </a:t>
            </a:r>
            <a:r>
              <a:rPr lang="en-US" sz="1800" b="1" i="0" u="none" strike="noStrike" baseline="0" dirty="0">
                <a:solidFill>
                  <a:srgbClr val="7030A0"/>
                </a:solidFill>
                <a:latin typeface="Minion-Bold"/>
              </a:rPr>
              <a:t>neural network </a:t>
            </a:r>
            <a:r>
              <a:rPr lang="en-US" sz="1800" b="0" i="0" u="none" strike="noStrike" baseline="0" dirty="0">
                <a:solidFill>
                  <a:srgbClr val="7030A0"/>
                </a:solidFill>
                <a:latin typeface="Minion-Regular"/>
              </a:rPr>
              <a:t>,when used for classification, is typically a collection of neuron-like processing units with weighted connections between the </a:t>
            </a:r>
            <a:r>
              <a:rPr lang="en-IN" sz="1800" b="0" i="0" u="none" strike="noStrike" baseline="0" dirty="0">
                <a:solidFill>
                  <a:srgbClr val="7030A0"/>
                </a:solidFill>
                <a:latin typeface="Minion-Regular"/>
              </a:rPr>
              <a:t>units.</a:t>
            </a:r>
            <a:endParaRPr lang="en-IN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800" y="1647825"/>
            <a:ext cx="9829800" cy="522142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51155" marR="6985" indent="-339090" algn="just">
              <a:lnSpc>
                <a:spcPts val="2110"/>
              </a:lnSpc>
              <a:spcBef>
                <a:spcPts val="21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200" b="1" dirty="0">
                <a:solidFill>
                  <a:srgbClr val="FF0000"/>
                </a:solidFill>
                <a:latin typeface="Cambria"/>
                <a:cs typeface="Cambria"/>
              </a:rPr>
              <a:t>Regression:</a:t>
            </a:r>
            <a:r>
              <a:rPr sz="2200" b="1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predict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missing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or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unavailable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i="1" dirty="0">
                <a:latin typeface="Cambria"/>
                <a:cs typeface="Cambria"/>
              </a:rPr>
              <a:t>numerical</a:t>
            </a:r>
            <a:r>
              <a:rPr sz="2200" i="1" spc="85" dirty="0">
                <a:latin typeface="Cambria"/>
                <a:cs typeface="Cambria"/>
              </a:rPr>
              <a:t> </a:t>
            </a:r>
            <a:r>
              <a:rPr sz="2200" i="1" dirty="0">
                <a:latin typeface="Cambria"/>
                <a:cs typeface="Cambria"/>
              </a:rPr>
              <a:t>data</a:t>
            </a:r>
            <a:r>
              <a:rPr sz="2200" i="1" spc="80" dirty="0">
                <a:latin typeface="Cambria"/>
                <a:cs typeface="Cambria"/>
              </a:rPr>
              <a:t> </a:t>
            </a:r>
            <a:r>
              <a:rPr sz="2200" i="1" dirty="0">
                <a:latin typeface="Cambria"/>
                <a:cs typeface="Cambria"/>
              </a:rPr>
              <a:t>values</a:t>
            </a:r>
            <a:r>
              <a:rPr sz="2200" i="1" spc="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rather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than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discrete</a:t>
            </a:r>
            <a:r>
              <a:rPr lang="en-IN" sz="2200" spc="-30" dirty="0">
                <a:latin typeface="Cambria"/>
              </a:rPr>
              <a:t>(</a:t>
            </a:r>
            <a:r>
              <a:rPr lang="en-US" sz="2200" spc="-30" dirty="0">
                <a:latin typeface="Cambria"/>
              </a:rPr>
              <a:t>It cannot take every value within a range – only specific, countable values</a:t>
            </a:r>
            <a:r>
              <a:rPr sz="2200" spc="-30" dirty="0">
                <a:latin typeface="Cambria"/>
              </a:rPr>
              <a:t>) class labels.</a:t>
            </a:r>
          </a:p>
          <a:p>
            <a:pPr marL="696595" marR="6350" indent="-291465">
              <a:lnSpc>
                <a:spcPts val="2090"/>
              </a:lnSpc>
              <a:spcBef>
                <a:spcPts val="1220"/>
              </a:spcBef>
              <a:tabLst>
                <a:tab pos="696595" algn="l"/>
                <a:tab pos="2075180" algn="l"/>
                <a:tab pos="2996565" algn="l"/>
                <a:tab pos="4177029" algn="l"/>
                <a:tab pos="5212080" algn="l"/>
                <a:tab pos="6449695" algn="l"/>
                <a:tab pos="7196455" algn="l"/>
                <a:tab pos="8341359" algn="l"/>
              </a:tabLst>
            </a:pP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classification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predicts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categorical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(discrete,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latin typeface="Cambria"/>
                <a:cs typeface="Cambria"/>
              </a:rPr>
              <a:t>unordered</a:t>
            </a:r>
            <a:r>
              <a:rPr lang="en-IN" sz="2200" spc="-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labels,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regression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200" spc="-35" dirty="0">
                <a:latin typeface="Cambria"/>
                <a:cs typeface="Cambria"/>
              </a:rPr>
              <a:t>models </a:t>
            </a:r>
            <a:r>
              <a:rPr sz="2200" spc="-40" dirty="0">
                <a:solidFill>
                  <a:srgbClr val="FF0000"/>
                </a:solidFill>
                <a:latin typeface="Cambria"/>
                <a:cs typeface="Cambria"/>
              </a:rPr>
              <a:t>continuous-</a:t>
            </a:r>
            <a:r>
              <a:rPr sz="2200" spc="-30" dirty="0">
                <a:solidFill>
                  <a:srgbClr val="FF0000"/>
                </a:solidFill>
                <a:latin typeface="Cambria"/>
                <a:cs typeface="Cambria"/>
              </a:rPr>
              <a:t>valued</a:t>
            </a:r>
            <a:r>
              <a:rPr sz="2200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mbria"/>
                <a:cs typeface="Cambria"/>
              </a:rPr>
              <a:t>functions.</a:t>
            </a:r>
            <a:endParaRPr sz="22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994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200" spc="-30" dirty="0">
                <a:latin typeface="Cambria"/>
                <a:cs typeface="Cambria"/>
              </a:rPr>
              <a:t>Prediction: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both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numeric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prediction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and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class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label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prediction</a:t>
            </a:r>
            <a:endParaRPr sz="2200" dirty="0">
              <a:latin typeface="Cambria"/>
              <a:cs typeface="Cambria"/>
            </a:endParaRPr>
          </a:p>
          <a:p>
            <a:pPr marL="351155" marR="5715" indent="-339090" algn="just">
              <a:lnSpc>
                <a:spcPct val="97200"/>
              </a:lnSpc>
              <a:spcBef>
                <a:spcPts val="119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200" b="1" dirty="0">
                <a:solidFill>
                  <a:srgbClr val="FF0000"/>
                </a:solidFill>
                <a:latin typeface="Cambria"/>
                <a:cs typeface="Cambria"/>
              </a:rPr>
              <a:t>Regression</a:t>
            </a:r>
            <a:r>
              <a:rPr sz="2200" b="1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mbria"/>
                <a:cs typeface="Cambria"/>
              </a:rPr>
              <a:t>analysis</a:t>
            </a:r>
            <a:r>
              <a:rPr sz="2200" b="1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2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2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statistical</a:t>
            </a:r>
            <a:r>
              <a:rPr sz="2200" spc="2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methodology</a:t>
            </a:r>
            <a:r>
              <a:rPr sz="2200" spc="2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that</a:t>
            </a:r>
            <a:r>
              <a:rPr sz="2200" spc="2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2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most</a:t>
            </a:r>
            <a:r>
              <a:rPr sz="2200" spc="2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often</a:t>
            </a:r>
            <a:r>
              <a:rPr sz="2200" spc="2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used</a:t>
            </a:r>
            <a:r>
              <a:rPr sz="2200" spc="2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for</a:t>
            </a:r>
            <a:r>
              <a:rPr sz="2200" spc="28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numeric 	prediction.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Regression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also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encompasses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10" dirty="0">
                <a:latin typeface="Cambria"/>
                <a:cs typeface="Cambria"/>
              </a:rPr>
              <a:t> identification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distribution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i="1" dirty="0">
                <a:latin typeface="Cambria"/>
                <a:cs typeface="Cambria"/>
              </a:rPr>
              <a:t>trends </a:t>
            </a:r>
            <a:r>
              <a:rPr sz="2200" dirty="0">
                <a:latin typeface="Cambria"/>
                <a:cs typeface="Cambria"/>
              </a:rPr>
              <a:t>based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on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35" dirty="0">
                <a:latin typeface="Cambria"/>
                <a:cs typeface="Cambria"/>
              </a:rPr>
              <a:t>available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data.</a:t>
            </a:r>
            <a:endParaRPr sz="2200" dirty="0">
              <a:latin typeface="Cambria"/>
              <a:cs typeface="Cambria"/>
            </a:endParaRPr>
          </a:p>
          <a:p>
            <a:pPr marL="351155" marR="5080" indent="-339090" algn="just">
              <a:lnSpc>
                <a:spcPct val="97200"/>
              </a:lnSpc>
              <a:spcBef>
                <a:spcPts val="121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200" dirty="0">
                <a:latin typeface="Cambria"/>
                <a:cs typeface="Cambria"/>
              </a:rPr>
              <a:t>Classification</a:t>
            </a:r>
            <a:r>
              <a:rPr sz="2200" spc="2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2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regression</a:t>
            </a:r>
            <a:r>
              <a:rPr sz="2200" spc="2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may</a:t>
            </a:r>
            <a:r>
              <a:rPr sz="2200" spc="29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need</a:t>
            </a:r>
            <a:r>
              <a:rPr sz="2200" spc="29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2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2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preceded</a:t>
            </a:r>
            <a:r>
              <a:rPr sz="2200" spc="2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by</a:t>
            </a:r>
            <a:r>
              <a:rPr sz="2200" spc="290" dirty="0"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mbria"/>
                <a:cs typeface="Cambria"/>
              </a:rPr>
              <a:t>relevance</a:t>
            </a:r>
            <a:r>
              <a:rPr sz="2200" b="1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mbria"/>
                <a:cs typeface="Cambria"/>
              </a:rPr>
              <a:t>analysis</a:t>
            </a:r>
            <a:r>
              <a:rPr sz="2200" dirty="0">
                <a:latin typeface="Cambria"/>
                <a:cs typeface="Cambria"/>
              </a:rPr>
              <a:t>,</a:t>
            </a:r>
            <a:r>
              <a:rPr sz="2200" spc="30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which 	</a:t>
            </a:r>
            <a:r>
              <a:rPr sz="2200" dirty="0">
                <a:latin typeface="Cambria"/>
                <a:cs typeface="Cambria"/>
              </a:rPr>
              <a:t>attempts</a:t>
            </a:r>
            <a:r>
              <a:rPr sz="2200" spc="3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3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identify</a:t>
            </a:r>
            <a:r>
              <a:rPr sz="2200" spc="3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attributes</a:t>
            </a:r>
            <a:r>
              <a:rPr sz="2200" spc="3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that</a:t>
            </a:r>
            <a:r>
              <a:rPr sz="2200" spc="3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are</a:t>
            </a:r>
            <a:r>
              <a:rPr sz="2200" spc="30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significantly</a:t>
            </a:r>
            <a:r>
              <a:rPr sz="2200" spc="3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relevant</a:t>
            </a:r>
            <a:r>
              <a:rPr sz="2200" spc="3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3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30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classification</a:t>
            </a:r>
            <a:r>
              <a:rPr sz="2200" spc="30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and 	</a:t>
            </a:r>
            <a:r>
              <a:rPr sz="2200" spc="-35" dirty="0">
                <a:latin typeface="Cambria"/>
                <a:cs typeface="Cambria"/>
              </a:rPr>
              <a:t>regression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process.</a:t>
            </a:r>
            <a:endParaRPr sz="2200" dirty="0">
              <a:latin typeface="Cambria"/>
              <a:cs typeface="Cambria"/>
            </a:endParaRPr>
          </a:p>
          <a:p>
            <a:pPr marL="696595" marR="6985" indent="-291465">
              <a:lnSpc>
                <a:spcPts val="2110"/>
              </a:lnSpc>
              <a:spcBef>
                <a:spcPts val="1140"/>
              </a:spcBef>
              <a:tabLst>
                <a:tab pos="696595" algn="l"/>
              </a:tabLst>
            </a:pPr>
            <a:r>
              <a:rPr sz="2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2200" dirty="0">
                <a:latin typeface="Cambria"/>
                <a:cs typeface="Cambria"/>
              </a:rPr>
              <a:t>Such</a:t>
            </a:r>
            <a:r>
              <a:rPr sz="2200" spc="2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attributes</a:t>
            </a:r>
            <a:r>
              <a:rPr sz="2200" spc="2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will</a:t>
            </a:r>
            <a:r>
              <a:rPr sz="2200" spc="229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229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selected</a:t>
            </a:r>
            <a:r>
              <a:rPr sz="2200" spc="229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for</a:t>
            </a:r>
            <a:r>
              <a:rPr sz="2200" spc="2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22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classification</a:t>
            </a:r>
            <a:r>
              <a:rPr sz="2200" spc="2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22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regression</a:t>
            </a:r>
            <a:r>
              <a:rPr sz="2200" spc="2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process.</a:t>
            </a:r>
            <a:r>
              <a:rPr sz="2200" spc="2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Other </a:t>
            </a:r>
            <a:r>
              <a:rPr sz="2200" spc="-25" dirty="0">
                <a:latin typeface="Cambria"/>
                <a:cs typeface="Cambria"/>
              </a:rPr>
              <a:t>attributes,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which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are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irrelevant,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can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then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35" dirty="0">
                <a:latin typeface="Cambria"/>
                <a:cs typeface="Cambria"/>
              </a:rPr>
              <a:t>excluded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from</a:t>
            </a:r>
            <a:r>
              <a:rPr sz="2200" spc="-7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consideration.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866264" marR="5080" indent="-1085850">
              <a:lnSpc>
                <a:spcPct val="102200"/>
              </a:lnSpc>
              <a:spcBef>
                <a:spcPts val="30"/>
              </a:spcBef>
            </a:pPr>
            <a:r>
              <a:rPr dirty="0">
                <a:solidFill>
                  <a:srgbClr val="FF0000"/>
                </a:solidFill>
              </a:rPr>
              <a:t>Classification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Regression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for </a:t>
            </a:r>
            <a:r>
              <a:rPr spc="-10" dirty="0">
                <a:solidFill>
                  <a:srgbClr val="FF0000"/>
                </a:solidFill>
              </a:rPr>
              <a:t>Predictive</a:t>
            </a:r>
            <a:r>
              <a:rPr spc="-13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00" y="2028825"/>
            <a:ext cx="10134600" cy="4393832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51155" marR="7620" indent="-339090" algn="just">
              <a:lnSpc>
                <a:spcPct val="101699"/>
              </a:lnSpc>
              <a:spcBef>
                <a:spcPts val="6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Classification</a:t>
            </a:r>
            <a:r>
              <a:rPr sz="22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Example:</a:t>
            </a:r>
            <a:r>
              <a:rPr sz="22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i="1" dirty="0">
                <a:latin typeface="Cambria"/>
                <a:cs typeface="Cambria"/>
              </a:rPr>
              <a:t>AllElectronics</a:t>
            </a:r>
            <a:r>
              <a:rPr sz="2200" i="1" spc="250" dirty="0">
                <a:latin typeface="Cambria"/>
                <a:cs typeface="Cambria"/>
              </a:rPr>
              <a:t> </a:t>
            </a:r>
            <a:r>
              <a:rPr sz="2200" i="1" dirty="0">
                <a:latin typeface="Cambria"/>
                <a:cs typeface="Cambria"/>
              </a:rPr>
              <a:t>-</a:t>
            </a:r>
            <a:r>
              <a:rPr sz="2200" i="1" spc="229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classify</a:t>
            </a:r>
            <a:r>
              <a:rPr sz="2200" spc="2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2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large</a:t>
            </a:r>
            <a:r>
              <a:rPr sz="2200" spc="2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set</a:t>
            </a:r>
            <a:r>
              <a:rPr sz="2200" spc="2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2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items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</a:t>
            </a:r>
            <a:r>
              <a:rPr sz="2200" spc="2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2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store,</a:t>
            </a:r>
            <a:r>
              <a:rPr sz="2200" spc="23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based </a:t>
            </a:r>
            <a:r>
              <a:rPr sz="2200" dirty="0">
                <a:latin typeface="Cambria"/>
                <a:cs typeface="Cambria"/>
              </a:rPr>
              <a:t>on</a:t>
            </a:r>
            <a:r>
              <a:rPr sz="2200" spc="2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three</a:t>
            </a:r>
            <a:r>
              <a:rPr sz="2200" spc="254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kinds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responses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2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254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sales</a:t>
            </a:r>
            <a:r>
              <a:rPr sz="2200" spc="2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campaign: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good</a:t>
            </a:r>
            <a:r>
              <a:rPr sz="2200" b="1" i="1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response</a:t>
            </a:r>
            <a:r>
              <a:rPr sz="2200" b="1" dirty="0">
                <a:solidFill>
                  <a:srgbClr val="FF0000"/>
                </a:solidFill>
                <a:latin typeface="Cambria"/>
                <a:cs typeface="Cambria"/>
              </a:rPr>
              <a:t>,</a:t>
            </a:r>
            <a:r>
              <a:rPr sz="2200" b="1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mild</a:t>
            </a:r>
            <a:r>
              <a:rPr sz="2200" b="1" i="1" spc="2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response</a:t>
            </a:r>
            <a:r>
              <a:rPr sz="2200" b="1" i="1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Cambria"/>
                <a:cs typeface="Cambria"/>
              </a:rPr>
              <a:t>and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sz="2200" b="1" i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i="1" spc="-10" dirty="0">
                <a:solidFill>
                  <a:srgbClr val="FF0000"/>
                </a:solidFill>
                <a:latin typeface="Cambria"/>
                <a:cs typeface="Cambria"/>
              </a:rPr>
              <a:t>response</a:t>
            </a:r>
            <a:r>
              <a:rPr sz="2200" b="1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2200" dirty="0">
              <a:latin typeface="Cambria"/>
              <a:cs typeface="Cambria"/>
            </a:endParaRPr>
          </a:p>
          <a:p>
            <a:pPr marL="351155" marR="6985" indent="-339090" algn="just">
              <a:lnSpc>
                <a:spcPct val="102200"/>
              </a:lnSpc>
              <a:spcBef>
                <a:spcPts val="120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200" dirty="0">
                <a:latin typeface="Cambria"/>
                <a:cs typeface="Cambria"/>
              </a:rPr>
              <a:t>Derive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model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for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each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these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three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classes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based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on</a:t>
            </a:r>
            <a:r>
              <a:rPr sz="2200" spc="1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descriptive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features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the </a:t>
            </a:r>
            <a:r>
              <a:rPr sz="2200" dirty="0">
                <a:latin typeface="Cambria"/>
                <a:cs typeface="Cambria"/>
              </a:rPr>
              <a:t>items,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such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as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price</a:t>
            </a:r>
            <a:r>
              <a:rPr sz="2200" b="1" dirty="0">
                <a:solidFill>
                  <a:srgbClr val="FF0000"/>
                </a:solidFill>
                <a:latin typeface="Cambria"/>
                <a:cs typeface="Cambria"/>
              </a:rPr>
              <a:t>,</a:t>
            </a:r>
            <a:r>
              <a:rPr sz="22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brand,</a:t>
            </a:r>
            <a:r>
              <a:rPr sz="2200" b="1" i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place</a:t>
            </a:r>
            <a:r>
              <a:rPr sz="2200" b="1" i="1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made,</a:t>
            </a:r>
            <a:r>
              <a:rPr sz="2200" b="1" i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i="1" dirty="0">
                <a:solidFill>
                  <a:srgbClr val="FF0000"/>
                </a:solidFill>
                <a:latin typeface="Cambria"/>
                <a:cs typeface="Cambria"/>
              </a:rPr>
              <a:t>type</a:t>
            </a:r>
            <a:r>
              <a:rPr sz="2200" b="1" dirty="0">
                <a:solidFill>
                  <a:srgbClr val="FF0000"/>
                </a:solidFill>
                <a:latin typeface="Cambria"/>
                <a:cs typeface="Cambria"/>
              </a:rPr>
              <a:t>,</a:t>
            </a:r>
            <a:r>
              <a:rPr sz="22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200" b="1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b="1" i="1" spc="-10" dirty="0">
                <a:solidFill>
                  <a:srgbClr val="FF0000"/>
                </a:solidFill>
                <a:latin typeface="Cambria"/>
                <a:cs typeface="Cambria"/>
              </a:rPr>
              <a:t>category</a:t>
            </a:r>
            <a:r>
              <a:rPr sz="2200" spc="-10" dirty="0">
                <a:latin typeface="Cambria"/>
                <a:cs typeface="Cambria"/>
              </a:rPr>
              <a:t>.</a:t>
            </a:r>
            <a:endParaRPr sz="2200" dirty="0">
              <a:latin typeface="Cambria"/>
              <a:cs typeface="Cambria"/>
            </a:endParaRPr>
          </a:p>
          <a:p>
            <a:pPr marL="696595" marR="6985" indent="-291465" algn="just">
              <a:lnSpc>
                <a:spcPct val="102200"/>
              </a:lnSpc>
              <a:spcBef>
                <a:spcPts val="1175"/>
              </a:spcBef>
              <a:tabLst>
                <a:tab pos="696595" algn="l"/>
                <a:tab pos="1211580" algn="l"/>
                <a:tab pos="2235200" algn="l"/>
                <a:tab pos="3667125" algn="l"/>
                <a:tab pos="4476750" algn="l"/>
                <a:tab pos="5644515" algn="l"/>
                <a:tab pos="6885940" algn="l"/>
                <a:tab pos="7479665" algn="l"/>
                <a:tab pos="8093075" algn="l"/>
                <a:tab pos="8709025" algn="l"/>
              </a:tabLst>
            </a:pPr>
            <a:r>
              <a:rPr sz="2200" spc="18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200" spc="-25" dirty="0">
                <a:latin typeface="Cambria"/>
                <a:cs typeface="Cambria"/>
              </a:rPr>
              <a:t>The</a:t>
            </a:r>
            <a:r>
              <a:rPr lang="en-IN" sz="2200" spc="-2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resulting</a:t>
            </a:r>
            <a:r>
              <a:rPr lang="en-IN" sz="2200" spc="-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classification</a:t>
            </a:r>
            <a:r>
              <a:rPr lang="en-IN" sz="2200" spc="-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should</a:t>
            </a:r>
            <a:r>
              <a:rPr lang="en-IN" sz="2200" spc="-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maximally</a:t>
            </a:r>
            <a:r>
              <a:rPr lang="en-IN" sz="2200" spc="-1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distinguish</a:t>
            </a:r>
            <a:r>
              <a:rPr lang="en-IN" sz="2200" spc="-1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each</a:t>
            </a:r>
            <a:r>
              <a:rPr lang="en-IN" sz="2200" spc="-2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class</a:t>
            </a:r>
            <a:r>
              <a:rPr lang="en-IN" sz="2200" spc="-1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from</a:t>
            </a:r>
            <a:r>
              <a:rPr lang="en-IN" sz="2200" spc="-2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the </a:t>
            </a:r>
            <a:r>
              <a:rPr sz="2200" dirty="0">
                <a:latin typeface="Cambria"/>
                <a:cs typeface="Cambria"/>
              </a:rPr>
              <a:t>others,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presenting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organized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picture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data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set.</a:t>
            </a:r>
            <a:endParaRPr sz="2200" dirty="0">
              <a:latin typeface="Cambria"/>
              <a:cs typeface="Cambria"/>
            </a:endParaRPr>
          </a:p>
          <a:p>
            <a:pPr marL="351155" marR="5715" indent="-339090" algn="just">
              <a:lnSpc>
                <a:spcPct val="101099"/>
              </a:lnSpc>
              <a:spcBef>
                <a:spcPts val="122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Regression</a:t>
            </a:r>
            <a:r>
              <a:rPr sz="220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"/>
                <a:cs typeface="Cambria"/>
              </a:rPr>
              <a:t>Example:</a:t>
            </a:r>
            <a:r>
              <a:rPr sz="2200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i="1" dirty="0">
                <a:latin typeface="Cambria"/>
                <a:cs typeface="Cambria"/>
              </a:rPr>
              <a:t>AllElectronics</a:t>
            </a:r>
            <a:r>
              <a:rPr sz="2200" i="1" spc="150" dirty="0">
                <a:latin typeface="Cambria"/>
                <a:cs typeface="Cambria"/>
              </a:rPr>
              <a:t> </a:t>
            </a:r>
            <a:r>
              <a:rPr sz="2200" i="1" dirty="0">
                <a:latin typeface="Cambria"/>
                <a:cs typeface="Cambria"/>
              </a:rPr>
              <a:t>-</a:t>
            </a:r>
            <a:r>
              <a:rPr sz="2200" i="1" spc="1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Predict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amount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revenue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that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each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item</a:t>
            </a:r>
            <a:r>
              <a:rPr sz="2200" spc="17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will </a:t>
            </a:r>
            <a:r>
              <a:rPr sz="2200" dirty="0">
                <a:latin typeface="Cambria"/>
                <a:cs typeface="Cambria"/>
              </a:rPr>
              <a:t>generate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during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upcoming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sale,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based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on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previous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sales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data.</a:t>
            </a:r>
            <a:endParaRPr sz="22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2200"/>
              </a:lnSpc>
              <a:spcBef>
                <a:spcPts val="1200"/>
              </a:spcBef>
              <a:tabLst>
                <a:tab pos="696595" algn="l"/>
              </a:tabLst>
            </a:pPr>
            <a:r>
              <a:rPr sz="2200" spc="18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2200" dirty="0">
                <a:latin typeface="Cambria"/>
                <a:cs typeface="Cambria"/>
              </a:rPr>
              <a:t>This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example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regression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analysis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because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regression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model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constructed </a:t>
            </a:r>
            <a:r>
              <a:rPr sz="2200" dirty="0">
                <a:latin typeface="Cambria"/>
                <a:cs typeface="Cambria"/>
              </a:rPr>
              <a:t>will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predict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continuous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function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(or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ordered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value.)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866264" marR="5080" indent="-1085850">
              <a:lnSpc>
                <a:spcPct val="102200"/>
              </a:lnSpc>
              <a:spcBef>
                <a:spcPts val="30"/>
              </a:spcBef>
            </a:pPr>
            <a:r>
              <a:rPr dirty="0">
                <a:solidFill>
                  <a:srgbClr val="FF0000"/>
                </a:solidFill>
              </a:rPr>
              <a:t>Classification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Regression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for </a:t>
            </a:r>
            <a:r>
              <a:rPr spc="-10" dirty="0">
                <a:solidFill>
                  <a:srgbClr val="FF0000"/>
                </a:solidFill>
              </a:rPr>
              <a:t>Predictive</a:t>
            </a:r>
            <a:r>
              <a:rPr spc="-13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1479-88B2-E543-68C7-A3F9383F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504826"/>
            <a:ext cx="7358964" cy="616776"/>
          </a:xfrm>
        </p:spPr>
        <p:txBody>
          <a:bodyPr/>
          <a:lstStyle/>
          <a:p>
            <a:pPr fontAlgn="ctr"/>
            <a:r>
              <a:rPr lang="en-IN" dirty="0"/>
              <a:t>Classification Vs Regression</a:t>
            </a:r>
            <a:br>
              <a:rPr lang="en-IN" b="0" dirty="0"/>
            </a:b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8E0E155-7DB8-1CA9-2CBC-1649C22D9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980727"/>
              </p:ext>
            </p:extLst>
          </p:nvPr>
        </p:nvGraphicFramePr>
        <p:xfrm>
          <a:off x="887592" y="1793485"/>
          <a:ext cx="9488307" cy="45565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1199">
                  <a:extLst>
                    <a:ext uri="{9D8B030D-6E8A-4147-A177-3AD203B41FA5}">
                      <a16:colId xmlns:a16="http://schemas.microsoft.com/office/drawing/2014/main" val="3892248341"/>
                    </a:ext>
                  </a:extLst>
                </a:gridCol>
                <a:gridCol w="4344339">
                  <a:extLst>
                    <a:ext uri="{9D8B030D-6E8A-4147-A177-3AD203B41FA5}">
                      <a16:colId xmlns:a16="http://schemas.microsoft.com/office/drawing/2014/main" val="1934209767"/>
                    </a:ext>
                  </a:extLst>
                </a:gridCol>
                <a:gridCol w="3162769">
                  <a:extLst>
                    <a:ext uri="{9D8B030D-6E8A-4147-A177-3AD203B41FA5}">
                      <a16:colId xmlns:a16="http://schemas.microsoft.com/office/drawing/2014/main" val="1136863285"/>
                    </a:ext>
                  </a:extLst>
                </a:gridCol>
              </a:tblGrid>
              <a:tr h="4214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Aspect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Classification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Regression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8016357"/>
                  </a:ext>
                </a:extLst>
              </a:tr>
              <a:tr h="4214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Definition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Predicts categorical/discrete labels or classes.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Predicts continuous numerical values.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6147073"/>
                  </a:ext>
                </a:extLst>
              </a:tr>
              <a:tr h="8183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Output type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Class labels (e.g., spam or not spam, disease or no disease).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Real-valued outputs (e.g., house price = $350,000, temperature = 29.5°C).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2516882"/>
                  </a:ext>
                </a:extLst>
              </a:tr>
              <a:tr h="12151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Examples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- Email spam detection (spam/not spam) - Disease prediction (disease present/absent) - Image recognition (cat, dog, car)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en-IN" sz="2000" kern="100" dirty="0">
                          <a:effectLst/>
                        </a:rPr>
                        <a:t>Predicting house prices 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en-IN" sz="2000" kern="100" dirty="0">
                          <a:effectLst/>
                        </a:rPr>
                        <a:t>Predicting blood glucose level </a:t>
                      </a:r>
                    </a:p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IN" sz="2000" kern="100" dirty="0">
                          <a:effectLst/>
                        </a:rPr>
                        <a:t>- Predicting age based on facial features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4736808"/>
                  </a:ext>
                </a:extLst>
              </a:tr>
              <a:tr h="4214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Nature of target variable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Categorical (nominal or ordinal)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Continuous (real-valued)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04583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911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707287"/>
            <a:ext cx="9046210" cy="215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Unlike</a:t>
            </a:r>
            <a:r>
              <a:rPr sz="1800" spc="3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classification</a:t>
            </a:r>
            <a:r>
              <a:rPr sz="1800" spc="3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3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regression,</a:t>
            </a:r>
            <a:r>
              <a:rPr sz="1800" spc="3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which</a:t>
            </a:r>
            <a:r>
              <a:rPr sz="1800" spc="3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analyze</a:t>
            </a:r>
            <a:r>
              <a:rPr sz="1800" spc="3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class-labeled</a:t>
            </a:r>
            <a:r>
              <a:rPr sz="1800" spc="3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(training)</a:t>
            </a:r>
            <a:r>
              <a:rPr sz="1800" spc="3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3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sets,</a:t>
            </a:r>
            <a:endParaRPr sz="1800">
              <a:latin typeface="Cambria"/>
              <a:cs typeface="Cambria"/>
            </a:endParaRPr>
          </a:p>
          <a:p>
            <a:pPr marL="352425">
              <a:lnSpc>
                <a:spcPct val="100000"/>
              </a:lnSpc>
              <a:spcBef>
                <a:spcPts val="25"/>
              </a:spcBef>
            </a:pP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clustering</a:t>
            </a:r>
            <a:r>
              <a:rPr sz="18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analyzes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objects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without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consulting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labels.</a:t>
            </a:r>
            <a:endParaRPr sz="180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24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In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many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cases,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class-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labeled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may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simply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exist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beginning.</a:t>
            </a:r>
            <a:endParaRPr sz="180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25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Clustering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used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generate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labels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group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data.</a:t>
            </a:r>
            <a:endParaRPr sz="1800">
              <a:latin typeface="Cambria"/>
              <a:cs typeface="Cambria"/>
            </a:endParaRPr>
          </a:p>
          <a:p>
            <a:pPr marL="352425" marR="9525" indent="-340360">
              <a:lnSpc>
                <a:spcPct val="101099"/>
              </a:lnSpc>
              <a:spcBef>
                <a:spcPts val="122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9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objects</a:t>
            </a:r>
            <a:r>
              <a:rPr sz="1800" spc="10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10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clustered</a:t>
            </a:r>
            <a:r>
              <a:rPr sz="1800" spc="10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10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grouped</a:t>
            </a:r>
            <a:r>
              <a:rPr sz="1800" spc="9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based</a:t>
            </a:r>
            <a:r>
              <a:rPr sz="1800" spc="10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10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0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principle</a:t>
            </a:r>
            <a:r>
              <a:rPr sz="1800" spc="10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00" dirty="0">
                <a:latin typeface="Cambria"/>
                <a:cs typeface="Cambria"/>
              </a:rPr>
              <a:t> 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maximizing</a:t>
            </a:r>
            <a:r>
              <a:rPr sz="1800" b="1" spc="1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b="1" spc="-25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intraclass</a:t>
            </a:r>
            <a:r>
              <a:rPr sz="1800" b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similarity</a:t>
            </a:r>
            <a:r>
              <a:rPr sz="1800" b="1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800" b="1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minimizing</a:t>
            </a:r>
            <a:r>
              <a:rPr sz="1800" b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b="1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interclass</a:t>
            </a:r>
            <a:r>
              <a:rPr sz="1800" b="1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similarity</a:t>
            </a:r>
            <a:r>
              <a:rPr sz="1800" spc="-10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677670">
              <a:lnSpc>
                <a:spcPct val="100000"/>
              </a:lnSpc>
              <a:spcBef>
                <a:spcPts val="100"/>
              </a:spcBef>
            </a:pPr>
            <a:r>
              <a:rPr dirty="0"/>
              <a:t>1.4.4</a:t>
            </a:r>
            <a:r>
              <a:rPr spc="-5" dirty="0"/>
              <a:t> </a:t>
            </a:r>
            <a:r>
              <a:rPr dirty="0"/>
              <a:t>Cluster</a:t>
            </a:r>
            <a:r>
              <a:rPr spc="-15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516817" y="5940875"/>
            <a:ext cx="883919" cy="882650"/>
            <a:chOff x="6516817" y="5940875"/>
            <a:chExt cx="883919" cy="8826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5141" y="5965288"/>
              <a:ext cx="70111" cy="700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19907" y="5943965"/>
              <a:ext cx="877569" cy="876300"/>
            </a:xfrm>
            <a:custGeom>
              <a:avLst/>
              <a:gdLst/>
              <a:ahLst/>
              <a:cxnLst/>
              <a:rect l="l" t="t" r="r" b="b"/>
              <a:pathLst>
                <a:path w="877570" h="876300">
                  <a:moveTo>
                    <a:pt x="877114" y="438053"/>
                  </a:moveTo>
                  <a:lnTo>
                    <a:pt x="874540" y="485775"/>
                  </a:lnTo>
                  <a:lnTo>
                    <a:pt x="866997" y="532010"/>
                  </a:lnTo>
                  <a:lnTo>
                    <a:pt x="854751" y="576492"/>
                  </a:lnTo>
                  <a:lnTo>
                    <a:pt x="838072" y="618953"/>
                  </a:lnTo>
                  <a:lnTo>
                    <a:pt x="817227" y="659124"/>
                  </a:lnTo>
                  <a:lnTo>
                    <a:pt x="792484" y="696740"/>
                  </a:lnTo>
                  <a:lnTo>
                    <a:pt x="764110" y="731531"/>
                  </a:lnTo>
                  <a:lnTo>
                    <a:pt x="732373" y="763231"/>
                  </a:lnTo>
                  <a:lnTo>
                    <a:pt x="697542" y="791573"/>
                  </a:lnTo>
                  <a:lnTo>
                    <a:pt x="659883" y="816288"/>
                  </a:lnTo>
                  <a:lnTo>
                    <a:pt x="619665" y="837109"/>
                  </a:lnTo>
                  <a:lnTo>
                    <a:pt x="577156" y="853769"/>
                  </a:lnTo>
                  <a:lnTo>
                    <a:pt x="532623" y="866000"/>
                  </a:lnTo>
                  <a:lnTo>
                    <a:pt x="486334" y="873535"/>
                  </a:lnTo>
                  <a:lnTo>
                    <a:pt x="438557" y="876106"/>
                  </a:lnTo>
                  <a:lnTo>
                    <a:pt x="390780" y="873535"/>
                  </a:lnTo>
                  <a:lnTo>
                    <a:pt x="344491" y="866000"/>
                  </a:lnTo>
                  <a:lnTo>
                    <a:pt x="299958" y="853769"/>
                  </a:lnTo>
                  <a:lnTo>
                    <a:pt x="257448" y="837109"/>
                  </a:lnTo>
                  <a:lnTo>
                    <a:pt x="217231" y="816288"/>
                  </a:lnTo>
                  <a:lnTo>
                    <a:pt x="179572" y="791573"/>
                  </a:lnTo>
                  <a:lnTo>
                    <a:pt x="144740" y="763231"/>
                  </a:lnTo>
                  <a:lnTo>
                    <a:pt x="113004" y="731531"/>
                  </a:lnTo>
                  <a:lnTo>
                    <a:pt x="84630" y="696740"/>
                  </a:lnTo>
                  <a:lnTo>
                    <a:pt x="59886" y="659124"/>
                  </a:lnTo>
                  <a:lnTo>
                    <a:pt x="39041" y="618953"/>
                  </a:lnTo>
                  <a:lnTo>
                    <a:pt x="22362" y="576492"/>
                  </a:lnTo>
                  <a:lnTo>
                    <a:pt x="10117" y="532010"/>
                  </a:lnTo>
                  <a:lnTo>
                    <a:pt x="2574" y="485775"/>
                  </a:lnTo>
                  <a:lnTo>
                    <a:pt x="0" y="438053"/>
                  </a:lnTo>
                  <a:lnTo>
                    <a:pt x="2574" y="390331"/>
                  </a:lnTo>
                  <a:lnTo>
                    <a:pt x="10117" y="344095"/>
                  </a:lnTo>
                  <a:lnTo>
                    <a:pt x="22362" y="299613"/>
                  </a:lnTo>
                  <a:lnTo>
                    <a:pt x="39041" y="257153"/>
                  </a:lnTo>
                  <a:lnTo>
                    <a:pt x="59886" y="216981"/>
                  </a:lnTo>
                  <a:lnTo>
                    <a:pt x="84630" y="179366"/>
                  </a:lnTo>
                  <a:lnTo>
                    <a:pt x="113004" y="144574"/>
                  </a:lnTo>
                  <a:lnTo>
                    <a:pt x="144740" y="112874"/>
                  </a:lnTo>
                  <a:lnTo>
                    <a:pt x="179572" y="84533"/>
                  </a:lnTo>
                  <a:lnTo>
                    <a:pt x="217231" y="59818"/>
                  </a:lnTo>
                  <a:lnTo>
                    <a:pt x="257448" y="38996"/>
                  </a:lnTo>
                  <a:lnTo>
                    <a:pt x="299958" y="22337"/>
                  </a:lnTo>
                  <a:lnTo>
                    <a:pt x="344491" y="10105"/>
                  </a:lnTo>
                  <a:lnTo>
                    <a:pt x="390780" y="2571"/>
                  </a:lnTo>
                  <a:lnTo>
                    <a:pt x="438557" y="0"/>
                  </a:lnTo>
                  <a:lnTo>
                    <a:pt x="486334" y="2571"/>
                  </a:lnTo>
                  <a:lnTo>
                    <a:pt x="532623" y="10105"/>
                  </a:lnTo>
                  <a:lnTo>
                    <a:pt x="577156" y="22337"/>
                  </a:lnTo>
                  <a:lnTo>
                    <a:pt x="619665" y="38996"/>
                  </a:lnTo>
                  <a:lnTo>
                    <a:pt x="659883" y="59818"/>
                  </a:lnTo>
                  <a:lnTo>
                    <a:pt x="697542" y="84533"/>
                  </a:lnTo>
                  <a:lnTo>
                    <a:pt x="732373" y="112874"/>
                  </a:lnTo>
                  <a:lnTo>
                    <a:pt x="764110" y="144574"/>
                  </a:lnTo>
                  <a:lnTo>
                    <a:pt x="792484" y="179366"/>
                  </a:lnTo>
                  <a:lnTo>
                    <a:pt x="817227" y="216981"/>
                  </a:lnTo>
                  <a:lnTo>
                    <a:pt x="838072" y="257153"/>
                  </a:lnTo>
                  <a:lnTo>
                    <a:pt x="854751" y="299613"/>
                  </a:lnTo>
                  <a:lnTo>
                    <a:pt x="866997" y="344095"/>
                  </a:lnTo>
                  <a:lnTo>
                    <a:pt x="874540" y="390331"/>
                  </a:lnTo>
                  <a:lnTo>
                    <a:pt x="877114" y="438053"/>
                  </a:lnTo>
                  <a:close/>
                </a:path>
              </a:pathLst>
            </a:custGeom>
            <a:ln w="618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9067" y="6298831"/>
              <a:ext cx="70112" cy="700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7758" y="6298831"/>
              <a:ext cx="70112" cy="700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0372" y="6354421"/>
              <a:ext cx="197498" cy="1812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9486" y="6243240"/>
              <a:ext cx="70112" cy="700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2104" y="6132060"/>
              <a:ext cx="70112" cy="700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4722" y="6132060"/>
              <a:ext cx="70111" cy="700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0376" y="6465602"/>
              <a:ext cx="70112" cy="700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7758" y="6632374"/>
              <a:ext cx="70112" cy="700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9486" y="6632374"/>
              <a:ext cx="70112" cy="700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3832" y="6410012"/>
              <a:ext cx="70111" cy="70031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519763" y="5934205"/>
            <a:ext cx="1102995" cy="1101725"/>
            <a:chOff x="3519763" y="5934205"/>
            <a:chExt cx="1102995" cy="1101725"/>
          </a:xfrm>
        </p:grpSpPr>
        <p:sp>
          <p:nvSpPr>
            <p:cNvPr id="19" name="object 19"/>
            <p:cNvSpPr/>
            <p:nvPr/>
          </p:nvSpPr>
          <p:spPr>
            <a:xfrm>
              <a:off x="3522853" y="5937296"/>
              <a:ext cx="1097280" cy="1096010"/>
            </a:xfrm>
            <a:custGeom>
              <a:avLst/>
              <a:gdLst/>
              <a:ahLst/>
              <a:cxnLst/>
              <a:rect l="l" t="t" r="r" b="b"/>
              <a:pathLst>
                <a:path w="1097279" h="1096009">
                  <a:moveTo>
                    <a:pt x="1096764" y="547751"/>
                  </a:moveTo>
                  <a:lnTo>
                    <a:pt x="1094751" y="595016"/>
                  </a:lnTo>
                  <a:lnTo>
                    <a:pt x="1088823" y="641164"/>
                  </a:lnTo>
                  <a:lnTo>
                    <a:pt x="1079143" y="686031"/>
                  </a:lnTo>
                  <a:lnTo>
                    <a:pt x="1065877" y="729452"/>
                  </a:lnTo>
                  <a:lnTo>
                    <a:pt x="1049188" y="771263"/>
                  </a:lnTo>
                  <a:lnTo>
                    <a:pt x="1029242" y="811299"/>
                  </a:lnTo>
                  <a:lnTo>
                    <a:pt x="1006203" y="849396"/>
                  </a:lnTo>
                  <a:lnTo>
                    <a:pt x="980236" y="885390"/>
                  </a:lnTo>
                  <a:lnTo>
                    <a:pt x="951505" y="919117"/>
                  </a:lnTo>
                  <a:lnTo>
                    <a:pt x="920174" y="950411"/>
                  </a:lnTo>
                  <a:lnTo>
                    <a:pt x="886409" y="979109"/>
                  </a:lnTo>
                  <a:lnTo>
                    <a:pt x="850373" y="1005047"/>
                  </a:lnTo>
                  <a:lnTo>
                    <a:pt x="812232" y="1028059"/>
                  </a:lnTo>
                  <a:lnTo>
                    <a:pt x="772150" y="1047982"/>
                  </a:lnTo>
                  <a:lnTo>
                    <a:pt x="730291" y="1064651"/>
                  </a:lnTo>
                  <a:lnTo>
                    <a:pt x="686820" y="1077902"/>
                  </a:lnTo>
                  <a:lnTo>
                    <a:pt x="641902" y="1087571"/>
                  </a:lnTo>
                  <a:lnTo>
                    <a:pt x="595701" y="1093493"/>
                  </a:lnTo>
                  <a:lnTo>
                    <a:pt x="548382" y="1095503"/>
                  </a:lnTo>
                  <a:lnTo>
                    <a:pt x="501062" y="1093493"/>
                  </a:lnTo>
                  <a:lnTo>
                    <a:pt x="454861" y="1087571"/>
                  </a:lnTo>
                  <a:lnTo>
                    <a:pt x="409943" y="1077902"/>
                  </a:lnTo>
                  <a:lnTo>
                    <a:pt x="366472" y="1064651"/>
                  </a:lnTo>
                  <a:lnTo>
                    <a:pt x="324613" y="1047982"/>
                  </a:lnTo>
                  <a:lnTo>
                    <a:pt x="284531" y="1028059"/>
                  </a:lnTo>
                  <a:lnTo>
                    <a:pt x="246390" y="1005047"/>
                  </a:lnTo>
                  <a:lnTo>
                    <a:pt x="210354" y="979109"/>
                  </a:lnTo>
                  <a:lnTo>
                    <a:pt x="176589" y="950411"/>
                  </a:lnTo>
                  <a:lnTo>
                    <a:pt x="145258" y="919117"/>
                  </a:lnTo>
                  <a:lnTo>
                    <a:pt x="116527" y="885390"/>
                  </a:lnTo>
                  <a:lnTo>
                    <a:pt x="90560" y="849396"/>
                  </a:lnTo>
                  <a:lnTo>
                    <a:pt x="67521" y="811299"/>
                  </a:lnTo>
                  <a:lnTo>
                    <a:pt x="47575" y="771263"/>
                  </a:lnTo>
                  <a:lnTo>
                    <a:pt x="30887" y="729452"/>
                  </a:lnTo>
                  <a:lnTo>
                    <a:pt x="17620" y="686031"/>
                  </a:lnTo>
                  <a:lnTo>
                    <a:pt x="7941" y="641164"/>
                  </a:lnTo>
                  <a:lnTo>
                    <a:pt x="2012" y="595016"/>
                  </a:lnTo>
                  <a:lnTo>
                    <a:pt x="0" y="547751"/>
                  </a:lnTo>
                  <a:lnTo>
                    <a:pt x="2012" y="500486"/>
                  </a:lnTo>
                  <a:lnTo>
                    <a:pt x="7941" y="454338"/>
                  </a:lnTo>
                  <a:lnTo>
                    <a:pt x="17620" y="409472"/>
                  </a:lnTo>
                  <a:lnTo>
                    <a:pt x="30887" y="366051"/>
                  </a:lnTo>
                  <a:lnTo>
                    <a:pt x="47575" y="324240"/>
                  </a:lnTo>
                  <a:lnTo>
                    <a:pt x="67521" y="284204"/>
                  </a:lnTo>
                  <a:lnTo>
                    <a:pt x="90560" y="246106"/>
                  </a:lnTo>
                  <a:lnTo>
                    <a:pt x="116527" y="210112"/>
                  </a:lnTo>
                  <a:lnTo>
                    <a:pt x="145258" y="176386"/>
                  </a:lnTo>
                  <a:lnTo>
                    <a:pt x="176589" y="145091"/>
                  </a:lnTo>
                  <a:lnTo>
                    <a:pt x="210354" y="116393"/>
                  </a:lnTo>
                  <a:lnTo>
                    <a:pt x="246390" y="90456"/>
                  </a:lnTo>
                  <a:lnTo>
                    <a:pt x="284531" y="67443"/>
                  </a:lnTo>
                  <a:lnTo>
                    <a:pt x="324613" y="47520"/>
                  </a:lnTo>
                  <a:lnTo>
                    <a:pt x="366472" y="30851"/>
                  </a:lnTo>
                  <a:lnTo>
                    <a:pt x="409943" y="17600"/>
                  </a:lnTo>
                  <a:lnTo>
                    <a:pt x="454861" y="7932"/>
                  </a:lnTo>
                  <a:lnTo>
                    <a:pt x="501062" y="2010"/>
                  </a:lnTo>
                  <a:lnTo>
                    <a:pt x="548382" y="0"/>
                  </a:lnTo>
                  <a:lnTo>
                    <a:pt x="595701" y="2010"/>
                  </a:lnTo>
                  <a:lnTo>
                    <a:pt x="641902" y="7932"/>
                  </a:lnTo>
                  <a:lnTo>
                    <a:pt x="686820" y="17600"/>
                  </a:lnTo>
                  <a:lnTo>
                    <a:pt x="730291" y="30851"/>
                  </a:lnTo>
                  <a:lnTo>
                    <a:pt x="772150" y="47520"/>
                  </a:lnTo>
                  <a:lnTo>
                    <a:pt x="812232" y="67443"/>
                  </a:lnTo>
                  <a:lnTo>
                    <a:pt x="850373" y="90456"/>
                  </a:lnTo>
                  <a:lnTo>
                    <a:pt x="886409" y="116393"/>
                  </a:lnTo>
                  <a:lnTo>
                    <a:pt x="920174" y="145091"/>
                  </a:lnTo>
                  <a:lnTo>
                    <a:pt x="951505" y="176386"/>
                  </a:lnTo>
                  <a:lnTo>
                    <a:pt x="980236" y="210112"/>
                  </a:lnTo>
                  <a:lnTo>
                    <a:pt x="1006203" y="246106"/>
                  </a:lnTo>
                  <a:lnTo>
                    <a:pt x="1029242" y="284204"/>
                  </a:lnTo>
                  <a:lnTo>
                    <a:pt x="1049188" y="324240"/>
                  </a:lnTo>
                  <a:lnTo>
                    <a:pt x="1065877" y="366051"/>
                  </a:lnTo>
                  <a:lnTo>
                    <a:pt x="1079143" y="409472"/>
                  </a:lnTo>
                  <a:lnTo>
                    <a:pt x="1088823" y="454338"/>
                  </a:lnTo>
                  <a:lnTo>
                    <a:pt x="1094751" y="500486"/>
                  </a:lnTo>
                  <a:lnTo>
                    <a:pt x="1096764" y="547751"/>
                  </a:lnTo>
                  <a:close/>
                </a:path>
              </a:pathLst>
            </a:custGeom>
            <a:ln w="618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2293" y="6465602"/>
              <a:ext cx="70112" cy="700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3602" y="6465602"/>
              <a:ext cx="70112" cy="700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2293" y="6354422"/>
              <a:ext cx="70112" cy="700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9257" y="6354422"/>
              <a:ext cx="70111" cy="700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4911" y="6465602"/>
              <a:ext cx="70112" cy="700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39257" y="6576783"/>
              <a:ext cx="70111" cy="700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27948" y="6632374"/>
              <a:ext cx="70111" cy="700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39" y="6632374"/>
              <a:ext cx="70111" cy="700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60984" y="6521193"/>
              <a:ext cx="70112" cy="700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05330" y="6354422"/>
              <a:ext cx="70112" cy="7003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39" y="6187650"/>
              <a:ext cx="70111" cy="700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4911" y="6187650"/>
              <a:ext cx="70112" cy="7003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1874" y="6298831"/>
              <a:ext cx="70112" cy="7003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01945" y="6521193"/>
              <a:ext cx="70112" cy="7003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0565" y="6799145"/>
              <a:ext cx="70112" cy="7003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3602" y="6799145"/>
              <a:ext cx="70112" cy="7003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49676" y="6799145"/>
              <a:ext cx="70111" cy="7003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38428" y="6576783"/>
              <a:ext cx="70112" cy="7003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38428" y="6243241"/>
              <a:ext cx="70112" cy="7003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2293" y="5965288"/>
              <a:ext cx="70112" cy="70031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57325" y="4105030"/>
            <a:ext cx="1519982" cy="1518241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28839" y="4687065"/>
            <a:ext cx="70111" cy="7004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83602" y="5076198"/>
            <a:ext cx="70112" cy="7004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60984" y="5520921"/>
            <a:ext cx="70112" cy="7004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51456" y="6020879"/>
            <a:ext cx="70124" cy="70031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9434" y="6465602"/>
            <a:ext cx="70111" cy="7003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4669" y="6132060"/>
            <a:ext cx="70112" cy="7003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071209" y="6410012"/>
            <a:ext cx="70124" cy="70031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922104" y="4965017"/>
            <a:ext cx="70112" cy="7004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922104" y="5465331"/>
            <a:ext cx="70112" cy="7004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755141" y="4409111"/>
            <a:ext cx="70111" cy="7004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444986" y="4380699"/>
            <a:ext cx="70124" cy="700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692047"/>
            <a:ext cx="9048750" cy="220789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51155" marR="5080" indent="-339090" algn="just">
              <a:lnSpc>
                <a:spcPts val="2110"/>
              </a:lnSpc>
              <a:spcBef>
                <a:spcPts val="21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A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data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set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may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contain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objects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that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not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comply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with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general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behavior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model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the 	</a:t>
            </a:r>
            <a:r>
              <a:rPr sz="1800" spc="-10" dirty="0">
                <a:latin typeface="Cambria"/>
                <a:cs typeface="Cambria"/>
              </a:rPr>
              <a:t>data.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These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data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objects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are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outliers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marL="351155" marR="5080" indent="-339090" algn="just">
              <a:lnSpc>
                <a:spcPct val="97000"/>
              </a:lnSpc>
              <a:spcBef>
                <a:spcPts val="116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Many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mining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methods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discard</a:t>
            </a:r>
            <a:r>
              <a:rPr sz="18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outliers</a:t>
            </a:r>
            <a:r>
              <a:rPr sz="18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as</a:t>
            </a:r>
            <a:r>
              <a:rPr sz="18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noise</a:t>
            </a:r>
            <a:r>
              <a:rPr sz="18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18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exceptions</a:t>
            </a:r>
            <a:r>
              <a:rPr sz="1800" dirty="0">
                <a:latin typeface="Cambria"/>
                <a:cs typeface="Cambria"/>
              </a:rPr>
              <a:t>.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However,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some 	</a:t>
            </a:r>
            <a:r>
              <a:rPr sz="1800" spc="-10" dirty="0">
                <a:latin typeface="Cambria"/>
                <a:cs typeface="Cambria"/>
              </a:rPr>
              <a:t>applications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(e.g.,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fraud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detection)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spc="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rare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events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sz="1800" spc="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1800" spc="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more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interesting</a:t>
            </a:r>
            <a:r>
              <a:rPr sz="1800" spc="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than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more 	</a:t>
            </a:r>
            <a:r>
              <a:rPr sz="1800" spc="-10" dirty="0">
                <a:latin typeface="Cambria"/>
                <a:cs typeface="Cambria"/>
              </a:rPr>
              <a:t>regularly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occurring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ones.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analysis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outlier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 is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referred</a:t>
            </a:r>
            <a:r>
              <a:rPr sz="1800" dirty="0">
                <a:latin typeface="Cambria"/>
                <a:cs typeface="Cambria"/>
              </a:rPr>
              <a:t> to as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outlier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analysis</a:t>
            </a:r>
            <a:r>
              <a:rPr sz="1800" b="1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"/>
                <a:cs typeface="Cambria"/>
              </a:rPr>
              <a:t>or 	</a:t>
            </a:r>
            <a:r>
              <a:rPr sz="1800" b="1" spc="-35" dirty="0">
                <a:solidFill>
                  <a:srgbClr val="FF0000"/>
                </a:solidFill>
                <a:latin typeface="Cambria"/>
                <a:cs typeface="Cambria"/>
              </a:rPr>
              <a:t>anomaly</a:t>
            </a:r>
            <a:r>
              <a:rPr sz="1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15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Example:</a:t>
            </a:r>
            <a:r>
              <a:rPr sz="1800" spc="4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Fraudulent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Activity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Credit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Card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Usage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678939">
              <a:lnSpc>
                <a:spcPct val="100000"/>
              </a:lnSpc>
              <a:spcBef>
                <a:spcPts val="100"/>
              </a:spcBef>
            </a:pPr>
            <a:r>
              <a:rPr dirty="0"/>
              <a:t>1.4.5</a:t>
            </a:r>
            <a:r>
              <a:rPr spc="15" dirty="0"/>
              <a:t> </a:t>
            </a:r>
            <a:r>
              <a:rPr dirty="0"/>
              <a:t>Outlier</a:t>
            </a:r>
            <a:r>
              <a:rPr spc="1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D6BD-A827-BDC7-C38D-2CDA24345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00" y="3899942"/>
            <a:ext cx="7467600" cy="307812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92592" y="4094702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50800" y="0"/>
                </a:moveTo>
                <a:lnTo>
                  <a:pt x="0" y="0"/>
                </a:lnTo>
                <a:lnTo>
                  <a:pt x="0" y="12705"/>
                </a:lnTo>
                <a:lnTo>
                  <a:pt x="50800" y="12705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593" y="1692047"/>
            <a:ext cx="8885555" cy="441769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52425" marR="5080" indent="-340360">
              <a:lnSpc>
                <a:spcPts val="2110"/>
              </a:lnSpc>
              <a:spcBef>
                <a:spcPts val="21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A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data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mining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system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has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potential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generate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thousands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even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millions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patterns,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rules.</a:t>
            </a:r>
            <a:endParaRPr sz="18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09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i="1" spc="-20" dirty="0">
                <a:latin typeface="Cambria"/>
                <a:cs typeface="Cambria"/>
              </a:rPr>
              <a:t>Are</a:t>
            </a:r>
            <a:r>
              <a:rPr sz="1800" i="1" spc="-6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all</a:t>
            </a:r>
            <a:r>
              <a:rPr sz="1800" i="1" spc="-5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of</a:t>
            </a:r>
            <a:r>
              <a:rPr sz="1800" i="1" spc="-55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the</a:t>
            </a:r>
            <a:r>
              <a:rPr sz="1800" i="1" spc="-55" dirty="0">
                <a:latin typeface="Cambria"/>
                <a:cs typeface="Cambria"/>
              </a:rPr>
              <a:t> </a:t>
            </a:r>
            <a:r>
              <a:rPr sz="1800" i="1" spc="-25" dirty="0">
                <a:latin typeface="Cambria"/>
                <a:cs typeface="Cambria"/>
              </a:rPr>
              <a:t>patterns</a:t>
            </a:r>
            <a:r>
              <a:rPr sz="1800" i="1" spc="-50" dirty="0">
                <a:latin typeface="Cambria"/>
                <a:cs typeface="Cambria"/>
              </a:rPr>
              <a:t> </a:t>
            </a:r>
            <a:r>
              <a:rPr sz="1800" i="1" spc="-30" dirty="0">
                <a:latin typeface="Cambria"/>
                <a:cs typeface="Cambria"/>
              </a:rPr>
              <a:t>interesting?</a:t>
            </a:r>
            <a:r>
              <a:rPr sz="1800" i="1" spc="-6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–</a:t>
            </a:r>
            <a:r>
              <a:rPr sz="1800" i="1" spc="-60" dirty="0">
                <a:latin typeface="Cambria"/>
                <a:cs typeface="Cambria"/>
              </a:rPr>
              <a:t> </a:t>
            </a:r>
            <a:r>
              <a:rPr sz="1800" i="1" spc="-25" dirty="0">
                <a:latin typeface="Cambria"/>
                <a:cs typeface="Cambria"/>
              </a:rPr>
              <a:t>No</a:t>
            </a:r>
            <a:endParaRPr sz="18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44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A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pattern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interesting</a:t>
            </a:r>
            <a:r>
              <a:rPr sz="18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if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is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725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easily</a:t>
            </a:r>
            <a:r>
              <a:rPr sz="1800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Cambria"/>
                <a:cs typeface="Cambria"/>
              </a:rPr>
              <a:t>understood</a:t>
            </a:r>
            <a:r>
              <a:rPr sz="18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humans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755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FF0000"/>
                </a:solidFill>
                <a:latin typeface="Cambria"/>
                <a:cs typeface="Cambria"/>
              </a:rPr>
              <a:t>valid</a:t>
            </a:r>
            <a:r>
              <a:rPr sz="1800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new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test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data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with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some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degree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certainty,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725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potentially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 useful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755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novel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750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validates</a:t>
            </a:r>
            <a:r>
              <a:rPr sz="18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some</a:t>
            </a:r>
            <a:r>
              <a:rPr sz="18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hypothesis</a:t>
            </a:r>
            <a:r>
              <a:rPr lang="en-IN" sz="1800" spc="-30" dirty="0">
                <a:solidFill>
                  <a:srgbClr val="FF0000"/>
                </a:solidFill>
                <a:latin typeface="Cambria"/>
                <a:cs typeface="Cambria"/>
              </a:rPr>
              <a:t>(trial solution of a problem)</a:t>
            </a:r>
            <a:r>
              <a:rPr sz="18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that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user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seeks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confirm</a:t>
            </a:r>
            <a:endParaRPr sz="18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73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An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interesting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measure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represents </a:t>
            </a:r>
            <a:r>
              <a:rPr sz="1800" i="1" spc="-35" dirty="0">
                <a:solidFill>
                  <a:srgbClr val="DA1F28"/>
                </a:solidFill>
                <a:latin typeface="Cambria"/>
                <a:cs typeface="Cambria"/>
              </a:rPr>
              <a:t>knowledge</a:t>
            </a:r>
            <a:r>
              <a:rPr sz="1800" i="1" spc="-30" dirty="0">
                <a:solidFill>
                  <a:srgbClr val="DA1F28"/>
                </a:solidFill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!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701040">
              <a:lnSpc>
                <a:spcPct val="100000"/>
              </a:lnSpc>
              <a:spcBef>
                <a:spcPts val="100"/>
              </a:spcBef>
            </a:pPr>
            <a:r>
              <a:rPr dirty="0"/>
              <a:t>1.4.6</a:t>
            </a:r>
            <a:r>
              <a:rPr spc="-35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dirty="0"/>
              <a:t>All</a:t>
            </a:r>
            <a:r>
              <a:rPr spc="-40" dirty="0"/>
              <a:t> </a:t>
            </a:r>
            <a:r>
              <a:rPr dirty="0"/>
              <a:t>Patterns</a:t>
            </a:r>
            <a:r>
              <a:rPr spc="-35" dirty="0"/>
              <a:t> </a:t>
            </a:r>
            <a:r>
              <a:rPr spc="-10" dirty="0"/>
              <a:t>Interesting?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731671"/>
            <a:ext cx="9048750" cy="506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b="1" spc="-40" dirty="0">
                <a:solidFill>
                  <a:srgbClr val="FF0000"/>
                </a:solidFill>
                <a:latin typeface="Cambria"/>
                <a:cs typeface="Cambria"/>
              </a:rPr>
              <a:t>Objective</a:t>
            </a:r>
            <a:r>
              <a:rPr sz="1800" b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measures</a:t>
            </a:r>
            <a:endParaRPr sz="1800">
              <a:latin typeface="Cambria"/>
              <a:cs typeface="Cambria"/>
            </a:endParaRPr>
          </a:p>
          <a:p>
            <a:pPr marL="696595" marR="437515" indent="-291465">
              <a:lnSpc>
                <a:spcPct val="128899"/>
              </a:lnSpc>
              <a:spcBef>
                <a:spcPts val="1125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0070C0"/>
                </a:solidFill>
                <a:latin typeface="Cambria"/>
                <a:cs typeface="Cambria"/>
              </a:rPr>
              <a:t>statistics</a:t>
            </a:r>
            <a:r>
              <a:rPr sz="1800" spc="-60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ambria"/>
                <a:cs typeface="Cambria"/>
              </a:rPr>
              <a:t>and</a:t>
            </a:r>
            <a:r>
              <a:rPr sz="1800" spc="-60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spc="-30" dirty="0">
                <a:solidFill>
                  <a:srgbClr val="0070C0"/>
                </a:solidFill>
                <a:latin typeface="Cambria"/>
                <a:cs typeface="Cambria"/>
              </a:rPr>
              <a:t>structures</a:t>
            </a:r>
            <a:r>
              <a:rPr sz="1800" spc="-60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70C0"/>
                </a:solidFill>
                <a:latin typeface="Cambria"/>
                <a:cs typeface="Cambria"/>
              </a:rPr>
              <a:t>of</a:t>
            </a:r>
            <a:r>
              <a:rPr sz="1800" spc="-4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0070C0"/>
                </a:solidFill>
                <a:latin typeface="Cambria"/>
                <a:cs typeface="Cambria"/>
              </a:rPr>
              <a:t>patterns</a:t>
            </a:r>
            <a:r>
              <a:rPr sz="1800" spc="-25" dirty="0">
                <a:latin typeface="Cambria"/>
                <a:cs typeface="Cambria"/>
              </a:rPr>
              <a:t>,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e.g.,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support,</a:t>
            </a:r>
            <a:r>
              <a:rPr sz="1800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confidence</a:t>
            </a:r>
            <a:r>
              <a:rPr sz="1800" spc="-30" dirty="0">
                <a:latin typeface="Cambria"/>
                <a:cs typeface="Cambria"/>
              </a:rPr>
              <a:t>,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etc.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(Rules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that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not </a:t>
            </a:r>
            <a:r>
              <a:rPr sz="1800" spc="-20" dirty="0">
                <a:latin typeface="Cambria"/>
                <a:cs typeface="Cambria"/>
              </a:rPr>
              <a:t>satisfy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threshold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are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considered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uninteresting.)</a:t>
            </a:r>
            <a:endParaRPr sz="1800">
              <a:latin typeface="Cambria"/>
              <a:cs typeface="Cambria"/>
            </a:endParaRPr>
          </a:p>
          <a:p>
            <a:pPr marL="405765" algn="just">
              <a:lnSpc>
                <a:spcPct val="100000"/>
              </a:lnSpc>
              <a:spcBef>
                <a:spcPts val="1755"/>
              </a:spcBef>
            </a:pPr>
            <a:r>
              <a:rPr sz="1200" spc="21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spc="25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i="1" spc="-25" dirty="0">
                <a:solidFill>
                  <a:srgbClr val="FF0000"/>
                </a:solidFill>
                <a:latin typeface="Cambria"/>
                <a:cs typeface="Cambria"/>
              </a:rPr>
              <a:t>accuracy</a:t>
            </a:r>
            <a:r>
              <a:rPr sz="18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35" dirty="0">
                <a:solidFill>
                  <a:srgbClr val="FF0000"/>
                </a:solidFill>
                <a:latin typeface="Cambria"/>
                <a:cs typeface="Cambria"/>
              </a:rPr>
              <a:t>coverage</a:t>
            </a:r>
            <a:r>
              <a:rPr sz="18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-</a:t>
            </a:r>
            <a:r>
              <a:rPr sz="1800" i="1" spc="-4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percentage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data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that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are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correctly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classified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by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rule.</a:t>
            </a:r>
            <a:endParaRPr sz="1800">
              <a:latin typeface="Cambria"/>
              <a:cs typeface="Cambria"/>
            </a:endParaRPr>
          </a:p>
          <a:p>
            <a:pPr marL="696595" marR="277495" algn="just">
              <a:lnSpc>
                <a:spcPts val="2710"/>
              </a:lnSpc>
              <a:spcBef>
                <a:spcPts val="160"/>
              </a:spcBef>
            </a:pPr>
            <a:r>
              <a:rPr sz="1800" spc="-35" dirty="0">
                <a:latin typeface="Cambria"/>
                <a:cs typeface="Cambria"/>
              </a:rPr>
              <a:t>Coverage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similar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support,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that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tells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percentage</a:t>
            </a:r>
            <a:r>
              <a:rPr sz="1800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8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"/>
                <a:cs typeface="Cambria"/>
              </a:rPr>
              <a:t>which</a:t>
            </a:r>
            <a:r>
              <a:rPr sz="18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800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rule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applies</a:t>
            </a:r>
            <a:endParaRPr sz="180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27200"/>
              </a:lnSpc>
              <a:spcBef>
                <a:spcPts val="985"/>
              </a:spcBef>
            </a:pPr>
            <a:r>
              <a:rPr sz="1200" spc="21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spc="19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Although</a:t>
            </a:r>
            <a:r>
              <a:rPr sz="1800" spc="13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objective</a:t>
            </a:r>
            <a:r>
              <a:rPr sz="1800" spc="14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measures</a:t>
            </a:r>
            <a:r>
              <a:rPr sz="1800" spc="14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help</a:t>
            </a:r>
            <a:r>
              <a:rPr sz="1800" spc="14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identify</a:t>
            </a:r>
            <a:r>
              <a:rPr sz="1800" spc="14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interesting</a:t>
            </a:r>
            <a:r>
              <a:rPr sz="1800" spc="14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patterns,</a:t>
            </a:r>
            <a:r>
              <a:rPr sz="1800" spc="14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they</a:t>
            </a:r>
            <a:r>
              <a:rPr sz="1800" spc="14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140" dirty="0">
                <a:latin typeface="Cambria"/>
                <a:cs typeface="Cambria"/>
              </a:rPr>
              <a:t>  </a:t>
            </a:r>
            <a:r>
              <a:rPr sz="1800" spc="-45" dirty="0">
                <a:latin typeface="Cambria"/>
                <a:cs typeface="Cambria"/>
              </a:rPr>
              <a:t>often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insufficient</a:t>
            </a:r>
            <a:r>
              <a:rPr sz="18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unless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combined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subjective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measures</a:t>
            </a:r>
            <a:r>
              <a:rPr sz="18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reflect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particular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user’s </a:t>
            </a:r>
            <a:r>
              <a:rPr sz="1800" spc="-20" dirty="0">
                <a:latin typeface="Cambria"/>
                <a:cs typeface="Cambria"/>
              </a:rPr>
              <a:t>needs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and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interests.</a:t>
            </a:r>
            <a:endParaRPr sz="1800">
              <a:latin typeface="Cambria"/>
              <a:cs typeface="Cambria"/>
            </a:endParaRPr>
          </a:p>
          <a:p>
            <a:pPr marL="696595" marR="6350" indent="-291465" algn="just">
              <a:lnSpc>
                <a:spcPct val="126699"/>
              </a:lnSpc>
              <a:spcBef>
                <a:spcPts val="1150"/>
              </a:spcBef>
            </a:pPr>
            <a:r>
              <a:rPr sz="1200" spc="21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example,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patterns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describing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"/>
                <a:cs typeface="Cambria"/>
              </a:rPr>
              <a:t>characteristics</a:t>
            </a:r>
            <a:r>
              <a:rPr sz="1800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customers</a:t>
            </a:r>
            <a:r>
              <a:rPr sz="1800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who shop</a:t>
            </a:r>
            <a:r>
              <a:rPr sz="1800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frequently </a:t>
            </a:r>
            <a:r>
              <a:rPr sz="1800" dirty="0">
                <a:latin typeface="Cambria"/>
                <a:cs typeface="Cambria"/>
              </a:rPr>
              <a:t>at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AllElectronics</a:t>
            </a:r>
            <a:r>
              <a:rPr sz="1800" i="1" spc="10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should</a:t>
            </a:r>
            <a:r>
              <a:rPr sz="18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18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interesting</a:t>
            </a:r>
            <a:r>
              <a:rPr sz="18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8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marketing</a:t>
            </a:r>
            <a:r>
              <a:rPr sz="18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manager</a:t>
            </a:r>
            <a:r>
              <a:rPr sz="1800" spc="-10" dirty="0">
                <a:latin typeface="Cambria"/>
                <a:cs typeface="Cambria"/>
              </a:rPr>
              <a:t>,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may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little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interest</a:t>
            </a:r>
            <a:r>
              <a:rPr sz="1800" spc="4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800" spc="4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other</a:t>
            </a:r>
            <a:r>
              <a:rPr sz="1800" spc="45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analysts</a:t>
            </a:r>
            <a:r>
              <a:rPr sz="1800" spc="4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studying</a:t>
            </a:r>
            <a:r>
              <a:rPr sz="1800" spc="4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4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same</a:t>
            </a:r>
            <a:r>
              <a:rPr sz="1800" spc="4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database</a:t>
            </a:r>
            <a:r>
              <a:rPr sz="1800" spc="4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455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patterns</a:t>
            </a:r>
            <a:r>
              <a:rPr sz="1800" spc="4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1800" spc="4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employee performance.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1271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Are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All</a:t>
            </a:r>
            <a:r>
              <a:rPr spc="-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Patterns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Interesting?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622063"/>
            <a:ext cx="9032240" cy="5125377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65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spc="-35" dirty="0">
                <a:solidFill>
                  <a:srgbClr val="FF0000"/>
                </a:solidFill>
                <a:latin typeface="Cambria"/>
                <a:cs typeface="Cambria"/>
              </a:rPr>
              <a:t>Subjective</a:t>
            </a:r>
            <a:r>
              <a:rPr sz="1800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measures</a:t>
            </a:r>
            <a:endParaRPr sz="180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550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latin typeface="Cambria"/>
                <a:cs typeface="Cambria"/>
              </a:rPr>
              <a:t>Reflect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0070C0"/>
                </a:solidFill>
                <a:latin typeface="Cambria"/>
                <a:cs typeface="Cambria"/>
              </a:rPr>
              <a:t>needs</a:t>
            </a:r>
            <a:r>
              <a:rPr sz="1800" spc="-5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70C0"/>
                </a:solidFill>
                <a:latin typeface="Cambria"/>
                <a:cs typeface="Cambria"/>
              </a:rPr>
              <a:t>and</a:t>
            </a:r>
            <a:r>
              <a:rPr sz="1800" spc="-60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spc="-30" dirty="0">
                <a:solidFill>
                  <a:srgbClr val="0070C0"/>
                </a:solidFill>
                <a:latin typeface="Cambria"/>
                <a:cs typeface="Cambria"/>
              </a:rPr>
              <a:t>interests</a:t>
            </a:r>
            <a:r>
              <a:rPr sz="1800" spc="-60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particular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user.</a:t>
            </a:r>
            <a:endParaRPr sz="1800" dirty="0">
              <a:latin typeface="Cambria"/>
              <a:cs typeface="Cambria"/>
            </a:endParaRPr>
          </a:p>
          <a:p>
            <a:pPr marL="993140" marR="5080" lvl="1" indent="-245745">
              <a:lnSpc>
                <a:spcPct val="124400"/>
              </a:lnSpc>
              <a:spcBef>
                <a:spcPts val="25"/>
              </a:spcBef>
              <a:buClr>
                <a:srgbClr val="DA1F28"/>
              </a:buClr>
              <a:buSzPct val="72222"/>
              <a:buFont typeface="Wingdings"/>
              <a:buChar char=""/>
              <a:tabLst>
                <a:tab pos="993140" algn="l"/>
              </a:tabLst>
            </a:pPr>
            <a:r>
              <a:rPr sz="1800" spc="-10" dirty="0">
                <a:latin typeface="Cambria"/>
                <a:cs typeface="Cambria"/>
              </a:rPr>
              <a:t>E.g.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marketing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manager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only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interested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characteristics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customers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who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shop </a:t>
            </a:r>
            <a:r>
              <a:rPr sz="1800" spc="-10" dirty="0">
                <a:latin typeface="Cambria"/>
                <a:cs typeface="Cambria"/>
              </a:rPr>
              <a:t>frequently.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459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20" dirty="0">
                <a:latin typeface="Cambria"/>
                <a:cs typeface="Cambria"/>
              </a:rPr>
              <a:t>Based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0070C0"/>
                </a:solidFill>
                <a:latin typeface="Cambria"/>
                <a:cs typeface="Cambria"/>
              </a:rPr>
              <a:t>user’s</a:t>
            </a:r>
            <a:r>
              <a:rPr sz="1800" spc="-6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0070C0"/>
                </a:solidFill>
                <a:latin typeface="Cambria"/>
                <a:cs typeface="Cambria"/>
              </a:rPr>
              <a:t>belief</a:t>
            </a:r>
            <a:r>
              <a:rPr sz="1800" spc="-5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data.</a:t>
            </a:r>
            <a:endParaRPr sz="1800" dirty="0">
              <a:latin typeface="Cambria"/>
              <a:cs typeface="Cambria"/>
            </a:endParaRPr>
          </a:p>
          <a:p>
            <a:pPr marL="993140" marR="535940" lvl="1" indent="-245745">
              <a:lnSpc>
                <a:spcPts val="2110"/>
              </a:lnSpc>
              <a:spcBef>
                <a:spcPts val="640"/>
              </a:spcBef>
              <a:buFont typeface="Wingdings"/>
              <a:buChar char=""/>
              <a:tabLst>
                <a:tab pos="993140" algn="l"/>
                <a:tab pos="1042669" algn="l"/>
              </a:tabLst>
            </a:pPr>
            <a:r>
              <a:rPr sz="1300" dirty="0">
                <a:solidFill>
                  <a:srgbClr val="DA1F28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ambria"/>
                <a:cs typeface="Cambria"/>
              </a:rPr>
              <a:t>e.g.,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Patterns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are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interesting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if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they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are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unexpected,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used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for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strategic </a:t>
            </a:r>
            <a:r>
              <a:rPr sz="1800" spc="-25" dirty="0">
                <a:latin typeface="Cambria"/>
                <a:cs typeface="Cambria"/>
              </a:rPr>
              <a:t>planning,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etc</a:t>
            </a:r>
            <a:endParaRPr sz="18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46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spc="-35" dirty="0">
                <a:latin typeface="Cambria"/>
                <a:cs typeface="Cambria"/>
              </a:rPr>
              <a:t>Objective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and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subjective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measures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need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combined.</a:t>
            </a:r>
            <a:endParaRPr sz="18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55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spc="-10" dirty="0">
                <a:latin typeface="Cambria"/>
                <a:cs typeface="Cambria"/>
              </a:rPr>
              <a:t>Find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0070C0"/>
                </a:solidFill>
                <a:latin typeface="Cambria"/>
                <a:cs typeface="Cambria"/>
              </a:rPr>
              <a:t>all</a:t>
            </a:r>
            <a:r>
              <a:rPr sz="1800" spc="-5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interesting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patterns: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ambria"/>
                <a:cs typeface="Cambria"/>
              </a:rPr>
              <a:t>Completeness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525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30" dirty="0">
                <a:latin typeface="Cambria"/>
                <a:cs typeface="Cambria"/>
              </a:rPr>
              <a:t>Unrealistic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and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inefficient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555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35" dirty="0">
                <a:latin typeface="Cambria"/>
                <a:cs typeface="Cambria"/>
              </a:rPr>
              <a:t>User-provided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constraints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and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interestingness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measures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should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used</a:t>
            </a:r>
            <a:endParaRPr sz="18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43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spc="-25" dirty="0">
                <a:latin typeface="Cambria"/>
                <a:cs typeface="Cambria"/>
              </a:rPr>
              <a:t>Search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for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0070C0"/>
                </a:solidFill>
                <a:latin typeface="Cambria"/>
                <a:cs typeface="Cambria"/>
              </a:rPr>
              <a:t>only</a:t>
            </a:r>
            <a:r>
              <a:rPr sz="1800" spc="-4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interesting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patterns: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optimization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problem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550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30" dirty="0">
                <a:latin typeface="Cambria"/>
                <a:cs typeface="Cambria"/>
              </a:rPr>
              <a:t>Highly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desirable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530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dirty="0">
                <a:latin typeface="Cambria"/>
                <a:cs typeface="Cambria"/>
              </a:rPr>
              <a:t>No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need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search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through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generated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patterns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identify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truly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interesting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ones.</a:t>
            </a:r>
            <a:endParaRPr sz="18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550"/>
              </a:spcBef>
              <a:tabLst>
                <a:tab pos="696595" algn="l"/>
              </a:tabLst>
            </a:pPr>
            <a:r>
              <a:rPr sz="1200" spc="16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800" spc="-30" dirty="0">
                <a:latin typeface="Cambria"/>
                <a:cs typeface="Cambria"/>
              </a:rPr>
              <a:t>Measures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used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rank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discovered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patterns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according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their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interestingness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1271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Are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All</a:t>
            </a:r>
            <a:r>
              <a:rPr spc="-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Patterns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Interesting?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8488" y="465177"/>
            <a:ext cx="38227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6889" algn="l"/>
              </a:tabLst>
            </a:pPr>
            <a:r>
              <a:rPr dirty="0">
                <a:solidFill>
                  <a:srgbClr val="FF0000"/>
                </a:solidFill>
              </a:rPr>
              <a:t>Chapter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1.</a:t>
            </a:r>
            <a:r>
              <a:rPr dirty="0">
                <a:solidFill>
                  <a:srgbClr val="FF0000"/>
                </a:solidFill>
              </a:rPr>
              <a:t>	</a:t>
            </a:r>
            <a:r>
              <a:rPr spc="-1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Mining?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dirty="0"/>
              <a:t>Data</a:t>
            </a:r>
            <a:r>
              <a:rPr spc="55" dirty="0"/>
              <a:t> </a:t>
            </a:r>
            <a:r>
              <a:rPr spc="-10" dirty="0"/>
              <a:t>Mining?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A</a:t>
            </a:r>
            <a:r>
              <a:rPr spc="85" dirty="0"/>
              <a:t> </a:t>
            </a:r>
            <a:r>
              <a:rPr dirty="0"/>
              <a:t>Multi-Dimensional</a:t>
            </a:r>
            <a:r>
              <a:rPr spc="70" dirty="0"/>
              <a:t> </a:t>
            </a:r>
            <a:r>
              <a:rPr dirty="0"/>
              <a:t>View</a:t>
            </a:r>
            <a:r>
              <a:rPr spc="9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Data</a:t>
            </a:r>
            <a:r>
              <a:rPr spc="75" dirty="0"/>
              <a:t> </a:t>
            </a:r>
            <a:r>
              <a:rPr spc="-10" dirty="0"/>
              <a:t>Mining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spcBef>
                <a:spcPts val="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45" dirty="0"/>
              <a:t> </a:t>
            </a:r>
            <a:r>
              <a:rPr dirty="0"/>
              <a:t>Kind</a:t>
            </a:r>
            <a:r>
              <a:rPr spc="6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dirty="0"/>
              <a:t>Can</a:t>
            </a:r>
            <a:r>
              <a:rPr spc="50" dirty="0"/>
              <a:t> </a:t>
            </a:r>
            <a:r>
              <a:rPr dirty="0"/>
              <a:t>Be</a:t>
            </a:r>
            <a:r>
              <a:rPr spc="50" dirty="0"/>
              <a:t> </a:t>
            </a:r>
            <a:r>
              <a:rPr spc="-10" dirty="0"/>
              <a:t>Mined?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Kinds</a:t>
            </a:r>
            <a:r>
              <a:rPr spc="5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dirty="0"/>
              <a:t>Patterns</a:t>
            </a:r>
            <a:r>
              <a:rPr spc="55" dirty="0"/>
              <a:t> </a:t>
            </a:r>
            <a:r>
              <a:rPr dirty="0"/>
              <a:t>Can</a:t>
            </a:r>
            <a:r>
              <a:rPr spc="55" dirty="0"/>
              <a:t> </a:t>
            </a:r>
            <a:r>
              <a:rPr dirty="0"/>
              <a:t>Be</a:t>
            </a:r>
            <a:r>
              <a:rPr spc="55" dirty="0"/>
              <a:t> </a:t>
            </a:r>
            <a:r>
              <a:rPr spc="-10" dirty="0"/>
              <a:t>Mined?</a:t>
            </a: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Which</a:t>
            </a:r>
            <a:r>
              <a:rPr spc="30" dirty="0"/>
              <a:t> </a:t>
            </a:r>
            <a:r>
              <a:rPr dirty="0"/>
              <a:t>Technologies</a:t>
            </a:r>
            <a:r>
              <a:rPr spc="35" dirty="0"/>
              <a:t> </a:t>
            </a:r>
            <a:r>
              <a:rPr dirty="0"/>
              <a:t>Are</a:t>
            </a:r>
            <a:r>
              <a:rPr spc="35" dirty="0"/>
              <a:t> </a:t>
            </a:r>
            <a:r>
              <a:rPr spc="-20" dirty="0"/>
              <a:t>Used?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Wingdings"/>
              <a:buChar char=""/>
            </a:pPr>
            <a:endParaRPr spc="-2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Which</a:t>
            </a:r>
            <a:r>
              <a:rPr spc="65" dirty="0"/>
              <a:t> </a:t>
            </a:r>
            <a:r>
              <a:rPr dirty="0"/>
              <a:t>Kinds</a:t>
            </a:r>
            <a:r>
              <a:rPr spc="70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Applications</a:t>
            </a:r>
            <a:r>
              <a:rPr spc="65" dirty="0"/>
              <a:t> </a:t>
            </a:r>
            <a:r>
              <a:rPr dirty="0"/>
              <a:t>Are</a:t>
            </a:r>
            <a:r>
              <a:rPr spc="70" dirty="0"/>
              <a:t> </a:t>
            </a:r>
            <a:r>
              <a:rPr spc="-10" dirty="0"/>
              <a:t>Targeted?</a:t>
            </a: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Major</a:t>
            </a:r>
            <a:r>
              <a:rPr spc="70" dirty="0"/>
              <a:t> </a:t>
            </a:r>
            <a:r>
              <a:rPr dirty="0"/>
              <a:t>Issues</a:t>
            </a:r>
            <a:r>
              <a:rPr spc="80" dirty="0"/>
              <a:t> </a:t>
            </a:r>
            <a:r>
              <a:rPr dirty="0"/>
              <a:t>in</a:t>
            </a:r>
            <a:r>
              <a:rPr spc="75" dirty="0"/>
              <a:t> </a:t>
            </a:r>
            <a:r>
              <a:rPr dirty="0"/>
              <a:t>Data</a:t>
            </a:r>
            <a:r>
              <a:rPr spc="75" dirty="0"/>
              <a:t> </a:t>
            </a:r>
            <a:r>
              <a:rPr spc="-10" dirty="0"/>
              <a:t>Mining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pc="-10" dirty="0"/>
              <a:t>Summary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514256" y="4557764"/>
            <a:ext cx="403860" cy="382270"/>
            <a:chOff x="4514256" y="4557764"/>
            <a:chExt cx="403860" cy="382270"/>
          </a:xfrm>
        </p:grpSpPr>
        <p:sp>
          <p:nvSpPr>
            <p:cNvPr id="6" name="object 6"/>
            <p:cNvSpPr/>
            <p:nvPr/>
          </p:nvSpPr>
          <p:spPr>
            <a:xfrm>
              <a:off x="4520608" y="4597465"/>
              <a:ext cx="337185" cy="335915"/>
            </a:xfrm>
            <a:custGeom>
              <a:avLst/>
              <a:gdLst/>
              <a:ahLst/>
              <a:cxnLst/>
              <a:rect l="l" t="t" r="r" b="b"/>
              <a:pathLst>
                <a:path w="337185" h="335914">
                  <a:moveTo>
                    <a:pt x="251353" y="0"/>
                  </a:moveTo>
                  <a:lnTo>
                    <a:pt x="44447" y="126732"/>
                  </a:lnTo>
                  <a:lnTo>
                    <a:pt x="1777" y="57006"/>
                  </a:lnTo>
                  <a:lnTo>
                    <a:pt x="0" y="249816"/>
                  </a:lnTo>
                  <a:lnTo>
                    <a:pt x="172457" y="335906"/>
                  </a:lnTo>
                  <a:lnTo>
                    <a:pt x="129787" y="266180"/>
                  </a:lnTo>
                  <a:lnTo>
                    <a:pt x="336692" y="139449"/>
                  </a:lnTo>
                  <a:lnTo>
                    <a:pt x="251353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2850" y="4564115"/>
              <a:ext cx="128898" cy="16612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20607" y="4597465"/>
              <a:ext cx="337185" cy="335915"/>
            </a:xfrm>
            <a:custGeom>
              <a:avLst/>
              <a:gdLst/>
              <a:ahLst/>
              <a:cxnLst/>
              <a:rect l="l" t="t" r="r" b="b"/>
              <a:pathLst>
                <a:path w="337185" h="335914">
                  <a:moveTo>
                    <a:pt x="172457" y="335905"/>
                  </a:moveTo>
                  <a:lnTo>
                    <a:pt x="129787" y="266180"/>
                  </a:lnTo>
                  <a:lnTo>
                    <a:pt x="336692" y="139449"/>
                  </a:lnTo>
                  <a:lnTo>
                    <a:pt x="251352" y="0"/>
                  </a:lnTo>
                  <a:lnTo>
                    <a:pt x="44447" y="126731"/>
                  </a:lnTo>
                  <a:lnTo>
                    <a:pt x="1778" y="57006"/>
                  </a:lnTo>
                  <a:lnTo>
                    <a:pt x="0" y="249816"/>
                  </a:lnTo>
                  <a:lnTo>
                    <a:pt x="172457" y="335905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6499" y="4557764"/>
              <a:ext cx="141600" cy="1788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706774"/>
            <a:ext cx="904113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 marR="5080" indent="-340360">
              <a:lnSpc>
                <a:spcPct val="101099"/>
              </a:lnSpc>
              <a:spcBef>
                <a:spcPts val="7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  <a:tab pos="762000" algn="l"/>
                <a:tab pos="1031240" algn="l"/>
                <a:tab pos="1826895" algn="l"/>
                <a:tab pos="3917315" algn="l"/>
                <a:tab pos="4916805" algn="l"/>
                <a:tab pos="5527040" algn="l"/>
                <a:tab pos="6414135" algn="l"/>
                <a:tab pos="6925309" algn="l"/>
                <a:tab pos="8448040" algn="l"/>
              </a:tabLst>
            </a:pPr>
            <a:r>
              <a:rPr sz="1900" spc="-25" dirty="0">
                <a:latin typeface="Cambria"/>
                <a:cs typeface="Cambria"/>
              </a:rPr>
              <a:t>As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50" dirty="0">
                <a:latin typeface="Cambria"/>
                <a:cs typeface="Cambria"/>
              </a:rPr>
              <a:t>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highly</a:t>
            </a:r>
            <a:r>
              <a:rPr sz="1900" dirty="0">
                <a:latin typeface="Cambria"/>
                <a:cs typeface="Cambria"/>
              </a:rPr>
              <a:t>	application-</a:t>
            </a:r>
            <a:r>
              <a:rPr sz="1900" spc="-10" dirty="0">
                <a:latin typeface="Cambria"/>
                <a:cs typeface="Cambria"/>
              </a:rPr>
              <a:t>driven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domain,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0" dirty="0">
                <a:latin typeface="Cambria"/>
                <a:cs typeface="Cambria"/>
              </a:rPr>
              <a:t>data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mining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5" dirty="0">
                <a:latin typeface="Cambria"/>
                <a:cs typeface="Cambria"/>
              </a:rPr>
              <a:t>has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incorporated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0" dirty="0">
                <a:latin typeface="Cambria"/>
                <a:cs typeface="Cambria"/>
              </a:rPr>
              <a:t>many </a:t>
            </a:r>
            <a:r>
              <a:rPr sz="1900" dirty="0">
                <a:latin typeface="Cambria"/>
                <a:cs typeface="Cambria"/>
              </a:rPr>
              <a:t>techniques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from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other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domains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such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as: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042" y="2289068"/>
            <a:ext cx="4326492" cy="3139321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  <a:tabLst>
                <a:tab pos="303530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lang="en-IN" sz="1900" spc="-10" dirty="0">
                <a:latin typeface="Cambria"/>
                <a:cs typeface="Cambria"/>
              </a:rPr>
              <a:t> statistics </a:t>
            </a:r>
          </a:p>
          <a:p>
            <a:pPr marL="12700">
              <a:spcBef>
                <a:spcPts val="1225"/>
              </a:spcBef>
              <a:tabLst>
                <a:tab pos="303530" algn="l"/>
              </a:tabLst>
            </a:pPr>
            <a:r>
              <a:rPr lang="en-IN"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lang="en-IN"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lang="en-IN" sz="1900" dirty="0">
                <a:latin typeface="Cambria"/>
                <a:cs typeface="Cambria"/>
              </a:rPr>
              <a:t>machine</a:t>
            </a:r>
            <a:r>
              <a:rPr lang="en-IN" sz="1900" spc="125" dirty="0">
                <a:latin typeface="Cambria"/>
                <a:cs typeface="Cambria"/>
              </a:rPr>
              <a:t> </a:t>
            </a:r>
            <a:r>
              <a:rPr lang="en-IN" sz="1900" spc="-10" dirty="0">
                <a:latin typeface="Cambria"/>
                <a:cs typeface="Cambria"/>
              </a:rPr>
              <a:t>learning</a:t>
            </a:r>
            <a:endParaRPr sz="19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303530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pattern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recognition</a:t>
            </a:r>
            <a:endParaRPr sz="19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  <a:tabLst>
                <a:tab pos="303530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database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warehouse</a:t>
            </a:r>
            <a:endParaRPr sz="19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  <a:tabLst>
                <a:tab pos="303530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information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retrieval</a:t>
            </a:r>
            <a:endParaRPr sz="19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  <a:tabLst>
                <a:tab pos="303530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latin typeface="Cambria"/>
                <a:cs typeface="Cambria"/>
              </a:rPr>
              <a:t>Visualization</a:t>
            </a:r>
            <a:endParaRPr sz="19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  <a:tabLst>
                <a:tab pos="303530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latin typeface="Cambria"/>
                <a:cs typeface="Cambria"/>
              </a:rPr>
              <a:t>Algorithms</a:t>
            </a:r>
            <a:endParaRPr sz="19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854" y="5409724"/>
            <a:ext cx="9041765" cy="122047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320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lang="en-IN" sz="1400" dirty="0">
                <a:solidFill>
                  <a:srgbClr val="2DA2BF"/>
                </a:solidFill>
                <a:latin typeface="Arial MT"/>
                <a:cs typeface="Arial MT"/>
              </a:rPr>
              <a:t>         </a:t>
            </a:r>
            <a:r>
              <a:rPr sz="1900" dirty="0">
                <a:latin typeface="Cambria"/>
                <a:cs typeface="Cambria"/>
              </a:rPr>
              <a:t>high-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performance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computing,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many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application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domains</a:t>
            </a:r>
            <a:endParaRPr sz="1900" dirty="0">
              <a:latin typeface="Cambria"/>
              <a:cs typeface="Cambria"/>
            </a:endParaRPr>
          </a:p>
          <a:p>
            <a:pPr marL="352425" marR="5080" indent="-340360">
              <a:lnSpc>
                <a:spcPct val="105300"/>
              </a:lnSpc>
              <a:spcBef>
                <a:spcPts val="110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The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interdisciplinary</a:t>
            </a:r>
            <a:r>
              <a:rPr sz="19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nature</a:t>
            </a:r>
            <a:r>
              <a:rPr sz="19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research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development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contributes </a:t>
            </a:r>
            <a:r>
              <a:rPr sz="1900" dirty="0">
                <a:latin typeface="Cambria"/>
                <a:cs typeface="Cambria"/>
              </a:rPr>
              <a:t>significantly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success</a:t>
            </a:r>
            <a:r>
              <a:rPr sz="19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9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its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extensive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applications</a:t>
            </a:r>
            <a:r>
              <a:rPr sz="1900" spc="-10" dirty="0">
                <a:latin typeface="Cambria"/>
                <a:cs typeface="Cambria"/>
              </a:rPr>
              <a:t>.</a:t>
            </a:r>
            <a:endParaRPr sz="19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671830">
              <a:lnSpc>
                <a:spcPct val="100000"/>
              </a:lnSpc>
              <a:spcBef>
                <a:spcPts val="100"/>
              </a:spcBef>
            </a:pPr>
            <a:r>
              <a:rPr dirty="0"/>
              <a:t>1.5</a:t>
            </a:r>
            <a:r>
              <a:rPr spc="-35" dirty="0"/>
              <a:t> </a:t>
            </a:r>
            <a:r>
              <a:rPr dirty="0"/>
              <a:t>Which</a:t>
            </a:r>
            <a:r>
              <a:rPr spc="-30" dirty="0"/>
              <a:t> </a:t>
            </a:r>
            <a:r>
              <a:rPr spc="-10" dirty="0"/>
              <a:t>Technologies</a:t>
            </a:r>
            <a:r>
              <a:rPr spc="-30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spc="-10" dirty="0"/>
              <a:t>Used?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154" y="2365346"/>
            <a:ext cx="5330160" cy="313270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22022" y="3877496"/>
            <a:ext cx="8483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sz="12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mbria"/>
                <a:cs typeface="Cambria"/>
              </a:rPr>
              <a:t>Mining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85555" y="2487608"/>
            <a:ext cx="637540" cy="3854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16510">
              <a:lnSpc>
                <a:spcPts val="1390"/>
              </a:lnSpc>
              <a:spcBef>
                <a:spcPts val="185"/>
              </a:spcBef>
            </a:pPr>
            <a:r>
              <a:rPr sz="1200" b="1" spc="-10" dirty="0">
                <a:solidFill>
                  <a:srgbClr val="FFFFFF"/>
                </a:solidFill>
                <a:latin typeface="Cambria"/>
                <a:cs typeface="Cambria"/>
              </a:rPr>
              <a:t>Machine </a:t>
            </a:r>
            <a:r>
              <a:rPr sz="1200" b="1" spc="-25" dirty="0">
                <a:solidFill>
                  <a:srgbClr val="FFFFFF"/>
                </a:solidFill>
                <a:latin typeface="Cambria"/>
                <a:cs typeface="Cambria"/>
              </a:rPr>
              <a:t>Learning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74308" y="2548568"/>
            <a:ext cx="6419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mbria"/>
                <a:cs typeface="Cambria"/>
              </a:rPr>
              <a:t>Statistics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7623" y="3847016"/>
            <a:ext cx="88391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mbria"/>
                <a:cs typeface="Cambria"/>
              </a:rPr>
              <a:t>Applications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11524" y="4947344"/>
            <a:ext cx="7232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01618" y="2487608"/>
            <a:ext cx="844550" cy="3854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153670">
              <a:lnSpc>
                <a:spcPts val="1390"/>
              </a:lnSpc>
              <a:spcBef>
                <a:spcPts val="185"/>
              </a:spcBef>
            </a:pPr>
            <a:r>
              <a:rPr sz="1200" b="1" spc="-10" dirty="0">
                <a:solidFill>
                  <a:srgbClr val="FFFFFF"/>
                </a:solidFill>
                <a:latin typeface="Cambria"/>
                <a:cs typeface="Cambria"/>
              </a:rPr>
              <a:t>Pattern </a:t>
            </a:r>
            <a:r>
              <a:rPr sz="1200" b="1" spc="-30" dirty="0">
                <a:solidFill>
                  <a:srgbClr val="FFFFFF"/>
                </a:solidFill>
                <a:latin typeface="Cambria"/>
                <a:cs typeface="Cambria"/>
              </a:rPr>
              <a:t>Recognition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35653" y="4987482"/>
            <a:ext cx="1183640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48920" marR="5080" indent="-236854">
              <a:lnSpc>
                <a:spcPts val="1300"/>
              </a:lnSpc>
              <a:spcBef>
                <a:spcPts val="160"/>
              </a:spcBef>
            </a:pP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High-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Performance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Computing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05619" y="3801296"/>
            <a:ext cx="9194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mbria"/>
                <a:cs typeface="Cambria"/>
              </a:rPr>
              <a:t>Visualization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0240" y="4913816"/>
            <a:ext cx="807085" cy="3886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57785">
              <a:lnSpc>
                <a:spcPts val="1420"/>
              </a:lnSpc>
              <a:spcBef>
                <a:spcPts val="165"/>
              </a:spcBef>
            </a:pPr>
            <a:r>
              <a:rPr sz="1200" b="1" spc="-10" dirty="0">
                <a:solidFill>
                  <a:srgbClr val="FFFFFF"/>
                </a:solidFill>
                <a:latin typeface="Cambria"/>
                <a:cs typeface="Cambria"/>
              </a:rPr>
              <a:t>Database </a:t>
            </a:r>
            <a:r>
              <a:rPr sz="1200" b="1" spc="-35" dirty="0">
                <a:solidFill>
                  <a:srgbClr val="FFFFFF"/>
                </a:solidFill>
                <a:latin typeface="Cambria"/>
                <a:cs typeface="Cambria"/>
              </a:rPr>
              <a:t>Technology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706774"/>
            <a:ext cx="9046845" cy="46983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 marR="5080" indent="-340360" algn="just">
              <a:lnSpc>
                <a:spcPct val="101099"/>
              </a:lnSpc>
              <a:spcBef>
                <a:spcPts val="7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lang="en-IN" sz="1900" dirty="0">
                <a:latin typeface="Cambria"/>
                <a:cs typeface="Cambria"/>
              </a:rPr>
              <a:t>Statistics - </a:t>
            </a:r>
            <a:r>
              <a:rPr sz="1900" dirty="0">
                <a:latin typeface="Cambria"/>
                <a:cs typeface="Cambria"/>
              </a:rPr>
              <a:t>studies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collection,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analysis,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interpretation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or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explanation,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25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presentation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of </a:t>
            </a:r>
            <a:r>
              <a:rPr sz="1900" spc="-10" dirty="0">
                <a:latin typeface="Cambria"/>
                <a:cs typeface="Cambria"/>
              </a:rPr>
              <a:t>data.</a:t>
            </a:r>
            <a:endParaRPr sz="1900" dirty="0">
              <a:latin typeface="Cambria"/>
              <a:cs typeface="Cambria"/>
            </a:endParaRPr>
          </a:p>
          <a:p>
            <a:pPr marL="352425" marR="8255" indent="-340360" algn="just">
              <a:lnSpc>
                <a:spcPct val="103200"/>
              </a:lnSpc>
              <a:spcBef>
                <a:spcPts val="184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A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b="1" dirty="0">
                <a:solidFill>
                  <a:srgbClr val="FF0000"/>
                </a:solidFill>
                <a:latin typeface="Cambria"/>
                <a:cs typeface="Cambria"/>
              </a:rPr>
              <a:t>statistical</a:t>
            </a:r>
            <a:r>
              <a:rPr sz="1900" b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b="1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1900" b="1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is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set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mathematical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functions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that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describe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behaviour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2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objects</a:t>
            </a:r>
            <a:r>
              <a:rPr sz="1900" spc="2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target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class</a:t>
            </a:r>
            <a:r>
              <a:rPr sz="1900" spc="2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terms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random</a:t>
            </a:r>
            <a:r>
              <a:rPr sz="19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variables</a:t>
            </a:r>
            <a:r>
              <a:rPr sz="190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25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their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associated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probability</a:t>
            </a:r>
            <a:r>
              <a:rPr sz="19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distributions</a:t>
            </a:r>
            <a:r>
              <a:rPr sz="1900" spc="-10" dirty="0">
                <a:latin typeface="Cambria"/>
                <a:cs typeface="Cambria"/>
              </a:rPr>
              <a:t>.</a:t>
            </a:r>
            <a:endParaRPr sz="19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Statistical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models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are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widely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used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19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9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classes</a:t>
            </a:r>
            <a:r>
              <a:rPr sz="1900" spc="-10" dirty="0">
                <a:latin typeface="Cambria"/>
                <a:cs typeface="Cambria"/>
              </a:rPr>
              <a:t>.</a:t>
            </a:r>
            <a:endParaRPr sz="1900" dirty="0">
              <a:latin typeface="Cambria"/>
              <a:cs typeface="Cambria"/>
            </a:endParaRPr>
          </a:p>
          <a:p>
            <a:pPr marL="352425" marR="6350" indent="-340360" algn="just">
              <a:lnSpc>
                <a:spcPct val="100499"/>
              </a:lnSpc>
              <a:spcBef>
                <a:spcPts val="121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For</a:t>
            </a:r>
            <a:r>
              <a:rPr sz="1900" spc="4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example,</a:t>
            </a:r>
            <a:r>
              <a:rPr sz="1900" spc="459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4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4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4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tasks</a:t>
            </a:r>
            <a:r>
              <a:rPr sz="1900" spc="4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like</a:t>
            </a:r>
            <a:r>
              <a:rPr sz="1900" spc="4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4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characterization</a:t>
            </a:r>
            <a:r>
              <a:rPr sz="1900" spc="4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47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classification, </a:t>
            </a:r>
            <a:r>
              <a:rPr sz="1900" dirty="0">
                <a:latin typeface="Cambria"/>
                <a:cs typeface="Cambria"/>
              </a:rPr>
              <a:t>statistical</a:t>
            </a:r>
            <a:r>
              <a:rPr sz="1900" spc="3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models</a:t>
            </a:r>
            <a:r>
              <a:rPr sz="1900" spc="4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3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target</a:t>
            </a:r>
            <a:r>
              <a:rPr sz="1900" spc="3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classes</a:t>
            </a:r>
            <a:r>
              <a:rPr sz="1900" spc="409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can</a:t>
            </a:r>
            <a:r>
              <a:rPr sz="1900" spc="409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4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built.</a:t>
            </a:r>
            <a:r>
              <a:rPr sz="1900" spc="3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4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other</a:t>
            </a:r>
            <a:r>
              <a:rPr sz="1900" spc="4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words,</a:t>
            </a:r>
            <a:r>
              <a:rPr sz="1900" spc="3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such</a:t>
            </a:r>
            <a:r>
              <a:rPr sz="1900" spc="409" dirty="0"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statistical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can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outcome</a:t>
            </a: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9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task</a:t>
            </a:r>
            <a:r>
              <a:rPr sz="1900" spc="-10" dirty="0">
                <a:latin typeface="Cambria"/>
                <a:cs typeface="Cambria"/>
              </a:rPr>
              <a:t>.</a:t>
            </a:r>
            <a:endParaRPr sz="19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22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spc="-10" dirty="0">
                <a:latin typeface="Cambria"/>
                <a:cs typeface="Cambria"/>
              </a:rPr>
              <a:t>Alternatively,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tasks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can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built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on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top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statistical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models.</a:t>
            </a:r>
            <a:endParaRPr sz="1900" dirty="0">
              <a:latin typeface="Cambria"/>
              <a:cs typeface="Cambria"/>
            </a:endParaRPr>
          </a:p>
          <a:p>
            <a:pPr marL="352425" marR="8255" indent="-340360" algn="just">
              <a:lnSpc>
                <a:spcPct val="103200"/>
              </a:lnSpc>
              <a:spcBef>
                <a:spcPts val="115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For</a:t>
            </a:r>
            <a:r>
              <a:rPr sz="1900" spc="2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example,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we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can</a:t>
            </a:r>
            <a:r>
              <a:rPr sz="1900" spc="2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use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statistics</a:t>
            </a:r>
            <a:r>
              <a:rPr sz="1900" spc="2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250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1900" spc="22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noise</a:t>
            </a:r>
            <a:r>
              <a:rPr sz="19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9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missing</a:t>
            </a:r>
            <a:r>
              <a:rPr sz="190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values</a:t>
            </a:r>
            <a:r>
              <a:rPr sz="1900" dirty="0">
                <a:latin typeface="Cambria"/>
                <a:cs typeface="Cambria"/>
              </a:rPr>
              <a:t>.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Then, </a:t>
            </a:r>
            <a:r>
              <a:rPr sz="1900" dirty="0">
                <a:latin typeface="Cambria"/>
                <a:cs typeface="Cambria"/>
              </a:rPr>
              <a:t>when</a:t>
            </a:r>
            <a:r>
              <a:rPr sz="1900" spc="4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409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patterns</a:t>
            </a:r>
            <a:r>
              <a:rPr sz="1900" spc="4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4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</a:t>
            </a:r>
            <a:r>
              <a:rPr sz="1900" spc="405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large</a:t>
            </a:r>
            <a:r>
              <a:rPr sz="1900" spc="4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spc="4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set</a:t>
            </a:r>
            <a:r>
              <a:rPr sz="1900" dirty="0">
                <a:latin typeface="Cambria"/>
                <a:cs typeface="Cambria"/>
              </a:rPr>
              <a:t>,</a:t>
            </a:r>
            <a:r>
              <a:rPr sz="1900" spc="3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405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spc="4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900" spc="40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process</a:t>
            </a:r>
            <a:r>
              <a:rPr sz="1900" spc="400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sz="1900" spc="4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use</a:t>
            </a:r>
            <a:r>
              <a:rPr sz="1900" spc="4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1900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help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identify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handle</a:t>
            </a:r>
            <a:r>
              <a:rPr sz="19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noisy</a:t>
            </a: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missing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values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data.</a:t>
            </a:r>
            <a:endParaRPr sz="19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2223770">
              <a:lnSpc>
                <a:spcPct val="100000"/>
              </a:lnSpc>
              <a:spcBef>
                <a:spcPts val="100"/>
              </a:spcBef>
            </a:pPr>
            <a:r>
              <a:rPr dirty="0"/>
              <a:t>1.5.1</a:t>
            </a:r>
            <a:r>
              <a:rPr spc="35" dirty="0"/>
              <a:t> </a:t>
            </a:r>
            <a:r>
              <a:rPr spc="-10" dirty="0"/>
              <a:t>Statistics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523" y="1706774"/>
            <a:ext cx="9043035" cy="433618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 marR="5080" indent="-340360">
              <a:lnSpc>
                <a:spcPct val="101099"/>
              </a:lnSpc>
              <a:spcBef>
                <a:spcPts val="7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  <a:tab pos="1406525" algn="l"/>
                <a:tab pos="2441575" algn="l"/>
                <a:tab pos="3850004" algn="l"/>
                <a:tab pos="4468495" algn="l"/>
                <a:tab pos="5759450" algn="l"/>
                <a:tab pos="6287770" algn="l"/>
                <a:tab pos="6995159" algn="l"/>
                <a:tab pos="7483475" algn="l"/>
                <a:tab pos="8522335" algn="l"/>
              </a:tabLst>
            </a:pPr>
            <a:r>
              <a:rPr sz="1900" spc="-10" dirty="0">
                <a:latin typeface="Cambria"/>
                <a:cs typeface="Cambria"/>
              </a:rPr>
              <a:t>Machine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learning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investigates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5" dirty="0">
                <a:latin typeface="Cambria"/>
                <a:cs typeface="Cambria"/>
              </a:rPr>
              <a:t>how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computers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5" dirty="0">
                <a:latin typeface="Cambria"/>
                <a:cs typeface="Cambria"/>
              </a:rPr>
              <a:t>can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learn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5" dirty="0">
                <a:latin typeface="Cambria"/>
                <a:cs typeface="Cambria"/>
              </a:rPr>
              <a:t>(or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improve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their </a:t>
            </a:r>
            <a:r>
              <a:rPr sz="1900" dirty="0">
                <a:latin typeface="Cambria"/>
                <a:cs typeface="Cambria"/>
              </a:rPr>
              <a:t>performance)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based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on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data.</a:t>
            </a:r>
            <a:endParaRPr sz="19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92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classic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problems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machine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learning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that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are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highly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related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mining.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920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Supervised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learning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-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Classification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920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Unsupervised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learning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-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Clustering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82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Semi-supervised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learning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-</a:t>
            </a:r>
            <a:r>
              <a:rPr sz="1900" spc="75" dirty="0">
                <a:latin typeface="Cambria"/>
                <a:cs typeface="Cambria"/>
              </a:rPr>
              <a:t>  </a:t>
            </a:r>
            <a:r>
              <a:rPr sz="1900" spc="-20" dirty="0">
                <a:latin typeface="Cambria"/>
                <a:cs typeface="Cambria"/>
              </a:rPr>
              <a:t>both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920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Active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learning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-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users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learning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process</a:t>
            </a:r>
            <a:endParaRPr lang="en-IN" sz="1900" spc="-10" dirty="0">
              <a:latin typeface="Cambria"/>
              <a:cs typeface="Cambria"/>
            </a:endParaRPr>
          </a:p>
          <a:p>
            <a:pPr marL="405765">
              <a:lnSpc>
                <a:spcPts val="800"/>
              </a:lnSpc>
              <a:spcBef>
                <a:spcPts val="1920"/>
              </a:spcBef>
              <a:tabLst>
                <a:tab pos="696595" algn="l"/>
              </a:tabLst>
            </a:pPr>
            <a:r>
              <a:rPr lang="en-IN" sz="1900" dirty="0">
                <a:latin typeface="Cambria"/>
              </a:rPr>
              <a:t>(</a:t>
            </a:r>
            <a:r>
              <a:rPr lang="en-US" sz="1900" dirty="0">
                <a:latin typeface="Cambria"/>
              </a:rPr>
              <a:t>Learns from a small initial labeled dataset </a:t>
            </a:r>
          </a:p>
          <a:p>
            <a:pPr marL="405765">
              <a:lnSpc>
                <a:spcPts val="800"/>
              </a:lnSpc>
              <a:spcBef>
                <a:spcPts val="1920"/>
              </a:spcBef>
              <a:tabLst>
                <a:tab pos="696595" algn="l"/>
              </a:tabLst>
            </a:pPr>
            <a:r>
              <a:rPr lang="en-US" sz="1900" dirty="0">
                <a:latin typeface="Cambria"/>
              </a:rPr>
              <a:t>and actively selects additional data points to </a:t>
            </a:r>
          </a:p>
          <a:p>
            <a:pPr marL="405765">
              <a:lnSpc>
                <a:spcPts val="800"/>
              </a:lnSpc>
              <a:spcBef>
                <a:spcPts val="1920"/>
              </a:spcBef>
              <a:tabLst>
                <a:tab pos="696595" algn="l"/>
              </a:tabLst>
            </a:pPr>
            <a:r>
              <a:rPr lang="en-US" sz="1900" dirty="0">
                <a:latin typeface="Cambria"/>
              </a:rPr>
              <a:t>be labeled by querying an oracle.)</a:t>
            </a:r>
            <a:endParaRPr sz="1900" dirty="0">
              <a:latin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40143" y="47601"/>
            <a:ext cx="7358964" cy="849976"/>
          </a:xfrm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520825">
              <a:lnSpc>
                <a:spcPct val="100000"/>
              </a:lnSpc>
              <a:spcBef>
                <a:spcPts val="100"/>
              </a:spcBef>
            </a:pPr>
            <a:r>
              <a:rPr dirty="0"/>
              <a:t>1.5.</a:t>
            </a:r>
            <a:r>
              <a:rPr lang="en-IN" dirty="0"/>
              <a:t>2</a:t>
            </a:r>
            <a:r>
              <a:rPr spc="20" dirty="0"/>
              <a:t> </a:t>
            </a:r>
            <a:r>
              <a:rPr dirty="0"/>
              <a:t>Machine</a:t>
            </a:r>
            <a:r>
              <a:rPr spc="2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8781" y="2823663"/>
            <a:ext cx="4980432" cy="37094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75C1C4-993E-D419-06AE-DEE5E8DA7D21}"/>
              </a:ext>
            </a:extLst>
          </p:cNvPr>
          <p:cNvSpPr txBox="1"/>
          <p:nvPr/>
        </p:nvSpPr>
        <p:spPr>
          <a:xfrm>
            <a:off x="6718300" y="2823663"/>
            <a:ext cx="2819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Supervised Learning(dashed Line)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50141-DEDF-A017-0002-D9BB5988D42B}"/>
              </a:ext>
            </a:extLst>
          </p:cNvPr>
          <p:cNvSpPr txBox="1"/>
          <p:nvPr/>
        </p:nvSpPr>
        <p:spPr>
          <a:xfrm>
            <a:off x="7476789" y="4924625"/>
            <a:ext cx="2913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UnSupervised</a:t>
            </a:r>
            <a:r>
              <a:rPr lang="en-IN" sz="1200" dirty="0"/>
              <a:t> Learning(Solid Line)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9F26D-319E-F2AC-914D-04E58A1E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100" y="581025"/>
            <a:ext cx="7358964" cy="415498"/>
          </a:xfrm>
        </p:spPr>
        <p:txBody>
          <a:bodyPr/>
          <a:lstStyle/>
          <a:p>
            <a:r>
              <a:rPr lang="en-IN" dirty="0"/>
              <a:t>Machine Learning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621F9A-A025-9CEC-AADA-DC3982E1A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28821"/>
              </p:ext>
            </p:extLst>
          </p:nvPr>
        </p:nvGraphicFramePr>
        <p:xfrm>
          <a:off x="317500" y="1614949"/>
          <a:ext cx="10210800" cy="54144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120713353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356638705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394672443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36431075"/>
                    </a:ext>
                  </a:extLst>
                </a:gridCol>
              </a:tblGrid>
              <a:tr h="166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Type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</a:rPr>
                        <a:t>Definition</a:t>
                      </a:r>
                      <a:endParaRPr lang="en-IN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Key Features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Examples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extLst>
                  <a:ext uri="{0D108BD9-81ED-4DB2-BD59-A6C34878D82A}">
                    <a16:rowId xmlns:a16="http://schemas.microsoft.com/office/drawing/2014/main" val="2477948999"/>
                  </a:ext>
                </a:extLst>
              </a:tr>
              <a:tr h="12643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</a:rPr>
                        <a:t>Supervised Learning</a:t>
                      </a:r>
                      <a:endParaRPr lang="en-IN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Learning using labelled data; model learns a mapping from input to output.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- Requires input-output pairs for training.- Used for prediction or classification.- Learns from past data with known outputs.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- Classification: Spam detection, disease prediction.- Regression: House price prediction, sales forecasting.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extLst>
                  <a:ext uri="{0D108BD9-81ED-4DB2-BD59-A6C34878D82A}">
                    <a16:rowId xmlns:a16="http://schemas.microsoft.com/office/drawing/2014/main" val="4230074337"/>
                  </a:ext>
                </a:extLst>
              </a:tr>
              <a:tr h="12643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Unsupervised Learning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</a:rPr>
                        <a:t>Learning using unlabelled data; model identifies patterns or structures.</a:t>
                      </a:r>
                      <a:endParaRPr lang="en-IN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- No predefined outputs.- Used for clustering, association, dimensionality reduction.- Finds hidden structures in data.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</a:rPr>
                        <a:t>- Clustering: Customer segmentation.- Association: Market basket analysis (</a:t>
                      </a:r>
                      <a:r>
                        <a:rPr lang="en-IN" sz="2200" kern="100" dirty="0" err="1">
                          <a:effectLst/>
                        </a:rPr>
                        <a:t>Apriori</a:t>
                      </a:r>
                      <a:r>
                        <a:rPr lang="en-IN" sz="2200" kern="100" dirty="0">
                          <a:effectLst/>
                        </a:rPr>
                        <a:t>).- Dimensionality reduction: PCA.</a:t>
                      </a:r>
                      <a:endParaRPr lang="en-IN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extLst>
                  <a:ext uri="{0D108BD9-81ED-4DB2-BD59-A6C34878D82A}">
                    <a16:rowId xmlns:a16="http://schemas.microsoft.com/office/drawing/2014/main" val="2768638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43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AF3F-4BE0-BDBF-736B-B39D2C7E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701" y="563933"/>
            <a:ext cx="7358964" cy="415498"/>
          </a:xfrm>
        </p:spPr>
        <p:txBody>
          <a:bodyPr/>
          <a:lstStyle/>
          <a:p>
            <a:r>
              <a:rPr lang="en-IN" dirty="0"/>
              <a:t>Machine Learning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1FE31-D96C-C1AF-1D88-6DA6BB310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94EEBE-CC3D-6D93-63ED-25B9B3EA64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931029"/>
              </p:ext>
            </p:extLst>
          </p:nvPr>
        </p:nvGraphicFramePr>
        <p:xfrm>
          <a:off x="393700" y="1614949"/>
          <a:ext cx="9982200" cy="53839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95550">
                  <a:extLst>
                    <a:ext uri="{9D8B030D-6E8A-4147-A177-3AD203B41FA5}">
                      <a16:colId xmlns:a16="http://schemas.microsoft.com/office/drawing/2014/main" val="422871331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1193642823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25343267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87980986"/>
                    </a:ext>
                  </a:extLst>
                </a:gridCol>
              </a:tblGrid>
              <a:tr h="1665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Type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Definition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Key Features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Examples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extLst>
                  <a:ext uri="{0D108BD9-81ED-4DB2-BD59-A6C34878D82A}">
                    <a16:rowId xmlns:a16="http://schemas.microsoft.com/office/drawing/2014/main" val="857829599"/>
                  </a:ext>
                </a:extLst>
              </a:tr>
              <a:tr h="9507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Semi-supervised Learning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Learning from small labelled + large unlabelled data.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- Combines supervised and unsupervised.- Improves learning accuracy with less labelled data cost.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</a:rPr>
                        <a:t>- Text classification with few labelled samples.- Image recognition with limited annotations.</a:t>
                      </a:r>
                      <a:endParaRPr lang="en-IN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extLst>
                  <a:ext uri="{0D108BD9-81ED-4DB2-BD59-A6C34878D82A}">
                    <a16:rowId xmlns:a16="http://schemas.microsoft.com/office/drawing/2014/main" val="4294717142"/>
                  </a:ext>
                </a:extLst>
              </a:tr>
              <a:tr h="14212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Reinforcement Learning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</a:rPr>
                        <a:t>Learning through trial and error interaction with environment to maximize rewards.</a:t>
                      </a:r>
                      <a:endParaRPr lang="en-IN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</a:rPr>
                        <a:t>- Agent, environment, reward, policy.- No labelled input-output pairs.- Learns optimal actions by receiving feedback (reward/punishment).</a:t>
                      </a:r>
                      <a:endParaRPr lang="en-IN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</a:rPr>
                        <a:t>- Robotics path planning.- Game playing (Chess, Go).- Self-driving cars (control decisions).</a:t>
                      </a:r>
                      <a:endParaRPr lang="en-IN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28" marR="8328" marT="8328" marB="8328" anchor="ctr"/>
                </a:tc>
                <a:extLst>
                  <a:ext uri="{0D108BD9-81ED-4DB2-BD59-A6C34878D82A}">
                    <a16:rowId xmlns:a16="http://schemas.microsoft.com/office/drawing/2014/main" val="654618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6023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706774"/>
            <a:ext cx="9044305" cy="497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Database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systems</a:t>
            </a:r>
            <a:endParaRPr sz="1900">
              <a:latin typeface="Cambria"/>
              <a:cs typeface="Cambria"/>
            </a:endParaRPr>
          </a:p>
          <a:p>
            <a:pPr marL="696595" marR="6985" indent="-291465" algn="just">
              <a:lnSpc>
                <a:spcPct val="101099"/>
              </a:lnSpc>
              <a:spcBef>
                <a:spcPts val="189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6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focuses</a:t>
            </a:r>
            <a:r>
              <a:rPr sz="1900" spc="3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on</a:t>
            </a:r>
            <a:r>
              <a:rPr sz="1900" spc="31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31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creation,</a:t>
            </a:r>
            <a:r>
              <a:rPr sz="1900" spc="3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maintenance,</a:t>
            </a:r>
            <a:r>
              <a:rPr sz="1900" spc="31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3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use</a:t>
            </a:r>
            <a:r>
              <a:rPr sz="1900" spc="3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3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databases</a:t>
            </a:r>
            <a:r>
              <a:rPr sz="1900" spc="3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for</a:t>
            </a:r>
            <a:r>
              <a:rPr sz="1900" spc="31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organizations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end-</a:t>
            </a:r>
            <a:r>
              <a:rPr sz="1900" spc="-10" dirty="0">
                <a:latin typeface="Cambria"/>
                <a:cs typeface="Cambria"/>
              </a:rPr>
              <a:t>users.</a:t>
            </a:r>
            <a:endParaRPr sz="190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3200"/>
              </a:lnSpc>
              <a:spcBef>
                <a:spcPts val="184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7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Follows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-</a:t>
            </a:r>
            <a:r>
              <a:rPr sz="1900" spc="2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highly</a:t>
            </a:r>
            <a:r>
              <a:rPr sz="1900" spc="25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recognized</a:t>
            </a:r>
            <a:r>
              <a:rPr sz="1900" spc="25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principles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models,</a:t>
            </a:r>
            <a:r>
              <a:rPr sz="1900" spc="2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query</a:t>
            </a:r>
            <a:r>
              <a:rPr sz="1900" spc="25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languages,</a:t>
            </a:r>
            <a:r>
              <a:rPr sz="1900" spc="23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query </a:t>
            </a:r>
            <a:r>
              <a:rPr sz="1900" dirty="0">
                <a:latin typeface="Cambria"/>
                <a:cs typeface="Cambria"/>
              </a:rPr>
              <a:t>processing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optimization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methods,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storage,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indexing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accessing methods.</a:t>
            </a:r>
            <a:endParaRPr sz="190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8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Data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warehouse</a:t>
            </a:r>
            <a:endParaRPr sz="190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920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integrates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originating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from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multiple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sources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various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timeframes.</a:t>
            </a:r>
            <a:endParaRPr sz="1900">
              <a:latin typeface="Cambria"/>
              <a:cs typeface="Cambria"/>
            </a:endParaRPr>
          </a:p>
          <a:p>
            <a:pPr marL="696595" marR="6985" indent="-291465" algn="just">
              <a:lnSpc>
                <a:spcPct val="101099"/>
              </a:lnSpc>
              <a:spcBef>
                <a:spcPts val="189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9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consolidates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multidimensional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space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form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partially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materialized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data </a:t>
            </a:r>
            <a:r>
              <a:rPr sz="1900" spc="-10" dirty="0">
                <a:latin typeface="Cambria"/>
                <a:cs typeface="Cambria"/>
              </a:rPr>
              <a:t>cubes.</a:t>
            </a:r>
            <a:endParaRPr sz="1900">
              <a:latin typeface="Cambria"/>
              <a:cs typeface="Cambria"/>
            </a:endParaRPr>
          </a:p>
          <a:p>
            <a:pPr marL="696595" marR="6985" indent="-291465" algn="just">
              <a:lnSpc>
                <a:spcPct val="101099"/>
              </a:lnSpc>
              <a:spcBef>
                <a:spcPts val="189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6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facilitates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not</a:t>
            </a:r>
            <a:r>
              <a:rPr sz="1900" spc="6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only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OLAP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multidimensional</a:t>
            </a:r>
            <a:r>
              <a:rPr sz="1900" spc="6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databases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but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also</a:t>
            </a:r>
            <a:r>
              <a:rPr sz="1900" spc="65" dirty="0">
                <a:latin typeface="Cambria"/>
                <a:cs typeface="Cambria"/>
              </a:rPr>
              <a:t>  </a:t>
            </a:r>
            <a:r>
              <a:rPr sz="1900" spc="-10" dirty="0">
                <a:latin typeface="Cambria"/>
                <a:cs typeface="Cambria"/>
              </a:rPr>
              <a:t>promotes </a:t>
            </a:r>
            <a:r>
              <a:rPr sz="1900" dirty="0">
                <a:latin typeface="Cambria"/>
                <a:cs typeface="Cambria"/>
              </a:rPr>
              <a:t>multidimensional</a:t>
            </a:r>
            <a:r>
              <a:rPr sz="1900" spc="1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17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mining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dirty="0"/>
              <a:t>1.5.3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Systems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10" dirty="0"/>
              <a:t>Warehouses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FF57-BD4B-1D93-4758-25C826282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701" y="492635"/>
            <a:ext cx="7358964" cy="415498"/>
          </a:xfrm>
        </p:spPr>
        <p:txBody>
          <a:bodyPr/>
          <a:lstStyle/>
          <a:p>
            <a:r>
              <a:rPr lang="en-IN" dirty="0"/>
              <a:t>OLAP (Online Analytical Processing)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9B011-8005-BB5C-2FCA-BD76DDEDB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6346" y="1647825"/>
            <a:ext cx="10001954" cy="5170646"/>
          </a:xfrm>
        </p:spPr>
        <p:txBody>
          <a:bodyPr/>
          <a:lstStyle/>
          <a:p>
            <a:pPr algn="just"/>
            <a:r>
              <a:rPr lang="en-IN" sz="2400" b="1" dirty="0">
                <a:solidFill>
                  <a:srgbClr val="FF0000"/>
                </a:solidFill>
              </a:rPr>
              <a:t>1. Definition</a:t>
            </a:r>
            <a:endParaRPr lang="en-IN" sz="2400" dirty="0">
              <a:solidFill>
                <a:srgbClr val="FF0000"/>
              </a:solidFill>
            </a:endParaRPr>
          </a:p>
          <a:p>
            <a:pPr algn="just"/>
            <a:r>
              <a:rPr lang="en-IN" sz="2400" dirty="0"/>
              <a:t>OLAP is a category of data processing that enables </a:t>
            </a:r>
            <a:r>
              <a:rPr lang="en-IN" sz="2400" b="1" dirty="0"/>
              <a:t>fast analysis of multidimensional data</a:t>
            </a:r>
            <a:r>
              <a:rPr lang="en-IN" sz="2400" dirty="0"/>
              <a:t> from a data warehouse or data mart. It is designed for </a:t>
            </a:r>
            <a:r>
              <a:rPr lang="en-IN" sz="2400" b="1" dirty="0"/>
              <a:t>complex queries and analytics</a:t>
            </a:r>
            <a:r>
              <a:rPr lang="en-IN" sz="2400" dirty="0"/>
              <a:t>, not transactional processing.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b="1" dirty="0">
                <a:solidFill>
                  <a:srgbClr val="FF0000"/>
                </a:solidFill>
              </a:rPr>
              <a:t>2. Key features</a:t>
            </a:r>
            <a:endParaRPr lang="en-IN" sz="2400" dirty="0">
              <a:solidFill>
                <a:srgbClr val="FF0000"/>
              </a:solidFill>
            </a:endParaRPr>
          </a:p>
          <a:p>
            <a:pPr lvl="0" algn="just"/>
            <a:r>
              <a:rPr lang="en-IN" sz="2400" b="1" dirty="0"/>
              <a:t>Multidimensional analysis</a:t>
            </a:r>
            <a:r>
              <a:rPr lang="en-IN" sz="2400" dirty="0"/>
              <a:t>: Data is viewed from multiple perspectives (dimensions) such as time, geography, product, etc.</a:t>
            </a:r>
          </a:p>
          <a:p>
            <a:pPr lvl="0" algn="just"/>
            <a:r>
              <a:rPr lang="en-IN" sz="2400" b="1" dirty="0"/>
              <a:t>Fast query performance</a:t>
            </a:r>
            <a:r>
              <a:rPr lang="en-IN" sz="2400" dirty="0"/>
              <a:t>: Pre-aggregated data cubes enable rapid computation for analytical queries.</a:t>
            </a:r>
          </a:p>
          <a:p>
            <a:pPr lvl="0" algn="just"/>
            <a:r>
              <a:rPr lang="en-IN" sz="2400" b="1" dirty="0"/>
              <a:t>Data cubes</a:t>
            </a:r>
            <a:r>
              <a:rPr lang="en-IN" sz="2400" dirty="0"/>
              <a:t>: Structures that organize data into </a:t>
            </a:r>
            <a:r>
              <a:rPr lang="en-IN" sz="2400" b="1" dirty="0"/>
              <a:t>multidimensional arrays</a:t>
            </a:r>
            <a:r>
              <a:rPr lang="en-IN" sz="2400" dirty="0"/>
              <a:t>, facilitating aggregation and slicing/dicing.</a:t>
            </a:r>
          </a:p>
          <a:p>
            <a:pPr algn="just"/>
            <a:r>
              <a:rPr lang="en-IN" sz="2400" dirty="0"/>
              <a:t> 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31288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229C-E52D-2844-44F9-7FAF10654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700" y="352425"/>
            <a:ext cx="7358964" cy="415498"/>
          </a:xfrm>
        </p:spPr>
        <p:txBody>
          <a:bodyPr/>
          <a:lstStyle/>
          <a:p>
            <a:r>
              <a:rPr lang="en-IN" dirty="0"/>
              <a:t>Operations of OLAP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778877-76D1-0521-72DB-ED2033BC9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7500" y="1419225"/>
            <a:ext cx="1005839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solidFill>
                  <a:srgbClr val="FF0000"/>
                </a:solidFill>
              </a:rPr>
              <a:t>Slice: </a:t>
            </a:r>
            <a:r>
              <a:rPr lang="en-US" altLang="en-US" sz="2400" dirty="0"/>
              <a:t>Selecting a single dimension value to create a sub-cube.</a:t>
            </a:r>
            <a:br>
              <a:rPr lang="en-US" altLang="en-US" sz="2400" dirty="0"/>
            </a:br>
            <a:r>
              <a:rPr lang="en-US" altLang="en-US" sz="2400" dirty="0"/>
              <a:t>Example: Sales data for 2023 only.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solidFill>
                  <a:srgbClr val="FF0000"/>
                </a:solidFill>
              </a:rPr>
              <a:t>Dice: </a:t>
            </a:r>
            <a:r>
              <a:rPr lang="en-US" altLang="en-US" sz="2400" dirty="0"/>
              <a:t>Selecting a sub-cube by specifying ranges for multiple dimensions.</a:t>
            </a:r>
            <a:br>
              <a:rPr lang="en-US" altLang="en-US" sz="2400" dirty="0"/>
            </a:br>
            <a:r>
              <a:rPr lang="en-US" altLang="en-US" sz="2400" dirty="0"/>
              <a:t>Example: Sales data for products A and B in regions X and Y during Q1 and Q2.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solidFill>
                  <a:srgbClr val="FF0000"/>
                </a:solidFill>
              </a:rPr>
              <a:t>Drill-down: </a:t>
            </a:r>
            <a:r>
              <a:rPr lang="en-US" altLang="en-US" sz="2400" dirty="0"/>
              <a:t>Navigating from summary data to more detailed data.</a:t>
            </a:r>
            <a:br>
              <a:rPr lang="en-US" altLang="en-US" sz="2400" dirty="0"/>
            </a:br>
            <a:r>
              <a:rPr lang="en-US" altLang="en-US" sz="2400" dirty="0"/>
              <a:t>Example: From yearly sales to monthly sales.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solidFill>
                  <a:srgbClr val="FF0000"/>
                </a:solidFill>
              </a:rPr>
              <a:t>Roll-up: </a:t>
            </a:r>
            <a:r>
              <a:rPr lang="en-US" altLang="en-US" sz="2400" dirty="0"/>
              <a:t>Aggregating detailed data into a summary.</a:t>
            </a:r>
            <a:br>
              <a:rPr lang="en-US" altLang="en-US" sz="2400" dirty="0"/>
            </a:br>
            <a:r>
              <a:rPr lang="en-US" altLang="en-US" sz="2400" dirty="0"/>
              <a:t>Example: From daily sales to monthly sales.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solidFill>
                  <a:srgbClr val="FF0000"/>
                </a:solidFill>
              </a:rPr>
              <a:t>Pivot (Rotate): </a:t>
            </a:r>
            <a:r>
              <a:rPr lang="en-US" altLang="en-US" sz="2400" dirty="0"/>
              <a:t>Reorienting the multidimensional view to view data from different perspectives. Example: Switching rows and columns in reports.</a:t>
            </a:r>
          </a:p>
        </p:txBody>
      </p:sp>
    </p:spTree>
    <p:extLst>
      <p:ext uri="{BB962C8B-B14F-4D97-AF65-F5344CB8AC3E}">
        <p14:creationId xmlns:p14="http://schemas.microsoft.com/office/powerpoint/2010/main" val="2173655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772" y="1490308"/>
            <a:ext cx="10083328" cy="5309146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32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lang="en-IN" sz="2000" dirty="0">
                <a:latin typeface="Cambria"/>
              </a:rPr>
              <a:t>Information Retrieval  is a </a:t>
            </a:r>
            <a:r>
              <a:rPr sz="2000" dirty="0">
                <a:latin typeface="Cambria"/>
              </a:rPr>
              <a:t>science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searching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documents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information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documents</a:t>
            </a:r>
            <a:endParaRPr sz="2000" dirty="0">
              <a:latin typeface="Cambria"/>
              <a:cs typeface="Cambria"/>
            </a:endParaRPr>
          </a:p>
          <a:p>
            <a:pPr marL="352425" indent="-339725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lang="en-IN" sz="2000" dirty="0">
                <a:latin typeface="Cambria"/>
              </a:rPr>
              <a:t>Key Differences (vs. traditional database queries)</a:t>
            </a:r>
          </a:p>
          <a:p>
            <a:pPr marL="352425" indent="-339725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0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0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Cambria"/>
                <a:cs typeface="Cambria"/>
              </a:rPr>
              <a:t>(1)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under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search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unstructured;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and</a:t>
            </a:r>
            <a:endParaRPr sz="20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20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0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Cambria"/>
                <a:cs typeface="Cambria"/>
              </a:rPr>
              <a:t>(2)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queries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formed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mainly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by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keywords</a:t>
            </a:r>
            <a:endParaRPr sz="2000" dirty="0">
              <a:latin typeface="Cambria"/>
              <a:cs typeface="Cambria"/>
            </a:endParaRPr>
          </a:p>
          <a:p>
            <a:r>
              <a:rPr lang="en-IN" sz="2400" b="1" dirty="0">
                <a:solidFill>
                  <a:srgbClr val="FF0000"/>
                </a:solidFill>
                <a:latin typeface="Cambria"/>
              </a:rPr>
              <a:t>Types of Information Retrieval Models</a:t>
            </a:r>
          </a:p>
          <a:p>
            <a:r>
              <a:rPr lang="en-IN" sz="2000" dirty="0">
                <a:latin typeface="Cambria"/>
              </a:rPr>
              <a:t>(a) Language Model: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Cambria"/>
              </a:rPr>
              <a:t>	Treats a document as being generated by a probability density function over words.</a:t>
            </a:r>
          </a:p>
          <a:p>
            <a:pPr lvl="0"/>
            <a:r>
              <a:rPr lang="en-IN" sz="2000" dirty="0">
                <a:latin typeface="Cambria"/>
              </a:rPr>
              <a:t>Explanation:</a:t>
            </a:r>
          </a:p>
          <a:p>
            <a:pPr marL="342900" lvl="1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Cambria"/>
              </a:rPr>
              <a:t>	It assumes each document has its own language model (distribution of words).</a:t>
            </a:r>
          </a:p>
          <a:p>
            <a:pPr marL="342900" lvl="1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Cambria"/>
              </a:rPr>
              <a:t>	Similarity between documents can be computed based on the similarity of their 	language models.</a:t>
            </a:r>
          </a:p>
          <a:p>
            <a:pPr lvl="1"/>
            <a:r>
              <a:rPr lang="en-IN" sz="2000" dirty="0">
                <a:latin typeface="Cambria"/>
              </a:rPr>
              <a:t>Example: </a:t>
            </a:r>
          </a:p>
          <a:p>
            <a:pPr marL="342900" lvl="1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Cambria"/>
              </a:rPr>
              <a:t>	If Document A and Document B have similar word distributions, they are considered 	similar.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216660">
              <a:lnSpc>
                <a:spcPct val="100000"/>
              </a:lnSpc>
              <a:spcBef>
                <a:spcPts val="100"/>
              </a:spcBef>
            </a:pPr>
            <a:r>
              <a:rPr dirty="0"/>
              <a:t>1.5.4</a:t>
            </a:r>
            <a:r>
              <a:rPr spc="25" dirty="0"/>
              <a:t> </a:t>
            </a:r>
            <a:r>
              <a:rPr dirty="0"/>
              <a:t>Information</a:t>
            </a:r>
            <a:r>
              <a:rPr spc="25" dirty="0"/>
              <a:t> </a:t>
            </a:r>
            <a:r>
              <a:rPr spc="-10" dirty="0"/>
              <a:t>Retrieval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33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75AC-6034-95CF-D585-0094FA4C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D6A46-58DD-29A9-0B7A-B732DB85E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592" y="1795166"/>
            <a:ext cx="9488307" cy="4431983"/>
          </a:xfrm>
        </p:spPr>
        <p:txBody>
          <a:bodyPr/>
          <a:lstStyle/>
          <a:p>
            <a:r>
              <a:rPr lang="en-IN" sz="2400" dirty="0"/>
              <a:t>(b) Topic Model:	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/>
              <a:t>	Represents documents in terms of topics, where each topic is a 	probability distribution over vocabulary words.</a:t>
            </a:r>
          </a:p>
          <a:p>
            <a:pPr lvl="0"/>
            <a:r>
              <a:rPr lang="en-IN" sz="2400" dirty="0"/>
              <a:t>Explanation: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Cambria"/>
              </a:rPr>
              <a:t>	Identifies latent (hidden) topics within a large collection of 	documents.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	Each document is then described as a mixture of these topics.</a:t>
            </a:r>
          </a:p>
          <a:p>
            <a:pPr lvl="0"/>
            <a:endParaRPr lang="en-IN" sz="2400" dirty="0">
              <a:latin typeface="Cambria"/>
            </a:endParaRPr>
          </a:p>
          <a:p>
            <a:pPr lvl="0"/>
            <a:r>
              <a:rPr lang="en-IN" sz="2400" dirty="0">
                <a:latin typeface="Cambria"/>
              </a:rPr>
              <a:t>Example: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/>
              <a:t>	</a:t>
            </a:r>
            <a:r>
              <a:rPr lang="en-IN" sz="2400" dirty="0">
                <a:latin typeface="Cambria"/>
              </a:rPr>
              <a:t>Using Latent Dirichlet Allocation (LDA) to find topics like “sports”, 	“politics”, “technology” across news articles.</a:t>
            </a:r>
          </a:p>
          <a:p>
            <a:pPr lvl="1"/>
            <a:r>
              <a:rPr lang="en-IN" sz="2400" dirty="0">
                <a:latin typeface="Cambria"/>
              </a:rPr>
              <a:t>	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582590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8488" y="465177"/>
            <a:ext cx="38227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6889" algn="l"/>
              </a:tabLst>
            </a:pPr>
            <a:r>
              <a:rPr dirty="0">
                <a:solidFill>
                  <a:srgbClr val="FF0000"/>
                </a:solidFill>
              </a:rPr>
              <a:t>Chapter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1.</a:t>
            </a:r>
            <a:r>
              <a:rPr dirty="0">
                <a:solidFill>
                  <a:srgbClr val="FF0000"/>
                </a:solidFill>
              </a:rPr>
              <a:t>	</a:t>
            </a:r>
            <a:r>
              <a:rPr spc="-1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Mining?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dirty="0"/>
              <a:t>Data</a:t>
            </a:r>
            <a:r>
              <a:rPr spc="55" dirty="0"/>
              <a:t> </a:t>
            </a:r>
            <a:r>
              <a:rPr spc="-10" dirty="0"/>
              <a:t>Mining?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A</a:t>
            </a:r>
            <a:r>
              <a:rPr spc="85" dirty="0"/>
              <a:t> </a:t>
            </a:r>
            <a:r>
              <a:rPr dirty="0"/>
              <a:t>Multi-Dimensional</a:t>
            </a:r>
            <a:r>
              <a:rPr spc="70" dirty="0"/>
              <a:t> </a:t>
            </a:r>
            <a:r>
              <a:rPr dirty="0"/>
              <a:t>View</a:t>
            </a:r>
            <a:r>
              <a:rPr spc="9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Data</a:t>
            </a:r>
            <a:r>
              <a:rPr spc="75" dirty="0"/>
              <a:t> </a:t>
            </a:r>
            <a:r>
              <a:rPr spc="-10" dirty="0"/>
              <a:t>Mining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spcBef>
                <a:spcPts val="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45" dirty="0"/>
              <a:t> </a:t>
            </a:r>
            <a:r>
              <a:rPr dirty="0"/>
              <a:t>Kind</a:t>
            </a:r>
            <a:r>
              <a:rPr spc="6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dirty="0"/>
              <a:t>Can</a:t>
            </a:r>
            <a:r>
              <a:rPr spc="50" dirty="0"/>
              <a:t> </a:t>
            </a:r>
            <a:r>
              <a:rPr dirty="0"/>
              <a:t>Be</a:t>
            </a:r>
            <a:r>
              <a:rPr spc="50" dirty="0"/>
              <a:t> </a:t>
            </a:r>
            <a:r>
              <a:rPr spc="-10" dirty="0"/>
              <a:t>Mined?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Kinds</a:t>
            </a:r>
            <a:r>
              <a:rPr spc="5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dirty="0"/>
              <a:t>Patterns</a:t>
            </a:r>
            <a:r>
              <a:rPr spc="55" dirty="0"/>
              <a:t> </a:t>
            </a:r>
            <a:r>
              <a:rPr dirty="0"/>
              <a:t>Can</a:t>
            </a:r>
            <a:r>
              <a:rPr spc="55" dirty="0"/>
              <a:t> </a:t>
            </a:r>
            <a:r>
              <a:rPr dirty="0"/>
              <a:t>Be</a:t>
            </a:r>
            <a:r>
              <a:rPr spc="55" dirty="0"/>
              <a:t> </a:t>
            </a:r>
            <a:r>
              <a:rPr spc="-10" dirty="0"/>
              <a:t>Mined?</a:t>
            </a: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Which</a:t>
            </a:r>
            <a:r>
              <a:rPr spc="30" dirty="0"/>
              <a:t> </a:t>
            </a:r>
            <a:r>
              <a:rPr dirty="0"/>
              <a:t>Technologies</a:t>
            </a:r>
            <a:r>
              <a:rPr spc="35" dirty="0"/>
              <a:t> </a:t>
            </a:r>
            <a:r>
              <a:rPr dirty="0"/>
              <a:t>Are</a:t>
            </a:r>
            <a:r>
              <a:rPr spc="35" dirty="0"/>
              <a:t> </a:t>
            </a:r>
            <a:r>
              <a:rPr spc="-20" dirty="0"/>
              <a:t>Used?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Font typeface="Wingdings"/>
              <a:buChar char=""/>
            </a:pPr>
            <a:endParaRPr spc="-2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Which</a:t>
            </a:r>
            <a:r>
              <a:rPr spc="65" dirty="0"/>
              <a:t> </a:t>
            </a:r>
            <a:r>
              <a:rPr dirty="0"/>
              <a:t>Kinds</a:t>
            </a:r>
            <a:r>
              <a:rPr spc="70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Applications</a:t>
            </a:r>
            <a:r>
              <a:rPr spc="65" dirty="0"/>
              <a:t> </a:t>
            </a:r>
            <a:r>
              <a:rPr dirty="0"/>
              <a:t>Are</a:t>
            </a:r>
            <a:r>
              <a:rPr spc="70" dirty="0"/>
              <a:t> </a:t>
            </a:r>
            <a:r>
              <a:rPr spc="-10" dirty="0"/>
              <a:t>Targeted?</a:t>
            </a: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dirty="0"/>
              <a:t>Major</a:t>
            </a:r>
            <a:r>
              <a:rPr spc="70" dirty="0"/>
              <a:t> </a:t>
            </a:r>
            <a:r>
              <a:rPr dirty="0"/>
              <a:t>Issues</a:t>
            </a:r>
            <a:r>
              <a:rPr spc="80" dirty="0"/>
              <a:t> </a:t>
            </a:r>
            <a:r>
              <a:rPr dirty="0"/>
              <a:t>in</a:t>
            </a:r>
            <a:r>
              <a:rPr spc="75" dirty="0"/>
              <a:t> </a:t>
            </a:r>
            <a:r>
              <a:rPr dirty="0"/>
              <a:t>Data</a:t>
            </a:r>
            <a:r>
              <a:rPr spc="75" dirty="0"/>
              <a:t> </a:t>
            </a:r>
            <a:r>
              <a:rPr spc="-10" dirty="0"/>
              <a:t>Mining</a:t>
            </a: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DA1F28"/>
              </a:buClr>
              <a:buFont typeface="Wingdings"/>
              <a:buChar char=""/>
            </a:pPr>
            <a:endParaRPr spc="-10" dirty="0"/>
          </a:p>
          <a:p>
            <a:pPr marL="352425" indent="-339725">
              <a:lnSpc>
                <a:spcPct val="10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34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06891" y="5022410"/>
            <a:ext cx="405130" cy="399415"/>
            <a:chOff x="5706891" y="5022410"/>
            <a:chExt cx="405130" cy="399415"/>
          </a:xfrm>
        </p:grpSpPr>
        <p:sp>
          <p:nvSpPr>
            <p:cNvPr id="6" name="object 6"/>
            <p:cNvSpPr/>
            <p:nvPr/>
          </p:nvSpPr>
          <p:spPr>
            <a:xfrm>
              <a:off x="5713242" y="5070594"/>
              <a:ext cx="344170" cy="344805"/>
            </a:xfrm>
            <a:custGeom>
              <a:avLst/>
              <a:gdLst/>
              <a:ahLst/>
              <a:cxnLst/>
              <a:rect l="l" t="t" r="r" b="b"/>
              <a:pathLst>
                <a:path w="344170" h="344804">
                  <a:moveTo>
                    <a:pt x="236851" y="0"/>
                  </a:moveTo>
                  <a:lnTo>
                    <a:pt x="53522" y="158963"/>
                  </a:lnTo>
                  <a:lnTo>
                    <a:pt x="0" y="97182"/>
                  </a:lnTo>
                  <a:lnTo>
                    <a:pt x="29853" y="287674"/>
                  </a:lnTo>
                  <a:lnTo>
                    <a:pt x="214088" y="344302"/>
                  </a:lnTo>
                  <a:lnTo>
                    <a:pt x="160567" y="282521"/>
                  </a:lnTo>
                  <a:lnTo>
                    <a:pt x="343895" y="123559"/>
                  </a:lnTo>
                  <a:lnTo>
                    <a:pt x="236851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9741" y="5028761"/>
              <a:ext cx="145639" cy="1570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13243" y="5070593"/>
              <a:ext cx="344170" cy="344805"/>
            </a:xfrm>
            <a:custGeom>
              <a:avLst/>
              <a:gdLst/>
              <a:ahLst/>
              <a:cxnLst/>
              <a:rect l="l" t="t" r="r" b="b"/>
              <a:pathLst>
                <a:path w="344170" h="344804">
                  <a:moveTo>
                    <a:pt x="214088" y="344302"/>
                  </a:moveTo>
                  <a:lnTo>
                    <a:pt x="160566" y="282522"/>
                  </a:lnTo>
                  <a:lnTo>
                    <a:pt x="343894" y="123559"/>
                  </a:lnTo>
                  <a:lnTo>
                    <a:pt x="236850" y="0"/>
                  </a:lnTo>
                  <a:lnTo>
                    <a:pt x="53522" y="158963"/>
                  </a:lnTo>
                  <a:lnTo>
                    <a:pt x="0" y="97183"/>
                  </a:lnTo>
                  <a:lnTo>
                    <a:pt x="29853" y="287674"/>
                  </a:lnTo>
                  <a:lnTo>
                    <a:pt x="214088" y="344302"/>
                  </a:lnTo>
                  <a:close/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3391" y="5022410"/>
              <a:ext cx="158341" cy="1697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551452"/>
            <a:ext cx="9488307" cy="3403432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20"/>
              </a:spcBef>
            </a:pP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“Where</a:t>
            </a:r>
            <a:r>
              <a:rPr sz="2400" b="1" i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there</a:t>
            </a:r>
            <a:r>
              <a:rPr sz="2400" b="1" i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400" b="1" i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data,</a:t>
            </a:r>
            <a:r>
              <a:rPr sz="2400" b="1" i="1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there</a:t>
            </a:r>
            <a:r>
              <a:rPr sz="2400" b="1" i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400" b="1" i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400" b="1" i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2400" b="1" i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mbria"/>
                <a:cs typeface="Cambria"/>
              </a:rPr>
              <a:t>applications”</a:t>
            </a:r>
            <a:endParaRPr sz="24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Many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applications</a:t>
            </a:r>
            <a:endParaRPr sz="2400" dirty="0">
              <a:latin typeface="Cambria"/>
              <a:cs typeface="Cambria"/>
            </a:endParaRPr>
          </a:p>
          <a:p>
            <a:pPr marL="352425" marR="5080" indent="-340360" algn="just">
              <a:lnSpc>
                <a:spcPct val="103200"/>
              </a:lnSpc>
              <a:spcBef>
                <a:spcPts val="115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To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demonstrate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importance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applications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7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major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dimension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75" dirty="0">
                <a:latin typeface="Cambria"/>
                <a:cs typeface="Cambria"/>
              </a:rPr>
              <a:t>  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data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research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development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9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discuss</a:t>
            </a:r>
            <a:r>
              <a:rPr sz="2400" spc="1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two</a:t>
            </a:r>
            <a:r>
              <a:rPr sz="2400" spc="1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highly</a:t>
            </a:r>
            <a:r>
              <a:rPr sz="2400" spc="1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successful</a:t>
            </a:r>
            <a:r>
              <a:rPr sz="2400" spc="9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00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popular </a:t>
            </a:r>
            <a:r>
              <a:rPr sz="2400" dirty="0">
                <a:latin typeface="Cambria"/>
                <a:cs typeface="Cambria"/>
              </a:rPr>
              <a:t>application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examples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mining:</a:t>
            </a:r>
            <a:endParaRPr sz="24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00"/>
              </a:spcBef>
              <a:tabLst>
                <a:tab pos="696595" algn="l"/>
              </a:tabLst>
            </a:pPr>
            <a:r>
              <a:rPr sz="2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2400" i="1" dirty="0">
                <a:latin typeface="Cambria"/>
                <a:cs typeface="Cambria"/>
              </a:rPr>
              <a:t>business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intelligence</a:t>
            </a:r>
            <a:endParaRPr sz="24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2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2400" i="1" dirty="0">
                <a:latin typeface="Cambria"/>
                <a:cs typeface="Cambria"/>
              </a:rPr>
              <a:t>search</a:t>
            </a:r>
            <a:r>
              <a:rPr sz="2400" i="1" spc="2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engines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1.6</a:t>
            </a:r>
            <a:r>
              <a:rPr spc="5" dirty="0"/>
              <a:t> </a:t>
            </a:r>
            <a:r>
              <a:rPr dirty="0"/>
              <a:t>Which</a:t>
            </a:r>
            <a:r>
              <a:rPr spc="5" dirty="0"/>
              <a:t> </a:t>
            </a:r>
            <a:r>
              <a:rPr dirty="0"/>
              <a:t>Kinds of</a:t>
            </a:r>
            <a:r>
              <a:rPr spc="-5" dirty="0"/>
              <a:t> </a:t>
            </a:r>
            <a:r>
              <a:rPr dirty="0"/>
              <a:t>Applications</a:t>
            </a:r>
            <a:r>
              <a:rPr spc="5" dirty="0"/>
              <a:t> </a:t>
            </a:r>
            <a:r>
              <a:rPr dirty="0"/>
              <a:t>Are </a:t>
            </a:r>
            <a:r>
              <a:rPr spc="-10" dirty="0"/>
              <a:t>Targeted?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35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2" y="1706774"/>
            <a:ext cx="9488307" cy="458381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 marR="8255" indent="-340360" algn="just">
              <a:lnSpc>
                <a:spcPct val="101099"/>
              </a:lnSpc>
              <a:spcBef>
                <a:spcPts val="7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Business</a:t>
            </a:r>
            <a:r>
              <a:rPr sz="240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intelligence</a:t>
            </a:r>
            <a:r>
              <a:rPr sz="240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(BI)</a:t>
            </a:r>
            <a:r>
              <a:rPr sz="2400" spc="2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technologies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provide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historical,</a:t>
            </a:r>
            <a:r>
              <a:rPr sz="240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current,</a:t>
            </a:r>
            <a:r>
              <a:rPr sz="2400" spc="2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40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predictive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views</a:t>
            </a: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business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operations.</a:t>
            </a:r>
            <a:endParaRPr sz="2400" dirty="0">
              <a:latin typeface="Cambria"/>
              <a:cs typeface="Cambria"/>
            </a:endParaRPr>
          </a:p>
          <a:p>
            <a:pPr marL="352425" marR="5080" indent="-340360" algn="just">
              <a:lnSpc>
                <a:spcPct val="105300"/>
              </a:lnSpc>
              <a:spcBef>
                <a:spcPts val="11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Examples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include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reporting,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online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analytical</a:t>
            </a:r>
            <a:r>
              <a:rPr sz="2400" spc="4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processing,</a:t>
            </a:r>
            <a:r>
              <a:rPr sz="2400" spc="45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business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performance </a:t>
            </a:r>
            <a:r>
              <a:rPr sz="2400" dirty="0">
                <a:latin typeface="Cambria"/>
                <a:cs typeface="Cambria"/>
              </a:rPr>
              <a:t>management,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competitive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intelligence,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benchmarking,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predictive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analytics.</a:t>
            </a:r>
            <a:endParaRPr sz="24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“How</a:t>
            </a:r>
            <a:r>
              <a:rPr sz="2400" i="1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important</a:t>
            </a:r>
            <a:r>
              <a:rPr sz="2400" i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400" i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business</a:t>
            </a:r>
            <a:r>
              <a:rPr sz="2400" i="1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intelligence?”</a:t>
            </a:r>
            <a:endParaRPr sz="2400" dirty="0">
              <a:latin typeface="Cambria"/>
              <a:cs typeface="Cambria"/>
            </a:endParaRPr>
          </a:p>
          <a:p>
            <a:pPr marL="352425" marR="5080" indent="-340360" algn="just">
              <a:lnSpc>
                <a:spcPct val="102499"/>
              </a:lnSpc>
              <a:spcBef>
                <a:spcPts val="114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dirty="0">
                <a:latin typeface="Cambria"/>
                <a:cs typeface="Cambria"/>
              </a:rPr>
              <a:t>Without</a:t>
            </a:r>
            <a:r>
              <a:rPr sz="2400" spc="1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mining,</a:t>
            </a:r>
            <a:r>
              <a:rPr sz="2400" spc="1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many</a:t>
            </a:r>
            <a:r>
              <a:rPr sz="2400" spc="1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businesses</a:t>
            </a:r>
            <a:r>
              <a:rPr sz="2400" spc="1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may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not</a:t>
            </a:r>
            <a:r>
              <a:rPr sz="2400" spc="1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able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perform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effective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market</a:t>
            </a:r>
            <a:r>
              <a:rPr sz="2400" spc="4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analysis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compare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customer</a:t>
            </a:r>
            <a:r>
              <a:rPr sz="2400" spc="4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feedback</a:t>
            </a:r>
            <a:r>
              <a:rPr sz="2400" spc="48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similar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products,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discover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strengths</a:t>
            </a:r>
            <a:r>
              <a:rPr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weaknesses</a:t>
            </a:r>
            <a:r>
              <a:rPr sz="24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their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competitors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retain</a:t>
            </a:r>
            <a:r>
              <a:rPr sz="24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highly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valuable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customer</a:t>
            </a:r>
            <a:r>
              <a:rPr sz="2400" spc="-10" dirty="0">
                <a:latin typeface="Cambria"/>
                <a:cs typeface="Cambria"/>
              </a:rPr>
              <a:t>s,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make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smart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business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decisions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265555">
              <a:lnSpc>
                <a:spcPct val="100000"/>
              </a:lnSpc>
              <a:spcBef>
                <a:spcPts val="100"/>
              </a:spcBef>
            </a:pPr>
            <a:r>
              <a:rPr dirty="0"/>
              <a:t>1.6.1</a:t>
            </a:r>
            <a:r>
              <a:rPr spc="30" dirty="0"/>
              <a:t> </a:t>
            </a:r>
            <a:r>
              <a:rPr dirty="0"/>
              <a:t>Business</a:t>
            </a:r>
            <a:r>
              <a:rPr spc="35" dirty="0"/>
              <a:t> </a:t>
            </a:r>
            <a:r>
              <a:rPr spc="-10" dirty="0"/>
              <a:t>Intelligence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36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3230" y="1647825"/>
            <a:ext cx="9932670" cy="433407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 indent="-339725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lang="en-US" sz="2400" spc="-10" dirty="0">
                <a:latin typeface="Cambria"/>
                <a:cs typeface="Cambria"/>
              </a:rPr>
              <a:t>Clearly,</a:t>
            </a:r>
            <a:r>
              <a:rPr lang="en-US" sz="2400" spc="5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data</a:t>
            </a:r>
            <a:r>
              <a:rPr lang="en-US" sz="2400" spc="5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mining</a:t>
            </a:r>
            <a:r>
              <a:rPr lang="en-US" sz="2400" spc="6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is</a:t>
            </a:r>
            <a:r>
              <a:rPr lang="en-US" sz="2400" spc="5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the</a:t>
            </a:r>
            <a:r>
              <a:rPr lang="en-US" sz="2400" spc="5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core</a:t>
            </a:r>
            <a:r>
              <a:rPr lang="en-US" sz="2400" spc="5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of</a:t>
            </a:r>
            <a:r>
              <a:rPr lang="en-US" sz="2400" spc="4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business</a:t>
            </a:r>
            <a:r>
              <a:rPr lang="en-US" sz="2400" spc="6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intelligence.</a:t>
            </a:r>
            <a:endParaRPr lang="en-US" sz="2400" dirty="0">
              <a:latin typeface="Cambria"/>
              <a:cs typeface="Cambria"/>
            </a:endParaRPr>
          </a:p>
          <a:p>
            <a:pPr marL="355600" indent="-342900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 panose="05000000000000000000" pitchFamily="2" charset="2"/>
              <a:buChar char="ü"/>
              <a:tabLst>
                <a:tab pos="352425" algn="l"/>
              </a:tabLst>
            </a:pPr>
            <a:r>
              <a:rPr lang="en-US" sz="2400" spc="-20" dirty="0">
                <a:latin typeface="Cambria"/>
                <a:cs typeface="Cambria"/>
              </a:rPr>
              <a:t>OLAP tools </a:t>
            </a:r>
            <a:r>
              <a:rPr lang="en-US" sz="2400" spc="-25" dirty="0">
                <a:latin typeface="Cambria"/>
                <a:cs typeface="Cambria"/>
              </a:rPr>
              <a:t>in </a:t>
            </a:r>
            <a:r>
              <a:rPr lang="en-US" sz="2400" spc="-10" dirty="0">
                <a:latin typeface="Cambria"/>
                <a:cs typeface="Cambria"/>
              </a:rPr>
              <a:t>business intelligence </a:t>
            </a:r>
            <a:r>
              <a:rPr lang="en-US" sz="2400" spc="-20" dirty="0">
                <a:latin typeface="Cambria"/>
                <a:cs typeface="Cambria"/>
              </a:rPr>
              <a:t>rely </a:t>
            </a:r>
            <a:r>
              <a:rPr lang="en-US" sz="2400" spc="-25" dirty="0">
                <a:latin typeface="Cambria"/>
                <a:cs typeface="Cambria"/>
              </a:rPr>
              <a:t>on </a:t>
            </a:r>
            <a:r>
              <a:rPr lang="en-US" sz="2400" spc="-20" dirty="0">
                <a:latin typeface="Cambria"/>
                <a:cs typeface="Cambria"/>
              </a:rPr>
              <a:t>data </a:t>
            </a:r>
            <a:r>
              <a:rPr lang="en-US" sz="2400" spc="-10" dirty="0">
                <a:latin typeface="Cambria"/>
                <a:cs typeface="Cambria"/>
              </a:rPr>
              <a:t>warehousing </a:t>
            </a:r>
            <a:r>
              <a:rPr lang="en-US" sz="2400" spc="-25" dirty="0">
                <a:latin typeface="Cambria"/>
                <a:cs typeface="Cambria"/>
              </a:rPr>
              <a:t>and </a:t>
            </a:r>
            <a:r>
              <a:rPr lang="en-US" sz="2400" dirty="0">
                <a:latin typeface="Cambria"/>
                <a:cs typeface="Cambria"/>
              </a:rPr>
              <a:t>multidimensional</a:t>
            </a:r>
            <a:r>
              <a:rPr lang="en-US" sz="2400" spc="16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data</a:t>
            </a:r>
            <a:r>
              <a:rPr lang="en-US" sz="2400" spc="17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mining.</a:t>
            </a:r>
          </a:p>
          <a:p>
            <a:pPr marL="355600" indent="-342900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 panose="05000000000000000000" pitchFamily="2" charset="2"/>
              <a:buChar char="ü"/>
              <a:tabLst>
                <a:tab pos="352425" algn="l"/>
              </a:tabLst>
            </a:pPr>
            <a:r>
              <a:rPr lang="en-US" sz="2400" dirty="0">
                <a:latin typeface="Cambria"/>
                <a:cs typeface="Cambria"/>
              </a:rPr>
              <a:t>Classification</a:t>
            </a:r>
            <a:r>
              <a:rPr lang="en-US" sz="2400" spc="24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and</a:t>
            </a:r>
            <a:r>
              <a:rPr lang="en-US" sz="2400" spc="254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prediction</a:t>
            </a:r>
            <a:r>
              <a:rPr lang="en-US" sz="2400" spc="25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techniques</a:t>
            </a:r>
            <a:r>
              <a:rPr lang="en-US" sz="2400" spc="24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are</a:t>
            </a:r>
            <a:r>
              <a:rPr lang="en-US" sz="2400" spc="24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the</a:t>
            </a:r>
            <a:r>
              <a:rPr lang="en-US" sz="2400" spc="24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core</a:t>
            </a:r>
            <a:r>
              <a:rPr lang="en-US" sz="2400" spc="24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of</a:t>
            </a:r>
            <a:r>
              <a:rPr lang="en-US" sz="2400" spc="229" dirty="0">
                <a:latin typeface="Cambria"/>
                <a:cs typeface="Cambria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"/>
                <a:cs typeface="Cambria"/>
              </a:rPr>
              <a:t>predictive</a:t>
            </a:r>
            <a:r>
              <a:rPr lang="en-US" sz="240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"/>
                <a:cs typeface="Cambria"/>
              </a:rPr>
              <a:t>analytics</a:t>
            </a:r>
            <a:r>
              <a:rPr lang="en-US" sz="24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lang="en-US" sz="2400" spc="-25" dirty="0">
                <a:latin typeface="Cambria"/>
                <a:cs typeface="Cambria"/>
              </a:rPr>
              <a:t>in </a:t>
            </a:r>
            <a:r>
              <a:rPr lang="en-US" sz="2400" dirty="0">
                <a:latin typeface="Cambria"/>
                <a:cs typeface="Cambria"/>
              </a:rPr>
              <a:t>analyzing</a:t>
            </a:r>
            <a:r>
              <a:rPr lang="en-US" sz="2400" spc="10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markets,</a:t>
            </a:r>
            <a:r>
              <a:rPr lang="en-US" sz="2400" spc="9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supplies,</a:t>
            </a:r>
            <a:r>
              <a:rPr lang="en-US" sz="2400" spc="8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and</a:t>
            </a:r>
            <a:r>
              <a:rPr lang="en-US" sz="2400" spc="10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sales.</a:t>
            </a:r>
          </a:p>
          <a:p>
            <a:pPr marL="355600" indent="-342900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 panose="05000000000000000000" pitchFamily="2" charset="2"/>
              <a:buChar char="ü"/>
              <a:tabLst>
                <a:tab pos="352425" algn="l"/>
              </a:tabLst>
            </a:pPr>
            <a:r>
              <a:rPr lang="en-US" sz="2400" spc="-10" dirty="0">
                <a:latin typeface="Cambria"/>
                <a:cs typeface="Cambria"/>
              </a:rPr>
              <a:t>Moreover,</a:t>
            </a:r>
            <a:r>
              <a:rPr lang="en-US" sz="2400" spc="7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clustering</a:t>
            </a:r>
            <a:r>
              <a:rPr lang="en-US" sz="2400" spc="8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plays</a:t>
            </a:r>
            <a:r>
              <a:rPr lang="en-US" sz="2400" spc="8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a</a:t>
            </a:r>
            <a:r>
              <a:rPr lang="en-US" sz="2400" spc="8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central</a:t>
            </a:r>
            <a:r>
              <a:rPr lang="en-US" sz="2400" spc="6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role</a:t>
            </a:r>
            <a:r>
              <a:rPr lang="en-US" sz="2400" spc="8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in</a:t>
            </a:r>
            <a:r>
              <a:rPr lang="en-US" sz="2400" spc="8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customer</a:t>
            </a:r>
            <a:r>
              <a:rPr lang="en-US" sz="2400" spc="7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relationship</a:t>
            </a:r>
            <a:r>
              <a:rPr lang="en-US" sz="2400" spc="8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management, </a:t>
            </a:r>
            <a:r>
              <a:rPr lang="en-US" sz="2400" dirty="0">
                <a:latin typeface="Cambria"/>
                <a:cs typeface="Cambria"/>
              </a:rPr>
              <a:t>which</a:t>
            </a:r>
            <a:r>
              <a:rPr lang="en-US" sz="2400" spc="7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groups</a:t>
            </a:r>
            <a:r>
              <a:rPr lang="en-US" sz="2400" spc="7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customers</a:t>
            </a:r>
            <a:r>
              <a:rPr lang="en-US" sz="2400" spc="8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based</a:t>
            </a:r>
            <a:r>
              <a:rPr lang="en-US" sz="2400" spc="8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on</a:t>
            </a:r>
            <a:r>
              <a:rPr lang="en-US" sz="2400" spc="7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their</a:t>
            </a:r>
            <a:r>
              <a:rPr lang="en-US" sz="2400" spc="7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similarities.</a:t>
            </a:r>
            <a:endParaRPr lang="en-US" sz="2400" dirty="0">
              <a:latin typeface="Cambria"/>
              <a:cs typeface="Cambria"/>
            </a:endParaRPr>
          </a:p>
          <a:p>
            <a:pPr marL="354965" marR="5080" indent="-342900">
              <a:lnSpc>
                <a:spcPct val="105300"/>
              </a:lnSpc>
              <a:spcBef>
                <a:spcPts val="1100"/>
              </a:spcBef>
              <a:buFont typeface="Wingdings" panose="05000000000000000000" pitchFamily="2" charset="2"/>
              <a:buChar char="ü"/>
              <a:tabLst>
                <a:tab pos="303530" algn="l"/>
              </a:tabLst>
            </a:pPr>
            <a:r>
              <a:rPr sz="2400" dirty="0">
                <a:latin typeface="Cambria"/>
                <a:cs typeface="Cambria"/>
              </a:rPr>
              <a:t>Using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characterization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mining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techniques,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we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better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understand</a:t>
            </a:r>
            <a:r>
              <a:rPr sz="2400" spc="3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features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lang="en-IN"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each</a:t>
            </a:r>
            <a:r>
              <a:rPr lang="en-IN" sz="2400" spc="7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customer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group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develop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customized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customer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reward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programs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691639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Business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Intelligence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60" dirty="0"/>
              <a:t>Dr.</a:t>
            </a:r>
            <a:r>
              <a:rPr spc="-20" dirty="0"/>
              <a:t> </a:t>
            </a:r>
            <a:r>
              <a:rPr dirty="0"/>
              <a:t>R.</a:t>
            </a:r>
            <a:r>
              <a:rPr spc="-20" dirty="0"/>
              <a:t> </a:t>
            </a:r>
            <a:r>
              <a:rPr spc="-30" dirty="0"/>
              <a:t>Elakkiya,</a:t>
            </a:r>
            <a:r>
              <a:rPr spc="-20" dirty="0"/>
              <a:t> </a:t>
            </a:r>
            <a:r>
              <a:rPr spc="-60" dirty="0"/>
              <a:t>AP-</a:t>
            </a:r>
            <a:r>
              <a:rPr spc="-10" dirty="0"/>
              <a:t>SoC,</a:t>
            </a:r>
            <a:r>
              <a:rPr spc="-20" dirty="0"/>
              <a:t> </a:t>
            </a:r>
            <a:r>
              <a:rPr spc="-35" dirty="0"/>
              <a:t>SASTRA</a:t>
            </a:r>
            <a:r>
              <a:rPr spc="-30" dirty="0"/>
              <a:t> </a:t>
            </a:r>
            <a:r>
              <a:rPr spc="-25" dirty="0"/>
              <a:t>Deemed</a:t>
            </a:r>
            <a:r>
              <a:rPr spc="-3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37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706774"/>
            <a:ext cx="9043035" cy="51529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 marR="5080" indent="-340360" algn="just">
              <a:lnSpc>
                <a:spcPct val="101099"/>
              </a:lnSpc>
              <a:spcBef>
                <a:spcPts val="7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A</a:t>
            </a:r>
            <a:r>
              <a:rPr sz="1900" spc="28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Web</a:t>
            </a:r>
            <a:r>
              <a:rPr sz="1900" spc="27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search</a:t>
            </a:r>
            <a:r>
              <a:rPr sz="1900" spc="27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engine</a:t>
            </a:r>
            <a:r>
              <a:rPr sz="1900" spc="27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is</a:t>
            </a:r>
            <a:r>
              <a:rPr sz="1900" spc="27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</a:t>
            </a:r>
            <a:r>
              <a:rPr sz="1900" spc="275" dirty="0"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specialized</a:t>
            </a:r>
            <a:r>
              <a:rPr sz="1900" spc="27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computer</a:t>
            </a:r>
            <a:r>
              <a:rPr sz="1900" spc="27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server</a:t>
            </a:r>
            <a:r>
              <a:rPr sz="1900" spc="27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that</a:t>
            </a:r>
            <a:r>
              <a:rPr sz="1900" spc="270" dirty="0"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search</a:t>
            </a:r>
            <a:r>
              <a:rPr sz="1900" dirty="0">
                <a:latin typeface="Cambria"/>
                <a:cs typeface="Cambria"/>
              </a:rPr>
              <a:t>es</a:t>
            </a:r>
            <a:r>
              <a:rPr sz="1900" spc="275" dirty="0">
                <a:latin typeface="Cambria"/>
                <a:cs typeface="Cambria"/>
              </a:rPr>
              <a:t>  </a:t>
            </a:r>
            <a:r>
              <a:rPr sz="1900" spc="-25" dirty="0">
                <a:latin typeface="Cambria"/>
                <a:cs typeface="Cambria"/>
              </a:rPr>
              <a:t>for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information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20" dirty="0">
                <a:solidFill>
                  <a:srgbClr val="FF0000"/>
                </a:solidFill>
                <a:latin typeface="Cambria"/>
                <a:cs typeface="Cambria"/>
              </a:rPr>
              <a:t>Web</a:t>
            </a:r>
            <a:r>
              <a:rPr sz="1900" spc="-20" dirty="0">
                <a:latin typeface="Cambria"/>
                <a:cs typeface="Cambria"/>
              </a:rPr>
              <a:t>.</a:t>
            </a:r>
            <a:endParaRPr sz="19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6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Various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techniques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are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used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all</a:t>
            </a:r>
            <a:r>
              <a:rPr sz="1900" spc="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aspects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search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engines:</a:t>
            </a:r>
            <a:endParaRPr sz="19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1099"/>
              </a:lnSpc>
              <a:spcBef>
                <a:spcPts val="69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4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i="1" dirty="0">
                <a:latin typeface="Cambria"/>
                <a:cs typeface="Cambria"/>
              </a:rPr>
              <a:t>crawling</a:t>
            </a:r>
            <a:r>
              <a:rPr sz="1900" i="1" spc="29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-</a:t>
            </a:r>
            <a:r>
              <a:rPr sz="1900" spc="295" dirty="0"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deciding</a:t>
            </a:r>
            <a:r>
              <a:rPr sz="1900" spc="29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which</a:t>
            </a:r>
            <a:r>
              <a:rPr sz="1900" spc="29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pages</a:t>
            </a:r>
            <a:r>
              <a:rPr sz="1900" spc="3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should</a:t>
            </a:r>
            <a:r>
              <a:rPr sz="1900" spc="3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1900" spc="29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crawled</a:t>
            </a:r>
            <a:r>
              <a:rPr sz="1900" spc="3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30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295" dirty="0">
                <a:latin typeface="Cambria"/>
                <a:cs typeface="Cambria"/>
              </a:rPr>
              <a:t>  </a:t>
            </a:r>
            <a:r>
              <a:rPr sz="1900" spc="-10" dirty="0">
                <a:latin typeface="Cambria"/>
                <a:cs typeface="Cambria"/>
              </a:rPr>
              <a:t>crawling frequencies</a:t>
            </a:r>
            <a:endParaRPr sz="19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1099"/>
              </a:lnSpc>
              <a:spcBef>
                <a:spcPts val="57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7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indexing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-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selecting</a:t>
            </a:r>
            <a:r>
              <a:rPr sz="19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pages</a:t>
            </a:r>
            <a:r>
              <a:rPr sz="19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9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19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indexed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deciding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which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extent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index </a:t>
            </a:r>
            <a:r>
              <a:rPr sz="1900" dirty="0">
                <a:latin typeface="Cambria"/>
                <a:cs typeface="Cambria"/>
              </a:rPr>
              <a:t>should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constructed</a:t>
            </a:r>
            <a:endParaRPr sz="1900" dirty="0">
              <a:latin typeface="Cambria"/>
              <a:cs typeface="Cambria"/>
            </a:endParaRPr>
          </a:p>
          <a:p>
            <a:pPr marL="696595" marR="5715" indent="-291465" algn="just">
              <a:lnSpc>
                <a:spcPct val="101099"/>
              </a:lnSpc>
              <a:spcBef>
                <a:spcPts val="69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5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searching</a:t>
            </a:r>
            <a:r>
              <a:rPr sz="1900" spc="15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-</a:t>
            </a:r>
            <a:r>
              <a:rPr sz="1900" spc="150" dirty="0"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deciding</a:t>
            </a:r>
            <a:r>
              <a:rPr sz="1900" spc="15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how</a:t>
            </a:r>
            <a:r>
              <a:rPr sz="1900" spc="16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pages</a:t>
            </a:r>
            <a:r>
              <a:rPr sz="1900" spc="15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should</a:t>
            </a:r>
            <a:r>
              <a:rPr sz="1900" spc="15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1900" spc="15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ranked,</a:t>
            </a:r>
            <a:r>
              <a:rPr sz="1900" spc="15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which</a:t>
            </a:r>
            <a:r>
              <a:rPr sz="1900" spc="150" dirty="0">
                <a:latin typeface="Cambria"/>
                <a:cs typeface="Cambria"/>
              </a:rPr>
              <a:t>  </a:t>
            </a:r>
            <a:r>
              <a:rPr sz="1900" spc="-10" dirty="0">
                <a:latin typeface="Cambria"/>
                <a:cs typeface="Cambria"/>
              </a:rPr>
              <a:t>advertisements </a:t>
            </a:r>
            <a:r>
              <a:rPr sz="1900" dirty="0">
                <a:latin typeface="Cambria"/>
                <a:cs typeface="Cambria"/>
              </a:rPr>
              <a:t>should</a:t>
            </a:r>
            <a:r>
              <a:rPr sz="1900" spc="4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459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added,</a:t>
            </a:r>
            <a:r>
              <a:rPr sz="1900" spc="459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4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how</a:t>
            </a:r>
            <a:r>
              <a:rPr sz="1900" spc="4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459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search</a:t>
            </a:r>
            <a:r>
              <a:rPr sz="1900" spc="4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results</a:t>
            </a:r>
            <a:r>
              <a:rPr sz="1900" spc="4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can</a:t>
            </a:r>
            <a:r>
              <a:rPr sz="1900" spc="4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4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personalized</a:t>
            </a:r>
            <a:r>
              <a:rPr sz="1900" spc="4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or</a:t>
            </a:r>
            <a:r>
              <a:rPr sz="1900" spc="459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made </a:t>
            </a:r>
            <a:r>
              <a:rPr sz="1900" dirty="0">
                <a:latin typeface="Cambria"/>
                <a:cs typeface="Cambria"/>
              </a:rPr>
              <a:t>“context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aware”</a:t>
            </a:r>
            <a:endParaRPr sz="19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62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Search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engines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-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grand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challenges: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720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handle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huge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ever-growing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amount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spc="-2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62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have</a:t>
            </a:r>
            <a:r>
              <a:rPr sz="1900" spc="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deal</a:t>
            </a:r>
            <a:r>
              <a:rPr sz="1900" spc="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with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online</a:t>
            </a:r>
            <a:r>
              <a:rPr sz="19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2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62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dirty="0">
                <a:latin typeface="Cambria"/>
                <a:cs typeface="Cambria"/>
              </a:rPr>
              <a:t>Responding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context-aware</a:t>
            </a:r>
            <a:r>
              <a:rPr sz="1900" i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query</a:t>
            </a:r>
            <a:endParaRPr lang="en-IN" sz="1900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625"/>
              </a:spcBef>
              <a:tabLst>
                <a:tab pos="696595" algn="l"/>
              </a:tabLst>
            </a:pPr>
            <a:r>
              <a:rPr lang="en-US" sz="1900" dirty="0">
                <a:latin typeface="Cambria"/>
              </a:rPr>
              <a:t>(Example: Searching “coffee shops” shows nearby shops based on user location.)</a:t>
            </a:r>
            <a:endParaRPr sz="1900" dirty="0">
              <a:latin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360170">
              <a:lnSpc>
                <a:spcPct val="100000"/>
              </a:lnSpc>
              <a:spcBef>
                <a:spcPts val="100"/>
              </a:spcBef>
            </a:pPr>
            <a:r>
              <a:rPr dirty="0"/>
              <a:t>1.6.2</a:t>
            </a:r>
            <a:r>
              <a:rPr spc="-35" dirty="0"/>
              <a:t> </a:t>
            </a:r>
            <a:r>
              <a:rPr spc="-25" dirty="0"/>
              <a:t>Web</a:t>
            </a:r>
            <a:r>
              <a:rPr spc="-45" dirty="0"/>
              <a:t> </a:t>
            </a:r>
            <a:r>
              <a:rPr dirty="0"/>
              <a:t>Search</a:t>
            </a:r>
            <a:r>
              <a:rPr spc="-35" dirty="0"/>
              <a:t> </a:t>
            </a:r>
            <a:r>
              <a:rPr spc="-10" dirty="0"/>
              <a:t>Engines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38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551452"/>
            <a:ext cx="9044305" cy="373507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32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Major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issues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research:</a:t>
            </a:r>
            <a:endParaRPr sz="190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i="1" dirty="0">
                <a:latin typeface="Cambria"/>
                <a:cs typeface="Cambria"/>
              </a:rPr>
              <a:t>mining</a:t>
            </a:r>
            <a:r>
              <a:rPr sz="1900" i="1" spc="130" dirty="0">
                <a:latin typeface="Cambria"/>
                <a:cs typeface="Cambria"/>
              </a:rPr>
              <a:t> </a:t>
            </a:r>
            <a:r>
              <a:rPr sz="1900" i="1" spc="-10" dirty="0">
                <a:latin typeface="Cambria"/>
                <a:cs typeface="Cambria"/>
              </a:rPr>
              <a:t>methodology,</a:t>
            </a:r>
            <a:endParaRPr sz="190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i="1" dirty="0">
                <a:latin typeface="Cambria"/>
                <a:cs typeface="Cambria"/>
              </a:rPr>
              <a:t>user</a:t>
            </a:r>
            <a:r>
              <a:rPr sz="1900" i="1" spc="65" dirty="0">
                <a:latin typeface="Cambria"/>
                <a:cs typeface="Cambria"/>
              </a:rPr>
              <a:t> </a:t>
            </a:r>
            <a:r>
              <a:rPr sz="1900" i="1" spc="-10" dirty="0">
                <a:latin typeface="Cambria"/>
                <a:cs typeface="Cambria"/>
              </a:rPr>
              <a:t>interaction,</a:t>
            </a:r>
            <a:endParaRPr sz="190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i="1" dirty="0">
                <a:latin typeface="Cambria"/>
                <a:cs typeface="Cambria"/>
              </a:rPr>
              <a:t>efficiency</a:t>
            </a:r>
            <a:r>
              <a:rPr sz="1900" i="1" spc="100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and</a:t>
            </a:r>
            <a:r>
              <a:rPr sz="1900" i="1" spc="100" dirty="0">
                <a:latin typeface="Cambria"/>
                <a:cs typeface="Cambria"/>
              </a:rPr>
              <a:t> </a:t>
            </a:r>
            <a:r>
              <a:rPr sz="1900" i="1" spc="-10" dirty="0">
                <a:latin typeface="Cambria"/>
                <a:cs typeface="Cambria"/>
              </a:rPr>
              <a:t>scalability,</a:t>
            </a:r>
            <a:endParaRPr sz="190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00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1900" i="1" dirty="0">
                <a:latin typeface="Cambria"/>
                <a:cs typeface="Cambria"/>
              </a:rPr>
              <a:t>diversity</a:t>
            </a:r>
            <a:r>
              <a:rPr sz="1900" i="1" spc="90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of</a:t>
            </a:r>
            <a:r>
              <a:rPr sz="1900" i="1" spc="80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data</a:t>
            </a:r>
            <a:r>
              <a:rPr sz="1900" i="1" spc="85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types</a:t>
            </a:r>
            <a:r>
              <a:rPr sz="1900" dirty="0">
                <a:latin typeface="Cambria"/>
                <a:cs typeface="Cambria"/>
              </a:rPr>
              <a:t>,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and</a:t>
            </a:r>
            <a:endParaRPr sz="1900">
              <a:latin typeface="Cambria"/>
              <a:cs typeface="Cambria"/>
            </a:endParaRPr>
          </a:p>
          <a:p>
            <a:pPr marL="405765" algn="just">
              <a:lnSpc>
                <a:spcPct val="100000"/>
              </a:lnSpc>
              <a:spcBef>
                <a:spcPts val="122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6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i="1" dirty="0">
                <a:latin typeface="Cambria"/>
                <a:cs typeface="Cambria"/>
              </a:rPr>
              <a:t>data</a:t>
            </a:r>
            <a:r>
              <a:rPr sz="1900" i="1" spc="55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mining</a:t>
            </a:r>
            <a:r>
              <a:rPr sz="1900" i="1" spc="65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and</a:t>
            </a:r>
            <a:r>
              <a:rPr sz="1900" i="1" spc="55" dirty="0">
                <a:latin typeface="Cambria"/>
                <a:cs typeface="Cambria"/>
              </a:rPr>
              <a:t> </a:t>
            </a:r>
            <a:r>
              <a:rPr sz="1900" i="1" spc="-10" dirty="0">
                <a:latin typeface="Cambria"/>
                <a:cs typeface="Cambria"/>
              </a:rPr>
              <a:t>society</a:t>
            </a:r>
            <a:endParaRPr sz="1900">
              <a:latin typeface="Cambria"/>
              <a:cs typeface="Cambria"/>
            </a:endParaRPr>
          </a:p>
          <a:p>
            <a:pPr marL="352425" marR="5080" indent="-340360" algn="just">
              <a:lnSpc>
                <a:spcPct val="103200"/>
              </a:lnSpc>
              <a:spcBef>
                <a:spcPts val="115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Many</a:t>
            </a:r>
            <a:r>
              <a:rPr sz="1900" spc="43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4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these</a:t>
            </a:r>
            <a:r>
              <a:rPr sz="1900" spc="4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issues</a:t>
            </a:r>
            <a:r>
              <a:rPr sz="1900" spc="4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have</a:t>
            </a:r>
            <a:r>
              <a:rPr sz="1900" spc="4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been</a:t>
            </a:r>
            <a:r>
              <a:rPr sz="1900" spc="4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addressed</a:t>
            </a:r>
            <a:r>
              <a:rPr sz="1900" spc="43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43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recent</a:t>
            </a:r>
            <a:r>
              <a:rPr sz="1900" spc="4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4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434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research</a:t>
            </a:r>
            <a:r>
              <a:rPr sz="1900" spc="430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and </a:t>
            </a:r>
            <a:r>
              <a:rPr sz="1900" dirty="0">
                <a:latin typeface="Cambria"/>
                <a:cs typeface="Cambria"/>
              </a:rPr>
              <a:t>development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to</a:t>
            </a:r>
            <a:r>
              <a:rPr sz="1900" i="1" spc="75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a</a:t>
            </a:r>
            <a:r>
              <a:rPr sz="1900" i="1" spc="80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certain</a:t>
            </a:r>
            <a:r>
              <a:rPr sz="1900" i="1" spc="80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extent</a:t>
            </a:r>
            <a:r>
              <a:rPr sz="1900" i="1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are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now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considered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data</a:t>
            </a:r>
            <a:r>
              <a:rPr sz="1900" i="1" spc="75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mining</a:t>
            </a:r>
            <a:r>
              <a:rPr sz="1900" i="1" spc="90" dirty="0">
                <a:latin typeface="Cambria"/>
                <a:cs typeface="Cambria"/>
              </a:rPr>
              <a:t> </a:t>
            </a:r>
            <a:r>
              <a:rPr sz="1900" i="1" spc="-10" dirty="0">
                <a:latin typeface="Cambria"/>
                <a:cs typeface="Cambria"/>
              </a:rPr>
              <a:t>requirements</a:t>
            </a:r>
            <a:r>
              <a:rPr sz="1900" spc="-10" dirty="0">
                <a:latin typeface="Cambria"/>
                <a:cs typeface="Cambria"/>
              </a:rPr>
              <a:t>; </a:t>
            </a:r>
            <a:r>
              <a:rPr sz="1900" dirty="0">
                <a:latin typeface="Cambria"/>
                <a:cs typeface="Cambria"/>
              </a:rPr>
              <a:t>others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are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still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at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research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stage.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889000">
              <a:lnSpc>
                <a:spcPct val="100000"/>
              </a:lnSpc>
              <a:spcBef>
                <a:spcPts val="100"/>
              </a:spcBef>
            </a:pPr>
            <a:r>
              <a:rPr dirty="0"/>
              <a:t>1.7</a:t>
            </a:r>
            <a:r>
              <a:rPr spc="5" dirty="0"/>
              <a:t> </a:t>
            </a:r>
            <a:r>
              <a:rPr dirty="0"/>
              <a:t>Major Issues</a:t>
            </a:r>
            <a:r>
              <a:rPr spc="10" dirty="0"/>
              <a:t> </a:t>
            </a:r>
            <a:r>
              <a:rPr dirty="0"/>
              <a:t>in Data</a:t>
            </a:r>
            <a:r>
              <a:rPr spc="5" dirty="0"/>
              <a:t> </a:t>
            </a:r>
            <a:r>
              <a:rPr spc="-10" dirty="0"/>
              <a:t>Mining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39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551452"/>
            <a:ext cx="9046210" cy="463043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32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Developing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new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methodologies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involves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investigation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of</a:t>
            </a:r>
            <a:endParaRPr sz="1900" dirty="0">
              <a:latin typeface="Cambria"/>
              <a:cs typeface="Cambria"/>
            </a:endParaRPr>
          </a:p>
          <a:p>
            <a:pPr marL="696595" marR="8255" indent="-291465">
              <a:lnSpc>
                <a:spcPct val="101099"/>
              </a:lnSpc>
              <a:spcBef>
                <a:spcPts val="1200"/>
              </a:spcBef>
              <a:tabLst>
                <a:tab pos="696595" algn="l"/>
                <a:tab pos="1547495" algn="l"/>
                <a:tab pos="2435860" algn="l"/>
                <a:tab pos="2954020" algn="l"/>
                <a:tab pos="3505835" algn="l"/>
                <a:tab pos="4178935" algn="l"/>
                <a:tab pos="4502785" algn="l"/>
                <a:tab pos="5798820" algn="l"/>
                <a:tab pos="6387465" algn="l"/>
                <a:tab pos="7357109" algn="l"/>
                <a:tab pos="787844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various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2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25" dirty="0">
                <a:solidFill>
                  <a:srgbClr val="FF0000"/>
                </a:solidFill>
                <a:latin typeface="Cambria"/>
                <a:cs typeface="Cambria"/>
              </a:rPr>
              <a:t>new</a:t>
            </a:r>
            <a:r>
              <a:rPr lang="en-IN" sz="19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kinds</a:t>
            </a:r>
            <a:r>
              <a:rPr lang="en-IN" sz="1900" i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spc="-2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lang="en-IN" sz="19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knowledge:</a:t>
            </a:r>
            <a:r>
              <a:rPr lang="en-IN" sz="1900" i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data</a:t>
            </a:r>
            <a:r>
              <a:rPr lang="en-IN" sz="1900" spc="-2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analysis</a:t>
            </a:r>
            <a:r>
              <a:rPr lang="en-IN" sz="1900" spc="-10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and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knowledge </a:t>
            </a:r>
            <a:r>
              <a:rPr sz="1900" dirty="0">
                <a:latin typeface="Cambria"/>
                <a:cs typeface="Cambria"/>
              </a:rPr>
              <a:t>discovery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tasks</a:t>
            </a:r>
            <a:endParaRPr sz="19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900" i="1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knowledge</a:t>
            </a:r>
            <a:r>
              <a:rPr sz="1900" i="1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1900" i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multidimensional</a:t>
            </a:r>
            <a:r>
              <a:rPr sz="1900" i="1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space</a:t>
            </a:r>
            <a:r>
              <a:rPr sz="1900" i="1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1900" i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Cube</a:t>
            </a:r>
            <a:endParaRPr sz="1900" dirty="0">
              <a:latin typeface="Cambria"/>
              <a:cs typeface="Cambria"/>
            </a:endParaRPr>
          </a:p>
          <a:p>
            <a:pPr marL="696595" marR="8255" indent="-291465">
              <a:lnSpc>
                <a:spcPct val="105300"/>
              </a:lnSpc>
              <a:spcBef>
                <a:spcPts val="1080"/>
              </a:spcBef>
              <a:tabLst>
                <a:tab pos="696595" algn="l"/>
                <a:tab pos="1356995" algn="l"/>
                <a:tab pos="2750185" algn="l"/>
                <a:tab pos="4608195" algn="l"/>
                <a:tab pos="5396865" algn="l"/>
                <a:tab pos="6713220" algn="l"/>
                <a:tab pos="7791450" algn="l"/>
                <a:tab pos="845883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lang="en-IN" sz="1400" spc="200" dirty="0">
                <a:solidFill>
                  <a:srgbClr val="2DA2BF"/>
                </a:solidFill>
                <a:latin typeface="Arial MT"/>
                <a:cs typeface="Arial MT"/>
              </a:rPr>
              <a:t> </a:t>
            </a:r>
            <a:r>
              <a:rPr sz="1900" i="1" spc="-2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mining—</a:t>
            </a:r>
            <a:r>
              <a:rPr sz="1900" i="1" spc="-25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interdisciplinary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effort: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integrating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methods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0" dirty="0">
                <a:latin typeface="Cambria"/>
                <a:cs typeface="Cambria"/>
              </a:rPr>
              <a:t>from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other disciplines</a:t>
            </a:r>
            <a:endParaRPr sz="1900" dirty="0">
              <a:latin typeface="Cambria"/>
              <a:cs typeface="Cambria"/>
            </a:endParaRPr>
          </a:p>
          <a:p>
            <a:pPr marL="696595" marR="5080" indent="-291465">
              <a:lnSpc>
                <a:spcPct val="101099"/>
              </a:lnSpc>
              <a:spcBef>
                <a:spcPts val="1200"/>
              </a:spcBef>
              <a:tabLst>
                <a:tab pos="696595" algn="l"/>
                <a:tab pos="1737360" algn="l"/>
                <a:tab pos="2200275" algn="l"/>
                <a:tab pos="2980055" algn="l"/>
                <a:tab pos="3314065" algn="l"/>
                <a:tab pos="4410710" algn="l"/>
                <a:tab pos="4745990" algn="l"/>
                <a:tab pos="5011420" algn="l"/>
                <a:tab pos="6245860" algn="l"/>
                <a:tab pos="7750809" algn="l"/>
                <a:tab pos="8007350" algn="l"/>
                <a:tab pos="8798560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Boosting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2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20" dirty="0">
                <a:solidFill>
                  <a:srgbClr val="FF0000"/>
                </a:solidFill>
                <a:latin typeface="Cambria"/>
                <a:cs typeface="Cambria"/>
              </a:rPr>
              <a:t>power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2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discovery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25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networked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environment: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spc="-50" dirty="0">
                <a:latin typeface="Cambria"/>
                <a:cs typeface="Cambria"/>
              </a:rPr>
              <a:t>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linked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5" dirty="0">
                <a:latin typeface="Cambria"/>
                <a:cs typeface="Cambria"/>
              </a:rPr>
              <a:t>or </a:t>
            </a:r>
            <a:r>
              <a:rPr sz="1900" dirty="0">
                <a:latin typeface="Cambria"/>
                <a:cs typeface="Cambria"/>
              </a:rPr>
              <a:t>interconnected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environment</a:t>
            </a:r>
            <a:endParaRPr sz="1900" dirty="0">
              <a:latin typeface="Cambria"/>
              <a:cs typeface="Cambria"/>
            </a:endParaRPr>
          </a:p>
          <a:p>
            <a:pPr marL="696595" marR="7620" indent="-291465">
              <a:lnSpc>
                <a:spcPct val="101099"/>
              </a:lnSpc>
              <a:spcBef>
                <a:spcPts val="1195"/>
              </a:spcBef>
              <a:tabLst>
                <a:tab pos="696595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Handling</a:t>
            </a:r>
            <a:r>
              <a:rPr sz="1900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uncertainty,</a:t>
            </a:r>
            <a:r>
              <a:rPr sz="1900" i="1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noise,</a:t>
            </a:r>
            <a:r>
              <a:rPr sz="1900" i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1900" i="1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incompleteness</a:t>
            </a:r>
            <a:r>
              <a:rPr sz="1900" i="1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900" i="1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data:</a:t>
            </a:r>
            <a:r>
              <a:rPr sz="1900" i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noise,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errors,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exceptions, </a:t>
            </a:r>
            <a:r>
              <a:rPr sz="1900" dirty="0">
                <a:latin typeface="Cambria"/>
                <a:cs typeface="Cambria"/>
              </a:rPr>
              <a:t>or</a:t>
            </a:r>
            <a:r>
              <a:rPr sz="1900" spc="1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uncertainty,</a:t>
            </a:r>
            <a:r>
              <a:rPr sz="1900" spc="2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or</a:t>
            </a:r>
            <a:r>
              <a:rPr sz="1900" spc="1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are</a:t>
            </a:r>
            <a:r>
              <a:rPr sz="1900" spc="2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incomplete</a:t>
            </a:r>
            <a:endParaRPr sz="1900" dirty="0">
              <a:latin typeface="Cambria"/>
              <a:cs typeface="Cambria"/>
            </a:endParaRPr>
          </a:p>
          <a:p>
            <a:pPr marL="696595" marR="9525" indent="-291465">
              <a:lnSpc>
                <a:spcPct val="105300"/>
              </a:lnSpc>
              <a:spcBef>
                <a:spcPts val="1105"/>
              </a:spcBef>
              <a:tabLst>
                <a:tab pos="696595" algn="l"/>
                <a:tab pos="1654810" algn="l"/>
                <a:tab pos="2929255" algn="l"/>
                <a:tab pos="3502025" algn="l"/>
                <a:tab pos="4535170" algn="l"/>
                <a:tab pos="4941570" algn="l"/>
                <a:tab pos="6949440" algn="l"/>
                <a:tab pos="7919084" algn="l"/>
              </a:tabLst>
            </a:pPr>
            <a:r>
              <a:rPr sz="1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Pattern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evaluation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2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pattern-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25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constraint-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guided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solidFill>
                  <a:srgbClr val="FF0000"/>
                </a:solidFill>
                <a:latin typeface="Cambria"/>
                <a:cs typeface="Cambria"/>
              </a:rPr>
              <a:t>mining:</a:t>
            </a:r>
            <a:r>
              <a:rPr sz="19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1900" i="1" spc="-10" dirty="0">
                <a:latin typeface="Cambria"/>
                <a:cs typeface="Cambria"/>
              </a:rPr>
              <a:t>interesting patterns</a:t>
            </a:r>
            <a:endParaRPr sz="19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100"/>
              </a:spcBef>
            </a:pPr>
            <a:r>
              <a:rPr dirty="0"/>
              <a:t>1.7.1</a:t>
            </a:r>
            <a:r>
              <a:rPr spc="25" dirty="0"/>
              <a:t> </a:t>
            </a:r>
            <a:r>
              <a:rPr dirty="0"/>
              <a:t>Mining</a:t>
            </a:r>
            <a:r>
              <a:rPr spc="2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40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692047"/>
            <a:ext cx="9048750" cy="489966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52425" marR="5080" indent="-340360" algn="just">
              <a:lnSpc>
                <a:spcPts val="2110"/>
              </a:lnSpc>
              <a:spcBef>
                <a:spcPts val="210"/>
              </a:spcBef>
            </a:pPr>
            <a:r>
              <a:rPr sz="1100" dirty="0">
                <a:solidFill>
                  <a:srgbClr val="DA1F28"/>
                </a:solidFill>
                <a:latin typeface="Wingdings"/>
                <a:cs typeface="Wingdings"/>
              </a:rPr>
              <a:t></a:t>
            </a:r>
            <a:r>
              <a:rPr sz="1100" spc="415" dirty="0">
                <a:solidFill>
                  <a:srgbClr val="DA1F28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latin typeface="Cambria"/>
                <a:cs typeface="Cambria"/>
              </a:rPr>
              <a:t>Interesting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areas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research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include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how</a:t>
            </a:r>
            <a:r>
              <a:rPr sz="1800" i="1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800" i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interact</a:t>
            </a:r>
            <a:r>
              <a:rPr sz="1800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1800" i="1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800" i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i="1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800" i="1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system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,</a:t>
            </a:r>
            <a:r>
              <a:rPr sz="1800" spc="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how</a:t>
            </a:r>
            <a:r>
              <a:rPr sz="1800" i="1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25" dirty="0">
                <a:solidFill>
                  <a:srgbClr val="FF0000"/>
                </a:solidFill>
                <a:latin typeface="Cambria"/>
                <a:cs typeface="Cambria"/>
              </a:rPr>
              <a:t>to </a:t>
            </a:r>
            <a:r>
              <a:rPr sz="1800" i="1" spc="-30" dirty="0">
                <a:solidFill>
                  <a:srgbClr val="FF0000"/>
                </a:solidFill>
                <a:latin typeface="Cambria"/>
                <a:cs typeface="Cambria"/>
              </a:rPr>
              <a:t>incorporate</a:t>
            </a:r>
            <a:r>
              <a:rPr sz="18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8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mbria"/>
                <a:cs typeface="Cambria"/>
              </a:rPr>
              <a:t>user’s</a:t>
            </a:r>
            <a:r>
              <a:rPr sz="18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40" dirty="0">
                <a:solidFill>
                  <a:srgbClr val="FF0000"/>
                </a:solidFill>
                <a:latin typeface="Cambria"/>
                <a:cs typeface="Cambria"/>
              </a:rPr>
              <a:t>back</a:t>
            </a:r>
            <a:r>
              <a:rPr sz="1800" i="1" spc="-25" dirty="0">
                <a:solidFill>
                  <a:srgbClr val="FF0000"/>
                </a:solidFill>
                <a:latin typeface="Cambria"/>
                <a:cs typeface="Cambria"/>
              </a:rPr>
              <a:t>ground</a:t>
            </a:r>
            <a:r>
              <a:rPr sz="18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35" dirty="0">
                <a:solidFill>
                  <a:srgbClr val="FF0000"/>
                </a:solidFill>
                <a:latin typeface="Cambria"/>
                <a:cs typeface="Cambria"/>
              </a:rPr>
              <a:t>knowledge</a:t>
            </a:r>
            <a:r>
              <a:rPr sz="18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18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2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,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800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mbria"/>
                <a:cs typeface="Cambria"/>
              </a:rPr>
              <a:t>how</a:t>
            </a:r>
            <a:r>
              <a:rPr sz="18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8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25" dirty="0">
                <a:solidFill>
                  <a:srgbClr val="FF0000"/>
                </a:solidFill>
                <a:latin typeface="Cambria"/>
                <a:cs typeface="Cambria"/>
              </a:rPr>
              <a:t>visualize</a:t>
            </a:r>
            <a:r>
              <a:rPr sz="18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8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mbria"/>
                <a:cs typeface="Cambria"/>
              </a:rPr>
              <a:t>comprehend </a:t>
            </a:r>
            <a:r>
              <a:rPr sz="1800" i="1" spc="-2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2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8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mbria"/>
                <a:cs typeface="Cambria"/>
              </a:rPr>
              <a:t>results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1800" dirty="0">
              <a:latin typeface="Cambria"/>
              <a:cs typeface="Cambria"/>
            </a:endParaRPr>
          </a:p>
          <a:p>
            <a:pPr marL="351790" indent="-339090" algn="just">
              <a:lnSpc>
                <a:spcPct val="100000"/>
              </a:lnSpc>
              <a:spcBef>
                <a:spcPts val="47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1790" algn="l"/>
              </a:tabLst>
            </a:pPr>
            <a:r>
              <a:rPr sz="1800" i="1" spc="-30" dirty="0">
                <a:latin typeface="Cambria"/>
                <a:cs typeface="Cambria"/>
              </a:rPr>
              <a:t>Interactive</a:t>
            </a:r>
            <a:r>
              <a:rPr sz="1800" i="1" spc="-10" dirty="0">
                <a:latin typeface="Cambria"/>
                <a:cs typeface="Cambria"/>
              </a:rPr>
              <a:t> mining:</a:t>
            </a:r>
            <a:endParaRPr sz="18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97200"/>
              </a:lnSpc>
              <a:spcBef>
                <a:spcPts val="615"/>
              </a:spcBef>
            </a:pPr>
            <a:r>
              <a:rPr sz="1200" spc="21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spc="17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mining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should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highly</a:t>
            </a:r>
            <a:r>
              <a:rPr sz="1800" spc="1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interactive</a:t>
            </a:r>
            <a:r>
              <a:rPr sz="1800" dirty="0">
                <a:latin typeface="Cambria"/>
                <a:cs typeface="Cambria"/>
              </a:rPr>
              <a:t>.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Thus,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important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-40" dirty="0">
                <a:latin typeface="Cambria"/>
                <a:cs typeface="Cambria"/>
              </a:rPr>
              <a:t>build </a:t>
            </a:r>
            <a:r>
              <a:rPr sz="1800" dirty="0">
                <a:latin typeface="Cambria"/>
                <a:cs typeface="Cambria"/>
              </a:rPr>
              <a:t>flexible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interfaces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exploratory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mining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environment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,</a:t>
            </a:r>
            <a:r>
              <a:rPr sz="18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facilitating</a:t>
            </a:r>
            <a:r>
              <a:rPr sz="1800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user’s 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interaction</a:t>
            </a:r>
            <a:r>
              <a:rPr sz="1800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1800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system.</a:t>
            </a:r>
            <a:endParaRPr sz="1800" dirty="0">
              <a:latin typeface="Cambria"/>
              <a:cs typeface="Cambria"/>
            </a:endParaRPr>
          </a:p>
          <a:p>
            <a:pPr marL="351790" indent="-339090" algn="just">
              <a:lnSpc>
                <a:spcPct val="100000"/>
              </a:lnSpc>
              <a:spcBef>
                <a:spcPts val="52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1790" algn="l"/>
              </a:tabLst>
            </a:pPr>
            <a:r>
              <a:rPr sz="1800" i="1" spc="-35" dirty="0">
                <a:latin typeface="Cambria"/>
                <a:cs typeface="Cambria"/>
              </a:rPr>
              <a:t>Incorporation</a:t>
            </a:r>
            <a:r>
              <a:rPr sz="1800" i="1" spc="-2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of</a:t>
            </a:r>
            <a:r>
              <a:rPr sz="1800" i="1" spc="-10" dirty="0">
                <a:latin typeface="Cambria"/>
                <a:cs typeface="Cambria"/>
              </a:rPr>
              <a:t> </a:t>
            </a:r>
            <a:r>
              <a:rPr sz="1800" i="1" spc="-35" dirty="0">
                <a:latin typeface="Cambria"/>
                <a:cs typeface="Cambria"/>
              </a:rPr>
              <a:t>background</a:t>
            </a:r>
            <a:r>
              <a:rPr sz="1800" i="1" spc="-30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knowledge:</a:t>
            </a:r>
            <a:endParaRPr sz="18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ts val="2090"/>
              </a:lnSpc>
              <a:spcBef>
                <a:spcPts val="585"/>
              </a:spcBef>
            </a:pPr>
            <a:r>
              <a:rPr sz="1200" spc="21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spc="19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spc="-30" dirty="0">
                <a:latin typeface="Cambria"/>
                <a:cs typeface="Cambria"/>
              </a:rPr>
              <a:t>Background</a:t>
            </a:r>
            <a:r>
              <a:rPr sz="1800" spc="-25" dirty="0">
                <a:latin typeface="Cambria"/>
                <a:cs typeface="Cambria"/>
              </a:rPr>
              <a:t> knowledge,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constraints,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rules,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other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information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regarding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domain </a:t>
            </a:r>
            <a:r>
              <a:rPr sz="1800" spc="-25" dirty="0">
                <a:latin typeface="Cambria"/>
                <a:cs typeface="Cambria"/>
              </a:rPr>
              <a:t>under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study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should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be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incorporated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into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Cambria"/>
                <a:cs typeface="Cambria"/>
              </a:rPr>
              <a:t>knowledge</a:t>
            </a:r>
            <a:r>
              <a:rPr sz="18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Cambria"/>
                <a:cs typeface="Cambria"/>
              </a:rPr>
              <a:t>discovery</a:t>
            </a:r>
            <a:r>
              <a:rPr sz="18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process</a:t>
            </a:r>
            <a:endParaRPr sz="1800" dirty="0">
              <a:latin typeface="Cambria"/>
              <a:cs typeface="Cambria"/>
            </a:endParaRPr>
          </a:p>
          <a:p>
            <a:pPr marL="351790" indent="-339090" algn="just">
              <a:lnSpc>
                <a:spcPct val="100000"/>
              </a:lnSpc>
              <a:spcBef>
                <a:spcPts val="49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1790" algn="l"/>
              </a:tabLst>
            </a:pPr>
            <a:r>
              <a:rPr sz="1800" i="1" dirty="0">
                <a:latin typeface="Cambria"/>
                <a:cs typeface="Cambria"/>
              </a:rPr>
              <a:t>Ad</a:t>
            </a:r>
            <a:r>
              <a:rPr sz="1800" i="1" spc="-7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hoc</a:t>
            </a:r>
            <a:r>
              <a:rPr sz="1800" i="1" spc="-70" dirty="0">
                <a:latin typeface="Cambria"/>
                <a:cs typeface="Cambria"/>
              </a:rPr>
              <a:t> </a:t>
            </a:r>
            <a:r>
              <a:rPr sz="1800" i="1" spc="-20" dirty="0">
                <a:latin typeface="Cambria"/>
                <a:cs typeface="Cambria"/>
              </a:rPr>
              <a:t>data</a:t>
            </a:r>
            <a:r>
              <a:rPr sz="1800" i="1" spc="-65" dirty="0">
                <a:latin typeface="Cambria"/>
                <a:cs typeface="Cambria"/>
              </a:rPr>
              <a:t> </a:t>
            </a:r>
            <a:r>
              <a:rPr sz="1800" i="1" spc="-20" dirty="0">
                <a:latin typeface="Cambria"/>
                <a:cs typeface="Cambria"/>
              </a:rPr>
              <a:t>mining</a:t>
            </a:r>
            <a:r>
              <a:rPr sz="1800" i="1" spc="-70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and</a:t>
            </a:r>
            <a:r>
              <a:rPr sz="1800" i="1" spc="-75" dirty="0">
                <a:latin typeface="Cambria"/>
                <a:cs typeface="Cambria"/>
              </a:rPr>
              <a:t> </a:t>
            </a:r>
            <a:r>
              <a:rPr sz="1800" i="1" spc="-20" dirty="0">
                <a:latin typeface="Cambria"/>
                <a:cs typeface="Cambria"/>
              </a:rPr>
              <a:t>data</a:t>
            </a:r>
            <a:r>
              <a:rPr sz="1800" i="1" spc="-60" dirty="0">
                <a:latin typeface="Cambria"/>
                <a:cs typeface="Cambria"/>
              </a:rPr>
              <a:t> </a:t>
            </a:r>
            <a:r>
              <a:rPr sz="1800" i="1" spc="-20" dirty="0">
                <a:latin typeface="Cambria"/>
                <a:cs typeface="Cambria"/>
              </a:rPr>
              <a:t>mining</a:t>
            </a:r>
            <a:r>
              <a:rPr sz="1800" i="1" spc="-75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query</a:t>
            </a:r>
            <a:r>
              <a:rPr sz="1800" i="1" spc="-70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languages:</a:t>
            </a:r>
            <a:endParaRPr sz="1800" dirty="0">
              <a:latin typeface="Cambria"/>
              <a:cs typeface="Cambria"/>
            </a:endParaRPr>
          </a:p>
          <a:p>
            <a:pPr marL="696595" marR="6985" indent="-291465" algn="just">
              <a:lnSpc>
                <a:spcPts val="2110"/>
              </a:lnSpc>
              <a:spcBef>
                <a:spcPts val="640"/>
              </a:spcBef>
            </a:pPr>
            <a:r>
              <a:rPr sz="1200" spc="21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spc="15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spc="-35" dirty="0">
                <a:latin typeface="Cambria"/>
                <a:cs typeface="Cambria"/>
              </a:rPr>
              <a:t>high-</a:t>
            </a:r>
            <a:r>
              <a:rPr sz="1800" dirty="0">
                <a:latin typeface="Cambria"/>
                <a:cs typeface="Cambria"/>
              </a:rPr>
              <a:t>level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mining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query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languages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other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high-</a:t>
            </a:r>
            <a:r>
              <a:rPr sz="1800" dirty="0">
                <a:latin typeface="Cambria"/>
                <a:cs typeface="Cambria"/>
              </a:rPr>
              <a:t>level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flexible</a:t>
            </a:r>
            <a:r>
              <a:rPr sz="1800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user</a:t>
            </a:r>
            <a:r>
              <a:rPr sz="1800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interfaces</a:t>
            </a:r>
            <a:r>
              <a:rPr sz="1800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"/>
                <a:cs typeface="Cambria"/>
              </a:rPr>
              <a:t>will 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give</a:t>
            </a:r>
            <a:r>
              <a:rPr sz="1800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users</a:t>
            </a:r>
            <a:r>
              <a:rPr sz="1800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8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freedom</a:t>
            </a:r>
            <a:r>
              <a:rPr sz="1800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define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hoc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data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mining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tasks.</a:t>
            </a:r>
            <a:endParaRPr sz="1800" dirty="0">
              <a:latin typeface="Cambria"/>
              <a:cs typeface="Cambria"/>
            </a:endParaRPr>
          </a:p>
          <a:p>
            <a:pPr marL="351790" indent="-339090" algn="just">
              <a:lnSpc>
                <a:spcPct val="100000"/>
              </a:lnSpc>
              <a:spcBef>
                <a:spcPts val="46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1790" algn="l"/>
              </a:tabLst>
            </a:pPr>
            <a:r>
              <a:rPr sz="1800" i="1" spc="-30" dirty="0">
                <a:latin typeface="Cambria"/>
                <a:cs typeface="Cambria"/>
              </a:rPr>
              <a:t>Presentation</a:t>
            </a:r>
            <a:r>
              <a:rPr sz="1800" i="1" spc="-50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and</a:t>
            </a:r>
            <a:r>
              <a:rPr sz="1800" i="1" spc="-50" dirty="0">
                <a:latin typeface="Cambria"/>
                <a:cs typeface="Cambria"/>
              </a:rPr>
              <a:t> </a:t>
            </a:r>
            <a:r>
              <a:rPr sz="1800" i="1" spc="-30" dirty="0">
                <a:latin typeface="Cambria"/>
                <a:cs typeface="Cambria"/>
              </a:rPr>
              <a:t>visualization</a:t>
            </a:r>
            <a:r>
              <a:rPr sz="1800" i="1" spc="-4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of</a:t>
            </a:r>
            <a:r>
              <a:rPr sz="1800" i="1" spc="-35" dirty="0">
                <a:latin typeface="Cambria"/>
                <a:cs typeface="Cambria"/>
              </a:rPr>
              <a:t> </a:t>
            </a:r>
            <a:r>
              <a:rPr sz="1800" i="1" spc="-20" dirty="0">
                <a:latin typeface="Cambria"/>
                <a:cs typeface="Cambria"/>
              </a:rPr>
              <a:t>data</a:t>
            </a:r>
            <a:r>
              <a:rPr sz="1800" i="1" spc="-40" dirty="0">
                <a:latin typeface="Cambria"/>
                <a:cs typeface="Cambria"/>
              </a:rPr>
              <a:t> </a:t>
            </a:r>
            <a:r>
              <a:rPr sz="1800" i="1" spc="-20" dirty="0">
                <a:latin typeface="Cambria"/>
                <a:cs typeface="Cambria"/>
              </a:rPr>
              <a:t>mining</a:t>
            </a:r>
            <a:r>
              <a:rPr sz="1800" i="1" spc="-50" dirty="0">
                <a:latin typeface="Cambria"/>
                <a:cs typeface="Cambria"/>
              </a:rPr>
              <a:t> </a:t>
            </a:r>
            <a:r>
              <a:rPr sz="1800" i="1" spc="-10" dirty="0">
                <a:latin typeface="Cambria"/>
                <a:cs typeface="Cambria"/>
              </a:rPr>
              <a:t>results:</a:t>
            </a:r>
            <a:endParaRPr sz="18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ts val="2090"/>
              </a:lnSpc>
              <a:spcBef>
                <a:spcPts val="680"/>
              </a:spcBef>
            </a:pPr>
            <a:r>
              <a:rPr sz="1200" spc="215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200" spc="20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adopt </a:t>
            </a:r>
            <a:r>
              <a:rPr sz="1800" spc="-30" dirty="0">
                <a:solidFill>
                  <a:srgbClr val="FF0000"/>
                </a:solidFill>
                <a:latin typeface="Cambria"/>
                <a:cs typeface="Cambria"/>
              </a:rPr>
              <a:t>expressive</a:t>
            </a:r>
            <a:r>
              <a:rPr sz="1800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"/>
                <a:cs typeface="Cambria"/>
              </a:rPr>
              <a:t>knowledge</a:t>
            </a:r>
            <a:r>
              <a:rPr sz="1800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representations,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user-</a:t>
            </a:r>
            <a:r>
              <a:rPr sz="1800" spc="-20" dirty="0">
                <a:latin typeface="Cambria"/>
                <a:cs typeface="Cambria"/>
              </a:rPr>
              <a:t>friendly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interfaces,</a:t>
            </a:r>
            <a:r>
              <a:rPr sz="1800" dirty="0">
                <a:latin typeface="Cambria"/>
                <a:cs typeface="Cambria"/>
              </a:rPr>
              <a:t> and</a:t>
            </a:r>
            <a:r>
              <a:rPr sz="1800" spc="-1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visualization </a:t>
            </a:r>
            <a:r>
              <a:rPr sz="1800" spc="-10" dirty="0">
                <a:latin typeface="Cambria"/>
                <a:cs typeface="Cambria"/>
              </a:rPr>
              <a:t>techniques.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650364">
              <a:lnSpc>
                <a:spcPct val="100000"/>
              </a:lnSpc>
              <a:spcBef>
                <a:spcPts val="100"/>
              </a:spcBef>
            </a:pPr>
            <a:r>
              <a:rPr dirty="0"/>
              <a:t>1.7.2</a:t>
            </a:r>
            <a:r>
              <a:rPr spc="25" dirty="0"/>
              <a:t> </a:t>
            </a:r>
            <a:r>
              <a:rPr dirty="0"/>
              <a:t>User</a:t>
            </a:r>
            <a:r>
              <a:rPr spc="15" dirty="0"/>
              <a:t> </a:t>
            </a:r>
            <a:r>
              <a:rPr spc="-10" dirty="0"/>
              <a:t>Interaction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41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501" y="1512645"/>
            <a:ext cx="10008398" cy="605479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 marR="6985" indent="-340360">
              <a:lnSpc>
                <a:spcPct val="101099"/>
              </a:lnSpc>
              <a:spcBef>
                <a:spcPts val="7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Efficiency</a:t>
            </a:r>
            <a:r>
              <a:rPr sz="1900" spc="8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8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scalability</a:t>
            </a:r>
            <a:r>
              <a:rPr sz="1900" spc="8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are</a:t>
            </a:r>
            <a:r>
              <a:rPr sz="1900" spc="8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always</a:t>
            </a:r>
            <a:r>
              <a:rPr sz="1900" spc="8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considered</a:t>
            </a:r>
            <a:r>
              <a:rPr sz="1900" spc="8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when</a:t>
            </a:r>
            <a:r>
              <a:rPr sz="1900" spc="80" dirty="0"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comparing</a:t>
            </a:r>
            <a:r>
              <a:rPr sz="1900" spc="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mining </a:t>
            </a:r>
            <a:r>
              <a:rPr sz="1900" spc="-10" dirty="0">
                <a:latin typeface="Cambria"/>
                <a:cs typeface="Cambria"/>
              </a:rPr>
              <a:t>algorithms.</a:t>
            </a:r>
            <a:endParaRPr sz="19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As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amounts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continue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multiply</a:t>
            </a:r>
            <a:r>
              <a:rPr sz="1900" dirty="0">
                <a:latin typeface="Cambria"/>
                <a:cs typeface="Cambria"/>
              </a:rPr>
              <a:t>,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these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factors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19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especially</a:t>
            </a:r>
            <a:r>
              <a:rPr sz="19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critical</a:t>
            </a:r>
            <a:r>
              <a:rPr sz="1900" spc="-10" dirty="0">
                <a:latin typeface="Cambria"/>
                <a:cs typeface="Cambria"/>
              </a:rPr>
              <a:t>.</a:t>
            </a:r>
            <a:endParaRPr sz="19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22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Efficiency</a:t>
            </a:r>
            <a:r>
              <a:rPr sz="19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9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scalability:</a:t>
            </a:r>
            <a:endParaRPr sz="19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5300"/>
              </a:lnSpc>
              <a:spcBef>
                <a:spcPts val="1080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5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running</a:t>
            </a:r>
            <a:r>
              <a:rPr sz="1900" spc="12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time</a:t>
            </a:r>
            <a:r>
              <a:rPr sz="1900" spc="12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114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</a:t>
            </a:r>
            <a:r>
              <a:rPr sz="1900" spc="12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12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12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algorithm</a:t>
            </a:r>
            <a:r>
              <a:rPr sz="1900" spc="13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must</a:t>
            </a:r>
            <a:r>
              <a:rPr sz="1900" spc="12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12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predictable,</a:t>
            </a:r>
            <a:r>
              <a:rPr sz="1900" spc="114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short,</a:t>
            </a:r>
            <a:r>
              <a:rPr sz="1900" spc="120" dirty="0">
                <a:latin typeface="Cambria"/>
                <a:cs typeface="Cambria"/>
              </a:rPr>
              <a:t>  </a:t>
            </a:r>
            <a:r>
              <a:rPr sz="1900" spc="-25" dirty="0">
                <a:latin typeface="Cambria"/>
                <a:cs typeface="Cambria"/>
              </a:rPr>
              <a:t>and </a:t>
            </a:r>
            <a:r>
              <a:rPr sz="1900" dirty="0">
                <a:latin typeface="Cambria"/>
                <a:cs typeface="Cambria"/>
              </a:rPr>
              <a:t>acceptable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by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applications.</a:t>
            </a:r>
            <a:endParaRPr sz="1900" dirty="0">
              <a:latin typeface="Cambria"/>
              <a:cs typeface="Cambria"/>
            </a:endParaRPr>
          </a:p>
          <a:p>
            <a:pPr marL="696595" marR="6350" indent="-291465" algn="just">
              <a:lnSpc>
                <a:spcPct val="101099"/>
              </a:lnSpc>
              <a:spcBef>
                <a:spcPts val="1200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6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i="1" dirty="0">
                <a:latin typeface="Cambria"/>
                <a:cs typeface="Cambria"/>
              </a:rPr>
              <a:t>Efficiency,</a:t>
            </a:r>
            <a:r>
              <a:rPr sz="1900" i="1" spc="385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scalability,</a:t>
            </a:r>
            <a:r>
              <a:rPr sz="1900" i="1" spc="380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performance,</a:t>
            </a:r>
            <a:r>
              <a:rPr sz="1900" i="1" spc="380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optimization</a:t>
            </a:r>
            <a:r>
              <a:rPr sz="1900" dirty="0">
                <a:latin typeface="Cambria"/>
                <a:cs typeface="Cambria"/>
              </a:rPr>
              <a:t>,</a:t>
            </a:r>
            <a:r>
              <a:rPr sz="1900" spc="3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4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3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ability</a:t>
            </a:r>
            <a:r>
              <a:rPr sz="1900" spc="4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3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execute</a:t>
            </a:r>
            <a:r>
              <a:rPr sz="1900" spc="395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in </a:t>
            </a:r>
            <a:r>
              <a:rPr sz="1900" i="1" dirty="0">
                <a:latin typeface="Cambria"/>
                <a:cs typeface="Cambria"/>
              </a:rPr>
              <a:t>real</a:t>
            </a:r>
            <a:r>
              <a:rPr sz="1900" i="1" spc="145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time</a:t>
            </a:r>
            <a:r>
              <a:rPr sz="1900" i="1" spc="1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are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key</a:t>
            </a:r>
            <a:r>
              <a:rPr sz="1900" spc="1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criteria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that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drive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development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many</a:t>
            </a:r>
            <a:r>
              <a:rPr sz="1900" spc="1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new</a:t>
            </a:r>
            <a:r>
              <a:rPr sz="1900" spc="1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15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mining algorithms.</a:t>
            </a:r>
            <a:endParaRPr lang="en-IN" sz="1900" spc="-10" dirty="0">
              <a:latin typeface="Cambria"/>
              <a:cs typeface="Cambria"/>
            </a:endParaRPr>
          </a:p>
          <a:p>
            <a:r>
              <a:rPr lang="en-US" sz="1900" i="1" dirty="0">
                <a:latin typeface="Cambria"/>
              </a:rPr>
              <a:t>Efficiency-Refers to </a:t>
            </a:r>
            <a:r>
              <a:rPr lang="en-US" sz="1900" i="1" dirty="0">
                <a:solidFill>
                  <a:srgbClr val="FF0000"/>
                </a:solidFill>
                <a:latin typeface="Cambria"/>
              </a:rPr>
              <a:t>how quickly and resource-effectively a data mining algorithm </a:t>
            </a:r>
            <a:r>
              <a:rPr lang="en-US" sz="1900" i="1" dirty="0">
                <a:latin typeface="Cambria"/>
              </a:rPr>
              <a:t>or system can process </a:t>
            </a:r>
            <a:r>
              <a:rPr lang="en-US" sz="1900" i="1" dirty="0" err="1">
                <a:latin typeface="Cambria"/>
              </a:rPr>
              <a:t>data.An</a:t>
            </a:r>
            <a:r>
              <a:rPr lang="en-US" sz="1900" i="1" dirty="0">
                <a:latin typeface="Cambria"/>
              </a:rPr>
              <a:t> efficient algorithm uses minimal CPU time, memory, and storage while performing tasks.</a:t>
            </a:r>
          </a:p>
          <a:p>
            <a:r>
              <a:rPr lang="en-US" sz="1900" i="1" dirty="0">
                <a:latin typeface="Cambria"/>
              </a:rPr>
              <a:t>Scalability-Refers to the algorithm’s </a:t>
            </a:r>
            <a:r>
              <a:rPr lang="en-US" sz="1900" i="1" dirty="0">
                <a:solidFill>
                  <a:srgbClr val="FF0000"/>
                </a:solidFill>
                <a:latin typeface="Cambria"/>
              </a:rPr>
              <a:t>ability to handle increasing amounts of data </a:t>
            </a:r>
            <a:r>
              <a:rPr lang="en-US" sz="1900" i="1" dirty="0">
                <a:latin typeface="Cambria"/>
              </a:rPr>
              <a:t>without a significant drop in performance.</a:t>
            </a:r>
          </a:p>
          <a:p>
            <a:r>
              <a:rPr lang="en-US" sz="1900" i="1" dirty="0">
                <a:latin typeface="Cambria"/>
              </a:rPr>
              <a:t>A scalable data mining system works well with:</a:t>
            </a:r>
          </a:p>
          <a:p>
            <a:pPr lvl="1"/>
            <a:r>
              <a:rPr lang="en-US" sz="1900" i="1" dirty="0">
                <a:latin typeface="Cambria"/>
              </a:rPr>
              <a:t>	Large datasets (millions of records or more)</a:t>
            </a:r>
          </a:p>
          <a:p>
            <a:pPr lvl="1"/>
            <a:r>
              <a:rPr lang="en-US" sz="1900" i="1" dirty="0">
                <a:latin typeface="Cambria"/>
              </a:rPr>
              <a:t>	High-dimensional data (many attributes/features)</a:t>
            </a:r>
          </a:p>
          <a:p>
            <a:pPr lvl="1"/>
            <a:r>
              <a:rPr lang="en-US" sz="1900" i="1" dirty="0">
                <a:latin typeface="Cambria"/>
              </a:rPr>
              <a:t>	Distributed data sources</a:t>
            </a:r>
          </a:p>
          <a:p>
            <a:pPr marL="696595" marR="6350" indent="-291465" algn="just">
              <a:lnSpc>
                <a:spcPct val="101099"/>
              </a:lnSpc>
              <a:spcBef>
                <a:spcPts val="1200"/>
              </a:spcBef>
            </a:pPr>
            <a:endParaRPr sz="19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969010">
              <a:lnSpc>
                <a:spcPct val="100000"/>
              </a:lnSpc>
              <a:spcBef>
                <a:spcPts val="100"/>
              </a:spcBef>
            </a:pPr>
            <a:r>
              <a:rPr dirty="0"/>
              <a:t>1.7.3</a:t>
            </a:r>
            <a:r>
              <a:rPr spc="15" dirty="0"/>
              <a:t> </a:t>
            </a:r>
            <a:r>
              <a:rPr dirty="0"/>
              <a:t>Efficiency</a:t>
            </a:r>
            <a:r>
              <a:rPr spc="2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42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32A78-FAF1-E94D-BC3F-FC6ED059B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495425"/>
            <a:ext cx="9906000" cy="6334683"/>
          </a:xfrm>
        </p:spPr>
        <p:txBody>
          <a:bodyPr/>
          <a:lstStyle/>
          <a:p>
            <a:pPr marL="352425" indent="-339725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lang="en-US" i="1" dirty="0">
                <a:solidFill>
                  <a:srgbClr val="FF0000"/>
                </a:solidFill>
              </a:rPr>
              <a:t>Parallel,</a:t>
            </a:r>
            <a:r>
              <a:rPr lang="en-US" i="1" spc="90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distributed,</a:t>
            </a:r>
            <a:r>
              <a:rPr lang="en-US" i="1" spc="95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and</a:t>
            </a:r>
            <a:r>
              <a:rPr lang="en-US" i="1" spc="110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incremental</a:t>
            </a:r>
            <a:r>
              <a:rPr lang="en-US" i="1" spc="100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mining</a:t>
            </a:r>
            <a:r>
              <a:rPr lang="en-US" i="1" spc="120" dirty="0">
                <a:solidFill>
                  <a:srgbClr val="FF0000"/>
                </a:solidFill>
              </a:rPr>
              <a:t> </a:t>
            </a:r>
            <a:r>
              <a:rPr lang="en-US" i="1" spc="-10" dirty="0">
                <a:solidFill>
                  <a:srgbClr val="FF0000"/>
                </a:solidFill>
              </a:rPr>
              <a:t>algorithms:</a:t>
            </a:r>
            <a:endParaRPr lang="en-US" dirty="0"/>
          </a:p>
          <a:p>
            <a:pPr marL="696595" marR="6985" indent="-291465">
              <a:lnSpc>
                <a:spcPct val="105300"/>
              </a:lnSpc>
              <a:spcBef>
                <a:spcPts val="1100"/>
              </a:spcBef>
              <a:tabLst>
                <a:tab pos="696595" algn="l"/>
              </a:tabLst>
            </a:pPr>
            <a:r>
              <a:rPr lang="en-US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lang="en-US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lang="en-US" dirty="0"/>
              <a:t>First</a:t>
            </a:r>
            <a:r>
              <a:rPr lang="en-US" spc="375" dirty="0"/>
              <a:t> </a:t>
            </a:r>
            <a:r>
              <a:rPr lang="en-US" dirty="0"/>
              <a:t>partition</a:t>
            </a:r>
            <a:r>
              <a:rPr lang="en-US" spc="380" dirty="0"/>
              <a:t> </a:t>
            </a:r>
            <a:r>
              <a:rPr lang="en-US" dirty="0"/>
              <a:t>the</a:t>
            </a:r>
            <a:r>
              <a:rPr lang="en-US" spc="380" dirty="0"/>
              <a:t> </a:t>
            </a:r>
            <a:r>
              <a:rPr lang="en-US" dirty="0"/>
              <a:t>data</a:t>
            </a:r>
            <a:r>
              <a:rPr lang="en-US" spc="380" dirty="0"/>
              <a:t> </a:t>
            </a:r>
            <a:r>
              <a:rPr lang="en-US" dirty="0"/>
              <a:t>into</a:t>
            </a:r>
            <a:r>
              <a:rPr lang="en-US" spc="390" dirty="0"/>
              <a:t> </a:t>
            </a:r>
            <a:r>
              <a:rPr lang="en-US" dirty="0">
                <a:solidFill>
                  <a:srgbClr val="FF0000"/>
                </a:solidFill>
              </a:rPr>
              <a:t>“pieces.”</a:t>
            </a:r>
            <a:r>
              <a:rPr lang="en-US" spc="375" dirty="0">
                <a:solidFill>
                  <a:srgbClr val="FF0000"/>
                </a:solidFill>
              </a:rPr>
              <a:t> </a:t>
            </a:r>
            <a:r>
              <a:rPr lang="en-US" dirty="0"/>
              <a:t>Each</a:t>
            </a:r>
            <a:r>
              <a:rPr lang="en-US" spc="385" dirty="0"/>
              <a:t> </a:t>
            </a:r>
            <a:r>
              <a:rPr lang="en-US" dirty="0"/>
              <a:t>piece</a:t>
            </a:r>
            <a:r>
              <a:rPr lang="en-US" spc="380" dirty="0"/>
              <a:t> </a:t>
            </a:r>
            <a:r>
              <a:rPr lang="en-US" dirty="0"/>
              <a:t>is</a:t>
            </a:r>
            <a:r>
              <a:rPr lang="en-US" spc="380" dirty="0"/>
              <a:t> </a:t>
            </a:r>
            <a:r>
              <a:rPr lang="en-US" dirty="0"/>
              <a:t>processed</a:t>
            </a:r>
            <a:r>
              <a:rPr lang="en-US" dirty="0">
                <a:solidFill>
                  <a:srgbClr val="FF0000"/>
                </a:solidFill>
              </a:rPr>
              <a:t>,</a:t>
            </a:r>
            <a:r>
              <a:rPr lang="en-US" spc="37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in</a:t>
            </a:r>
            <a:r>
              <a:rPr lang="en-US" spc="38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parallel</a:t>
            </a:r>
            <a:r>
              <a:rPr lang="en-US" dirty="0"/>
              <a:t>,</a:t>
            </a:r>
            <a:r>
              <a:rPr lang="en-US" spc="375" dirty="0"/>
              <a:t> </a:t>
            </a:r>
            <a:r>
              <a:rPr lang="en-US" spc="-25" dirty="0"/>
              <a:t>by </a:t>
            </a:r>
            <a:r>
              <a:rPr lang="en-US" dirty="0"/>
              <a:t>searching</a:t>
            </a:r>
            <a:r>
              <a:rPr lang="en-US" spc="50" dirty="0"/>
              <a:t> </a:t>
            </a:r>
            <a:r>
              <a:rPr lang="en-US" dirty="0"/>
              <a:t>for</a:t>
            </a:r>
            <a:r>
              <a:rPr lang="en-US" spc="50" dirty="0"/>
              <a:t> </a:t>
            </a:r>
            <a:r>
              <a:rPr lang="en-US" spc="-10" dirty="0">
                <a:solidFill>
                  <a:srgbClr val="FF0000"/>
                </a:solidFill>
              </a:rPr>
              <a:t>patterns.</a:t>
            </a:r>
            <a:endParaRPr lang="en-US" dirty="0"/>
          </a:p>
          <a:p>
            <a:pPr marL="696595" marR="6985" indent="-291465">
              <a:lnSpc>
                <a:spcPct val="101099"/>
              </a:lnSpc>
              <a:spcBef>
                <a:spcPts val="1200"/>
              </a:spcBef>
              <a:tabLst>
                <a:tab pos="696595" algn="l"/>
              </a:tabLst>
            </a:pPr>
            <a:r>
              <a:rPr lang="en-US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lang="en-US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lang="en-US" dirty="0"/>
              <a:t>The</a:t>
            </a:r>
            <a:r>
              <a:rPr lang="en-US" spc="210" dirty="0"/>
              <a:t> </a:t>
            </a:r>
            <a:r>
              <a:rPr lang="en-US" dirty="0"/>
              <a:t>parallel</a:t>
            </a:r>
            <a:r>
              <a:rPr lang="en-US" spc="190" dirty="0"/>
              <a:t> </a:t>
            </a:r>
            <a:r>
              <a:rPr lang="en-US" dirty="0"/>
              <a:t>processes</a:t>
            </a:r>
            <a:r>
              <a:rPr lang="en-US" spc="210" dirty="0"/>
              <a:t> </a:t>
            </a:r>
            <a:r>
              <a:rPr lang="en-US" dirty="0"/>
              <a:t>may</a:t>
            </a:r>
            <a:r>
              <a:rPr lang="en-US" spc="215" dirty="0"/>
              <a:t> </a:t>
            </a:r>
            <a:r>
              <a:rPr lang="en-US" dirty="0">
                <a:solidFill>
                  <a:srgbClr val="FF0000"/>
                </a:solidFill>
              </a:rPr>
              <a:t>interact</a:t>
            </a:r>
            <a:r>
              <a:rPr lang="en-US" spc="204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with</a:t>
            </a:r>
            <a:r>
              <a:rPr lang="en-US" spc="21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spc="21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another</a:t>
            </a:r>
            <a:r>
              <a:rPr lang="en-US" dirty="0"/>
              <a:t>.</a:t>
            </a:r>
            <a:r>
              <a:rPr lang="en-US" spc="200" dirty="0"/>
              <a:t> </a:t>
            </a:r>
            <a:r>
              <a:rPr lang="en-US" dirty="0"/>
              <a:t>The</a:t>
            </a:r>
            <a:r>
              <a:rPr lang="en-US" spc="215" dirty="0"/>
              <a:t> </a:t>
            </a:r>
            <a:r>
              <a:rPr lang="en-US" dirty="0"/>
              <a:t>patterns</a:t>
            </a:r>
            <a:r>
              <a:rPr lang="en-US" spc="210" dirty="0"/>
              <a:t> </a:t>
            </a:r>
            <a:r>
              <a:rPr lang="en-US" dirty="0"/>
              <a:t>from</a:t>
            </a:r>
            <a:r>
              <a:rPr lang="en-US" spc="225" dirty="0"/>
              <a:t> </a:t>
            </a:r>
            <a:r>
              <a:rPr lang="en-US" spc="-20" dirty="0"/>
              <a:t>each </a:t>
            </a:r>
            <a:r>
              <a:rPr lang="en-US" dirty="0"/>
              <a:t>partition</a:t>
            </a:r>
            <a:r>
              <a:rPr lang="en-US" spc="45" dirty="0"/>
              <a:t> </a:t>
            </a:r>
            <a:r>
              <a:rPr lang="en-US" dirty="0"/>
              <a:t>are</a:t>
            </a:r>
            <a:r>
              <a:rPr lang="en-US" spc="45" dirty="0"/>
              <a:t> </a:t>
            </a:r>
            <a:r>
              <a:rPr lang="en-US" dirty="0"/>
              <a:t>eventually</a:t>
            </a:r>
            <a:r>
              <a:rPr lang="en-US" spc="55" dirty="0"/>
              <a:t> </a:t>
            </a:r>
            <a:r>
              <a:rPr lang="en-US" spc="-10" dirty="0">
                <a:solidFill>
                  <a:srgbClr val="FF0000"/>
                </a:solidFill>
              </a:rPr>
              <a:t>merged.</a:t>
            </a:r>
          </a:p>
          <a:p>
            <a:r>
              <a:rPr lang="en-US" b="1" dirty="0"/>
              <a:t>Parallel mining</a:t>
            </a:r>
            <a:r>
              <a:rPr lang="en-US" dirty="0"/>
              <a:t>:</a:t>
            </a:r>
          </a:p>
          <a:p>
            <a:r>
              <a:rPr lang="en-US" dirty="0"/>
              <a:t>	Data is </a:t>
            </a:r>
            <a:r>
              <a:rPr lang="en-US" b="1" dirty="0"/>
              <a:t>divided into pieces</a:t>
            </a:r>
            <a:r>
              <a:rPr lang="en-US" dirty="0"/>
              <a:t> (partitions).</a:t>
            </a:r>
          </a:p>
          <a:p>
            <a:r>
              <a:rPr lang="en-US" dirty="0"/>
              <a:t>	Each piece is processed </a:t>
            </a:r>
            <a:r>
              <a:rPr lang="en-US" b="1" dirty="0"/>
              <a:t>simultaneously</a:t>
            </a:r>
            <a:r>
              <a:rPr lang="en-US" dirty="0"/>
              <a:t> by different processors or machines to search for patterns.</a:t>
            </a:r>
          </a:p>
          <a:p>
            <a:r>
              <a:rPr lang="en-US" b="1" dirty="0"/>
              <a:t>Advantage</a:t>
            </a:r>
            <a:r>
              <a:rPr lang="en-US" dirty="0"/>
              <a:t>: Significantly </a:t>
            </a:r>
            <a:r>
              <a:rPr lang="en-US" dirty="0">
                <a:solidFill>
                  <a:srgbClr val="FF0000"/>
                </a:solidFill>
              </a:rPr>
              <a:t>reduces processing time </a:t>
            </a:r>
            <a:r>
              <a:rPr lang="en-US" dirty="0"/>
              <a:t>by utilizing multiple processors.</a:t>
            </a:r>
          </a:p>
          <a:p>
            <a:r>
              <a:rPr lang="en-US" b="1" dirty="0"/>
              <a:t>Distributed mining</a:t>
            </a:r>
            <a:r>
              <a:rPr lang="en-US" dirty="0"/>
              <a:t>:</a:t>
            </a:r>
          </a:p>
          <a:p>
            <a:r>
              <a:rPr lang="en-US" dirty="0"/>
              <a:t>	Data is stored across </a:t>
            </a:r>
            <a:r>
              <a:rPr lang="en-US" b="1" dirty="0"/>
              <a:t>multiple locations</a:t>
            </a:r>
            <a:r>
              <a:rPr lang="en-US" dirty="0"/>
              <a:t> or systems.</a:t>
            </a:r>
          </a:p>
          <a:p>
            <a:r>
              <a:rPr lang="en-US" dirty="0"/>
              <a:t>	Mining is performed at each site, and results are </a:t>
            </a:r>
            <a:r>
              <a:rPr lang="en-US" b="1" dirty="0"/>
              <a:t>combined</a:t>
            </a:r>
            <a:r>
              <a:rPr lang="en-US" dirty="0"/>
              <a:t> to get global patterns.</a:t>
            </a:r>
          </a:p>
          <a:p>
            <a:r>
              <a:rPr lang="en-US" b="1" dirty="0"/>
              <a:t>Advantage</a:t>
            </a:r>
            <a:r>
              <a:rPr lang="en-US" dirty="0">
                <a:solidFill>
                  <a:srgbClr val="FF0000"/>
                </a:solidFill>
              </a:rPr>
              <a:t>: Avoids data transfer overhead</a:t>
            </a:r>
            <a:r>
              <a:rPr lang="en-US" dirty="0"/>
              <a:t> and ensures scalability for geographically distributed data.</a:t>
            </a:r>
          </a:p>
          <a:p>
            <a:r>
              <a:rPr lang="en-US" b="1" dirty="0"/>
              <a:t>Incremental mining</a:t>
            </a:r>
            <a:r>
              <a:rPr lang="en-US" dirty="0"/>
              <a:t>:</a:t>
            </a:r>
          </a:p>
          <a:p>
            <a:r>
              <a:rPr lang="en-US" dirty="0"/>
              <a:t>	Updates mining results </a:t>
            </a:r>
            <a:r>
              <a:rPr lang="en-US" b="1" dirty="0"/>
              <a:t>without reprocessing entire data</a:t>
            </a:r>
            <a:r>
              <a:rPr lang="en-US" dirty="0"/>
              <a:t> when new data arrives.</a:t>
            </a:r>
          </a:p>
          <a:p>
            <a:r>
              <a:rPr lang="en-US" dirty="0"/>
              <a:t>	Efficient for </a:t>
            </a:r>
            <a:r>
              <a:rPr lang="en-US" b="1" dirty="0"/>
              <a:t>dynamic and continuously growing datasets</a:t>
            </a:r>
            <a:r>
              <a:rPr lang="en-US" dirty="0"/>
              <a:t>.</a:t>
            </a:r>
          </a:p>
          <a:p>
            <a:pPr marL="696595" marR="6985" indent="-291465">
              <a:lnSpc>
                <a:spcPct val="101099"/>
              </a:lnSpc>
              <a:spcBef>
                <a:spcPts val="1200"/>
              </a:spcBef>
              <a:tabLst>
                <a:tab pos="696595" algn="l"/>
              </a:tabLst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9804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551452"/>
            <a:ext cx="9046845" cy="449745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52425" indent="-339725" algn="just">
              <a:lnSpc>
                <a:spcPct val="100000"/>
              </a:lnSpc>
              <a:spcBef>
                <a:spcPts val="132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Handling</a:t>
            </a:r>
            <a:r>
              <a:rPr sz="2400" i="1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complex</a:t>
            </a:r>
            <a:r>
              <a:rPr sz="2400" i="1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types</a:t>
            </a:r>
            <a:r>
              <a:rPr sz="2400" i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i="1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data:</a:t>
            </a:r>
            <a:endParaRPr sz="2400" dirty="0">
              <a:latin typeface="Cambria"/>
              <a:cs typeface="Cambria"/>
            </a:endParaRPr>
          </a:p>
          <a:p>
            <a:pPr marL="405765">
              <a:lnSpc>
                <a:spcPct val="100000"/>
              </a:lnSpc>
              <a:spcBef>
                <a:spcPts val="1225"/>
              </a:spcBef>
              <a:tabLst>
                <a:tab pos="696595" algn="l"/>
              </a:tabLst>
            </a:pPr>
            <a:r>
              <a:rPr sz="2400" spc="20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400" dirty="0">
                <a:solidFill>
                  <a:srgbClr val="2DA2BF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Cambria"/>
                <a:cs typeface="Cambria"/>
              </a:rPr>
              <a:t>Diverse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applications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generate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wide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spectrum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new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type</a:t>
            </a:r>
            <a:endParaRPr sz="2400" dirty="0">
              <a:latin typeface="Cambria"/>
              <a:cs typeface="Cambria"/>
            </a:endParaRPr>
          </a:p>
          <a:p>
            <a:pPr marL="696595" marR="9525" indent="-291465" algn="just">
              <a:lnSpc>
                <a:spcPct val="101099"/>
              </a:lnSpc>
              <a:spcBef>
                <a:spcPts val="1200"/>
              </a:spcBef>
            </a:pPr>
            <a:r>
              <a:rPr sz="2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400" spc="16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unrealistic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expect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mining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mine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all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kinds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data,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given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dirty="0">
                <a:latin typeface="Cambria"/>
                <a:cs typeface="Cambria"/>
              </a:rPr>
              <a:t>diversity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types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different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goals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mining</a:t>
            </a:r>
            <a:endParaRPr sz="24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2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2400" i="1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dynamic,</a:t>
            </a:r>
            <a:r>
              <a:rPr sz="2400" i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networked,</a:t>
            </a:r>
            <a:r>
              <a:rPr sz="2400" i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400" i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global</a:t>
            </a:r>
            <a:r>
              <a:rPr sz="2400" i="1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400" i="1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repositories:</a:t>
            </a:r>
            <a:endParaRPr sz="2400" dirty="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3200"/>
              </a:lnSpc>
              <a:spcBef>
                <a:spcPts val="1150"/>
              </a:spcBef>
            </a:pPr>
            <a:r>
              <a:rPr sz="2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2400" spc="15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2400" dirty="0">
                <a:latin typeface="Cambria"/>
                <a:cs typeface="Cambria"/>
              </a:rPr>
              <a:t>Multiple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sources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connected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Internet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various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kinds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of </a:t>
            </a:r>
            <a:r>
              <a:rPr sz="2400" dirty="0">
                <a:latin typeface="Cambria"/>
                <a:cs typeface="Cambria"/>
              </a:rPr>
              <a:t>networks,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forming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gigantic,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distributed,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heterogeneous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global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information </a:t>
            </a:r>
            <a:r>
              <a:rPr sz="2400" dirty="0">
                <a:latin typeface="Cambria"/>
                <a:cs typeface="Cambria"/>
              </a:rPr>
              <a:t>systems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networks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746760">
              <a:lnSpc>
                <a:spcPct val="100000"/>
              </a:lnSpc>
              <a:spcBef>
                <a:spcPts val="100"/>
              </a:spcBef>
            </a:pPr>
            <a:r>
              <a:rPr dirty="0"/>
              <a:t>1.7.4</a:t>
            </a:r>
            <a:r>
              <a:rPr spc="-30" dirty="0"/>
              <a:t> </a:t>
            </a:r>
            <a:r>
              <a:rPr dirty="0"/>
              <a:t>Diversity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Database</a:t>
            </a:r>
            <a:r>
              <a:rPr spc="-30" dirty="0"/>
              <a:t> </a:t>
            </a:r>
            <a:r>
              <a:rPr spc="-10" dirty="0"/>
              <a:t>Types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35"/>
              </a:spcBef>
            </a:pPr>
            <a:r>
              <a:rPr spc="-20" dirty="0"/>
              <a:t>10/03/21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43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628158"/>
            <a:ext cx="9045575" cy="51949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1790" indent="-339090" algn="just">
              <a:lnSpc>
                <a:spcPct val="100000"/>
              </a:lnSpc>
              <a:spcBef>
                <a:spcPts val="720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1790" algn="l"/>
              </a:tabLst>
            </a:pP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Social</a:t>
            </a:r>
            <a:r>
              <a:rPr sz="1800" i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impacts</a:t>
            </a:r>
            <a:r>
              <a:rPr sz="1800" i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i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i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mbria"/>
                <a:cs typeface="Cambria"/>
              </a:rPr>
              <a:t>mining:</a:t>
            </a:r>
            <a:endParaRPr sz="1800">
              <a:latin typeface="Cambria"/>
              <a:cs typeface="Cambria"/>
            </a:endParaRPr>
          </a:p>
          <a:p>
            <a:pPr marL="696595" marR="6985" indent="-291465" algn="just">
              <a:lnSpc>
                <a:spcPct val="102200"/>
              </a:lnSpc>
              <a:spcBef>
                <a:spcPts val="580"/>
              </a:spcBef>
            </a:pPr>
            <a:r>
              <a:rPr sz="1300" spc="229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300" spc="23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penetrating</a:t>
            </a:r>
            <a:r>
              <a:rPr sz="18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our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everyday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lives,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important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study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impact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society.</a:t>
            </a:r>
            <a:endParaRPr sz="1800">
              <a:latin typeface="Cambria"/>
              <a:cs typeface="Cambria"/>
            </a:endParaRPr>
          </a:p>
          <a:p>
            <a:pPr marL="696595" marR="8255" indent="-291465" algn="just">
              <a:lnSpc>
                <a:spcPct val="102200"/>
              </a:lnSpc>
              <a:spcBef>
                <a:spcPts val="600"/>
              </a:spcBef>
            </a:pPr>
            <a:r>
              <a:rPr sz="1300" spc="229" dirty="0">
                <a:solidFill>
                  <a:srgbClr val="2DA2BF"/>
                </a:solidFill>
                <a:latin typeface="Arial MT"/>
                <a:cs typeface="Arial MT"/>
              </a:rPr>
              <a:t>🞑  </a:t>
            </a:r>
            <a:r>
              <a:rPr sz="1800" dirty="0">
                <a:latin typeface="Cambria"/>
                <a:cs typeface="Cambria"/>
              </a:rPr>
              <a:t>How</a:t>
            </a:r>
            <a:r>
              <a:rPr sz="1800" spc="4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425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we</a:t>
            </a:r>
            <a:r>
              <a:rPr sz="1800" spc="4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use</a:t>
            </a:r>
            <a:r>
              <a:rPr sz="1800" spc="4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4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mining</a:t>
            </a:r>
            <a:r>
              <a:rPr sz="1800" spc="4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technology</a:t>
            </a:r>
            <a:r>
              <a:rPr sz="1800" spc="4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425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benefit</a:t>
            </a:r>
            <a:r>
              <a:rPr sz="1800" spc="4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society</a:t>
            </a:r>
            <a:r>
              <a:rPr sz="1800" dirty="0">
                <a:latin typeface="Cambria"/>
                <a:cs typeface="Cambria"/>
              </a:rPr>
              <a:t>?</a:t>
            </a:r>
            <a:r>
              <a:rPr sz="1800" spc="40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How</a:t>
            </a:r>
            <a:r>
              <a:rPr sz="1800" spc="43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can</a:t>
            </a:r>
            <a:r>
              <a:rPr sz="1800" spc="4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we</a:t>
            </a:r>
            <a:r>
              <a:rPr sz="1800" spc="41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guard </a:t>
            </a:r>
            <a:r>
              <a:rPr sz="1800" dirty="0">
                <a:latin typeface="Cambria"/>
                <a:cs typeface="Cambria"/>
              </a:rPr>
              <a:t>against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its</a:t>
            </a: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misuse</a:t>
            </a:r>
            <a:r>
              <a:rPr sz="1800" spc="-10" dirty="0">
                <a:latin typeface="Cambria"/>
                <a:cs typeface="Cambria"/>
              </a:rPr>
              <a:t>?</a:t>
            </a:r>
            <a:endParaRPr sz="1800">
              <a:latin typeface="Cambria"/>
              <a:cs typeface="Cambria"/>
            </a:endParaRPr>
          </a:p>
          <a:p>
            <a:pPr marL="991869" marR="5080" lvl="1" indent="-244475" algn="just">
              <a:lnSpc>
                <a:spcPct val="104400"/>
              </a:lnSpc>
              <a:spcBef>
                <a:spcPts val="530"/>
              </a:spcBef>
              <a:buClr>
                <a:srgbClr val="DA1F28"/>
              </a:buClr>
              <a:buSzPct val="77777"/>
              <a:buFont typeface="Wingdings"/>
              <a:buChar char=""/>
              <a:tabLst>
                <a:tab pos="99314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improper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disclosure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potential</a:t>
            </a:r>
            <a:r>
              <a:rPr sz="180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violation</a:t>
            </a:r>
            <a:r>
              <a:rPr sz="18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spc="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individual 	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privacy</a:t>
            </a:r>
            <a:r>
              <a:rPr sz="1800" spc="1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800" spc="1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spc="1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protection</a:t>
            </a:r>
            <a:r>
              <a:rPr sz="1800" spc="18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rights</a:t>
            </a:r>
            <a:r>
              <a:rPr sz="1800" spc="17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18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areas</a:t>
            </a:r>
            <a:r>
              <a:rPr sz="1800" spc="18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7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concern</a:t>
            </a:r>
            <a:r>
              <a:rPr sz="1800" spc="18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17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need</a:t>
            </a:r>
            <a:r>
              <a:rPr sz="1800" spc="18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80" dirty="0">
                <a:latin typeface="Cambria"/>
                <a:cs typeface="Cambria"/>
              </a:rPr>
              <a:t>  </a:t>
            </a:r>
            <a:r>
              <a:rPr sz="1800" spc="-25" dirty="0">
                <a:latin typeface="Cambria"/>
                <a:cs typeface="Cambria"/>
              </a:rPr>
              <a:t>be 	</a:t>
            </a:r>
            <a:r>
              <a:rPr sz="1800" spc="-10" dirty="0">
                <a:latin typeface="Cambria"/>
                <a:cs typeface="Cambria"/>
              </a:rPr>
              <a:t>addressed.</a:t>
            </a:r>
            <a:endParaRPr sz="1800">
              <a:latin typeface="Cambria"/>
              <a:cs typeface="Cambria"/>
            </a:endParaRPr>
          </a:p>
          <a:p>
            <a:pPr marL="351790" indent="-339090" algn="just">
              <a:lnSpc>
                <a:spcPct val="100000"/>
              </a:lnSpc>
              <a:spcBef>
                <a:spcPts val="64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1790" algn="l"/>
              </a:tabLst>
            </a:pP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Privacy-preserving</a:t>
            </a:r>
            <a:r>
              <a:rPr sz="1800" i="1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mbria"/>
                <a:cs typeface="Cambria"/>
              </a:rPr>
              <a:t>mining:</a:t>
            </a:r>
            <a:endParaRPr sz="1800">
              <a:latin typeface="Cambria"/>
              <a:cs typeface="Cambria"/>
            </a:endParaRPr>
          </a:p>
          <a:p>
            <a:pPr marL="696595" marR="8255" indent="-291465" algn="just">
              <a:lnSpc>
                <a:spcPct val="102200"/>
              </a:lnSpc>
              <a:spcBef>
                <a:spcPts val="580"/>
              </a:spcBef>
            </a:pPr>
            <a:r>
              <a:rPr sz="1300" spc="229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300" spc="434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28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mining</a:t>
            </a:r>
            <a:r>
              <a:rPr sz="1800" spc="27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will</a:t>
            </a:r>
            <a:r>
              <a:rPr sz="1800" spc="270" dirty="0">
                <a:latin typeface="Cambria"/>
                <a:cs typeface="Cambria"/>
              </a:rPr>
              <a:t> 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help</a:t>
            </a:r>
            <a:r>
              <a:rPr sz="1800" spc="2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scientific</a:t>
            </a:r>
            <a:r>
              <a:rPr sz="1800" spc="27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discovery,</a:t>
            </a:r>
            <a:r>
              <a:rPr sz="1800" spc="27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business</a:t>
            </a:r>
            <a:r>
              <a:rPr sz="1800" spc="27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management,</a:t>
            </a:r>
            <a:r>
              <a:rPr sz="1800" spc="270" dirty="0">
                <a:latin typeface="Cambria"/>
                <a:cs typeface="Cambria"/>
              </a:rPr>
              <a:t>  </a:t>
            </a:r>
            <a:r>
              <a:rPr sz="1800" spc="-10" dirty="0">
                <a:latin typeface="Cambria"/>
                <a:cs typeface="Cambria"/>
              </a:rPr>
              <a:t>economy </a:t>
            </a:r>
            <a:r>
              <a:rPr sz="1800" dirty="0">
                <a:latin typeface="Cambria"/>
                <a:cs typeface="Cambria"/>
              </a:rPr>
              <a:t>recovery,</a:t>
            </a:r>
            <a:r>
              <a:rPr sz="1800" spc="4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4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security</a:t>
            </a:r>
            <a:r>
              <a:rPr sz="1800" spc="4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protection</a:t>
            </a:r>
            <a:r>
              <a:rPr sz="1800" spc="4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(e.g.,</a:t>
            </a:r>
            <a:r>
              <a:rPr sz="1800" spc="4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4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real-time</a:t>
            </a:r>
            <a:r>
              <a:rPr sz="1800" spc="4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discovery</a:t>
            </a:r>
            <a:r>
              <a:rPr sz="1800" spc="4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4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intruders</a:t>
            </a:r>
            <a:r>
              <a:rPr sz="1800" spc="459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and </a:t>
            </a:r>
            <a:r>
              <a:rPr sz="1800" spc="-10" dirty="0">
                <a:latin typeface="Cambria"/>
                <a:cs typeface="Cambria"/>
              </a:rPr>
              <a:t>cyberattacks).</a:t>
            </a:r>
            <a:endParaRPr sz="1800">
              <a:latin typeface="Cambria"/>
              <a:cs typeface="Cambria"/>
            </a:endParaRPr>
          </a:p>
          <a:p>
            <a:pPr marL="405765" algn="just">
              <a:lnSpc>
                <a:spcPct val="100000"/>
              </a:lnSpc>
              <a:spcBef>
                <a:spcPts val="620"/>
              </a:spcBef>
            </a:pPr>
            <a:r>
              <a:rPr sz="1300" spc="229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300" spc="24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spc="-10" dirty="0">
                <a:latin typeface="Cambria"/>
                <a:cs typeface="Cambria"/>
              </a:rPr>
              <a:t>However,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it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poses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risk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disclosing</a:t>
            </a:r>
            <a:r>
              <a:rPr sz="18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18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individual’s</a:t>
            </a:r>
            <a:r>
              <a:rPr sz="18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personal</a:t>
            </a:r>
            <a:r>
              <a:rPr sz="18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information.</a:t>
            </a:r>
            <a:endParaRPr sz="1800">
              <a:latin typeface="Cambria"/>
              <a:cs typeface="Cambria"/>
            </a:endParaRPr>
          </a:p>
          <a:p>
            <a:pPr marL="405765" algn="just">
              <a:lnSpc>
                <a:spcPct val="100000"/>
              </a:lnSpc>
              <a:spcBef>
                <a:spcPts val="650"/>
              </a:spcBef>
            </a:pPr>
            <a:r>
              <a:rPr sz="1300" spc="229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300" spc="26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Studies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privacy-preserving</a:t>
            </a:r>
            <a:r>
              <a:rPr sz="18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publishing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mining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ongoing.</a:t>
            </a:r>
            <a:endParaRPr sz="1800">
              <a:latin typeface="Cambria"/>
              <a:cs typeface="Cambria"/>
            </a:endParaRPr>
          </a:p>
          <a:p>
            <a:pPr marL="696595" marR="7620" indent="-291465" algn="just">
              <a:lnSpc>
                <a:spcPct val="102200"/>
              </a:lnSpc>
              <a:spcBef>
                <a:spcPts val="600"/>
              </a:spcBef>
            </a:pPr>
            <a:r>
              <a:rPr sz="1300" spc="229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300" spc="24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philosophy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2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observe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sensitivity</a:t>
            </a:r>
            <a:r>
              <a:rPr sz="1800" spc="2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8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preserve</a:t>
            </a:r>
            <a:r>
              <a:rPr sz="18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people’s</a:t>
            </a:r>
            <a:r>
              <a:rPr sz="180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privacy</a:t>
            </a:r>
            <a:r>
              <a:rPr sz="1800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while </a:t>
            </a:r>
            <a:r>
              <a:rPr sz="1800" dirty="0">
                <a:latin typeface="Cambria"/>
                <a:cs typeface="Cambria"/>
              </a:rPr>
              <a:t>performing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successful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mining.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035050">
              <a:lnSpc>
                <a:spcPct val="100000"/>
              </a:lnSpc>
              <a:spcBef>
                <a:spcPts val="100"/>
              </a:spcBef>
            </a:pPr>
            <a:r>
              <a:rPr dirty="0"/>
              <a:t>1.7.5</a:t>
            </a:r>
            <a:r>
              <a:rPr spc="10" dirty="0"/>
              <a:t> </a:t>
            </a:r>
            <a:r>
              <a:rPr dirty="0"/>
              <a:t>Data</a:t>
            </a:r>
            <a:r>
              <a:rPr spc="10" dirty="0"/>
              <a:t> </a:t>
            </a:r>
            <a:r>
              <a:rPr dirty="0"/>
              <a:t>Mining</a:t>
            </a:r>
            <a:r>
              <a:rPr spc="5" dirty="0"/>
              <a:t> </a:t>
            </a:r>
            <a:r>
              <a:rPr dirty="0"/>
              <a:t>and </a:t>
            </a:r>
            <a:r>
              <a:rPr spc="-10" dirty="0"/>
              <a:t>Society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44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557733"/>
            <a:ext cx="9042400" cy="370459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275"/>
              </a:spcBef>
              <a:buClr>
                <a:srgbClr val="DA1F28"/>
              </a:buClr>
              <a:buSzPct val="61111"/>
              <a:buFont typeface="Wingdings"/>
              <a:buChar char=""/>
              <a:tabLst>
                <a:tab pos="352425" algn="l"/>
              </a:tabLst>
            </a:pP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Invisible</a:t>
            </a:r>
            <a:r>
              <a:rPr sz="1800" i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i="1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Cambria"/>
                <a:cs typeface="Cambria"/>
              </a:rPr>
              <a:t>mining:</a:t>
            </a:r>
            <a:endParaRPr sz="1800">
              <a:latin typeface="Cambria"/>
              <a:cs typeface="Cambria"/>
            </a:endParaRPr>
          </a:p>
          <a:p>
            <a:pPr marL="696595" marR="5715" indent="-291465" algn="just">
              <a:lnSpc>
                <a:spcPct val="100000"/>
              </a:lnSpc>
              <a:spcBef>
                <a:spcPts val="124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4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We</a:t>
            </a:r>
            <a:r>
              <a:rPr sz="1900" spc="1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cannot</a:t>
            </a:r>
            <a:r>
              <a:rPr sz="1900" spc="1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expect</a:t>
            </a:r>
            <a:r>
              <a:rPr sz="1900" spc="16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everyone</a:t>
            </a:r>
            <a:r>
              <a:rPr sz="1900" spc="1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1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society</a:t>
            </a:r>
            <a:r>
              <a:rPr sz="1900" spc="17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1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learn</a:t>
            </a:r>
            <a:r>
              <a:rPr sz="1900" spc="1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master</a:t>
            </a:r>
            <a:r>
              <a:rPr sz="1900" spc="17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170" dirty="0">
                <a:latin typeface="Cambria"/>
                <a:cs typeface="Cambria"/>
              </a:rPr>
              <a:t>  </a:t>
            </a:r>
            <a:r>
              <a:rPr sz="1900" spc="-10" dirty="0">
                <a:latin typeface="Cambria"/>
                <a:cs typeface="Cambria"/>
              </a:rPr>
              <a:t>mining techniques.</a:t>
            </a:r>
            <a:endParaRPr sz="1900">
              <a:latin typeface="Cambria"/>
              <a:cs typeface="Cambria"/>
            </a:endParaRPr>
          </a:p>
          <a:p>
            <a:pPr marL="405765" algn="just">
              <a:lnSpc>
                <a:spcPct val="100000"/>
              </a:lnSpc>
              <a:spcBef>
                <a:spcPts val="1225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7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More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more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systems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should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have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functions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built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within</a:t>
            </a:r>
            <a:endParaRPr sz="190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3200"/>
              </a:lnSpc>
              <a:spcBef>
                <a:spcPts val="1150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65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Intelligent</a:t>
            </a:r>
            <a:r>
              <a:rPr sz="1900" spc="8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search</a:t>
            </a:r>
            <a:r>
              <a:rPr sz="1900" spc="8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engines</a:t>
            </a:r>
            <a:r>
              <a:rPr sz="1900" spc="9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9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Internet-based</a:t>
            </a:r>
            <a:r>
              <a:rPr sz="1900" spc="90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stores</a:t>
            </a:r>
            <a:r>
              <a:rPr sz="1900" spc="8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perform</a:t>
            </a:r>
            <a:r>
              <a:rPr sz="1900" spc="95" dirty="0">
                <a:latin typeface="Cambria"/>
                <a:cs typeface="Cambria"/>
              </a:rPr>
              <a:t>  </a:t>
            </a:r>
            <a:r>
              <a:rPr sz="1900" dirty="0">
                <a:latin typeface="Cambria"/>
                <a:cs typeface="Cambria"/>
              </a:rPr>
              <a:t>such</a:t>
            </a:r>
            <a:r>
              <a:rPr sz="1900" spc="90" dirty="0">
                <a:latin typeface="Cambria"/>
                <a:cs typeface="Cambria"/>
              </a:rPr>
              <a:t>  </a:t>
            </a:r>
            <a:r>
              <a:rPr sz="1900" i="1" spc="-10" dirty="0">
                <a:latin typeface="Cambria"/>
                <a:cs typeface="Cambria"/>
              </a:rPr>
              <a:t>invisible </a:t>
            </a:r>
            <a:r>
              <a:rPr sz="1900" i="1" dirty="0">
                <a:latin typeface="Cambria"/>
                <a:cs typeface="Cambria"/>
              </a:rPr>
              <a:t>data</a:t>
            </a:r>
            <a:r>
              <a:rPr sz="1900" i="1" spc="365" dirty="0">
                <a:latin typeface="Cambria"/>
                <a:cs typeface="Cambria"/>
              </a:rPr>
              <a:t> </a:t>
            </a:r>
            <a:r>
              <a:rPr sz="1900" i="1" dirty="0">
                <a:latin typeface="Cambria"/>
                <a:cs typeface="Cambria"/>
              </a:rPr>
              <a:t>mining</a:t>
            </a:r>
            <a:r>
              <a:rPr sz="1900" i="1" spc="3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by</a:t>
            </a:r>
            <a:r>
              <a:rPr sz="1900" spc="375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incorporating</a:t>
            </a:r>
            <a:r>
              <a:rPr sz="1900" spc="3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900" spc="3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mining</a:t>
            </a:r>
            <a:r>
              <a:rPr sz="1900" spc="3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into</a:t>
            </a:r>
            <a:r>
              <a:rPr sz="1900" spc="3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their</a:t>
            </a:r>
            <a:r>
              <a:rPr sz="1900" spc="3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components</a:t>
            </a:r>
            <a:r>
              <a:rPr sz="1900" spc="3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370" dirty="0"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improve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their</a:t>
            </a:r>
            <a:r>
              <a:rPr sz="19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functionality</a:t>
            </a:r>
            <a:r>
              <a:rPr sz="19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9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mbria"/>
                <a:cs typeface="Cambria"/>
              </a:rPr>
              <a:t>performance.</a:t>
            </a:r>
            <a:endParaRPr sz="1900">
              <a:latin typeface="Cambria"/>
              <a:cs typeface="Cambria"/>
            </a:endParaRPr>
          </a:p>
          <a:p>
            <a:pPr marL="696595" marR="5080" indent="-291465" algn="just">
              <a:lnSpc>
                <a:spcPct val="101099"/>
              </a:lnSpc>
              <a:spcBef>
                <a:spcPts val="1200"/>
              </a:spcBef>
            </a:pPr>
            <a:r>
              <a:rPr sz="1400" spc="250" dirty="0">
                <a:solidFill>
                  <a:srgbClr val="2DA2BF"/>
                </a:solidFill>
                <a:latin typeface="Arial MT"/>
                <a:cs typeface="Arial MT"/>
              </a:rPr>
              <a:t>🞑</a:t>
            </a:r>
            <a:r>
              <a:rPr sz="1400" spc="150" dirty="0">
                <a:solidFill>
                  <a:srgbClr val="2DA2BF"/>
                </a:solidFill>
                <a:latin typeface="Arial MT"/>
                <a:cs typeface="Arial MT"/>
              </a:rPr>
              <a:t>  </a:t>
            </a:r>
            <a:r>
              <a:rPr sz="1900" dirty="0">
                <a:latin typeface="Cambria"/>
                <a:cs typeface="Cambria"/>
              </a:rPr>
              <a:t>For</a:t>
            </a:r>
            <a:r>
              <a:rPr sz="1900" spc="3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example,</a:t>
            </a:r>
            <a:r>
              <a:rPr sz="1900" spc="3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when</a:t>
            </a:r>
            <a:r>
              <a:rPr sz="1900" spc="365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purchasing</a:t>
            </a:r>
            <a:r>
              <a:rPr sz="1900" spc="3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items</a:t>
            </a:r>
            <a:r>
              <a:rPr sz="1900" spc="3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online</a:t>
            </a:r>
            <a:r>
              <a:rPr sz="1900" dirty="0">
                <a:latin typeface="Cambria"/>
                <a:cs typeface="Cambria"/>
              </a:rPr>
              <a:t>,</a:t>
            </a:r>
            <a:r>
              <a:rPr sz="1900" spc="3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users</a:t>
            </a:r>
            <a:r>
              <a:rPr sz="1900" spc="3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may</a:t>
            </a:r>
            <a:r>
              <a:rPr sz="1900" spc="3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3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unaware</a:t>
            </a:r>
            <a:r>
              <a:rPr sz="1900" spc="3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that</a:t>
            </a:r>
            <a:r>
              <a:rPr sz="1900" spc="365" dirty="0">
                <a:latin typeface="Cambria"/>
                <a:cs typeface="Cambria"/>
              </a:rPr>
              <a:t> </a:t>
            </a:r>
            <a:r>
              <a:rPr sz="1900" spc="-25" dirty="0">
                <a:latin typeface="Cambria"/>
                <a:cs typeface="Cambria"/>
              </a:rPr>
              <a:t>the </a:t>
            </a:r>
            <a:r>
              <a:rPr sz="1900" dirty="0">
                <a:latin typeface="Cambria"/>
                <a:cs typeface="Cambria"/>
              </a:rPr>
              <a:t>store</a:t>
            </a:r>
            <a:r>
              <a:rPr sz="1900" spc="3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is</a:t>
            </a:r>
            <a:r>
              <a:rPr sz="1900" spc="3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likely</a:t>
            </a:r>
            <a:r>
              <a:rPr sz="1900" spc="3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collecting</a:t>
            </a:r>
            <a:r>
              <a:rPr sz="1900" spc="3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3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on</a:t>
            </a:r>
            <a:r>
              <a:rPr sz="1900" spc="3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355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buying</a:t>
            </a:r>
            <a:r>
              <a:rPr sz="1900" spc="3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patterns</a:t>
            </a:r>
            <a:r>
              <a:rPr sz="1900" spc="3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3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its</a:t>
            </a:r>
            <a:r>
              <a:rPr sz="1900" spc="3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customers,</a:t>
            </a:r>
            <a:r>
              <a:rPr sz="1900" spc="35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which </a:t>
            </a:r>
            <a:r>
              <a:rPr sz="1900" dirty="0">
                <a:latin typeface="Cambria"/>
                <a:cs typeface="Cambria"/>
              </a:rPr>
              <a:t>may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used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to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recommend</a:t>
            </a:r>
            <a:r>
              <a:rPr sz="19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other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FF0000"/>
                </a:solidFill>
                <a:latin typeface="Cambria"/>
                <a:cs typeface="Cambria"/>
              </a:rPr>
              <a:t>items</a:t>
            </a:r>
            <a:r>
              <a:rPr sz="19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for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purchase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the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future.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035050">
              <a:lnSpc>
                <a:spcPct val="100000"/>
              </a:lnSpc>
              <a:spcBef>
                <a:spcPts val="100"/>
              </a:spcBef>
            </a:pPr>
            <a:r>
              <a:rPr dirty="0"/>
              <a:t>1.7.5</a:t>
            </a:r>
            <a:r>
              <a:rPr spc="10" dirty="0"/>
              <a:t> </a:t>
            </a:r>
            <a:r>
              <a:rPr dirty="0"/>
              <a:t>Data</a:t>
            </a:r>
            <a:r>
              <a:rPr spc="10" dirty="0"/>
              <a:t> </a:t>
            </a:r>
            <a:r>
              <a:rPr dirty="0"/>
              <a:t>Mining</a:t>
            </a:r>
            <a:r>
              <a:rPr spc="5" dirty="0"/>
              <a:t> </a:t>
            </a:r>
            <a:r>
              <a:rPr dirty="0"/>
              <a:t>and </a:t>
            </a:r>
            <a:r>
              <a:rPr spc="-10" dirty="0"/>
              <a:t>Society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45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93" y="1664228"/>
            <a:ext cx="9046210" cy="2454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8890" indent="-340360">
              <a:lnSpc>
                <a:spcPct val="123200"/>
              </a:lnSpc>
              <a:spcBef>
                <a:spcPts val="9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  <a:tab pos="991869" algn="l"/>
                <a:tab pos="1946275" algn="l"/>
                <a:tab pos="3343275" algn="l"/>
                <a:tab pos="4637405" algn="l"/>
                <a:tab pos="5677535" algn="l"/>
                <a:tab pos="6224270" algn="l"/>
                <a:tab pos="7528559" algn="l"/>
                <a:tab pos="8188959" algn="l"/>
              </a:tabLst>
            </a:pPr>
            <a:r>
              <a:rPr sz="1900" spc="-20" dirty="0">
                <a:latin typeface="Cambria"/>
                <a:cs typeface="Cambria"/>
              </a:rPr>
              <a:t>Data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mining: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Discovering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interesting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patterns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5" dirty="0">
                <a:latin typeface="Cambria"/>
                <a:cs typeface="Cambria"/>
              </a:rPr>
              <a:t>and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knowledge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0" dirty="0">
                <a:latin typeface="Cambria"/>
                <a:cs typeface="Cambria"/>
              </a:rPr>
              <a:t>from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massive </a:t>
            </a:r>
            <a:r>
              <a:rPr sz="1900" dirty="0">
                <a:latin typeface="Cambria"/>
                <a:cs typeface="Cambria"/>
              </a:rPr>
              <a:t>amount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data</a:t>
            </a:r>
            <a:endParaRPr sz="1900">
              <a:latin typeface="Cambria"/>
              <a:cs typeface="Cambria"/>
            </a:endParaRPr>
          </a:p>
          <a:p>
            <a:pPr marL="352425" marR="8255" indent="-340360">
              <a:lnSpc>
                <a:spcPct val="1221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  <a:tab pos="684530" algn="l"/>
                <a:tab pos="1623695" algn="l"/>
                <a:tab pos="2792730" algn="l"/>
                <a:tab pos="3175635" algn="l"/>
                <a:tab pos="4298315" algn="l"/>
                <a:tab pos="5666740" algn="l"/>
                <a:tab pos="6049645" algn="l"/>
                <a:tab pos="6771640" algn="l"/>
                <a:tab pos="7858125" algn="l"/>
                <a:tab pos="8514080" algn="l"/>
              </a:tabLst>
            </a:pPr>
            <a:r>
              <a:rPr sz="1900" spc="-50" dirty="0">
                <a:latin typeface="Cambria"/>
                <a:cs typeface="Cambria"/>
              </a:rPr>
              <a:t>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natural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evolution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5" dirty="0">
                <a:latin typeface="Cambria"/>
                <a:cs typeface="Cambria"/>
              </a:rPr>
              <a:t>of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database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technology,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5" dirty="0">
                <a:latin typeface="Cambria"/>
                <a:cs typeface="Cambria"/>
              </a:rPr>
              <a:t>in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great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demand,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0" dirty="0">
                <a:latin typeface="Cambria"/>
                <a:cs typeface="Cambria"/>
              </a:rPr>
              <a:t>with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0" dirty="0">
                <a:latin typeface="Cambria"/>
                <a:cs typeface="Cambria"/>
              </a:rPr>
              <a:t>wide </a:t>
            </a:r>
            <a:r>
              <a:rPr sz="1900" spc="-10" dirty="0">
                <a:latin typeface="Cambria"/>
                <a:cs typeface="Cambria"/>
              </a:rPr>
              <a:t>applications</a:t>
            </a:r>
            <a:endParaRPr sz="1900">
              <a:latin typeface="Cambria"/>
              <a:cs typeface="Cambria"/>
            </a:endParaRPr>
          </a:p>
          <a:p>
            <a:pPr marL="352425" marR="5080" indent="-340360">
              <a:lnSpc>
                <a:spcPct val="123200"/>
              </a:lnSpc>
              <a:spcBef>
                <a:spcPts val="110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  <a:tab pos="709295" algn="l"/>
                <a:tab pos="1394460" algn="l"/>
                <a:tab pos="2407285" algn="l"/>
                <a:tab pos="3490595" algn="l"/>
                <a:tab pos="4154804" algn="l"/>
                <a:tab pos="5289550" algn="l"/>
                <a:tab pos="5953125" algn="l"/>
                <a:tab pos="7373620" algn="l"/>
                <a:tab pos="8037195" algn="l"/>
              </a:tabLst>
            </a:pPr>
            <a:r>
              <a:rPr sz="1900" spc="-50" dirty="0">
                <a:latin typeface="Cambria"/>
                <a:cs typeface="Cambria"/>
              </a:rPr>
              <a:t>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5" dirty="0">
                <a:latin typeface="Cambria"/>
                <a:cs typeface="Cambria"/>
              </a:rPr>
              <a:t>KDD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process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includes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0" dirty="0">
                <a:latin typeface="Cambria"/>
                <a:cs typeface="Cambria"/>
              </a:rPr>
              <a:t>data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cleaning,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0" dirty="0">
                <a:latin typeface="Cambria"/>
                <a:cs typeface="Cambria"/>
              </a:rPr>
              <a:t>data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integration,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20" dirty="0">
                <a:latin typeface="Cambria"/>
                <a:cs typeface="Cambria"/>
              </a:rPr>
              <a:t>data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selection, </a:t>
            </a:r>
            <a:r>
              <a:rPr sz="1900" dirty="0">
                <a:latin typeface="Cambria"/>
                <a:cs typeface="Cambria"/>
              </a:rPr>
              <a:t>transformation,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data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mining,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pattern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evaluation,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knowledge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presentation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26060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593" y="4309766"/>
            <a:ext cx="7553325" cy="118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can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performed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in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</a:t>
            </a:r>
            <a:r>
              <a:rPr sz="1900" spc="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variety</a:t>
            </a:r>
            <a:r>
              <a:rPr sz="1900" spc="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of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data</a:t>
            </a:r>
            <a:endParaRPr sz="1900">
              <a:latin typeface="Cambria"/>
              <a:cs typeface="Cambria"/>
            </a:endParaRPr>
          </a:p>
          <a:p>
            <a:pPr marL="352425" marR="5080" indent="-340360">
              <a:lnSpc>
                <a:spcPct val="123200"/>
              </a:lnSpc>
              <a:spcBef>
                <a:spcPts val="12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  <a:tab pos="1096645" algn="l"/>
                <a:tab pos="2091055" algn="l"/>
                <a:tab pos="3922395" algn="l"/>
                <a:tab pos="5948045" algn="l"/>
              </a:tabLst>
            </a:pPr>
            <a:r>
              <a:rPr sz="1900" spc="-20" dirty="0">
                <a:latin typeface="Cambria"/>
                <a:cs typeface="Cambria"/>
              </a:rPr>
              <a:t>Data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mining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functionalities: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characterization,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-10" dirty="0">
                <a:latin typeface="Cambria"/>
                <a:cs typeface="Cambria"/>
              </a:rPr>
              <a:t>discrimination, </a:t>
            </a:r>
            <a:r>
              <a:rPr sz="1900" dirty="0">
                <a:latin typeface="Cambria"/>
                <a:cs typeface="Cambria"/>
              </a:rPr>
              <a:t>classification,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clustering,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outlier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and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trend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analysis,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etc.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73127" y="4818781"/>
            <a:ext cx="12598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ambria"/>
                <a:cs typeface="Cambria"/>
              </a:rPr>
              <a:t>association,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593" y="5669173"/>
            <a:ext cx="30283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900" dirty="0">
                <a:latin typeface="Cambria"/>
                <a:cs typeface="Cambria"/>
              </a:rPr>
              <a:t>Data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mining</a:t>
            </a:r>
            <a:r>
              <a:rPr sz="1900" spc="8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technologies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700" y="1185284"/>
            <a:ext cx="607060" cy="245745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0"/>
              </a:lnSpc>
            </a:pP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46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</TotalTime>
  <Words>6077</Words>
  <Application>Microsoft Office PowerPoint</Application>
  <PresentationFormat>Custom</PresentationFormat>
  <Paragraphs>589</Paragraphs>
  <Slides>54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 MT</vt:lpstr>
      <vt:lpstr>Calibri</vt:lpstr>
      <vt:lpstr>Cambria</vt:lpstr>
      <vt:lpstr>Georgia</vt:lpstr>
      <vt:lpstr>Minion-Bold</vt:lpstr>
      <vt:lpstr>Minion-Regular</vt:lpstr>
      <vt:lpstr>Times New Roman</vt:lpstr>
      <vt:lpstr>Wingdings</vt:lpstr>
      <vt:lpstr>Office Theme</vt:lpstr>
      <vt:lpstr>Introduction</vt:lpstr>
      <vt:lpstr>Knowledge Discovery from Data (KDD) Process</vt:lpstr>
      <vt:lpstr>KDD Process</vt:lpstr>
      <vt:lpstr>knowledge discovery process</vt:lpstr>
      <vt:lpstr>PowerPoint Presentation</vt:lpstr>
      <vt:lpstr>Classification Vs Clustering</vt:lpstr>
      <vt:lpstr>Classification Vs Clustering</vt:lpstr>
      <vt:lpstr>PowerPoint Presentation</vt:lpstr>
      <vt:lpstr>Chapter 1. Introduction</vt:lpstr>
      <vt:lpstr>Introduction</vt:lpstr>
      <vt:lpstr>1.3 What Kinds of Data Can Be Mined?</vt:lpstr>
      <vt:lpstr>What Kinds of Data Can Be Mined?</vt:lpstr>
      <vt:lpstr>What Kinds of Data Can Be Mined?</vt:lpstr>
      <vt:lpstr>What Kinds of Data Can Be Mined?</vt:lpstr>
      <vt:lpstr>Chapter 1. Introduction</vt:lpstr>
      <vt:lpstr>1.4 What Kinds of Patterns Can Be Mined?</vt:lpstr>
      <vt:lpstr>1.4.1 Concept/Class Description: Characterization and Discrimination</vt:lpstr>
      <vt:lpstr>1.4.2 Mining Frequent Patterns, Associations and Correlations</vt:lpstr>
      <vt:lpstr>Mining Frequent Patterns, Associations and Correlations</vt:lpstr>
      <vt:lpstr>Mining Frequent Patterns, Associations and Correlations</vt:lpstr>
      <vt:lpstr>1.4.3 Classification and Regression for predictive Analysis</vt:lpstr>
      <vt:lpstr>Classification and Regression for Predictive Analysis</vt:lpstr>
      <vt:lpstr>Classification and Regression for Predictive Analysis</vt:lpstr>
      <vt:lpstr>Classification Vs Regression </vt:lpstr>
      <vt:lpstr>1.4.4 Cluster Analysis</vt:lpstr>
      <vt:lpstr>1.4.5 Outlier Analysis</vt:lpstr>
      <vt:lpstr>1.4.6 Are All Patterns Interesting?</vt:lpstr>
      <vt:lpstr>Are All Patterns Interesting?</vt:lpstr>
      <vt:lpstr>Are All Patterns Interesting?</vt:lpstr>
      <vt:lpstr>Chapter 1. Introduction</vt:lpstr>
      <vt:lpstr>1.5 Which Technologies Are Used?</vt:lpstr>
      <vt:lpstr>1.5.1 Statistics</vt:lpstr>
      <vt:lpstr>1.5.2 Machine Learning</vt:lpstr>
      <vt:lpstr>Machine Learning Types</vt:lpstr>
      <vt:lpstr>Machine Learning Types</vt:lpstr>
      <vt:lpstr>1.5.3 Database Systems and Data Warehouses</vt:lpstr>
      <vt:lpstr>OLAP (Online Analytical Processing)</vt:lpstr>
      <vt:lpstr>Operations of OLAP</vt:lpstr>
      <vt:lpstr>1.5.4 Information Retrieval</vt:lpstr>
      <vt:lpstr>PowerPoint Presentation</vt:lpstr>
      <vt:lpstr>Chapter 1. Introduction</vt:lpstr>
      <vt:lpstr>1.6 Which Kinds of Applications Are Targeted?</vt:lpstr>
      <vt:lpstr>1.6.1 Business Intelligence</vt:lpstr>
      <vt:lpstr>Business Intelligence</vt:lpstr>
      <vt:lpstr>1.6.2 Web Search Engines</vt:lpstr>
      <vt:lpstr>1.7 Major Issues in Data Mining</vt:lpstr>
      <vt:lpstr>1.7.1 Mining Methodology</vt:lpstr>
      <vt:lpstr>1.7.2 User Interaction</vt:lpstr>
      <vt:lpstr>1.7.3 Efficiency and Scalability</vt:lpstr>
      <vt:lpstr>PowerPoint Presentation</vt:lpstr>
      <vt:lpstr>1.7.4 Diversity of Database Types</vt:lpstr>
      <vt:lpstr>1.7.5 Data Mining and Society</vt:lpstr>
      <vt:lpstr>1.7.5 Data Mining and Society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Mining-Introduction.pptx (Read-Only)</dc:title>
  <cp:lastModifiedBy>Isabella S</cp:lastModifiedBy>
  <cp:revision>16</cp:revision>
  <dcterms:created xsi:type="dcterms:W3CDTF">2025-07-14T03:38:51Z</dcterms:created>
  <dcterms:modified xsi:type="dcterms:W3CDTF">2025-07-24T06:20:47Z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2021-03-10T00:00:00Z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2025-07-14T00:00:00Z</vt:filetime>
  </property>
  <property fmtid="{D5CDD505-2E9C-101B-9397-08002B2CF9AE}" pid="5" name="Producer">
    <vt:lpwstr>macOS Version 10.15.7 (Build 19H524) Quartz PDFContext</vt:lpwstr>
  </property>
</Properties>
</file>