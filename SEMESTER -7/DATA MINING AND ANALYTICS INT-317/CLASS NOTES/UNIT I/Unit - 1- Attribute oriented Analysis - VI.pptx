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4"/>
  </p:notesMasterIdLst>
  <p:handoutMasterIdLst>
    <p:handoutMasterId r:id="rId15"/>
  </p:handoutMasterIdLst>
  <p:sldIdLst>
    <p:sldId id="1221" r:id="rId2"/>
    <p:sldId id="1205" r:id="rId3"/>
    <p:sldId id="1199" r:id="rId4"/>
    <p:sldId id="1206" r:id="rId5"/>
    <p:sldId id="1207" r:id="rId6"/>
    <p:sldId id="1220" r:id="rId7"/>
    <p:sldId id="1222" r:id="rId8"/>
    <p:sldId id="1223" r:id="rId9"/>
    <p:sldId id="1224" r:id="rId10"/>
    <p:sldId id="1225" r:id="rId11"/>
    <p:sldId id="1208" r:id="rId12"/>
    <p:sldId id="1219" r:id="rId13"/>
  </p:sldIdLst>
  <p:sldSz cx="9144000" cy="6858000" type="screen4x3"/>
  <p:notesSz cx="6831013" cy="91170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2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6EA"/>
    <a:srgbClr val="FAE2F6"/>
    <a:srgbClr val="170981"/>
    <a:srgbClr val="121328"/>
    <a:srgbClr val="D7FDF9"/>
    <a:srgbClr val="003366"/>
    <a:srgbClr val="006666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78" d="100"/>
          <a:sy n="78" d="100"/>
        </p:scale>
        <p:origin x="159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5760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872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6" Type="http://schemas.openxmlformats.org/officeDocument/2006/relationships/slide" Target="slides/slide12.xml"/><Relationship Id="rId5" Type="http://schemas.openxmlformats.org/officeDocument/2006/relationships/slide" Target="slides/slide11.xml"/><Relationship Id="rId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468B6BBF-C151-0085-9BDF-578BB6CB46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CA9AC4BC-D8B2-22E7-E505-43FF026859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0CF0F838-4457-6618-2E39-E3CBB11378D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CAEB8302-5347-4CD7-2506-03737C407D6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Times New Roman" panose="02020603050405020304" pitchFamily="18" charset="0"/>
              </a:defRPr>
            </a:lvl1pPr>
          </a:lstStyle>
          <a:p>
            <a:fld id="{54730756-7849-4C00-86FD-8B073333D3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E1BC485-BBDF-9AAF-5B7D-16D7FE8BE3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35C9E70-C08D-8CDF-2160-393B0D457C3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E108F4D-DF81-48EB-C823-522293AC22B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6650" y="684213"/>
            <a:ext cx="4557713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94D968FF-C72C-1A38-7942-FE471E6C103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330700"/>
            <a:ext cx="5008563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76511DB9-3274-C37D-40D1-A5E4B70CB86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BF7A7339-C20A-2AAA-ECBB-B1528BA7CF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Times New Roman" panose="02020603050405020304" pitchFamily="18" charset="0"/>
              </a:defRPr>
            </a:lvl1pPr>
          </a:lstStyle>
          <a:p>
            <a:fld id="{C7C564C5-6FCF-471C-AA59-F34F79F02B7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3455E190-3C67-D26E-D12D-760710077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B9A529-C576-49CC-8D85-82F3BAC819A1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20D406ED-5D35-0FFA-FDAF-235E7CE37F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16DE1623-55AE-E59C-2CA9-DBD5CDEDA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MK 08.11.09 Former title: Data Warehouse Back-End Tools and Utilities</a:t>
            </a:r>
          </a:p>
        </p:txBody>
      </p:sp>
    </p:spTree>
    <p:extLst>
      <p:ext uri="{BB962C8B-B14F-4D97-AF65-F5344CB8AC3E}">
        <p14:creationId xmlns:p14="http://schemas.microsoft.com/office/powerpoint/2010/main" val="1074889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3455E190-3C67-D26E-D12D-760710077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B9A529-C576-49CC-8D85-82F3BAC819A1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20D406ED-5D35-0FFA-FDAF-235E7CE37F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16DE1623-55AE-E59C-2CA9-DBD5CDEDA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MK 08.11.09 Former title: Data Warehouse Back-End Tools and Utilities</a:t>
            </a:r>
          </a:p>
        </p:txBody>
      </p:sp>
    </p:spTree>
    <p:extLst>
      <p:ext uri="{BB962C8B-B14F-4D97-AF65-F5344CB8AC3E}">
        <p14:creationId xmlns:p14="http://schemas.microsoft.com/office/powerpoint/2010/main" val="2103165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3455E190-3C67-D26E-D12D-760710077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B9A529-C576-49CC-8D85-82F3BAC819A1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20D406ED-5D35-0FFA-FDAF-235E7CE37F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16DE1623-55AE-E59C-2CA9-DBD5CDEDA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MK 08.11.09 Former title: Data Warehouse Back-End Tools and Utilities</a:t>
            </a:r>
          </a:p>
        </p:txBody>
      </p:sp>
    </p:spTree>
    <p:extLst>
      <p:ext uri="{BB962C8B-B14F-4D97-AF65-F5344CB8AC3E}">
        <p14:creationId xmlns:p14="http://schemas.microsoft.com/office/powerpoint/2010/main" val="2285812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3455E190-3C67-D26E-D12D-760710077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B9A529-C576-49CC-8D85-82F3BAC819A1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20D406ED-5D35-0FFA-FDAF-235E7CE37F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16DE1623-55AE-E59C-2CA9-DBD5CDEDA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MK 08.11.09 Former title: Data Warehouse Back-End Tools and Utilities</a:t>
            </a:r>
          </a:p>
        </p:txBody>
      </p:sp>
    </p:spTree>
    <p:extLst>
      <p:ext uri="{BB962C8B-B14F-4D97-AF65-F5344CB8AC3E}">
        <p14:creationId xmlns:p14="http://schemas.microsoft.com/office/powerpoint/2010/main" val="2086822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3455E190-3C67-D26E-D12D-760710077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B9A529-C576-49CC-8D85-82F3BAC819A1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20D406ED-5D35-0FFA-FDAF-235E7CE37F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16DE1623-55AE-E59C-2CA9-DBD5CDEDA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MK 08.11.09 Former title: Data Warehouse Back-End Tools and Utilities</a:t>
            </a:r>
          </a:p>
        </p:txBody>
      </p:sp>
    </p:spTree>
    <p:extLst>
      <p:ext uri="{BB962C8B-B14F-4D97-AF65-F5344CB8AC3E}">
        <p14:creationId xmlns:p14="http://schemas.microsoft.com/office/powerpoint/2010/main" val="304859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3455E190-3C67-D26E-D12D-760710077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B9A529-C576-49CC-8D85-82F3BAC819A1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20D406ED-5D35-0FFA-FDAF-235E7CE37F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16DE1623-55AE-E59C-2CA9-DBD5CDEDA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MK 08.11.09 Former title: Data Warehouse Back-End Tools and Utilities</a:t>
            </a:r>
          </a:p>
        </p:txBody>
      </p:sp>
    </p:spTree>
    <p:extLst>
      <p:ext uri="{BB962C8B-B14F-4D97-AF65-F5344CB8AC3E}">
        <p14:creationId xmlns:p14="http://schemas.microsoft.com/office/powerpoint/2010/main" val="1151875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A8612C8-B987-4A46-33B0-E3081891E480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0002586-B973-3B97-003D-1EFFE11FFA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F4C89EC6-5F76-DCE7-58D6-A4FB6CF82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11B912DD-319B-45BF-0B58-910B12952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1C3F4582-B2BD-32CC-8668-A760E3A414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D9ED4C9-65DA-DC38-F9D7-9F3A525B0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D5EC0B5-BE67-030C-559E-B4A8F66C41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CEB6ECC3-07E8-EAB9-F6DF-21CAC7F8E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EB0DCAF7-E022-FB80-D3D4-05BBE940B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63820984-7AA7-5B50-74BA-9D4527BC4F8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A88C11FC-4C7D-B285-9AB2-AC206649F3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AF11D6F-24BA-4A60-AB11-918731EE4854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18775BE3-62DF-AA3D-E913-26E6762090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F69D6CA9-30D7-0D8E-B511-DACC9F7800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fld id="{D5B11D2E-DEBC-4F08-8EF3-4BCEB82C3B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7329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9740D77D-7A18-FCC6-CBFD-CAB853217A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6CACE-3807-4D67-872E-78FEB3CCD8F9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4E3C07C7-E1C3-E7EF-5E22-28BB8F2BF1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E775043A-36F1-15DA-4853-20E53C1C86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BBAD64-AC0E-49C2-A5D9-061661FDDE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795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16BE6A21-A8AF-98EE-6A9B-CBD9014B76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7F59EF-2B93-45DF-8E06-11974BE1016B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F79D8541-2215-B12F-7852-7E60457997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2B88D64A-DD24-BB39-CD91-4E5A9A8BB2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CE82F7-1372-4871-B8D0-ACF00CEB8C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088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6FC6B73C-A2A8-C52D-D55F-C25D23B4E6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0723-C738-4D33-A699-7B785B38F64A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9548A165-093F-E63B-2C66-EB3F992123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EA1BEB91-08E6-C89F-11C3-23DC1232CD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2B3B3E-CBF5-4F99-AE2E-907BEAA56B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983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59">
            <a:extLst>
              <a:ext uri="{FF2B5EF4-FFF2-40B4-BE49-F238E27FC236}">
                <a16:creationId xmlns:a16="http://schemas.microsoft.com/office/drawing/2014/main" id="{6E72A056-4017-EC18-78E9-D06E3FD2CA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DA5F5-9EC0-495A-ACD6-92C996CC5AC5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8" name="Rectangle 2060">
            <a:extLst>
              <a:ext uri="{FF2B5EF4-FFF2-40B4-BE49-F238E27FC236}">
                <a16:creationId xmlns:a16="http://schemas.microsoft.com/office/drawing/2014/main" id="{ED8F3A1F-9758-B5F5-74A9-83051C3235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9" name="Rectangle 2061">
            <a:extLst>
              <a:ext uri="{FF2B5EF4-FFF2-40B4-BE49-F238E27FC236}">
                <a16:creationId xmlns:a16="http://schemas.microsoft.com/office/drawing/2014/main" id="{C0E21611-DDDE-2472-3AAB-64C2360182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34240C-0C9A-466F-A396-5ECAE43847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811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59">
            <a:extLst>
              <a:ext uri="{FF2B5EF4-FFF2-40B4-BE49-F238E27FC236}">
                <a16:creationId xmlns:a16="http://schemas.microsoft.com/office/drawing/2014/main" id="{D392ED1B-60FA-85E1-2E95-A5BD0583AC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3C632-ADC1-4704-BA7C-7EDD4ABC60EC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4" name="Rectangle 2060">
            <a:extLst>
              <a:ext uri="{FF2B5EF4-FFF2-40B4-BE49-F238E27FC236}">
                <a16:creationId xmlns:a16="http://schemas.microsoft.com/office/drawing/2014/main" id="{5B9FE503-24C4-CBC4-2951-06BB9FCDDF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A9C5570F-D028-931F-1444-D80CF4353B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6C40C2-09F1-40B4-B1D8-92319C3333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909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9">
            <a:extLst>
              <a:ext uri="{FF2B5EF4-FFF2-40B4-BE49-F238E27FC236}">
                <a16:creationId xmlns:a16="http://schemas.microsoft.com/office/drawing/2014/main" id="{469EFFF5-FD4D-073F-22E9-2C02567C8C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FCAD8-F28D-4267-B747-E7F61FEE4C90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3" name="Rectangle 2060">
            <a:extLst>
              <a:ext uri="{FF2B5EF4-FFF2-40B4-BE49-F238E27FC236}">
                <a16:creationId xmlns:a16="http://schemas.microsoft.com/office/drawing/2014/main" id="{C11D08D0-EA3D-DA0A-7068-32349C37BC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93B95985-F2DB-429C-64C6-97BB7872BA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0F1D1A-5252-4189-B4D3-D6C8768C9C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3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5ABD121C-F9A0-1D65-A5B4-BF92BC7C07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1235C-8410-45A8-AA87-F5A3E051E533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226FC5C8-6FB4-2EB6-9C6C-EC9C9A97DA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9AF06192-D167-5C74-77AA-2828692C92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D11814-1557-45CE-9EBA-198285B3EB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3714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CEA3774A-C7BB-08EB-58A7-18A944D6CF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99DBD-886A-4108-8C2F-58E355C8169D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15F906FA-BFC0-FAA2-4F1C-BD62DC0B9D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DFE95A2C-053D-6D8E-6E00-B9BFB82191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FD5ED2-DEB0-4F2F-BB1F-789171374C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073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CD32FB75-F7B0-060E-D4EE-7EAEA5DEA0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13589-BDDD-47C8-B5A0-AE0F2F176F09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6C815209-EDCB-CD59-0598-7A9EA705C2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7A508FD2-F3C1-3055-D47C-D392380DC8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AB20BD-0D56-4144-80DE-F855D52269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691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81000"/>
            <a:ext cx="20955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1341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89E8A183-84F3-9021-BE59-5885815EE5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7925FB-E7BD-4745-8115-1585E5631F01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5AF0D816-C3C4-BA2E-5F8F-61070A1711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F89DF129-8259-0245-9805-F1E43F26C1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23D6B2-6399-477D-8EA6-E5E37EA72C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9644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93038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81000" y="1447800"/>
            <a:ext cx="8382000" cy="5029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DDEC8A1E-A0AA-4574-882D-AD6C92AE58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045C4-E6D8-4137-B3E5-6DF0E9CFCC74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48CEC891-B25A-0ECD-9A45-5D894DD8ED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4E589870-2E0F-9E9A-4B59-D67C539BEF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512ED2-21C0-47CA-AFBA-81A1F05075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17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6">
            <a:extLst>
              <a:ext uri="{FF2B5EF4-FFF2-40B4-BE49-F238E27FC236}">
                <a16:creationId xmlns:a16="http://schemas.microsoft.com/office/drawing/2014/main" id="{297B9905-3521-D7E3-F7C1-FBF3F5B96C7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" y="1219200"/>
            <a:ext cx="8410575" cy="46038"/>
          </a:xfrm>
          <a:prstGeom prst="rect">
            <a:avLst/>
          </a:prstGeom>
          <a:solidFill>
            <a:schemeClr val="tx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/>
          </a:p>
        </p:txBody>
      </p:sp>
      <p:sp>
        <p:nvSpPr>
          <p:cNvPr id="1027" name="Rectangle 2057">
            <a:extLst>
              <a:ext uri="{FF2B5EF4-FFF2-40B4-BE49-F238E27FC236}">
                <a16:creationId xmlns:a16="http://schemas.microsoft.com/office/drawing/2014/main" id="{756EF268-A203-F036-D678-80A5D112E0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81000"/>
            <a:ext cx="779303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2058">
            <a:extLst>
              <a:ext uri="{FF2B5EF4-FFF2-40B4-BE49-F238E27FC236}">
                <a16:creationId xmlns:a16="http://schemas.microsoft.com/office/drawing/2014/main" id="{4B710D9E-B387-6AF1-F7E8-0AD8181D78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382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28779" name="Rectangle 2059">
            <a:extLst>
              <a:ext uri="{FF2B5EF4-FFF2-40B4-BE49-F238E27FC236}">
                <a16:creationId xmlns:a16="http://schemas.microsoft.com/office/drawing/2014/main" id="{3F2793E5-1A5F-81F8-26BB-7743DE82CDE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fld id="{6884534A-B13A-4DC3-93A2-ACF6C3833188}" type="datetime4">
              <a:rPr lang="en-US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928780" name="Rectangle 2060">
            <a:extLst>
              <a:ext uri="{FF2B5EF4-FFF2-40B4-BE49-F238E27FC236}">
                <a16:creationId xmlns:a16="http://schemas.microsoft.com/office/drawing/2014/main" id="{2BE7B73F-618F-45AA-D1D8-73BBA7D096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928781" name="Rectangle 2061">
            <a:extLst>
              <a:ext uri="{FF2B5EF4-FFF2-40B4-BE49-F238E27FC236}">
                <a16:creationId xmlns:a16="http://schemas.microsoft.com/office/drawing/2014/main" id="{99B5B6C8-01DA-EC0D-B2BE-7EB3E586ED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9B1B63E-0A58-456E-AA76-C5E4EAC4818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6BBB2-9C0B-0A6E-BAEB-44AB5895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Attribute-oriented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5CCB3-EACF-25BA-8851-5B26DBB22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sz="3200" dirty="0"/>
              <a:t>Attribute generalization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Attribute relevance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Class comparison</a:t>
            </a:r>
            <a:endParaRPr lang="en-IN" sz="3200" dirty="0"/>
          </a:p>
          <a:p>
            <a:pPr lvl="1">
              <a:lnSpc>
                <a:spcPct val="150000"/>
              </a:lnSpc>
            </a:pPr>
            <a:r>
              <a:rPr lang="en-US" sz="3200" dirty="0"/>
              <a:t>Statistical measures</a:t>
            </a:r>
            <a:endParaRPr lang="en-IN" sz="3200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265AF-A3EE-397D-A030-6EF2574F3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96CACE-3807-4D67-872E-78FEB3CCD8F9}" type="datetime4">
              <a:rPr lang="en-US" smtClean="0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0CB90-32C2-5CA0-2557-9CD320C1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96017-DF3B-CEBC-4429-C404F9D1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AD64-AC0E-49C2-A5D9-061661FDDE54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0049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FF700756-FFC5-51CE-6D5A-564489FD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118A35-1F7E-4522-A413-A280AEEEAE23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270FB-6EA4-D178-E258-9931A54E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25" y="381000"/>
            <a:ext cx="7793038" cy="6858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Attributes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3182AB8-A4AD-B848-FBA8-6300C1731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954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b="1" kern="0"/>
              <a:t>Attribute (</a:t>
            </a:r>
            <a:r>
              <a:rPr lang="en-US" altLang="en-US" kern="0"/>
              <a:t>or</a:t>
            </a:r>
            <a:r>
              <a:rPr lang="en-US" altLang="en-US" b="1" kern="0"/>
              <a:t> dimensions, features, variables</a:t>
            </a:r>
            <a:r>
              <a:rPr lang="en-US" altLang="en-US" kern="0"/>
              <a:t>): a data field, representing a characteristic or feature of a data object.</a:t>
            </a:r>
          </a:p>
          <a:p>
            <a:pPr lvl="1" eaLnBrk="1" hangingPunct="1"/>
            <a:r>
              <a:rPr lang="en-US" altLang="en-US" i="1" kern="0"/>
              <a:t>E.g., customer _ID, name, address</a:t>
            </a:r>
          </a:p>
          <a:p>
            <a:pPr eaLnBrk="1" hangingPunct="1"/>
            <a:r>
              <a:rPr lang="en-US" altLang="en-US" kern="0"/>
              <a:t>Types:</a:t>
            </a:r>
          </a:p>
          <a:p>
            <a:pPr lvl="1" eaLnBrk="1" hangingPunct="1"/>
            <a:r>
              <a:rPr lang="en-US" altLang="en-US" kern="0"/>
              <a:t>Nominal</a:t>
            </a:r>
          </a:p>
          <a:p>
            <a:pPr lvl="1" eaLnBrk="1" hangingPunct="1"/>
            <a:r>
              <a:rPr lang="en-US" altLang="en-US" kern="0"/>
              <a:t>Binary</a:t>
            </a:r>
          </a:p>
          <a:p>
            <a:pPr lvl="1" eaLnBrk="1" hangingPunct="1"/>
            <a:r>
              <a:rPr lang="en-US" altLang="en-US" kern="0"/>
              <a:t>Numeric: quantitative</a:t>
            </a:r>
          </a:p>
          <a:p>
            <a:pPr lvl="2" eaLnBrk="1" hangingPunct="1"/>
            <a:r>
              <a:rPr lang="en-US" altLang="en-US" sz="2800" kern="0"/>
              <a:t>Interval-scaled</a:t>
            </a:r>
          </a:p>
          <a:p>
            <a:pPr lvl="2" eaLnBrk="1" hangingPunct="1"/>
            <a:r>
              <a:rPr lang="en-US" altLang="en-US" sz="2800" kern="0"/>
              <a:t>Ratio-scaled</a:t>
            </a:r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38739015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FF700756-FFC5-51CE-6D5A-564489FD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118A35-1F7E-4522-A413-A280AEEEAE23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270FB-6EA4-D178-E258-9931A54E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25" y="381000"/>
            <a:ext cx="7793038" cy="6858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Attributes Types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DD4DB25-E441-0775-364A-06E20FA38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744" y="1179871"/>
            <a:ext cx="83820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92100" indent="-292100" eaLnBrk="1" hangingPunct="1">
              <a:lnSpc>
                <a:spcPct val="150000"/>
              </a:lnSpc>
            </a:pPr>
            <a:r>
              <a:rPr lang="en-US" altLang="en-US" sz="2400" b="1" kern="0" dirty="0"/>
              <a:t>Nominal:</a:t>
            </a:r>
            <a:r>
              <a:rPr lang="en-US" altLang="en-US" sz="2400" kern="0" dirty="0"/>
              <a:t> categories, states, or “names of things”</a:t>
            </a:r>
          </a:p>
          <a:p>
            <a:pPr marL="749300" lvl="1" indent="-342900" eaLnBrk="1" hangingPunct="1">
              <a:lnSpc>
                <a:spcPct val="150000"/>
              </a:lnSpc>
            </a:pPr>
            <a:r>
              <a:rPr lang="en-US" altLang="en-US" sz="2400" i="1" kern="0" dirty="0" err="1"/>
              <a:t>Hair_color</a:t>
            </a:r>
            <a:r>
              <a:rPr lang="en-US" altLang="en-US" sz="2400" i="1" kern="0" dirty="0"/>
              <a:t> = </a:t>
            </a:r>
            <a:r>
              <a:rPr lang="en-US" altLang="en-US" sz="2400" kern="0" dirty="0"/>
              <a:t>{</a:t>
            </a:r>
            <a:r>
              <a:rPr lang="en-US" altLang="en-US" sz="2400" i="1" kern="0" dirty="0" err="1"/>
              <a:t>black,brown</a:t>
            </a:r>
            <a:r>
              <a:rPr lang="en-US" altLang="en-US" sz="2400" i="1" kern="0" dirty="0"/>
              <a:t>, grey, red, white</a:t>
            </a:r>
            <a:r>
              <a:rPr lang="en-US" altLang="en-US" sz="2400" kern="0" dirty="0"/>
              <a:t>}</a:t>
            </a:r>
          </a:p>
          <a:p>
            <a:pPr marL="749300" lvl="1" indent="-342900" eaLnBrk="1" hangingPunct="1">
              <a:lnSpc>
                <a:spcPct val="150000"/>
              </a:lnSpc>
            </a:pPr>
            <a:r>
              <a:rPr lang="en-US" altLang="en-US" sz="2400" kern="0" dirty="0"/>
              <a:t>marital status, occupation, ID numbers, zip codes</a:t>
            </a:r>
          </a:p>
          <a:p>
            <a:pPr marL="292100" indent="-292100" eaLnBrk="1" hangingPunct="1">
              <a:lnSpc>
                <a:spcPct val="150000"/>
              </a:lnSpc>
            </a:pPr>
            <a:r>
              <a:rPr lang="en-US" altLang="en-US" sz="2400" b="1" kern="0" dirty="0"/>
              <a:t>Binary</a:t>
            </a:r>
          </a:p>
          <a:p>
            <a:pPr marL="749300" lvl="1" indent="-342900" eaLnBrk="1" hangingPunct="1">
              <a:lnSpc>
                <a:spcPct val="150000"/>
              </a:lnSpc>
            </a:pPr>
            <a:r>
              <a:rPr lang="en-US" altLang="en-US" sz="2400" kern="0" dirty="0"/>
              <a:t>Nominal attribute with only 2 states (0 and 1)</a:t>
            </a:r>
          </a:p>
          <a:p>
            <a:pPr marL="292100" indent="-292100" eaLnBrk="1" hangingPunct="1">
              <a:lnSpc>
                <a:spcPct val="150000"/>
              </a:lnSpc>
            </a:pPr>
            <a:r>
              <a:rPr lang="en-US" altLang="en-US" sz="2400" b="1" kern="0" dirty="0"/>
              <a:t>Ordinal</a:t>
            </a:r>
          </a:p>
          <a:p>
            <a:pPr marL="749300" lvl="1" indent="-342900" eaLnBrk="1" hangingPunct="1">
              <a:lnSpc>
                <a:spcPct val="150000"/>
              </a:lnSpc>
            </a:pPr>
            <a:r>
              <a:rPr lang="en-US" altLang="en-US" sz="2400" kern="0" dirty="0"/>
              <a:t>Values have a meaningful order (ranking) but magnitude between successive values is not known.</a:t>
            </a:r>
          </a:p>
          <a:p>
            <a:pPr marL="749300" lvl="1" indent="-342900" eaLnBrk="1" hangingPunct="1">
              <a:lnSpc>
                <a:spcPct val="150000"/>
              </a:lnSpc>
            </a:pPr>
            <a:r>
              <a:rPr lang="en-US" altLang="en-US" sz="2400" i="1" kern="0" dirty="0"/>
              <a:t>Size = </a:t>
            </a:r>
            <a:r>
              <a:rPr lang="en-US" altLang="en-US" sz="2400" kern="0" dirty="0"/>
              <a:t>{</a:t>
            </a:r>
            <a:r>
              <a:rPr lang="en-US" altLang="en-US" sz="2400" i="1" kern="0" dirty="0"/>
              <a:t>small, medium, large</a:t>
            </a:r>
            <a:r>
              <a:rPr lang="en-US" altLang="en-US" sz="2400" kern="0" dirty="0"/>
              <a:t>}</a:t>
            </a:r>
            <a:r>
              <a:rPr lang="en-US" altLang="en-US" sz="2400" i="1" kern="0" dirty="0"/>
              <a:t>,</a:t>
            </a:r>
            <a:r>
              <a:rPr lang="en-US" altLang="en-US" sz="2400" kern="0" dirty="0"/>
              <a:t> grades, army rankings</a:t>
            </a:r>
          </a:p>
        </p:txBody>
      </p:sp>
    </p:spTree>
    <p:extLst>
      <p:ext uri="{BB962C8B-B14F-4D97-AF65-F5344CB8AC3E}">
        <p14:creationId xmlns:p14="http://schemas.microsoft.com/office/powerpoint/2010/main" val="29186501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FF700756-FFC5-51CE-6D5A-564489FD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118A35-1F7E-4522-A413-A280AEEEAE23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270FB-6EA4-D178-E258-9931A54E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25" y="381000"/>
            <a:ext cx="7793038" cy="6858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Numeric Attributes Types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7B5F727-6927-B2F8-4BBA-1CA91546F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95400"/>
            <a:ext cx="8382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92100" indent="-292100" eaLnBrk="1" hangingPunct="1">
              <a:lnSpc>
                <a:spcPct val="90000"/>
              </a:lnSpc>
            </a:pPr>
            <a:r>
              <a:rPr lang="en-US" altLang="en-US" sz="2400" kern="0" dirty="0"/>
              <a:t>Quantity (integer or real-valued)</a:t>
            </a:r>
          </a:p>
          <a:p>
            <a:pPr marL="292100" indent="-292100" eaLnBrk="1" hangingPunct="1">
              <a:lnSpc>
                <a:spcPct val="90000"/>
              </a:lnSpc>
            </a:pPr>
            <a:r>
              <a:rPr lang="en-US" altLang="en-US" sz="2400" b="1" kern="0" dirty="0"/>
              <a:t>Interval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 kern="0" dirty="0"/>
              <a:t>Measured on a scale of </a:t>
            </a:r>
            <a:r>
              <a:rPr lang="en-US" altLang="en-US" b="1" kern="0" dirty="0"/>
              <a:t>equal-sized units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 kern="0" dirty="0"/>
              <a:t>Values have order</a:t>
            </a:r>
          </a:p>
          <a:p>
            <a:pPr marL="1714500" lvl="3" indent="-393700" eaLnBrk="1" hangingPunct="1">
              <a:lnSpc>
                <a:spcPct val="90000"/>
              </a:lnSpc>
            </a:pPr>
            <a:r>
              <a:rPr lang="en-US" altLang="en-US" sz="2400" kern="0" dirty="0"/>
              <a:t>E.g., </a:t>
            </a:r>
            <a:r>
              <a:rPr lang="en-US" altLang="en-US" sz="2400" i="1" kern="0" dirty="0"/>
              <a:t>temperature in </a:t>
            </a:r>
            <a:r>
              <a:rPr lang="en-US" altLang="en-US" sz="2400" i="1" kern="0" dirty="0" err="1"/>
              <a:t>C</a:t>
            </a:r>
            <a:r>
              <a:rPr lang="en-US" altLang="en-US" sz="2400" i="1" kern="0" dirty="0" err="1">
                <a:cs typeface="Tahoma" panose="020B0604030504040204" pitchFamily="34" charset="0"/>
              </a:rPr>
              <a:t>˚</a:t>
            </a:r>
            <a:r>
              <a:rPr lang="en-US" altLang="en-US" sz="2400" i="1" kern="0" dirty="0" err="1"/>
              <a:t>or</a:t>
            </a:r>
            <a:r>
              <a:rPr lang="en-US" altLang="en-US" sz="2400" i="1" kern="0" dirty="0"/>
              <a:t> F</a:t>
            </a:r>
            <a:r>
              <a:rPr lang="en-US" altLang="en-US" sz="2400" i="1" kern="0" dirty="0">
                <a:cs typeface="Tahoma" panose="020B0604030504040204" pitchFamily="34" charset="0"/>
              </a:rPr>
              <a:t>˚</a:t>
            </a:r>
            <a:r>
              <a:rPr lang="en-US" altLang="en-US" sz="2400" i="1" kern="0" dirty="0"/>
              <a:t>, calendar dates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 kern="0" dirty="0"/>
              <a:t>No true zero-point(</a:t>
            </a:r>
            <a:r>
              <a:rPr lang="en-US" b="1" dirty="0"/>
              <a:t>not </a:t>
            </a:r>
            <a:r>
              <a:rPr lang="en-US" dirty="0"/>
              <a:t>the complete absence )</a:t>
            </a:r>
            <a:endParaRPr lang="en-US" altLang="en-US" kern="0" dirty="0"/>
          </a:p>
          <a:p>
            <a:pPr marL="292100" indent="-292100" eaLnBrk="1" hangingPunct="1">
              <a:lnSpc>
                <a:spcPct val="90000"/>
              </a:lnSpc>
            </a:pPr>
            <a:r>
              <a:rPr lang="en-US" altLang="en-US" sz="2400" b="1" kern="0" dirty="0"/>
              <a:t>Ratio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 kern="0" dirty="0"/>
              <a:t>Inherent </a:t>
            </a:r>
            <a:r>
              <a:rPr lang="en-US" altLang="en-US" b="1" kern="0" dirty="0"/>
              <a:t>zero-point(</a:t>
            </a:r>
            <a:r>
              <a:rPr lang="en-US" dirty="0"/>
              <a:t>complete absence of the quantity.)</a:t>
            </a:r>
            <a:endParaRPr lang="en-US" altLang="en-US" b="1" kern="0" dirty="0"/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 kern="0" dirty="0"/>
              <a:t>We can speak of values as being an order of magnitude larger than the unit of measurement (10 K</a:t>
            </a:r>
            <a:r>
              <a:rPr lang="en-US" altLang="en-US" kern="0" dirty="0">
                <a:cs typeface="Tahoma" panose="020B0604030504040204" pitchFamily="34" charset="0"/>
              </a:rPr>
              <a:t>˚</a:t>
            </a:r>
            <a:r>
              <a:rPr lang="en-US" altLang="en-US" kern="0" dirty="0"/>
              <a:t> is twice as high as 5 K</a:t>
            </a:r>
            <a:r>
              <a:rPr lang="en-US" altLang="en-US" kern="0" dirty="0">
                <a:cs typeface="Tahoma" panose="020B0604030504040204" pitchFamily="34" charset="0"/>
              </a:rPr>
              <a:t>˚</a:t>
            </a:r>
            <a:r>
              <a:rPr lang="en-US" altLang="en-US" kern="0" dirty="0"/>
              <a:t>).</a:t>
            </a:r>
          </a:p>
          <a:p>
            <a:pPr marL="1714500" lvl="3" indent="-393700" eaLnBrk="1" hangingPunct="1">
              <a:lnSpc>
                <a:spcPct val="90000"/>
              </a:lnSpc>
            </a:pPr>
            <a:r>
              <a:rPr lang="en-US" altLang="en-US" sz="2400" kern="0" dirty="0"/>
              <a:t>e.g., </a:t>
            </a:r>
            <a:r>
              <a:rPr lang="en-US" altLang="en-US" sz="2400" i="1" kern="0" dirty="0"/>
              <a:t>temperature in Kelvin, length, counts, monetary quantities</a:t>
            </a:r>
            <a:endParaRPr lang="en-US" altLang="en-US" sz="1800" i="1" kern="0" dirty="0"/>
          </a:p>
        </p:txBody>
      </p:sp>
    </p:spTree>
    <p:extLst>
      <p:ext uri="{BB962C8B-B14F-4D97-AF65-F5344CB8AC3E}">
        <p14:creationId xmlns:p14="http://schemas.microsoft.com/office/powerpoint/2010/main" val="40880057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FF700756-FFC5-51CE-6D5A-564489FD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118A35-1F7E-4522-A413-A280AEEEAE23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270FB-6EA4-D178-E258-9931A54E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25" y="381000"/>
            <a:ext cx="7793038" cy="6858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Discrete vs. Continuous Attributes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2BB204-062F-5751-77E0-4DB846A74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534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 b="1" kern="0"/>
              <a:t>Discrete</a:t>
            </a:r>
            <a:r>
              <a:rPr lang="en-US" altLang="en-US" sz="2400" kern="0"/>
              <a:t> </a:t>
            </a:r>
            <a:r>
              <a:rPr lang="en-US" altLang="en-US" sz="2400" b="1" kern="0"/>
              <a:t>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kern="0"/>
              <a:t>Has only a finite or countably infinite set of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kern="0"/>
              <a:t>E.g., zip codes, profession, or the set of words in a collection of documents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kern="0"/>
              <a:t>Sometimes, represented as integer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kern="0"/>
              <a:t>Note: Binary attributes are a special case of discrete attributes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 kern="0"/>
              <a:t>Continuous</a:t>
            </a:r>
            <a:r>
              <a:rPr lang="en-US" altLang="en-US" sz="2400" kern="0"/>
              <a:t> </a:t>
            </a:r>
            <a:r>
              <a:rPr lang="en-US" altLang="en-US" sz="2400" b="1" kern="0"/>
              <a:t>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kern="0"/>
              <a:t>Has real numbers as attribute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kern="0"/>
              <a:t>E.g., temperature, height, or weight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kern="0"/>
              <a:t>Practically, real values can only be measured and represented using a finite number of digits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kern="0"/>
              <a:t>Continuous attributes are typically represented as floating-point variables</a:t>
            </a:r>
            <a:endParaRPr lang="en-US" alt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47205856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2B54B-0E40-4380-9EC6-243584DB0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481" y="395748"/>
            <a:ext cx="7793038" cy="685800"/>
          </a:xfrm>
        </p:spPr>
        <p:txBody>
          <a:bodyPr/>
          <a:lstStyle/>
          <a:p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dirty="0"/>
            </a:br>
            <a:r>
              <a:rPr lang="en-IN" b="1" dirty="0"/>
              <a:t>Attribute Generalization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769FA-2B45-357B-1382-D8D68FCCB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lnSpc>
                <a:spcPts val="2200"/>
              </a:lnSpc>
            </a:pPr>
            <a:r>
              <a:rPr lang="en-IN" sz="2200" b="1" dirty="0"/>
              <a:t>Purpose:</a:t>
            </a:r>
            <a:r>
              <a:rPr lang="en-IN" sz="2200" dirty="0"/>
              <a:t> Replace low-level (detailed) attribute values with higher-level concepts according to a </a:t>
            </a:r>
            <a:r>
              <a:rPr lang="en-IN" sz="2200" b="1" dirty="0"/>
              <a:t>concept hierarchy</a:t>
            </a:r>
            <a:r>
              <a:rPr lang="en-IN" sz="2200" dirty="0"/>
              <a:t> or </a:t>
            </a:r>
            <a:r>
              <a:rPr lang="en-IN" sz="2200" b="1" dirty="0"/>
              <a:t>taxonomy</a:t>
            </a:r>
            <a:r>
              <a:rPr lang="en-IN" sz="2200" dirty="0"/>
              <a:t>.</a:t>
            </a:r>
          </a:p>
          <a:p>
            <a:pPr lvl="0" algn="just">
              <a:lnSpc>
                <a:spcPts val="2200"/>
              </a:lnSpc>
            </a:pPr>
            <a:r>
              <a:rPr lang="en-IN" sz="2200" b="1" dirty="0"/>
              <a:t>Steps:</a:t>
            </a:r>
            <a:endParaRPr lang="en-IN" sz="2200" dirty="0"/>
          </a:p>
          <a:p>
            <a:pPr lvl="1" algn="just">
              <a:lnSpc>
                <a:spcPts val="2200"/>
              </a:lnSpc>
            </a:pPr>
            <a:r>
              <a:rPr lang="en-IN" sz="2200" dirty="0"/>
              <a:t>Identify relevant attributes.</a:t>
            </a:r>
          </a:p>
          <a:p>
            <a:pPr lvl="1" algn="just">
              <a:lnSpc>
                <a:spcPts val="2200"/>
              </a:lnSpc>
            </a:pPr>
            <a:r>
              <a:rPr lang="en-IN" sz="2200" dirty="0"/>
              <a:t>Apply generalization rules based on the concept hierarchy.</a:t>
            </a:r>
          </a:p>
          <a:p>
            <a:pPr lvl="1" algn="just">
              <a:lnSpc>
                <a:spcPts val="2200"/>
              </a:lnSpc>
            </a:pPr>
            <a:r>
              <a:rPr lang="en-IN" sz="2200" dirty="0"/>
              <a:t>Remove attributes that reach the highest abstraction level or are irrelevant.</a:t>
            </a:r>
          </a:p>
          <a:p>
            <a:pPr lvl="0" algn="just">
              <a:lnSpc>
                <a:spcPts val="2200"/>
              </a:lnSpc>
            </a:pPr>
            <a:r>
              <a:rPr lang="en-IN" sz="2200" b="1" dirty="0"/>
              <a:t>Example:</a:t>
            </a:r>
            <a:endParaRPr lang="en-IN" sz="2200" dirty="0"/>
          </a:p>
          <a:p>
            <a:pPr lvl="0" algn="just">
              <a:lnSpc>
                <a:spcPts val="2200"/>
              </a:lnSpc>
            </a:pPr>
            <a:r>
              <a:rPr lang="en-IN" sz="2200" dirty="0"/>
              <a:t>City → State → Country</a:t>
            </a:r>
          </a:p>
          <a:p>
            <a:pPr lvl="0" algn="just">
              <a:lnSpc>
                <a:spcPts val="2200"/>
              </a:lnSpc>
            </a:pPr>
            <a:r>
              <a:rPr lang="en-IN" sz="2200" dirty="0"/>
              <a:t>Age (23) → Age group (20–29)</a:t>
            </a:r>
          </a:p>
          <a:p>
            <a:pPr lvl="0" algn="just">
              <a:lnSpc>
                <a:spcPts val="2200"/>
              </a:lnSpc>
            </a:pPr>
            <a:r>
              <a:rPr lang="en-IN" sz="2200" b="1" dirty="0"/>
              <a:t>Benefits:</a:t>
            </a:r>
            <a:endParaRPr lang="en-IN" sz="2200" dirty="0"/>
          </a:p>
          <a:p>
            <a:pPr lvl="1" algn="just">
              <a:lnSpc>
                <a:spcPts val="2200"/>
              </a:lnSpc>
            </a:pPr>
            <a:r>
              <a:rPr lang="en-IN" sz="2200" dirty="0"/>
              <a:t>Reduces data size.</a:t>
            </a:r>
          </a:p>
          <a:p>
            <a:pPr lvl="1" algn="just">
              <a:lnSpc>
                <a:spcPts val="2200"/>
              </a:lnSpc>
            </a:pPr>
            <a:r>
              <a:rPr lang="en-IN" sz="2200" dirty="0"/>
              <a:t>Highlights general patterns.</a:t>
            </a:r>
          </a:p>
          <a:p>
            <a:pPr lvl="1" algn="just">
              <a:lnSpc>
                <a:spcPts val="2200"/>
              </a:lnSpc>
            </a:pPr>
            <a:r>
              <a:rPr lang="en-IN" sz="2200" dirty="0"/>
              <a:t>Improves interpretability.</a:t>
            </a:r>
          </a:p>
          <a:p>
            <a:pPr algn="just">
              <a:lnSpc>
                <a:spcPts val="2200"/>
              </a:lnSpc>
            </a:pPr>
            <a:endParaRPr lang="en-IN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D6643-CCD1-2B4C-3837-102791502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96CACE-3807-4D67-872E-78FEB3CCD8F9}" type="datetime4">
              <a:rPr lang="en-US" smtClean="0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AEF70-E306-BD57-87F3-AB0E17CBB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EB091-F5D5-198E-EE38-168CF487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AD64-AC0E-49C2-A5D9-061661FDDE54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82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A9489-E477-2A67-76F8-42A78420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br>
              <a:rPr lang="en-IN" dirty="0"/>
            </a:br>
            <a:r>
              <a:rPr lang="en-IN" b="1" dirty="0"/>
              <a:t>Attribute Relevance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7FB9B-D216-8B1F-93A1-4FD88D5E0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lnSpc>
                <a:spcPts val="2700"/>
              </a:lnSpc>
            </a:pPr>
            <a:r>
              <a:rPr lang="en-IN" sz="2200" b="1" dirty="0"/>
              <a:t>Definition:</a:t>
            </a:r>
            <a:r>
              <a:rPr lang="en-IN" sz="2200" dirty="0"/>
              <a:t> Determining which attributes significantly contribute to the analysis or decision-making.</a:t>
            </a:r>
          </a:p>
          <a:p>
            <a:pPr lvl="0" algn="just">
              <a:lnSpc>
                <a:spcPts val="2700"/>
              </a:lnSpc>
            </a:pPr>
            <a:r>
              <a:rPr lang="en-IN" sz="2200" b="1" dirty="0"/>
              <a:t>Why it matters:</a:t>
            </a:r>
            <a:r>
              <a:rPr lang="en-IN" sz="2200" dirty="0"/>
              <a:t> Irrelevant attributes add noise and reduce accuracy.</a:t>
            </a:r>
          </a:p>
          <a:p>
            <a:pPr lvl="0" algn="just">
              <a:lnSpc>
                <a:spcPts val="2700"/>
              </a:lnSpc>
            </a:pPr>
            <a:r>
              <a:rPr lang="en-IN" sz="2200" b="1" dirty="0"/>
              <a:t>Approach:</a:t>
            </a:r>
            <a:endParaRPr lang="en-IN" sz="2200" dirty="0"/>
          </a:p>
          <a:p>
            <a:pPr lvl="1" algn="just">
              <a:lnSpc>
                <a:spcPts val="2700"/>
              </a:lnSpc>
            </a:pPr>
            <a:r>
              <a:rPr lang="en-IN" sz="2200" b="1" dirty="0"/>
              <a:t>Correlation analysis:</a:t>
            </a:r>
            <a:r>
              <a:rPr lang="en-IN" sz="2200" dirty="0"/>
              <a:t> Identify attributes correlated with the target class.</a:t>
            </a:r>
          </a:p>
          <a:p>
            <a:pPr lvl="1" algn="just">
              <a:lnSpc>
                <a:spcPts val="2700"/>
              </a:lnSpc>
            </a:pPr>
            <a:r>
              <a:rPr lang="en-IN" sz="2200" b="1" dirty="0"/>
              <a:t>Statistical significance tests:</a:t>
            </a:r>
            <a:r>
              <a:rPr lang="en-IN" sz="2200" dirty="0"/>
              <a:t> e.g., Chi-square, ANOVA.</a:t>
            </a:r>
          </a:p>
          <a:p>
            <a:pPr lvl="1" algn="just">
              <a:lnSpc>
                <a:spcPts val="2700"/>
              </a:lnSpc>
            </a:pPr>
            <a:r>
              <a:rPr lang="en-IN" sz="2200" b="1" dirty="0"/>
              <a:t>Information gain / entropy measures</a:t>
            </a:r>
            <a:r>
              <a:rPr lang="en-IN" sz="2200" dirty="0"/>
              <a:t> in classification.</a:t>
            </a:r>
          </a:p>
          <a:p>
            <a:pPr algn="just">
              <a:lnSpc>
                <a:spcPts val="2700"/>
              </a:lnSpc>
            </a:pPr>
            <a:r>
              <a:rPr lang="en-IN" sz="2200" b="1" dirty="0"/>
              <a:t>Outcome:</a:t>
            </a:r>
            <a:r>
              <a:rPr lang="en-IN" sz="2200" dirty="0"/>
              <a:t> Keep only attributes that add meaningful discrimination power.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3278A-A451-E6B1-C7AC-8B83B497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96CACE-3807-4D67-872E-78FEB3CCD8F9}" type="datetime4">
              <a:rPr lang="en-US" smtClean="0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CE642-6755-2D78-A340-CA485238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1A15D-B902-9A47-4F7D-E0F3AD0A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AD64-AC0E-49C2-A5D9-061661FDDE54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8702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8E63-2198-FEDB-6FC1-BD4DF71B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b="1" dirty="0"/>
              <a:t>Class Comparison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4D0DD-E6A2-9DF4-1F6C-42AE22CE3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000" b="1" dirty="0"/>
              <a:t>Definition:</a:t>
            </a:r>
            <a:r>
              <a:rPr lang="en-IN" sz="2000" dirty="0"/>
              <a:t> Comparative analysis of the characteristics of different classes (or concepts) of data.</a:t>
            </a:r>
          </a:p>
          <a:p>
            <a:pPr lvl="0"/>
            <a:r>
              <a:rPr lang="en-IN" sz="2000" b="1" dirty="0"/>
              <a:t>Process:</a:t>
            </a:r>
            <a:endParaRPr lang="en-IN" sz="2000" dirty="0"/>
          </a:p>
          <a:p>
            <a:pPr lvl="1"/>
            <a:r>
              <a:rPr lang="en-IN" sz="2000" dirty="0"/>
              <a:t>Partition dataset into target class(es) and contrasting class(es).</a:t>
            </a:r>
          </a:p>
          <a:p>
            <a:pPr lvl="1"/>
            <a:r>
              <a:rPr lang="en-IN" sz="2000" dirty="0"/>
              <a:t>Summarize data for each class (e.g., average, percentage, distribution).</a:t>
            </a:r>
          </a:p>
          <a:p>
            <a:pPr lvl="1"/>
            <a:r>
              <a:rPr lang="en-IN" sz="2000" dirty="0"/>
              <a:t>Highlight distinguishing features.</a:t>
            </a:r>
          </a:p>
          <a:p>
            <a:pPr lvl="0"/>
            <a:r>
              <a:rPr lang="en-IN" sz="2000" b="1" dirty="0"/>
              <a:t>Example:</a:t>
            </a:r>
            <a:endParaRPr lang="en-IN" sz="2000" dirty="0"/>
          </a:p>
          <a:p>
            <a:pPr lvl="1"/>
            <a:r>
              <a:rPr lang="en-IN" sz="2000" dirty="0"/>
              <a:t>Compare </a:t>
            </a:r>
            <a:r>
              <a:rPr lang="en-IN" sz="2000" b="1" dirty="0"/>
              <a:t>“High-income customers”</a:t>
            </a:r>
            <a:r>
              <a:rPr lang="en-IN" sz="2000" dirty="0"/>
              <a:t> vs </a:t>
            </a:r>
            <a:r>
              <a:rPr lang="en-IN" sz="2000" b="1" dirty="0"/>
              <a:t>“Low-income customers”</a:t>
            </a:r>
            <a:r>
              <a:rPr lang="en-IN" sz="2000" dirty="0"/>
              <a:t> in terms of average spending, preferred product category, etc.</a:t>
            </a:r>
          </a:p>
          <a:p>
            <a:pPr lvl="0"/>
            <a:r>
              <a:rPr lang="en-IN" sz="2000" b="1" dirty="0"/>
              <a:t>Applications:</a:t>
            </a:r>
            <a:endParaRPr lang="en-IN" sz="2000" dirty="0"/>
          </a:p>
          <a:p>
            <a:pPr lvl="1"/>
            <a:r>
              <a:rPr lang="en-IN" sz="2000" dirty="0"/>
              <a:t>Marketing (customer segmentation)</a:t>
            </a:r>
          </a:p>
          <a:p>
            <a:pPr lvl="1"/>
            <a:r>
              <a:rPr lang="en-IN" sz="2000" dirty="0"/>
              <a:t>Medical diagnosis (patients with vs without a disease)</a:t>
            </a:r>
          </a:p>
          <a:p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320E6-611E-819D-EBCD-FF687C29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96CACE-3807-4D67-872E-78FEB3CCD8F9}" type="datetime4">
              <a:rPr lang="en-US" smtClean="0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5B71C-53A8-FF83-9A86-9F2DA6C6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20FEB-84EB-88E9-A355-763B4945B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AD64-AC0E-49C2-A5D9-061661FDDE54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5288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CB5B-2EAC-4548-3E77-0385FD86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b="1" dirty="0"/>
              <a:t>Statistical Measures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C19DA-B8B7-C4A0-BA58-A341B4818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06" y="1211826"/>
            <a:ext cx="8382000" cy="5265174"/>
          </a:xfrm>
        </p:spPr>
        <p:txBody>
          <a:bodyPr/>
          <a:lstStyle/>
          <a:p>
            <a:pPr lvl="1" algn="just">
              <a:lnSpc>
                <a:spcPct val="150000"/>
              </a:lnSpc>
            </a:pPr>
            <a:r>
              <a:rPr lang="en-IN" sz="2400" b="1" dirty="0"/>
              <a:t>Support</a:t>
            </a:r>
            <a:r>
              <a:rPr lang="en-IN" sz="2400" dirty="0"/>
              <a:t> – proportion of tuples satisfying a condition.</a:t>
            </a:r>
          </a:p>
          <a:p>
            <a:pPr lvl="1" algn="just">
              <a:lnSpc>
                <a:spcPct val="150000"/>
              </a:lnSpc>
            </a:pPr>
            <a:r>
              <a:rPr lang="en-IN" sz="2400" b="1" dirty="0"/>
              <a:t>Confidence</a:t>
            </a:r>
            <a:r>
              <a:rPr lang="en-IN" sz="2400" dirty="0"/>
              <a:t> – conditional probability that a tuple satisfies another condition given one condition.</a:t>
            </a:r>
          </a:p>
          <a:p>
            <a:pPr lvl="1" algn="just">
              <a:lnSpc>
                <a:spcPct val="150000"/>
              </a:lnSpc>
            </a:pPr>
            <a:r>
              <a:rPr lang="en-IN" sz="2400" b="1" dirty="0"/>
              <a:t>Mean, Median, Mode</a:t>
            </a:r>
            <a:r>
              <a:rPr lang="en-IN" sz="2400" dirty="0"/>
              <a:t> – central tendency.</a:t>
            </a:r>
          </a:p>
          <a:p>
            <a:pPr lvl="1" algn="just">
              <a:lnSpc>
                <a:spcPct val="150000"/>
              </a:lnSpc>
            </a:pPr>
            <a:r>
              <a:rPr lang="en-IN" sz="2400" b="1" dirty="0"/>
              <a:t>Variance, Standard Deviation</a:t>
            </a:r>
            <a:r>
              <a:rPr lang="en-IN" sz="2400" dirty="0"/>
              <a:t> – spread of data.</a:t>
            </a:r>
          </a:p>
          <a:p>
            <a:pPr lvl="1" algn="just">
              <a:lnSpc>
                <a:spcPct val="150000"/>
              </a:lnSpc>
            </a:pPr>
            <a:r>
              <a:rPr lang="en-IN" sz="2400" b="1" dirty="0"/>
              <a:t>t-test, Chi-square test</a:t>
            </a:r>
            <a:r>
              <a:rPr lang="en-IN" sz="2400" dirty="0"/>
              <a:t> – significance of attribute differences between classes.</a:t>
            </a:r>
          </a:p>
          <a:p>
            <a:pPr lvl="1" algn="just">
              <a:lnSpc>
                <a:spcPct val="150000"/>
              </a:lnSpc>
            </a:pPr>
            <a:r>
              <a:rPr lang="en-IN" sz="2400" b="1" dirty="0"/>
              <a:t>Correlation coefficient (r)</a:t>
            </a:r>
            <a:r>
              <a:rPr lang="en-IN" sz="2400" dirty="0"/>
              <a:t> – strength of linear relationship between attributes.</a:t>
            </a:r>
          </a:p>
          <a:p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30004-C86B-3AA3-6ED0-1F217BB1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96CACE-3807-4D67-872E-78FEB3CCD8F9}" type="datetime4">
              <a:rPr lang="en-US" smtClean="0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62E29-25AB-5E17-6432-D70FC007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3A213-EBA8-B05B-DD07-8875131F9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AD64-AC0E-49C2-A5D9-061661FDDE54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6026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C22BF-D49B-7982-5038-4AFC087E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Support and Confidence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F6A27B-1A4E-AD86-0BF9-F1F80B896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447800"/>
            <a:ext cx="8077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B56BE-8549-06C0-F2DB-F9200CEDC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96CACE-3807-4D67-872E-78FEB3CCD8F9}" type="datetime4">
              <a:rPr lang="en-US" smtClean="0"/>
              <a:pPr>
                <a:defRPr/>
              </a:pPr>
              <a:t>August 13,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8838F-AE8C-5F07-571E-DDB505CE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E5B1C-BBAA-56AB-9C70-120E694B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AD64-AC0E-49C2-A5D9-061661FDDE54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5110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FF700756-FFC5-51CE-6D5A-564489FD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118A35-1F7E-4522-A413-A280AEEEAE23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270FB-6EA4-D178-E258-9931A54E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1950"/>
            <a:ext cx="7793038" cy="6858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Measures of Central Tendency   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A2D6066-AC86-851A-4D29-E6E63B234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43000"/>
            <a:ext cx="6477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1800" u="sng" kern="0">
                <a:latin typeface="Calibri" panose="020F0502020204030204" pitchFamily="34" charset="0"/>
              </a:rPr>
              <a:t>Mean (algebraic measure) (sample vs. population):</a:t>
            </a:r>
          </a:p>
          <a:p>
            <a:pPr lvl="1" eaLnBrk="1" hangingPunct="1">
              <a:lnSpc>
                <a:spcPct val="130000"/>
              </a:lnSpc>
              <a:buSzPct val="80000"/>
              <a:buFont typeface="Wingdings" panose="05000000000000000000" pitchFamily="2" charset="2"/>
              <a:buNone/>
            </a:pPr>
            <a:r>
              <a:rPr lang="en-US" altLang="en-US" sz="1800" kern="0">
                <a:latin typeface="Calibri" panose="020F0502020204030204" pitchFamily="34" charset="0"/>
              </a:rPr>
              <a:t>Note: </a:t>
            </a:r>
            <a:r>
              <a:rPr lang="en-US" altLang="en-US" sz="1800" i="1" kern="0">
                <a:latin typeface="Calibri" panose="020F0502020204030204" pitchFamily="34" charset="0"/>
              </a:rPr>
              <a:t>n</a:t>
            </a:r>
            <a:r>
              <a:rPr lang="en-US" altLang="en-US" sz="1800" kern="0">
                <a:latin typeface="Calibri" panose="020F0502020204030204" pitchFamily="34" charset="0"/>
              </a:rPr>
              <a:t> is sample size and </a:t>
            </a:r>
            <a:r>
              <a:rPr lang="en-US" altLang="en-US" sz="1800" i="1" kern="0">
                <a:latin typeface="Calibri" panose="020F0502020204030204" pitchFamily="34" charset="0"/>
              </a:rPr>
              <a:t>N</a:t>
            </a:r>
            <a:r>
              <a:rPr lang="en-US" altLang="en-US" sz="1800" kern="0">
                <a:latin typeface="Calibri" panose="020F0502020204030204" pitchFamily="34" charset="0"/>
              </a:rPr>
              <a:t> is population size. 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Weighted arithmetic mean: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Trimmed mean: chopping extreme values</a:t>
            </a:r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1800" u="sng" kern="0">
                <a:latin typeface="Calibri" panose="020F0502020204030204" pitchFamily="34" charset="0"/>
              </a:rPr>
              <a:t>Median</a:t>
            </a:r>
            <a:r>
              <a:rPr lang="en-US" altLang="en-US" sz="1800" kern="0">
                <a:latin typeface="Calibri" panose="020F0502020204030204" pitchFamily="34" charset="0"/>
              </a:rPr>
              <a:t>: 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Middle value if odd number of values, or average of the middle two values otherwise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Estimated by interpolation (for </a:t>
            </a:r>
            <a:r>
              <a:rPr lang="en-US" altLang="en-US" sz="1800" i="1" kern="0">
                <a:solidFill>
                  <a:schemeClr val="tx2"/>
                </a:solidFill>
                <a:latin typeface="Calibri" panose="020F0502020204030204" pitchFamily="34" charset="0"/>
              </a:rPr>
              <a:t>grouped data</a:t>
            </a:r>
            <a:r>
              <a:rPr lang="en-US" altLang="en-US" sz="1800" kern="0">
                <a:latin typeface="Calibri" panose="020F0502020204030204" pitchFamily="34" charset="0"/>
              </a:rPr>
              <a:t>):</a:t>
            </a:r>
          </a:p>
          <a:p>
            <a:pPr eaLnBrk="1" hangingPunct="1">
              <a:lnSpc>
                <a:spcPct val="130000"/>
              </a:lnSpc>
              <a:buSzPct val="80000"/>
            </a:pPr>
            <a:endParaRPr lang="en-US" altLang="en-US" sz="1800" u="sng" kern="0">
              <a:latin typeface="Calibri" panose="020F0502020204030204" pitchFamily="34" charset="0"/>
            </a:endParaRPr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1800" u="sng" kern="0">
                <a:latin typeface="Calibri" panose="020F0502020204030204" pitchFamily="34" charset="0"/>
              </a:rPr>
              <a:t>Mode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Value that occurs most frequently in the data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Unimodal, bimodal, trimodal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Empirical formula:</a:t>
            </a:r>
          </a:p>
          <a:p>
            <a:pPr eaLnBrk="1" hangingPunct="1">
              <a:lnSpc>
                <a:spcPct val="130000"/>
              </a:lnSpc>
              <a:buSzPct val="80000"/>
            </a:pPr>
            <a:endParaRPr lang="en-US" altLang="en-US" sz="1800" kern="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5F1BC74-97C2-2A15-D4FF-162B6325A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43000"/>
            <a:ext cx="6477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1800" u="sng" kern="0">
                <a:latin typeface="Calibri" panose="020F0502020204030204" pitchFamily="34" charset="0"/>
              </a:rPr>
              <a:t>Mean (algebraic measure) (sample vs. population):</a:t>
            </a:r>
          </a:p>
          <a:p>
            <a:pPr lvl="1" eaLnBrk="1" hangingPunct="1">
              <a:lnSpc>
                <a:spcPct val="130000"/>
              </a:lnSpc>
              <a:buSzPct val="80000"/>
              <a:buFont typeface="Wingdings" panose="05000000000000000000" pitchFamily="2" charset="2"/>
              <a:buNone/>
            </a:pPr>
            <a:r>
              <a:rPr lang="en-US" altLang="en-US" sz="1800" kern="0">
                <a:latin typeface="Calibri" panose="020F0502020204030204" pitchFamily="34" charset="0"/>
              </a:rPr>
              <a:t>Note: </a:t>
            </a:r>
            <a:r>
              <a:rPr lang="en-US" altLang="en-US" sz="1800" i="1" kern="0">
                <a:latin typeface="Calibri" panose="020F0502020204030204" pitchFamily="34" charset="0"/>
              </a:rPr>
              <a:t>n</a:t>
            </a:r>
            <a:r>
              <a:rPr lang="en-US" altLang="en-US" sz="1800" kern="0">
                <a:latin typeface="Calibri" panose="020F0502020204030204" pitchFamily="34" charset="0"/>
              </a:rPr>
              <a:t> is sample size and </a:t>
            </a:r>
            <a:r>
              <a:rPr lang="en-US" altLang="en-US" sz="1800" i="1" kern="0">
                <a:latin typeface="Calibri" panose="020F0502020204030204" pitchFamily="34" charset="0"/>
              </a:rPr>
              <a:t>N</a:t>
            </a:r>
            <a:r>
              <a:rPr lang="en-US" altLang="en-US" sz="1800" kern="0">
                <a:latin typeface="Calibri" panose="020F0502020204030204" pitchFamily="34" charset="0"/>
              </a:rPr>
              <a:t> is population size. 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Weighted arithmetic mean: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Trimmed mean: chopping extreme values</a:t>
            </a:r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1800" u="sng" kern="0">
                <a:latin typeface="Calibri" panose="020F0502020204030204" pitchFamily="34" charset="0"/>
              </a:rPr>
              <a:t>Median</a:t>
            </a:r>
            <a:r>
              <a:rPr lang="en-US" altLang="en-US" sz="1800" kern="0">
                <a:latin typeface="Calibri" panose="020F0502020204030204" pitchFamily="34" charset="0"/>
              </a:rPr>
              <a:t>: 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Middle value if odd number of values, or average of the middle two values otherwise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Estimated by interpolation (for </a:t>
            </a:r>
            <a:r>
              <a:rPr lang="en-US" altLang="en-US" sz="1800" i="1" kern="0">
                <a:solidFill>
                  <a:schemeClr val="tx2"/>
                </a:solidFill>
                <a:latin typeface="Calibri" panose="020F0502020204030204" pitchFamily="34" charset="0"/>
              </a:rPr>
              <a:t>grouped data</a:t>
            </a:r>
            <a:r>
              <a:rPr lang="en-US" altLang="en-US" sz="1800" kern="0">
                <a:latin typeface="Calibri" panose="020F0502020204030204" pitchFamily="34" charset="0"/>
              </a:rPr>
              <a:t>):</a:t>
            </a:r>
          </a:p>
          <a:p>
            <a:pPr eaLnBrk="1" hangingPunct="1">
              <a:lnSpc>
                <a:spcPct val="130000"/>
              </a:lnSpc>
              <a:buSzPct val="80000"/>
            </a:pPr>
            <a:endParaRPr lang="en-US" altLang="en-US" sz="1800" u="sng" kern="0">
              <a:latin typeface="Calibri" panose="020F0502020204030204" pitchFamily="34" charset="0"/>
            </a:endParaRPr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altLang="en-US" sz="1800" u="sng" kern="0">
                <a:latin typeface="Calibri" panose="020F0502020204030204" pitchFamily="34" charset="0"/>
              </a:rPr>
              <a:t>Mode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Value that occurs most frequently in the data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Unimodal, bimodal, trimodal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altLang="en-US" sz="1800" kern="0">
                <a:latin typeface="Calibri" panose="020F0502020204030204" pitchFamily="34" charset="0"/>
              </a:rPr>
              <a:t>Empirical formula:</a:t>
            </a:r>
          </a:p>
          <a:p>
            <a:pPr eaLnBrk="1" hangingPunct="1">
              <a:lnSpc>
                <a:spcPct val="130000"/>
              </a:lnSpc>
              <a:buSzPct val="80000"/>
            </a:pPr>
            <a:endParaRPr lang="en-US" altLang="en-US" sz="1800" kern="0" dirty="0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69EC2DC9-CE7F-82C3-872E-75E3A6C383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1143000"/>
          <a:ext cx="17526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Equation 3.0" r:id="rId3" imgW="710891" imgH="431613" progId="Equation.3">
                  <p:embed/>
                </p:oleObj>
              </mc:Choice>
              <mc:Fallback>
                <p:oleObj name="Microsoft Equation 3.0" r:id="rId3" imgW="710891" imgH="431613" progId="Equation.3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69EC2DC9-CE7F-82C3-872E-75E3A6C383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143000"/>
                        <a:ext cx="1752600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9056969B-E3A9-30A1-8077-CE5EF70F99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1981200"/>
          <a:ext cx="16002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49300" imgH="838200" progId="Equation.3">
                  <p:embed/>
                </p:oleObj>
              </mc:Choice>
              <mc:Fallback>
                <p:oleObj name="Equation" r:id="rId5" imgW="749300" imgH="838200" progId="Equation.3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9056969B-E3A9-30A1-8077-CE5EF70F99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981200"/>
                        <a:ext cx="16002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C7E8E322-E763-2FCE-E77B-857A35D26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343400"/>
          <a:ext cx="464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87600" imgH="469900" progId="Equation.3">
                  <p:embed/>
                </p:oleObj>
              </mc:Choice>
              <mc:Fallback>
                <p:oleObj name="Equation" r:id="rId7" imgW="2387600" imgH="469900" progId="Equation.3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C7E8E322-E763-2FCE-E77B-857A35D26E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343400"/>
                        <a:ext cx="4648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DECB6B76-FDE0-0EBD-5E7B-33710D05CF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6096000"/>
          <a:ext cx="444976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97100" imgH="203200" progId="Equation.3">
                  <p:embed/>
                </p:oleObj>
              </mc:Choice>
              <mc:Fallback>
                <p:oleObj name="Equation" r:id="rId9" imgW="2197100" imgH="203200" progId="Equation.3">
                  <p:embed/>
                  <p:pic>
                    <p:nvPicPr>
                      <p:cNvPr id="10" name="Object 7">
                        <a:extLst>
                          <a:ext uri="{FF2B5EF4-FFF2-40B4-BE49-F238E27FC236}">
                            <a16:creationId xmlns:a16="http://schemas.microsoft.com/office/drawing/2014/main" id="{DECB6B76-FDE0-0EBD-5E7B-33710D05CF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6096000"/>
                        <a:ext cx="4449763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096C1521-942F-7F6B-71D4-12A1813E5F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0" y="1130300"/>
          <a:ext cx="10668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96900" imgH="431800" progId="Equation.3">
                  <p:embed/>
                </p:oleObj>
              </mc:Choice>
              <mc:Fallback>
                <p:oleObj name="Equation" r:id="rId11" imgW="596900" imgH="431800" progId="Equation.3">
                  <p:embed/>
                  <p:pic>
                    <p:nvPicPr>
                      <p:cNvPr id="11" name="Object 8">
                        <a:extLst>
                          <a:ext uri="{FF2B5EF4-FFF2-40B4-BE49-F238E27FC236}">
                            <a16:creationId xmlns:a16="http://schemas.microsoft.com/office/drawing/2014/main" id="{096C1521-942F-7F6B-71D4-12A1813E5F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1130300"/>
                        <a:ext cx="10668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2">
            <a:extLst>
              <a:ext uri="{FF2B5EF4-FFF2-40B4-BE49-F238E27FC236}">
                <a16:creationId xmlns:a16="http://schemas.microsoft.com/office/drawing/2014/main" id="{7A6E710F-6072-8062-E492-6FD949AC3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8" y="3414713"/>
            <a:ext cx="2316162" cy="207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1F7AF691-D2DD-EC01-9CEA-B590C16F4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495800"/>
            <a:ext cx="68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000" b="1" dirty="0"/>
              <a:t>Median interval</a:t>
            </a:r>
          </a:p>
        </p:txBody>
      </p:sp>
    </p:spTree>
    <p:extLst>
      <p:ext uri="{BB962C8B-B14F-4D97-AF65-F5344CB8AC3E}">
        <p14:creationId xmlns:p14="http://schemas.microsoft.com/office/powerpoint/2010/main" val="210841213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FF700756-FFC5-51CE-6D5A-564489FD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118A35-1F7E-4522-A413-A280AEEEAE23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270FB-6EA4-D178-E258-9931A54E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1950"/>
            <a:ext cx="7793038" cy="6858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Variance and Standard Deviation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DE7409-0EF7-17A8-C25B-2B78AED28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" y="1447800"/>
            <a:ext cx="8810625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07942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7182</TotalTime>
  <Words>941</Words>
  <Application>Microsoft Office PowerPoint</Application>
  <PresentationFormat>On-screen Show (4:3)</PresentationFormat>
  <Paragraphs>148</Paragraphs>
  <Slides>12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Tahoma</vt:lpstr>
      <vt:lpstr>Times New Roman</vt:lpstr>
      <vt:lpstr>Wingdings</vt:lpstr>
      <vt:lpstr>Blends</vt:lpstr>
      <vt:lpstr>Microsoft Equation 3.0</vt:lpstr>
      <vt:lpstr>Equation</vt:lpstr>
      <vt:lpstr>Attribute-oriented analysis</vt:lpstr>
      <vt:lpstr>Attributes </vt:lpstr>
      <vt:lpstr>Attributes Types</vt:lpstr>
      <vt:lpstr>Numeric Attributes Types</vt:lpstr>
      <vt:lpstr>Discrete vs. Continuous Attributes </vt:lpstr>
      <vt:lpstr>    Attribute Generalization</vt:lpstr>
      <vt:lpstr>  Attribute Relevance</vt:lpstr>
      <vt:lpstr> Class Comparison</vt:lpstr>
      <vt:lpstr> Statistical Measures</vt:lpstr>
      <vt:lpstr>Support and Confidence</vt:lpstr>
      <vt:lpstr>Measures of Central Tendency    </vt:lpstr>
      <vt:lpstr>Variance and Standard Deviation  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Isabella S</cp:lastModifiedBy>
  <cp:revision>275</cp:revision>
  <cp:lastPrinted>1999-09-10T20:38:56Z</cp:lastPrinted>
  <dcterms:created xsi:type="dcterms:W3CDTF">1998-06-19T04:38:52Z</dcterms:created>
  <dcterms:modified xsi:type="dcterms:W3CDTF">2025-08-13T04:38:41Z</dcterms:modified>
</cp:coreProperties>
</file>