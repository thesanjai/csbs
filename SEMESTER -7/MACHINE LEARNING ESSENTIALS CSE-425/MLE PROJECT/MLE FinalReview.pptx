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media/image18.png" ContentType="image/png"/>
  <Override PartName="/ppt/media/image20.png" ContentType="image/png"/>
  <Override PartName="/ppt/media/image9.png" ContentType="image/png"/>
  <Override PartName="/ppt/media/image28.png" ContentType="image/png"/>
  <Override PartName="/ppt/media/image7.jpeg" ContentType="image/jpeg"/>
  <Override PartName="/ppt/media/image4.png" ContentType="image/png"/>
  <Override PartName="/ppt/media/image13.png" ContentType="image/png"/>
  <Override PartName="/ppt/media/image30.png" ContentType="image/png"/>
  <Override PartName="/ppt/media/image31.png" ContentType="image/png"/>
  <Override PartName="/ppt/media/image10.png" ContentType="image/png"/>
  <Override PartName="/ppt/media/image1.png" ContentType="image/png"/>
  <Override PartName="/ppt/media/image6.png" ContentType="image/png"/>
  <Override PartName="/ppt/media/image15.png" ContentType="image/png"/>
  <Override PartName="/ppt/media/image5.png" ContentType="image/png"/>
  <Override PartName="/ppt/media/image14.png" ContentType="image/png"/>
  <Override PartName="/ppt/media/image16.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2.xml.rels" ContentType="application/vnd.openxmlformats-package.relationships+xml"/>
  <Override PartName="/ppt/slides/_rels/slide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51.xml.rels" ContentType="application/vnd.openxmlformats-package.relationships+xml"/>
  <Override PartName="/ppt/slides/_rels/slide13.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6.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5.xml.rels" ContentType="application/vnd.openxmlformats-package.relationships+xml"/>
  <Override PartName="/ppt/slides/_rels/slide41.xml.rels" ContentType="application/vnd.openxmlformats-package.relationships+xml"/>
  <Override PartName="/ppt/slides/_rels/slide39.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notesSlides/_rels/notesSlide25.xml.rels" ContentType="application/vnd.openxmlformats-package.relationships+xml"/>
  <Override PartName="/ppt/notesSlides/_rels/notesSlide6.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21.xml.rels" ContentType="application/vnd.openxmlformats-package.relationships+xml"/>
  <Override PartName="/ppt/notesSlides/_rels/notesSlide7.xml.rels" ContentType="application/vnd.openxmlformats-package.relationship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move </a:t>
            </a:r>
            <a:r>
              <a:rPr b="0" lang="en-US" sz="4400" spc="-1" strike="noStrike">
                <a:solidFill>
                  <a:srgbClr val="000000"/>
                </a:solidFill>
                <a:latin typeface="Arial"/>
              </a:rPr>
              <a:t>the </a:t>
            </a:r>
            <a:r>
              <a:rPr b="0" lang="en-US" sz="4400" spc="-1" strike="noStrike">
                <a:solidFill>
                  <a:srgbClr val="000000"/>
                </a:solidFill>
                <a:latin typeface="Arial"/>
              </a:rPr>
              <a:t>slide</a:t>
            </a:r>
            <a:endParaRPr b="0" lang="en-US" sz="4400" spc="-1" strike="noStrike">
              <a:solidFill>
                <a:srgbClr val="000000"/>
              </a:solidFill>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a:t>
            </a:r>
            <a:r>
              <a:rPr b="0" lang="en-US" sz="2000" spc="-1" strike="noStrike">
                <a:solidFill>
                  <a:srgbClr val="000000"/>
                </a:solidFill>
                <a:latin typeface="Arial"/>
              </a:rPr>
              <a:t>the notes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31" name="PlaceHolder 4"/>
          <p:cNvSpPr>
            <a:spLocks noGrp="1"/>
          </p:cNvSpPr>
          <p:nvPr>
            <p:ph type="dt" idx="1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2" name="PlaceHolder 5"/>
          <p:cNvSpPr>
            <a:spLocks noGrp="1"/>
          </p:cNvSpPr>
          <p:nvPr>
            <p:ph type="ftr" idx="13"/>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95A7333-411A-45E9-B077-C1BAD36D8C0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hyperlink" Target="https://www.geeksforgeeks.org/ml-linear-regression/" TargetMode="External"/><Relationship Id="rId2" Type="http://schemas.openxmlformats.org/officeDocument/2006/relationships/hyperlink" Target="https://www.geeksforgeeks.org/support-vector-machine-algorithm/" TargetMode="External"/><Relationship Id="rId3" Type="http://schemas.openxmlformats.org/officeDocument/2006/relationships/slide" Target="../slides/slide21.xml"/><Relationship Id="rId4"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381240" y="685800"/>
            <a:ext cx="6094800" cy="3427920"/>
          </a:xfrm>
          <a:prstGeom prst="rect">
            <a:avLst/>
          </a:prstGeom>
          <a:ln w="0">
            <a:noFill/>
          </a:ln>
        </p:spPr>
      </p:sp>
      <p:sp>
        <p:nvSpPr>
          <p:cNvPr id="36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800" spc="-1" strike="noStrike">
                <a:solidFill>
                  <a:srgbClr val="000000"/>
                </a:solidFill>
                <a:latin typeface="Arial"/>
                <a:ea typeface="Arial"/>
              </a:rPr>
              <a:t>1.</a:t>
            </a:r>
            <a:r>
              <a:rPr b="0" lang="en-US" sz="1400" spc="-1" strike="noStrike">
                <a:solidFill>
                  <a:schemeClr val="dk1"/>
                </a:solidFill>
                <a:latin typeface="Times New Roman"/>
                <a:ea typeface="Times New Roman"/>
              </a:rPr>
              <a:t>This makes it unfit  for </a:t>
            </a:r>
            <a:r>
              <a:rPr b="0" lang="en-US" sz="1400" spc="-1" strike="noStrike">
                <a:solidFill>
                  <a:srgbClr val="222222"/>
                </a:solidFill>
                <a:highlight>
                  <a:srgbClr val="ffffff"/>
                </a:highlight>
                <a:latin typeface="Times New Roman"/>
                <a:ea typeface="Times New Roman"/>
              </a:rPr>
              <a:t>assisting clinicians in the risk for an patient.</a:t>
            </a:r>
            <a:endParaRPr b="0" lang="en-US" sz="1400" spc="-1" strike="noStrike">
              <a:solidFill>
                <a:srgbClr val="000000"/>
              </a:solidFill>
              <a:latin typeface="Arial"/>
            </a:endParaRPr>
          </a:p>
          <a:p>
            <a:pPr marL="216000" indent="0">
              <a:lnSpc>
                <a:spcPct val="100000"/>
              </a:lnSpc>
              <a:buNone/>
              <a:tabLst>
                <a:tab algn="l" pos="0"/>
              </a:tabLst>
            </a:pPr>
            <a:r>
              <a:rPr b="0" lang="en-US" sz="1400" spc="-1" strike="noStrike">
                <a:solidFill>
                  <a:srgbClr val="222222"/>
                </a:solidFill>
                <a:highlight>
                  <a:srgbClr val="ffffff"/>
                </a:highlight>
                <a:latin typeface="Times New Roman"/>
                <a:ea typeface="Times New Roman"/>
              </a:rPr>
              <a:t>2.</a:t>
            </a:r>
            <a:r>
              <a:rPr b="0" lang="en-US" sz="1400" spc="-1" strike="noStrike">
                <a:solidFill>
                  <a:schemeClr val="dk1"/>
                </a:solidFill>
                <a:latin typeface="Times New Roman"/>
                <a:ea typeface="Times New Roman"/>
              </a:rPr>
              <a:t>They used only 11 features which fails </a:t>
            </a:r>
            <a:r>
              <a:rPr b="0" lang="en-US" sz="1400" spc="-1" strike="noStrike">
                <a:solidFill>
                  <a:srgbClr val="1f1f1f"/>
                </a:solidFill>
                <a:latin typeface="Times New Roman"/>
                <a:ea typeface="Times New Roman"/>
              </a:rPr>
              <a:t>to extract the hidden pattern and improve the detection accuracy.</a:t>
            </a:r>
            <a:endParaRPr b="0" lang="en-US" sz="14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381240" y="685800"/>
            <a:ext cx="6094800" cy="3427920"/>
          </a:xfrm>
          <a:prstGeom prst="rect">
            <a:avLst/>
          </a:prstGeom>
          <a:ln w="0">
            <a:noFill/>
          </a:ln>
        </p:spPr>
      </p:sp>
      <p:sp>
        <p:nvSpPr>
          <p:cNvPr id="36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800" spc="-1" strike="noStrike">
                <a:solidFill>
                  <a:srgbClr val="000000"/>
                </a:solidFill>
                <a:latin typeface="Arial"/>
                <a:ea typeface="Arial"/>
              </a:rPr>
              <a:t>1.</a:t>
            </a:r>
            <a:r>
              <a:rPr b="0" lang="en-US" sz="1400" spc="-1" strike="noStrike">
                <a:solidFill>
                  <a:schemeClr val="dk1"/>
                </a:solidFill>
                <a:latin typeface="Times New Roman"/>
                <a:ea typeface="Times New Roman"/>
              </a:rPr>
              <a:t>This makes it unfit  for </a:t>
            </a:r>
            <a:r>
              <a:rPr b="0" lang="en-US" sz="1400" spc="-1" strike="noStrike">
                <a:solidFill>
                  <a:srgbClr val="222222"/>
                </a:solidFill>
                <a:highlight>
                  <a:srgbClr val="ffffff"/>
                </a:highlight>
                <a:latin typeface="Times New Roman"/>
                <a:ea typeface="Times New Roman"/>
              </a:rPr>
              <a:t>assisting clinicians in the risk for an patient.</a:t>
            </a:r>
            <a:endParaRPr b="0" lang="en-US" sz="1400" spc="-1" strike="noStrike">
              <a:solidFill>
                <a:srgbClr val="000000"/>
              </a:solidFill>
              <a:latin typeface="Arial"/>
            </a:endParaRPr>
          </a:p>
          <a:p>
            <a:pPr marL="216000" indent="0">
              <a:lnSpc>
                <a:spcPct val="100000"/>
              </a:lnSpc>
              <a:buNone/>
              <a:tabLst>
                <a:tab algn="l" pos="0"/>
              </a:tabLst>
            </a:pPr>
            <a:r>
              <a:rPr b="0" lang="en-US" sz="1400" spc="-1" strike="noStrike">
                <a:solidFill>
                  <a:srgbClr val="222222"/>
                </a:solidFill>
                <a:highlight>
                  <a:srgbClr val="ffffff"/>
                </a:highlight>
                <a:latin typeface="Times New Roman"/>
                <a:ea typeface="Times New Roman"/>
              </a:rPr>
              <a:t>2.</a:t>
            </a:r>
            <a:r>
              <a:rPr b="0" lang="en-US" sz="1400" spc="-1" strike="noStrike">
                <a:solidFill>
                  <a:schemeClr val="dk1"/>
                </a:solidFill>
                <a:latin typeface="Times New Roman"/>
                <a:ea typeface="Times New Roman"/>
              </a:rPr>
              <a:t>They used only 11 features which fails </a:t>
            </a:r>
            <a:r>
              <a:rPr b="0" lang="en-US" sz="1400" spc="-1" strike="noStrike">
                <a:solidFill>
                  <a:srgbClr val="1f1f1f"/>
                </a:solidFill>
                <a:latin typeface="Times New Roman"/>
                <a:ea typeface="Times New Roman"/>
              </a:rPr>
              <a:t>to extract the hidden pattern and improve the detection accuracy.</a:t>
            </a:r>
            <a:endParaRPr b="0" lang="en-US" sz="1400" spc="-1" strike="noStrike">
              <a:solidFill>
                <a:srgbClr val="000000"/>
              </a:solidFill>
              <a:latin typeface="Arial"/>
            </a:endParaRPr>
          </a:p>
          <a:p>
            <a:pPr marL="216000" indent="0">
              <a:lnSpc>
                <a:spcPct val="100000"/>
              </a:lnSpc>
              <a:buNone/>
              <a:tabLst>
                <a:tab algn="l" pos="0"/>
              </a:tabLst>
            </a:pPr>
            <a:r>
              <a:rPr b="0" lang="en-US" sz="1400" spc="-1" strike="noStrike">
                <a:solidFill>
                  <a:srgbClr val="1f1f1f"/>
                </a:solidFill>
                <a:latin typeface="Times New Roman"/>
                <a:ea typeface="Times New Roman"/>
              </a:rPr>
              <a:t>3. Mahedi - </a:t>
            </a:r>
            <a:r>
              <a:rPr b="1" lang="en-US" sz="1100" spc="-1" strike="noStrike">
                <a:solidFill>
                  <a:schemeClr val="dk1"/>
                </a:solidFill>
                <a:latin typeface="Arial"/>
                <a:ea typeface="Arial"/>
              </a:rPr>
              <a:t>CBFS(Cubic bipolar fussy sets) may not be ideal for non-linear relationships</a:t>
            </a:r>
            <a:r>
              <a:rPr b="0" lang="en-US" sz="1100" spc="-1" strike="noStrike">
                <a:solidFill>
                  <a:schemeClr val="dk1"/>
                </a:solidFill>
                <a:latin typeface="Arial"/>
                <a:ea typeface="Arial"/>
              </a:rPr>
              <a:t>, as Pearson correlation mainly captures linear dependencies.</a:t>
            </a:r>
            <a:endParaRPr b="0" lang="en-US" sz="11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381240" y="685800"/>
            <a:ext cx="6094800" cy="3427920"/>
          </a:xfrm>
          <a:prstGeom prst="rect">
            <a:avLst/>
          </a:prstGeom>
          <a:ln w="0">
            <a:noFill/>
          </a:ln>
        </p:spPr>
      </p:sp>
      <p:sp>
        <p:nvSpPr>
          <p:cNvPr id="36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800" spc="-1" strike="noStrike">
                <a:solidFill>
                  <a:srgbClr val="000000"/>
                </a:solidFill>
                <a:latin typeface="Arial"/>
                <a:ea typeface="Arial"/>
              </a:rPr>
              <a:t>1.</a:t>
            </a:r>
            <a:r>
              <a:rPr b="0" lang="en-US" sz="1400" spc="-1" strike="noStrike">
                <a:solidFill>
                  <a:schemeClr val="dk1"/>
                </a:solidFill>
                <a:latin typeface="Times New Roman"/>
                <a:ea typeface="Times New Roman"/>
              </a:rPr>
              <a:t>This makes it unfit  for </a:t>
            </a:r>
            <a:r>
              <a:rPr b="0" lang="en-US" sz="1400" spc="-1" strike="noStrike">
                <a:solidFill>
                  <a:srgbClr val="222222"/>
                </a:solidFill>
                <a:highlight>
                  <a:srgbClr val="ffffff"/>
                </a:highlight>
                <a:latin typeface="Times New Roman"/>
                <a:ea typeface="Times New Roman"/>
              </a:rPr>
              <a:t>assisting clinicians in the risk for an patient.</a:t>
            </a:r>
            <a:endParaRPr b="0" lang="en-US" sz="1400" spc="-1" strike="noStrike">
              <a:solidFill>
                <a:srgbClr val="000000"/>
              </a:solidFill>
              <a:latin typeface="Arial"/>
            </a:endParaRPr>
          </a:p>
          <a:p>
            <a:pPr marL="216000" indent="0">
              <a:lnSpc>
                <a:spcPct val="100000"/>
              </a:lnSpc>
              <a:buNone/>
              <a:tabLst>
                <a:tab algn="l" pos="0"/>
              </a:tabLst>
            </a:pPr>
            <a:r>
              <a:rPr b="0" lang="en-US" sz="1400" spc="-1" strike="noStrike">
                <a:solidFill>
                  <a:srgbClr val="222222"/>
                </a:solidFill>
                <a:highlight>
                  <a:srgbClr val="ffffff"/>
                </a:highlight>
                <a:latin typeface="Times New Roman"/>
                <a:ea typeface="Times New Roman"/>
              </a:rPr>
              <a:t>2.</a:t>
            </a:r>
            <a:r>
              <a:rPr b="0" lang="en-US" sz="1400" spc="-1" strike="noStrike">
                <a:solidFill>
                  <a:schemeClr val="dk1"/>
                </a:solidFill>
                <a:latin typeface="Times New Roman"/>
                <a:ea typeface="Times New Roman"/>
              </a:rPr>
              <a:t>They used only 11 features which fails </a:t>
            </a:r>
            <a:r>
              <a:rPr b="0" lang="en-US" sz="1400" spc="-1" strike="noStrike">
                <a:solidFill>
                  <a:srgbClr val="1f1f1f"/>
                </a:solidFill>
                <a:latin typeface="Times New Roman"/>
                <a:ea typeface="Times New Roman"/>
              </a:rPr>
              <a:t>to extract the hidden pattern and improve the detection accuracy.</a:t>
            </a:r>
            <a:endParaRPr b="0" lang="en-US" sz="14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sldImg"/>
          </p:nvPr>
        </p:nvSpPr>
        <p:spPr>
          <a:xfrm>
            <a:off x="381240" y="685800"/>
            <a:ext cx="6094800" cy="3427920"/>
          </a:xfrm>
          <a:prstGeom prst="rect">
            <a:avLst/>
          </a:prstGeom>
          <a:ln w="0">
            <a:noFill/>
          </a:ln>
        </p:spPr>
      </p:sp>
      <p:sp>
        <p:nvSpPr>
          <p:cNvPr id="368"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800" spc="-1" strike="noStrike">
                <a:solidFill>
                  <a:srgbClr val="000000"/>
                </a:solidFill>
                <a:latin typeface="Arial"/>
                <a:ea typeface="Arial"/>
              </a:rPr>
              <a:t>Pearson coefficient: </a:t>
            </a:r>
            <a:endParaRPr b="0" lang="en-US" sz="1800" spc="-1" strike="noStrike">
              <a:solidFill>
                <a:srgbClr val="000000"/>
              </a:solidFill>
              <a:latin typeface="Arial"/>
            </a:endParaRPr>
          </a:p>
          <a:p>
            <a:pPr marL="216000" indent="0">
              <a:lnSpc>
                <a:spcPct val="100000"/>
              </a:lnSpc>
              <a:buNone/>
              <a:tabLst>
                <a:tab algn="l" pos="0"/>
              </a:tabLst>
            </a:pPr>
            <a:r>
              <a:rPr b="1" i="1" lang="en-US" sz="1350" spc="-1" strike="noStrike">
                <a:solidFill>
                  <a:srgbClr val="ffffff"/>
                </a:solidFill>
                <a:highlight>
                  <a:srgbClr val="2a2a2c"/>
                </a:highlight>
                <a:latin typeface="Nunito"/>
                <a:ea typeface="Nunito"/>
              </a:rPr>
              <a:t>r = n(∑xy) – (∑x)(∑y) / √[n∑x²-(∑x)²][n∑y²-(∑y)² </a:t>
            </a:r>
            <a:endParaRPr b="0" lang="en-US" sz="1350" spc="-1" strike="noStrike">
              <a:solidFill>
                <a:srgbClr val="000000"/>
              </a:solidFill>
              <a:latin typeface="Arial"/>
            </a:endParaRPr>
          </a:p>
          <a:p>
            <a:pPr marL="216000" indent="0">
              <a:lnSpc>
                <a:spcPct val="100000"/>
              </a:lnSpc>
              <a:buNone/>
              <a:tabLst>
                <a:tab algn="l" pos="0"/>
              </a:tabLst>
            </a:pPr>
            <a:endParaRPr b="0" lang="en-US" sz="18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381240" y="685800"/>
            <a:ext cx="6094800" cy="3427920"/>
          </a:xfrm>
          <a:prstGeom prst="rect">
            <a:avLst/>
          </a:prstGeom>
          <a:ln w="0">
            <a:noFill/>
          </a:ln>
        </p:spPr>
      </p:sp>
      <p:sp>
        <p:nvSpPr>
          <p:cNvPr id="370"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800" spc="-1" strike="noStrike">
                <a:solidFill>
                  <a:srgbClr val="000000"/>
                </a:solidFill>
                <a:latin typeface="Arial"/>
                <a:ea typeface="Arial"/>
              </a:rPr>
              <a:t>Chi-square: </a:t>
            </a:r>
            <a:endParaRPr b="0" lang="en-US" sz="1800" spc="-1" strike="noStrike">
              <a:solidFill>
                <a:srgbClr val="000000"/>
              </a:solidFill>
              <a:latin typeface="Arial"/>
            </a:endParaRPr>
          </a:p>
          <a:p>
            <a:pPr marL="457200" indent="-304920">
              <a:lnSpc>
                <a:spcPct val="115000"/>
              </a:lnSpc>
              <a:spcBef>
                <a:spcPts val="1500"/>
              </a:spcBef>
              <a:buClr>
                <a:srgbClr val="000000"/>
              </a:buClr>
              <a:buFont typeface="Roboto"/>
              <a:buChar char="●"/>
              <a:tabLst>
                <a:tab algn="l" pos="0"/>
              </a:tabLst>
            </a:pPr>
            <a:r>
              <a:rPr b="0" lang="en-US" sz="1200" spc="-1" strike="noStrike">
                <a:solidFill>
                  <a:schemeClr val="dk1"/>
                </a:solidFill>
                <a:latin typeface="Roboto"/>
                <a:ea typeface="Roboto"/>
              </a:rPr>
              <a:t>You've created an instance of </a:t>
            </a:r>
            <a:r>
              <a:rPr b="0" lang="en-US" sz="1050" spc="-1" strike="noStrike">
                <a:solidFill>
                  <a:srgbClr val="188038"/>
                </a:solidFill>
                <a:latin typeface="Courier New"/>
                <a:ea typeface="Courier New"/>
              </a:rPr>
              <a:t>SelectFpr</a:t>
            </a:r>
            <a:r>
              <a:rPr b="0" lang="en-US" sz="1200" spc="-1" strike="noStrike">
                <a:solidFill>
                  <a:schemeClr val="dk1"/>
                </a:solidFill>
                <a:latin typeface="Roboto"/>
                <a:ea typeface="Roboto"/>
              </a:rPr>
              <a:t>, which is a feature selector that filters features to select based on a false positive rate (FPR). The </a:t>
            </a:r>
            <a:r>
              <a:rPr b="0" lang="en-US" sz="1050" spc="-1" strike="noStrike">
                <a:solidFill>
                  <a:srgbClr val="188038"/>
                </a:solidFill>
                <a:latin typeface="Courier New"/>
                <a:ea typeface="Courier New"/>
              </a:rPr>
              <a:t>score_func</a:t>
            </a:r>
            <a:r>
              <a:rPr b="0" lang="en-US" sz="1200" spc="-1" strike="noStrike">
                <a:solidFill>
                  <a:schemeClr val="dk1"/>
                </a:solidFill>
                <a:latin typeface="Roboto"/>
                <a:ea typeface="Roboto"/>
              </a:rPr>
              <a:t> parameter is set to </a:t>
            </a:r>
            <a:r>
              <a:rPr b="0" lang="en-US" sz="1050" spc="-1" strike="noStrike">
                <a:solidFill>
                  <a:srgbClr val="188038"/>
                </a:solidFill>
                <a:latin typeface="Courier New"/>
                <a:ea typeface="Courier New"/>
              </a:rPr>
              <a:t>chi2</a:t>
            </a:r>
            <a:r>
              <a:rPr b="0" lang="en-US" sz="1200" spc="-1" strike="noStrike">
                <a:solidFill>
                  <a:schemeClr val="dk1"/>
                </a:solidFill>
                <a:latin typeface="Roboto"/>
                <a:ea typeface="Roboto"/>
              </a:rPr>
              <a:t>, indicating that you're using the chi-squared test to evaluate the importance of features.</a:t>
            </a:r>
            <a:endParaRPr b="0" lang="en-US" sz="1200" spc="-1" strike="noStrike">
              <a:solidFill>
                <a:srgbClr val="000000"/>
              </a:solidFill>
              <a:latin typeface="Arial"/>
            </a:endParaRPr>
          </a:p>
          <a:p>
            <a:pPr marL="457200" indent="-304920">
              <a:lnSpc>
                <a:spcPct val="115000"/>
              </a:lnSpc>
              <a:buClr>
                <a:srgbClr val="000000"/>
              </a:buClr>
              <a:buFont typeface="Roboto"/>
              <a:buChar char="●"/>
              <a:tabLst>
                <a:tab algn="l" pos="0"/>
              </a:tabLst>
            </a:pPr>
            <a:r>
              <a:rPr b="0" lang="en-US" sz="1200" spc="-1" strike="noStrike">
                <a:solidFill>
                  <a:schemeClr val="dk1"/>
                </a:solidFill>
                <a:latin typeface="Roboto"/>
                <a:ea typeface="Roboto"/>
              </a:rPr>
              <a:t>The </a:t>
            </a:r>
            <a:r>
              <a:rPr b="0" lang="en-US" sz="1050" spc="-1" strike="noStrike">
                <a:solidFill>
                  <a:srgbClr val="188038"/>
                </a:solidFill>
                <a:latin typeface="Courier New"/>
                <a:ea typeface="Courier New"/>
              </a:rPr>
              <a:t>alpha</a:t>
            </a:r>
            <a:r>
              <a:rPr b="0" lang="en-US" sz="1200" spc="-1" strike="noStrike">
                <a:solidFill>
                  <a:schemeClr val="dk1"/>
                </a:solidFill>
                <a:latin typeface="Roboto"/>
                <a:ea typeface="Roboto"/>
              </a:rPr>
              <a:t> parameter is set to </a:t>
            </a:r>
            <a:r>
              <a:rPr b="0" lang="en-US" sz="1050" spc="-1" strike="noStrike">
                <a:solidFill>
                  <a:srgbClr val="188038"/>
                </a:solidFill>
                <a:latin typeface="Courier New"/>
                <a:ea typeface="Courier New"/>
              </a:rPr>
              <a:t>0.05</a:t>
            </a:r>
            <a:r>
              <a:rPr b="0" lang="en-US" sz="1200" spc="-1" strike="noStrike">
                <a:solidFill>
                  <a:schemeClr val="dk1"/>
                </a:solidFill>
                <a:latin typeface="Roboto"/>
                <a:ea typeface="Roboto"/>
              </a:rPr>
              <a:t>, meaning that you're allowing a 5% false positive rate. This means that up to 5% of the features selected might be due to chance rather than actual relevance.</a:t>
            </a:r>
            <a:endParaRPr b="0" lang="en-US" sz="1200" spc="-1" strike="noStrike">
              <a:solidFill>
                <a:srgbClr val="000000"/>
              </a:solidFill>
              <a:latin typeface="Arial"/>
            </a:endParaRPr>
          </a:p>
          <a:p>
            <a:pPr indent="0">
              <a:lnSpc>
                <a:spcPct val="100000"/>
              </a:lnSpc>
              <a:spcBef>
                <a:spcPts val="1500"/>
              </a:spcBef>
              <a:buNone/>
              <a:tabLst>
                <a:tab algn="l" pos="0"/>
              </a:tabLst>
            </a:pPr>
            <a:endParaRPr b="0" lang="en-US" sz="18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381240" y="685800"/>
            <a:ext cx="6094800" cy="3427920"/>
          </a:xfrm>
          <a:prstGeom prst="rect">
            <a:avLst/>
          </a:prstGeom>
          <a:ln w="0">
            <a:noFill/>
          </a:ln>
        </p:spPr>
      </p:sp>
      <p:sp>
        <p:nvSpPr>
          <p:cNvPr id="37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1350" spc="-1" strike="noStrike">
                <a:solidFill>
                  <a:schemeClr val="dk1"/>
                </a:solidFill>
                <a:highlight>
                  <a:srgbClr val="000000"/>
                </a:highlight>
                <a:latin typeface="Nunito"/>
                <a:ea typeface="Nunito"/>
              </a:rPr>
              <a:t>RFE uses a model (such as a linear </a:t>
            </a:r>
            <a:r>
              <a:rPr b="0" lang="en-US" sz="1350" spc="-1" strike="noStrike" u="sng">
                <a:solidFill>
                  <a:schemeClr val="hlink"/>
                </a:solidFill>
                <a:highlight>
                  <a:srgbClr val="000000"/>
                </a:highlight>
                <a:uFillTx/>
                <a:latin typeface="Nunito"/>
                <a:ea typeface="Nunito"/>
                <a:hlinkClick r:id="rId1"/>
              </a:rPr>
              <a:t>regression</a:t>
            </a:r>
            <a:r>
              <a:rPr b="0" lang="en-US" sz="1350" spc="-1" strike="noStrike">
                <a:solidFill>
                  <a:schemeClr val="dk1"/>
                </a:solidFill>
                <a:highlight>
                  <a:srgbClr val="000000"/>
                </a:highlight>
                <a:latin typeface="Nunito"/>
                <a:ea typeface="Nunito"/>
              </a:rPr>
              <a:t> or </a:t>
            </a:r>
            <a:r>
              <a:rPr b="0" lang="en-US" sz="1350" spc="-1" strike="noStrike" u="sng">
                <a:solidFill>
                  <a:schemeClr val="hlink"/>
                </a:solidFill>
                <a:highlight>
                  <a:srgbClr val="000000"/>
                </a:highlight>
                <a:uFillTx/>
                <a:latin typeface="Nunito"/>
                <a:ea typeface="Nunito"/>
                <a:hlinkClick r:id="rId2"/>
              </a:rPr>
              <a:t>support vector machine</a:t>
            </a:r>
            <a:r>
              <a:rPr b="0" lang="en-US" sz="1350" spc="-1" strike="noStrike">
                <a:solidFill>
                  <a:schemeClr val="dk1"/>
                </a:solidFill>
                <a:highlight>
                  <a:srgbClr val="000000"/>
                </a:highlight>
                <a:latin typeface="Nunito"/>
                <a:ea typeface="Nunito"/>
              </a:rPr>
              <a:t>) to evaluate the importance of each feature, and the features with the lowest importance are eliminated in each iteration.</a:t>
            </a:r>
            <a:endParaRPr b="0" lang="en-US" sz="135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sldImg"/>
          </p:nvPr>
        </p:nvSpPr>
        <p:spPr>
          <a:xfrm>
            <a:off x="381240" y="685800"/>
            <a:ext cx="6094800" cy="3427920"/>
          </a:xfrm>
          <a:prstGeom prst="rect">
            <a:avLst/>
          </a:prstGeom>
          <a:ln w="0">
            <a:noFill/>
          </a:ln>
        </p:spPr>
      </p:sp>
      <p:sp>
        <p:nvSpPr>
          <p:cNvPr id="374"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endParaRPr b="0" lang="en-US" sz="1200" spc="-1" strike="noStrike">
              <a:solidFill>
                <a:srgbClr val="000000"/>
              </a:solidFill>
              <a:latin typeface="Arial"/>
            </a:endParaRPr>
          </a:p>
          <a:p>
            <a:pPr marL="216000" indent="0">
              <a:lnSpc>
                <a:spcPct val="100000"/>
              </a:lnSpc>
              <a:buNone/>
              <a:tabLst>
                <a:tab algn="l" pos="0"/>
              </a:tabLst>
            </a:pPr>
            <a:r>
              <a:rPr b="0" lang="en-US" sz="1200" spc="-1" strike="noStrike">
                <a:solidFill>
                  <a:srgbClr val="161616"/>
                </a:solidFill>
                <a:highlight>
                  <a:srgbClr val="ffffff"/>
                </a:highlight>
                <a:latin typeface="Arial"/>
                <a:ea typeface="Arial"/>
              </a:rPr>
              <a:t>In other words, the model has overfitted on a specific training set and fails to accurately generalize on new test sets. Such a model is considered unstable</a:t>
            </a:r>
            <a:endParaRPr b="0" lang="en-US" sz="1200" spc="-1" strike="noStrike">
              <a:solidFill>
                <a:srgbClr val="000000"/>
              </a:solidFill>
              <a:latin typeface="Arial"/>
            </a:endParaRPr>
          </a:p>
          <a:p>
            <a:pPr marL="216000" indent="0">
              <a:lnSpc>
                <a:spcPct val="100000"/>
              </a:lnSpc>
              <a:buNone/>
              <a:tabLst>
                <a:tab algn="l" pos="0"/>
              </a:tabLst>
            </a:pPr>
            <a:endParaRPr b="0" lang="en-US" sz="18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381240" y="685800"/>
            <a:ext cx="6094800" cy="3427920"/>
          </a:xfrm>
          <a:prstGeom prst="rect">
            <a:avLst/>
          </a:prstGeom>
          <a:ln w="0">
            <a:noFill/>
          </a:ln>
        </p:spPr>
      </p:sp>
      <p:sp>
        <p:nvSpPr>
          <p:cNvPr id="376"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Autofit/>
          </a:bodyPr>
          <a:p>
            <a:pPr marL="216000" indent="0">
              <a:lnSpc>
                <a:spcPct val="100000"/>
              </a:lnSpc>
              <a:buNone/>
              <a:tabLst>
                <a:tab algn="l" pos="0"/>
              </a:tabLst>
            </a:pPr>
            <a:endParaRPr b="0" lang="en-US" sz="1200" spc="-1" strike="noStrike">
              <a:solidFill>
                <a:srgbClr val="000000"/>
              </a:solidFill>
              <a:latin typeface="Arial"/>
            </a:endParaRPr>
          </a:p>
          <a:p>
            <a:pPr marL="216000" indent="0">
              <a:lnSpc>
                <a:spcPct val="100000"/>
              </a:lnSpc>
              <a:buNone/>
              <a:tabLst>
                <a:tab algn="l" pos="0"/>
              </a:tabLst>
            </a:pPr>
            <a:r>
              <a:rPr b="0" lang="en-US" sz="1200" spc="-1" strike="noStrike">
                <a:solidFill>
                  <a:srgbClr val="161616"/>
                </a:solidFill>
                <a:highlight>
                  <a:srgbClr val="ffffff"/>
                </a:highlight>
                <a:latin typeface="Arial"/>
                <a:ea typeface="Arial"/>
              </a:rPr>
              <a:t>In other words, the model has overfitted on a specific training set and fails to accurately generalize on new test sets. Such a model is considered unstable</a:t>
            </a:r>
            <a:endParaRPr b="0" lang="en-US" sz="1200" spc="-1" strike="noStrike">
              <a:solidFill>
                <a:srgbClr val="000000"/>
              </a:solidFill>
              <a:latin typeface="Arial"/>
            </a:endParaRPr>
          </a:p>
          <a:p>
            <a:pPr marL="216000" indent="0">
              <a:lnSpc>
                <a:spcPct val="100000"/>
              </a:lnSpc>
              <a:buNone/>
              <a:tabLst>
                <a:tab algn="l" pos="0"/>
              </a:tabLst>
            </a:pPr>
            <a:endParaRPr b="0" lang="en-US" sz="18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3"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 name="PlaceHolder 2"/>
          <p:cNvSpPr>
            <a:spLocks noGrp="1"/>
          </p:cNvSpPr>
          <p:nvPr>
            <p:ph/>
          </p:nvPr>
        </p:nvSpPr>
        <p:spPr>
          <a:xfrm>
            <a:off x="415440" y="1536480"/>
            <a:ext cx="11359800" cy="4554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D4FD48BB-8E78-49F9-A1AB-FBFAF4D1C921}"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ED9FF8DD-922D-4775-A874-0E2B2262B1B4}"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2117E607-5F36-4700-A567-1F9CEA45AD87}"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sldNum" idx="4"/>
          </p:nvPr>
        </p:nvSpPr>
        <p:spPr/>
        <p:txBody>
          <a:bodyPr/>
          <a:p>
            <a:fld id="{26DD5AF4-5B4D-440F-936F-EC8F2D2834D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9F83494E-7C88-4C88-9F3E-D3CA96362DF3}"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14"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5" name="PlaceHolder 2"/>
          <p:cNvSpPr>
            <a:spLocks noGrp="1"/>
          </p:cNvSpPr>
          <p:nvPr>
            <p:ph type="subTitle"/>
          </p:nvPr>
        </p:nvSpPr>
        <p:spPr>
          <a:xfrm>
            <a:off x="415440" y="1536480"/>
            <a:ext cx="11359800" cy="45540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1289BE01-180D-4393-98EB-EB98797FA80D}"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7782BD2D-37D0-4CC7-B439-C77F0F831644}"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21"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 name="PlaceHolder 2"/>
          <p:cNvSpPr>
            <a:spLocks noGrp="1"/>
          </p:cNvSpPr>
          <p:nvPr>
            <p:ph/>
          </p:nvPr>
        </p:nvSpPr>
        <p:spPr>
          <a:xfrm>
            <a:off x="415440" y="1536480"/>
            <a:ext cx="5543280" cy="4554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3"/>
          <p:cNvSpPr>
            <a:spLocks noGrp="1"/>
          </p:cNvSpPr>
          <p:nvPr>
            <p:ph/>
          </p:nvPr>
        </p:nvSpPr>
        <p:spPr>
          <a:xfrm>
            <a:off x="6236280" y="1536480"/>
            <a:ext cx="5543280" cy="45540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sldNum" idx="8"/>
          </p:nvPr>
        </p:nvSpPr>
        <p:spPr/>
        <p:txBody>
          <a:bodyPr/>
          <a:p>
            <a:fld id="{E321DB1A-E230-4071-B282-C1C953FDD936}"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1A0730FF-F14F-4EDC-8D59-6E932263A29A}"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08FA7496-150B-4421-8F71-4030D23D8ABB}"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3BEB9AF4-7395-453F-97F5-85F1A4E8FC4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415440" y="1536480"/>
            <a:ext cx="11359800" cy="4554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sldNum" idx="1"/>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6C9E97DA-3AD1-4837-9DA4-466DF064C7C1}"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sldNum" idx="2"/>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A56EC1DE-AF1A-4A12-9E60-D7AA4AC920F9}"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sldNum" idx="3"/>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7505DD2B-8785-48A4-994E-B3B35239D7E2}"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sldNum" idx="4"/>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514B49B5-73A0-43FA-91D4-34096FED5640}"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
        <p:nvSpPr>
          <p:cNvPr id="9"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sldNum" idx="5"/>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2F6C1E8C-E919-4D76-B6C8-3E3580521E06}"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sldNum" idx="6"/>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CD9FCD2F-CDC7-4FF9-883B-835B65C1FD4B}"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sldNum" idx="7"/>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99EA03A8-0CA5-4215-A7DA-265026890376}"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15440" y="593280"/>
            <a:ext cx="11359800" cy="7624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 name="PlaceHolder 2"/>
          <p:cNvSpPr>
            <a:spLocks noGrp="1"/>
          </p:cNvSpPr>
          <p:nvPr>
            <p:ph type="body"/>
          </p:nvPr>
        </p:nvSpPr>
        <p:spPr>
          <a:xfrm>
            <a:off x="415440" y="1536480"/>
            <a:ext cx="5543280" cy="4554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 name="PlaceHolder 3"/>
          <p:cNvSpPr>
            <a:spLocks noGrp="1"/>
          </p:cNvSpPr>
          <p:nvPr>
            <p:ph type="body"/>
          </p:nvPr>
        </p:nvSpPr>
        <p:spPr>
          <a:xfrm>
            <a:off x="6236640" y="1536480"/>
            <a:ext cx="5543280" cy="4554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 name="PlaceHolder 4"/>
          <p:cNvSpPr>
            <a:spLocks noGrp="1"/>
          </p:cNvSpPr>
          <p:nvPr>
            <p:ph type="sldNum" idx="8"/>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26354BC8-D22B-4995-B67C-3811D8164CB6}"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4" name="PlaceHolder 1"/>
          <p:cNvSpPr>
            <a:spLocks noGrp="1"/>
          </p:cNvSpPr>
          <p:nvPr>
            <p:ph type="sldNum" idx="9"/>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C8C78066-0C91-4DD9-B6E9-75F295F10BFC}"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sldNum" idx="10"/>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285BC392-E288-41C9-AA6F-EA351453AF3B}"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Google Shape;42;p10"/>
          <p:cNvSpPr/>
          <p:nvPr/>
        </p:nvSpPr>
        <p:spPr>
          <a:xfrm>
            <a:off x="6095880" y="0"/>
            <a:ext cx="6094800" cy="6856920"/>
          </a:xfrm>
          <a:prstGeom prst="rect">
            <a:avLst/>
          </a:prstGeom>
          <a:solidFill>
            <a:schemeClr val="lt2"/>
          </a:solidFill>
          <a:ln w="0">
            <a:noFill/>
          </a:ln>
        </p:spPr>
        <p:style>
          <a:lnRef idx="0"/>
          <a:fillRef idx="0"/>
          <a:effectRef idx="0"/>
          <a:fontRef idx="minor"/>
        </p:style>
        <p:txBody>
          <a:bodyPr lIns="122040" rIns="122040" tIns="122040" bIns="122040" anchor="ctr">
            <a:noAutofit/>
          </a:bodyPr>
          <a:p>
            <a:pPr>
              <a:lnSpc>
                <a:spcPct val="100000"/>
              </a:lnSpc>
              <a:tabLst>
                <a:tab algn="l" pos="0"/>
              </a:tabLst>
            </a:pPr>
            <a:endParaRPr b="0" lang="en-US" sz="1400" spc="-1" strike="noStrike">
              <a:solidFill>
                <a:srgbClr val="000000"/>
              </a:solidFill>
              <a:latin typeface="Arial"/>
            </a:endParaRPr>
          </a:p>
        </p:txBody>
      </p:sp>
      <p:sp>
        <p:nvSpPr>
          <p:cNvPr id="27" name="PlaceHolder 1"/>
          <p:cNvSpPr>
            <a:spLocks noGrp="1"/>
          </p:cNvSpPr>
          <p:nvPr>
            <p:ph type="sldNum" idx="11"/>
          </p:nvPr>
        </p:nvSpPr>
        <p:spPr>
          <a:xfrm>
            <a:off x="11296440" y="6217560"/>
            <a:ext cx="730800" cy="523800"/>
          </a:xfrm>
          <a:prstGeom prst="rect">
            <a:avLst/>
          </a:prstGeom>
          <a:noFill/>
          <a:ln w="0">
            <a:noFill/>
          </a:ln>
        </p:spPr>
        <p:txBody>
          <a:bodyPr lIns="122040" rIns="122040" tIns="122040" bIns="122040" anchor="ctr">
            <a:noAutofit/>
          </a:bodyPr>
          <a:lstStyle>
            <a:lvl1pPr indent="0" algn="r">
              <a:lnSpc>
                <a:spcPct val="100000"/>
              </a:lnSpc>
              <a:buNone/>
              <a:tabLst>
                <a:tab algn="l" pos="0"/>
              </a:tabLst>
              <a:defRPr b="0" lang="en-US" sz="1300" spc="-1" strike="noStrike">
                <a:solidFill>
                  <a:schemeClr val="dk2"/>
                </a:solidFill>
                <a:latin typeface="Arial"/>
                <a:ea typeface="Arial"/>
              </a:defRPr>
            </a:lvl1pPr>
          </a:lstStyle>
          <a:p>
            <a:pPr indent="0" algn="r">
              <a:lnSpc>
                <a:spcPct val="100000"/>
              </a:lnSpc>
              <a:buNone/>
              <a:tabLst>
                <a:tab algn="l" pos="0"/>
              </a:tabLst>
            </a:pPr>
            <a:fld id="{8C4DE57E-5270-4B2A-AE6D-DFD6BE85A2B7}" type="slidenum">
              <a:rPr b="0" lang="en-US" sz="1300" spc="-1" strike="noStrike">
                <a:solidFill>
                  <a:schemeClr val="dk2"/>
                </a:solidFill>
                <a:latin typeface="Arial"/>
                <a:ea typeface="Arial"/>
              </a:rPr>
              <a:t>&lt;number&gt;</a:t>
            </a:fld>
            <a:endParaRPr b="0" lang="en-US" sz="13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hyperlink" Target="https://doi.org/10.1016/j.jpi.2024.100371" TargetMode="External"/><Relationship Id="rId4" Type="http://schemas.openxmlformats.org/officeDocument/2006/relationships/hyperlink" Target="https://doi.org/10.1016/j.jpi.2024.100371" TargetMode="External"/><Relationship Id="rId5" Type="http://schemas.openxmlformats.org/officeDocument/2006/relationships/hyperlink" Target="https://doi.org/10.1016/j.jpi.2024.100371" TargetMode="External"/><Relationship Id="rId6" Type="http://schemas.openxmlformats.org/officeDocument/2006/relationships/image" Target="../media/image3.png"/><Relationship Id="rId7"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hyperlink" Target="https://doi.org/10.1016/S0031-3203(96)00142-2" TargetMode="External"/><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hyperlink" Target="https://www.kaggle.com/datasets/mansoordaku/ckdisease?select=kidney_disease.csv" TargetMode="External"/><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7.jpe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slideLayout" Target="../slideLayouts/slideLayout1.xml"/><Relationship Id="rId7"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3.png"/><Relationship Id="rId6" Type="http://schemas.openxmlformats.org/officeDocument/2006/relationships/slideLayout" Target="../slideLayouts/slideLayout1.xml"/><Relationship Id="rId7"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slideLayout" Target="../slideLayouts/slideLayout1.xml"/><Relationship Id="rId7"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3.png"/><Relationship Id="rId6"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png"/><Relationship Id="rId5"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Google Shape;59;p13" descr=""/>
          <p:cNvPicPr/>
          <p:nvPr/>
        </p:nvPicPr>
        <p:blipFill>
          <a:blip r:embed="rId1"/>
          <a:stretch/>
        </p:blipFill>
        <p:spPr>
          <a:xfrm>
            <a:off x="-165960" y="6378480"/>
            <a:ext cx="12597840" cy="478440"/>
          </a:xfrm>
          <a:prstGeom prst="rect">
            <a:avLst/>
          </a:prstGeom>
          <a:ln w="0">
            <a:noFill/>
          </a:ln>
        </p:spPr>
      </p:pic>
      <p:sp>
        <p:nvSpPr>
          <p:cNvPr id="35" name="Google Shape;60;p13"/>
          <p:cNvSpPr/>
          <p:nvPr/>
        </p:nvSpPr>
        <p:spPr>
          <a:xfrm>
            <a:off x="1595520" y="2170080"/>
            <a:ext cx="8925120" cy="125784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3000" spc="-1" strike="noStrike">
                <a:solidFill>
                  <a:schemeClr val="dk1"/>
                </a:solidFill>
                <a:latin typeface="Times New Roman"/>
                <a:ea typeface="Times New Roman"/>
              </a:rPr>
              <a:t> </a:t>
            </a:r>
            <a:r>
              <a:rPr b="1" lang="en-US" sz="3000" spc="-1" strike="noStrike">
                <a:solidFill>
                  <a:schemeClr val="dk1"/>
                </a:solidFill>
                <a:latin typeface="Times New Roman"/>
                <a:ea typeface="Times New Roman"/>
              </a:rPr>
              <a:t>Machine Learning Based Chronic Kidney Disease Prediction with a Smart Web Application</a:t>
            </a:r>
            <a:endParaRPr b="0" lang="en-US" sz="3000" spc="-1" strike="noStrike">
              <a:solidFill>
                <a:srgbClr val="000000"/>
              </a:solidFill>
              <a:latin typeface="Arial"/>
            </a:endParaRPr>
          </a:p>
        </p:txBody>
      </p:sp>
      <p:sp>
        <p:nvSpPr>
          <p:cNvPr id="36" name="Google Shape;61;p13"/>
          <p:cNvSpPr/>
          <p:nvPr/>
        </p:nvSpPr>
        <p:spPr>
          <a:xfrm>
            <a:off x="7039440" y="4687920"/>
            <a:ext cx="4821480" cy="1517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Sanjai S - 126018042</a:t>
            </a:r>
            <a:endParaRPr b="0" lang="en-US" sz="2400" spc="-1" strike="noStrike">
              <a:solidFill>
                <a:srgbClr val="000000"/>
              </a:solidFill>
              <a:latin typeface="Arial"/>
            </a:endParaRPr>
          </a:p>
        </p:txBody>
      </p:sp>
      <p:pic>
        <p:nvPicPr>
          <p:cNvPr id="37" name="Google Shape;62;p13" descr=""/>
          <p:cNvPicPr/>
          <p:nvPr/>
        </p:nvPicPr>
        <p:blipFill>
          <a:blip r:embed="rId2"/>
          <a:stretch/>
        </p:blipFill>
        <p:spPr>
          <a:xfrm>
            <a:off x="-75240" y="1148040"/>
            <a:ext cx="12265920" cy="151200"/>
          </a:xfrm>
          <a:prstGeom prst="rect">
            <a:avLst/>
          </a:prstGeom>
          <a:ln w="0">
            <a:noFill/>
          </a:ln>
        </p:spPr>
      </p:pic>
      <p:sp>
        <p:nvSpPr>
          <p:cNvPr id="38" name="Google Shape;63;p13"/>
          <p:cNvSpPr/>
          <p:nvPr/>
        </p:nvSpPr>
        <p:spPr>
          <a:xfrm>
            <a:off x="267120" y="4712040"/>
            <a:ext cx="3715200" cy="1517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Project Guide: </a:t>
            </a:r>
            <a:endParaRPr b="0" lang="en-US" sz="2400" spc="-1" strike="noStrike">
              <a:solidFill>
                <a:srgbClr val="000000"/>
              </a:solidFill>
              <a:latin typeface="Arial"/>
            </a:endParaRPr>
          </a:p>
          <a:p>
            <a:pPr>
              <a:lnSpc>
                <a:spcPct val="100000"/>
              </a:lnSpc>
              <a:spcBef>
                <a:spcPts val="1191"/>
              </a:spcBef>
              <a:spcAft>
                <a:spcPts val="992"/>
              </a:spcAft>
              <a:tabLst>
                <a:tab algn="l" pos="0"/>
              </a:tabLst>
            </a:pPr>
            <a:r>
              <a:rPr b="0" lang="en-US" sz="2400" spc="-1" strike="noStrike">
                <a:solidFill>
                  <a:schemeClr val="dk1"/>
                </a:solidFill>
                <a:latin typeface="Times New Roman"/>
                <a:ea typeface="Times New Roman"/>
              </a:rPr>
              <a:t>Dr. VIDIVELLI S</a:t>
            </a: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Times New Roman"/>
                <a:ea typeface="Times New Roman"/>
              </a:rPr>
              <a:t>Asst.Professor-II-SoC</a:t>
            </a:r>
            <a:endParaRPr b="0" lang="en-US" sz="2400" spc="-1" strike="noStrike">
              <a:solidFill>
                <a:srgbClr val="000000"/>
              </a:solidFill>
              <a:latin typeface="Arial"/>
            </a:endParaRPr>
          </a:p>
        </p:txBody>
      </p:sp>
      <p:pic>
        <p:nvPicPr>
          <p:cNvPr id="39" name="Google Shape;104;p25" descr=""/>
          <p:cNvPicPr/>
          <p:nvPr/>
        </p:nvPicPr>
        <p:blipFill>
          <a:blip r:embed="rId3"/>
          <a:stretch/>
        </p:blipFill>
        <p:spPr>
          <a:xfrm>
            <a:off x="8458200" y="13536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Google Shape;68;p14" descr=""/>
          <p:cNvPicPr/>
          <p:nvPr/>
        </p:nvPicPr>
        <p:blipFill>
          <a:blip r:embed="rId1"/>
          <a:stretch/>
        </p:blipFill>
        <p:spPr>
          <a:xfrm>
            <a:off x="-37440" y="772200"/>
            <a:ext cx="12265920" cy="151200"/>
          </a:xfrm>
          <a:prstGeom prst="rect">
            <a:avLst/>
          </a:prstGeom>
          <a:ln w="0">
            <a:noFill/>
          </a:ln>
        </p:spPr>
      </p:pic>
      <p:pic>
        <p:nvPicPr>
          <p:cNvPr id="41" name="Google Shape;69;p14" descr=""/>
          <p:cNvPicPr/>
          <p:nvPr/>
        </p:nvPicPr>
        <p:blipFill>
          <a:blip r:embed="rId2"/>
          <a:stretch/>
        </p:blipFill>
        <p:spPr>
          <a:xfrm>
            <a:off x="-37440" y="6617160"/>
            <a:ext cx="12265920" cy="239760"/>
          </a:xfrm>
          <a:prstGeom prst="rect">
            <a:avLst/>
          </a:prstGeom>
          <a:ln w="0">
            <a:noFill/>
          </a:ln>
        </p:spPr>
      </p:pic>
      <p:sp>
        <p:nvSpPr>
          <p:cNvPr id="42" name="PlaceHolder 1"/>
          <p:cNvSpPr>
            <a:spLocks noGrp="1"/>
          </p:cNvSpPr>
          <p:nvPr>
            <p:ph type="title"/>
          </p:nvPr>
        </p:nvSpPr>
        <p:spPr>
          <a:xfrm>
            <a:off x="4039920" y="-34200"/>
            <a:ext cx="328500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OBJECTIVE</a:t>
            </a:r>
            <a:endParaRPr b="0" lang="en-US" sz="3700" spc="-1" strike="noStrike">
              <a:solidFill>
                <a:srgbClr val="000000"/>
              </a:solidFill>
              <a:latin typeface="Arial"/>
            </a:endParaRPr>
          </a:p>
        </p:txBody>
      </p:sp>
      <p:sp>
        <p:nvSpPr>
          <p:cNvPr id="43" name="PlaceHolder 2"/>
          <p:cNvSpPr>
            <a:spLocks noGrp="1"/>
          </p:cNvSpPr>
          <p:nvPr>
            <p:ph/>
          </p:nvPr>
        </p:nvSpPr>
        <p:spPr>
          <a:xfrm>
            <a:off x="502200" y="2012760"/>
            <a:ext cx="11072160" cy="3033000"/>
          </a:xfrm>
          <a:prstGeom prst="rect">
            <a:avLst/>
          </a:prstGeom>
          <a:noFill/>
          <a:ln w="0">
            <a:noFill/>
          </a:ln>
        </p:spPr>
        <p:txBody>
          <a:bodyPr lIns="122040" rIns="122040" tIns="122040" bIns="122040" anchor="t">
            <a:normAutofit/>
          </a:bodyPr>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To identify the most effective feature selection techniques for better diagnosis.</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To choose the best classification algorithms for accurate CKD prediction.</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An approach to predict Chronic Kidney Disease (CKD) with improved accuracy.</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A web-based system ensures quick access to CKD prediction for healthcare providers.</a:t>
            </a:r>
            <a:endParaRPr b="0" lang="en-US" sz="2400" spc="-1" strike="noStrike">
              <a:solidFill>
                <a:srgbClr val="000000"/>
              </a:solidFill>
              <a:latin typeface="Arial"/>
            </a:endParaRPr>
          </a:p>
          <a:p>
            <a:pPr marL="457200" indent="0">
              <a:lnSpc>
                <a:spcPct val="115000"/>
              </a:lnSpc>
              <a:spcBef>
                <a:spcPts val="1599"/>
              </a:spcBef>
              <a:spcAft>
                <a:spcPts val="1599"/>
              </a:spcAft>
              <a:buNone/>
              <a:tabLst>
                <a:tab algn="l" pos="0"/>
              </a:tabLst>
            </a:pPr>
            <a:endParaRPr b="0" lang="en-US" sz="2400" spc="-1" strike="noStrike">
              <a:solidFill>
                <a:srgbClr val="000000"/>
              </a:solidFill>
              <a:latin typeface="Arial"/>
            </a:endParaRPr>
          </a:p>
        </p:txBody>
      </p:sp>
      <p:pic>
        <p:nvPicPr>
          <p:cNvPr id="44" name="Google Shape;104;p 1" descr=""/>
          <p:cNvPicPr/>
          <p:nvPr/>
        </p:nvPicPr>
        <p:blipFill>
          <a:blip r:embed="rId3"/>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Google Shape;77;p15" descr=""/>
          <p:cNvPicPr/>
          <p:nvPr/>
        </p:nvPicPr>
        <p:blipFill>
          <a:blip r:embed="rId1"/>
          <a:stretch/>
        </p:blipFill>
        <p:spPr>
          <a:xfrm>
            <a:off x="-37440" y="772200"/>
            <a:ext cx="12265920" cy="151200"/>
          </a:xfrm>
          <a:prstGeom prst="rect">
            <a:avLst/>
          </a:prstGeom>
          <a:ln w="0">
            <a:noFill/>
          </a:ln>
        </p:spPr>
      </p:pic>
      <p:pic>
        <p:nvPicPr>
          <p:cNvPr id="46" name="Google Shape;78;p15" descr=""/>
          <p:cNvPicPr/>
          <p:nvPr/>
        </p:nvPicPr>
        <p:blipFill>
          <a:blip r:embed="rId2"/>
          <a:stretch/>
        </p:blipFill>
        <p:spPr>
          <a:xfrm>
            <a:off x="-37440" y="6617160"/>
            <a:ext cx="12265920" cy="239760"/>
          </a:xfrm>
          <a:prstGeom prst="rect">
            <a:avLst/>
          </a:prstGeom>
          <a:ln w="0">
            <a:noFill/>
          </a:ln>
        </p:spPr>
      </p:pic>
      <p:sp>
        <p:nvSpPr>
          <p:cNvPr id="47" name="PlaceHolder 1"/>
          <p:cNvSpPr>
            <a:spLocks noGrp="1"/>
          </p:cNvSpPr>
          <p:nvPr>
            <p:ph type="title"/>
          </p:nvPr>
        </p:nvSpPr>
        <p:spPr>
          <a:xfrm>
            <a:off x="4069800" y="0"/>
            <a:ext cx="311760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BASE PAPER</a:t>
            </a:r>
            <a:endParaRPr b="0" lang="en-US" sz="3700" spc="-1" strike="noStrike">
              <a:solidFill>
                <a:srgbClr val="000000"/>
              </a:solidFill>
              <a:latin typeface="Arial"/>
            </a:endParaRPr>
          </a:p>
        </p:txBody>
      </p:sp>
      <p:sp>
        <p:nvSpPr>
          <p:cNvPr id="48" name="Google Shape;81;p15"/>
          <p:cNvSpPr/>
          <p:nvPr/>
        </p:nvSpPr>
        <p:spPr>
          <a:xfrm>
            <a:off x="918000" y="1897200"/>
            <a:ext cx="10224360" cy="2252160"/>
          </a:xfrm>
          <a:prstGeom prst="rect">
            <a:avLst/>
          </a:prstGeom>
          <a:noFill/>
          <a:ln w="0">
            <a:noFill/>
          </a:ln>
        </p:spPr>
        <p:style>
          <a:lnRef idx="0"/>
          <a:fillRef idx="0"/>
          <a:effectRef idx="0"/>
          <a:fontRef idx="minor"/>
        </p:style>
        <p:txBody>
          <a:bodyPr lIns="90000" rIns="90000" tIns="91440" bIns="91440" anchor="t">
            <a:noAutofit/>
          </a:bodyPr>
          <a:p>
            <a:pPr algn="just">
              <a:lnSpc>
                <a:spcPct val="100000"/>
              </a:lnSpc>
              <a:tabLst>
                <a:tab algn="l" pos="0"/>
              </a:tabLst>
            </a:pPr>
            <a:r>
              <a:rPr b="0" lang="en-US" sz="2400" spc="-1" strike="noStrike">
                <a:solidFill>
                  <a:schemeClr val="dk1"/>
                </a:solidFill>
                <a:latin typeface="Times New Roman"/>
                <a:ea typeface="Times New Roman"/>
              </a:rPr>
              <a:t>Rajib Kumar Halder, Mohammed Nasir Uddin, Md. Ashraf Uddin, Sunil Arya, Sajeeb Saha, Rakib Hossen, Sabbir Ahmed, Mohammad Abu Tareq Rony &amp; Mosammat Farida Akter, </a:t>
            </a:r>
            <a:r>
              <a:rPr b="0" lang="en-US" sz="2400" spc="-1" strike="noStrike" u="sng">
                <a:solidFill>
                  <a:schemeClr val="hlink"/>
                </a:solidFill>
                <a:uFillTx/>
                <a:latin typeface="Times New Roman"/>
                <a:ea typeface="Times New Roman"/>
                <a:hlinkClick r:id="rId3"/>
              </a:rPr>
              <a:t>“</a:t>
            </a:r>
            <a:r>
              <a:rPr b="1" lang="en-US" sz="2400" spc="-1" strike="noStrike" u="sng">
                <a:solidFill>
                  <a:schemeClr val="hlink"/>
                </a:solidFill>
                <a:uFillTx/>
                <a:latin typeface="Times New Roman"/>
                <a:ea typeface="Times New Roman"/>
                <a:hlinkClick r:id="rId4"/>
              </a:rPr>
              <a:t>ML-CKDP: Machine learning-based chronic kidney disease prediction with smart web application</a:t>
            </a:r>
            <a:r>
              <a:rPr b="0" lang="en-US" sz="2400" spc="-1" strike="noStrike" u="sng">
                <a:solidFill>
                  <a:schemeClr val="hlink"/>
                </a:solidFill>
                <a:uFillTx/>
                <a:latin typeface="Times New Roman"/>
                <a:ea typeface="Times New Roman"/>
                <a:hlinkClick r:id="rId5"/>
              </a:rPr>
              <a:t>”</a:t>
            </a:r>
            <a:r>
              <a:rPr b="0" lang="en-US" sz="2400" spc="-1" strike="noStrike">
                <a:solidFill>
                  <a:schemeClr val="dk1"/>
                </a:solidFill>
                <a:latin typeface="Times New Roman"/>
                <a:ea typeface="Times New Roman"/>
              </a:rPr>
              <a:t>, Journal of Pathology Informatics.</a:t>
            </a:r>
            <a:endParaRPr b="0" lang="en-US" sz="2400" spc="-1" strike="noStrike">
              <a:solidFill>
                <a:srgbClr val="000000"/>
              </a:solidFill>
              <a:latin typeface="Arial"/>
            </a:endParaRPr>
          </a:p>
        </p:txBody>
      </p:sp>
      <p:sp>
        <p:nvSpPr>
          <p:cNvPr id="49" name="Google Shape;82;p15"/>
          <p:cNvSpPr/>
          <p:nvPr/>
        </p:nvSpPr>
        <p:spPr>
          <a:xfrm>
            <a:off x="918000" y="4589640"/>
            <a:ext cx="9450000" cy="13158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Times New Roman"/>
                <a:ea typeface="Times New Roman"/>
              </a:rPr>
              <a:t>Indexed in: Scopus</a:t>
            </a: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Times New Roman"/>
                <a:ea typeface="Times New Roman"/>
              </a:rPr>
              <a:t>Year: 2024</a:t>
            </a:r>
            <a:endParaRPr b="0" lang="en-US" sz="2400" spc="-1" strike="noStrike">
              <a:solidFill>
                <a:srgbClr val="000000"/>
              </a:solidFill>
              <a:latin typeface="Arial"/>
            </a:endParaRPr>
          </a:p>
        </p:txBody>
      </p:sp>
      <p:pic>
        <p:nvPicPr>
          <p:cNvPr id="50" name="Google Shape;104;p 2" descr=""/>
          <p:cNvPicPr/>
          <p:nvPr/>
        </p:nvPicPr>
        <p:blipFill>
          <a:blip r:embed="rId6"/>
          <a:stretch/>
        </p:blipFill>
        <p:spPr>
          <a:xfrm>
            <a:off x="863532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 name="Google Shape;87;p16" descr=""/>
          <p:cNvPicPr/>
          <p:nvPr/>
        </p:nvPicPr>
        <p:blipFill>
          <a:blip r:embed="rId1"/>
          <a:stretch/>
        </p:blipFill>
        <p:spPr>
          <a:xfrm>
            <a:off x="-37440" y="772200"/>
            <a:ext cx="12265920" cy="151200"/>
          </a:xfrm>
          <a:prstGeom prst="rect">
            <a:avLst/>
          </a:prstGeom>
          <a:ln w="0">
            <a:noFill/>
          </a:ln>
        </p:spPr>
      </p:pic>
      <p:pic>
        <p:nvPicPr>
          <p:cNvPr id="52" name="Google Shape;88;p16" descr=""/>
          <p:cNvPicPr/>
          <p:nvPr/>
        </p:nvPicPr>
        <p:blipFill>
          <a:blip r:embed="rId2"/>
          <a:stretch/>
        </p:blipFill>
        <p:spPr>
          <a:xfrm>
            <a:off x="-37440" y="6617160"/>
            <a:ext cx="12265920" cy="239760"/>
          </a:xfrm>
          <a:prstGeom prst="rect">
            <a:avLst/>
          </a:prstGeom>
          <a:ln w="0">
            <a:noFill/>
          </a:ln>
        </p:spPr>
      </p:pic>
      <p:sp>
        <p:nvSpPr>
          <p:cNvPr id="53" name="PlaceHolder 1"/>
          <p:cNvSpPr>
            <a:spLocks noGrp="1"/>
          </p:cNvSpPr>
          <p:nvPr>
            <p:ph type="title"/>
          </p:nvPr>
        </p:nvSpPr>
        <p:spPr>
          <a:xfrm>
            <a:off x="2252880" y="-34200"/>
            <a:ext cx="560628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 </a:t>
            </a:r>
            <a:r>
              <a:rPr b="1" lang="en-US" sz="3700" spc="-1" strike="noStrike">
                <a:solidFill>
                  <a:schemeClr val="dk1"/>
                </a:solidFill>
                <a:latin typeface="Times New Roman"/>
                <a:ea typeface="Times New Roman"/>
              </a:rPr>
              <a:t>PROBLEM STATEMENT</a:t>
            </a:r>
            <a:endParaRPr b="0" lang="en-US" sz="3700" spc="-1" strike="noStrike">
              <a:solidFill>
                <a:srgbClr val="000000"/>
              </a:solidFill>
              <a:latin typeface="Arial"/>
            </a:endParaRPr>
          </a:p>
        </p:txBody>
      </p:sp>
      <p:sp>
        <p:nvSpPr>
          <p:cNvPr id="54" name="PlaceHolder 2"/>
          <p:cNvSpPr>
            <a:spLocks noGrp="1"/>
          </p:cNvSpPr>
          <p:nvPr>
            <p:ph/>
          </p:nvPr>
        </p:nvSpPr>
        <p:spPr>
          <a:xfrm>
            <a:off x="567000" y="2133720"/>
            <a:ext cx="10838520" cy="1377360"/>
          </a:xfrm>
          <a:prstGeom prst="rect">
            <a:avLst/>
          </a:prstGeom>
          <a:noFill/>
          <a:ln w="0">
            <a:noFill/>
          </a:ln>
        </p:spPr>
        <p:txBody>
          <a:bodyPr lIns="122040" rIns="122040" tIns="122040" bIns="122040" anchor="t">
            <a:noAutofit/>
          </a:bodyPr>
          <a:p>
            <a:pPr indent="0">
              <a:lnSpc>
                <a:spcPct val="115000"/>
              </a:lnSpc>
              <a:spcBef>
                <a:spcPts val="1199"/>
              </a:spcBef>
              <a:buNone/>
              <a:tabLst>
                <a:tab algn="l" pos="0"/>
              </a:tabLst>
            </a:pPr>
            <a:r>
              <a:rPr b="0" lang="en-US" sz="2420" spc="-1" strike="noStrike">
                <a:solidFill>
                  <a:schemeClr val="dk1"/>
                </a:solidFill>
                <a:latin typeface="Times New Roman"/>
                <a:ea typeface="Times New Roman"/>
              </a:rPr>
              <a:t>To enhance the accuracy of the existing machine learning model for improved predictive analysis.</a:t>
            </a:r>
            <a:endParaRPr b="0" lang="en-US" sz="2420" spc="-1" strike="noStrike">
              <a:solidFill>
                <a:srgbClr val="000000"/>
              </a:solidFill>
              <a:latin typeface="Arial"/>
            </a:endParaRPr>
          </a:p>
          <a:p>
            <a:pPr indent="0">
              <a:lnSpc>
                <a:spcPct val="115000"/>
              </a:lnSpc>
              <a:spcBef>
                <a:spcPts val="1199"/>
              </a:spcBef>
              <a:spcAft>
                <a:spcPts val="1599"/>
              </a:spcAft>
              <a:buNone/>
              <a:tabLst>
                <a:tab algn="l" pos="0"/>
              </a:tabLst>
            </a:pPr>
            <a:endParaRPr b="0" lang="en-US" sz="2420" spc="-1" strike="noStrike">
              <a:solidFill>
                <a:srgbClr val="000000"/>
              </a:solidFill>
              <a:latin typeface="Arial"/>
            </a:endParaRPr>
          </a:p>
        </p:txBody>
      </p:sp>
      <p:pic>
        <p:nvPicPr>
          <p:cNvPr id="55" name="Google Shape;104;p 3" descr=""/>
          <p:cNvPicPr/>
          <p:nvPr/>
        </p:nvPicPr>
        <p:blipFill>
          <a:blip r:embed="rId3"/>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Google Shape;96;p17" descr=""/>
          <p:cNvPicPr/>
          <p:nvPr/>
        </p:nvPicPr>
        <p:blipFill>
          <a:blip r:embed="rId1"/>
          <a:stretch/>
        </p:blipFill>
        <p:spPr>
          <a:xfrm>
            <a:off x="0" y="763560"/>
            <a:ext cx="12265920" cy="151200"/>
          </a:xfrm>
          <a:prstGeom prst="rect">
            <a:avLst/>
          </a:prstGeom>
          <a:ln w="0">
            <a:noFill/>
          </a:ln>
        </p:spPr>
      </p:pic>
      <p:sp>
        <p:nvSpPr>
          <p:cNvPr id="57" name="PlaceHolder 1"/>
          <p:cNvSpPr>
            <a:spLocks noGrp="1"/>
          </p:cNvSpPr>
          <p:nvPr>
            <p:ph type="title"/>
          </p:nvPr>
        </p:nvSpPr>
        <p:spPr>
          <a:xfrm>
            <a:off x="2738880" y="0"/>
            <a:ext cx="514332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LITERATURE REVIEW</a:t>
            </a:r>
            <a:endParaRPr b="0" lang="en-US" sz="3700" spc="-1" strike="noStrike">
              <a:solidFill>
                <a:srgbClr val="000000"/>
              </a:solidFill>
              <a:latin typeface="Arial"/>
            </a:endParaRPr>
          </a:p>
        </p:txBody>
      </p:sp>
      <p:pic>
        <p:nvPicPr>
          <p:cNvPr id="58" name="Google Shape;99;p17" descr=""/>
          <p:cNvPicPr/>
          <p:nvPr/>
        </p:nvPicPr>
        <p:blipFill>
          <a:blip r:embed="rId2"/>
          <a:stretch/>
        </p:blipFill>
        <p:spPr>
          <a:xfrm>
            <a:off x="-37440" y="6617160"/>
            <a:ext cx="12265920" cy="239760"/>
          </a:xfrm>
          <a:prstGeom prst="rect">
            <a:avLst/>
          </a:prstGeom>
          <a:ln w="0">
            <a:noFill/>
          </a:ln>
        </p:spPr>
      </p:pic>
      <p:graphicFrame>
        <p:nvGraphicFramePr>
          <p:cNvPr id="59" name="Google Shape;100;p17"/>
          <p:cNvGraphicFramePr/>
          <p:nvPr/>
        </p:nvGraphicFramePr>
        <p:xfrm>
          <a:off x="187920" y="1178640"/>
          <a:ext cx="11833560" cy="5078520"/>
        </p:xfrm>
        <a:graphic>
          <a:graphicData uri="http://schemas.openxmlformats.org/drawingml/2006/table">
            <a:tbl>
              <a:tblPr/>
              <a:tblGrid>
                <a:gridCol w="1218600"/>
                <a:gridCol w="2114640"/>
                <a:gridCol w="2345760"/>
                <a:gridCol w="1839960"/>
                <a:gridCol w="1998720"/>
                <a:gridCol w="2316240"/>
              </a:tblGrid>
              <a:tr h="898920">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YEAR</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AUTHORS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TITLE</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MODELS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ACCURACY</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rgbClr val="000000"/>
                          </a:solidFill>
                          <a:latin typeface="Times New Roman"/>
                          <a:ea typeface="Times New Roman"/>
                        </a:rPr>
                        <a:t>LIMITATIONS</a:t>
                      </a:r>
                      <a:endParaRPr b="0" lang="en-US" sz="2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2294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2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2021</a:t>
                      </a: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1f1f1f"/>
                          </a:solidFill>
                          <a:latin typeface="Times New Roman"/>
                          <a:ea typeface="Times New Roman"/>
                        </a:rPr>
                        <a:t>Andrew P. Bradley </a:t>
                      </a:r>
                      <a:r>
                        <a:rPr b="0" lang="en-US" sz="1200" spc="-1" strike="noStrike" u="sng">
                          <a:solidFill>
                            <a:schemeClr val="hlink"/>
                          </a:solidFill>
                          <a:uFillTx/>
                          <a:latin typeface="Times New Roman"/>
                          <a:ea typeface="Times New Roman"/>
                        </a:rPr>
                        <a:t>[1]</a:t>
                      </a:r>
                      <a:r>
                        <a:rPr b="1" lang="en-US" sz="2000" spc="-1" strike="noStrike" u="sng">
                          <a:solidFill>
                            <a:schemeClr val="hlink"/>
                          </a:solidFill>
                          <a:highlight>
                            <a:srgbClr val="ffffff"/>
                          </a:highlight>
                          <a:uFillTx/>
                          <a:latin typeface="Times New Roman"/>
                          <a:ea typeface="Times New Roman"/>
                          <a:hlinkClick r:id="rId3"/>
                        </a:rPr>
                        <a:t> </a:t>
                      </a:r>
                      <a:endParaRPr b="0" lang="en-US" sz="20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rgbClr val="1f1f1f"/>
                          </a:solidFill>
                          <a:latin typeface="Times New Roman"/>
                          <a:ea typeface="Times New Roman"/>
                        </a:rPr>
                        <a:t>The use of the area under the ROC curve in the evaluation of machine learning algorithms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500" spc="-1" strike="noStrike">
                        <a:solidFill>
                          <a:srgbClr val="000000"/>
                        </a:solidFill>
                        <a:latin typeface="Arial"/>
                      </a:endParaRPr>
                    </a:p>
                    <a:p>
                      <a:pPr>
                        <a:lnSpc>
                          <a:spcPct val="115000"/>
                        </a:lnSpc>
                        <a:tabLst>
                          <a:tab algn="l" pos="0"/>
                        </a:tabLst>
                      </a:pPr>
                      <a:r>
                        <a:rPr b="0" lang="en-US" sz="1500" spc="-1" strike="noStrike">
                          <a:solidFill>
                            <a:schemeClr val="dk1"/>
                          </a:solidFill>
                          <a:latin typeface="Times New Roman"/>
                          <a:ea typeface="Times New Roman"/>
                        </a:rPr>
                        <a:t>KNN</a:t>
                      </a:r>
                      <a:endParaRPr b="0" lang="en-US" sz="1500" spc="-1" strike="noStrike">
                        <a:solidFill>
                          <a:srgbClr val="000000"/>
                        </a:solidFill>
                        <a:latin typeface="Arial"/>
                      </a:endParaRPr>
                    </a:p>
                    <a:p>
                      <a:pPr>
                        <a:lnSpc>
                          <a:spcPct val="115000"/>
                        </a:lnSpc>
                        <a:tabLst>
                          <a:tab algn="l" pos="0"/>
                        </a:tabLst>
                      </a:pPr>
                      <a:endParaRPr b="0" lang="en-US" sz="15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74.2 %</a:t>
                      </a:r>
                      <a:endParaRPr b="0" lang="en-US" sz="14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Results are valid only for the tested configurations.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510920">
                <a:tc>
                  <a:txBody>
                    <a:bodyPr lIns="91080" rIns="91080" anchor="t">
                      <a:noAutofit/>
                    </a:bodyPr>
                    <a:p>
                      <a:pPr>
                        <a:lnSpc>
                          <a:spcPct val="100000"/>
                        </a:lnSpc>
                        <a:tabLst>
                          <a:tab algn="l" pos="0"/>
                        </a:tabLst>
                      </a:pPr>
                      <a:r>
                        <a:rPr b="0" lang="en-US" sz="1400" spc="-1" strike="noStrike">
                          <a:solidFill>
                            <a:schemeClr val="dk1"/>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2021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1f1f1f"/>
                          </a:solidFill>
                          <a:latin typeface="Times New Roman"/>
                          <a:ea typeface="Times New Roman"/>
                        </a:rPr>
                        <a:t>Mohammed Nasir</a:t>
                      </a:r>
                      <a:endParaRPr b="0" lang="en-US" sz="1400" spc="-1" strike="noStrike">
                        <a:solidFill>
                          <a:srgbClr val="000000"/>
                        </a:solidFill>
                        <a:latin typeface="Arial"/>
                      </a:endParaRPr>
                    </a:p>
                    <a:p>
                      <a:pPr>
                        <a:lnSpc>
                          <a:spcPct val="100000"/>
                        </a:lnSpc>
                        <a:tabLst>
                          <a:tab algn="l" pos="0"/>
                        </a:tabLst>
                      </a:pPr>
                      <a:r>
                        <a:rPr b="0" lang="en-US" sz="1400" spc="-1" strike="noStrike">
                          <a:solidFill>
                            <a:srgbClr val="1f1f1f"/>
                          </a:solidFill>
                          <a:latin typeface="Times New Roman"/>
                          <a:ea typeface="Times New Roman"/>
                        </a:rPr>
                        <a:t>Uddin et al.</a:t>
                      </a:r>
                      <a:r>
                        <a:rPr b="0" lang="en-US" sz="1400" spc="-1" strike="noStrike" u="sng">
                          <a:solidFill>
                            <a:schemeClr val="hlink"/>
                          </a:solidFill>
                          <a:uFillTx/>
                          <a:latin typeface="Times New Roman"/>
                          <a:ea typeface="Times New Roman"/>
                        </a:rPr>
                        <a:t>[2]</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rgbClr val="1f1f1f"/>
                          </a:solidFill>
                          <a:latin typeface="Times New Roman"/>
                          <a:ea typeface="Times New Roman"/>
                        </a:rPr>
                        <a:t>An ensemble method based multilayer dynamic system to predict cardiovascular disease using machine learning approach.</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chemeClr val="dk1"/>
                          </a:solidFill>
                          <a:latin typeface="Times New Roman"/>
                          <a:ea typeface="Times New Roman"/>
                        </a:rPr>
                        <a:t>XGB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LR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SVM</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KNN</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DT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chemeClr val="dk1"/>
                          </a:solidFill>
                          <a:latin typeface="Times New Roman"/>
                          <a:ea typeface="Times New Roman"/>
                        </a:rPr>
                        <a:t>73.66 %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70.56 %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71.97 %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68.92 %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62.84 %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Very limited number of features were used for the prediction.</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3698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2022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highlight>
                            <a:srgbClr val="ffffff"/>
                          </a:highlight>
                          <a:latin typeface="Times New Roman"/>
                          <a:ea typeface="Times New Roman"/>
                        </a:rPr>
                        <a:t>Sibo Prasad Patro et al.</a:t>
                      </a:r>
                      <a:endParaRPr b="0" lang="en-US" sz="1400" spc="-1" strike="noStrike">
                        <a:solidFill>
                          <a:srgbClr val="000000"/>
                        </a:solidFill>
                        <a:latin typeface="Arial"/>
                      </a:endParaRPr>
                    </a:p>
                    <a:p>
                      <a:pPr>
                        <a:lnSpc>
                          <a:spcPct val="100000"/>
                        </a:lnSpc>
                        <a:tabLst>
                          <a:tab algn="l" pos="0"/>
                        </a:tabLst>
                      </a:pPr>
                      <a:r>
                        <a:rPr b="0" lang="en-US" sz="1400" spc="-1" strike="noStrike" u="sng">
                          <a:solidFill>
                            <a:schemeClr val="hlink"/>
                          </a:solidFill>
                          <a:highlight>
                            <a:srgbClr val="ffffff"/>
                          </a:highlight>
                          <a:uFillTx/>
                          <a:latin typeface="Times New Roman"/>
                          <a:ea typeface="Times New Roman"/>
                        </a:rPr>
                        <a:t>[3]</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23000"/>
                        </a:lnSpc>
                        <a:tabLst>
                          <a:tab algn="l" pos="0"/>
                        </a:tabLst>
                      </a:pPr>
                      <a:r>
                        <a:rPr b="0" lang="en-US" sz="1400" spc="-1" strike="noStrike">
                          <a:solidFill>
                            <a:srgbClr val="333333"/>
                          </a:solidFill>
                          <a:highlight>
                            <a:srgbClr val="ffffff"/>
                          </a:highlight>
                          <a:latin typeface="Times New Roman"/>
                          <a:ea typeface="Times New Roman"/>
                        </a:rPr>
                        <a:t>Classification model for heart disease prediction using correlation and feature selection techniques</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Times New Roman"/>
                          <a:ea typeface="Times New Roman"/>
                        </a:rPr>
                        <a:t>      </a:t>
                      </a:r>
                      <a:r>
                        <a:rPr b="0" lang="en-US" sz="1400" spc="-1" strike="noStrike">
                          <a:solidFill>
                            <a:srgbClr val="000000"/>
                          </a:solidFill>
                          <a:latin typeface="Times New Roman"/>
                          <a:ea typeface="Times New Roman"/>
                        </a:rPr>
                        <a:t>SVM</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Times New Roman"/>
                          <a:ea typeface="Times New Roman"/>
                        </a:rPr>
                        <a:t>67%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chemeClr val="dk1"/>
                          </a:solidFill>
                          <a:latin typeface="Times New Roman"/>
                          <a:ea typeface="Times New Roman"/>
                        </a:rPr>
                        <a:t>Applying oversampling techniques led to a drop in accuracy</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bl>
          </a:graphicData>
        </a:graphic>
      </p:graphicFrame>
      <p:cxnSp>
        <p:nvCxnSpPr>
          <p:cNvPr id="60" name="Google Shape;101;p17"/>
          <p:cNvCxnSpPr/>
          <p:nvPr/>
        </p:nvCxnSpPr>
        <p:spPr>
          <a:xfrm flipV="1">
            <a:off x="5864040" y="2923200"/>
            <a:ext cx="1080" cy="18360"/>
          </a:xfrm>
          <a:prstGeom prst="straightConnector1">
            <a:avLst/>
          </a:prstGeom>
          <a:ln w="9525">
            <a:solidFill>
              <a:srgbClr val="595959"/>
            </a:solidFill>
            <a:round/>
          </a:ln>
        </p:spPr>
      </p:cxnSp>
      <p:cxnSp>
        <p:nvCxnSpPr>
          <p:cNvPr id="61" name="Google Shape;102;p17"/>
          <p:cNvCxnSpPr/>
          <p:nvPr/>
        </p:nvCxnSpPr>
        <p:spPr>
          <a:xfrm flipV="1">
            <a:off x="5866920" y="4134960"/>
            <a:ext cx="3850920" cy="9720"/>
          </a:xfrm>
          <a:prstGeom prst="straightConnector1">
            <a:avLst/>
          </a:prstGeom>
          <a:ln w="19050">
            <a:solidFill>
              <a:srgbClr val="000000"/>
            </a:solidFill>
            <a:round/>
          </a:ln>
        </p:spPr>
      </p:cxnSp>
      <p:cxnSp>
        <p:nvCxnSpPr>
          <p:cNvPr id="62" name="Google Shape;103;p17"/>
          <p:cNvCxnSpPr/>
          <p:nvPr/>
        </p:nvCxnSpPr>
        <p:spPr>
          <a:xfrm flipV="1">
            <a:off x="5866920" y="3835080"/>
            <a:ext cx="3850920" cy="9720"/>
          </a:xfrm>
          <a:prstGeom prst="straightConnector1">
            <a:avLst/>
          </a:prstGeom>
          <a:ln w="19050">
            <a:solidFill>
              <a:srgbClr val="000000"/>
            </a:solidFill>
            <a:round/>
          </a:ln>
        </p:spPr>
      </p:cxnSp>
      <p:cxnSp>
        <p:nvCxnSpPr>
          <p:cNvPr id="63" name="Google Shape;104;p17"/>
          <p:cNvCxnSpPr/>
          <p:nvPr/>
        </p:nvCxnSpPr>
        <p:spPr>
          <a:xfrm flipV="1">
            <a:off x="5866920" y="4315680"/>
            <a:ext cx="3850920" cy="9720"/>
          </a:xfrm>
          <a:prstGeom prst="straightConnector1">
            <a:avLst/>
          </a:prstGeom>
          <a:ln w="19050">
            <a:solidFill>
              <a:srgbClr val="000000"/>
            </a:solidFill>
            <a:round/>
          </a:ln>
        </p:spPr>
      </p:cxnSp>
      <p:cxnSp>
        <p:nvCxnSpPr>
          <p:cNvPr id="64" name="Google Shape;105;p17"/>
          <p:cNvCxnSpPr/>
          <p:nvPr/>
        </p:nvCxnSpPr>
        <p:spPr>
          <a:xfrm flipV="1">
            <a:off x="5866920" y="4576320"/>
            <a:ext cx="3850920" cy="9720"/>
          </a:xfrm>
          <a:prstGeom prst="straightConnector1">
            <a:avLst/>
          </a:prstGeom>
          <a:ln w="19050">
            <a:solidFill>
              <a:srgbClr val="000000"/>
            </a:solidFill>
            <a:round/>
          </a:ln>
        </p:spPr>
      </p:cxnSp>
      <p:pic>
        <p:nvPicPr>
          <p:cNvPr id="65" name="Google Shape;104;p 4" descr=""/>
          <p:cNvPicPr/>
          <p:nvPr/>
        </p:nvPicPr>
        <p:blipFill>
          <a:blip r:embed="rId4"/>
          <a:stretch/>
        </p:blipFill>
        <p:spPr>
          <a:xfrm>
            <a:off x="8559000" y="-1548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Google Shape;110;p18" descr=""/>
          <p:cNvPicPr/>
          <p:nvPr/>
        </p:nvPicPr>
        <p:blipFill>
          <a:blip r:embed="rId1"/>
          <a:stretch/>
        </p:blipFill>
        <p:spPr>
          <a:xfrm>
            <a:off x="0" y="763560"/>
            <a:ext cx="12265920" cy="151200"/>
          </a:xfrm>
          <a:prstGeom prst="rect">
            <a:avLst/>
          </a:prstGeom>
          <a:ln w="0">
            <a:noFill/>
          </a:ln>
        </p:spPr>
      </p:pic>
      <p:sp>
        <p:nvSpPr>
          <p:cNvPr id="67" name="PlaceHolder 1"/>
          <p:cNvSpPr>
            <a:spLocks noGrp="1"/>
          </p:cNvSpPr>
          <p:nvPr>
            <p:ph type="title"/>
          </p:nvPr>
        </p:nvSpPr>
        <p:spPr>
          <a:xfrm>
            <a:off x="2738880" y="0"/>
            <a:ext cx="514332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LITERATURE REVIEW</a:t>
            </a:r>
            <a:endParaRPr b="0" lang="en-US" sz="3700" spc="-1" strike="noStrike">
              <a:solidFill>
                <a:srgbClr val="000000"/>
              </a:solidFill>
              <a:latin typeface="Arial"/>
            </a:endParaRPr>
          </a:p>
        </p:txBody>
      </p:sp>
      <p:pic>
        <p:nvPicPr>
          <p:cNvPr id="68" name="Google Shape;113;p18" descr=""/>
          <p:cNvPicPr/>
          <p:nvPr/>
        </p:nvPicPr>
        <p:blipFill>
          <a:blip r:embed="rId2"/>
          <a:stretch/>
        </p:blipFill>
        <p:spPr>
          <a:xfrm>
            <a:off x="-37440" y="6617160"/>
            <a:ext cx="12265920" cy="239760"/>
          </a:xfrm>
          <a:prstGeom prst="rect">
            <a:avLst/>
          </a:prstGeom>
          <a:ln w="0">
            <a:noFill/>
          </a:ln>
        </p:spPr>
      </p:pic>
      <p:graphicFrame>
        <p:nvGraphicFramePr>
          <p:cNvPr id="69" name="Google Shape;114;p18"/>
          <p:cNvGraphicFramePr/>
          <p:nvPr/>
        </p:nvGraphicFramePr>
        <p:xfrm>
          <a:off x="187920" y="1178640"/>
          <a:ext cx="11833560" cy="4995000"/>
        </p:xfrm>
        <a:graphic>
          <a:graphicData uri="http://schemas.openxmlformats.org/drawingml/2006/table">
            <a:tbl>
              <a:tblPr/>
              <a:tblGrid>
                <a:gridCol w="1218600"/>
                <a:gridCol w="2114640"/>
                <a:gridCol w="2345760"/>
                <a:gridCol w="1839960"/>
                <a:gridCol w="1998720"/>
                <a:gridCol w="2316240"/>
              </a:tblGrid>
              <a:tr h="996120">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YEAR</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AUTHORS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TITLE</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MODELS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ACCURACY</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rgbClr val="000000"/>
                          </a:solidFill>
                          <a:latin typeface="Times New Roman"/>
                          <a:ea typeface="Times New Roman"/>
                        </a:rPr>
                        <a:t>LIMITATIONS</a:t>
                      </a:r>
                      <a:endParaRPr b="0" lang="en-US" sz="2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2294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2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2023</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1f1f1f"/>
                          </a:solidFill>
                          <a:latin typeface="Times New Roman"/>
                          <a:ea typeface="Times New Roman"/>
                        </a:rPr>
                        <a:t>Rahul Sawhney </a:t>
                      </a:r>
                      <a:r>
                        <a:rPr b="0" lang="en-US" sz="1400" spc="-1" strike="noStrike" u="sng">
                          <a:solidFill>
                            <a:schemeClr val="hlink"/>
                          </a:solidFill>
                          <a:uFillTx/>
                          <a:latin typeface="Times New Roman"/>
                          <a:ea typeface="Times New Roman"/>
                        </a:rPr>
                        <a:t>[4]</a:t>
                      </a:r>
                      <a:r>
                        <a:rPr b="1" lang="en-US" sz="1400" spc="-1" strike="noStrike" u="sng">
                          <a:solidFill>
                            <a:schemeClr val="hlink"/>
                          </a:solidFill>
                          <a:highlight>
                            <a:srgbClr val="ffffff"/>
                          </a:highlight>
                          <a:uFillTx/>
                          <a:latin typeface="Times New Roman"/>
                          <a:ea typeface="Times New Roman"/>
                        </a:rPr>
                        <a:t>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rgbClr val="1f1f1f"/>
                          </a:solidFill>
                          <a:latin typeface="Times New Roman"/>
                          <a:ea typeface="Times New Roman"/>
                        </a:rPr>
                        <a:t>A comparative assessment of artificial intelligence models used for early prediction and evaluation of chronic kidney disease</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500" spc="-1" strike="noStrike">
                        <a:solidFill>
                          <a:srgbClr val="000000"/>
                        </a:solidFill>
                        <a:latin typeface="Arial"/>
                      </a:endParaRPr>
                    </a:p>
                    <a:p>
                      <a:pPr>
                        <a:lnSpc>
                          <a:spcPct val="115000"/>
                        </a:lnSpc>
                        <a:tabLst>
                          <a:tab algn="l" pos="0"/>
                        </a:tabLst>
                      </a:pPr>
                      <a:r>
                        <a:rPr b="0" lang="en-US" sz="1500" spc="-1" strike="noStrike">
                          <a:solidFill>
                            <a:schemeClr val="dk1"/>
                          </a:solidFill>
                          <a:latin typeface="Times New Roman"/>
                          <a:ea typeface="Times New Roman"/>
                        </a:rPr>
                        <a:t>SVM</a:t>
                      </a:r>
                      <a:endParaRPr b="0" lang="en-US" sz="1500" spc="-1" strike="noStrike">
                        <a:solidFill>
                          <a:srgbClr val="000000"/>
                        </a:solidFill>
                        <a:latin typeface="Arial"/>
                      </a:endParaRPr>
                    </a:p>
                    <a:p>
                      <a:pPr>
                        <a:lnSpc>
                          <a:spcPct val="115000"/>
                        </a:lnSpc>
                        <a:tabLst>
                          <a:tab algn="l" pos="0"/>
                        </a:tabLst>
                      </a:pPr>
                      <a:endParaRPr b="0" lang="en-US" sz="15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81 %</a:t>
                      </a:r>
                      <a:endParaRPr b="0" lang="en-US" sz="14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Small and highly specific dataset is used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228320">
                <a:tc>
                  <a:txBody>
                    <a:bodyPr lIns="91080" rIns="91080" anchor="t">
                      <a:noAutofit/>
                    </a:bodyPr>
                    <a:p>
                      <a:pPr>
                        <a:lnSpc>
                          <a:spcPct val="100000"/>
                        </a:lnSpc>
                        <a:tabLst>
                          <a:tab algn="l" pos="0"/>
                        </a:tabLst>
                      </a:pPr>
                      <a:r>
                        <a:rPr b="0" lang="en-US" sz="1400" spc="-1" strike="noStrike">
                          <a:solidFill>
                            <a:schemeClr val="dk1"/>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2022</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4f5671"/>
                          </a:solidFill>
                          <a:highlight>
                            <a:srgbClr val="ffffff"/>
                          </a:highlight>
                          <a:latin typeface="Times New Roman"/>
                          <a:ea typeface="Times New Roman"/>
                        </a:rPr>
                        <a:t>Ramesh Chandra Poonia </a:t>
                      </a:r>
                      <a:r>
                        <a:rPr b="0" lang="en-US" sz="1400" spc="-1" strike="noStrike">
                          <a:solidFill>
                            <a:srgbClr val="1f1f1f"/>
                          </a:solidFill>
                          <a:latin typeface="Times New Roman"/>
                          <a:ea typeface="Times New Roman"/>
                        </a:rPr>
                        <a:t>et al. </a:t>
                      </a:r>
                      <a:r>
                        <a:rPr b="0" lang="en-US" sz="1400" spc="-1" strike="noStrike" u="sng">
                          <a:solidFill>
                            <a:schemeClr val="hlink"/>
                          </a:solidFill>
                          <a:uFillTx/>
                          <a:latin typeface="Times New Roman"/>
                          <a:ea typeface="Times New Roman"/>
                        </a:rPr>
                        <a:t>[5]</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23000"/>
                        </a:lnSpc>
                        <a:tabLst>
                          <a:tab algn="l" pos="0"/>
                        </a:tabLst>
                      </a:pPr>
                      <a:r>
                        <a:rPr b="0" lang="en-US" sz="1400" spc="-1" strike="noStrike">
                          <a:solidFill>
                            <a:schemeClr val="dk1"/>
                          </a:solidFill>
                          <a:highlight>
                            <a:srgbClr val="ffffff"/>
                          </a:highlight>
                          <a:latin typeface="Times New Roman"/>
                          <a:ea typeface="Times New Roman"/>
                        </a:rPr>
                        <a:t>Intelligent Diagnostic Prediction and Classification Models for Detection of Kidney Disease</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rgbClr val="000000"/>
                          </a:solidFill>
                          <a:latin typeface="Times New Roman"/>
                          <a:ea typeface="Times New Roman"/>
                        </a:rPr>
                        <a:t>KNN</a:t>
                      </a:r>
                      <a:endParaRPr b="0" lang="en-US" sz="1400" spc="-1" strike="noStrike">
                        <a:solidFill>
                          <a:srgbClr val="000000"/>
                        </a:solidFill>
                        <a:latin typeface="Arial"/>
                      </a:endParaRPr>
                    </a:p>
                    <a:p>
                      <a:pPr>
                        <a:lnSpc>
                          <a:spcPct val="115000"/>
                        </a:lnSpc>
                        <a:tabLst>
                          <a:tab algn="l" pos="0"/>
                        </a:tabLst>
                      </a:pPr>
                      <a:r>
                        <a:rPr b="0" lang="en-US" sz="1400" spc="-1" strike="noStrike">
                          <a:solidFill>
                            <a:srgbClr val="000000"/>
                          </a:solidFill>
                          <a:latin typeface="Times New Roman"/>
                          <a:ea typeface="Times New Roman"/>
                        </a:rPr>
                        <a:t>ANN</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66.25%</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65%</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Dataset used for training and evaluation contains data from a specific demographic</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3698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2022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highlight>
                            <a:srgbClr val="ffffff"/>
                          </a:highlight>
                          <a:latin typeface="Times New Roman"/>
                          <a:ea typeface="Times New Roman"/>
                        </a:rPr>
                        <a:t>Md Mahedi Hassan et al.</a:t>
                      </a:r>
                      <a:endParaRPr b="0" lang="en-US" sz="1400" spc="-1" strike="noStrike">
                        <a:solidFill>
                          <a:srgbClr val="000000"/>
                        </a:solidFill>
                        <a:latin typeface="Arial"/>
                      </a:endParaRPr>
                    </a:p>
                    <a:p>
                      <a:pPr>
                        <a:lnSpc>
                          <a:spcPct val="100000"/>
                        </a:lnSpc>
                        <a:tabLst>
                          <a:tab algn="l" pos="0"/>
                        </a:tabLst>
                      </a:pPr>
                      <a:r>
                        <a:rPr b="0" lang="en-US" sz="1350" spc="-1" strike="noStrike" u="sng">
                          <a:solidFill>
                            <a:schemeClr val="hlink"/>
                          </a:solidFill>
                          <a:highlight>
                            <a:srgbClr val="ffffff"/>
                          </a:highlight>
                          <a:uFillTx/>
                          <a:latin typeface="Arial"/>
                          <a:ea typeface="Arial"/>
                        </a:rPr>
                        <a:t>[6]</a:t>
                      </a:r>
                      <a:endParaRPr b="0" lang="en-US" sz="135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23000"/>
                        </a:lnSpc>
                        <a:tabLst>
                          <a:tab algn="l" pos="0"/>
                        </a:tabLst>
                      </a:pPr>
                      <a:r>
                        <a:rPr b="0" lang="en-US" sz="1400" spc="-1" strike="noStrike">
                          <a:solidFill>
                            <a:srgbClr val="333333"/>
                          </a:solidFill>
                          <a:highlight>
                            <a:srgbClr val="ffffff"/>
                          </a:highlight>
                          <a:latin typeface="Times New Roman"/>
                          <a:ea typeface="Times New Roman"/>
                        </a:rPr>
                        <a:t>An Ensemble Learning Approach for Chronic Kidney Disease Prediction Using Different Machine Learning Algorithms with Correlation Based Feature Selection</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KNN</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SVM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87.29 %</a:t>
                      </a: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89.17 %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Correlation method used may not be ideal for non-linear relationships.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bl>
          </a:graphicData>
        </a:graphic>
      </p:graphicFrame>
      <p:cxnSp>
        <p:nvCxnSpPr>
          <p:cNvPr id="70" name="Google Shape;115;p18"/>
          <p:cNvCxnSpPr/>
          <p:nvPr/>
        </p:nvCxnSpPr>
        <p:spPr>
          <a:xfrm flipV="1">
            <a:off x="5864040" y="2923200"/>
            <a:ext cx="1080" cy="18360"/>
          </a:xfrm>
          <a:prstGeom prst="straightConnector1">
            <a:avLst/>
          </a:prstGeom>
          <a:ln w="9525">
            <a:solidFill>
              <a:srgbClr val="595959"/>
            </a:solidFill>
            <a:round/>
          </a:ln>
        </p:spPr>
      </p:cxnSp>
      <p:pic>
        <p:nvPicPr>
          <p:cNvPr id="71" name="Google Shape;104;p 5" descr=""/>
          <p:cNvPicPr/>
          <p:nvPr/>
        </p:nvPicPr>
        <p:blipFill>
          <a:blip r:embed="rId3"/>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oogle Shape;120;p19" descr=""/>
          <p:cNvPicPr/>
          <p:nvPr/>
        </p:nvPicPr>
        <p:blipFill>
          <a:blip r:embed="rId1"/>
          <a:stretch/>
        </p:blipFill>
        <p:spPr>
          <a:xfrm>
            <a:off x="0" y="763560"/>
            <a:ext cx="12265920" cy="151200"/>
          </a:xfrm>
          <a:prstGeom prst="rect">
            <a:avLst/>
          </a:prstGeom>
          <a:ln w="0">
            <a:noFill/>
          </a:ln>
        </p:spPr>
      </p:pic>
      <p:sp>
        <p:nvSpPr>
          <p:cNvPr id="73" name="PlaceHolder 1"/>
          <p:cNvSpPr>
            <a:spLocks noGrp="1"/>
          </p:cNvSpPr>
          <p:nvPr>
            <p:ph type="title"/>
          </p:nvPr>
        </p:nvSpPr>
        <p:spPr>
          <a:xfrm>
            <a:off x="2738880" y="0"/>
            <a:ext cx="514332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LITERATURE REVIEW</a:t>
            </a:r>
            <a:endParaRPr b="0" lang="en-US" sz="3700" spc="-1" strike="noStrike">
              <a:solidFill>
                <a:srgbClr val="000000"/>
              </a:solidFill>
              <a:latin typeface="Arial"/>
            </a:endParaRPr>
          </a:p>
        </p:txBody>
      </p:sp>
      <p:pic>
        <p:nvPicPr>
          <p:cNvPr id="74" name="Google Shape;123;p19" descr=""/>
          <p:cNvPicPr/>
          <p:nvPr/>
        </p:nvPicPr>
        <p:blipFill>
          <a:blip r:embed="rId2"/>
          <a:stretch/>
        </p:blipFill>
        <p:spPr>
          <a:xfrm>
            <a:off x="-37440" y="6617160"/>
            <a:ext cx="12265920" cy="239760"/>
          </a:xfrm>
          <a:prstGeom prst="rect">
            <a:avLst/>
          </a:prstGeom>
          <a:ln w="0">
            <a:noFill/>
          </a:ln>
        </p:spPr>
      </p:pic>
      <p:graphicFrame>
        <p:nvGraphicFramePr>
          <p:cNvPr id="75" name="Google Shape;124;p19"/>
          <p:cNvGraphicFramePr/>
          <p:nvPr/>
        </p:nvGraphicFramePr>
        <p:xfrm>
          <a:off x="187920" y="1178640"/>
          <a:ext cx="11833560" cy="4823640"/>
        </p:xfrm>
        <a:graphic>
          <a:graphicData uri="http://schemas.openxmlformats.org/drawingml/2006/table">
            <a:tbl>
              <a:tblPr/>
              <a:tblGrid>
                <a:gridCol w="1218600"/>
                <a:gridCol w="2114640"/>
                <a:gridCol w="2345760"/>
                <a:gridCol w="1839960"/>
                <a:gridCol w="1998720"/>
                <a:gridCol w="2316240"/>
              </a:tblGrid>
              <a:tr h="996120">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YEAR</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AUTHORS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TITLE</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MODELS</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ACCURACY</a:t>
                      </a:r>
                      <a:endParaRPr b="0" lang="en-US" sz="2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1" lang="en-US" sz="2400" spc="-1" strike="noStrike">
                          <a:solidFill>
                            <a:srgbClr val="000000"/>
                          </a:solidFill>
                          <a:latin typeface="Times New Roman"/>
                          <a:ea typeface="Times New Roman"/>
                        </a:rPr>
                        <a:t>LIMITATIONS</a:t>
                      </a:r>
                      <a:endParaRPr b="0" lang="en-US" sz="2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2294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2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2022</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highlight>
                            <a:srgbClr val="fcfcfc"/>
                          </a:highlight>
                          <a:latin typeface="Times New Roman"/>
                          <a:ea typeface="Times New Roman"/>
                        </a:rPr>
                        <a:t>Dibaba Adeba Debal</a:t>
                      </a:r>
                      <a:r>
                        <a:rPr b="0" lang="en-US" sz="1400" spc="-1" strike="noStrike">
                          <a:solidFill>
                            <a:srgbClr val="333333"/>
                          </a:solidFill>
                          <a:highlight>
                            <a:srgbClr val="fcfcfc"/>
                          </a:highlight>
                          <a:latin typeface="Times New Roman"/>
                          <a:ea typeface="Times New Roman"/>
                        </a:rPr>
                        <a:t> et al.</a:t>
                      </a:r>
                      <a:r>
                        <a:rPr b="0" lang="en-US" sz="1400" spc="-1" strike="noStrike" u="sng">
                          <a:solidFill>
                            <a:schemeClr val="hlink"/>
                          </a:solidFill>
                          <a:highlight>
                            <a:srgbClr val="fcfcfc"/>
                          </a:highlight>
                          <a:uFillTx/>
                          <a:latin typeface="Times New Roman"/>
                          <a:ea typeface="Times New Roman"/>
                        </a:rPr>
                        <a:t>[7]</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20000"/>
                        </a:lnSpc>
                        <a:tabLst>
                          <a:tab algn="l" pos="0"/>
                        </a:tabLst>
                      </a:pPr>
                      <a:r>
                        <a:rPr b="0" lang="en-US" sz="1400" spc="-1" strike="noStrike">
                          <a:solidFill>
                            <a:srgbClr val="333333"/>
                          </a:solidFill>
                          <a:highlight>
                            <a:srgbClr val="fcfcfc"/>
                          </a:highlight>
                          <a:latin typeface="Times New Roman"/>
                          <a:ea typeface="Times New Roman"/>
                        </a:rPr>
                        <a:t>Chronic kidney disease prediction using machine learning techniques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500" spc="-1" strike="noStrike">
                        <a:solidFill>
                          <a:srgbClr val="000000"/>
                        </a:solidFill>
                        <a:latin typeface="Arial"/>
                      </a:endParaRPr>
                    </a:p>
                    <a:p>
                      <a:pPr>
                        <a:lnSpc>
                          <a:spcPct val="115000"/>
                        </a:lnSpc>
                        <a:tabLst>
                          <a:tab algn="l" pos="0"/>
                        </a:tabLst>
                      </a:pPr>
                      <a:r>
                        <a:rPr b="0" lang="en-US" sz="1500" spc="-1" strike="noStrike">
                          <a:solidFill>
                            <a:schemeClr val="dk1"/>
                          </a:solidFill>
                          <a:latin typeface="Times New Roman"/>
                          <a:ea typeface="Times New Roman"/>
                        </a:rPr>
                        <a:t>XGB</a:t>
                      </a:r>
                      <a:endParaRPr b="0" lang="en-US" sz="15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82.56%</a:t>
                      </a:r>
                      <a:endParaRPr b="0" lang="en-US" sz="14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Traditional machine learning models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228320">
                <a:tc>
                  <a:txBody>
                    <a:bodyPr lIns="91080" rIns="91080" anchor="t">
                      <a:noAutofit/>
                    </a:bodyPr>
                    <a:p>
                      <a:pPr>
                        <a:lnSpc>
                          <a:spcPct val="100000"/>
                        </a:lnSpc>
                        <a:tabLst>
                          <a:tab algn="l" pos="0"/>
                        </a:tabLst>
                      </a:pPr>
                      <a:r>
                        <a:rPr b="0" lang="en-US" sz="1400" spc="-1" strike="noStrike">
                          <a:solidFill>
                            <a:schemeClr val="dk1"/>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2010</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highlight>
                            <a:srgbClr val="ffffff"/>
                          </a:highlight>
                          <a:latin typeface="Times New Roman"/>
                          <a:ea typeface="Times New Roman"/>
                        </a:rPr>
                        <a:t>Li-min Wang</a:t>
                      </a:r>
                      <a:r>
                        <a:rPr b="0" lang="en-US" sz="1400" spc="-1" strike="noStrike">
                          <a:solidFill>
                            <a:srgbClr val="4f5671"/>
                          </a:solidFill>
                          <a:highlight>
                            <a:srgbClr val="ffffff"/>
                          </a:highlight>
                          <a:latin typeface="Times New Roman"/>
                          <a:ea typeface="Times New Roman"/>
                        </a:rPr>
                        <a:t> </a:t>
                      </a:r>
                      <a:r>
                        <a:rPr b="0" lang="en-US" sz="1400" spc="-1" strike="noStrike">
                          <a:solidFill>
                            <a:srgbClr val="1f1f1f"/>
                          </a:solidFill>
                          <a:latin typeface="Times New Roman"/>
                          <a:ea typeface="Times New Roman"/>
                        </a:rPr>
                        <a:t>et al. </a:t>
                      </a:r>
                      <a:r>
                        <a:rPr b="0" lang="en-US" sz="1400" spc="-1" strike="noStrike" u="sng">
                          <a:solidFill>
                            <a:schemeClr val="hlink"/>
                          </a:solidFill>
                          <a:uFillTx/>
                          <a:latin typeface="Times New Roman"/>
                          <a:ea typeface="Times New Roman"/>
                        </a:rPr>
                        <a:t>[8]</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23000"/>
                        </a:lnSpc>
                        <a:tabLst>
                          <a:tab algn="l" pos="0"/>
                        </a:tabLst>
                      </a:pPr>
                      <a:r>
                        <a:rPr b="0" lang="en-US" sz="1400" spc="-1" strike="noStrike">
                          <a:solidFill>
                            <a:srgbClr val="333333"/>
                          </a:solidFill>
                          <a:highlight>
                            <a:srgbClr val="ffffff"/>
                          </a:highlight>
                          <a:latin typeface="Times New Roman"/>
                          <a:ea typeface="Times New Roman"/>
                        </a:rPr>
                        <a:t>Feature Selection and Prediction of Sub-health State Using SVM-RFE</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rgbClr val="000000"/>
                          </a:solidFill>
                          <a:latin typeface="Times New Roman"/>
                          <a:ea typeface="Times New Roman"/>
                        </a:rPr>
                        <a:t>SVM</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chemeClr val="dk1"/>
                          </a:solidFill>
                          <a:latin typeface="Times New Roman"/>
                          <a:ea typeface="Times New Roman"/>
                        </a:rPr>
                        <a:t>80.35%</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chemeClr val="dk1"/>
                          </a:solidFill>
                          <a:latin typeface="Times New Roman"/>
                          <a:ea typeface="Times New Roman"/>
                        </a:rPr>
                        <a:t>Uses only one feature selection method</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r h="1369800">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Arial"/>
                          <a:ea typeface="Arial"/>
                        </a:rPr>
                        <a:t> </a:t>
                      </a:r>
                      <a:r>
                        <a:rPr b="0" lang="en-US" sz="1400" spc="-1" strike="noStrike">
                          <a:solidFill>
                            <a:schemeClr val="dk1"/>
                          </a:solidFill>
                          <a:latin typeface="Times New Roman"/>
                          <a:ea typeface="Times New Roman"/>
                        </a:rPr>
                        <a:t>   </a:t>
                      </a:r>
                      <a:r>
                        <a:rPr b="0" lang="en-US" sz="1400" spc="-1" strike="noStrike">
                          <a:solidFill>
                            <a:schemeClr val="dk1"/>
                          </a:solidFill>
                          <a:latin typeface="Times New Roman"/>
                          <a:ea typeface="Times New Roman"/>
                        </a:rPr>
                        <a:t>2022 </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highlight>
                            <a:srgbClr val="ffffff"/>
                          </a:highlight>
                          <a:latin typeface="Times New Roman"/>
                          <a:ea typeface="Times New Roman"/>
                        </a:rPr>
                        <a:t>Pronab Ghosh et al.</a:t>
                      </a:r>
                      <a:r>
                        <a:rPr b="0" lang="en-US" sz="1350" spc="-1" strike="noStrike">
                          <a:solidFill>
                            <a:srgbClr val="000000"/>
                          </a:solidFill>
                          <a:highlight>
                            <a:srgbClr val="ffffff"/>
                          </a:highlight>
                          <a:latin typeface="Arial"/>
                          <a:ea typeface="Arial"/>
                        </a:rPr>
                        <a:t> </a:t>
                      </a:r>
                      <a:r>
                        <a:rPr b="0" lang="en-US" sz="1350" spc="-1" strike="noStrike" u="sng">
                          <a:solidFill>
                            <a:schemeClr val="hlink"/>
                          </a:solidFill>
                          <a:highlight>
                            <a:srgbClr val="ffffff"/>
                          </a:highlight>
                          <a:uFillTx/>
                          <a:latin typeface="Arial"/>
                          <a:ea typeface="Arial"/>
                        </a:rPr>
                        <a:t>[9]</a:t>
                      </a:r>
                      <a:endParaRPr b="0" lang="en-US" sz="135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15000"/>
                        </a:lnSpc>
                        <a:tabLst>
                          <a:tab algn="l" pos="0"/>
                        </a:tabLst>
                      </a:pPr>
                      <a:r>
                        <a:rPr b="0" lang="en-US" sz="1400" spc="-1" strike="noStrike">
                          <a:solidFill>
                            <a:srgbClr val="000000"/>
                          </a:solidFill>
                          <a:latin typeface="Times New Roman"/>
                          <a:ea typeface="Times New Roman"/>
                        </a:rPr>
                        <a:t>Efficient Prediction of Cardiovascular Disease Using Machine Learning Algorithms With Relief and LASSO Feature Selection Techniques</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000000"/>
                          </a:solidFill>
                          <a:latin typeface="Times New Roman"/>
                          <a:ea typeface="Times New Roman"/>
                        </a:rPr>
                        <a:t>    </a:t>
                      </a:r>
                      <a:endParaRPr b="0" lang="en-US" sz="1400" spc="-1" strike="noStrike">
                        <a:solidFill>
                          <a:srgbClr val="000000"/>
                        </a:solidFill>
                        <a:latin typeface="Arial"/>
                      </a:endParaRPr>
                    </a:p>
                    <a:p>
                      <a:pPr>
                        <a:lnSpc>
                          <a:spcPct val="100000"/>
                        </a:lnSpc>
                        <a:tabLst>
                          <a:tab algn="l" pos="0"/>
                        </a:tabLst>
                      </a:pPr>
                      <a:endParaRPr b="0" lang="en-US" sz="1400" spc="-1" strike="noStrike">
                        <a:solidFill>
                          <a:srgbClr val="000000"/>
                        </a:solidFill>
                        <a:latin typeface="Arial"/>
                      </a:endParaRPr>
                    </a:p>
                    <a:p>
                      <a:pPr>
                        <a:lnSpc>
                          <a:spcPct val="115000"/>
                        </a:lnSpc>
                        <a:tabLst>
                          <a:tab algn="l" pos="0"/>
                        </a:tabLst>
                      </a:pPr>
                      <a:r>
                        <a:rPr b="0" lang="en-US" sz="1400" spc="-1" strike="noStrike">
                          <a:solidFill>
                            <a:srgbClr val="000000"/>
                          </a:solidFill>
                          <a:latin typeface="Times New Roman"/>
                          <a:ea typeface="Times New Roman"/>
                        </a:rPr>
                        <a:t>KNN</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endParaRPr b="0" lang="en-US" sz="1400" spc="-1" strike="noStrike">
                        <a:solidFill>
                          <a:srgbClr val="000000"/>
                        </a:solidFill>
                        <a:latin typeface="Arial"/>
                      </a:endParaRPr>
                    </a:p>
                    <a:p>
                      <a:pPr>
                        <a:lnSpc>
                          <a:spcPct val="100000"/>
                        </a:lnSpc>
                        <a:tabLst>
                          <a:tab algn="l" pos="0"/>
                        </a:tabLst>
                      </a:pPr>
                      <a:r>
                        <a:rPr b="0" lang="en-US" sz="1400" spc="-1" strike="noStrike">
                          <a:solidFill>
                            <a:srgbClr val="000000"/>
                          </a:solidFill>
                          <a:latin typeface="Times New Roman"/>
                          <a:ea typeface="Times New Roman"/>
                        </a:rPr>
                        <a:t>83.61</a:t>
                      </a:r>
                      <a:endParaRPr b="0" lang="en-US" sz="1400" spc="-1" strike="noStrike">
                        <a:solidFill>
                          <a:srgbClr val="000000"/>
                        </a:solidFill>
                        <a:latin typeface="Arial"/>
                      </a:endParaRPr>
                    </a:p>
                    <a:p>
                      <a:pPr>
                        <a:lnSpc>
                          <a:spcPct val="115000"/>
                        </a:lnSpc>
                        <a:tabLst>
                          <a:tab algn="l" pos="0"/>
                        </a:tabLst>
                      </a:pP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c>
                  <a:txBody>
                    <a:bodyPr lIns="91080" rIns="91080" anchor="t">
                      <a:noAutofit/>
                    </a:bodyPr>
                    <a:p>
                      <a:pPr>
                        <a:lnSpc>
                          <a:spcPct val="100000"/>
                        </a:lnSpc>
                        <a:tabLst>
                          <a:tab algn="l" pos="0"/>
                        </a:tabLst>
                      </a:pPr>
                      <a:r>
                        <a:rPr b="0" lang="en-US" sz="1400" spc="-1" strike="noStrike">
                          <a:solidFill>
                            <a:srgbClr val="333333"/>
                          </a:solidFill>
                          <a:highlight>
                            <a:srgbClr val="ffffff"/>
                          </a:highlight>
                          <a:latin typeface="Times New Roman"/>
                          <a:ea typeface="Times New Roman"/>
                        </a:rPr>
                        <a:t>High level of missing values in the dataset</a:t>
                      </a:r>
                      <a:endParaRPr b="0" lang="en-US" sz="1400" spc="-1" strike="noStrike">
                        <a:solidFill>
                          <a:srgbClr val="000000"/>
                        </a:solidFill>
                        <a:latin typeface="Arial"/>
                      </a:endParaRPr>
                    </a:p>
                  </a:txBody>
                  <a:tcPr anchor="t" marL="91080" marR="91080">
                    <a:lnL w="18720">
                      <a:solidFill>
                        <a:srgbClr val="000000"/>
                      </a:solidFill>
                      <a:prstDash val="solid"/>
                    </a:lnL>
                    <a:lnR w="18720">
                      <a:solidFill>
                        <a:srgbClr val="000000"/>
                      </a:solidFill>
                      <a:prstDash val="solid"/>
                    </a:lnR>
                    <a:lnT w="18720">
                      <a:solidFill>
                        <a:srgbClr val="000000"/>
                      </a:solidFill>
                      <a:prstDash val="solid"/>
                    </a:lnT>
                    <a:lnB w="18720">
                      <a:solidFill>
                        <a:srgbClr val="000000"/>
                      </a:solidFill>
                      <a:prstDash val="solid"/>
                    </a:lnB>
                    <a:noFill/>
                  </a:tcPr>
                </a:tc>
              </a:tr>
            </a:tbl>
          </a:graphicData>
        </a:graphic>
      </p:graphicFrame>
      <p:cxnSp>
        <p:nvCxnSpPr>
          <p:cNvPr id="76" name="Google Shape;125;p19"/>
          <p:cNvCxnSpPr/>
          <p:nvPr/>
        </p:nvCxnSpPr>
        <p:spPr>
          <a:xfrm flipV="1">
            <a:off x="5864040" y="2923200"/>
            <a:ext cx="1080" cy="18360"/>
          </a:xfrm>
          <a:prstGeom prst="straightConnector1">
            <a:avLst/>
          </a:prstGeom>
          <a:ln w="9525">
            <a:solidFill>
              <a:srgbClr val="595959"/>
            </a:solidFill>
            <a:round/>
          </a:ln>
        </p:spPr>
      </p:cxnSp>
      <p:pic>
        <p:nvPicPr>
          <p:cNvPr id="77" name="Google Shape;104;p 6"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Google Shape;130;p20" descr=""/>
          <p:cNvPicPr/>
          <p:nvPr/>
        </p:nvPicPr>
        <p:blipFill>
          <a:blip r:embed="rId1"/>
          <a:stretch/>
        </p:blipFill>
        <p:spPr>
          <a:xfrm>
            <a:off x="-37440" y="772200"/>
            <a:ext cx="12265920" cy="151200"/>
          </a:xfrm>
          <a:prstGeom prst="rect">
            <a:avLst/>
          </a:prstGeom>
          <a:ln w="0">
            <a:noFill/>
          </a:ln>
        </p:spPr>
      </p:pic>
      <p:pic>
        <p:nvPicPr>
          <p:cNvPr id="79" name="Google Shape;131;p20" descr=""/>
          <p:cNvPicPr/>
          <p:nvPr/>
        </p:nvPicPr>
        <p:blipFill>
          <a:blip r:embed="rId2"/>
          <a:stretch/>
        </p:blipFill>
        <p:spPr>
          <a:xfrm>
            <a:off x="-37440" y="6617160"/>
            <a:ext cx="12265920" cy="239760"/>
          </a:xfrm>
          <a:prstGeom prst="rect">
            <a:avLst/>
          </a:prstGeom>
          <a:ln w="0">
            <a:noFill/>
          </a:ln>
        </p:spPr>
      </p:pic>
      <p:sp>
        <p:nvSpPr>
          <p:cNvPr id="80" name="PlaceHolder 1"/>
          <p:cNvSpPr>
            <a:spLocks noGrp="1"/>
          </p:cNvSpPr>
          <p:nvPr>
            <p:ph type="title"/>
          </p:nvPr>
        </p:nvSpPr>
        <p:spPr>
          <a:xfrm>
            <a:off x="-37440" y="-34200"/>
            <a:ext cx="11359800" cy="762480"/>
          </a:xfrm>
          <a:prstGeom prst="rect">
            <a:avLst/>
          </a:prstGeom>
          <a:noFill/>
          <a:ln w="0">
            <a:noFill/>
          </a:ln>
        </p:spPr>
        <p:txBody>
          <a:bodyPr lIns="122040" rIns="122040" tIns="122040" bIns="122040" anchor="t">
            <a:normAutofit fontScale="93333"/>
          </a:bodyPr>
          <a:p>
            <a:pPr indent="0" algn="ctr">
              <a:lnSpc>
                <a:spcPct val="100000"/>
              </a:lnSpc>
              <a:buNone/>
              <a:tabLst>
                <a:tab algn="l" pos="0"/>
              </a:tabLst>
            </a:pPr>
            <a:r>
              <a:rPr b="1" lang="en-US" sz="3700" spc="-1" strike="noStrike">
                <a:solidFill>
                  <a:schemeClr val="dk1"/>
                </a:solidFill>
                <a:latin typeface="Times New Roman"/>
                <a:ea typeface="Times New Roman"/>
              </a:rPr>
              <a:t>DATASET</a:t>
            </a:r>
            <a:endParaRPr b="0" lang="en-US" sz="3700" spc="-1" strike="noStrike">
              <a:solidFill>
                <a:srgbClr val="000000"/>
              </a:solidFill>
              <a:latin typeface="Arial"/>
            </a:endParaRPr>
          </a:p>
        </p:txBody>
      </p:sp>
      <p:sp>
        <p:nvSpPr>
          <p:cNvPr id="81" name="PlaceHolder 2"/>
          <p:cNvSpPr>
            <a:spLocks noGrp="1"/>
          </p:cNvSpPr>
          <p:nvPr>
            <p:ph/>
          </p:nvPr>
        </p:nvSpPr>
        <p:spPr>
          <a:xfrm>
            <a:off x="370440" y="967320"/>
            <a:ext cx="11201040" cy="5889600"/>
          </a:xfrm>
          <a:prstGeom prst="rect">
            <a:avLst/>
          </a:prstGeom>
          <a:noFill/>
          <a:ln w="0">
            <a:noFill/>
          </a:ln>
        </p:spPr>
        <p:txBody>
          <a:bodyPr lIns="122040" rIns="122040" tIns="122040" bIns="122040" anchor="t">
            <a:noAutofit/>
          </a:bodyPr>
          <a:p>
            <a:pPr indent="0" algn="just">
              <a:lnSpc>
                <a:spcPct val="115000"/>
              </a:lnSpc>
              <a:spcBef>
                <a:spcPts val="1400"/>
              </a:spcBef>
              <a:buNone/>
              <a:tabLst>
                <a:tab algn="l" pos="0"/>
              </a:tabLst>
            </a:pPr>
            <a:r>
              <a:rPr b="1" lang="en-US" sz="2000" spc="-1" strike="noStrike">
                <a:solidFill>
                  <a:schemeClr val="dk1"/>
                </a:solidFill>
                <a:latin typeface="Times New Roman"/>
                <a:ea typeface="Times New Roman"/>
              </a:rPr>
              <a:t>Dataset Overview</a:t>
            </a:r>
            <a:endParaRPr b="0" lang="en-US" sz="2000" spc="-1" strike="noStrike">
              <a:solidFill>
                <a:srgbClr val="000000"/>
              </a:solidFill>
              <a:latin typeface="Arial"/>
            </a:endParaRPr>
          </a:p>
          <a:p>
            <a:pPr marL="457200" indent="-355680" algn="just">
              <a:lnSpc>
                <a:spcPct val="115000"/>
              </a:lnSpc>
              <a:spcBef>
                <a:spcPts val="1199"/>
              </a:spcBef>
              <a:buClr>
                <a:srgbClr val="000000"/>
              </a:buClr>
              <a:buFont typeface="Arial"/>
              <a:buChar char="●"/>
              <a:tabLst>
                <a:tab algn="l" pos="0"/>
              </a:tabLst>
            </a:pPr>
            <a:r>
              <a:rPr b="1" lang="en-US" sz="2000" spc="-1" strike="noStrike">
                <a:solidFill>
                  <a:schemeClr val="dk1"/>
                </a:solidFill>
                <a:latin typeface="Times New Roman"/>
                <a:ea typeface="Times New Roman"/>
              </a:rPr>
              <a:t>Name:</a:t>
            </a:r>
            <a:r>
              <a:rPr b="0" lang="en-US" sz="2000" spc="-1" strike="noStrike">
                <a:solidFill>
                  <a:schemeClr val="dk1"/>
                </a:solidFill>
                <a:latin typeface="Times New Roman"/>
                <a:ea typeface="Times New Roman"/>
              </a:rPr>
              <a:t> </a:t>
            </a:r>
            <a:r>
              <a:rPr b="0" lang="en-US" sz="2000" spc="-1" strike="noStrike" u="sng">
                <a:solidFill>
                  <a:schemeClr val="hlink"/>
                </a:solidFill>
                <a:uFillTx/>
                <a:latin typeface="Times New Roman"/>
                <a:ea typeface="Times New Roman"/>
                <a:hlinkClick r:id="rId3"/>
              </a:rPr>
              <a:t>Chronic Kidney Disease (CKD) Dataset</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Source:</a:t>
            </a:r>
            <a:r>
              <a:rPr b="0" lang="en-US" sz="2000" spc="-1" strike="noStrike">
                <a:solidFill>
                  <a:schemeClr val="dk1"/>
                </a:solidFill>
                <a:latin typeface="Times New Roman"/>
                <a:ea typeface="Times New Roman"/>
              </a:rPr>
              <a:t> UCI Machine Learning Repository</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Number of Records:</a:t>
            </a:r>
            <a:r>
              <a:rPr b="0" lang="en-US" sz="2000" spc="-1" strike="noStrike">
                <a:solidFill>
                  <a:schemeClr val="dk1"/>
                </a:solidFill>
                <a:latin typeface="Times New Roman"/>
                <a:ea typeface="Times New Roman"/>
              </a:rPr>
              <a:t> 400</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Number of Features:</a:t>
            </a:r>
            <a:r>
              <a:rPr b="0" lang="en-US" sz="2000" spc="-1" strike="noStrike">
                <a:solidFill>
                  <a:schemeClr val="dk1"/>
                </a:solidFill>
                <a:latin typeface="Times New Roman"/>
                <a:ea typeface="Times New Roman"/>
              </a:rPr>
              <a:t> 25 (both numerical and categorical)</a:t>
            </a:r>
            <a:endParaRPr b="0" lang="en-US" sz="2000" spc="-1" strike="noStrike">
              <a:solidFill>
                <a:srgbClr val="000000"/>
              </a:solidFill>
              <a:latin typeface="Arial"/>
            </a:endParaRPr>
          </a:p>
          <a:p>
            <a:pPr indent="0" algn="just">
              <a:lnSpc>
                <a:spcPct val="115000"/>
              </a:lnSpc>
              <a:spcBef>
                <a:spcPts val="1199"/>
              </a:spcBef>
              <a:buNone/>
              <a:tabLst>
                <a:tab algn="l" pos="0"/>
              </a:tabLst>
            </a:pPr>
            <a:r>
              <a:rPr b="1" lang="en-US" sz="2000" spc="-1" strike="noStrike">
                <a:solidFill>
                  <a:schemeClr val="dk1"/>
                </a:solidFill>
                <a:latin typeface="Times New Roman"/>
                <a:ea typeface="Times New Roman"/>
              </a:rPr>
              <a:t>Data Types:</a:t>
            </a:r>
            <a:endParaRPr b="0" lang="en-US" sz="2000" spc="-1" strike="noStrike">
              <a:solidFill>
                <a:srgbClr val="000000"/>
              </a:solidFill>
              <a:latin typeface="Arial"/>
            </a:endParaRPr>
          </a:p>
          <a:p>
            <a:pPr marL="457200" indent="-355680" algn="just">
              <a:lnSpc>
                <a:spcPct val="115000"/>
              </a:lnSpc>
              <a:spcBef>
                <a:spcPts val="1199"/>
              </a:spcBef>
              <a:buClr>
                <a:srgbClr val="000000"/>
              </a:buClr>
              <a:buFont typeface="Arial"/>
              <a:buChar char="●"/>
              <a:tabLst>
                <a:tab algn="l" pos="0"/>
              </a:tabLst>
            </a:pPr>
            <a:r>
              <a:rPr b="1" lang="en-US" sz="2000" spc="-1" strike="noStrike">
                <a:solidFill>
                  <a:schemeClr val="dk1"/>
                </a:solidFill>
                <a:latin typeface="Times New Roman"/>
                <a:ea typeface="Times New Roman"/>
              </a:rPr>
              <a:t>Numerical:</a:t>
            </a:r>
            <a:r>
              <a:rPr b="0" lang="en-US" sz="2000" spc="-1" strike="noStrike">
                <a:solidFill>
                  <a:schemeClr val="dk1"/>
                </a:solidFill>
                <a:latin typeface="Times New Roman"/>
                <a:ea typeface="Times New Roman"/>
              </a:rPr>
              <a:t> Age, blood pressure, serum creatinine, sodium, potassium, hemoglobin, etc.</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Categorical:</a:t>
            </a:r>
            <a:r>
              <a:rPr b="0" lang="en-US" sz="2000" spc="-1" strike="noStrike">
                <a:solidFill>
                  <a:schemeClr val="dk1"/>
                </a:solidFill>
                <a:latin typeface="Times New Roman"/>
                <a:ea typeface="Times New Roman"/>
              </a:rPr>
              <a:t> Presence of diabetes, hypertension, anemia, etc.</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Binary Labels:</a:t>
            </a:r>
            <a:r>
              <a:rPr b="0" lang="en-US" sz="2000" spc="-1" strike="noStrike">
                <a:solidFill>
                  <a:schemeClr val="dk1"/>
                </a:solidFill>
                <a:latin typeface="Times New Roman"/>
                <a:ea typeface="Times New Roman"/>
              </a:rPr>
              <a:t> </a:t>
            </a:r>
            <a:r>
              <a:rPr b="0" lang="en-US" sz="2000" spc="-1" strike="noStrike">
                <a:solidFill>
                  <a:srgbClr val="cc0000"/>
                </a:solidFill>
                <a:latin typeface="Times New Roman"/>
                <a:ea typeface="Times New Roman"/>
              </a:rPr>
              <a:t>ckd</a:t>
            </a:r>
            <a:r>
              <a:rPr b="0" lang="en-US" sz="2000" spc="-1" strike="noStrike">
                <a:solidFill>
                  <a:schemeClr val="dk1"/>
                </a:solidFill>
                <a:latin typeface="Times New Roman"/>
                <a:ea typeface="Times New Roman"/>
              </a:rPr>
              <a:t> (chronic kidney disease) or </a:t>
            </a:r>
            <a:r>
              <a:rPr b="0" lang="en-US" sz="2000" spc="-1" strike="noStrike">
                <a:solidFill>
                  <a:srgbClr val="188038"/>
                </a:solidFill>
                <a:latin typeface="Times New Roman"/>
                <a:ea typeface="Times New Roman"/>
              </a:rPr>
              <a:t>not ckd</a:t>
            </a:r>
            <a:r>
              <a:rPr b="0" lang="en-US" sz="2000" spc="-1" strike="noStrike">
                <a:solidFill>
                  <a:schemeClr val="dk1"/>
                </a:solidFill>
                <a:latin typeface="Times New Roman"/>
                <a:ea typeface="Times New Roman"/>
              </a:rPr>
              <a:t> (no kidney disease).</a:t>
            </a:r>
            <a:endParaRPr b="0" lang="en-US" sz="2000" spc="-1" strike="noStrike">
              <a:solidFill>
                <a:srgbClr val="000000"/>
              </a:solidFill>
              <a:latin typeface="Arial"/>
            </a:endParaRPr>
          </a:p>
          <a:p>
            <a:pPr indent="0" algn="just">
              <a:lnSpc>
                <a:spcPct val="115000"/>
              </a:lnSpc>
              <a:spcBef>
                <a:spcPts val="1400"/>
              </a:spcBef>
              <a:buNone/>
              <a:tabLst>
                <a:tab algn="l" pos="0"/>
              </a:tabLst>
            </a:pPr>
            <a:r>
              <a:rPr b="1" lang="en-US" sz="2000" spc="-1" strike="noStrike">
                <a:solidFill>
                  <a:schemeClr val="dk1"/>
                </a:solidFill>
                <a:latin typeface="Times New Roman"/>
                <a:ea typeface="Times New Roman"/>
              </a:rPr>
              <a:t>Data Quality &amp; Integrity</a:t>
            </a:r>
            <a:endParaRPr b="0" lang="en-US" sz="2000" spc="-1" strike="noStrike">
              <a:solidFill>
                <a:srgbClr val="000000"/>
              </a:solidFill>
              <a:latin typeface="Arial"/>
            </a:endParaRPr>
          </a:p>
          <a:p>
            <a:pPr marL="457200" indent="-355680" algn="just">
              <a:lnSpc>
                <a:spcPct val="115000"/>
              </a:lnSpc>
              <a:spcBef>
                <a:spcPts val="1199"/>
              </a:spcBef>
              <a:buClr>
                <a:srgbClr val="000000"/>
              </a:buClr>
              <a:buFont typeface="Arial"/>
              <a:buChar char="●"/>
              <a:tabLst>
                <a:tab algn="l" pos="0"/>
              </a:tabLst>
            </a:pPr>
            <a:r>
              <a:rPr b="1" lang="en-US" sz="2000" spc="-1" strike="noStrike">
                <a:solidFill>
                  <a:schemeClr val="dk1"/>
                </a:solidFill>
                <a:latin typeface="Times New Roman"/>
                <a:ea typeface="Times New Roman"/>
              </a:rPr>
              <a:t>Missing Values:</a:t>
            </a:r>
            <a:r>
              <a:rPr b="0" lang="en-US" sz="2000" spc="-1" strike="noStrike">
                <a:solidFill>
                  <a:schemeClr val="dk1"/>
                </a:solidFill>
                <a:latin typeface="Times New Roman"/>
                <a:ea typeface="Times New Roman"/>
              </a:rPr>
              <a:t> Some features have missing values, especially </a:t>
            </a:r>
            <a:r>
              <a:rPr b="0" lang="en-US" sz="2000" spc="-1" strike="noStrike">
                <a:solidFill>
                  <a:srgbClr val="1c4587"/>
                </a:solidFill>
                <a:latin typeface="Times New Roman"/>
                <a:ea typeface="Times New Roman"/>
              </a:rPr>
              <a:t>rbcc</a:t>
            </a:r>
            <a:r>
              <a:rPr b="0" lang="en-US" sz="2000" spc="-1" strike="noStrike">
                <a:solidFill>
                  <a:srgbClr val="3d85c6"/>
                </a:solidFill>
                <a:latin typeface="Times New Roman"/>
                <a:ea typeface="Times New Roman"/>
              </a:rPr>
              <a:t> </a:t>
            </a:r>
            <a:r>
              <a:rPr b="0" lang="en-US" sz="2000" spc="-1" strike="noStrike">
                <a:solidFill>
                  <a:schemeClr val="dk1"/>
                </a:solidFill>
                <a:latin typeface="Times New Roman"/>
                <a:ea typeface="Times New Roman"/>
              </a:rPr>
              <a:t>and </a:t>
            </a:r>
            <a:r>
              <a:rPr b="0" lang="en-US" sz="2000" spc="-1" strike="noStrike">
                <a:solidFill>
                  <a:srgbClr val="1c4587"/>
                </a:solidFill>
                <a:latin typeface="Times New Roman"/>
                <a:ea typeface="Times New Roman"/>
              </a:rPr>
              <a:t>wbcc.</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Duplicates:</a:t>
            </a:r>
            <a:r>
              <a:rPr b="0" lang="en-US" sz="2000" spc="-1" strike="noStrike">
                <a:solidFill>
                  <a:schemeClr val="dk1"/>
                </a:solidFill>
                <a:latin typeface="Times New Roman"/>
                <a:ea typeface="Times New Roman"/>
              </a:rPr>
              <a:t> No duplicates in the dataset.</a:t>
            </a:r>
            <a:endParaRPr b="0" lang="en-US" sz="2000" spc="-1" strike="noStrike">
              <a:solidFill>
                <a:srgbClr val="000000"/>
              </a:solidFill>
              <a:latin typeface="Arial"/>
            </a:endParaRPr>
          </a:p>
          <a:p>
            <a:pPr marL="457200" indent="-355680" algn="just">
              <a:lnSpc>
                <a:spcPct val="115000"/>
              </a:lnSpc>
              <a:buClr>
                <a:srgbClr val="000000"/>
              </a:buClr>
              <a:buFont typeface="Arial"/>
              <a:buChar char="●"/>
              <a:tabLst>
                <a:tab algn="l" pos="0"/>
              </a:tabLst>
            </a:pPr>
            <a:r>
              <a:rPr b="1" lang="en-US" sz="2000" spc="-1" strike="noStrike">
                <a:solidFill>
                  <a:schemeClr val="dk1"/>
                </a:solidFill>
                <a:latin typeface="Times New Roman"/>
                <a:ea typeface="Times New Roman"/>
              </a:rPr>
              <a:t>Outliers &amp; Anomalies:</a:t>
            </a:r>
            <a:r>
              <a:rPr b="0" lang="en-US" sz="2000" spc="-1" strike="noStrike">
                <a:solidFill>
                  <a:schemeClr val="dk1"/>
                </a:solidFill>
                <a:latin typeface="Times New Roman"/>
                <a:ea typeface="Times New Roman"/>
              </a:rPr>
              <a:t> Some extreme values in </a:t>
            </a:r>
            <a:r>
              <a:rPr b="0" lang="en-US" sz="2000" spc="-1" strike="noStrike">
                <a:solidFill>
                  <a:srgbClr val="1c4587"/>
                </a:solidFill>
                <a:latin typeface="Times New Roman"/>
                <a:ea typeface="Times New Roman"/>
              </a:rPr>
              <a:t>sc </a:t>
            </a:r>
            <a:r>
              <a:rPr b="0" lang="en-US" sz="2000" spc="-1" strike="noStrike">
                <a:solidFill>
                  <a:schemeClr val="dk1"/>
                </a:solidFill>
                <a:latin typeface="Times New Roman"/>
                <a:ea typeface="Times New Roman"/>
              </a:rPr>
              <a:t>(serum creatinine) and </a:t>
            </a:r>
            <a:r>
              <a:rPr b="0" lang="en-US" sz="2000" spc="-1" strike="noStrike">
                <a:solidFill>
                  <a:srgbClr val="1c4587"/>
                </a:solidFill>
                <a:latin typeface="Times New Roman"/>
                <a:ea typeface="Times New Roman"/>
              </a:rPr>
              <a:t>bu</a:t>
            </a:r>
            <a:r>
              <a:rPr b="0" lang="en-US" sz="2000" spc="-1" strike="noStrike">
                <a:solidFill>
                  <a:schemeClr val="dk1"/>
                </a:solidFill>
                <a:latin typeface="Times New Roman"/>
                <a:ea typeface="Times New Roman"/>
              </a:rPr>
              <a:t> (blood urea).</a:t>
            </a:r>
            <a:endParaRPr b="0" lang="en-US" sz="2000" spc="-1" strike="noStrike">
              <a:solidFill>
                <a:srgbClr val="000000"/>
              </a:solidFill>
              <a:latin typeface="Arial"/>
            </a:endParaRPr>
          </a:p>
          <a:p>
            <a:pPr indent="0" algn="just">
              <a:lnSpc>
                <a:spcPct val="115000"/>
              </a:lnSpc>
              <a:spcBef>
                <a:spcPts val="1400"/>
              </a:spcBef>
              <a:buNone/>
              <a:tabLst>
                <a:tab algn="l" pos="0"/>
              </a:tabLst>
            </a:pPr>
            <a:endParaRPr b="0" lang="en-US" sz="2000" spc="-1" strike="noStrike">
              <a:solidFill>
                <a:srgbClr val="000000"/>
              </a:solidFill>
              <a:latin typeface="Arial"/>
            </a:endParaRPr>
          </a:p>
          <a:p>
            <a:pPr indent="0" algn="just">
              <a:lnSpc>
                <a:spcPct val="115000"/>
              </a:lnSpc>
              <a:spcBef>
                <a:spcPts val="400"/>
              </a:spcBef>
              <a:spcAft>
                <a:spcPts val="1599"/>
              </a:spcAft>
              <a:buNone/>
              <a:tabLst>
                <a:tab algn="l" pos="0"/>
              </a:tabLst>
            </a:pPr>
            <a:endParaRPr b="0" lang="en-US" sz="2000" spc="-1" strike="noStrike">
              <a:solidFill>
                <a:srgbClr val="000000"/>
              </a:solidFill>
              <a:latin typeface="Arial"/>
            </a:endParaRPr>
          </a:p>
        </p:txBody>
      </p:sp>
      <p:pic>
        <p:nvPicPr>
          <p:cNvPr id="82" name="Google Shape;104;p 7" descr=""/>
          <p:cNvPicPr/>
          <p:nvPr/>
        </p:nvPicPr>
        <p:blipFill>
          <a:blip r:embed="rId4"/>
          <a:stretch/>
        </p:blipFill>
        <p:spPr>
          <a:xfrm>
            <a:off x="867204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Google Shape;139;p21" descr=""/>
          <p:cNvPicPr/>
          <p:nvPr/>
        </p:nvPicPr>
        <p:blipFill>
          <a:blip r:embed="rId1"/>
          <a:stretch/>
        </p:blipFill>
        <p:spPr>
          <a:xfrm>
            <a:off x="-37440" y="772200"/>
            <a:ext cx="12265920" cy="151200"/>
          </a:xfrm>
          <a:prstGeom prst="rect">
            <a:avLst/>
          </a:prstGeom>
          <a:ln w="0">
            <a:noFill/>
          </a:ln>
        </p:spPr>
      </p:pic>
      <p:pic>
        <p:nvPicPr>
          <p:cNvPr id="84" name="Google Shape;140;p21" descr=""/>
          <p:cNvPicPr/>
          <p:nvPr/>
        </p:nvPicPr>
        <p:blipFill>
          <a:blip r:embed="rId2"/>
          <a:stretch/>
        </p:blipFill>
        <p:spPr>
          <a:xfrm>
            <a:off x="-37440" y="6617160"/>
            <a:ext cx="12265920" cy="239760"/>
          </a:xfrm>
          <a:prstGeom prst="rect">
            <a:avLst/>
          </a:prstGeom>
          <a:ln w="0">
            <a:noFill/>
          </a:ln>
        </p:spPr>
      </p:pic>
      <p:sp>
        <p:nvSpPr>
          <p:cNvPr id="85" name="PlaceHolder 1"/>
          <p:cNvSpPr>
            <a:spLocks noGrp="1"/>
          </p:cNvSpPr>
          <p:nvPr>
            <p:ph type="title"/>
          </p:nvPr>
        </p:nvSpPr>
        <p:spPr>
          <a:xfrm>
            <a:off x="4434840" y="-34200"/>
            <a:ext cx="2378880" cy="762480"/>
          </a:xfrm>
          <a:prstGeom prst="rect">
            <a:avLst/>
          </a:prstGeom>
          <a:noFill/>
          <a:ln w="0">
            <a:noFill/>
          </a:ln>
        </p:spPr>
        <p:txBody>
          <a:bodyPr lIns="122040" rIns="122040" tIns="122040" bIns="122040" anchor="t">
            <a:normAutofit fontScale="93333"/>
          </a:bodyPr>
          <a:p>
            <a:pPr indent="0">
              <a:lnSpc>
                <a:spcPct val="100000"/>
              </a:lnSpc>
              <a:buNone/>
              <a:tabLst>
                <a:tab algn="l" pos="0"/>
              </a:tabLst>
            </a:pPr>
            <a:r>
              <a:rPr b="1" lang="en-US" sz="3700" spc="-1" strike="noStrike">
                <a:solidFill>
                  <a:schemeClr val="dk1"/>
                </a:solidFill>
                <a:latin typeface="Times New Roman"/>
                <a:ea typeface="Times New Roman"/>
              </a:rPr>
              <a:t>DATASET</a:t>
            </a:r>
            <a:endParaRPr b="0" lang="en-US" sz="3700" spc="-1" strike="noStrike">
              <a:solidFill>
                <a:srgbClr val="000000"/>
              </a:solidFill>
              <a:latin typeface="Arial"/>
            </a:endParaRPr>
          </a:p>
        </p:txBody>
      </p:sp>
      <p:pic>
        <p:nvPicPr>
          <p:cNvPr id="86" name="Google Shape;143;p21" descr=""/>
          <p:cNvPicPr/>
          <p:nvPr/>
        </p:nvPicPr>
        <p:blipFill>
          <a:blip r:embed="rId3"/>
          <a:srcRect l="6276" t="0" r="5446" b="0"/>
          <a:stretch/>
        </p:blipFill>
        <p:spPr>
          <a:xfrm>
            <a:off x="0" y="1311120"/>
            <a:ext cx="12025080" cy="4918320"/>
          </a:xfrm>
          <a:prstGeom prst="rect">
            <a:avLst/>
          </a:prstGeom>
          <a:ln w="0">
            <a:noFill/>
          </a:ln>
        </p:spPr>
      </p:pic>
      <p:pic>
        <p:nvPicPr>
          <p:cNvPr id="87" name="Google Shape;104;p 8" descr=""/>
          <p:cNvPicPr/>
          <p:nvPr/>
        </p:nvPicPr>
        <p:blipFill>
          <a:blip r:embed="rId4"/>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Google Shape;148;p22" descr=""/>
          <p:cNvPicPr/>
          <p:nvPr/>
        </p:nvPicPr>
        <p:blipFill>
          <a:blip r:embed="rId1"/>
          <a:stretch/>
        </p:blipFill>
        <p:spPr>
          <a:xfrm>
            <a:off x="-37440" y="772200"/>
            <a:ext cx="12265920" cy="151200"/>
          </a:xfrm>
          <a:prstGeom prst="rect">
            <a:avLst/>
          </a:prstGeom>
          <a:ln w="0">
            <a:noFill/>
          </a:ln>
        </p:spPr>
      </p:pic>
      <p:pic>
        <p:nvPicPr>
          <p:cNvPr id="89" name="Google Shape;149;p22" descr=""/>
          <p:cNvPicPr/>
          <p:nvPr/>
        </p:nvPicPr>
        <p:blipFill>
          <a:blip r:embed="rId2"/>
          <a:stretch/>
        </p:blipFill>
        <p:spPr>
          <a:xfrm>
            <a:off x="-37440" y="6617160"/>
            <a:ext cx="12265920" cy="239760"/>
          </a:xfrm>
          <a:prstGeom prst="rect">
            <a:avLst/>
          </a:prstGeom>
          <a:ln w="0">
            <a:noFill/>
          </a:ln>
        </p:spPr>
      </p:pic>
      <p:pic>
        <p:nvPicPr>
          <p:cNvPr id="90" name="Google Shape;151;p22" descr=""/>
          <p:cNvPicPr/>
          <p:nvPr/>
        </p:nvPicPr>
        <p:blipFill>
          <a:blip r:embed="rId3"/>
          <a:stretch/>
        </p:blipFill>
        <p:spPr>
          <a:xfrm>
            <a:off x="749520" y="962280"/>
            <a:ext cx="10353960" cy="5386680"/>
          </a:xfrm>
          <a:prstGeom prst="rect">
            <a:avLst/>
          </a:prstGeom>
          <a:ln w="0">
            <a:noFill/>
          </a:ln>
        </p:spPr>
      </p:pic>
      <p:sp>
        <p:nvSpPr>
          <p:cNvPr id="91" name="Google Shape;152;p22"/>
          <p:cNvSpPr/>
          <p:nvPr/>
        </p:nvSpPr>
        <p:spPr>
          <a:xfrm>
            <a:off x="3679560" y="-29520"/>
            <a:ext cx="2998800" cy="74628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3700" spc="-1" strike="noStrike">
                <a:solidFill>
                  <a:schemeClr val="dk1"/>
                </a:solidFill>
                <a:latin typeface="Times New Roman"/>
                <a:ea typeface="Times New Roman"/>
              </a:rPr>
              <a:t>DATASET</a:t>
            </a:r>
            <a:endParaRPr b="0" lang="en-US" sz="3700" spc="-1" strike="noStrike">
              <a:solidFill>
                <a:srgbClr val="000000"/>
              </a:solidFill>
              <a:latin typeface="Arial"/>
            </a:endParaRPr>
          </a:p>
        </p:txBody>
      </p:sp>
      <p:pic>
        <p:nvPicPr>
          <p:cNvPr id="92" name="Google Shape;104;p 9" descr=""/>
          <p:cNvPicPr/>
          <p:nvPr/>
        </p:nvPicPr>
        <p:blipFill>
          <a:blip r:embed="rId4"/>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Google Shape;157;p23" descr=""/>
          <p:cNvPicPr/>
          <p:nvPr/>
        </p:nvPicPr>
        <p:blipFill>
          <a:blip r:embed="rId1"/>
          <a:stretch/>
        </p:blipFill>
        <p:spPr>
          <a:xfrm>
            <a:off x="-37440" y="772200"/>
            <a:ext cx="12265920" cy="151200"/>
          </a:xfrm>
          <a:prstGeom prst="rect">
            <a:avLst/>
          </a:prstGeom>
          <a:ln w="0">
            <a:noFill/>
          </a:ln>
        </p:spPr>
      </p:pic>
      <p:pic>
        <p:nvPicPr>
          <p:cNvPr id="94" name="Google Shape;158;p23" descr=""/>
          <p:cNvPicPr/>
          <p:nvPr/>
        </p:nvPicPr>
        <p:blipFill>
          <a:blip r:embed="rId2"/>
          <a:stretch/>
        </p:blipFill>
        <p:spPr>
          <a:xfrm>
            <a:off x="-37440" y="6617160"/>
            <a:ext cx="12265920" cy="239760"/>
          </a:xfrm>
          <a:prstGeom prst="rect">
            <a:avLst/>
          </a:prstGeom>
          <a:ln w="0">
            <a:noFill/>
          </a:ln>
        </p:spPr>
      </p:pic>
      <p:sp>
        <p:nvSpPr>
          <p:cNvPr id="95" name="PlaceHolder 1"/>
          <p:cNvSpPr>
            <a:spLocks noGrp="1"/>
          </p:cNvSpPr>
          <p:nvPr>
            <p:ph type="title"/>
          </p:nvPr>
        </p:nvSpPr>
        <p:spPr>
          <a:xfrm>
            <a:off x="2462760" y="-50400"/>
            <a:ext cx="6282000" cy="762480"/>
          </a:xfrm>
          <a:prstGeom prst="rect">
            <a:avLst/>
          </a:prstGeom>
          <a:noFill/>
          <a:ln w="0">
            <a:noFill/>
          </a:ln>
        </p:spPr>
        <p:txBody>
          <a:bodyPr lIns="122040" rIns="122040" tIns="122040" bIns="122040" anchor="t">
            <a:normAutofit fontScale="91111"/>
          </a:bodyPr>
          <a:p>
            <a:pPr indent="0">
              <a:lnSpc>
                <a:spcPct val="100000"/>
              </a:lnSpc>
              <a:buNone/>
              <a:tabLst>
                <a:tab algn="l" pos="0"/>
              </a:tabLst>
            </a:pPr>
            <a:r>
              <a:rPr b="1" lang="en-US" sz="3700" spc="-1" strike="noStrike">
                <a:solidFill>
                  <a:schemeClr val="dk1"/>
                </a:solidFill>
                <a:latin typeface="Times New Roman"/>
                <a:ea typeface="Times New Roman"/>
              </a:rPr>
              <a:t>PROPOSED ARCHITECTURE</a:t>
            </a:r>
            <a:endParaRPr b="0" lang="en-US" sz="3700" spc="-1" strike="noStrike">
              <a:solidFill>
                <a:srgbClr val="000000"/>
              </a:solidFill>
              <a:latin typeface="Arial"/>
            </a:endParaRPr>
          </a:p>
        </p:txBody>
      </p:sp>
      <p:pic>
        <p:nvPicPr>
          <p:cNvPr id="96" name="Google Shape;161;p23" descr=""/>
          <p:cNvPicPr/>
          <p:nvPr/>
        </p:nvPicPr>
        <p:blipFill>
          <a:blip r:embed="rId3"/>
          <a:stretch/>
        </p:blipFill>
        <p:spPr>
          <a:xfrm>
            <a:off x="537840" y="983520"/>
            <a:ext cx="11115000" cy="5343840"/>
          </a:xfrm>
          <a:prstGeom prst="rect">
            <a:avLst/>
          </a:prstGeom>
          <a:ln w="0">
            <a:noFill/>
          </a:ln>
        </p:spPr>
      </p:pic>
      <p:pic>
        <p:nvPicPr>
          <p:cNvPr id="97" name="Google Shape;104;p 10" descr=""/>
          <p:cNvPicPr/>
          <p:nvPr/>
        </p:nvPicPr>
        <p:blipFill>
          <a:blip r:embed="rId4"/>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Google Shape;166;p24" descr=""/>
          <p:cNvPicPr/>
          <p:nvPr/>
        </p:nvPicPr>
        <p:blipFill>
          <a:blip r:embed="rId1"/>
          <a:stretch/>
        </p:blipFill>
        <p:spPr>
          <a:xfrm>
            <a:off x="-37440" y="772200"/>
            <a:ext cx="12265920" cy="151200"/>
          </a:xfrm>
          <a:prstGeom prst="rect">
            <a:avLst/>
          </a:prstGeom>
          <a:ln w="0">
            <a:noFill/>
          </a:ln>
        </p:spPr>
      </p:pic>
      <p:pic>
        <p:nvPicPr>
          <p:cNvPr id="99" name="Google Shape;167;p24" descr=""/>
          <p:cNvPicPr/>
          <p:nvPr/>
        </p:nvPicPr>
        <p:blipFill>
          <a:blip r:embed="rId2"/>
          <a:stretch/>
        </p:blipFill>
        <p:spPr>
          <a:xfrm>
            <a:off x="-37440" y="6617160"/>
            <a:ext cx="12265920" cy="239760"/>
          </a:xfrm>
          <a:prstGeom prst="rect">
            <a:avLst/>
          </a:prstGeom>
          <a:ln w="0">
            <a:noFill/>
          </a:ln>
        </p:spPr>
      </p:pic>
      <p:sp>
        <p:nvSpPr>
          <p:cNvPr id="100" name="PlaceHolder 1"/>
          <p:cNvSpPr>
            <a:spLocks noGrp="1"/>
          </p:cNvSpPr>
          <p:nvPr>
            <p:ph type="title"/>
          </p:nvPr>
        </p:nvSpPr>
        <p:spPr>
          <a:xfrm>
            <a:off x="4434840" y="-34200"/>
            <a:ext cx="2813760" cy="762480"/>
          </a:xfrm>
          <a:prstGeom prst="rect">
            <a:avLst/>
          </a:prstGeom>
          <a:noFill/>
          <a:ln w="0">
            <a:noFill/>
          </a:ln>
        </p:spPr>
        <p:txBody>
          <a:bodyPr lIns="122040" rIns="122040" tIns="122040" bIns="122040" anchor="t">
            <a:normAutofit fontScale="89999"/>
          </a:bodyPr>
          <a:p>
            <a:pPr indent="0">
              <a:lnSpc>
                <a:spcPct val="100000"/>
              </a:lnSpc>
              <a:buNone/>
              <a:tabLst>
                <a:tab algn="l" pos="0"/>
              </a:tabLst>
            </a:pPr>
            <a:r>
              <a:rPr b="1" lang="en-US" sz="3700" spc="-1" strike="noStrike">
                <a:solidFill>
                  <a:schemeClr val="dk1"/>
                </a:solidFill>
                <a:latin typeface="Times New Roman"/>
                <a:ea typeface="Times New Roman"/>
              </a:rPr>
              <a:t>WORKPLAN</a:t>
            </a:r>
            <a:endParaRPr b="0" lang="en-US" sz="3700" spc="-1" strike="noStrike">
              <a:solidFill>
                <a:srgbClr val="000000"/>
              </a:solidFill>
              <a:latin typeface="Arial"/>
            </a:endParaRPr>
          </a:p>
        </p:txBody>
      </p:sp>
      <p:cxnSp>
        <p:nvCxnSpPr>
          <p:cNvPr id="101" name="Google Shape;170;p24"/>
          <p:cNvCxnSpPr/>
          <p:nvPr/>
        </p:nvCxnSpPr>
        <p:spPr>
          <a:xfrm>
            <a:off x="850320" y="2600640"/>
            <a:ext cx="9734760" cy="1080"/>
          </a:xfrm>
          <a:prstGeom prst="straightConnector1">
            <a:avLst/>
          </a:prstGeom>
          <a:ln w="28575">
            <a:solidFill>
              <a:srgbClr val="000000"/>
            </a:solidFill>
            <a:round/>
          </a:ln>
        </p:spPr>
      </p:cxnSp>
      <p:sp>
        <p:nvSpPr>
          <p:cNvPr id="102" name="Google Shape;171;p24"/>
          <p:cNvSpPr/>
          <p:nvPr/>
        </p:nvSpPr>
        <p:spPr>
          <a:xfrm>
            <a:off x="3253680" y="2524320"/>
            <a:ext cx="201600" cy="151200"/>
          </a:xfrm>
          <a:prstGeom prst="flowChartConnector">
            <a:avLst/>
          </a:prstGeom>
          <a:solidFill>
            <a:schemeClr val="lt2"/>
          </a:solidFill>
          <a:ln w="9525">
            <a:solidFill>
              <a:srgbClr val="000000"/>
            </a:solidFill>
            <a:round/>
          </a:ln>
        </p:spPr>
        <p:style>
          <a:lnRef idx="0"/>
          <a:fillRef idx="0"/>
          <a:effectRef idx="0"/>
          <a:fontRef idx="minor"/>
        </p:style>
        <p:txBody>
          <a:bodyPr lIns="90000" rIns="90000" tIns="53640" bIns="53640" anchor="ctr">
            <a:noAutofit/>
          </a:bodyPr>
          <a:p>
            <a:pPr algn="ctr">
              <a:lnSpc>
                <a:spcPct val="100000"/>
              </a:lnSpc>
              <a:tabLst>
                <a:tab algn="l" pos="0"/>
              </a:tabLst>
            </a:pPr>
            <a:endParaRPr b="0" lang="en-US" sz="1400" spc="-1" strike="noStrike">
              <a:solidFill>
                <a:srgbClr val="000000"/>
              </a:solidFill>
              <a:latin typeface="Arial"/>
            </a:endParaRPr>
          </a:p>
        </p:txBody>
      </p:sp>
      <p:sp>
        <p:nvSpPr>
          <p:cNvPr id="103" name="Google Shape;172;p24"/>
          <p:cNvSpPr/>
          <p:nvPr/>
        </p:nvSpPr>
        <p:spPr>
          <a:xfrm>
            <a:off x="850680" y="2524320"/>
            <a:ext cx="201600" cy="151200"/>
          </a:xfrm>
          <a:prstGeom prst="flowChartConnector">
            <a:avLst/>
          </a:prstGeom>
          <a:solidFill>
            <a:schemeClr val="lt2"/>
          </a:solidFill>
          <a:ln w="9525">
            <a:solidFill>
              <a:srgbClr val="000000"/>
            </a:solidFill>
            <a:round/>
          </a:ln>
        </p:spPr>
        <p:style>
          <a:lnRef idx="0"/>
          <a:fillRef idx="0"/>
          <a:effectRef idx="0"/>
          <a:fontRef idx="minor"/>
        </p:style>
        <p:txBody>
          <a:bodyPr lIns="90000" rIns="90000" tIns="53640" bIns="53640" anchor="ctr">
            <a:noAutofit/>
          </a:bodyPr>
          <a:p>
            <a:pPr algn="ctr">
              <a:lnSpc>
                <a:spcPct val="100000"/>
              </a:lnSpc>
              <a:tabLst>
                <a:tab algn="l" pos="0"/>
              </a:tabLst>
            </a:pPr>
            <a:endParaRPr b="0" lang="en-US" sz="1400" spc="-1" strike="noStrike">
              <a:solidFill>
                <a:srgbClr val="000000"/>
              </a:solidFill>
              <a:latin typeface="Arial"/>
            </a:endParaRPr>
          </a:p>
        </p:txBody>
      </p:sp>
      <p:sp>
        <p:nvSpPr>
          <p:cNvPr id="104" name="Google Shape;173;p24"/>
          <p:cNvSpPr/>
          <p:nvPr/>
        </p:nvSpPr>
        <p:spPr>
          <a:xfrm>
            <a:off x="8218080" y="2524320"/>
            <a:ext cx="201600" cy="151200"/>
          </a:xfrm>
          <a:prstGeom prst="flowChartConnector">
            <a:avLst/>
          </a:prstGeom>
          <a:solidFill>
            <a:schemeClr val="lt2"/>
          </a:solidFill>
          <a:ln w="9525">
            <a:solidFill>
              <a:srgbClr val="000000"/>
            </a:solidFill>
            <a:round/>
          </a:ln>
        </p:spPr>
        <p:style>
          <a:lnRef idx="0"/>
          <a:fillRef idx="0"/>
          <a:effectRef idx="0"/>
          <a:fontRef idx="minor"/>
        </p:style>
        <p:txBody>
          <a:bodyPr lIns="90000" rIns="90000" tIns="53640" bIns="53640" anchor="ctr">
            <a:noAutofit/>
          </a:bodyPr>
          <a:p>
            <a:pPr algn="ctr">
              <a:lnSpc>
                <a:spcPct val="100000"/>
              </a:lnSpc>
              <a:tabLst>
                <a:tab algn="l" pos="0"/>
              </a:tabLst>
            </a:pPr>
            <a:endParaRPr b="0" lang="en-US" sz="1400" spc="-1" strike="noStrike">
              <a:solidFill>
                <a:srgbClr val="000000"/>
              </a:solidFill>
              <a:latin typeface="Arial"/>
            </a:endParaRPr>
          </a:p>
        </p:txBody>
      </p:sp>
      <p:sp>
        <p:nvSpPr>
          <p:cNvPr id="105" name="Google Shape;174;p24"/>
          <p:cNvSpPr/>
          <p:nvPr/>
        </p:nvSpPr>
        <p:spPr>
          <a:xfrm>
            <a:off x="5735880" y="2524320"/>
            <a:ext cx="201600" cy="151200"/>
          </a:xfrm>
          <a:prstGeom prst="flowChartConnector">
            <a:avLst/>
          </a:prstGeom>
          <a:solidFill>
            <a:schemeClr val="lt2"/>
          </a:solidFill>
          <a:ln w="9525">
            <a:solidFill>
              <a:srgbClr val="000000"/>
            </a:solidFill>
            <a:round/>
          </a:ln>
        </p:spPr>
        <p:style>
          <a:lnRef idx="0"/>
          <a:fillRef idx="0"/>
          <a:effectRef idx="0"/>
          <a:fontRef idx="minor"/>
        </p:style>
        <p:txBody>
          <a:bodyPr lIns="90000" rIns="90000" tIns="53640" bIns="53640" anchor="ctr">
            <a:noAutofit/>
          </a:bodyPr>
          <a:p>
            <a:pPr algn="ctr">
              <a:lnSpc>
                <a:spcPct val="100000"/>
              </a:lnSpc>
              <a:tabLst>
                <a:tab algn="l" pos="0"/>
              </a:tabLst>
            </a:pPr>
            <a:endParaRPr b="0" lang="en-US" sz="1400" spc="-1" strike="noStrike">
              <a:solidFill>
                <a:srgbClr val="000000"/>
              </a:solidFill>
              <a:latin typeface="Arial"/>
            </a:endParaRPr>
          </a:p>
        </p:txBody>
      </p:sp>
      <p:sp>
        <p:nvSpPr>
          <p:cNvPr id="106" name="Google Shape;175;p24"/>
          <p:cNvSpPr/>
          <p:nvPr/>
        </p:nvSpPr>
        <p:spPr>
          <a:xfrm>
            <a:off x="10437480" y="2524320"/>
            <a:ext cx="201600" cy="151200"/>
          </a:xfrm>
          <a:prstGeom prst="flowChartConnector">
            <a:avLst/>
          </a:prstGeom>
          <a:solidFill>
            <a:schemeClr val="lt2"/>
          </a:solidFill>
          <a:ln w="9525">
            <a:solidFill>
              <a:srgbClr val="000000"/>
            </a:solidFill>
            <a:round/>
          </a:ln>
        </p:spPr>
        <p:style>
          <a:lnRef idx="0"/>
          <a:fillRef idx="0"/>
          <a:effectRef idx="0"/>
          <a:fontRef idx="minor"/>
        </p:style>
        <p:txBody>
          <a:bodyPr lIns="90000" rIns="90000" tIns="53640" bIns="53640" anchor="ctr">
            <a:noAutofit/>
          </a:bodyPr>
          <a:p>
            <a:pPr algn="ctr">
              <a:lnSpc>
                <a:spcPct val="100000"/>
              </a:lnSpc>
              <a:tabLst>
                <a:tab algn="l" pos="0"/>
              </a:tabLst>
            </a:pPr>
            <a:endParaRPr b="0" lang="en-US" sz="1400" spc="-1" strike="noStrike">
              <a:solidFill>
                <a:srgbClr val="000000"/>
              </a:solidFill>
              <a:latin typeface="Arial"/>
            </a:endParaRPr>
          </a:p>
        </p:txBody>
      </p:sp>
      <p:sp>
        <p:nvSpPr>
          <p:cNvPr id="107" name="Google Shape;176;p24"/>
          <p:cNvSpPr/>
          <p:nvPr/>
        </p:nvSpPr>
        <p:spPr>
          <a:xfrm>
            <a:off x="337320" y="2087640"/>
            <a:ext cx="1578600" cy="2397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700" spc="-1" strike="noStrike">
                <a:solidFill>
                  <a:schemeClr val="dk1"/>
                </a:solidFill>
                <a:latin typeface="Times New Roman"/>
                <a:ea typeface="Times New Roman"/>
              </a:rPr>
              <a:t>IDEATION</a:t>
            </a:r>
            <a:endParaRPr b="0" lang="en-US" sz="1700" spc="-1" strike="noStrike">
              <a:solidFill>
                <a:srgbClr val="000000"/>
              </a:solidFill>
              <a:latin typeface="Arial"/>
            </a:endParaRPr>
          </a:p>
        </p:txBody>
      </p:sp>
      <p:cxnSp>
        <p:nvCxnSpPr>
          <p:cNvPr id="108" name="Google Shape;177;p24"/>
          <p:cNvCxnSpPr>
            <a:stCxn id="102" idx="1"/>
          </p:cNvCxnSpPr>
          <p:nvPr/>
        </p:nvCxnSpPr>
        <p:spPr>
          <a:xfrm>
            <a:off x="3253680" y="2599920"/>
            <a:ext cx="101880" cy="811800"/>
          </a:xfrm>
          <a:prstGeom prst="straightConnector1">
            <a:avLst/>
          </a:prstGeom>
          <a:ln w="19050">
            <a:solidFill>
              <a:srgbClr val="595959"/>
            </a:solidFill>
            <a:round/>
          </a:ln>
        </p:spPr>
      </p:cxnSp>
      <p:cxnSp>
        <p:nvCxnSpPr>
          <p:cNvPr id="109" name="Google Shape;178;p24"/>
          <p:cNvCxnSpPr>
            <a:stCxn id="105" idx="1"/>
          </p:cNvCxnSpPr>
          <p:nvPr/>
        </p:nvCxnSpPr>
        <p:spPr>
          <a:xfrm>
            <a:off x="5735880" y="2599920"/>
            <a:ext cx="101880" cy="811800"/>
          </a:xfrm>
          <a:prstGeom prst="straightConnector1">
            <a:avLst/>
          </a:prstGeom>
          <a:ln w="19050">
            <a:solidFill>
              <a:srgbClr val="595959"/>
            </a:solidFill>
            <a:round/>
          </a:ln>
        </p:spPr>
      </p:cxnSp>
      <p:cxnSp>
        <p:nvCxnSpPr>
          <p:cNvPr id="110" name="Google Shape;179;p24"/>
          <p:cNvCxnSpPr>
            <a:stCxn id="104" idx="1"/>
          </p:cNvCxnSpPr>
          <p:nvPr/>
        </p:nvCxnSpPr>
        <p:spPr>
          <a:xfrm>
            <a:off x="8218080" y="2599920"/>
            <a:ext cx="101880" cy="811800"/>
          </a:xfrm>
          <a:prstGeom prst="straightConnector1">
            <a:avLst/>
          </a:prstGeom>
          <a:ln w="19050">
            <a:solidFill>
              <a:srgbClr val="595959"/>
            </a:solidFill>
            <a:round/>
          </a:ln>
        </p:spPr>
      </p:cxnSp>
      <p:sp>
        <p:nvSpPr>
          <p:cNvPr id="111" name="Google Shape;180;p24"/>
          <p:cNvSpPr/>
          <p:nvPr/>
        </p:nvSpPr>
        <p:spPr>
          <a:xfrm>
            <a:off x="9694440" y="2046240"/>
            <a:ext cx="2158920" cy="322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700" spc="-1" strike="noStrike">
                <a:solidFill>
                  <a:schemeClr val="dk1"/>
                </a:solidFill>
                <a:latin typeface="Times New Roman"/>
                <a:ea typeface="Times New Roman"/>
              </a:rPr>
              <a:t>FINAL REVIEW</a:t>
            </a:r>
            <a:endParaRPr b="0" lang="en-US" sz="1700" spc="-1" strike="noStrike">
              <a:solidFill>
                <a:srgbClr val="000000"/>
              </a:solidFill>
              <a:latin typeface="Arial"/>
            </a:endParaRPr>
          </a:p>
        </p:txBody>
      </p:sp>
      <p:sp>
        <p:nvSpPr>
          <p:cNvPr id="112" name="Google Shape;181;p24"/>
          <p:cNvSpPr/>
          <p:nvPr/>
        </p:nvSpPr>
        <p:spPr>
          <a:xfrm>
            <a:off x="2619000" y="2046240"/>
            <a:ext cx="1780920" cy="322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700" spc="-1" strike="noStrike">
                <a:solidFill>
                  <a:schemeClr val="dk1"/>
                </a:solidFill>
                <a:latin typeface="Times New Roman"/>
                <a:ea typeface="Times New Roman"/>
              </a:rPr>
              <a:t>ZERO REVIEW</a:t>
            </a:r>
            <a:endParaRPr b="0" lang="en-US" sz="1700" spc="-1" strike="noStrike">
              <a:solidFill>
                <a:srgbClr val="000000"/>
              </a:solidFill>
              <a:latin typeface="Arial"/>
            </a:endParaRPr>
          </a:p>
        </p:txBody>
      </p:sp>
      <p:sp>
        <p:nvSpPr>
          <p:cNvPr id="113" name="Google Shape;182;p24"/>
          <p:cNvSpPr/>
          <p:nvPr/>
        </p:nvSpPr>
        <p:spPr>
          <a:xfrm>
            <a:off x="5103000" y="2046240"/>
            <a:ext cx="1996920" cy="3229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700" spc="-1" strike="noStrike">
                <a:solidFill>
                  <a:schemeClr val="dk1"/>
                </a:solidFill>
                <a:latin typeface="Times New Roman"/>
                <a:ea typeface="Times New Roman"/>
              </a:rPr>
              <a:t>1ST REVIEW</a:t>
            </a:r>
            <a:endParaRPr b="0" lang="en-US" sz="1700" spc="-1" strike="noStrike">
              <a:solidFill>
                <a:srgbClr val="000000"/>
              </a:solidFill>
              <a:latin typeface="Arial"/>
            </a:endParaRPr>
          </a:p>
        </p:txBody>
      </p:sp>
      <p:sp>
        <p:nvSpPr>
          <p:cNvPr id="114" name="Google Shape;183;p24"/>
          <p:cNvSpPr/>
          <p:nvPr/>
        </p:nvSpPr>
        <p:spPr>
          <a:xfrm>
            <a:off x="7600680" y="2046240"/>
            <a:ext cx="1780920" cy="2397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1700" spc="-1" strike="noStrike">
                <a:solidFill>
                  <a:schemeClr val="dk1"/>
                </a:solidFill>
                <a:latin typeface="Times New Roman"/>
                <a:ea typeface="Times New Roman"/>
              </a:rPr>
              <a:t>2ND REVIEW</a:t>
            </a:r>
            <a:endParaRPr b="0" lang="en-US" sz="1700" spc="-1" strike="noStrike">
              <a:solidFill>
                <a:srgbClr val="000000"/>
              </a:solidFill>
              <a:latin typeface="Arial"/>
            </a:endParaRPr>
          </a:p>
        </p:txBody>
      </p:sp>
      <p:sp>
        <p:nvSpPr>
          <p:cNvPr id="115" name="Google Shape;184;p24"/>
          <p:cNvSpPr/>
          <p:nvPr/>
        </p:nvSpPr>
        <p:spPr>
          <a:xfrm>
            <a:off x="1291320" y="3403440"/>
            <a:ext cx="3108600" cy="1792800"/>
          </a:xfrm>
          <a:prstGeom prst="rect">
            <a:avLst/>
          </a:prstGeom>
          <a:noFill/>
          <a:ln w="0">
            <a:noFill/>
          </a:ln>
        </p:spPr>
        <p:style>
          <a:lnRef idx="0"/>
          <a:fillRef idx="0"/>
          <a:effectRef idx="0"/>
          <a:fontRef idx="minor"/>
        </p:style>
        <p:txBody>
          <a:bodyPr lIns="90000" rIns="90000" tIns="91440" bIns="91440" anchor="t">
            <a:noAutofit/>
          </a:bodyPr>
          <a:p>
            <a:pPr marL="457200" indent="-343080">
              <a:lnSpc>
                <a:spcPct val="100000"/>
              </a:lnSpc>
              <a:buClr>
                <a:srgbClr val="000000"/>
              </a:buClr>
              <a:buFont typeface="Times New Roman"/>
              <a:buAutoNum type="arabicPeriod"/>
            </a:pPr>
            <a:r>
              <a:rPr b="0" lang="en-US" sz="1800" spc="-1" strike="noStrike">
                <a:solidFill>
                  <a:schemeClr val="dk1"/>
                </a:solidFill>
                <a:latin typeface="Times New Roman"/>
                <a:ea typeface="Times New Roman"/>
              </a:rPr>
              <a:t>Understanding the approach towards the problem  </a:t>
            </a:r>
            <a:endParaRPr b="0" lang="en-US" sz="1800" spc="-1" strike="noStrike">
              <a:solidFill>
                <a:srgbClr val="000000"/>
              </a:solidFill>
              <a:latin typeface="Arial"/>
            </a:endParaRPr>
          </a:p>
          <a:p>
            <a:pPr marL="457200" indent="-343080">
              <a:lnSpc>
                <a:spcPct val="100000"/>
              </a:lnSpc>
              <a:buClr>
                <a:srgbClr val="000000"/>
              </a:buClr>
              <a:buFont typeface="Times New Roman"/>
              <a:buAutoNum type="arabicPeriod"/>
            </a:pPr>
            <a:r>
              <a:rPr b="0" lang="en-US" sz="1800" spc="-1" strike="noStrike">
                <a:solidFill>
                  <a:schemeClr val="dk1"/>
                </a:solidFill>
                <a:latin typeface="Times New Roman"/>
                <a:ea typeface="Times New Roman"/>
              </a:rPr>
              <a:t>Literature review and a implementable roadmap</a:t>
            </a:r>
            <a:endParaRPr b="0" lang="en-US" sz="1800" spc="-1" strike="noStrike">
              <a:solidFill>
                <a:srgbClr val="000000"/>
              </a:solidFill>
              <a:latin typeface="Arial"/>
            </a:endParaRPr>
          </a:p>
        </p:txBody>
      </p:sp>
      <p:sp>
        <p:nvSpPr>
          <p:cNvPr id="116" name="Google Shape;185;p24"/>
          <p:cNvSpPr/>
          <p:nvPr/>
        </p:nvSpPr>
        <p:spPr>
          <a:xfrm>
            <a:off x="4399560" y="3427200"/>
            <a:ext cx="3108600" cy="1636560"/>
          </a:xfrm>
          <a:prstGeom prst="rect">
            <a:avLst/>
          </a:prstGeom>
          <a:noFill/>
          <a:ln w="0">
            <a:noFill/>
          </a:ln>
        </p:spPr>
        <p:style>
          <a:lnRef idx="0"/>
          <a:fillRef idx="0"/>
          <a:effectRef idx="0"/>
          <a:fontRef idx="minor"/>
        </p:style>
        <p:txBody>
          <a:bodyPr lIns="90000" rIns="90000" tIns="91440" bIns="91440" anchor="t">
            <a:noAutofit/>
          </a:bodyPr>
          <a:p>
            <a:pPr marL="457200" indent="-343080">
              <a:lnSpc>
                <a:spcPct val="100000"/>
              </a:lnSpc>
              <a:buClr>
                <a:srgbClr val="000000"/>
              </a:buClr>
              <a:buFont typeface="Times New Roman"/>
              <a:buAutoNum type="arabicPeriod"/>
            </a:pPr>
            <a:r>
              <a:rPr b="0" lang="en-US" sz="1800" spc="-1" strike="noStrike">
                <a:solidFill>
                  <a:schemeClr val="dk1"/>
                </a:solidFill>
                <a:latin typeface="Times New Roman"/>
                <a:ea typeface="Times New Roman"/>
              </a:rPr>
              <a:t>Partial implementation of modules sequentially as described in the proposed model</a:t>
            </a:r>
            <a:endParaRPr b="0" lang="en-US" sz="1800" spc="-1" strike="noStrike">
              <a:solidFill>
                <a:srgbClr val="000000"/>
              </a:solidFill>
              <a:latin typeface="Arial"/>
            </a:endParaRPr>
          </a:p>
        </p:txBody>
      </p:sp>
      <p:sp>
        <p:nvSpPr>
          <p:cNvPr id="117" name="Google Shape;186;p24"/>
          <p:cNvSpPr/>
          <p:nvPr/>
        </p:nvSpPr>
        <p:spPr>
          <a:xfrm>
            <a:off x="7509600" y="3474000"/>
            <a:ext cx="2625480" cy="1344600"/>
          </a:xfrm>
          <a:prstGeom prst="rect">
            <a:avLst/>
          </a:prstGeom>
          <a:noFill/>
          <a:ln w="0">
            <a:noFill/>
          </a:ln>
        </p:spPr>
        <p:style>
          <a:lnRef idx="0"/>
          <a:fillRef idx="0"/>
          <a:effectRef idx="0"/>
          <a:fontRef idx="minor"/>
        </p:style>
        <p:txBody>
          <a:bodyPr lIns="90000" rIns="90000" tIns="91440" bIns="91440" anchor="t">
            <a:noAutofit/>
          </a:bodyPr>
          <a:p>
            <a:pPr marL="457200" indent="-343080">
              <a:lnSpc>
                <a:spcPct val="100000"/>
              </a:lnSpc>
              <a:buClr>
                <a:srgbClr val="000000"/>
              </a:buClr>
              <a:buFont typeface="Times New Roman"/>
              <a:buAutoNum type="arabicPeriod"/>
            </a:pPr>
            <a:r>
              <a:rPr b="0" lang="en-US" sz="1800" spc="-1" strike="noStrike">
                <a:solidFill>
                  <a:schemeClr val="dk1"/>
                </a:solidFill>
                <a:latin typeface="Times New Roman"/>
                <a:ea typeface="Times New Roman"/>
              </a:rPr>
              <a:t>Implementation of the remaining modules and integrating with flask for the prepared models with web frontend </a:t>
            </a:r>
            <a:endParaRPr b="0" lang="en-US" sz="1800" spc="-1" strike="noStrike">
              <a:solidFill>
                <a:srgbClr val="000000"/>
              </a:solidFill>
              <a:latin typeface="Arial"/>
            </a:endParaRPr>
          </a:p>
        </p:txBody>
      </p:sp>
      <p:pic>
        <p:nvPicPr>
          <p:cNvPr id="118" name="Google Shape;104;p 11"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Google Shape;191;p25" descr=""/>
          <p:cNvPicPr/>
          <p:nvPr/>
        </p:nvPicPr>
        <p:blipFill>
          <a:blip r:embed="rId1"/>
          <a:stretch/>
        </p:blipFill>
        <p:spPr>
          <a:xfrm>
            <a:off x="-37440" y="772200"/>
            <a:ext cx="12265920" cy="151200"/>
          </a:xfrm>
          <a:prstGeom prst="rect">
            <a:avLst/>
          </a:prstGeom>
          <a:ln w="0">
            <a:noFill/>
          </a:ln>
        </p:spPr>
      </p:pic>
      <p:pic>
        <p:nvPicPr>
          <p:cNvPr id="120" name="Google Shape;192;p25" descr=""/>
          <p:cNvPicPr/>
          <p:nvPr/>
        </p:nvPicPr>
        <p:blipFill>
          <a:blip r:embed="rId2"/>
          <a:stretch/>
        </p:blipFill>
        <p:spPr>
          <a:xfrm>
            <a:off x="-37440" y="6617160"/>
            <a:ext cx="12265920" cy="239760"/>
          </a:xfrm>
          <a:prstGeom prst="rect">
            <a:avLst/>
          </a:prstGeom>
          <a:ln w="0">
            <a:noFill/>
          </a:ln>
        </p:spPr>
      </p:pic>
      <p:pic>
        <p:nvPicPr>
          <p:cNvPr id="121" name="Google Shape;194;p25" descr=""/>
          <p:cNvPicPr/>
          <p:nvPr/>
        </p:nvPicPr>
        <p:blipFill>
          <a:blip r:embed="rId3"/>
          <a:stretch/>
        </p:blipFill>
        <p:spPr>
          <a:xfrm>
            <a:off x="1282320" y="1105920"/>
            <a:ext cx="9275760" cy="5308200"/>
          </a:xfrm>
          <a:prstGeom prst="rect">
            <a:avLst/>
          </a:prstGeom>
          <a:ln w="0">
            <a:noFill/>
          </a:ln>
        </p:spPr>
      </p:pic>
      <p:pic>
        <p:nvPicPr>
          <p:cNvPr id="122" name="Google Shape;104;p 12" descr=""/>
          <p:cNvPicPr/>
          <p:nvPr/>
        </p:nvPicPr>
        <p:blipFill>
          <a:blip r:embed="rId4"/>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Google Shape;199;p26" descr=""/>
          <p:cNvPicPr/>
          <p:nvPr/>
        </p:nvPicPr>
        <p:blipFill>
          <a:blip r:embed="rId1"/>
          <a:stretch/>
        </p:blipFill>
        <p:spPr>
          <a:xfrm>
            <a:off x="-37440" y="772200"/>
            <a:ext cx="12265920" cy="151200"/>
          </a:xfrm>
          <a:prstGeom prst="rect">
            <a:avLst/>
          </a:prstGeom>
          <a:ln w="0">
            <a:noFill/>
          </a:ln>
        </p:spPr>
      </p:pic>
      <p:pic>
        <p:nvPicPr>
          <p:cNvPr id="124" name="Google Shape;200;p26" descr=""/>
          <p:cNvPicPr/>
          <p:nvPr/>
        </p:nvPicPr>
        <p:blipFill>
          <a:blip r:embed="rId2"/>
          <a:stretch/>
        </p:blipFill>
        <p:spPr>
          <a:xfrm>
            <a:off x="-37440" y="6617160"/>
            <a:ext cx="12265920" cy="239760"/>
          </a:xfrm>
          <a:prstGeom prst="rect">
            <a:avLst/>
          </a:prstGeom>
          <a:ln w="0">
            <a:noFill/>
          </a:ln>
        </p:spPr>
      </p:pic>
      <p:sp>
        <p:nvSpPr>
          <p:cNvPr id="125" name="Google Shape;202;p26"/>
          <p:cNvSpPr/>
          <p:nvPr/>
        </p:nvSpPr>
        <p:spPr>
          <a:xfrm>
            <a:off x="237960" y="1321560"/>
            <a:ext cx="11311920" cy="512280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126" name="Google Shape;203;p26"/>
          <p:cNvSpPr/>
          <p:nvPr/>
        </p:nvSpPr>
        <p:spPr>
          <a:xfrm>
            <a:off x="1428120" y="81360"/>
            <a:ext cx="7796520" cy="5313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3000" spc="-1" strike="noStrike">
                <a:solidFill>
                  <a:schemeClr val="dk1"/>
                </a:solidFill>
                <a:latin typeface="Times New Roman"/>
                <a:ea typeface="Times New Roman"/>
              </a:rPr>
              <a:t>DATA PREPROCESSING</a:t>
            </a:r>
            <a:endParaRPr b="0" lang="en-US" sz="3000" spc="-1" strike="noStrike">
              <a:solidFill>
                <a:srgbClr val="000000"/>
              </a:solidFill>
              <a:latin typeface="Arial"/>
            </a:endParaRPr>
          </a:p>
        </p:txBody>
      </p:sp>
      <p:sp>
        <p:nvSpPr>
          <p:cNvPr id="127" name="Google Shape;204;p26"/>
          <p:cNvSpPr/>
          <p:nvPr/>
        </p:nvSpPr>
        <p:spPr>
          <a:xfrm>
            <a:off x="385200" y="1196280"/>
            <a:ext cx="11406960" cy="387792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Preprocessing refers to the steps taken to clean, transform, and prepare raw data before feeding it into a machine learning model.</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chemeClr val="dk1"/>
                </a:solidFill>
                <a:latin typeface="Times New Roman"/>
                <a:ea typeface="Times New Roman"/>
              </a:rPr>
              <a:t>Preprocessing is important because,</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p:txBody>
      </p:sp>
      <p:sp>
        <p:nvSpPr>
          <p:cNvPr id="128" name="Google Shape;205;p26"/>
          <p:cNvSpPr/>
          <p:nvPr/>
        </p:nvSpPr>
        <p:spPr>
          <a:xfrm>
            <a:off x="3162240" y="2796480"/>
            <a:ext cx="6610320" cy="19476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It Improves Data Quality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It Enhances Model Performance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It Reduces Computational Complexity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It Ensures Compatibility</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It Handles Missing Data</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p:txBody>
      </p:sp>
      <p:sp>
        <p:nvSpPr>
          <p:cNvPr id="129" name="Google Shape;206;p26"/>
          <p:cNvSpPr/>
          <p:nvPr/>
        </p:nvSpPr>
        <p:spPr>
          <a:xfrm flipH="1">
            <a:off x="3528360" y="2977200"/>
            <a:ext cx="256680" cy="324000"/>
          </a:xfrm>
          <a:prstGeom prst="ellipse">
            <a:avLst/>
          </a:prstGeom>
          <a:solidFill>
            <a:schemeClr val="lt1"/>
          </a:solidFill>
          <a:ln w="9525">
            <a:solidFill>
              <a:srgbClr val="ffffff"/>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pic>
        <p:nvPicPr>
          <p:cNvPr id="130" name="Google Shape;104;p 13"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Google Shape;211;p27" descr=""/>
          <p:cNvPicPr/>
          <p:nvPr/>
        </p:nvPicPr>
        <p:blipFill>
          <a:blip r:embed="rId1"/>
          <a:stretch/>
        </p:blipFill>
        <p:spPr>
          <a:xfrm>
            <a:off x="-37440" y="772200"/>
            <a:ext cx="12265920" cy="151200"/>
          </a:xfrm>
          <a:prstGeom prst="rect">
            <a:avLst/>
          </a:prstGeom>
          <a:ln w="0">
            <a:noFill/>
          </a:ln>
        </p:spPr>
      </p:pic>
      <p:pic>
        <p:nvPicPr>
          <p:cNvPr id="132" name="Google Shape;212;p27" descr=""/>
          <p:cNvPicPr/>
          <p:nvPr/>
        </p:nvPicPr>
        <p:blipFill>
          <a:blip r:embed="rId2"/>
          <a:stretch/>
        </p:blipFill>
        <p:spPr>
          <a:xfrm>
            <a:off x="-37440" y="6617160"/>
            <a:ext cx="12265920" cy="239760"/>
          </a:xfrm>
          <a:prstGeom prst="rect">
            <a:avLst/>
          </a:prstGeom>
          <a:ln w="0">
            <a:noFill/>
          </a:ln>
        </p:spPr>
      </p:pic>
      <p:sp>
        <p:nvSpPr>
          <p:cNvPr id="133" name="Google Shape;214;p27"/>
          <p:cNvSpPr/>
          <p:nvPr/>
        </p:nvSpPr>
        <p:spPr>
          <a:xfrm>
            <a:off x="-241200" y="893880"/>
            <a:ext cx="12266280" cy="555084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r>
              <a:rPr b="0" lang="en-US" sz="2400" spc="-1" strike="noStrike">
                <a:solidFill>
                  <a:schemeClr val="dk1"/>
                </a:solidFill>
                <a:latin typeface="Times New Roman"/>
                <a:ea typeface="Times New Roman"/>
              </a:rPr>
              <a:t>Pre-processing steps consists of:</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grpSp>
        <p:nvGrpSpPr>
          <p:cNvPr id="134" name="Google Shape;215;p27"/>
          <p:cNvGrpSpPr/>
          <p:nvPr/>
        </p:nvGrpSpPr>
        <p:grpSpPr>
          <a:xfrm>
            <a:off x="8101440" y="3890160"/>
            <a:ext cx="3924000" cy="1845000"/>
            <a:chOff x="8101440" y="3890160"/>
            <a:chExt cx="3924000" cy="1845000"/>
          </a:xfrm>
        </p:grpSpPr>
        <p:cxnSp>
          <p:nvCxnSpPr>
            <p:cNvPr id="135" name="Google Shape;216;p27"/>
            <p:cNvCxnSpPr/>
            <p:nvPr/>
          </p:nvCxnSpPr>
          <p:spPr>
            <a:xfrm>
              <a:off x="8101440" y="4841640"/>
              <a:ext cx="776880" cy="1080"/>
            </a:xfrm>
            <a:prstGeom prst="straightConnector1">
              <a:avLst/>
            </a:prstGeom>
            <a:ln w="9525">
              <a:solidFill>
                <a:srgbClr val="c2c2c2"/>
              </a:solidFill>
              <a:round/>
            </a:ln>
          </p:spPr>
        </p:cxnSp>
        <p:sp>
          <p:nvSpPr>
            <p:cNvPr id="136" name="Google Shape;217;p27"/>
            <p:cNvSpPr/>
            <p:nvPr/>
          </p:nvSpPr>
          <p:spPr>
            <a:xfrm>
              <a:off x="8904960" y="3890160"/>
              <a:ext cx="3120480" cy="1845000"/>
            </a:xfrm>
            <a:prstGeom prst="rect">
              <a:avLst/>
            </a:prstGeom>
            <a:noFill/>
            <a:ln w="0">
              <a:noFill/>
            </a:ln>
          </p:spPr>
          <p:style>
            <a:lnRef idx="0"/>
            <a:fillRef idx="0"/>
            <a:effectRef idx="0"/>
            <a:fontRef idx="minor"/>
          </p:style>
          <p:txBody>
            <a:bodyPr lIns="122040" rIns="122040" tIns="122040" bIns="122040" anchor="ctr">
              <a:noAutofit/>
            </a:bodyPr>
            <a:p>
              <a:pPr>
                <a:lnSpc>
                  <a:spcPct val="100000"/>
                </a:lnSpc>
                <a:tabLst>
                  <a:tab algn="l" pos="0"/>
                </a:tabLst>
              </a:pPr>
              <a:r>
                <a:rPr b="1" lang="en-US" sz="2400" spc="-1" strike="noStrike">
                  <a:solidFill>
                    <a:srgbClr val="000000"/>
                  </a:solidFill>
                  <a:latin typeface="Times New Roman"/>
                  <a:ea typeface="Times New Roman"/>
                </a:rPr>
                <a:t>Data Reduction</a:t>
              </a:r>
              <a:endParaRPr b="0" lang="en-US" sz="2400" spc="-1" strike="noStrike">
                <a:solidFill>
                  <a:srgbClr val="000000"/>
                </a:solidFill>
                <a:latin typeface="Arial"/>
              </a:endParaRPr>
            </a:p>
            <a:p>
              <a:pPr>
                <a:lnSpc>
                  <a:spcPct val="100000"/>
                </a:lnSpc>
                <a:tabLst>
                  <a:tab algn="l" pos="0"/>
                </a:tabLst>
              </a:pPr>
              <a:endParaRPr b="0" lang="en-US" sz="20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Dimensionality reduction</a:t>
              </a:r>
              <a:endParaRPr b="0" lang="en-US" sz="2000" spc="-1" strike="noStrike">
                <a:solidFill>
                  <a:srgbClr val="000000"/>
                </a:solidFill>
                <a:latin typeface="Arial"/>
              </a:endParaRPr>
            </a:p>
          </p:txBody>
        </p:sp>
        <p:sp>
          <p:nvSpPr>
            <p:cNvPr id="137" name="Google Shape;218;p27"/>
            <p:cNvSpPr/>
            <p:nvPr/>
          </p:nvSpPr>
          <p:spPr>
            <a:xfrm>
              <a:off x="8616240" y="4708080"/>
              <a:ext cx="263880" cy="263160"/>
            </a:xfrm>
            <a:prstGeom prst="ellipse">
              <a:avLst/>
            </a:prstGeom>
            <a:solidFill>
              <a:srgbClr val="9325a5"/>
            </a:solidFill>
            <a:ln w="0">
              <a:noFill/>
            </a:ln>
          </p:spPr>
          <p:style>
            <a:lnRef idx="0"/>
            <a:fillRef idx="0"/>
            <a:effectRef idx="0"/>
            <a:fontRef idx="minor"/>
          </p:style>
          <p:txBody>
            <a:bodyPr lIns="122040" rIns="122040" tIns="92880" bIns="92880" anchor="ctr">
              <a:noAutofit/>
            </a:bodyPr>
            <a:p>
              <a:pPr>
                <a:lnSpc>
                  <a:spcPct val="100000"/>
                </a:lnSpc>
                <a:tabLst>
                  <a:tab algn="l" pos="0"/>
                </a:tabLst>
              </a:pPr>
              <a:endParaRPr b="0" lang="en-US" sz="1400" spc="-1" strike="noStrike">
                <a:solidFill>
                  <a:srgbClr val="ffffff"/>
                </a:solidFill>
                <a:latin typeface="Arial"/>
              </a:endParaRPr>
            </a:p>
          </p:txBody>
        </p:sp>
        <p:sp>
          <p:nvSpPr>
            <p:cNvPr id="138" name="Google Shape;219;p27"/>
            <p:cNvSpPr/>
            <p:nvPr/>
          </p:nvSpPr>
          <p:spPr>
            <a:xfrm>
              <a:off x="8582760" y="4633200"/>
              <a:ext cx="329040" cy="416160"/>
            </a:xfrm>
            <a:prstGeom prst="rect">
              <a:avLst/>
            </a:prstGeom>
            <a:noFill/>
            <a:ln w="0">
              <a:noFill/>
            </a:ln>
          </p:spPr>
          <p:style>
            <a:lnRef idx="0"/>
            <a:fillRef idx="0"/>
            <a:effectRef idx="0"/>
            <a:fontRef idx="minor"/>
          </p:style>
          <p:txBody>
            <a:bodyPr lIns="122040" rIns="122040" tIns="122040" bIns="122040" anchor="t">
              <a:noAutofit/>
            </a:bodyPr>
            <a:p>
              <a:pPr algn="ctr">
                <a:lnSpc>
                  <a:spcPct val="100000"/>
                </a:lnSpc>
                <a:spcAft>
                  <a:spcPts val="2100"/>
                </a:spcAft>
                <a:tabLst>
                  <a:tab algn="l" pos="0"/>
                </a:tabLst>
              </a:pPr>
              <a:r>
                <a:rPr b="0" lang="en-US" sz="1100" spc="-1" strike="noStrike">
                  <a:solidFill>
                    <a:srgbClr val="ffffff"/>
                  </a:solidFill>
                  <a:latin typeface="Roboto"/>
                  <a:ea typeface="Roboto"/>
                </a:rPr>
                <a:t>3</a:t>
              </a:r>
              <a:endParaRPr b="0" lang="en-US" sz="1100" spc="-1" strike="noStrike">
                <a:solidFill>
                  <a:srgbClr val="000000"/>
                </a:solidFill>
                <a:latin typeface="Arial"/>
              </a:endParaRPr>
            </a:p>
          </p:txBody>
        </p:sp>
      </p:grpSp>
      <p:grpSp>
        <p:nvGrpSpPr>
          <p:cNvPr id="139" name="Google Shape;220;p27"/>
          <p:cNvGrpSpPr/>
          <p:nvPr/>
        </p:nvGrpSpPr>
        <p:grpSpPr>
          <a:xfrm>
            <a:off x="0" y="3092760"/>
            <a:ext cx="5004000" cy="1513440"/>
            <a:chOff x="0" y="3092760"/>
            <a:chExt cx="5004000" cy="1513440"/>
          </a:xfrm>
        </p:grpSpPr>
        <p:sp>
          <p:nvSpPr>
            <p:cNvPr id="140" name="Google Shape;221;p27"/>
            <p:cNvSpPr/>
            <p:nvPr/>
          </p:nvSpPr>
          <p:spPr>
            <a:xfrm>
              <a:off x="0" y="3092760"/>
              <a:ext cx="3584520" cy="1513440"/>
            </a:xfrm>
            <a:prstGeom prst="rect">
              <a:avLst/>
            </a:prstGeom>
            <a:noFill/>
            <a:ln w="0">
              <a:noFill/>
            </a:ln>
          </p:spPr>
          <p:style>
            <a:lnRef idx="0"/>
            <a:fillRef idx="0"/>
            <a:effectRef idx="0"/>
            <a:fontRef idx="minor"/>
          </p:style>
          <p:txBody>
            <a:bodyPr lIns="122040" rIns="122040" tIns="122040" bIns="122040" anchor="ctr">
              <a:noAutofit/>
            </a:bodyPr>
            <a:p>
              <a:pPr>
                <a:lnSpc>
                  <a:spcPct val="100000"/>
                </a:lnSpc>
                <a:tabLst>
                  <a:tab algn="l" pos="0"/>
                </a:tabLst>
              </a:pPr>
              <a:r>
                <a:rPr b="1" lang="en-US" sz="2400" spc="-1" strike="noStrike">
                  <a:solidFill>
                    <a:srgbClr val="000000"/>
                  </a:solidFill>
                  <a:latin typeface="Times New Roman"/>
                  <a:ea typeface="Times New Roman"/>
                </a:rPr>
                <a:t>Data Transformation</a:t>
              </a:r>
              <a:endParaRPr b="0" lang="en-US" sz="2400" spc="-1" strike="noStrike">
                <a:solidFill>
                  <a:srgbClr val="000000"/>
                </a:solidFill>
                <a:latin typeface="Arial"/>
              </a:endParaRPr>
            </a:p>
            <a:p>
              <a:pPr algn="r">
                <a:lnSpc>
                  <a:spcPct val="100000"/>
                </a:lnSpc>
                <a:tabLst>
                  <a:tab algn="l" pos="0"/>
                </a:tabLst>
              </a:pPr>
              <a:endParaRPr b="0" lang="en-US" sz="16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Normalization</a:t>
              </a:r>
              <a:endParaRPr b="0" lang="en-US" sz="20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Standardization</a:t>
              </a:r>
              <a:endParaRPr b="0" lang="en-US" sz="20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Encoding categorical variables</a:t>
              </a:r>
              <a:endParaRPr b="0" lang="en-US" sz="2000" spc="-1" strike="noStrike">
                <a:solidFill>
                  <a:srgbClr val="000000"/>
                </a:solidFill>
                <a:latin typeface="Arial"/>
              </a:endParaRPr>
            </a:p>
          </p:txBody>
        </p:sp>
        <p:cxnSp>
          <p:nvCxnSpPr>
            <p:cNvPr id="141" name="Google Shape;222;p27"/>
            <p:cNvCxnSpPr/>
            <p:nvPr/>
          </p:nvCxnSpPr>
          <p:spPr>
            <a:xfrm flipH="1">
              <a:off x="3611880" y="3875400"/>
              <a:ext cx="1392480" cy="1080"/>
            </a:xfrm>
            <a:prstGeom prst="straightConnector1">
              <a:avLst/>
            </a:prstGeom>
            <a:ln w="9525">
              <a:solidFill>
                <a:srgbClr val="c2c2c2"/>
              </a:solidFill>
              <a:round/>
            </a:ln>
          </p:spPr>
        </p:cxnSp>
        <p:sp>
          <p:nvSpPr>
            <p:cNvPr id="142" name="Google Shape;223;p27"/>
            <p:cNvSpPr/>
            <p:nvPr/>
          </p:nvSpPr>
          <p:spPr>
            <a:xfrm>
              <a:off x="3611880" y="3875760"/>
              <a:ext cx="263880" cy="263160"/>
            </a:xfrm>
            <a:prstGeom prst="ellipse">
              <a:avLst/>
            </a:prstGeom>
            <a:solidFill>
              <a:srgbClr val="771e86"/>
            </a:solidFill>
            <a:ln w="0">
              <a:noFill/>
            </a:ln>
          </p:spPr>
          <p:style>
            <a:lnRef idx="0"/>
            <a:fillRef idx="0"/>
            <a:effectRef idx="0"/>
            <a:fontRef idx="minor"/>
          </p:style>
          <p:txBody>
            <a:bodyPr lIns="122040" rIns="122040" tIns="92880" bIns="92880" anchor="ctr">
              <a:noAutofit/>
            </a:bodyPr>
            <a:p>
              <a:pPr>
                <a:lnSpc>
                  <a:spcPct val="100000"/>
                </a:lnSpc>
                <a:tabLst>
                  <a:tab algn="l" pos="0"/>
                </a:tabLst>
              </a:pPr>
              <a:endParaRPr b="0" lang="en-US" sz="1400" spc="-1" strike="noStrike">
                <a:solidFill>
                  <a:srgbClr val="ffffff"/>
                </a:solidFill>
                <a:latin typeface="Arial"/>
              </a:endParaRPr>
            </a:p>
          </p:txBody>
        </p:sp>
        <p:sp>
          <p:nvSpPr>
            <p:cNvPr id="143" name="Google Shape;224;p27"/>
            <p:cNvSpPr/>
            <p:nvPr/>
          </p:nvSpPr>
          <p:spPr>
            <a:xfrm>
              <a:off x="3578760" y="3810960"/>
              <a:ext cx="329040" cy="327600"/>
            </a:xfrm>
            <a:prstGeom prst="rect">
              <a:avLst/>
            </a:prstGeom>
            <a:noFill/>
            <a:ln w="0">
              <a:noFill/>
            </a:ln>
          </p:spPr>
          <p:style>
            <a:lnRef idx="0"/>
            <a:fillRef idx="0"/>
            <a:effectRef idx="0"/>
            <a:fontRef idx="minor"/>
          </p:style>
          <p:txBody>
            <a:bodyPr lIns="122040" rIns="122040" tIns="122040" bIns="122040" anchor="t">
              <a:noAutofit/>
            </a:bodyPr>
            <a:p>
              <a:pPr algn="ctr">
                <a:lnSpc>
                  <a:spcPct val="100000"/>
                </a:lnSpc>
                <a:spcAft>
                  <a:spcPts val="2100"/>
                </a:spcAft>
                <a:tabLst>
                  <a:tab algn="l" pos="0"/>
                </a:tabLst>
              </a:pPr>
              <a:r>
                <a:rPr b="0" lang="en-US" sz="1100" spc="-1" strike="noStrike">
                  <a:solidFill>
                    <a:srgbClr val="ffffff"/>
                  </a:solidFill>
                  <a:latin typeface="Roboto"/>
                  <a:ea typeface="Roboto"/>
                </a:rPr>
                <a:t>2</a:t>
              </a:r>
              <a:endParaRPr b="0" lang="en-US" sz="1100" spc="-1" strike="noStrike">
                <a:solidFill>
                  <a:srgbClr val="000000"/>
                </a:solidFill>
                <a:latin typeface="Arial"/>
              </a:endParaRPr>
            </a:p>
          </p:txBody>
        </p:sp>
      </p:grpSp>
      <p:grpSp>
        <p:nvGrpSpPr>
          <p:cNvPr id="144" name="Google Shape;225;p27"/>
          <p:cNvGrpSpPr/>
          <p:nvPr/>
        </p:nvGrpSpPr>
        <p:grpSpPr>
          <a:xfrm>
            <a:off x="6398280" y="1562760"/>
            <a:ext cx="5792760" cy="1845000"/>
            <a:chOff x="6398280" y="1562760"/>
            <a:chExt cx="5792760" cy="1845000"/>
          </a:xfrm>
        </p:grpSpPr>
        <p:cxnSp>
          <p:nvCxnSpPr>
            <p:cNvPr id="145" name="Google Shape;226;p27"/>
            <p:cNvCxnSpPr/>
            <p:nvPr/>
          </p:nvCxnSpPr>
          <p:spPr>
            <a:xfrm>
              <a:off x="6398280" y="2500200"/>
              <a:ext cx="2287800" cy="1080"/>
            </a:xfrm>
            <a:prstGeom prst="straightConnector1">
              <a:avLst/>
            </a:prstGeom>
            <a:ln w="9525">
              <a:solidFill>
                <a:srgbClr val="c2c2c2"/>
              </a:solidFill>
              <a:round/>
            </a:ln>
          </p:spPr>
        </p:cxnSp>
        <p:sp>
          <p:nvSpPr>
            <p:cNvPr id="146" name="Google Shape;227;p27"/>
            <p:cNvSpPr/>
            <p:nvPr/>
          </p:nvSpPr>
          <p:spPr>
            <a:xfrm>
              <a:off x="8708040" y="1562760"/>
              <a:ext cx="3483000" cy="1845000"/>
            </a:xfrm>
            <a:prstGeom prst="rect">
              <a:avLst/>
            </a:prstGeom>
            <a:noFill/>
            <a:ln w="0">
              <a:noFill/>
            </a:ln>
          </p:spPr>
          <p:style>
            <a:lnRef idx="0"/>
            <a:fillRef idx="0"/>
            <a:effectRef idx="0"/>
            <a:fontRef idx="minor"/>
          </p:style>
          <p:txBody>
            <a:bodyPr lIns="122040" rIns="122040" tIns="122040" bIns="122040" anchor="ctr">
              <a:noAutofit/>
            </a:bodyPr>
            <a:p>
              <a:pPr>
                <a:lnSpc>
                  <a:spcPct val="100000"/>
                </a:lnSpc>
                <a:tabLst>
                  <a:tab algn="l" pos="0"/>
                </a:tabLst>
              </a:pPr>
              <a:r>
                <a:rPr b="1" lang="en-US" sz="2400" spc="-1" strike="noStrike">
                  <a:solidFill>
                    <a:srgbClr val="000000"/>
                  </a:solidFill>
                  <a:latin typeface="Times New Roman"/>
                  <a:ea typeface="Times New Roman"/>
                </a:rPr>
                <a:t>Data Cleaning</a:t>
              </a:r>
              <a:endParaRPr b="0" lang="en-US" sz="2400" spc="-1" strike="noStrike">
                <a:solidFill>
                  <a:srgbClr val="000000"/>
                </a:solidFill>
                <a:latin typeface="Arial"/>
              </a:endParaRPr>
            </a:p>
            <a:p>
              <a:pPr>
                <a:lnSpc>
                  <a:spcPct val="100000"/>
                </a:lnSpc>
                <a:tabLst>
                  <a:tab algn="l" pos="0"/>
                </a:tabLst>
              </a:pPr>
              <a:endParaRPr b="0" lang="en-US" sz="16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Removing duplicates</a:t>
              </a:r>
              <a:endParaRPr b="0" lang="en-US" sz="2000" spc="-1" strike="noStrike">
                <a:solidFill>
                  <a:srgbClr val="000000"/>
                </a:solidFill>
                <a:latin typeface="Arial"/>
              </a:endParaRPr>
            </a:p>
            <a:p>
              <a:pPr marL="457200" indent="-355680">
                <a:lnSpc>
                  <a:spcPct val="100000"/>
                </a:lnSpc>
                <a:buClr>
                  <a:srgbClr val="000000"/>
                </a:buClr>
                <a:buFont typeface="Times New Roman"/>
                <a:buChar char="●"/>
                <a:tabLst>
                  <a:tab algn="l" pos="0"/>
                </a:tabLst>
              </a:pPr>
              <a:r>
                <a:rPr b="0" lang="en-US" sz="2000" spc="-1" strike="noStrike">
                  <a:solidFill>
                    <a:srgbClr val="000000"/>
                  </a:solidFill>
                  <a:latin typeface="Times New Roman"/>
                  <a:ea typeface="Times New Roman"/>
                </a:rPr>
                <a:t>Handling missing values</a:t>
              </a:r>
              <a:endParaRPr b="0" lang="en-US" sz="2000" spc="-1" strike="noStrike">
                <a:solidFill>
                  <a:srgbClr val="000000"/>
                </a:solidFill>
                <a:latin typeface="Arial"/>
              </a:endParaRPr>
            </a:p>
          </p:txBody>
        </p:sp>
        <p:sp>
          <p:nvSpPr>
            <p:cNvPr id="147" name="Google Shape;228;p27"/>
            <p:cNvSpPr/>
            <p:nvPr/>
          </p:nvSpPr>
          <p:spPr>
            <a:xfrm>
              <a:off x="8424720" y="2367000"/>
              <a:ext cx="263880" cy="263160"/>
            </a:xfrm>
            <a:prstGeom prst="ellipse">
              <a:avLst/>
            </a:prstGeom>
            <a:solidFill>
              <a:srgbClr val="701c7f"/>
            </a:solidFill>
            <a:ln w="0">
              <a:noFill/>
            </a:ln>
          </p:spPr>
          <p:style>
            <a:lnRef idx="0"/>
            <a:fillRef idx="0"/>
            <a:effectRef idx="0"/>
            <a:fontRef idx="minor"/>
          </p:style>
          <p:txBody>
            <a:bodyPr lIns="122040" rIns="122040" tIns="92880" bIns="92880" anchor="ctr">
              <a:noAutofit/>
            </a:bodyPr>
            <a:p>
              <a:pPr>
                <a:lnSpc>
                  <a:spcPct val="100000"/>
                </a:lnSpc>
                <a:tabLst>
                  <a:tab algn="l" pos="0"/>
                </a:tabLst>
              </a:pPr>
              <a:endParaRPr b="0" lang="en-US" sz="1400" spc="-1" strike="noStrike">
                <a:solidFill>
                  <a:srgbClr val="ffffff"/>
                </a:solidFill>
                <a:latin typeface="Arial"/>
              </a:endParaRPr>
            </a:p>
          </p:txBody>
        </p:sp>
        <p:sp>
          <p:nvSpPr>
            <p:cNvPr id="148" name="Google Shape;229;p27"/>
            <p:cNvSpPr/>
            <p:nvPr/>
          </p:nvSpPr>
          <p:spPr>
            <a:xfrm>
              <a:off x="8391240" y="2291760"/>
              <a:ext cx="329040" cy="416160"/>
            </a:xfrm>
            <a:prstGeom prst="rect">
              <a:avLst/>
            </a:prstGeom>
            <a:noFill/>
            <a:ln w="0">
              <a:noFill/>
            </a:ln>
          </p:spPr>
          <p:style>
            <a:lnRef idx="0"/>
            <a:fillRef idx="0"/>
            <a:effectRef idx="0"/>
            <a:fontRef idx="minor"/>
          </p:style>
          <p:txBody>
            <a:bodyPr lIns="122040" rIns="122040" tIns="122040" bIns="122040" anchor="t">
              <a:noAutofit/>
            </a:bodyPr>
            <a:p>
              <a:pPr algn="ctr">
                <a:lnSpc>
                  <a:spcPct val="100000"/>
                </a:lnSpc>
                <a:spcAft>
                  <a:spcPts val="2100"/>
                </a:spcAft>
                <a:tabLst>
                  <a:tab algn="l" pos="0"/>
                </a:tabLst>
              </a:pPr>
              <a:r>
                <a:rPr b="0" lang="en-US" sz="1100" spc="-1" strike="noStrike">
                  <a:solidFill>
                    <a:srgbClr val="ffffff"/>
                  </a:solidFill>
                  <a:latin typeface="Roboto"/>
                  <a:ea typeface="Roboto"/>
                </a:rPr>
                <a:t>1</a:t>
              </a:r>
              <a:endParaRPr b="0" lang="en-US" sz="1100" spc="-1" strike="noStrike">
                <a:solidFill>
                  <a:srgbClr val="000000"/>
                </a:solidFill>
                <a:latin typeface="Arial"/>
              </a:endParaRPr>
            </a:p>
          </p:txBody>
        </p:sp>
      </p:grpSp>
      <p:grpSp>
        <p:nvGrpSpPr>
          <p:cNvPr id="149" name="Google Shape;230;p27"/>
          <p:cNvGrpSpPr/>
          <p:nvPr/>
        </p:nvGrpSpPr>
        <p:grpSpPr>
          <a:xfrm>
            <a:off x="3753000" y="1969920"/>
            <a:ext cx="4683960" cy="4334760"/>
            <a:chOff x="3753000" y="1969920"/>
            <a:chExt cx="4683960" cy="4334760"/>
          </a:xfrm>
        </p:grpSpPr>
        <p:sp>
          <p:nvSpPr>
            <p:cNvPr id="150" name="Google Shape;231;p27"/>
            <p:cNvSpPr/>
            <p:nvPr/>
          </p:nvSpPr>
          <p:spPr>
            <a:xfrm>
              <a:off x="4401360" y="3879360"/>
              <a:ext cx="3387960" cy="1266120"/>
            </a:xfrm>
            <a:custGeom>
              <a:avLst/>
              <a:gdLst>
                <a:gd name="textAreaLeft" fmla="*/ 0 w 3387960"/>
                <a:gd name="textAreaRight" fmla="*/ 3389040 w 3387960"/>
                <a:gd name="textAreaTop" fmla="*/ 0 h 1266120"/>
                <a:gd name="textAreaBottom" fmla="*/ 1267200 h 1266120"/>
              </a:gdLst>
              <a:ahLst/>
              <a:rect l="textAreaLeft" t="textAreaTop" r="textAreaRight" b="textAreaBottom"/>
              <a:pathLst>
                <a:path w="126826" h="43529">
                  <a:moveTo>
                    <a:pt x="0" y="20002"/>
                  </a:moveTo>
                  <a:lnTo>
                    <a:pt x="63389" y="43529"/>
                  </a:lnTo>
                  <a:lnTo>
                    <a:pt x="126826" y="19907"/>
                  </a:lnTo>
                  <a:lnTo>
                    <a:pt x="63580" y="0"/>
                  </a:lnTo>
                  <a:close/>
                </a:path>
              </a:pathLst>
            </a:custGeom>
            <a:solidFill>
              <a:srgbClr val="d9d9d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1" name="Google Shape;232;p27"/>
            <p:cNvSpPr/>
            <p:nvPr/>
          </p:nvSpPr>
          <p:spPr>
            <a:xfrm>
              <a:off x="3753000" y="4460040"/>
              <a:ext cx="2343240" cy="1844640"/>
            </a:xfrm>
            <a:custGeom>
              <a:avLst/>
              <a:gdLst>
                <a:gd name="textAreaLeft" fmla="*/ 0 w 2343240"/>
                <a:gd name="textAreaRight" fmla="*/ 2344320 w 2343240"/>
                <a:gd name="textAreaTop" fmla="*/ 0 h 1844640"/>
                <a:gd name="textAreaBottom" fmla="*/ 1845720 h 1844640"/>
              </a:gdLst>
              <a:ahLst/>
              <a:rect l="textAreaLeft" t="textAreaTop" r="textAreaRight" b="textAreaBottom"/>
              <a:pathLst>
                <a:path w="87725" h="63817">
                  <a:moveTo>
                    <a:pt x="24288" y="0"/>
                  </a:moveTo>
                  <a:lnTo>
                    <a:pt x="0" y="29908"/>
                  </a:lnTo>
                  <a:lnTo>
                    <a:pt x="87725" y="63817"/>
                  </a:lnTo>
                  <a:lnTo>
                    <a:pt x="87725" y="42291"/>
                  </a:lnTo>
                  <a:lnTo>
                    <a:pt x="87725" y="23526"/>
                  </a:lnTo>
                  <a:close/>
                </a:path>
              </a:pathLst>
            </a:custGeom>
            <a:solidFill>
              <a:srgbClr val="56156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 name="Google Shape;233;p27"/>
            <p:cNvSpPr/>
            <p:nvPr/>
          </p:nvSpPr>
          <p:spPr>
            <a:xfrm flipH="1">
              <a:off x="6093360" y="4460040"/>
              <a:ext cx="2343240" cy="1844640"/>
            </a:xfrm>
            <a:custGeom>
              <a:avLst/>
              <a:gdLst>
                <a:gd name="textAreaLeft" fmla="*/ -720 w 2343240"/>
                <a:gd name="textAreaRight" fmla="*/ 2343600 w 2343240"/>
                <a:gd name="textAreaTop" fmla="*/ 0 h 1844640"/>
                <a:gd name="textAreaBottom" fmla="*/ 1845720 h 1844640"/>
              </a:gdLst>
              <a:ahLst/>
              <a:rect l="textAreaLeft" t="textAreaTop" r="textAreaRight" b="textAreaBottom"/>
              <a:pathLst>
                <a:path w="87725" h="63817">
                  <a:moveTo>
                    <a:pt x="24288" y="0"/>
                  </a:moveTo>
                  <a:lnTo>
                    <a:pt x="0" y="29908"/>
                  </a:lnTo>
                  <a:lnTo>
                    <a:pt x="87725" y="63817"/>
                  </a:lnTo>
                  <a:lnTo>
                    <a:pt x="87725" y="42291"/>
                  </a:lnTo>
                  <a:lnTo>
                    <a:pt x="87725" y="23526"/>
                  </a:lnTo>
                  <a:close/>
                </a:path>
              </a:pathLst>
            </a:custGeom>
            <a:solidFill>
              <a:srgbClr val="9325a5"/>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 name="Google Shape;234;p27"/>
            <p:cNvSpPr/>
            <p:nvPr/>
          </p:nvSpPr>
          <p:spPr>
            <a:xfrm>
              <a:off x="5056560" y="3100680"/>
              <a:ext cx="2086560" cy="780120"/>
            </a:xfrm>
            <a:custGeom>
              <a:avLst/>
              <a:gdLst>
                <a:gd name="textAreaLeft" fmla="*/ 0 w 2086560"/>
                <a:gd name="textAreaRight" fmla="*/ 2087640 w 2086560"/>
                <a:gd name="textAreaTop" fmla="*/ 0 h 780120"/>
                <a:gd name="textAreaBottom" fmla="*/ 781200 h 780120"/>
              </a:gdLst>
              <a:ahLst/>
              <a:rect l="textAreaLeft" t="textAreaTop" r="textAreaRight" b="textAreaBottom"/>
              <a:pathLst>
                <a:path w="24053" h="8150">
                  <a:moveTo>
                    <a:pt x="0" y="3827"/>
                  </a:moveTo>
                  <a:lnTo>
                    <a:pt x="11976" y="8150"/>
                  </a:lnTo>
                  <a:lnTo>
                    <a:pt x="24053" y="3827"/>
                  </a:lnTo>
                  <a:lnTo>
                    <a:pt x="12126" y="0"/>
                  </a:lnTo>
                  <a:close/>
                </a:path>
              </a:pathLst>
            </a:custGeom>
            <a:solidFill>
              <a:srgbClr val="d9d9d9"/>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4" name="Google Shape;235;p27"/>
            <p:cNvSpPr/>
            <p:nvPr/>
          </p:nvSpPr>
          <p:spPr>
            <a:xfrm>
              <a:off x="4515480" y="3466440"/>
              <a:ext cx="1584720" cy="1352520"/>
            </a:xfrm>
            <a:custGeom>
              <a:avLst/>
              <a:gdLst>
                <a:gd name="textAreaLeft" fmla="*/ 0 w 1584720"/>
                <a:gd name="textAreaRight" fmla="*/ 1585800 w 1584720"/>
                <a:gd name="textAreaTop" fmla="*/ 0 h 1352520"/>
                <a:gd name="textAreaBottom" fmla="*/ 1353600 h 1352520"/>
              </a:gdLst>
              <a:ahLst/>
              <a:rect l="textAreaLeft" t="textAreaTop" r="textAreaRight" b="textAreaBottom"/>
              <a:pathLst>
                <a:path w="18238" h="14114">
                  <a:moveTo>
                    <a:pt x="6262" y="0"/>
                  </a:moveTo>
                  <a:lnTo>
                    <a:pt x="18238" y="4324"/>
                  </a:lnTo>
                  <a:lnTo>
                    <a:pt x="18238" y="14114"/>
                  </a:lnTo>
                  <a:lnTo>
                    <a:pt x="0" y="7554"/>
                  </a:lnTo>
                  <a:close/>
                </a:path>
              </a:pathLst>
            </a:custGeom>
            <a:solidFill>
              <a:srgbClr val="56156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5" name="Google Shape;236;p27"/>
            <p:cNvSpPr/>
            <p:nvPr/>
          </p:nvSpPr>
          <p:spPr>
            <a:xfrm flipH="1">
              <a:off x="6096240" y="3466440"/>
              <a:ext cx="1584720" cy="1352520"/>
            </a:xfrm>
            <a:custGeom>
              <a:avLst/>
              <a:gdLst>
                <a:gd name="textAreaLeft" fmla="*/ 720 w 1584720"/>
                <a:gd name="textAreaRight" fmla="*/ 1586520 w 1584720"/>
                <a:gd name="textAreaTop" fmla="*/ 0 h 1352520"/>
                <a:gd name="textAreaBottom" fmla="*/ 1353600 h 1352520"/>
              </a:gdLst>
              <a:ahLst/>
              <a:rect l="textAreaLeft" t="textAreaTop" r="textAreaRight" b="textAreaBottom"/>
              <a:pathLst>
                <a:path w="18238" h="14114">
                  <a:moveTo>
                    <a:pt x="6262" y="0"/>
                  </a:moveTo>
                  <a:lnTo>
                    <a:pt x="18238" y="4324"/>
                  </a:lnTo>
                  <a:lnTo>
                    <a:pt x="18238" y="14114"/>
                  </a:lnTo>
                  <a:lnTo>
                    <a:pt x="0" y="7554"/>
                  </a:lnTo>
                  <a:close/>
                </a:path>
              </a:pathLst>
            </a:custGeom>
            <a:solidFill>
              <a:srgbClr val="771e8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6" name="Google Shape;237;p27"/>
            <p:cNvSpPr/>
            <p:nvPr/>
          </p:nvSpPr>
          <p:spPr>
            <a:xfrm>
              <a:off x="5176440" y="1969920"/>
              <a:ext cx="923400" cy="1600560"/>
            </a:xfrm>
            <a:custGeom>
              <a:avLst/>
              <a:gdLst>
                <a:gd name="textAreaLeft" fmla="*/ 0 w 923400"/>
                <a:gd name="textAreaRight" fmla="*/ 924480 w 923400"/>
                <a:gd name="textAreaTop" fmla="*/ 0 h 1600560"/>
                <a:gd name="textAreaBottom" fmla="*/ 1601640 h 1600560"/>
              </a:gdLst>
              <a:ahLst/>
              <a:rect l="textAreaLeft" t="textAreaTop" r="textAreaRight" b="textAreaBottom"/>
              <a:pathLst>
                <a:path w="10635" h="16697">
                  <a:moveTo>
                    <a:pt x="10635" y="0"/>
                  </a:moveTo>
                  <a:lnTo>
                    <a:pt x="0" y="12722"/>
                  </a:lnTo>
                  <a:lnTo>
                    <a:pt x="10635" y="16697"/>
                  </a:lnTo>
                  <a:close/>
                </a:path>
              </a:pathLst>
            </a:custGeom>
            <a:solidFill>
              <a:srgbClr val="56156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7" name="Google Shape;238;p27"/>
            <p:cNvSpPr/>
            <p:nvPr/>
          </p:nvSpPr>
          <p:spPr>
            <a:xfrm flipH="1">
              <a:off x="6095520" y="1969920"/>
              <a:ext cx="923400" cy="1600560"/>
            </a:xfrm>
            <a:custGeom>
              <a:avLst/>
              <a:gdLst>
                <a:gd name="textAreaLeft" fmla="*/ -720 w 923400"/>
                <a:gd name="textAreaRight" fmla="*/ 923760 w 923400"/>
                <a:gd name="textAreaTop" fmla="*/ 0 h 1600560"/>
                <a:gd name="textAreaBottom" fmla="*/ 1601640 h 1600560"/>
              </a:gdLst>
              <a:ahLst/>
              <a:rect l="textAreaLeft" t="textAreaTop" r="textAreaRight" b="textAreaBottom"/>
              <a:pathLst>
                <a:path w="10635" h="16697">
                  <a:moveTo>
                    <a:pt x="10635" y="0"/>
                  </a:moveTo>
                  <a:lnTo>
                    <a:pt x="0" y="12722"/>
                  </a:lnTo>
                  <a:lnTo>
                    <a:pt x="10635" y="16697"/>
                  </a:lnTo>
                  <a:close/>
                </a:path>
              </a:pathLst>
            </a:custGeom>
            <a:solidFill>
              <a:srgbClr val="701c7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grpSp>
      <p:pic>
        <p:nvPicPr>
          <p:cNvPr id="158" name="Google Shape;104;p 14" descr=""/>
          <p:cNvPicPr/>
          <p:nvPr/>
        </p:nvPicPr>
        <p:blipFill>
          <a:blip r:embed="rId3"/>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9" name="Google Shape;243;p28" descr=""/>
          <p:cNvPicPr/>
          <p:nvPr/>
        </p:nvPicPr>
        <p:blipFill>
          <a:blip r:embed="rId1"/>
          <a:stretch/>
        </p:blipFill>
        <p:spPr>
          <a:xfrm>
            <a:off x="-37440" y="772200"/>
            <a:ext cx="12265920" cy="151200"/>
          </a:xfrm>
          <a:prstGeom prst="rect">
            <a:avLst/>
          </a:prstGeom>
          <a:ln w="0">
            <a:noFill/>
          </a:ln>
        </p:spPr>
      </p:pic>
      <p:pic>
        <p:nvPicPr>
          <p:cNvPr id="160" name="Google Shape;244;p28" descr=""/>
          <p:cNvPicPr/>
          <p:nvPr/>
        </p:nvPicPr>
        <p:blipFill>
          <a:blip r:embed="rId2"/>
          <a:stretch/>
        </p:blipFill>
        <p:spPr>
          <a:xfrm>
            <a:off x="-37440" y="6617160"/>
            <a:ext cx="12265920" cy="239760"/>
          </a:xfrm>
          <a:prstGeom prst="rect">
            <a:avLst/>
          </a:prstGeom>
          <a:ln w="0">
            <a:noFill/>
          </a:ln>
        </p:spPr>
      </p:pic>
      <p:sp>
        <p:nvSpPr>
          <p:cNvPr id="161" name="Google Shape;246;p28"/>
          <p:cNvSpPr/>
          <p:nvPr/>
        </p:nvSpPr>
        <p:spPr>
          <a:xfrm>
            <a:off x="465480" y="1083600"/>
            <a:ext cx="11084400" cy="53604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2400" spc="-1" strike="noStrike">
                <a:solidFill>
                  <a:schemeClr val="dk1"/>
                </a:solidFill>
                <a:latin typeface="Times New Roman"/>
                <a:ea typeface="Times New Roman"/>
              </a:rPr>
              <a:t>Our workflow incorporates preprocessing techniques such as,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sp>
        <p:nvSpPr>
          <p:cNvPr id="162" name="Google Shape;247;p28"/>
          <p:cNvSpPr/>
          <p:nvPr/>
        </p:nvSpPr>
        <p:spPr>
          <a:xfrm>
            <a:off x="389520" y="1616400"/>
            <a:ext cx="11458080" cy="48276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1" lang="en-US" sz="2400" spc="-1" strike="noStrike">
                <a:solidFill>
                  <a:schemeClr val="dk1"/>
                </a:solidFill>
                <a:latin typeface="Times New Roman"/>
                <a:ea typeface="Times New Roman"/>
              </a:rPr>
              <a:t>Handling missing values:</a:t>
            </a:r>
            <a:endParaRPr b="0" lang="en-US" sz="2400" spc="-1" strike="noStrike">
              <a:solidFill>
                <a:srgbClr val="000000"/>
              </a:solidFill>
              <a:latin typeface="Arial"/>
            </a:endParaRPr>
          </a:p>
          <a:p>
            <a:pPr marL="457200">
              <a:lnSpc>
                <a:spcPct val="100000"/>
              </a:lnSpc>
              <a:tabLst>
                <a:tab algn="l" pos="0"/>
              </a:tabLst>
            </a:pPr>
            <a:r>
              <a:rPr b="1"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Missing values are imputed using the mean value to mitigate the impact of data incompleteness.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1" lang="en-US" sz="2400" spc="-1" strike="noStrike">
                <a:solidFill>
                  <a:schemeClr val="dk1"/>
                </a:solidFill>
                <a:latin typeface="Times New Roman"/>
                <a:ea typeface="Times New Roman"/>
              </a:rPr>
              <a:t>Normalization:</a:t>
            </a:r>
            <a:endParaRPr b="0" lang="en-US" sz="2400" spc="-1" strike="noStrike">
              <a:solidFill>
                <a:srgbClr val="000000"/>
              </a:solidFill>
              <a:latin typeface="Arial"/>
            </a:endParaRPr>
          </a:p>
          <a:p>
            <a:pPr marL="457200">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Min-Max scaling is employed to scale each data point within the range of 0 to 1, ensuring uniformity across numeric features.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1" lang="en-US" sz="2400" spc="-1" strike="noStrike">
                <a:solidFill>
                  <a:schemeClr val="dk1"/>
                </a:solidFill>
                <a:latin typeface="Times New Roman"/>
                <a:ea typeface="Times New Roman"/>
              </a:rPr>
              <a:t>Label encoding:</a:t>
            </a:r>
            <a:endParaRPr b="0" lang="en-US" sz="2400" spc="-1" strike="noStrike">
              <a:solidFill>
                <a:srgbClr val="000000"/>
              </a:solidFill>
              <a:latin typeface="Arial"/>
            </a:endParaRPr>
          </a:p>
          <a:p>
            <a:pPr marL="457200">
              <a:lnSpc>
                <a:spcPct val="100000"/>
              </a:lnSpc>
              <a:tabLst>
                <a:tab algn="l" pos="0"/>
              </a:tabLst>
            </a:pPr>
            <a:r>
              <a:rPr b="1"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The transformation of categorical variables into numerical representations through label encoding, rendering them suitable for analysis.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pic>
        <p:nvPicPr>
          <p:cNvPr id="163" name="Google Shape;104;p 15" descr=""/>
          <p:cNvPicPr/>
          <p:nvPr/>
        </p:nvPicPr>
        <p:blipFill>
          <a:blip r:embed="rId3"/>
          <a:stretch/>
        </p:blipFill>
        <p:spPr>
          <a:xfrm>
            <a:off x="8559000" y="2916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Google Shape;252;p29" descr=""/>
          <p:cNvPicPr/>
          <p:nvPr/>
        </p:nvPicPr>
        <p:blipFill>
          <a:blip r:embed="rId1"/>
          <a:stretch/>
        </p:blipFill>
        <p:spPr>
          <a:xfrm>
            <a:off x="-37440" y="772200"/>
            <a:ext cx="12265920" cy="151200"/>
          </a:xfrm>
          <a:prstGeom prst="rect">
            <a:avLst/>
          </a:prstGeom>
          <a:ln w="0">
            <a:noFill/>
          </a:ln>
        </p:spPr>
      </p:pic>
      <p:pic>
        <p:nvPicPr>
          <p:cNvPr id="165" name="Google Shape;253;p29" descr=""/>
          <p:cNvPicPr/>
          <p:nvPr/>
        </p:nvPicPr>
        <p:blipFill>
          <a:blip r:embed="rId2"/>
          <a:stretch/>
        </p:blipFill>
        <p:spPr>
          <a:xfrm>
            <a:off x="-37440" y="6617160"/>
            <a:ext cx="12265920" cy="239760"/>
          </a:xfrm>
          <a:prstGeom prst="rect">
            <a:avLst/>
          </a:prstGeom>
          <a:ln w="0">
            <a:noFill/>
          </a:ln>
        </p:spPr>
      </p:pic>
      <p:sp>
        <p:nvSpPr>
          <p:cNvPr id="166" name="Google Shape;255;p29"/>
          <p:cNvSpPr/>
          <p:nvPr/>
        </p:nvSpPr>
        <p:spPr>
          <a:xfrm>
            <a:off x="1000440" y="1652760"/>
            <a:ext cx="11084400" cy="496296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167" name="Google Shape;256;p29"/>
          <p:cNvSpPr/>
          <p:nvPr/>
        </p:nvSpPr>
        <p:spPr>
          <a:xfrm>
            <a:off x="2727720" y="2595960"/>
            <a:ext cx="6926760" cy="5799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3000" spc="-1" strike="noStrike">
                <a:solidFill>
                  <a:schemeClr val="dk1"/>
                </a:solidFill>
                <a:latin typeface="Times New Roman"/>
                <a:ea typeface="Times New Roman"/>
              </a:rPr>
              <a:t>              </a:t>
            </a:r>
            <a:r>
              <a:rPr b="1" lang="en-US" sz="3000" spc="-1" strike="noStrike">
                <a:solidFill>
                  <a:schemeClr val="dk1"/>
                </a:solidFill>
                <a:latin typeface="Times New Roman"/>
                <a:ea typeface="Times New Roman"/>
              </a:rPr>
              <a:t>FEATURE SELECTION</a:t>
            </a:r>
            <a:endParaRPr b="0" lang="en-US" sz="3000" spc="-1" strike="noStrike">
              <a:solidFill>
                <a:srgbClr val="000000"/>
              </a:solidFill>
              <a:latin typeface="Arial"/>
            </a:endParaRPr>
          </a:p>
        </p:txBody>
      </p:sp>
      <p:sp>
        <p:nvSpPr>
          <p:cNvPr id="168" name="Google Shape;257;p29"/>
          <p:cNvSpPr/>
          <p:nvPr/>
        </p:nvSpPr>
        <p:spPr>
          <a:xfrm>
            <a:off x="859320" y="3524400"/>
            <a:ext cx="10657800" cy="12204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lang="en-US" sz="2400" spc="-1" strike="noStrike">
                <a:solidFill>
                  <a:schemeClr val="dk1"/>
                </a:solidFill>
                <a:highlight>
                  <a:srgbClr val="ffffff"/>
                </a:highlight>
                <a:latin typeface="Times New Roman"/>
                <a:ea typeface="Times New Roman"/>
              </a:rPr>
              <a:t>Selecting a subset of relevant features from the original feature set to reduce the feature space while improving the model’s performance by reducing computational power.</a:t>
            </a:r>
            <a:endParaRPr b="0" lang="en-US" sz="2400" spc="-1" strike="noStrike">
              <a:solidFill>
                <a:srgbClr val="000000"/>
              </a:solidFill>
              <a:latin typeface="Arial"/>
            </a:endParaRPr>
          </a:p>
        </p:txBody>
      </p:sp>
      <p:pic>
        <p:nvPicPr>
          <p:cNvPr id="169" name="Google Shape;104;p 16"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Google Shape;262;p30" descr=""/>
          <p:cNvPicPr/>
          <p:nvPr/>
        </p:nvPicPr>
        <p:blipFill>
          <a:blip r:embed="rId1"/>
          <a:stretch/>
        </p:blipFill>
        <p:spPr>
          <a:xfrm>
            <a:off x="-37440" y="772200"/>
            <a:ext cx="12265920" cy="151200"/>
          </a:xfrm>
          <a:prstGeom prst="rect">
            <a:avLst/>
          </a:prstGeom>
          <a:ln w="0">
            <a:noFill/>
          </a:ln>
        </p:spPr>
      </p:pic>
      <p:pic>
        <p:nvPicPr>
          <p:cNvPr id="171" name="Google Shape;263;p30" descr=""/>
          <p:cNvPicPr/>
          <p:nvPr/>
        </p:nvPicPr>
        <p:blipFill>
          <a:blip r:embed="rId2"/>
          <a:stretch/>
        </p:blipFill>
        <p:spPr>
          <a:xfrm>
            <a:off x="-37440" y="6617160"/>
            <a:ext cx="12265920" cy="239760"/>
          </a:xfrm>
          <a:prstGeom prst="rect">
            <a:avLst/>
          </a:prstGeom>
          <a:ln w="0">
            <a:noFill/>
          </a:ln>
        </p:spPr>
      </p:pic>
      <p:sp>
        <p:nvSpPr>
          <p:cNvPr id="172" name="Google Shape;265;p30"/>
          <p:cNvSpPr/>
          <p:nvPr/>
        </p:nvSpPr>
        <p:spPr>
          <a:xfrm>
            <a:off x="553320" y="1133280"/>
            <a:ext cx="11084400" cy="52740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The type of correlation used here is Pearson Correlation.</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Used to measure how strong a relationship is between two variables.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It yields a value ranging from –1 to 1.</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sp>
        <p:nvSpPr>
          <p:cNvPr id="173" name="Google Shape;266;p30"/>
          <p:cNvSpPr/>
          <p:nvPr/>
        </p:nvSpPr>
        <p:spPr>
          <a:xfrm>
            <a:off x="382320" y="79920"/>
            <a:ext cx="7920000" cy="534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1: CORRELATION</a:t>
            </a:r>
            <a:endParaRPr b="0" lang="en-US" sz="2500" spc="-1" strike="noStrike">
              <a:solidFill>
                <a:srgbClr val="000000"/>
              </a:solidFill>
              <a:latin typeface="Arial"/>
            </a:endParaRPr>
          </a:p>
        </p:txBody>
      </p:sp>
      <p:pic>
        <p:nvPicPr>
          <p:cNvPr id="174" name="Google Shape;267;p30" descr=""/>
          <p:cNvPicPr/>
          <p:nvPr/>
        </p:nvPicPr>
        <p:blipFill>
          <a:blip r:embed="rId3"/>
          <a:stretch/>
        </p:blipFill>
        <p:spPr>
          <a:xfrm>
            <a:off x="553320" y="2447280"/>
            <a:ext cx="6298560" cy="3385080"/>
          </a:xfrm>
          <a:prstGeom prst="rect">
            <a:avLst/>
          </a:prstGeom>
          <a:ln w="0">
            <a:noFill/>
          </a:ln>
        </p:spPr>
      </p:pic>
      <p:pic>
        <p:nvPicPr>
          <p:cNvPr id="175" name="Google Shape;268;p30" descr=""/>
          <p:cNvPicPr/>
          <p:nvPr/>
        </p:nvPicPr>
        <p:blipFill>
          <a:blip r:embed="rId4"/>
          <a:stretch/>
        </p:blipFill>
        <p:spPr>
          <a:xfrm>
            <a:off x="7128360" y="3306600"/>
            <a:ext cx="4754520" cy="2194920"/>
          </a:xfrm>
          <a:prstGeom prst="rect">
            <a:avLst/>
          </a:prstGeom>
          <a:ln w="0">
            <a:noFill/>
          </a:ln>
        </p:spPr>
      </p:pic>
      <p:pic>
        <p:nvPicPr>
          <p:cNvPr id="176" name="Google Shape;104;p 17" descr=""/>
          <p:cNvPicPr/>
          <p:nvPr/>
        </p:nvPicPr>
        <p:blipFill>
          <a:blip r:embed="rId5"/>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Google Shape;273;p31" descr=""/>
          <p:cNvPicPr/>
          <p:nvPr/>
        </p:nvPicPr>
        <p:blipFill>
          <a:blip r:embed="rId1"/>
          <a:stretch/>
        </p:blipFill>
        <p:spPr>
          <a:xfrm>
            <a:off x="-37440" y="772200"/>
            <a:ext cx="12265920" cy="151200"/>
          </a:xfrm>
          <a:prstGeom prst="rect">
            <a:avLst/>
          </a:prstGeom>
          <a:ln w="0">
            <a:noFill/>
          </a:ln>
        </p:spPr>
      </p:pic>
      <p:pic>
        <p:nvPicPr>
          <p:cNvPr id="178" name="Google Shape;274;p31" descr=""/>
          <p:cNvPicPr/>
          <p:nvPr/>
        </p:nvPicPr>
        <p:blipFill>
          <a:blip r:embed="rId2"/>
          <a:stretch/>
        </p:blipFill>
        <p:spPr>
          <a:xfrm>
            <a:off x="-37440" y="6617160"/>
            <a:ext cx="12265920" cy="239760"/>
          </a:xfrm>
          <a:prstGeom prst="rect">
            <a:avLst/>
          </a:prstGeom>
          <a:ln w="0">
            <a:noFill/>
          </a:ln>
        </p:spPr>
      </p:pic>
      <p:sp>
        <p:nvSpPr>
          <p:cNvPr id="179" name="Google Shape;276;p31"/>
          <p:cNvSpPr/>
          <p:nvPr/>
        </p:nvSpPr>
        <p:spPr>
          <a:xfrm>
            <a:off x="553320" y="1133280"/>
            <a:ext cx="11084400" cy="52740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It checks whether there’s a significant difference between expected and observed frequencies, guiding us in identifying which features should be included in our model for better predictions.</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It is used to determine whether changes in one variable are independent of changes in another. </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sp>
        <p:nvSpPr>
          <p:cNvPr id="180" name="Google Shape;277;p31"/>
          <p:cNvSpPr/>
          <p:nvPr/>
        </p:nvSpPr>
        <p:spPr>
          <a:xfrm>
            <a:off x="382320" y="79920"/>
            <a:ext cx="7920000" cy="534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2: CHI-SQUARE</a:t>
            </a:r>
            <a:endParaRPr b="0" lang="en-US" sz="2500" spc="-1" strike="noStrike">
              <a:solidFill>
                <a:srgbClr val="000000"/>
              </a:solidFill>
              <a:latin typeface="Arial"/>
            </a:endParaRPr>
          </a:p>
        </p:txBody>
      </p:sp>
      <p:pic>
        <p:nvPicPr>
          <p:cNvPr id="181" name="Google Shape;278;p31" descr=""/>
          <p:cNvPicPr/>
          <p:nvPr/>
        </p:nvPicPr>
        <p:blipFill>
          <a:blip r:embed="rId3"/>
          <a:stretch/>
        </p:blipFill>
        <p:spPr>
          <a:xfrm>
            <a:off x="154800" y="3479040"/>
            <a:ext cx="7142760" cy="1684800"/>
          </a:xfrm>
          <a:prstGeom prst="rect">
            <a:avLst/>
          </a:prstGeom>
          <a:ln w="0">
            <a:noFill/>
          </a:ln>
        </p:spPr>
      </p:pic>
      <p:pic>
        <p:nvPicPr>
          <p:cNvPr id="182" name="Google Shape;279;p31" descr=""/>
          <p:cNvPicPr/>
          <p:nvPr/>
        </p:nvPicPr>
        <p:blipFill>
          <a:blip r:embed="rId4"/>
          <a:srcRect l="4467" t="0" r="0" b="0"/>
          <a:stretch/>
        </p:blipFill>
        <p:spPr>
          <a:xfrm>
            <a:off x="7961400" y="3869640"/>
            <a:ext cx="3675960" cy="2050200"/>
          </a:xfrm>
          <a:prstGeom prst="rect">
            <a:avLst/>
          </a:prstGeom>
          <a:ln w="0">
            <a:noFill/>
          </a:ln>
        </p:spPr>
      </p:pic>
      <p:pic>
        <p:nvPicPr>
          <p:cNvPr id="183" name="Google Shape;104;p 18" descr=""/>
          <p:cNvPicPr/>
          <p:nvPr/>
        </p:nvPicPr>
        <p:blipFill>
          <a:blip r:embed="rId5"/>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4" name="Google Shape;284;p32" descr=""/>
          <p:cNvPicPr/>
          <p:nvPr/>
        </p:nvPicPr>
        <p:blipFill>
          <a:blip r:embed="rId1"/>
          <a:stretch/>
        </p:blipFill>
        <p:spPr>
          <a:xfrm>
            <a:off x="-37440" y="772200"/>
            <a:ext cx="12265920" cy="151200"/>
          </a:xfrm>
          <a:prstGeom prst="rect">
            <a:avLst/>
          </a:prstGeom>
          <a:ln w="0">
            <a:noFill/>
          </a:ln>
        </p:spPr>
      </p:pic>
      <p:pic>
        <p:nvPicPr>
          <p:cNvPr id="185" name="Google Shape;285;p32" descr=""/>
          <p:cNvPicPr/>
          <p:nvPr/>
        </p:nvPicPr>
        <p:blipFill>
          <a:blip r:embed="rId2"/>
          <a:stretch/>
        </p:blipFill>
        <p:spPr>
          <a:xfrm>
            <a:off x="-37440" y="6617160"/>
            <a:ext cx="12265920" cy="239760"/>
          </a:xfrm>
          <a:prstGeom prst="rect">
            <a:avLst/>
          </a:prstGeom>
          <a:ln w="0">
            <a:noFill/>
          </a:ln>
        </p:spPr>
      </p:pic>
      <p:sp>
        <p:nvSpPr>
          <p:cNvPr id="186" name="Google Shape;287;p32"/>
          <p:cNvSpPr/>
          <p:nvPr/>
        </p:nvSpPr>
        <p:spPr>
          <a:xfrm>
            <a:off x="465480" y="1083600"/>
            <a:ext cx="11084400" cy="53604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rgbClr val="242424"/>
                </a:solidFill>
                <a:highlight>
                  <a:srgbClr val="ffffff"/>
                </a:highlight>
                <a:latin typeface="Times New Roman"/>
                <a:ea typeface="Times New Roman"/>
              </a:rPr>
              <a:t>Simple yet effective technique for feature selection that removes features with low variance.</a:t>
            </a:r>
            <a:endParaRPr b="0" lang="en-US" sz="2400" spc="-1" strike="noStrike">
              <a:solidFill>
                <a:srgbClr val="000000"/>
              </a:solidFill>
              <a:latin typeface="Arial"/>
            </a:endParaRPr>
          </a:p>
          <a:p>
            <a:pPr marL="457200" indent="-380880">
              <a:lnSpc>
                <a:spcPct val="100000"/>
              </a:lnSpc>
              <a:buClr>
                <a:srgbClr val="242424"/>
              </a:buClr>
              <a:buFont typeface="Times New Roman"/>
              <a:buChar char="●"/>
            </a:pPr>
            <a:r>
              <a:rPr b="0" lang="en-US" sz="2400" spc="-1" strike="noStrike">
                <a:solidFill>
                  <a:srgbClr val="242424"/>
                </a:solidFill>
                <a:highlight>
                  <a:srgbClr val="ffffff"/>
                </a:highlight>
                <a:latin typeface="Times New Roman"/>
                <a:ea typeface="Times New Roman"/>
              </a:rPr>
              <a:t>Features with low variance are typically constant or nearly constant throughout the dataset, providing little information for predictive modeling tasks.</a:t>
            </a:r>
            <a:endParaRPr b="0" lang="en-US" sz="2400" spc="-1" strike="noStrike">
              <a:solidFill>
                <a:srgbClr val="000000"/>
              </a:solidFill>
              <a:latin typeface="Arial"/>
            </a:endParaRPr>
          </a:p>
          <a:p>
            <a:pPr marL="457200" indent="-380880">
              <a:lnSpc>
                <a:spcPct val="100000"/>
              </a:lnSpc>
              <a:buClr>
                <a:srgbClr val="242424"/>
              </a:buClr>
              <a:buFont typeface="Times New Roman"/>
              <a:buChar char="●"/>
            </a:pPr>
            <a:r>
              <a:rPr b="0" lang="en-US" sz="2400" spc="-1" strike="noStrike">
                <a:solidFill>
                  <a:srgbClr val="242424"/>
                </a:solidFill>
                <a:highlight>
                  <a:srgbClr val="ffffff"/>
                </a:highlight>
                <a:latin typeface="Times New Roman"/>
                <a:ea typeface="Times New Roman"/>
              </a:rPr>
              <a:t>Reduces overfitting, improves model performance, enhancing interpretability</a:t>
            </a:r>
            <a:endParaRPr b="0" lang="en-US" sz="2400" spc="-1" strike="noStrike">
              <a:solidFill>
                <a:srgbClr val="000000"/>
              </a:solidFill>
              <a:latin typeface="Arial"/>
            </a:endParaRPr>
          </a:p>
        </p:txBody>
      </p:sp>
      <p:sp>
        <p:nvSpPr>
          <p:cNvPr id="187" name="Google Shape;288;p32"/>
          <p:cNvSpPr/>
          <p:nvPr/>
        </p:nvSpPr>
        <p:spPr>
          <a:xfrm>
            <a:off x="407520" y="203760"/>
            <a:ext cx="8337240" cy="490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188" name="Google Shape;289;p32"/>
          <p:cNvSpPr/>
          <p:nvPr/>
        </p:nvSpPr>
        <p:spPr>
          <a:xfrm>
            <a:off x="615960" y="77400"/>
            <a:ext cx="7920000" cy="534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3: VARIANCE THRESHOLD</a:t>
            </a:r>
            <a:endParaRPr b="0" lang="en-US" sz="2500" spc="-1" strike="noStrike">
              <a:solidFill>
                <a:srgbClr val="000000"/>
              </a:solidFill>
              <a:latin typeface="Arial"/>
            </a:endParaRPr>
          </a:p>
        </p:txBody>
      </p:sp>
      <p:pic>
        <p:nvPicPr>
          <p:cNvPr id="189" name="Google Shape;290;p32" descr=""/>
          <p:cNvPicPr/>
          <p:nvPr/>
        </p:nvPicPr>
        <p:blipFill>
          <a:blip r:embed="rId3"/>
          <a:srcRect l="783" t="14570" r="68606" b="5593"/>
          <a:stretch/>
        </p:blipFill>
        <p:spPr>
          <a:xfrm>
            <a:off x="860760" y="3313800"/>
            <a:ext cx="4806000" cy="2895120"/>
          </a:xfrm>
          <a:prstGeom prst="rect">
            <a:avLst/>
          </a:prstGeom>
          <a:ln w="0">
            <a:noFill/>
          </a:ln>
        </p:spPr>
      </p:pic>
      <p:pic>
        <p:nvPicPr>
          <p:cNvPr id="190" name="Google Shape;291;p32" descr=""/>
          <p:cNvPicPr/>
          <p:nvPr/>
        </p:nvPicPr>
        <p:blipFill>
          <a:blip r:embed="rId4"/>
          <a:stretch/>
        </p:blipFill>
        <p:spPr>
          <a:xfrm>
            <a:off x="7113960" y="3431160"/>
            <a:ext cx="3138840" cy="2445480"/>
          </a:xfrm>
          <a:prstGeom prst="rect">
            <a:avLst/>
          </a:prstGeom>
          <a:ln w="0">
            <a:noFill/>
          </a:ln>
        </p:spPr>
      </p:pic>
      <p:pic>
        <p:nvPicPr>
          <p:cNvPr id="191" name="Google Shape;104;p 19" descr=""/>
          <p:cNvPicPr/>
          <p:nvPr/>
        </p:nvPicPr>
        <p:blipFill>
          <a:blip r:embed="rId5"/>
          <a:stretch/>
        </p:blipFill>
        <p:spPr>
          <a:xfrm>
            <a:off x="8559000" y="7740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2" name="Google Shape;296;p33" descr=""/>
          <p:cNvPicPr/>
          <p:nvPr/>
        </p:nvPicPr>
        <p:blipFill>
          <a:blip r:embed="rId1"/>
          <a:stretch/>
        </p:blipFill>
        <p:spPr>
          <a:xfrm>
            <a:off x="-37440" y="772200"/>
            <a:ext cx="12265920" cy="151200"/>
          </a:xfrm>
          <a:prstGeom prst="rect">
            <a:avLst/>
          </a:prstGeom>
          <a:ln w="0">
            <a:noFill/>
          </a:ln>
        </p:spPr>
      </p:pic>
      <p:pic>
        <p:nvPicPr>
          <p:cNvPr id="193" name="Google Shape;297;p33" descr=""/>
          <p:cNvPicPr/>
          <p:nvPr/>
        </p:nvPicPr>
        <p:blipFill>
          <a:blip r:embed="rId2"/>
          <a:stretch/>
        </p:blipFill>
        <p:spPr>
          <a:xfrm>
            <a:off x="-37440" y="6617160"/>
            <a:ext cx="12265920" cy="239760"/>
          </a:xfrm>
          <a:prstGeom prst="rect">
            <a:avLst/>
          </a:prstGeom>
          <a:ln w="0">
            <a:noFill/>
          </a:ln>
        </p:spPr>
      </p:pic>
      <p:sp>
        <p:nvSpPr>
          <p:cNvPr id="194" name="Google Shape;299;p33"/>
          <p:cNvSpPr/>
          <p:nvPr/>
        </p:nvSpPr>
        <p:spPr>
          <a:xfrm>
            <a:off x="553320" y="1133280"/>
            <a:ext cx="11084400" cy="52740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Used to select a subset of the most relevant features from a dataset.</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It is a recursive process that starts with all the features in the dataset and then iteratively removes the least essential features until the desired number of features is reached.</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Logic behind RFE is that the most relevant features will have the highest impact on the target variable, and thus will be more useful for predicting the target.</a:t>
            </a:r>
            <a:endParaRPr b="0" lang="en-US" sz="2400" spc="-1" strike="noStrike">
              <a:solidFill>
                <a:srgbClr val="000000"/>
              </a:solidFill>
              <a:latin typeface="Arial"/>
            </a:endParaRPr>
          </a:p>
          <a:p>
            <a:pPr marL="457200">
              <a:lnSpc>
                <a:spcPct val="115000"/>
              </a:lnSpc>
              <a:spcBef>
                <a:spcPts val="799"/>
              </a:spcBef>
              <a:spcAft>
                <a:spcPts val="799"/>
              </a:spcAft>
              <a:tabLst>
                <a:tab algn="l" pos="0"/>
              </a:tabLst>
            </a:pPr>
            <a:endParaRPr b="0" lang="en-US" sz="2400" spc="-1" strike="noStrike">
              <a:solidFill>
                <a:srgbClr val="000000"/>
              </a:solidFill>
              <a:latin typeface="Arial"/>
            </a:endParaRPr>
          </a:p>
        </p:txBody>
      </p:sp>
      <p:sp>
        <p:nvSpPr>
          <p:cNvPr id="195" name="Google Shape;300;p33"/>
          <p:cNvSpPr/>
          <p:nvPr/>
        </p:nvSpPr>
        <p:spPr>
          <a:xfrm>
            <a:off x="382320" y="79920"/>
            <a:ext cx="7920000" cy="534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4: REPEATED FEATURE SELECTION</a:t>
            </a:r>
            <a:endParaRPr b="0" lang="en-US" sz="2500" spc="-1" strike="noStrike">
              <a:solidFill>
                <a:srgbClr val="000000"/>
              </a:solidFill>
              <a:latin typeface="Arial"/>
            </a:endParaRPr>
          </a:p>
        </p:txBody>
      </p:sp>
      <p:pic>
        <p:nvPicPr>
          <p:cNvPr id="196" name="Google Shape;301;p33" descr=""/>
          <p:cNvPicPr/>
          <p:nvPr/>
        </p:nvPicPr>
        <p:blipFill>
          <a:blip r:embed="rId3"/>
          <a:srcRect l="2582" t="19876" r="8670" b="4754"/>
          <a:stretch/>
        </p:blipFill>
        <p:spPr>
          <a:xfrm>
            <a:off x="880920" y="3769560"/>
            <a:ext cx="5414400" cy="2483280"/>
          </a:xfrm>
          <a:prstGeom prst="rect">
            <a:avLst/>
          </a:prstGeom>
          <a:ln w="0">
            <a:noFill/>
          </a:ln>
        </p:spPr>
      </p:pic>
      <p:pic>
        <p:nvPicPr>
          <p:cNvPr id="197" name="Google Shape;302;p33" descr=""/>
          <p:cNvPicPr/>
          <p:nvPr/>
        </p:nvPicPr>
        <p:blipFill>
          <a:blip r:embed="rId4"/>
          <a:srcRect l="4819" t="0" r="0" b="0"/>
          <a:stretch/>
        </p:blipFill>
        <p:spPr>
          <a:xfrm>
            <a:off x="7922880" y="3942000"/>
            <a:ext cx="2676600" cy="2151000"/>
          </a:xfrm>
          <a:prstGeom prst="rect">
            <a:avLst/>
          </a:prstGeom>
          <a:ln w="0">
            <a:noFill/>
          </a:ln>
        </p:spPr>
      </p:pic>
      <p:pic>
        <p:nvPicPr>
          <p:cNvPr id="198" name="Google Shape;104;p 20" descr=""/>
          <p:cNvPicPr/>
          <p:nvPr/>
        </p:nvPicPr>
        <p:blipFill>
          <a:blip r:embed="rId5"/>
          <a:stretch/>
        </p:blipFill>
        <p:spPr>
          <a:xfrm>
            <a:off x="863532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307;p34" descr=""/>
          <p:cNvPicPr/>
          <p:nvPr/>
        </p:nvPicPr>
        <p:blipFill>
          <a:blip r:embed="rId1"/>
          <a:stretch/>
        </p:blipFill>
        <p:spPr>
          <a:xfrm>
            <a:off x="-37440" y="772200"/>
            <a:ext cx="12265920" cy="151200"/>
          </a:xfrm>
          <a:prstGeom prst="rect">
            <a:avLst/>
          </a:prstGeom>
          <a:ln w="0">
            <a:noFill/>
          </a:ln>
        </p:spPr>
      </p:pic>
      <p:pic>
        <p:nvPicPr>
          <p:cNvPr id="200" name="Google Shape;308;p34" descr=""/>
          <p:cNvPicPr/>
          <p:nvPr/>
        </p:nvPicPr>
        <p:blipFill>
          <a:blip r:embed="rId2"/>
          <a:stretch/>
        </p:blipFill>
        <p:spPr>
          <a:xfrm>
            <a:off x="-37440" y="6617160"/>
            <a:ext cx="12265920" cy="239760"/>
          </a:xfrm>
          <a:prstGeom prst="rect">
            <a:avLst/>
          </a:prstGeom>
          <a:ln w="0">
            <a:noFill/>
          </a:ln>
        </p:spPr>
      </p:pic>
      <p:sp>
        <p:nvSpPr>
          <p:cNvPr id="201" name="Google Shape;310;p34"/>
          <p:cNvSpPr/>
          <p:nvPr/>
        </p:nvSpPr>
        <p:spPr>
          <a:xfrm>
            <a:off x="425160" y="118440"/>
            <a:ext cx="9700200" cy="575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5: SEQUENTIAL FEATURE SELECTION</a:t>
            </a:r>
            <a:endParaRPr b="0" lang="en-US" sz="2500" spc="-1" strike="noStrike">
              <a:solidFill>
                <a:srgbClr val="000000"/>
              </a:solidFill>
              <a:latin typeface="Arial"/>
            </a:endParaRPr>
          </a:p>
        </p:txBody>
      </p:sp>
      <p:sp>
        <p:nvSpPr>
          <p:cNvPr id="202" name="Google Shape;311;p34"/>
          <p:cNvSpPr/>
          <p:nvPr/>
        </p:nvSpPr>
        <p:spPr>
          <a:xfrm>
            <a:off x="425160" y="1001520"/>
            <a:ext cx="10976040" cy="493344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Is a process of identifying and selecting the most relevant features from a dataset for a particular predictive modeling task.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The SequentialFeatureSelector class in scikit-learn works by iteratively adding or removing features from a dataset in order to improve the performance of a predictive model.</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In our code we have implemented the forward model till we reach a 11 features threshold.</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pic>
        <p:nvPicPr>
          <p:cNvPr id="203" name="Google Shape;312;p34" descr=""/>
          <p:cNvPicPr/>
          <p:nvPr/>
        </p:nvPicPr>
        <p:blipFill>
          <a:blip r:embed="rId3"/>
          <a:srcRect l="13393" t="59916" r="13780" b="8544"/>
          <a:stretch/>
        </p:blipFill>
        <p:spPr>
          <a:xfrm>
            <a:off x="120960" y="3877200"/>
            <a:ext cx="8193600" cy="1776240"/>
          </a:xfrm>
          <a:prstGeom prst="rect">
            <a:avLst/>
          </a:prstGeom>
          <a:ln w="0">
            <a:noFill/>
          </a:ln>
        </p:spPr>
      </p:pic>
      <p:pic>
        <p:nvPicPr>
          <p:cNvPr id="204" name="Google Shape;313;p34" descr=""/>
          <p:cNvPicPr/>
          <p:nvPr/>
        </p:nvPicPr>
        <p:blipFill>
          <a:blip r:embed="rId4"/>
          <a:stretch/>
        </p:blipFill>
        <p:spPr>
          <a:xfrm>
            <a:off x="8926200" y="3969720"/>
            <a:ext cx="2475000" cy="1776240"/>
          </a:xfrm>
          <a:prstGeom prst="rect">
            <a:avLst/>
          </a:prstGeom>
          <a:ln w="0">
            <a:noFill/>
          </a:ln>
        </p:spPr>
      </p:pic>
      <p:pic>
        <p:nvPicPr>
          <p:cNvPr id="205" name="Google Shape;104;p 21" descr=""/>
          <p:cNvPicPr/>
          <p:nvPr/>
        </p:nvPicPr>
        <p:blipFill>
          <a:blip r:embed="rId5"/>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6" name="Google Shape;318;p35" descr=""/>
          <p:cNvPicPr/>
          <p:nvPr/>
        </p:nvPicPr>
        <p:blipFill>
          <a:blip r:embed="rId1"/>
          <a:stretch/>
        </p:blipFill>
        <p:spPr>
          <a:xfrm>
            <a:off x="-37440" y="772200"/>
            <a:ext cx="12265920" cy="151200"/>
          </a:xfrm>
          <a:prstGeom prst="rect">
            <a:avLst/>
          </a:prstGeom>
          <a:ln w="0">
            <a:noFill/>
          </a:ln>
        </p:spPr>
      </p:pic>
      <p:pic>
        <p:nvPicPr>
          <p:cNvPr id="207" name="Google Shape;319;p35" descr=""/>
          <p:cNvPicPr/>
          <p:nvPr/>
        </p:nvPicPr>
        <p:blipFill>
          <a:blip r:embed="rId2"/>
          <a:stretch/>
        </p:blipFill>
        <p:spPr>
          <a:xfrm>
            <a:off x="-37440" y="6617160"/>
            <a:ext cx="12265920" cy="239760"/>
          </a:xfrm>
          <a:prstGeom prst="rect">
            <a:avLst/>
          </a:prstGeom>
          <a:ln w="0">
            <a:noFill/>
          </a:ln>
        </p:spPr>
      </p:pic>
      <p:sp>
        <p:nvSpPr>
          <p:cNvPr id="208" name="Google Shape;321;p35"/>
          <p:cNvSpPr/>
          <p:nvPr/>
        </p:nvSpPr>
        <p:spPr>
          <a:xfrm>
            <a:off x="425160" y="118440"/>
            <a:ext cx="9700200" cy="575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6: LASSO REGRESSION</a:t>
            </a:r>
            <a:endParaRPr b="0" lang="en-US" sz="2500" spc="-1" strike="noStrike">
              <a:solidFill>
                <a:srgbClr val="000000"/>
              </a:solidFill>
              <a:latin typeface="Arial"/>
            </a:endParaRPr>
          </a:p>
        </p:txBody>
      </p:sp>
      <p:sp>
        <p:nvSpPr>
          <p:cNvPr id="209" name="Google Shape;322;p35"/>
          <p:cNvSpPr/>
          <p:nvPr/>
        </p:nvSpPr>
        <p:spPr>
          <a:xfrm>
            <a:off x="425160" y="1001520"/>
            <a:ext cx="10976040" cy="493344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The name Lasso stands for Least Absolute Shrinkage and Selection Operator.</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Lasso was designed to improve the interpretability of machine learning models by reducing the number of features, decisions made by a linear model is better understandable, if they are based on fewer variables.</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0" lang="en-US" sz="2400" spc="-1" strike="noStrike">
                <a:solidFill>
                  <a:schemeClr val="dk1"/>
                </a:solidFill>
                <a:highlight>
                  <a:srgbClr val="ffffff"/>
                </a:highlight>
                <a:latin typeface="Times New Roman"/>
                <a:ea typeface="Times New Roman"/>
              </a:rPr>
              <a:t>This feature selection procedure is independent of the performance metric that we are going to use to evaluate the performance of the final model.</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pic>
        <p:nvPicPr>
          <p:cNvPr id="210" name="Google Shape;323;p35" descr=""/>
          <p:cNvPicPr/>
          <p:nvPr/>
        </p:nvPicPr>
        <p:blipFill>
          <a:blip r:embed="rId3"/>
          <a:stretch/>
        </p:blipFill>
        <p:spPr>
          <a:xfrm>
            <a:off x="6556680" y="3919320"/>
            <a:ext cx="858960" cy="2015280"/>
          </a:xfrm>
          <a:prstGeom prst="rect">
            <a:avLst/>
          </a:prstGeom>
          <a:ln w="0">
            <a:noFill/>
          </a:ln>
        </p:spPr>
      </p:pic>
      <p:sp>
        <p:nvSpPr>
          <p:cNvPr id="211" name="Google Shape;324;p35"/>
          <p:cNvSpPr/>
          <p:nvPr/>
        </p:nvSpPr>
        <p:spPr>
          <a:xfrm>
            <a:off x="1094400" y="4112640"/>
            <a:ext cx="4566960" cy="1223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rgbClr val="161616"/>
                </a:solidFill>
                <a:latin typeface="Times New Roman"/>
                <a:ea typeface="Times New Roman"/>
              </a:rPr>
              <a:t>Selected features by Lasso  Regression:</a:t>
            </a:r>
            <a:endParaRPr b="0" lang="en-US" sz="2400" spc="-1" strike="noStrike">
              <a:solidFill>
                <a:srgbClr val="000000"/>
              </a:solidFill>
              <a:latin typeface="Arial"/>
            </a:endParaRPr>
          </a:p>
        </p:txBody>
      </p:sp>
      <p:pic>
        <p:nvPicPr>
          <p:cNvPr id="212" name="Google Shape;104;p 22" descr=""/>
          <p:cNvPicPr/>
          <p:nvPr/>
        </p:nvPicPr>
        <p:blipFill>
          <a:blip r:embed="rId4"/>
          <a:stretch/>
        </p:blipFill>
        <p:spPr>
          <a:xfrm>
            <a:off x="84582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3" name="Google Shape;329;p36" descr=""/>
          <p:cNvPicPr/>
          <p:nvPr/>
        </p:nvPicPr>
        <p:blipFill>
          <a:blip r:embed="rId1"/>
          <a:stretch/>
        </p:blipFill>
        <p:spPr>
          <a:xfrm>
            <a:off x="-37440" y="772200"/>
            <a:ext cx="12265920" cy="151200"/>
          </a:xfrm>
          <a:prstGeom prst="rect">
            <a:avLst/>
          </a:prstGeom>
          <a:ln w="0">
            <a:noFill/>
          </a:ln>
        </p:spPr>
      </p:pic>
      <p:pic>
        <p:nvPicPr>
          <p:cNvPr id="214" name="Google Shape;330;p36" descr=""/>
          <p:cNvPicPr/>
          <p:nvPr/>
        </p:nvPicPr>
        <p:blipFill>
          <a:blip r:embed="rId2"/>
          <a:stretch/>
        </p:blipFill>
        <p:spPr>
          <a:xfrm>
            <a:off x="-37440" y="6617160"/>
            <a:ext cx="12265920" cy="239760"/>
          </a:xfrm>
          <a:prstGeom prst="rect">
            <a:avLst/>
          </a:prstGeom>
          <a:ln w="0">
            <a:noFill/>
          </a:ln>
        </p:spPr>
      </p:pic>
      <p:sp>
        <p:nvSpPr>
          <p:cNvPr id="215" name="Google Shape;332;p36"/>
          <p:cNvSpPr/>
          <p:nvPr/>
        </p:nvSpPr>
        <p:spPr>
          <a:xfrm>
            <a:off x="425160" y="118440"/>
            <a:ext cx="9700200" cy="575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METHOD 7: RIDGE REGRESSION</a:t>
            </a:r>
            <a:endParaRPr b="0" lang="en-US" sz="2500" spc="-1" strike="noStrike">
              <a:solidFill>
                <a:srgbClr val="000000"/>
              </a:solidFill>
              <a:latin typeface="Arial"/>
            </a:endParaRPr>
          </a:p>
        </p:txBody>
      </p:sp>
      <p:sp>
        <p:nvSpPr>
          <p:cNvPr id="216" name="Google Shape;333;p36"/>
          <p:cNvSpPr/>
          <p:nvPr/>
        </p:nvSpPr>
        <p:spPr>
          <a:xfrm>
            <a:off x="425160" y="1001520"/>
            <a:ext cx="10976040" cy="493344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Ridge regression is used during feature selection to reduce the impact of multicollinearity and prevent overfitting.</a:t>
            </a:r>
            <a:r>
              <a:rPr b="0" lang="en-US" sz="2400" spc="-1" strike="noStrike">
                <a:solidFill>
                  <a:srgbClr val="242424"/>
                </a:solidFill>
                <a:highlight>
                  <a:srgbClr val="ffffff"/>
                </a:highlight>
                <a:latin typeface="Times New Roman"/>
                <a:ea typeface="Times New Roman"/>
              </a:rPr>
              <a:t>.</a:t>
            </a:r>
            <a:endParaRPr b="0" lang="en-US" sz="2400" spc="-1" strike="noStrike">
              <a:solidFill>
                <a:srgbClr val="000000"/>
              </a:solidFill>
              <a:latin typeface="Arial"/>
            </a:endParaRPr>
          </a:p>
          <a:p>
            <a:pPr marL="457200" indent="-380880">
              <a:lnSpc>
                <a:spcPct val="100000"/>
              </a:lnSpc>
              <a:buClr>
                <a:srgbClr val="242424"/>
              </a:buClr>
              <a:buFont typeface="Times New Roman"/>
              <a:buChar char="●"/>
            </a:pPr>
            <a:r>
              <a:rPr b="0" lang="en-US" sz="2400" spc="-1" strike="noStrike">
                <a:solidFill>
                  <a:srgbClr val="161616"/>
                </a:solidFill>
                <a:highlight>
                  <a:srgbClr val="ffffff"/>
                </a:highlight>
                <a:latin typeface="Times New Roman"/>
                <a:ea typeface="Times New Roman"/>
              </a:rPr>
              <a:t>Multicollinearity denotes when two or more predictors have a near-linear relationship.</a:t>
            </a:r>
            <a:endParaRPr b="0" lang="en-US" sz="2400" spc="-1" strike="noStrike">
              <a:solidFill>
                <a:srgbClr val="000000"/>
              </a:solidFill>
              <a:latin typeface="Arial"/>
            </a:endParaRPr>
          </a:p>
          <a:p>
            <a:pPr marL="457200" indent="-380880">
              <a:lnSpc>
                <a:spcPct val="100000"/>
              </a:lnSpc>
              <a:buClr>
                <a:srgbClr val="161616"/>
              </a:buClr>
              <a:buFont typeface="Times New Roman"/>
              <a:buChar char="●"/>
            </a:pPr>
            <a:r>
              <a:rPr b="0" lang="en-US" sz="2400" spc="-1" strike="noStrike">
                <a:solidFill>
                  <a:schemeClr val="dk1"/>
                </a:solidFill>
                <a:latin typeface="Times New Roman"/>
                <a:ea typeface="Times New Roman"/>
              </a:rPr>
              <a:t>Features with positive coefficients are selected by filtering the array of feature names names based on the condition ridge_coef &gt; 0. This can help in identifying which features are positively contributing to the model's predictions.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sp>
        <p:nvSpPr>
          <p:cNvPr id="217" name="Google Shape;334;p36"/>
          <p:cNvSpPr/>
          <p:nvPr/>
        </p:nvSpPr>
        <p:spPr>
          <a:xfrm flipH="1" rot="1200">
            <a:off x="1339560" y="4586040"/>
            <a:ext cx="3280320" cy="91404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2400" spc="-1" strike="noStrike">
                <a:solidFill>
                  <a:srgbClr val="161616"/>
                </a:solidFill>
                <a:latin typeface="Times New Roman"/>
                <a:ea typeface="Times New Roman"/>
              </a:rPr>
              <a:t>Selected features by Ridge  Regression:</a:t>
            </a:r>
            <a:endParaRPr b="0" lang="en-US" sz="2400" spc="-1" strike="noStrike">
              <a:solidFill>
                <a:srgbClr val="000000"/>
              </a:solidFill>
              <a:latin typeface="Arial"/>
            </a:endParaRPr>
          </a:p>
        </p:txBody>
      </p:sp>
      <p:pic>
        <p:nvPicPr>
          <p:cNvPr id="218" name="Google Shape;335;p36" descr=""/>
          <p:cNvPicPr/>
          <p:nvPr/>
        </p:nvPicPr>
        <p:blipFill>
          <a:blip r:embed="rId3"/>
          <a:stretch/>
        </p:blipFill>
        <p:spPr>
          <a:xfrm>
            <a:off x="5262480" y="4385880"/>
            <a:ext cx="2789640" cy="1953000"/>
          </a:xfrm>
          <a:prstGeom prst="rect">
            <a:avLst/>
          </a:prstGeom>
          <a:ln w="0">
            <a:noFill/>
          </a:ln>
        </p:spPr>
      </p:pic>
      <p:pic>
        <p:nvPicPr>
          <p:cNvPr id="219" name="Google Shape;104;p 23" descr=""/>
          <p:cNvPicPr/>
          <p:nvPr/>
        </p:nvPicPr>
        <p:blipFill>
          <a:blip r:embed="rId4"/>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Google Shape;340;p37" descr=""/>
          <p:cNvPicPr/>
          <p:nvPr/>
        </p:nvPicPr>
        <p:blipFill>
          <a:blip r:embed="rId1"/>
          <a:stretch/>
        </p:blipFill>
        <p:spPr>
          <a:xfrm>
            <a:off x="-37440" y="772200"/>
            <a:ext cx="12265920" cy="151200"/>
          </a:xfrm>
          <a:prstGeom prst="rect">
            <a:avLst/>
          </a:prstGeom>
          <a:ln w="0">
            <a:noFill/>
          </a:ln>
        </p:spPr>
      </p:pic>
      <p:pic>
        <p:nvPicPr>
          <p:cNvPr id="221" name="Google Shape;341;p37" descr=""/>
          <p:cNvPicPr/>
          <p:nvPr/>
        </p:nvPicPr>
        <p:blipFill>
          <a:blip r:embed="rId2"/>
          <a:stretch/>
        </p:blipFill>
        <p:spPr>
          <a:xfrm>
            <a:off x="-37440" y="6617160"/>
            <a:ext cx="12265920" cy="239760"/>
          </a:xfrm>
          <a:prstGeom prst="rect">
            <a:avLst/>
          </a:prstGeom>
          <a:ln w="0">
            <a:noFill/>
          </a:ln>
        </p:spPr>
      </p:pic>
      <p:sp>
        <p:nvSpPr>
          <p:cNvPr id="222" name="Google Shape;343;p37"/>
          <p:cNvSpPr/>
          <p:nvPr/>
        </p:nvSpPr>
        <p:spPr>
          <a:xfrm>
            <a:off x="425160" y="118440"/>
            <a:ext cx="9700200" cy="57564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500" spc="-1" strike="noStrike">
                <a:solidFill>
                  <a:schemeClr val="dk1"/>
                </a:solidFill>
                <a:latin typeface="Times New Roman"/>
                <a:ea typeface="Times New Roman"/>
              </a:rPr>
              <a:t>SUMMARY OF SELECTION METHODS</a:t>
            </a:r>
            <a:endParaRPr b="0" lang="en-US" sz="2500" spc="-1" strike="noStrike">
              <a:solidFill>
                <a:srgbClr val="000000"/>
              </a:solidFill>
              <a:latin typeface="Arial"/>
            </a:endParaRPr>
          </a:p>
        </p:txBody>
      </p:sp>
      <p:sp>
        <p:nvSpPr>
          <p:cNvPr id="223" name="Google Shape;344;p37"/>
          <p:cNvSpPr/>
          <p:nvPr/>
        </p:nvSpPr>
        <p:spPr>
          <a:xfrm>
            <a:off x="425160" y="1001520"/>
            <a:ext cx="10976040" cy="493344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pic>
        <p:nvPicPr>
          <p:cNvPr id="224" name="Google Shape;345;p37" descr=""/>
          <p:cNvPicPr/>
          <p:nvPr/>
        </p:nvPicPr>
        <p:blipFill>
          <a:blip r:embed="rId3"/>
          <a:stretch/>
        </p:blipFill>
        <p:spPr>
          <a:xfrm>
            <a:off x="241560" y="1391400"/>
            <a:ext cx="11708280" cy="4153320"/>
          </a:xfrm>
          <a:prstGeom prst="rect">
            <a:avLst/>
          </a:prstGeom>
          <a:ln w="0">
            <a:noFill/>
          </a:ln>
        </p:spPr>
      </p:pic>
      <p:pic>
        <p:nvPicPr>
          <p:cNvPr id="225" name="Google Shape;104;p 24" descr=""/>
          <p:cNvPicPr/>
          <p:nvPr/>
        </p:nvPicPr>
        <p:blipFill>
          <a:blip r:embed="rId4"/>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6" name="Google Shape;350;p38" descr=""/>
          <p:cNvPicPr/>
          <p:nvPr/>
        </p:nvPicPr>
        <p:blipFill>
          <a:blip r:embed="rId1"/>
          <a:stretch/>
        </p:blipFill>
        <p:spPr>
          <a:xfrm>
            <a:off x="-37440" y="772200"/>
            <a:ext cx="12265920" cy="151200"/>
          </a:xfrm>
          <a:prstGeom prst="rect">
            <a:avLst/>
          </a:prstGeom>
          <a:ln w="0">
            <a:noFill/>
          </a:ln>
        </p:spPr>
      </p:pic>
      <p:pic>
        <p:nvPicPr>
          <p:cNvPr id="227" name="Google Shape;351;p38" descr=""/>
          <p:cNvPicPr/>
          <p:nvPr/>
        </p:nvPicPr>
        <p:blipFill>
          <a:blip r:embed="rId2"/>
          <a:stretch/>
        </p:blipFill>
        <p:spPr>
          <a:xfrm>
            <a:off x="-37440" y="6617160"/>
            <a:ext cx="12265920" cy="239760"/>
          </a:xfrm>
          <a:prstGeom prst="rect">
            <a:avLst/>
          </a:prstGeom>
          <a:ln w="0">
            <a:noFill/>
          </a:ln>
        </p:spPr>
      </p:pic>
      <p:sp>
        <p:nvSpPr>
          <p:cNvPr id="228" name="Google Shape;353;p38"/>
          <p:cNvSpPr/>
          <p:nvPr/>
        </p:nvSpPr>
        <p:spPr>
          <a:xfrm>
            <a:off x="229680" y="135000"/>
            <a:ext cx="5308560" cy="5590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K FOLD</a:t>
            </a:r>
            <a:endParaRPr b="0" lang="en-US" sz="2400" spc="-1" strike="noStrike">
              <a:solidFill>
                <a:srgbClr val="000000"/>
              </a:solidFill>
              <a:latin typeface="Arial"/>
            </a:endParaRPr>
          </a:p>
        </p:txBody>
      </p:sp>
      <p:sp>
        <p:nvSpPr>
          <p:cNvPr id="229" name="Google Shape;354;p38"/>
          <p:cNvSpPr/>
          <p:nvPr/>
        </p:nvSpPr>
        <p:spPr>
          <a:xfrm>
            <a:off x="81360" y="1001520"/>
            <a:ext cx="11914200" cy="6355440"/>
          </a:xfrm>
          <a:prstGeom prst="rect">
            <a:avLst/>
          </a:prstGeom>
          <a:noFill/>
          <a:ln w="0">
            <a:noFill/>
          </a:ln>
        </p:spPr>
        <p:style>
          <a:lnRef idx="0"/>
          <a:fillRef idx="0"/>
          <a:effectRef idx="0"/>
          <a:fontRef idx="minor"/>
        </p:style>
        <p:txBody>
          <a:bodyPr lIns="90000" rIns="90000" tIns="91440" bIns="91440" anchor="t">
            <a:spAutoFit/>
          </a:bodyPr>
          <a:p>
            <a:pPr marL="457200" indent="-380880">
              <a:lnSpc>
                <a:spcPct val="115000"/>
              </a:lnSpc>
              <a:spcBef>
                <a:spcPts val="1199"/>
              </a:spcBef>
              <a:buClr>
                <a:srgbClr val="000000"/>
              </a:buClr>
              <a:buFont typeface="Arial"/>
              <a:buChar char="●"/>
            </a:pPr>
            <a:r>
              <a:rPr b="0" lang="en-US" sz="2400" spc="-1" strike="noStrike">
                <a:solidFill>
                  <a:schemeClr val="dk1"/>
                </a:solidFill>
                <a:latin typeface="Times New Roman"/>
                <a:ea typeface="Times New Roman"/>
              </a:rPr>
              <a:t>K-fold cross-validation is a </a:t>
            </a:r>
            <a:r>
              <a:rPr b="1" lang="en-US" sz="2400" spc="-1" strike="noStrike">
                <a:solidFill>
                  <a:schemeClr val="dk1"/>
                </a:solidFill>
                <a:latin typeface="Times New Roman"/>
                <a:ea typeface="Times New Roman"/>
              </a:rPr>
              <a:t>resampling technique</a:t>
            </a:r>
            <a:r>
              <a:rPr b="0" lang="en-US" sz="2400" spc="-1" strike="noStrike">
                <a:solidFill>
                  <a:schemeClr val="dk1"/>
                </a:solidFill>
                <a:latin typeface="Times New Roman"/>
                <a:ea typeface="Times New Roman"/>
              </a:rPr>
              <a:t> used to </a:t>
            </a:r>
            <a:r>
              <a:rPr b="1" lang="en-US" sz="2400" spc="-1" strike="noStrike">
                <a:solidFill>
                  <a:schemeClr val="dk1"/>
                </a:solidFill>
                <a:latin typeface="Times New Roman"/>
                <a:ea typeface="Times New Roman"/>
              </a:rPr>
              <a:t>evaluate machine learning models</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457200" indent="-380880">
              <a:lnSpc>
                <a:spcPct val="115000"/>
              </a:lnSpc>
              <a:buClr>
                <a:srgbClr val="000000"/>
              </a:buClr>
              <a:buFont typeface="Arial"/>
              <a:buChar char="●"/>
            </a:pPr>
            <a:r>
              <a:rPr b="0" lang="en-US" sz="2400" spc="-1" strike="noStrike">
                <a:solidFill>
                  <a:schemeClr val="dk1"/>
                </a:solidFill>
                <a:latin typeface="Times New Roman"/>
                <a:ea typeface="Times New Roman"/>
              </a:rPr>
              <a:t>It </a:t>
            </a:r>
            <a:r>
              <a:rPr b="1" lang="en-US" sz="2400" spc="-1" strike="noStrike">
                <a:solidFill>
                  <a:schemeClr val="dk1"/>
                </a:solidFill>
                <a:latin typeface="Times New Roman"/>
                <a:ea typeface="Times New Roman"/>
              </a:rPr>
              <a:t>splits the dataset into k subsets (folds)</a:t>
            </a:r>
            <a:r>
              <a:rPr b="0" lang="en-US" sz="2400" spc="-1" strike="noStrike">
                <a:solidFill>
                  <a:schemeClr val="dk1"/>
                </a:solidFill>
                <a:latin typeface="Times New Roman"/>
                <a:ea typeface="Times New Roman"/>
              </a:rPr>
              <a:t>, using </a:t>
            </a:r>
            <a:r>
              <a:rPr b="1" lang="en-US" sz="2400" spc="-1" strike="noStrike">
                <a:solidFill>
                  <a:schemeClr val="dk1"/>
                </a:solidFill>
                <a:latin typeface="Times New Roman"/>
                <a:ea typeface="Times New Roman"/>
              </a:rPr>
              <a:t>k-1 folds for training</a:t>
            </a:r>
            <a:r>
              <a:rPr b="0" lang="en-US" sz="2400" spc="-1" strike="noStrike">
                <a:solidFill>
                  <a:schemeClr val="dk1"/>
                </a:solidFill>
                <a:latin typeface="Times New Roman"/>
                <a:ea typeface="Times New Roman"/>
              </a:rPr>
              <a:t> and </a:t>
            </a:r>
            <a:r>
              <a:rPr b="1" lang="en-US" sz="2400" spc="-1" strike="noStrike">
                <a:solidFill>
                  <a:schemeClr val="dk1"/>
                </a:solidFill>
                <a:latin typeface="Times New Roman"/>
                <a:ea typeface="Times New Roman"/>
              </a:rPr>
              <a:t>1 fold for testing</a:t>
            </a:r>
            <a:r>
              <a:rPr b="0" lang="en-US" sz="2400" spc="-1" strike="noStrike">
                <a:solidFill>
                  <a:schemeClr val="dk1"/>
                </a:solidFill>
                <a:latin typeface="Times New Roman"/>
                <a:ea typeface="Times New Roman"/>
              </a:rPr>
              <a:t>, rotating through all folds.</a:t>
            </a:r>
            <a:endParaRPr b="0" lang="en-US" sz="2400" spc="-1" strike="noStrike">
              <a:solidFill>
                <a:srgbClr val="000000"/>
              </a:solidFill>
              <a:latin typeface="Arial"/>
            </a:endParaRPr>
          </a:p>
          <a:p>
            <a:pPr marL="457200" indent="-380880">
              <a:lnSpc>
                <a:spcPct val="115000"/>
              </a:lnSpc>
              <a:buClr>
                <a:srgbClr val="000000"/>
              </a:buClr>
              <a:buFont typeface="Arial"/>
              <a:buChar char="●"/>
            </a:pPr>
            <a:r>
              <a:rPr b="0" lang="en-US" sz="2400" spc="-1" strike="noStrike">
                <a:solidFill>
                  <a:schemeClr val="dk1"/>
                </a:solidFill>
                <a:latin typeface="Times New Roman"/>
                <a:ea typeface="Times New Roman"/>
              </a:rPr>
              <a:t>This method </a:t>
            </a:r>
            <a:r>
              <a:rPr b="1" lang="en-US" sz="2400" spc="-1" strike="noStrike">
                <a:solidFill>
                  <a:schemeClr val="dk1"/>
                </a:solidFill>
                <a:latin typeface="Times New Roman"/>
                <a:ea typeface="Times New Roman"/>
              </a:rPr>
              <a:t>ensures</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lvl="1" marL="914400" indent="-380880">
              <a:lnSpc>
                <a:spcPct val="115000"/>
              </a:lnSpc>
              <a:buClr>
                <a:srgbClr val="000000"/>
              </a:buClr>
              <a:buFont typeface="Arial"/>
              <a:buChar char="○"/>
            </a:pPr>
            <a:r>
              <a:rPr b="1" lang="en-US" sz="2400" spc="-1" strike="noStrike">
                <a:solidFill>
                  <a:schemeClr val="dk1"/>
                </a:solidFill>
                <a:latin typeface="Times New Roman"/>
                <a:ea typeface="Times New Roman"/>
              </a:rPr>
              <a:t>Better model evaluation</a:t>
            </a:r>
            <a:r>
              <a:rPr b="0" lang="en-US" sz="2400" spc="-1" strike="noStrike">
                <a:solidFill>
                  <a:schemeClr val="dk1"/>
                </a:solidFill>
                <a:latin typeface="Times New Roman"/>
                <a:ea typeface="Times New Roman"/>
              </a:rPr>
              <a:t> by reducing variance.</a:t>
            </a:r>
            <a:endParaRPr b="0" lang="en-US" sz="2400" spc="-1" strike="noStrike">
              <a:solidFill>
                <a:srgbClr val="000000"/>
              </a:solidFill>
              <a:latin typeface="Arial"/>
            </a:endParaRPr>
          </a:p>
          <a:p>
            <a:pPr lvl="1" marL="914400" indent="-380880">
              <a:lnSpc>
                <a:spcPct val="115000"/>
              </a:lnSpc>
              <a:buClr>
                <a:srgbClr val="000000"/>
              </a:buClr>
              <a:buFont typeface="Arial"/>
              <a:buChar char="○"/>
            </a:pPr>
            <a:r>
              <a:rPr b="1" lang="en-US" sz="2400" spc="-1" strike="noStrike">
                <a:solidFill>
                  <a:schemeClr val="dk1"/>
                </a:solidFill>
                <a:latin typeface="Times New Roman"/>
                <a:ea typeface="Times New Roman"/>
              </a:rPr>
              <a:t>Prevention of overfitting</a:t>
            </a:r>
            <a:r>
              <a:rPr b="0" lang="en-US" sz="2400" spc="-1" strike="noStrike">
                <a:solidFill>
                  <a:schemeClr val="dk1"/>
                </a:solidFill>
                <a:latin typeface="Times New Roman"/>
                <a:ea typeface="Times New Roman"/>
              </a:rPr>
              <a:t> compared to a simple train-test split.</a:t>
            </a:r>
            <a:endParaRPr b="0" lang="en-US" sz="2400" spc="-1" strike="noStrike">
              <a:solidFill>
                <a:srgbClr val="000000"/>
              </a:solidFill>
              <a:latin typeface="Arial"/>
            </a:endParaRPr>
          </a:p>
          <a:p>
            <a:pPr>
              <a:lnSpc>
                <a:spcPct val="115000"/>
              </a:lnSpc>
              <a:spcBef>
                <a:spcPts val="1199"/>
              </a:spcBef>
              <a:tabLst>
                <a:tab algn="l" pos="0"/>
              </a:tabLst>
            </a:pPr>
            <a:r>
              <a:rPr b="0" lang="en-US" sz="2400" spc="-1" strike="noStrike">
                <a:solidFill>
                  <a:schemeClr val="dk1"/>
                </a:solidFill>
                <a:latin typeface="Arial"/>
                <a:ea typeface="Arial"/>
              </a:rPr>
              <a:t>The dataset was </a:t>
            </a:r>
            <a:r>
              <a:rPr b="1" lang="en-US" sz="2400" spc="-1" strike="noStrike">
                <a:solidFill>
                  <a:schemeClr val="dk1"/>
                </a:solidFill>
                <a:latin typeface="Arial"/>
                <a:ea typeface="Arial"/>
              </a:rPr>
              <a:t>split using both train-test split and k-fold cross-validation</a:t>
            </a:r>
            <a:r>
              <a:rPr b="0" lang="en-US" sz="2400" spc="-1" strike="noStrike">
                <a:solidFill>
                  <a:schemeClr val="dk1"/>
                </a:solidFill>
                <a:latin typeface="Arial"/>
                <a:ea typeface="Arial"/>
              </a:rPr>
              <a:t>.</a:t>
            </a:r>
            <a:endParaRPr b="0" lang="en-US" sz="2400" spc="-1" strike="noStrike">
              <a:solidFill>
                <a:srgbClr val="000000"/>
              </a:solidFill>
              <a:latin typeface="Arial"/>
            </a:endParaRPr>
          </a:p>
          <a:p>
            <a:pPr>
              <a:lnSpc>
                <a:spcPct val="115000"/>
              </a:lnSpc>
              <a:spcBef>
                <a:spcPts val="1199"/>
              </a:spcBef>
              <a:tabLst>
                <a:tab algn="l" pos="0"/>
              </a:tabLst>
            </a:pPr>
            <a:r>
              <a:rPr b="0" lang="en-US" sz="2400" spc="-1" strike="noStrike">
                <a:solidFill>
                  <a:schemeClr val="dk1"/>
                </a:solidFill>
                <a:latin typeface="Arial"/>
                <a:ea typeface="Arial"/>
              </a:rPr>
              <a:t>K-fold </a:t>
            </a:r>
            <a:r>
              <a:rPr b="1" lang="en-US" sz="2400" spc="-1" strike="noStrike">
                <a:solidFill>
                  <a:schemeClr val="dk1"/>
                </a:solidFill>
                <a:latin typeface="Arial"/>
                <a:ea typeface="Arial"/>
              </a:rPr>
              <a:t>provides a more reliable estimate of model performance</a:t>
            </a:r>
            <a:r>
              <a:rPr b="0" lang="en-US" sz="2400" spc="-1" strike="noStrike">
                <a:solidFill>
                  <a:schemeClr val="dk1"/>
                </a:solidFill>
                <a:latin typeface="Arial"/>
                <a:ea typeface="Arial"/>
              </a:rPr>
              <a:t> across different data distributions.</a:t>
            </a:r>
            <a:endParaRPr b="0" lang="en-US" sz="2400" spc="-1" strike="noStrike">
              <a:solidFill>
                <a:srgbClr val="000000"/>
              </a:solidFill>
              <a:latin typeface="Arial"/>
            </a:endParaRPr>
          </a:p>
          <a:p>
            <a:pPr>
              <a:lnSpc>
                <a:spcPct val="115000"/>
              </a:lnSpc>
              <a:spcBef>
                <a:spcPts val="1199"/>
              </a:spcBef>
              <a:tabLst>
                <a:tab algn="l" pos="0"/>
              </a:tabLst>
            </a:pPr>
            <a:r>
              <a:rPr b="0" lang="en-US" sz="2400" spc="-1" strike="noStrike">
                <a:solidFill>
                  <a:schemeClr val="dk1"/>
                </a:solidFill>
                <a:latin typeface="Arial"/>
                <a:ea typeface="Arial"/>
              </a:rPr>
              <a:t>Applied </a:t>
            </a:r>
            <a:r>
              <a:rPr b="1" lang="en-US" sz="2400" spc="-1" strike="noStrike">
                <a:solidFill>
                  <a:schemeClr val="dk1"/>
                </a:solidFill>
                <a:latin typeface="Arial"/>
                <a:ea typeface="Arial"/>
              </a:rPr>
              <a:t>k = 10, 20, and 30</a:t>
            </a:r>
            <a:r>
              <a:rPr b="0" lang="en-US" sz="2400" spc="-1" strike="noStrike">
                <a:solidFill>
                  <a:schemeClr val="dk1"/>
                </a:solidFill>
                <a:latin typeface="Arial"/>
                <a:ea typeface="Arial"/>
              </a:rPr>
              <a:t> to </a:t>
            </a:r>
            <a:r>
              <a:rPr b="1" lang="en-US" sz="2400" spc="-1" strike="noStrike">
                <a:solidFill>
                  <a:schemeClr val="dk1"/>
                </a:solidFill>
                <a:latin typeface="Arial"/>
                <a:ea typeface="Arial"/>
              </a:rPr>
              <a:t>compare classifier robustness</a:t>
            </a:r>
            <a:r>
              <a:rPr b="0" lang="en-US" sz="2400" spc="-1" strike="noStrike">
                <a:solidFill>
                  <a:schemeClr val="dk1"/>
                </a:solidFill>
                <a:latin typeface="Arial"/>
                <a:ea typeface="Arial"/>
              </a:rPr>
              <a:t>.</a:t>
            </a:r>
            <a:endParaRPr b="0" lang="en-US" sz="2400" spc="-1" strike="noStrike">
              <a:solidFill>
                <a:srgbClr val="000000"/>
              </a:solidFill>
              <a:latin typeface="Arial"/>
            </a:endParaRPr>
          </a:p>
          <a:p>
            <a:pPr>
              <a:lnSpc>
                <a:spcPct val="115000"/>
              </a:lnSpc>
              <a:spcBef>
                <a:spcPts val="1199"/>
              </a:spcBef>
              <a:tabLst>
                <a:tab algn="l" pos="0"/>
              </a:tabLst>
            </a:pPr>
            <a:endParaRPr b="0" lang="en-US" sz="2400" spc="-1" strike="noStrike">
              <a:solidFill>
                <a:srgbClr val="000000"/>
              </a:solidFill>
              <a:latin typeface="Arial"/>
            </a:endParaRPr>
          </a:p>
          <a:p>
            <a:pPr>
              <a:lnSpc>
                <a:spcPct val="100000"/>
              </a:lnSpc>
              <a:spcBef>
                <a:spcPts val="1199"/>
              </a:spcBef>
              <a:tabLst>
                <a:tab algn="l" pos="0"/>
              </a:tabLst>
            </a:pPr>
            <a:endParaRPr b="0" lang="en-US" sz="2400" spc="-1" strike="noStrike">
              <a:solidFill>
                <a:srgbClr val="000000"/>
              </a:solidFill>
              <a:latin typeface="Arial"/>
            </a:endParaRPr>
          </a:p>
        </p:txBody>
      </p:sp>
      <p:pic>
        <p:nvPicPr>
          <p:cNvPr id="230" name="Google Shape;104;p 25" descr=""/>
          <p:cNvPicPr/>
          <p:nvPr/>
        </p:nvPicPr>
        <p:blipFill>
          <a:blip r:embed="rId3"/>
          <a:stretch/>
        </p:blipFill>
        <p:spPr>
          <a:xfrm>
            <a:off x="863532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Google Shape;359;p39" descr=""/>
          <p:cNvPicPr/>
          <p:nvPr/>
        </p:nvPicPr>
        <p:blipFill>
          <a:blip r:embed="rId1"/>
          <a:stretch/>
        </p:blipFill>
        <p:spPr>
          <a:xfrm>
            <a:off x="-37440" y="772200"/>
            <a:ext cx="12265920" cy="151200"/>
          </a:xfrm>
          <a:prstGeom prst="rect">
            <a:avLst/>
          </a:prstGeom>
          <a:ln w="0">
            <a:noFill/>
          </a:ln>
        </p:spPr>
      </p:pic>
      <p:pic>
        <p:nvPicPr>
          <p:cNvPr id="232" name="Google Shape;360;p39" descr=""/>
          <p:cNvPicPr/>
          <p:nvPr/>
        </p:nvPicPr>
        <p:blipFill>
          <a:blip r:embed="rId2"/>
          <a:stretch/>
        </p:blipFill>
        <p:spPr>
          <a:xfrm>
            <a:off x="-37440" y="6617160"/>
            <a:ext cx="12265920" cy="239760"/>
          </a:xfrm>
          <a:prstGeom prst="rect">
            <a:avLst/>
          </a:prstGeom>
          <a:ln w="0">
            <a:noFill/>
          </a:ln>
        </p:spPr>
      </p:pic>
      <p:sp>
        <p:nvSpPr>
          <p:cNvPr id="233" name="Google Shape;362;p39"/>
          <p:cNvSpPr/>
          <p:nvPr/>
        </p:nvSpPr>
        <p:spPr>
          <a:xfrm>
            <a:off x="378720" y="1001520"/>
            <a:ext cx="10865160" cy="530316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2400" spc="-1" strike="noStrike">
                <a:solidFill>
                  <a:schemeClr val="dk1"/>
                </a:solidFill>
                <a:latin typeface="Arial"/>
                <a:ea typeface="Arial"/>
              </a:rPr>
              <a:t>K controls how many times the dataset is split for training and testing.</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Arial"/>
                <a:ea typeface="Arial"/>
              </a:rPr>
              <a:t>Generally,</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Arial"/>
                <a:ea typeface="Arial"/>
              </a:rPr>
              <a:t>Lower k values (e.g., </a:t>
            </a:r>
            <a:r>
              <a:rPr b="1" lang="en-US" sz="2400" spc="-1" strike="noStrike">
                <a:solidFill>
                  <a:schemeClr val="dk1"/>
                </a:solidFill>
                <a:latin typeface="Arial"/>
                <a:ea typeface="Arial"/>
              </a:rPr>
              <a:t>K=5, K=10</a:t>
            </a:r>
            <a:r>
              <a:rPr b="0" lang="en-US" sz="2400" spc="-1" strike="noStrike">
                <a:solidFill>
                  <a:schemeClr val="dk1"/>
                </a:solidFill>
                <a:latin typeface="Arial"/>
                <a:ea typeface="Arial"/>
              </a:rPr>
              <a:t>) </a:t>
            </a:r>
            <a:r>
              <a:rPr b="1" lang="en-US" sz="2400" spc="-1" strike="noStrike">
                <a:solidFill>
                  <a:schemeClr val="dk1"/>
                </a:solidFill>
                <a:latin typeface="Arial"/>
                <a:ea typeface="Arial"/>
              </a:rPr>
              <a:t>reduce computation</a:t>
            </a:r>
            <a:r>
              <a:rPr b="0" lang="en-US" sz="2400" spc="-1" strike="noStrike">
                <a:solidFill>
                  <a:schemeClr val="dk1"/>
                </a:solidFill>
                <a:latin typeface="Arial"/>
                <a:ea typeface="Arial"/>
              </a:rPr>
              <a:t> but might introduce more </a:t>
            </a:r>
            <a:r>
              <a:rPr b="1" lang="en-US" sz="2400" spc="-1" strike="noStrike">
                <a:solidFill>
                  <a:schemeClr val="dk1"/>
                </a:solidFill>
                <a:latin typeface="Arial"/>
                <a:ea typeface="Arial"/>
              </a:rPr>
              <a:t>variance</a:t>
            </a:r>
            <a:r>
              <a:rPr b="0" lang="en-US" sz="2400" spc="-1" strike="noStrike">
                <a:solidFill>
                  <a:schemeClr val="dk1"/>
                </a:solidFill>
                <a:latin typeface="Arial"/>
                <a:ea typeface="Arial"/>
              </a:rPr>
              <a:t> in accuracy.</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Arial"/>
                <a:ea typeface="Arial"/>
              </a:rPr>
              <a:t>Higher k values (e.g., </a:t>
            </a:r>
            <a:r>
              <a:rPr b="1" lang="en-US" sz="2400" spc="-1" strike="noStrike">
                <a:solidFill>
                  <a:schemeClr val="dk1"/>
                </a:solidFill>
                <a:latin typeface="Arial"/>
                <a:ea typeface="Arial"/>
              </a:rPr>
              <a:t>K=20, K=30</a:t>
            </a:r>
            <a:r>
              <a:rPr b="0" lang="en-US" sz="2400" spc="-1" strike="noStrike">
                <a:solidFill>
                  <a:schemeClr val="dk1"/>
                </a:solidFill>
                <a:latin typeface="Arial"/>
                <a:ea typeface="Arial"/>
              </a:rPr>
              <a:t>) </a:t>
            </a:r>
            <a:r>
              <a:rPr b="1" lang="en-US" sz="2400" spc="-1" strike="noStrike">
                <a:solidFill>
                  <a:schemeClr val="dk1"/>
                </a:solidFill>
                <a:latin typeface="Arial"/>
                <a:ea typeface="Arial"/>
              </a:rPr>
              <a:t>improve stability</a:t>
            </a:r>
            <a:r>
              <a:rPr b="0" lang="en-US" sz="2400" spc="-1" strike="noStrike">
                <a:solidFill>
                  <a:schemeClr val="dk1"/>
                </a:solidFill>
                <a:latin typeface="Arial"/>
                <a:ea typeface="Arial"/>
              </a:rPr>
              <a:t> but increase </a:t>
            </a:r>
            <a:r>
              <a:rPr b="1" lang="en-US" sz="2400" spc="-1" strike="noStrike">
                <a:solidFill>
                  <a:schemeClr val="dk1"/>
                </a:solidFill>
                <a:latin typeface="Arial"/>
                <a:ea typeface="Arial"/>
              </a:rPr>
              <a:t>computational cost</a:t>
            </a:r>
            <a:r>
              <a:rPr b="0" lang="en-US" sz="2400" spc="-1" strike="noStrike">
                <a:solidFill>
                  <a:schemeClr val="dk1"/>
                </a:solidFill>
                <a:latin typeface="Arial"/>
                <a:ea typeface="Arial"/>
              </a:rPr>
              <a:t>.</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chemeClr val="dk1"/>
                </a:solidFill>
                <a:latin typeface="Arial"/>
                <a:ea typeface="Arial"/>
              </a:rPr>
              <a:t>The </a:t>
            </a:r>
            <a:r>
              <a:rPr b="1" lang="en-US" sz="2400" spc="-1" strike="noStrike">
                <a:solidFill>
                  <a:schemeClr val="dk1"/>
                </a:solidFill>
                <a:latin typeface="Arial"/>
                <a:ea typeface="Arial"/>
              </a:rPr>
              <a:t>goal</a:t>
            </a:r>
            <a:r>
              <a:rPr b="0" lang="en-US" sz="2400" spc="-1" strike="noStrike">
                <a:solidFill>
                  <a:schemeClr val="dk1"/>
                </a:solidFill>
                <a:latin typeface="Arial"/>
                <a:ea typeface="Arial"/>
              </a:rPr>
              <a:t> was to observe whether increasing K </a:t>
            </a:r>
            <a:r>
              <a:rPr b="1" lang="en-US" sz="2400" spc="-1" strike="noStrike">
                <a:solidFill>
                  <a:schemeClr val="dk1"/>
                </a:solidFill>
                <a:latin typeface="Arial"/>
                <a:ea typeface="Arial"/>
              </a:rPr>
              <a:t>leads to better performance</a:t>
            </a:r>
            <a:r>
              <a:rPr b="0" lang="en-US" sz="2400" spc="-1" strike="noStrike">
                <a:solidFill>
                  <a:schemeClr val="dk1"/>
                </a:solidFill>
                <a:latin typeface="Arial"/>
                <a:ea typeface="Arial"/>
              </a:rPr>
              <a:t> or just adds computational complexity without significant accuracy improvement.</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p:txBody>
      </p:sp>
      <p:pic>
        <p:nvPicPr>
          <p:cNvPr id="234" name="Google Shape;104;p 26"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5" name="Google Shape;385;p42" descr=""/>
          <p:cNvPicPr/>
          <p:nvPr/>
        </p:nvPicPr>
        <p:blipFill>
          <a:blip r:embed="rId1"/>
          <a:stretch/>
        </p:blipFill>
        <p:spPr>
          <a:xfrm>
            <a:off x="-37440" y="772200"/>
            <a:ext cx="12265920" cy="151200"/>
          </a:xfrm>
          <a:prstGeom prst="rect">
            <a:avLst/>
          </a:prstGeom>
          <a:ln w="0">
            <a:noFill/>
          </a:ln>
        </p:spPr>
      </p:pic>
      <p:pic>
        <p:nvPicPr>
          <p:cNvPr id="236" name="Google Shape;386;p42" descr=""/>
          <p:cNvPicPr/>
          <p:nvPr/>
        </p:nvPicPr>
        <p:blipFill>
          <a:blip r:embed="rId2"/>
          <a:stretch/>
        </p:blipFill>
        <p:spPr>
          <a:xfrm>
            <a:off x="-37440" y="6617160"/>
            <a:ext cx="12265920" cy="239760"/>
          </a:xfrm>
          <a:prstGeom prst="rect">
            <a:avLst/>
          </a:prstGeom>
          <a:ln w="0">
            <a:noFill/>
          </a:ln>
        </p:spPr>
      </p:pic>
      <p:sp>
        <p:nvSpPr>
          <p:cNvPr id="237" name="Google Shape;388;p42"/>
          <p:cNvSpPr/>
          <p:nvPr/>
        </p:nvSpPr>
        <p:spPr>
          <a:xfrm>
            <a:off x="1000440" y="1652760"/>
            <a:ext cx="11084400" cy="496296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38" name="Google Shape;389;p42"/>
          <p:cNvSpPr/>
          <p:nvPr/>
        </p:nvSpPr>
        <p:spPr>
          <a:xfrm>
            <a:off x="2631960" y="2358000"/>
            <a:ext cx="6926760" cy="5799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3000" spc="-1" strike="noStrike">
                <a:solidFill>
                  <a:schemeClr val="dk1"/>
                </a:solidFill>
                <a:latin typeface="Times New Roman"/>
                <a:ea typeface="Times New Roman"/>
              </a:rPr>
              <a:t>              </a:t>
            </a:r>
            <a:r>
              <a:rPr b="1" lang="en-US" sz="3000" spc="-1" strike="noStrike">
                <a:solidFill>
                  <a:schemeClr val="dk1"/>
                </a:solidFill>
                <a:latin typeface="Times New Roman"/>
                <a:ea typeface="Times New Roman"/>
              </a:rPr>
              <a:t>MODEL BLADING</a:t>
            </a:r>
            <a:endParaRPr b="0" lang="en-US" sz="3000" spc="-1" strike="noStrike">
              <a:solidFill>
                <a:srgbClr val="000000"/>
              </a:solidFill>
              <a:latin typeface="Arial"/>
            </a:endParaRPr>
          </a:p>
        </p:txBody>
      </p:sp>
      <p:sp>
        <p:nvSpPr>
          <p:cNvPr id="239" name="Google Shape;390;p42"/>
          <p:cNvSpPr/>
          <p:nvPr/>
        </p:nvSpPr>
        <p:spPr>
          <a:xfrm>
            <a:off x="2327760" y="3339360"/>
            <a:ext cx="8091000" cy="8622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2400" spc="-1" strike="noStrike">
                <a:solidFill>
                  <a:schemeClr val="dk1"/>
                </a:solidFill>
                <a:latin typeface="Times New Roman"/>
                <a:ea typeface="Times New Roman"/>
              </a:rPr>
              <a:t>An ensemble technique that combines predictions from multiple models using a meta-model to improve overall accuracy</a:t>
            </a:r>
            <a:endParaRPr b="0" lang="en-US" sz="2400" spc="-1" strike="noStrike">
              <a:solidFill>
                <a:srgbClr val="000000"/>
              </a:solidFill>
              <a:latin typeface="Arial"/>
            </a:endParaRPr>
          </a:p>
        </p:txBody>
      </p:sp>
      <p:pic>
        <p:nvPicPr>
          <p:cNvPr id="240" name="Google Shape;104;p 29" descr=""/>
          <p:cNvPicPr/>
          <p:nvPr/>
        </p:nvPicPr>
        <p:blipFill>
          <a:blip r:embed="rId3"/>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1" name="Google Shape;395;p43" descr=""/>
          <p:cNvPicPr/>
          <p:nvPr/>
        </p:nvPicPr>
        <p:blipFill>
          <a:blip r:embed="rId1"/>
          <a:stretch/>
        </p:blipFill>
        <p:spPr>
          <a:xfrm>
            <a:off x="-37440" y="772200"/>
            <a:ext cx="12265920" cy="151200"/>
          </a:xfrm>
          <a:prstGeom prst="rect">
            <a:avLst/>
          </a:prstGeom>
          <a:ln w="0">
            <a:noFill/>
          </a:ln>
        </p:spPr>
      </p:pic>
      <p:pic>
        <p:nvPicPr>
          <p:cNvPr id="242" name="Google Shape;396;p43" descr=""/>
          <p:cNvPicPr/>
          <p:nvPr/>
        </p:nvPicPr>
        <p:blipFill>
          <a:blip r:embed="rId2"/>
          <a:stretch/>
        </p:blipFill>
        <p:spPr>
          <a:xfrm>
            <a:off x="-37440" y="6617160"/>
            <a:ext cx="12265920" cy="239760"/>
          </a:xfrm>
          <a:prstGeom prst="rect">
            <a:avLst/>
          </a:prstGeom>
          <a:ln w="0">
            <a:noFill/>
          </a:ln>
        </p:spPr>
      </p:pic>
      <p:sp>
        <p:nvSpPr>
          <p:cNvPr id="243" name="Google Shape;398;p43"/>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rgbClr val="000000"/>
                </a:solidFill>
                <a:latin typeface="Times New Roman"/>
                <a:ea typeface="Times New Roman"/>
              </a:rPr>
              <a:t>Random Forest is an ensemble learning method that constructs multiple decision trees during training and merges their outputs to improve prediction accuracy, stability, and resistance to overfitting compared to a single decision tree.</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rgbClr val="000000"/>
                </a:solidFill>
                <a:latin typeface="Times New Roman"/>
                <a:ea typeface="Times New Roman"/>
              </a:rPr>
              <a:t>It selects random subsets of features for each tree, ensuring diversity among trees and making the model more robust.</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rgbClr val="000000"/>
                </a:solidFill>
                <a:latin typeface="Times New Roman"/>
                <a:ea typeface="Times New Roman"/>
              </a:rPr>
              <a:t>Random Forest can handle missing values, noisy data, and outliers effectively. It maintains high performance across various types of datasets and is well-suited for both classification and regression tasks in real-world applications.</a:t>
            </a:r>
            <a:endParaRPr b="0" lang="en-US" sz="2400" spc="-1" strike="noStrike">
              <a:solidFill>
                <a:srgbClr val="000000"/>
              </a:solidFill>
              <a:latin typeface="Arial"/>
            </a:endParaRPr>
          </a:p>
        </p:txBody>
      </p:sp>
      <p:sp>
        <p:nvSpPr>
          <p:cNvPr id="244" name="Google Shape;399;p43"/>
          <p:cNvSpPr/>
          <p:nvPr/>
        </p:nvSpPr>
        <p:spPr>
          <a:xfrm>
            <a:off x="123840" y="131760"/>
            <a:ext cx="58338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CLASSIFIER 1: RANDOM FOREST</a:t>
            </a:r>
            <a:endParaRPr b="0" lang="en-US" sz="2600" spc="-1" strike="noStrike">
              <a:solidFill>
                <a:srgbClr val="000000"/>
              </a:solidFill>
              <a:latin typeface="Arial"/>
            </a:endParaRPr>
          </a:p>
        </p:txBody>
      </p:sp>
      <p:pic>
        <p:nvPicPr>
          <p:cNvPr id="245" name="Google Shape;104;p 30" descr=""/>
          <p:cNvPicPr/>
          <p:nvPr/>
        </p:nvPicPr>
        <p:blipFill>
          <a:blip r:embed="rId3"/>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6" name="Google Shape;404;p44" descr=""/>
          <p:cNvPicPr/>
          <p:nvPr/>
        </p:nvPicPr>
        <p:blipFill>
          <a:blip r:embed="rId1"/>
          <a:stretch/>
        </p:blipFill>
        <p:spPr>
          <a:xfrm>
            <a:off x="-37440" y="772200"/>
            <a:ext cx="12265920" cy="151200"/>
          </a:xfrm>
          <a:prstGeom prst="rect">
            <a:avLst/>
          </a:prstGeom>
          <a:ln w="0">
            <a:noFill/>
          </a:ln>
        </p:spPr>
      </p:pic>
      <p:pic>
        <p:nvPicPr>
          <p:cNvPr id="247" name="Google Shape;405;p44" descr=""/>
          <p:cNvPicPr/>
          <p:nvPr/>
        </p:nvPicPr>
        <p:blipFill>
          <a:blip r:embed="rId2"/>
          <a:stretch/>
        </p:blipFill>
        <p:spPr>
          <a:xfrm>
            <a:off x="-37440" y="6617160"/>
            <a:ext cx="12265920" cy="239760"/>
          </a:xfrm>
          <a:prstGeom prst="rect">
            <a:avLst/>
          </a:prstGeom>
          <a:ln w="0">
            <a:noFill/>
          </a:ln>
        </p:spPr>
      </p:pic>
      <p:sp>
        <p:nvSpPr>
          <p:cNvPr id="248" name="Google Shape;407;p44"/>
          <p:cNvSpPr/>
          <p:nvPr/>
        </p:nvSpPr>
        <p:spPr>
          <a:xfrm>
            <a:off x="333360" y="1078920"/>
            <a:ext cx="11216880" cy="5365080"/>
          </a:xfrm>
          <a:prstGeom prst="rect">
            <a:avLst/>
          </a:prstGeom>
          <a:noFill/>
          <a:ln w="9525">
            <a:solidFill>
              <a:srgbClr val="ffffff"/>
            </a:solidFill>
            <a:round/>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49" name="Google Shape;408;p44"/>
          <p:cNvSpPr/>
          <p:nvPr/>
        </p:nvSpPr>
        <p:spPr>
          <a:xfrm>
            <a:off x="123840" y="131760"/>
            <a:ext cx="58338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RANDOM FOREST</a:t>
            </a:r>
            <a:endParaRPr b="0" lang="en-US" sz="2600" spc="-1" strike="noStrike">
              <a:solidFill>
                <a:srgbClr val="000000"/>
              </a:solidFill>
              <a:latin typeface="Arial"/>
            </a:endParaRPr>
          </a:p>
        </p:txBody>
      </p:sp>
      <p:pic>
        <p:nvPicPr>
          <p:cNvPr id="250" name="" descr=""/>
          <p:cNvPicPr/>
          <p:nvPr/>
        </p:nvPicPr>
        <p:blipFill>
          <a:blip r:embed="rId3"/>
          <a:stretch/>
        </p:blipFill>
        <p:spPr>
          <a:xfrm>
            <a:off x="3200400" y="1029240"/>
            <a:ext cx="5714280" cy="5370840"/>
          </a:xfrm>
          <a:prstGeom prst="rect">
            <a:avLst/>
          </a:prstGeom>
          <a:ln w="0">
            <a:noFill/>
          </a:ln>
        </p:spPr>
      </p:pic>
      <p:pic>
        <p:nvPicPr>
          <p:cNvPr id="251" name="Google Shape;104;p 31" descr=""/>
          <p:cNvPicPr/>
          <p:nvPr/>
        </p:nvPicPr>
        <p:blipFill>
          <a:blip r:embed="rId4"/>
          <a:stretch/>
        </p:blipFill>
        <p:spPr>
          <a:xfrm>
            <a:off x="86868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2" name="Google Shape;414;p45" descr=""/>
          <p:cNvPicPr/>
          <p:nvPr/>
        </p:nvPicPr>
        <p:blipFill>
          <a:blip r:embed="rId1"/>
          <a:stretch/>
        </p:blipFill>
        <p:spPr>
          <a:xfrm>
            <a:off x="-37440" y="772200"/>
            <a:ext cx="12265920" cy="151200"/>
          </a:xfrm>
          <a:prstGeom prst="rect">
            <a:avLst/>
          </a:prstGeom>
          <a:ln w="0">
            <a:noFill/>
          </a:ln>
        </p:spPr>
      </p:pic>
      <p:pic>
        <p:nvPicPr>
          <p:cNvPr id="253" name="Google Shape;415;p45" descr=""/>
          <p:cNvPicPr/>
          <p:nvPr/>
        </p:nvPicPr>
        <p:blipFill>
          <a:blip r:embed="rId2"/>
          <a:stretch/>
        </p:blipFill>
        <p:spPr>
          <a:xfrm>
            <a:off x="-37440" y="6617160"/>
            <a:ext cx="12265920" cy="239760"/>
          </a:xfrm>
          <a:prstGeom prst="rect">
            <a:avLst/>
          </a:prstGeom>
          <a:ln w="0">
            <a:noFill/>
          </a:ln>
        </p:spPr>
      </p:pic>
      <p:sp>
        <p:nvSpPr>
          <p:cNvPr id="254" name="Google Shape;417;p45"/>
          <p:cNvSpPr/>
          <p:nvPr/>
        </p:nvSpPr>
        <p:spPr>
          <a:xfrm>
            <a:off x="286560" y="1172160"/>
            <a:ext cx="11262960" cy="52722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rgbClr val="000000"/>
                </a:solidFill>
                <a:latin typeface="Times New Roman"/>
                <a:ea typeface="Times New Roman"/>
              </a:rPr>
              <a:t>Gradient Boosting builds models sequentially, where each new model corrects the errors of the previous one by minimizing the residual errors.</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rgbClr val="000000"/>
                </a:solidFill>
                <a:latin typeface="Times New Roman"/>
                <a:ea typeface="Times New Roman"/>
              </a:rPr>
              <a:t>It uses decision trees as weak learners and optimizes their performance by adjusting weights through gradient descent, making the model more accurate with each step.</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rgbClr val="000000"/>
                </a:solidFill>
                <a:latin typeface="Times New Roman"/>
                <a:ea typeface="Times New Roman"/>
              </a:rPr>
              <a:t>Gradient Boosting is highly effective for both classification and regression tasks, as it improves predictions by focusing on errors. However, it can overfit if not properly tuned with regularization techniques.</a:t>
            </a:r>
            <a:endParaRPr b="0" lang="en-US" sz="2400" spc="-1" strike="noStrike">
              <a:solidFill>
                <a:srgbClr val="000000"/>
              </a:solidFill>
              <a:latin typeface="Arial"/>
            </a:endParaRPr>
          </a:p>
        </p:txBody>
      </p:sp>
      <p:sp>
        <p:nvSpPr>
          <p:cNvPr id="255" name="Google Shape;418;p45"/>
          <p:cNvSpPr/>
          <p:nvPr/>
        </p:nvSpPr>
        <p:spPr>
          <a:xfrm>
            <a:off x="54360" y="131760"/>
            <a:ext cx="6973200" cy="6940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CLASSIFIER 2: GRADIENT BOOSTING</a:t>
            </a:r>
            <a:endParaRPr b="0" lang="en-US" sz="26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p:txBody>
      </p:sp>
      <p:sp>
        <p:nvSpPr>
          <p:cNvPr id="256" name="Google Shape;419;p45"/>
          <p:cNvSpPr/>
          <p:nvPr/>
        </p:nvSpPr>
        <p:spPr>
          <a:xfrm>
            <a:off x="6049800" y="6064200"/>
            <a:ext cx="726480" cy="379800"/>
          </a:xfrm>
          <a:prstGeom prst="ellipse">
            <a:avLst/>
          </a:prstGeom>
          <a:solidFill>
            <a:schemeClr val="lt1"/>
          </a:solidFill>
          <a:ln w="9525">
            <a:solidFill>
              <a:srgbClr val="ffffff"/>
            </a:solidFill>
            <a:round/>
          </a:ln>
        </p:spPr>
        <p:style>
          <a:lnRef idx="0"/>
          <a:fillRef idx="0"/>
          <a:effectRef idx="0"/>
          <a:fontRef idx="minor"/>
        </p:style>
        <p:txBody>
          <a:bodyPr lIns="90000" rIns="90000" tIns="91440" bIns="91440" anchor="ctr">
            <a:noAutofit/>
          </a:bodyPr>
          <a:p>
            <a:pPr algn="ctr">
              <a:lnSpc>
                <a:spcPct val="100000"/>
              </a:lnSpc>
              <a:tabLst>
                <a:tab algn="l" pos="0"/>
              </a:tabLst>
            </a:pPr>
            <a:endParaRPr b="0" lang="en-US" sz="1400" spc="-1" strike="noStrike">
              <a:solidFill>
                <a:srgbClr val="000000"/>
              </a:solidFill>
              <a:latin typeface="Arial"/>
            </a:endParaRPr>
          </a:p>
        </p:txBody>
      </p:sp>
      <p:pic>
        <p:nvPicPr>
          <p:cNvPr id="257" name="Google Shape;104;p 32" descr=""/>
          <p:cNvPicPr/>
          <p:nvPr/>
        </p:nvPicPr>
        <p:blipFill>
          <a:blip r:embed="rId3"/>
          <a:stretch/>
        </p:blipFill>
        <p:spPr>
          <a:xfrm>
            <a:off x="86868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8" name="Google Shape;424;p46" descr=""/>
          <p:cNvPicPr/>
          <p:nvPr/>
        </p:nvPicPr>
        <p:blipFill>
          <a:blip r:embed="rId1"/>
          <a:stretch/>
        </p:blipFill>
        <p:spPr>
          <a:xfrm>
            <a:off x="-37440" y="772200"/>
            <a:ext cx="12265920" cy="151200"/>
          </a:xfrm>
          <a:prstGeom prst="rect">
            <a:avLst/>
          </a:prstGeom>
          <a:ln w="0">
            <a:noFill/>
          </a:ln>
        </p:spPr>
      </p:pic>
      <p:pic>
        <p:nvPicPr>
          <p:cNvPr id="259" name="Google Shape;425;p46" descr=""/>
          <p:cNvPicPr/>
          <p:nvPr/>
        </p:nvPicPr>
        <p:blipFill>
          <a:blip r:embed="rId2"/>
          <a:stretch/>
        </p:blipFill>
        <p:spPr>
          <a:xfrm>
            <a:off x="-37440" y="6617160"/>
            <a:ext cx="12265920" cy="239760"/>
          </a:xfrm>
          <a:prstGeom prst="rect">
            <a:avLst/>
          </a:prstGeom>
          <a:ln w="0">
            <a:noFill/>
          </a:ln>
        </p:spPr>
      </p:pic>
      <p:sp>
        <p:nvSpPr>
          <p:cNvPr id="260" name="Google Shape;427;p46"/>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61" name="Google Shape;428;p46"/>
          <p:cNvSpPr/>
          <p:nvPr/>
        </p:nvSpPr>
        <p:spPr>
          <a:xfrm>
            <a:off x="123840" y="131760"/>
            <a:ext cx="801396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GRADIENT BOOSTING</a:t>
            </a:r>
            <a:endParaRPr b="0" lang="en-US" sz="2600" spc="-1" strike="noStrike">
              <a:solidFill>
                <a:srgbClr val="000000"/>
              </a:solidFill>
              <a:latin typeface="Arial"/>
            </a:endParaRPr>
          </a:p>
        </p:txBody>
      </p:sp>
      <p:pic>
        <p:nvPicPr>
          <p:cNvPr id="262" name="" descr=""/>
          <p:cNvPicPr/>
          <p:nvPr/>
        </p:nvPicPr>
        <p:blipFill>
          <a:blip r:embed="rId3"/>
          <a:stretch/>
        </p:blipFill>
        <p:spPr>
          <a:xfrm>
            <a:off x="2514600" y="1227240"/>
            <a:ext cx="6628680" cy="5259240"/>
          </a:xfrm>
          <a:prstGeom prst="rect">
            <a:avLst/>
          </a:prstGeom>
          <a:ln w="0">
            <a:noFill/>
          </a:ln>
        </p:spPr>
      </p:pic>
      <p:pic>
        <p:nvPicPr>
          <p:cNvPr id="263" name="Google Shape;104;p 33" descr=""/>
          <p:cNvPicPr/>
          <p:nvPr/>
        </p:nvPicPr>
        <p:blipFill>
          <a:blip r:embed="rId4"/>
          <a:stretch/>
        </p:blipFill>
        <p:spPr>
          <a:xfrm>
            <a:off x="863532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4" name="Google Shape;434;p47" descr=""/>
          <p:cNvPicPr/>
          <p:nvPr/>
        </p:nvPicPr>
        <p:blipFill>
          <a:blip r:embed="rId1"/>
          <a:stretch/>
        </p:blipFill>
        <p:spPr>
          <a:xfrm>
            <a:off x="-37440" y="772200"/>
            <a:ext cx="12265920" cy="151200"/>
          </a:xfrm>
          <a:prstGeom prst="rect">
            <a:avLst/>
          </a:prstGeom>
          <a:ln w="0">
            <a:noFill/>
          </a:ln>
        </p:spPr>
      </p:pic>
      <p:pic>
        <p:nvPicPr>
          <p:cNvPr id="265" name="Google Shape;435;p47" descr=""/>
          <p:cNvPicPr/>
          <p:nvPr/>
        </p:nvPicPr>
        <p:blipFill>
          <a:blip r:embed="rId2"/>
          <a:stretch/>
        </p:blipFill>
        <p:spPr>
          <a:xfrm>
            <a:off x="-37440" y="6617160"/>
            <a:ext cx="12265920" cy="239760"/>
          </a:xfrm>
          <a:prstGeom prst="rect">
            <a:avLst/>
          </a:prstGeom>
          <a:ln w="0">
            <a:noFill/>
          </a:ln>
        </p:spPr>
      </p:pic>
      <p:sp>
        <p:nvSpPr>
          <p:cNvPr id="266" name="Google Shape;437;p47"/>
          <p:cNvSpPr/>
          <p:nvPr/>
        </p:nvSpPr>
        <p:spPr>
          <a:xfrm>
            <a:off x="127080" y="1068120"/>
            <a:ext cx="11422800" cy="54324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Adaptive Boosting is a powerful ensemble learning technique that combines multiple weak classifiers to create a strong classifier. It works by sequentially adding classifiers to correct the errors made by previous models giving more weight to the misclassified data points.</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chemeClr val="dk1"/>
                </a:solidFill>
                <a:latin typeface="Times New Roman"/>
                <a:ea typeface="Times New Roman"/>
              </a:rPr>
              <a:t>AdaBoost improves by focusing on hard-to-classify cases while Gradient Boosting improves by correcting errors.</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rgbClr val="000000"/>
                </a:solidFill>
                <a:latin typeface="Times New Roman"/>
                <a:ea typeface="Times New Roman"/>
              </a:rPr>
              <a:t>Adaptive Boosting is sensitive to noisy data and outliers since it assigns higher weights to misclassified points, which can sometimes lead to overfitting.</a:t>
            </a:r>
            <a:endParaRPr b="0" lang="en-US" sz="2400" spc="-1" strike="noStrike">
              <a:solidFill>
                <a:srgbClr val="000000"/>
              </a:solidFill>
              <a:latin typeface="Arial"/>
            </a:endParaRPr>
          </a:p>
        </p:txBody>
      </p:sp>
      <p:sp>
        <p:nvSpPr>
          <p:cNvPr id="267" name="Google Shape;438;p47"/>
          <p:cNvSpPr/>
          <p:nvPr/>
        </p:nvSpPr>
        <p:spPr>
          <a:xfrm>
            <a:off x="127080" y="87480"/>
            <a:ext cx="8364960" cy="6066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CLASSIFIER 3: ADABOOST (Adaptive Boosting) </a:t>
            </a:r>
            <a:endParaRPr b="0" lang="en-US" sz="2600" spc="-1" strike="noStrike">
              <a:solidFill>
                <a:srgbClr val="000000"/>
              </a:solidFill>
              <a:latin typeface="Arial"/>
            </a:endParaRPr>
          </a:p>
        </p:txBody>
      </p:sp>
      <p:pic>
        <p:nvPicPr>
          <p:cNvPr id="268" name="Google Shape;104;p 34" descr=""/>
          <p:cNvPicPr/>
          <p:nvPr/>
        </p:nvPicPr>
        <p:blipFill>
          <a:blip r:embed="rId3"/>
          <a:stretch/>
        </p:blipFill>
        <p:spPr>
          <a:xfrm>
            <a:off x="867204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9" name="Google Shape;443;p48" descr=""/>
          <p:cNvPicPr/>
          <p:nvPr/>
        </p:nvPicPr>
        <p:blipFill>
          <a:blip r:embed="rId1"/>
          <a:stretch/>
        </p:blipFill>
        <p:spPr>
          <a:xfrm>
            <a:off x="-37440" y="772200"/>
            <a:ext cx="12265920" cy="151200"/>
          </a:xfrm>
          <a:prstGeom prst="rect">
            <a:avLst/>
          </a:prstGeom>
          <a:ln w="0">
            <a:noFill/>
          </a:ln>
        </p:spPr>
      </p:pic>
      <p:pic>
        <p:nvPicPr>
          <p:cNvPr id="270" name="Google Shape;444;p48" descr=""/>
          <p:cNvPicPr/>
          <p:nvPr/>
        </p:nvPicPr>
        <p:blipFill>
          <a:blip r:embed="rId2"/>
          <a:stretch/>
        </p:blipFill>
        <p:spPr>
          <a:xfrm>
            <a:off x="-37440" y="6617160"/>
            <a:ext cx="12265920" cy="239760"/>
          </a:xfrm>
          <a:prstGeom prst="rect">
            <a:avLst/>
          </a:prstGeom>
          <a:ln w="0">
            <a:noFill/>
          </a:ln>
        </p:spPr>
      </p:pic>
      <p:sp>
        <p:nvSpPr>
          <p:cNvPr id="271" name="Google Shape;446;p48"/>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72" name="Google Shape;447;p48"/>
          <p:cNvSpPr/>
          <p:nvPr/>
        </p:nvSpPr>
        <p:spPr>
          <a:xfrm>
            <a:off x="123840" y="131760"/>
            <a:ext cx="58338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ADABOOST</a:t>
            </a:r>
            <a:endParaRPr b="0" lang="en-US" sz="2600" spc="-1" strike="noStrike">
              <a:solidFill>
                <a:srgbClr val="000000"/>
              </a:solidFill>
              <a:latin typeface="Arial"/>
            </a:endParaRPr>
          </a:p>
        </p:txBody>
      </p:sp>
      <p:pic>
        <p:nvPicPr>
          <p:cNvPr id="273" name="" descr=""/>
          <p:cNvPicPr/>
          <p:nvPr/>
        </p:nvPicPr>
        <p:blipFill>
          <a:blip r:embed="rId3"/>
          <a:stretch/>
        </p:blipFill>
        <p:spPr>
          <a:xfrm>
            <a:off x="2286000" y="1227240"/>
            <a:ext cx="6628680" cy="5052600"/>
          </a:xfrm>
          <a:prstGeom prst="rect">
            <a:avLst/>
          </a:prstGeom>
          <a:ln w="0">
            <a:noFill/>
          </a:ln>
        </p:spPr>
      </p:pic>
      <p:pic>
        <p:nvPicPr>
          <p:cNvPr id="274" name="Google Shape;104;p 35" descr=""/>
          <p:cNvPicPr/>
          <p:nvPr/>
        </p:nvPicPr>
        <p:blipFill>
          <a:blip r:embed="rId4"/>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5" name="Google Shape;453;p49" descr=""/>
          <p:cNvPicPr/>
          <p:nvPr/>
        </p:nvPicPr>
        <p:blipFill>
          <a:blip r:embed="rId1"/>
          <a:stretch/>
        </p:blipFill>
        <p:spPr>
          <a:xfrm>
            <a:off x="-37440" y="772200"/>
            <a:ext cx="12265920" cy="151200"/>
          </a:xfrm>
          <a:prstGeom prst="rect">
            <a:avLst/>
          </a:prstGeom>
          <a:ln w="0">
            <a:noFill/>
          </a:ln>
        </p:spPr>
      </p:pic>
      <p:pic>
        <p:nvPicPr>
          <p:cNvPr id="276" name="Google Shape;454;p49" descr=""/>
          <p:cNvPicPr/>
          <p:nvPr/>
        </p:nvPicPr>
        <p:blipFill>
          <a:blip r:embed="rId2"/>
          <a:stretch/>
        </p:blipFill>
        <p:spPr>
          <a:xfrm>
            <a:off x="-37440" y="6617160"/>
            <a:ext cx="12265920" cy="239760"/>
          </a:xfrm>
          <a:prstGeom prst="rect">
            <a:avLst/>
          </a:prstGeom>
          <a:ln w="0">
            <a:noFill/>
          </a:ln>
        </p:spPr>
      </p:pic>
      <p:sp>
        <p:nvSpPr>
          <p:cNvPr id="277" name="Google Shape;456;p49"/>
          <p:cNvSpPr/>
          <p:nvPr/>
        </p:nvSpPr>
        <p:spPr>
          <a:xfrm>
            <a:off x="0" y="156240"/>
            <a:ext cx="9805320" cy="614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CLASSIFIER 4: XGBOOSTING (eXtreme Gradient Boosting)</a:t>
            </a:r>
            <a:endParaRPr b="0" lang="en-US" sz="26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p:txBody>
      </p:sp>
      <p:sp>
        <p:nvSpPr>
          <p:cNvPr id="278" name="Google Shape;457;p49"/>
          <p:cNvSpPr/>
          <p:nvPr/>
        </p:nvSpPr>
        <p:spPr>
          <a:xfrm>
            <a:off x="201960" y="1075320"/>
            <a:ext cx="11732040" cy="535716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0" lang="en-US" sz="2400" spc="-1" strike="noStrike">
                <a:solidFill>
                  <a:schemeClr val="dk1"/>
                </a:solidFill>
                <a:latin typeface="Times New Roman"/>
                <a:ea typeface="Times New Roman"/>
              </a:rPr>
              <a:t>XGBoost supports both classification and regression tasks and is widely used in machine learning competitions due to its scalability and superior predictive performance.</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chemeClr val="dk1"/>
                </a:solidFill>
                <a:latin typeface="Times New Roman"/>
                <a:ea typeface="Times New Roman"/>
              </a:rPr>
              <a:t>XGBoost is an optimized implementation of Gradient Boosting that uses GB to build strong models from weak learners, optimized for speed and performance.</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00000"/>
              </a:lnSpc>
              <a:buClr>
                <a:srgbClr val="000000"/>
              </a:buClr>
              <a:buFont typeface="Times New Roman"/>
              <a:buChar char="●"/>
              <a:tabLst>
                <a:tab algn="l" pos="0"/>
              </a:tabLst>
            </a:pPr>
            <a:r>
              <a:rPr b="0" lang="en-US" sz="2400" spc="-1" strike="noStrike">
                <a:solidFill>
                  <a:schemeClr val="dk1"/>
                </a:solidFill>
                <a:latin typeface="Times New Roman"/>
                <a:ea typeface="Times New Roman"/>
              </a:rPr>
              <a:t>It enhances performance and accuracy through optimized techniques like parallel processing, regularization, and efficient handling of missing values.</a:t>
            </a:r>
            <a:endParaRPr b="0" lang="en-US" sz="2400" spc="-1" strike="noStrike">
              <a:solidFill>
                <a:srgbClr val="000000"/>
              </a:solidFill>
              <a:latin typeface="Arial"/>
            </a:endParaRPr>
          </a:p>
        </p:txBody>
      </p:sp>
      <p:pic>
        <p:nvPicPr>
          <p:cNvPr id="279" name="Google Shape;104;p 36" descr=""/>
          <p:cNvPicPr/>
          <p:nvPr/>
        </p:nvPicPr>
        <p:blipFill>
          <a:blip r:embed="rId3"/>
          <a:stretch/>
        </p:blipFill>
        <p:spPr>
          <a:xfrm>
            <a:off x="8915400" y="109800"/>
            <a:ext cx="3200040" cy="70056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0" name="Google Shape;462;p50" descr=""/>
          <p:cNvPicPr/>
          <p:nvPr/>
        </p:nvPicPr>
        <p:blipFill>
          <a:blip r:embed="rId1"/>
          <a:stretch/>
        </p:blipFill>
        <p:spPr>
          <a:xfrm>
            <a:off x="-37440" y="772200"/>
            <a:ext cx="12265920" cy="151200"/>
          </a:xfrm>
          <a:prstGeom prst="rect">
            <a:avLst/>
          </a:prstGeom>
          <a:ln w="0">
            <a:noFill/>
          </a:ln>
        </p:spPr>
      </p:pic>
      <p:pic>
        <p:nvPicPr>
          <p:cNvPr id="281" name="Google Shape;463;p50" descr=""/>
          <p:cNvPicPr/>
          <p:nvPr/>
        </p:nvPicPr>
        <p:blipFill>
          <a:blip r:embed="rId2"/>
          <a:stretch/>
        </p:blipFill>
        <p:spPr>
          <a:xfrm>
            <a:off x="-37440" y="6617160"/>
            <a:ext cx="12265920" cy="239760"/>
          </a:xfrm>
          <a:prstGeom prst="rect">
            <a:avLst/>
          </a:prstGeom>
          <a:ln w="0">
            <a:noFill/>
          </a:ln>
        </p:spPr>
      </p:pic>
      <p:sp>
        <p:nvSpPr>
          <p:cNvPr id="282" name="Google Shape;465;p50"/>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83" name="Google Shape;466;p50"/>
          <p:cNvSpPr/>
          <p:nvPr/>
        </p:nvSpPr>
        <p:spPr>
          <a:xfrm>
            <a:off x="123840" y="131760"/>
            <a:ext cx="58338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XGBOOST</a:t>
            </a:r>
            <a:endParaRPr b="0" lang="en-US" sz="2600" spc="-1" strike="noStrike">
              <a:solidFill>
                <a:srgbClr val="000000"/>
              </a:solidFill>
              <a:latin typeface="Arial"/>
            </a:endParaRPr>
          </a:p>
        </p:txBody>
      </p:sp>
      <p:pic>
        <p:nvPicPr>
          <p:cNvPr id="284" name="" descr=""/>
          <p:cNvPicPr/>
          <p:nvPr/>
        </p:nvPicPr>
        <p:blipFill>
          <a:blip r:embed="rId3"/>
          <a:stretch/>
        </p:blipFill>
        <p:spPr>
          <a:xfrm>
            <a:off x="2514600" y="1227240"/>
            <a:ext cx="7085880" cy="4715640"/>
          </a:xfrm>
          <a:prstGeom prst="rect">
            <a:avLst/>
          </a:prstGeom>
          <a:ln w="0">
            <a:noFill/>
          </a:ln>
        </p:spPr>
      </p:pic>
      <p:pic>
        <p:nvPicPr>
          <p:cNvPr id="285" name="Google Shape;104;p 37" descr=""/>
          <p:cNvPicPr/>
          <p:nvPr/>
        </p:nvPicPr>
        <p:blipFill>
          <a:blip r:embed="rId4"/>
          <a:stretch/>
        </p:blipFill>
        <p:spPr>
          <a:xfrm>
            <a:off x="863532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6" name="Google Shape;472;p51" descr=""/>
          <p:cNvPicPr/>
          <p:nvPr/>
        </p:nvPicPr>
        <p:blipFill>
          <a:blip r:embed="rId1"/>
          <a:stretch/>
        </p:blipFill>
        <p:spPr>
          <a:xfrm>
            <a:off x="-37440" y="772200"/>
            <a:ext cx="12265920" cy="151200"/>
          </a:xfrm>
          <a:prstGeom prst="rect">
            <a:avLst/>
          </a:prstGeom>
          <a:ln w="0">
            <a:noFill/>
          </a:ln>
        </p:spPr>
      </p:pic>
      <p:pic>
        <p:nvPicPr>
          <p:cNvPr id="287" name="Google Shape;473;p51" descr=""/>
          <p:cNvPicPr/>
          <p:nvPr/>
        </p:nvPicPr>
        <p:blipFill>
          <a:blip r:embed="rId2"/>
          <a:stretch/>
        </p:blipFill>
        <p:spPr>
          <a:xfrm>
            <a:off x="-37440" y="6617160"/>
            <a:ext cx="12265920" cy="239760"/>
          </a:xfrm>
          <a:prstGeom prst="rect">
            <a:avLst/>
          </a:prstGeom>
          <a:ln w="0">
            <a:noFill/>
          </a:ln>
        </p:spPr>
      </p:pic>
      <p:sp>
        <p:nvSpPr>
          <p:cNvPr id="288" name="Google Shape;475;p51"/>
          <p:cNvSpPr/>
          <p:nvPr/>
        </p:nvSpPr>
        <p:spPr>
          <a:xfrm>
            <a:off x="158760" y="1044360"/>
            <a:ext cx="10067040" cy="539460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15000"/>
              </a:lnSpc>
              <a:spcBef>
                <a:spcPts val="1199"/>
              </a:spcBef>
              <a:buClr>
                <a:srgbClr val="000000"/>
              </a:buClr>
              <a:buFont typeface="Arial"/>
              <a:buChar char="●"/>
            </a:pPr>
            <a:r>
              <a:rPr b="0" lang="en-US" sz="2400" spc="-1" strike="noStrike">
                <a:solidFill>
                  <a:schemeClr val="dk1"/>
                </a:solidFill>
                <a:latin typeface="Times New Roman"/>
                <a:ea typeface="Times New Roman"/>
              </a:rPr>
              <a:t>SVM aims to find the </a:t>
            </a:r>
            <a:r>
              <a:rPr b="1" lang="en-US" sz="2400" spc="-1" strike="noStrike">
                <a:solidFill>
                  <a:schemeClr val="dk1"/>
                </a:solidFill>
                <a:latin typeface="Times New Roman"/>
                <a:ea typeface="Times New Roman"/>
              </a:rPr>
              <a:t>optimal hyperplane</a:t>
            </a:r>
            <a:r>
              <a:rPr b="0" lang="en-US" sz="2400" spc="-1" strike="noStrike">
                <a:solidFill>
                  <a:schemeClr val="dk1"/>
                </a:solidFill>
                <a:latin typeface="Times New Roman"/>
                <a:ea typeface="Times New Roman"/>
              </a:rPr>
              <a:t> that separates the data into two classes with the </a:t>
            </a:r>
            <a:r>
              <a:rPr b="1" lang="en-US" sz="2400" spc="-1" strike="noStrike">
                <a:solidFill>
                  <a:schemeClr val="dk1"/>
                </a:solidFill>
                <a:latin typeface="Times New Roman"/>
                <a:ea typeface="Times New Roman"/>
              </a:rPr>
              <a:t>maximum margin</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457200">
              <a:lnSpc>
                <a:spcPct val="115000"/>
              </a:lnSpc>
              <a:spcBef>
                <a:spcPts val="1199"/>
              </a:spcBef>
              <a:tabLst>
                <a:tab algn="l" pos="0"/>
              </a:tabLst>
            </a:pPr>
            <a:endParaRPr b="0" lang="en-US" sz="2400" spc="-1" strike="noStrike">
              <a:solidFill>
                <a:srgbClr val="000000"/>
              </a:solidFill>
              <a:latin typeface="Arial"/>
            </a:endParaRPr>
          </a:p>
          <a:p>
            <a:pPr marL="457200" indent="-380880">
              <a:lnSpc>
                <a:spcPct val="115000"/>
              </a:lnSpc>
              <a:spcBef>
                <a:spcPts val="1199"/>
              </a:spcBef>
              <a:buClr>
                <a:srgbClr val="000000"/>
              </a:buClr>
              <a:buFont typeface="Arial"/>
              <a:buChar char="●"/>
              <a:tabLst>
                <a:tab algn="l" pos="0"/>
              </a:tabLst>
            </a:pPr>
            <a:r>
              <a:rPr b="1" lang="en-US" sz="2400" spc="-1" strike="noStrike">
                <a:solidFill>
                  <a:schemeClr val="dk1"/>
                </a:solidFill>
                <a:latin typeface="Times New Roman"/>
                <a:ea typeface="Times New Roman"/>
              </a:rPr>
              <a:t>Margin</a:t>
            </a:r>
            <a:r>
              <a:rPr b="0" lang="en-US" sz="2400" spc="-1" strike="noStrike">
                <a:solidFill>
                  <a:schemeClr val="dk1"/>
                </a:solidFill>
                <a:latin typeface="Times New Roman"/>
                <a:ea typeface="Times New Roman"/>
              </a:rPr>
              <a:t> refers to the distance between the hyperplane and the nearest data points from each class, known as </a:t>
            </a:r>
            <a:r>
              <a:rPr b="1" lang="en-US" sz="2400" spc="-1" strike="noStrike">
                <a:solidFill>
                  <a:schemeClr val="dk1"/>
                </a:solidFill>
                <a:latin typeface="Times New Roman"/>
                <a:ea typeface="Times New Roman"/>
              </a:rPr>
              <a:t>support vectors</a:t>
            </a: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457200">
              <a:lnSpc>
                <a:spcPct val="115000"/>
              </a:lnSpc>
              <a:spcBef>
                <a:spcPts val="1199"/>
              </a:spcBef>
              <a:tabLst>
                <a:tab algn="l" pos="0"/>
              </a:tabLst>
            </a:pPr>
            <a:endParaRPr b="0" lang="en-US" sz="2400" spc="-1" strike="noStrike">
              <a:solidFill>
                <a:srgbClr val="000000"/>
              </a:solidFill>
              <a:latin typeface="Arial"/>
            </a:endParaRPr>
          </a:p>
          <a:p>
            <a:pPr marL="457200" indent="-380880">
              <a:lnSpc>
                <a:spcPct val="115000"/>
              </a:lnSpc>
              <a:spcBef>
                <a:spcPts val="1199"/>
              </a:spcBef>
              <a:buClr>
                <a:srgbClr val="000000"/>
              </a:buClr>
              <a:buFont typeface="Arial"/>
              <a:buChar char="●"/>
              <a:tabLst>
                <a:tab algn="l" pos="0"/>
              </a:tabLst>
            </a:pPr>
            <a:r>
              <a:rPr b="0" lang="en-US" sz="2400" spc="-1" strike="noStrike">
                <a:solidFill>
                  <a:schemeClr val="dk1"/>
                </a:solidFill>
                <a:latin typeface="Times New Roman"/>
                <a:ea typeface="Times New Roman"/>
              </a:rPr>
              <a:t>When the data is </a:t>
            </a:r>
            <a:r>
              <a:rPr b="1" lang="en-US" sz="2400" spc="-1" strike="noStrike">
                <a:solidFill>
                  <a:schemeClr val="dk1"/>
                </a:solidFill>
                <a:latin typeface="Times New Roman"/>
                <a:ea typeface="Times New Roman"/>
              </a:rPr>
              <a:t>linearly separable</a:t>
            </a:r>
            <a:r>
              <a:rPr b="0" lang="en-US" sz="2400" spc="-1" strike="noStrike">
                <a:solidFill>
                  <a:schemeClr val="dk1"/>
                </a:solidFill>
                <a:latin typeface="Times New Roman"/>
                <a:ea typeface="Times New Roman"/>
              </a:rPr>
              <a:t>, SVM finds a straight line (or plane) that divides the classes.For </a:t>
            </a:r>
            <a:r>
              <a:rPr b="1" lang="en-US" sz="2400" spc="-1" strike="noStrike">
                <a:solidFill>
                  <a:schemeClr val="dk1"/>
                </a:solidFill>
                <a:latin typeface="Times New Roman"/>
                <a:ea typeface="Times New Roman"/>
              </a:rPr>
              <a:t>non-linear data</a:t>
            </a:r>
            <a:r>
              <a:rPr b="0" lang="en-US" sz="2400" spc="-1" strike="noStrike">
                <a:solidFill>
                  <a:schemeClr val="dk1"/>
                </a:solidFill>
                <a:latin typeface="Times New Roman"/>
                <a:ea typeface="Times New Roman"/>
              </a:rPr>
              <a:t>, SVM uses </a:t>
            </a:r>
            <a:r>
              <a:rPr b="1" lang="en-US" sz="2400" spc="-1" strike="noStrike">
                <a:solidFill>
                  <a:schemeClr val="dk1"/>
                </a:solidFill>
                <a:latin typeface="Times New Roman"/>
                <a:ea typeface="Times New Roman"/>
              </a:rPr>
              <a:t>kernel tricks</a:t>
            </a:r>
            <a:r>
              <a:rPr b="0" lang="en-US" sz="2400" spc="-1" strike="noStrike">
                <a:solidFill>
                  <a:schemeClr val="dk1"/>
                </a:solidFill>
                <a:latin typeface="Times New Roman"/>
                <a:ea typeface="Times New Roman"/>
              </a:rPr>
              <a:t> (like RBF, polynomial) to </a:t>
            </a:r>
            <a:r>
              <a:rPr b="1" lang="en-US" sz="2400" spc="-1" strike="noStrike">
                <a:solidFill>
                  <a:schemeClr val="dk1"/>
                </a:solidFill>
                <a:latin typeface="Times New Roman"/>
                <a:ea typeface="Times New Roman"/>
              </a:rPr>
              <a:t>transform the data into a higher-dimensional space</a:t>
            </a:r>
            <a:r>
              <a:rPr b="0" lang="en-US" sz="2400" spc="-1" strike="noStrike">
                <a:solidFill>
                  <a:schemeClr val="dk1"/>
                </a:solidFill>
                <a:latin typeface="Times New Roman"/>
                <a:ea typeface="Times New Roman"/>
              </a:rPr>
              <a:t> where a separating hyperplane is possible.</a:t>
            </a:r>
            <a:endParaRPr b="0" lang="en-US" sz="2400" spc="-1" strike="noStrike">
              <a:solidFill>
                <a:srgbClr val="000000"/>
              </a:solidFill>
              <a:latin typeface="Arial"/>
            </a:endParaRPr>
          </a:p>
        </p:txBody>
      </p:sp>
      <p:sp>
        <p:nvSpPr>
          <p:cNvPr id="289" name="Google Shape;476;p51"/>
          <p:cNvSpPr/>
          <p:nvPr/>
        </p:nvSpPr>
        <p:spPr>
          <a:xfrm>
            <a:off x="93240" y="55080"/>
            <a:ext cx="7964280" cy="57852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2600" spc="-1" strike="noStrike">
                <a:solidFill>
                  <a:schemeClr val="dk1"/>
                </a:solidFill>
                <a:latin typeface="Times New Roman"/>
                <a:ea typeface="Times New Roman"/>
              </a:rPr>
              <a:t>CLASSIFIER 5: SUPPORT VECTOR MACHINE </a:t>
            </a:r>
            <a:endParaRPr b="0" lang="en-US" sz="2600" spc="-1" strike="noStrike">
              <a:solidFill>
                <a:srgbClr val="000000"/>
              </a:solidFill>
              <a:latin typeface="Arial"/>
            </a:endParaRPr>
          </a:p>
        </p:txBody>
      </p:sp>
      <p:pic>
        <p:nvPicPr>
          <p:cNvPr id="290" name="Google Shape;104;p 38" descr=""/>
          <p:cNvPicPr/>
          <p:nvPr/>
        </p:nvPicPr>
        <p:blipFill>
          <a:blip r:embed="rId3"/>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1" name="Google Shape;481;p52" descr=""/>
          <p:cNvPicPr/>
          <p:nvPr/>
        </p:nvPicPr>
        <p:blipFill>
          <a:blip r:embed="rId1"/>
          <a:stretch/>
        </p:blipFill>
        <p:spPr>
          <a:xfrm>
            <a:off x="-37440" y="772200"/>
            <a:ext cx="12265920" cy="151200"/>
          </a:xfrm>
          <a:prstGeom prst="rect">
            <a:avLst/>
          </a:prstGeom>
          <a:ln w="0">
            <a:noFill/>
          </a:ln>
        </p:spPr>
      </p:pic>
      <p:pic>
        <p:nvPicPr>
          <p:cNvPr id="292" name="Google Shape;482;p52" descr=""/>
          <p:cNvPicPr/>
          <p:nvPr/>
        </p:nvPicPr>
        <p:blipFill>
          <a:blip r:embed="rId2"/>
          <a:stretch/>
        </p:blipFill>
        <p:spPr>
          <a:xfrm>
            <a:off x="-37440" y="6617160"/>
            <a:ext cx="12265920" cy="239760"/>
          </a:xfrm>
          <a:prstGeom prst="rect">
            <a:avLst/>
          </a:prstGeom>
          <a:ln w="0">
            <a:noFill/>
          </a:ln>
        </p:spPr>
      </p:pic>
      <p:sp>
        <p:nvSpPr>
          <p:cNvPr id="293" name="Google Shape;484;p52"/>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294" name="Google Shape;485;p52"/>
          <p:cNvSpPr/>
          <p:nvPr/>
        </p:nvSpPr>
        <p:spPr>
          <a:xfrm>
            <a:off x="123840" y="131760"/>
            <a:ext cx="862056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SUPPORT VECTOR MACHINE</a:t>
            </a:r>
            <a:endParaRPr b="0" lang="en-US" sz="2600" spc="-1" strike="noStrike">
              <a:solidFill>
                <a:srgbClr val="000000"/>
              </a:solidFill>
              <a:latin typeface="Arial"/>
            </a:endParaRPr>
          </a:p>
        </p:txBody>
      </p:sp>
      <p:pic>
        <p:nvPicPr>
          <p:cNvPr id="295" name="" descr=""/>
          <p:cNvPicPr/>
          <p:nvPr/>
        </p:nvPicPr>
        <p:blipFill>
          <a:blip r:embed="rId3"/>
          <a:stretch/>
        </p:blipFill>
        <p:spPr>
          <a:xfrm>
            <a:off x="3200400" y="1000080"/>
            <a:ext cx="5257080" cy="5443920"/>
          </a:xfrm>
          <a:prstGeom prst="rect">
            <a:avLst/>
          </a:prstGeom>
          <a:ln w="0">
            <a:noFill/>
          </a:ln>
        </p:spPr>
      </p:pic>
      <p:pic>
        <p:nvPicPr>
          <p:cNvPr id="296" name="Google Shape;104;p 39" descr=""/>
          <p:cNvPicPr/>
          <p:nvPr/>
        </p:nvPicPr>
        <p:blipFill>
          <a:blip r:embed="rId4"/>
          <a:stretch/>
        </p:blipFill>
        <p:spPr>
          <a:xfrm>
            <a:off x="867204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Google Shape;491;p53" descr=""/>
          <p:cNvPicPr/>
          <p:nvPr/>
        </p:nvPicPr>
        <p:blipFill>
          <a:blip r:embed="rId1"/>
          <a:stretch/>
        </p:blipFill>
        <p:spPr>
          <a:xfrm>
            <a:off x="-37440" y="772200"/>
            <a:ext cx="12265920" cy="151200"/>
          </a:xfrm>
          <a:prstGeom prst="rect">
            <a:avLst/>
          </a:prstGeom>
          <a:ln w="0">
            <a:noFill/>
          </a:ln>
        </p:spPr>
      </p:pic>
      <p:pic>
        <p:nvPicPr>
          <p:cNvPr id="298" name="Google Shape;492;p53" descr=""/>
          <p:cNvPicPr/>
          <p:nvPr/>
        </p:nvPicPr>
        <p:blipFill>
          <a:blip r:embed="rId2"/>
          <a:stretch/>
        </p:blipFill>
        <p:spPr>
          <a:xfrm>
            <a:off x="-37440" y="6617160"/>
            <a:ext cx="12265920" cy="239760"/>
          </a:xfrm>
          <a:prstGeom prst="rect">
            <a:avLst/>
          </a:prstGeom>
          <a:ln w="0">
            <a:noFill/>
          </a:ln>
        </p:spPr>
      </p:pic>
      <p:sp>
        <p:nvSpPr>
          <p:cNvPr id="299" name="Google Shape;494;p53"/>
          <p:cNvSpPr/>
          <p:nvPr/>
        </p:nvSpPr>
        <p:spPr>
          <a:xfrm>
            <a:off x="127440" y="956520"/>
            <a:ext cx="11693520" cy="562752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15000"/>
              </a:lnSpc>
              <a:spcBef>
                <a:spcPts val="1199"/>
              </a:spcBef>
              <a:buClr>
                <a:srgbClr val="000000"/>
              </a:buClr>
              <a:buFont typeface="Arial"/>
              <a:buChar char="●"/>
            </a:pPr>
            <a:r>
              <a:rPr b="0" lang="en-US" sz="2400" spc="-1" strike="noStrike">
                <a:solidFill>
                  <a:schemeClr val="dk1"/>
                </a:solidFill>
                <a:latin typeface="Times New Roman"/>
                <a:ea typeface="Times New Roman"/>
              </a:rPr>
              <a:t>A </a:t>
            </a:r>
            <a:r>
              <a:rPr b="1" lang="en-US" sz="2400" spc="-1" strike="noStrike">
                <a:solidFill>
                  <a:schemeClr val="dk1"/>
                </a:solidFill>
                <a:latin typeface="Times New Roman"/>
                <a:ea typeface="Times New Roman"/>
              </a:rPr>
              <a:t>Decision Tree</a:t>
            </a:r>
            <a:r>
              <a:rPr b="0" lang="en-US" sz="2400" spc="-1" strike="noStrike">
                <a:solidFill>
                  <a:schemeClr val="dk1"/>
                </a:solidFill>
                <a:latin typeface="Times New Roman"/>
                <a:ea typeface="Times New Roman"/>
              </a:rPr>
              <a:t> is a </a:t>
            </a:r>
            <a:r>
              <a:rPr b="1" lang="en-US" sz="2400" spc="-1" strike="noStrike">
                <a:solidFill>
                  <a:schemeClr val="dk1"/>
                </a:solidFill>
                <a:latin typeface="Times New Roman"/>
                <a:ea typeface="Times New Roman"/>
              </a:rPr>
              <a:t>tree-structured model</a:t>
            </a:r>
            <a:r>
              <a:rPr b="0" lang="en-US" sz="2400" spc="-1" strike="noStrike">
                <a:solidFill>
                  <a:schemeClr val="dk1"/>
                </a:solidFill>
                <a:latin typeface="Times New Roman"/>
                <a:ea typeface="Times New Roman"/>
              </a:rPr>
              <a:t> that splits the dataset into smaller subsets based on the value of input features.</a:t>
            </a:r>
            <a:endParaRPr b="0" lang="en-US" sz="2400" spc="-1" strike="noStrike">
              <a:solidFill>
                <a:srgbClr val="000000"/>
              </a:solidFill>
              <a:latin typeface="Arial"/>
            </a:endParaRPr>
          </a:p>
          <a:p>
            <a:pPr marL="457200" indent="-380880">
              <a:lnSpc>
                <a:spcPct val="115000"/>
              </a:lnSpc>
              <a:buClr>
                <a:srgbClr val="000000"/>
              </a:buClr>
              <a:buFont typeface="Times New Roman"/>
              <a:buChar char="●"/>
            </a:pPr>
            <a:r>
              <a:rPr b="0" lang="en-US" sz="2400" spc="-1" strike="noStrike">
                <a:solidFill>
                  <a:schemeClr val="dk1"/>
                </a:solidFill>
                <a:latin typeface="Times New Roman"/>
                <a:ea typeface="Times New Roman"/>
              </a:rPr>
              <a:t>At each node:</a:t>
            </a:r>
            <a:endParaRPr b="0" lang="en-US" sz="2400" spc="-1" strike="noStrike">
              <a:solidFill>
                <a:srgbClr val="000000"/>
              </a:solidFill>
              <a:latin typeface="Arial"/>
            </a:endParaRPr>
          </a:p>
          <a:p>
            <a:pPr marL="914400">
              <a:lnSpc>
                <a:spcPct val="115000"/>
              </a:lnSpc>
              <a:spcBef>
                <a:spcPts val="1199"/>
              </a:spcBef>
              <a:tabLst>
                <a:tab algn="l" pos="0"/>
              </a:tabLst>
            </a:pPr>
            <a:r>
              <a:rPr b="0" lang="en-US" sz="2400" spc="-1" strike="noStrike">
                <a:solidFill>
                  <a:schemeClr val="dk1"/>
                </a:solidFill>
                <a:latin typeface="Times New Roman"/>
                <a:ea typeface="Times New Roman"/>
              </a:rPr>
              <a:t>The algorithm chooses the </a:t>
            </a:r>
            <a:r>
              <a:rPr b="1" lang="en-US" sz="2400" spc="-1" strike="noStrike">
                <a:solidFill>
                  <a:schemeClr val="dk1"/>
                </a:solidFill>
                <a:latin typeface="Times New Roman"/>
                <a:ea typeface="Times New Roman"/>
              </a:rPr>
              <a:t>best feature</a:t>
            </a:r>
            <a:r>
              <a:rPr b="0" lang="en-US" sz="2400" spc="-1" strike="noStrike">
                <a:solidFill>
                  <a:schemeClr val="dk1"/>
                </a:solidFill>
                <a:latin typeface="Times New Roman"/>
                <a:ea typeface="Times New Roman"/>
              </a:rPr>
              <a:t> that splits the data to create the </a:t>
            </a:r>
            <a:r>
              <a:rPr b="1" lang="en-US" sz="2400" spc="-1" strike="noStrike">
                <a:solidFill>
                  <a:schemeClr val="dk1"/>
                </a:solidFill>
                <a:latin typeface="Times New Roman"/>
                <a:ea typeface="Times New Roman"/>
              </a:rPr>
              <a:t>most homogeneous child nodes</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914400">
              <a:lnSpc>
                <a:spcPct val="115000"/>
              </a:lnSpc>
              <a:spcBef>
                <a:spcPts val="1199"/>
              </a:spcBef>
              <a:tabLst>
                <a:tab algn="l" pos="0"/>
              </a:tabLst>
            </a:pPr>
            <a:r>
              <a:rPr b="0" lang="en-US" sz="2400" spc="-1" strike="noStrike">
                <a:solidFill>
                  <a:schemeClr val="dk1"/>
                </a:solidFill>
                <a:latin typeface="Times New Roman"/>
                <a:ea typeface="Times New Roman"/>
              </a:rPr>
              <a:t>The splitting is based on criteria like:</a:t>
            </a:r>
            <a:endParaRPr b="0" lang="en-US" sz="2400" spc="-1" strike="noStrike">
              <a:solidFill>
                <a:srgbClr val="000000"/>
              </a:solidFill>
              <a:latin typeface="Arial"/>
            </a:endParaRPr>
          </a:p>
          <a:p>
            <a:pPr marL="914400">
              <a:lnSpc>
                <a:spcPct val="115000"/>
              </a:lnSpc>
              <a:spcBef>
                <a:spcPts val="1199"/>
              </a:spcBef>
              <a:tabLst>
                <a:tab algn="l" pos="0"/>
              </a:tabLst>
            </a:pPr>
            <a:r>
              <a:rPr b="0"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Information Gain</a:t>
            </a:r>
            <a:r>
              <a:rPr b="0" lang="en-US" sz="2400" spc="-1" strike="noStrike">
                <a:solidFill>
                  <a:schemeClr val="dk1"/>
                </a:solidFill>
                <a:latin typeface="Times New Roman"/>
                <a:ea typeface="Times New Roman"/>
              </a:rPr>
              <a:t> (uses </a:t>
            </a:r>
            <a:r>
              <a:rPr b="1" lang="en-US" sz="2400" spc="-1" strike="noStrike">
                <a:solidFill>
                  <a:schemeClr val="dk1"/>
                </a:solidFill>
                <a:latin typeface="Times New Roman"/>
                <a:ea typeface="Times New Roman"/>
              </a:rPr>
              <a:t>Entropy</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914400">
              <a:lnSpc>
                <a:spcPct val="115000"/>
              </a:lnSpc>
              <a:spcBef>
                <a:spcPts val="1199"/>
              </a:spcBef>
              <a:tabLst>
                <a:tab algn="l" pos="0"/>
              </a:tabLst>
            </a:pPr>
            <a:r>
              <a:rPr b="0" lang="en-US" sz="2400" spc="-1" strike="noStrike">
                <a:solidFill>
                  <a:schemeClr val="dk1"/>
                </a:solidFill>
                <a:latin typeface="Times New Roman"/>
                <a:ea typeface="Times New Roman"/>
              </a:rPr>
              <a:t>              </a:t>
            </a:r>
            <a:r>
              <a:rPr b="1" lang="en-US" sz="2400" spc="-1" strike="noStrike">
                <a:solidFill>
                  <a:schemeClr val="dk1"/>
                </a:solidFill>
                <a:latin typeface="Times New Roman"/>
                <a:ea typeface="Times New Roman"/>
              </a:rPr>
              <a:t>Gini Index</a:t>
            </a: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914400">
              <a:lnSpc>
                <a:spcPct val="115000"/>
              </a:lnSpc>
              <a:spcBef>
                <a:spcPts val="1199"/>
              </a:spcBef>
              <a:tabLst>
                <a:tab algn="l" pos="0"/>
              </a:tabLst>
            </a:pPr>
            <a:r>
              <a:rPr b="0" lang="en-US" sz="2400" spc="-1" strike="noStrike">
                <a:solidFill>
                  <a:schemeClr val="dk1"/>
                </a:solidFill>
                <a:latin typeface="Times New Roman"/>
                <a:ea typeface="Times New Roman"/>
              </a:rPr>
              <a:t>This process continues </a:t>
            </a:r>
            <a:r>
              <a:rPr b="1" lang="en-US" sz="2400" spc="-1" strike="noStrike">
                <a:solidFill>
                  <a:schemeClr val="dk1"/>
                </a:solidFill>
                <a:latin typeface="Times New Roman"/>
                <a:ea typeface="Times New Roman"/>
              </a:rPr>
              <a:t>recursively</a:t>
            </a:r>
            <a:r>
              <a:rPr b="0" lang="en-US" sz="2400" spc="-1" strike="noStrike">
                <a:solidFill>
                  <a:schemeClr val="dk1"/>
                </a:solidFill>
                <a:latin typeface="Times New Roman"/>
                <a:ea typeface="Times New Roman"/>
              </a:rPr>
              <a:t> until:</a:t>
            </a:r>
            <a:endParaRPr b="0" lang="en-US" sz="2400" spc="-1" strike="noStrike">
              <a:solidFill>
                <a:srgbClr val="000000"/>
              </a:solidFill>
              <a:latin typeface="Arial"/>
            </a:endParaRPr>
          </a:p>
          <a:p>
            <a:pPr marL="457200" indent="-380880">
              <a:lnSpc>
                <a:spcPct val="115000"/>
              </a:lnSpc>
              <a:spcBef>
                <a:spcPts val="1199"/>
              </a:spcBef>
              <a:buClr>
                <a:srgbClr val="000000"/>
              </a:buClr>
              <a:buFont typeface="Times New Roman"/>
              <a:buChar char="●"/>
              <a:tabLst>
                <a:tab algn="l" pos="0"/>
              </a:tabLst>
            </a:pPr>
            <a:r>
              <a:rPr b="0" lang="en-US" sz="2400" spc="-1" strike="noStrike">
                <a:solidFill>
                  <a:schemeClr val="dk1"/>
                </a:solidFill>
                <a:latin typeface="Times New Roman"/>
                <a:ea typeface="Times New Roman"/>
              </a:rPr>
              <a:t>All data points in a node belong to the same class, or</a:t>
            </a:r>
            <a:endParaRPr b="0" lang="en-US" sz="2400" spc="-1" strike="noStrike">
              <a:solidFill>
                <a:srgbClr val="000000"/>
              </a:solidFill>
              <a:latin typeface="Arial"/>
            </a:endParaRPr>
          </a:p>
          <a:p>
            <a:pPr marL="457200" indent="-380880">
              <a:lnSpc>
                <a:spcPct val="115000"/>
              </a:lnSpc>
              <a:buClr>
                <a:srgbClr val="000000"/>
              </a:buClr>
              <a:buFont typeface="Times New Roman"/>
              <a:buChar char="●"/>
              <a:tabLst>
                <a:tab algn="l" pos="0"/>
              </a:tabLst>
            </a:pPr>
            <a:r>
              <a:rPr b="0" lang="en-US" sz="2400" spc="-1" strike="noStrike">
                <a:solidFill>
                  <a:schemeClr val="dk1"/>
                </a:solidFill>
                <a:latin typeface="Times New Roman"/>
                <a:ea typeface="Times New Roman"/>
              </a:rPr>
              <a:t>A stopping criterion is reached (e.g., max depth, min samples per node)</a:t>
            </a:r>
            <a:endParaRPr b="0" lang="en-US" sz="2400" spc="-1" strike="noStrike">
              <a:solidFill>
                <a:srgbClr val="000000"/>
              </a:solidFill>
              <a:latin typeface="Arial"/>
            </a:endParaRPr>
          </a:p>
        </p:txBody>
      </p:sp>
      <p:sp>
        <p:nvSpPr>
          <p:cNvPr id="300" name="Google Shape;495;p53"/>
          <p:cNvSpPr/>
          <p:nvPr/>
        </p:nvSpPr>
        <p:spPr>
          <a:xfrm>
            <a:off x="0" y="55080"/>
            <a:ext cx="8744400" cy="57852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2600" spc="-1" strike="noStrike">
                <a:solidFill>
                  <a:schemeClr val="dk1"/>
                </a:solidFill>
                <a:latin typeface="Times New Roman"/>
                <a:ea typeface="Times New Roman"/>
              </a:rPr>
              <a:t>CLASSIFIER 6: DECISION TREE</a:t>
            </a:r>
            <a:endParaRPr b="0" lang="en-US" sz="2600" spc="-1" strike="noStrike">
              <a:solidFill>
                <a:srgbClr val="000000"/>
              </a:solidFill>
              <a:latin typeface="Arial"/>
            </a:endParaRPr>
          </a:p>
        </p:txBody>
      </p:sp>
      <p:pic>
        <p:nvPicPr>
          <p:cNvPr id="301" name="Google Shape;104;p 40" descr=""/>
          <p:cNvPicPr/>
          <p:nvPr/>
        </p:nvPicPr>
        <p:blipFill>
          <a:blip r:embed="rId3"/>
          <a:stretch/>
        </p:blipFill>
        <p:spPr>
          <a:xfrm>
            <a:off x="863532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2" name="Google Shape;500;p54" descr=""/>
          <p:cNvPicPr/>
          <p:nvPr/>
        </p:nvPicPr>
        <p:blipFill>
          <a:blip r:embed="rId1"/>
          <a:stretch/>
        </p:blipFill>
        <p:spPr>
          <a:xfrm>
            <a:off x="-37440" y="772200"/>
            <a:ext cx="12265920" cy="151200"/>
          </a:xfrm>
          <a:prstGeom prst="rect">
            <a:avLst/>
          </a:prstGeom>
          <a:ln w="0">
            <a:noFill/>
          </a:ln>
        </p:spPr>
      </p:pic>
      <p:pic>
        <p:nvPicPr>
          <p:cNvPr id="303" name="Google Shape;501;p54" descr=""/>
          <p:cNvPicPr/>
          <p:nvPr/>
        </p:nvPicPr>
        <p:blipFill>
          <a:blip r:embed="rId2"/>
          <a:stretch/>
        </p:blipFill>
        <p:spPr>
          <a:xfrm>
            <a:off x="-37440" y="6617160"/>
            <a:ext cx="12265920" cy="239760"/>
          </a:xfrm>
          <a:prstGeom prst="rect">
            <a:avLst/>
          </a:prstGeom>
          <a:ln w="0">
            <a:noFill/>
          </a:ln>
        </p:spPr>
      </p:pic>
      <p:sp>
        <p:nvSpPr>
          <p:cNvPr id="304" name="Google Shape;503;p54"/>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305" name="Google Shape;504;p54"/>
          <p:cNvSpPr/>
          <p:nvPr/>
        </p:nvSpPr>
        <p:spPr>
          <a:xfrm>
            <a:off x="123840" y="131760"/>
            <a:ext cx="58338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DECISION TREE</a:t>
            </a:r>
            <a:endParaRPr b="0" lang="en-US" sz="2600" spc="-1" strike="noStrike">
              <a:solidFill>
                <a:srgbClr val="000000"/>
              </a:solidFill>
              <a:latin typeface="Arial"/>
            </a:endParaRPr>
          </a:p>
        </p:txBody>
      </p:sp>
      <p:pic>
        <p:nvPicPr>
          <p:cNvPr id="306" name="" descr=""/>
          <p:cNvPicPr/>
          <p:nvPr/>
        </p:nvPicPr>
        <p:blipFill>
          <a:blip r:embed="rId3"/>
          <a:stretch/>
        </p:blipFill>
        <p:spPr>
          <a:xfrm>
            <a:off x="2514600" y="1243080"/>
            <a:ext cx="6288120" cy="4928400"/>
          </a:xfrm>
          <a:prstGeom prst="rect">
            <a:avLst/>
          </a:prstGeom>
          <a:ln w="0">
            <a:noFill/>
          </a:ln>
        </p:spPr>
      </p:pic>
      <p:pic>
        <p:nvPicPr>
          <p:cNvPr id="307" name="Google Shape;104;p 41" descr=""/>
          <p:cNvPicPr/>
          <p:nvPr/>
        </p:nvPicPr>
        <p:blipFill>
          <a:blip r:embed="rId4"/>
          <a:stretch/>
        </p:blipFill>
        <p:spPr>
          <a:xfrm>
            <a:off x="86868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8" name="Google Shape;510;p55" descr=""/>
          <p:cNvPicPr/>
          <p:nvPr/>
        </p:nvPicPr>
        <p:blipFill>
          <a:blip r:embed="rId1"/>
          <a:stretch/>
        </p:blipFill>
        <p:spPr>
          <a:xfrm>
            <a:off x="-37440" y="772200"/>
            <a:ext cx="12265920" cy="151200"/>
          </a:xfrm>
          <a:prstGeom prst="rect">
            <a:avLst/>
          </a:prstGeom>
          <a:ln w="0">
            <a:noFill/>
          </a:ln>
        </p:spPr>
      </p:pic>
      <p:pic>
        <p:nvPicPr>
          <p:cNvPr id="309" name="Google Shape;511;p55" descr=""/>
          <p:cNvPicPr/>
          <p:nvPr/>
        </p:nvPicPr>
        <p:blipFill>
          <a:blip r:embed="rId2"/>
          <a:stretch/>
        </p:blipFill>
        <p:spPr>
          <a:xfrm>
            <a:off x="-37440" y="6617160"/>
            <a:ext cx="12265920" cy="239760"/>
          </a:xfrm>
          <a:prstGeom prst="rect">
            <a:avLst/>
          </a:prstGeom>
          <a:ln w="0">
            <a:noFill/>
          </a:ln>
        </p:spPr>
      </p:pic>
      <p:sp>
        <p:nvSpPr>
          <p:cNvPr id="310" name="Google Shape;513;p55"/>
          <p:cNvSpPr/>
          <p:nvPr/>
        </p:nvSpPr>
        <p:spPr>
          <a:xfrm>
            <a:off x="977760" y="3042360"/>
            <a:ext cx="9294480" cy="2081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3600" spc="-1" strike="noStrike">
                <a:solidFill>
                  <a:schemeClr val="dk2"/>
                </a:solidFill>
                <a:latin typeface="Arial"/>
                <a:ea typeface="Arial"/>
              </a:rPr>
              <a:t>                         </a:t>
            </a:r>
            <a:endParaRPr b="0" lang="en-US" sz="3600" spc="-1" strike="noStrike">
              <a:solidFill>
                <a:srgbClr val="000000"/>
              </a:solidFill>
              <a:latin typeface="Arial"/>
            </a:endParaRPr>
          </a:p>
        </p:txBody>
      </p:sp>
      <p:sp>
        <p:nvSpPr>
          <p:cNvPr id="311" name="Google Shape;514;p55"/>
          <p:cNvSpPr/>
          <p:nvPr/>
        </p:nvSpPr>
        <p:spPr>
          <a:xfrm>
            <a:off x="124560" y="55080"/>
            <a:ext cx="6626880" cy="57852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1" lang="en-US" sz="2600" spc="-1" strike="noStrike">
                <a:solidFill>
                  <a:schemeClr val="dk1"/>
                </a:solidFill>
                <a:latin typeface="Times New Roman"/>
                <a:ea typeface="Times New Roman"/>
              </a:rPr>
              <a:t>CLASSIFIER 7: LOGISTIC REGRESSION</a:t>
            </a:r>
            <a:endParaRPr b="0" lang="en-US" sz="2600" spc="-1" strike="noStrike">
              <a:solidFill>
                <a:srgbClr val="000000"/>
              </a:solidFill>
              <a:latin typeface="Arial"/>
            </a:endParaRPr>
          </a:p>
        </p:txBody>
      </p:sp>
      <p:sp>
        <p:nvSpPr>
          <p:cNvPr id="312" name="Google Shape;515;p55"/>
          <p:cNvSpPr/>
          <p:nvPr/>
        </p:nvSpPr>
        <p:spPr>
          <a:xfrm>
            <a:off x="124560" y="1123200"/>
            <a:ext cx="11774160" cy="8124120"/>
          </a:xfrm>
          <a:prstGeom prst="rect">
            <a:avLst/>
          </a:prstGeom>
          <a:noFill/>
          <a:ln w="0">
            <a:noFill/>
          </a:ln>
        </p:spPr>
        <p:style>
          <a:lnRef idx="0"/>
          <a:fillRef idx="0"/>
          <a:effectRef idx="0"/>
          <a:fontRef idx="minor"/>
        </p:style>
        <p:txBody>
          <a:bodyPr lIns="90000" rIns="90000" tIns="91440" bIns="91440" anchor="t">
            <a:spAutoFit/>
          </a:bodyPr>
          <a:p>
            <a:pPr marL="457200" indent="-380880">
              <a:lnSpc>
                <a:spcPct val="100000"/>
              </a:lnSpc>
              <a:buClr>
                <a:srgbClr val="000000"/>
              </a:buClr>
              <a:buFont typeface="Arial"/>
              <a:buChar char="●"/>
            </a:pPr>
            <a:r>
              <a:rPr b="1" lang="en-US" sz="2400" spc="-1" strike="noStrike">
                <a:solidFill>
                  <a:schemeClr val="dk1"/>
                </a:solidFill>
                <a:latin typeface="Times New Roman"/>
                <a:ea typeface="Times New Roman"/>
              </a:rPr>
              <a:t>Logistic Regression</a:t>
            </a:r>
            <a:r>
              <a:rPr b="0" lang="en-US" sz="2400" spc="-1" strike="noStrike">
                <a:solidFill>
                  <a:schemeClr val="dk1"/>
                </a:solidFill>
                <a:latin typeface="Times New Roman"/>
                <a:ea typeface="Times New Roman"/>
              </a:rPr>
              <a:t> is a </a:t>
            </a:r>
            <a:r>
              <a:rPr b="1" lang="en-US" sz="2400" spc="-1" strike="noStrike">
                <a:solidFill>
                  <a:schemeClr val="dk1"/>
                </a:solidFill>
                <a:latin typeface="Times New Roman"/>
                <a:ea typeface="Times New Roman"/>
              </a:rPr>
              <a:t>supervised learning algorithm</a:t>
            </a:r>
            <a:r>
              <a:rPr b="0" lang="en-US" sz="2400" spc="-1" strike="noStrike">
                <a:solidFill>
                  <a:schemeClr val="dk1"/>
                </a:solidFill>
                <a:latin typeface="Times New Roman"/>
                <a:ea typeface="Times New Roman"/>
              </a:rPr>
              <a:t> which predicts the </a:t>
            </a:r>
            <a:r>
              <a:rPr b="1" lang="en-US" sz="2400" spc="-1" strike="noStrike">
                <a:solidFill>
                  <a:schemeClr val="dk1"/>
                </a:solidFill>
                <a:latin typeface="Times New Roman"/>
                <a:ea typeface="Times New Roman"/>
              </a:rPr>
              <a:t>probability</a:t>
            </a:r>
            <a:r>
              <a:rPr b="0" lang="en-US" sz="2400" spc="-1" strike="noStrike">
                <a:solidFill>
                  <a:schemeClr val="dk1"/>
                </a:solidFill>
                <a:latin typeface="Times New Roman"/>
                <a:ea typeface="Times New Roman"/>
              </a:rPr>
              <a:t> that a data point belongs to a particular class using a </a:t>
            </a:r>
            <a:r>
              <a:rPr b="1" lang="en-US" sz="2400" spc="-1" strike="noStrike">
                <a:solidFill>
                  <a:schemeClr val="dk1"/>
                </a:solidFill>
                <a:latin typeface="Times New Roman"/>
                <a:ea typeface="Times New Roman"/>
              </a:rPr>
              <a:t>logistic (sigmoid) function</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15000"/>
              </a:lnSpc>
              <a:spcBef>
                <a:spcPts val="1199"/>
              </a:spcBef>
              <a:buClr>
                <a:srgbClr val="000000"/>
              </a:buClr>
              <a:buFont typeface="Arial"/>
              <a:buChar char="●"/>
              <a:tabLst>
                <a:tab algn="l" pos="0"/>
              </a:tabLst>
            </a:pPr>
            <a:r>
              <a:rPr b="0" lang="en-US" sz="2400" spc="-1" strike="noStrike">
                <a:solidFill>
                  <a:schemeClr val="dk1"/>
                </a:solidFill>
                <a:latin typeface="Times New Roman"/>
                <a:ea typeface="Times New Roman"/>
              </a:rPr>
              <a:t>It calculates a </a:t>
            </a:r>
            <a:r>
              <a:rPr b="1" lang="en-US" sz="2400" spc="-1" strike="noStrike">
                <a:solidFill>
                  <a:schemeClr val="dk1"/>
                </a:solidFill>
                <a:latin typeface="Times New Roman"/>
                <a:ea typeface="Times New Roman"/>
              </a:rPr>
              <a:t>linear combination of input features</a:t>
            </a:r>
            <a:r>
              <a:rPr b="0" lang="en-US" sz="2400" spc="-1" strike="noStrike">
                <a:solidFill>
                  <a:schemeClr val="dk1"/>
                </a:solidFill>
                <a:latin typeface="Times New Roman"/>
                <a:ea typeface="Times New Roman"/>
              </a:rPr>
              <a:t>:</a:t>
            </a:r>
            <a:endParaRPr b="0" lang="en-US" sz="2400" spc="-1" strike="noStrike">
              <a:solidFill>
                <a:srgbClr val="000000"/>
              </a:solidFill>
              <a:latin typeface="Arial"/>
            </a:endParaRPr>
          </a:p>
          <a:p>
            <a:pPr marL="457200">
              <a:lnSpc>
                <a:spcPct val="100000"/>
              </a:lnSpc>
              <a:spcBef>
                <a:spcPts val="1199"/>
              </a:spcBef>
              <a:tabLst>
                <a:tab algn="l" pos="0"/>
              </a:tabLst>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z=w1x1+w2x2+⋯+wnxn+bz </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indent="-380880">
              <a:lnSpc>
                <a:spcPct val="115000"/>
              </a:lnSpc>
              <a:spcBef>
                <a:spcPts val="1199"/>
              </a:spcBef>
              <a:buClr>
                <a:srgbClr val="000000"/>
              </a:buClr>
              <a:buFont typeface="Arial"/>
              <a:buChar char="●"/>
              <a:tabLst>
                <a:tab algn="l" pos="0"/>
              </a:tabLst>
            </a:pPr>
            <a:r>
              <a:rPr b="0" lang="en-US" sz="2400" spc="-1" strike="noStrike">
                <a:solidFill>
                  <a:schemeClr val="dk1"/>
                </a:solidFill>
                <a:latin typeface="Times New Roman"/>
                <a:ea typeface="Times New Roman"/>
              </a:rPr>
              <a:t>Then applies the </a:t>
            </a:r>
            <a:r>
              <a:rPr b="1" lang="en-US" sz="2400" spc="-1" strike="noStrike">
                <a:solidFill>
                  <a:schemeClr val="dk1"/>
                </a:solidFill>
                <a:latin typeface="Times New Roman"/>
                <a:ea typeface="Times New Roman"/>
              </a:rPr>
              <a:t>sigmoid function</a:t>
            </a:r>
            <a:r>
              <a:rPr b="0" lang="en-US" sz="2400" spc="-1" strike="noStrike">
                <a:solidFill>
                  <a:schemeClr val="dk1"/>
                </a:solidFill>
                <a:latin typeface="Times New Roman"/>
                <a:ea typeface="Times New Roman"/>
              </a:rPr>
              <a:t>:</a:t>
            </a:r>
            <a:br>
              <a:rPr sz="2400"/>
            </a:br>
            <a:r>
              <a:rPr b="0" lang="en-US" sz="2400" spc="-1" strike="noStrike">
                <a:solidFill>
                  <a:schemeClr val="dk1"/>
                </a:solidFill>
                <a:latin typeface="Times New Roman"/>
                <a:ea typeface="Times New Roman"/>
              </a:rPr>
              <a:t>                                 σ(z)=1/1+e^-z</a:t>
            </a:r>
            <a:endParaRPr b="0" lang="en-US" sz="2400" spc="-1" strike="noStrike">
              <a:solidFill>
                <a:srgbClr val="000000"/>
              </a:solidFill>
              <a:latin typeface="Arial"/>
            </a:endParaRPr>
          </a:p>
          <a:p>
            <a:pPr marL="457200" indent="-380880">
              <a:lnSpc>
                <a:spcPct val="115000"/>
              </a:lnSpc>
              <a:buClr>
                <a:srgbClr val="000000"/>
              </a:buClr>
              <a:buFont typeface="Arial"/>
              <a:buChar char="●"/>
              <a:tabLst>
                <a:tab algn="l" pos="0"/>
              </a:tabLst>
            </a:pPr>
            <a:r>
              <a:rPr b="0" lang="en-US" sz="2400" spc="-1" strike="noStrike">
                <a:solidFill>
                  <a:schemeClr val="dk1"/>
                </a:solidFill>
                <a:latin typeface="Times New Roman"/>
                <a:ea typeface="Times New Roman"/>
              </a:rPr>
              <a:t>The output is a </a:t>
            </a:r>
            <a:r>
              <a:rPr b="1" lang="en-US" sz="2400" spc="-1" strike="noStrike">
                <a:solidFill>
                  <a:schemeClr val="dk1"/>
                </a:solidFill>
                <a:latin typeface="Times New Roman"/>
                <a:ea typeface="Times New Roman"/>
              </a:rPr>
              <a:t>probability</a:t>
            </a:r>
            <a:r>
              <a:rPr b="0" lang="en-US" sz="2400" spc="-1" strike="noStrike">
                <a:solidFill>
                  <a:schemeClr val="dk1"/>
                </a:solidFill>
                <a:latin typeface="Times New Roman"/>
                <a:ea typeface="Times New Roman"/>
              </a:rPr>
              <a:t> between 0 and 1.</a:t>
            </a:r>
            <a:br>
              <a:rPr sz="2400"/>
            </a:b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457200" indent="-380880">
              <a:lnSpc>
                <a:spcPct val="115000"/>
              </a:lnSpc>
              <a:buClr>
                <a:srgbClr val="000000"/>
              </a:buClr>
              <a:buFont typeface="Arial"/>
              <a:buChar char="●"/>
              <a:tabLst>
                <a:tab algn="l" pos="0"/>
              </a:tabLst>
            </a:pPr>
            <a:r>
              <a:rPr b="0" lang="en-US" sz="2400" spc="-1" strike="noStrike">
                <a:solidFill>
                  <a:schemeClr val="dk1"/>
                </a:solidFill>
                <a:latin typeface="Times New Roman"/>
                <a:ea typeface="Times New Roman"/>
              </a:rPr>
              <a:t>Based on a </a:t>
            </a:r>
            <a:r>
              <a:rPr b="1" lang="en-US" sz="2400" spc="-1" strike="noStrike">
                <a:solidFill>
                  <a:schemeClr val="dk1"/>
                </a:solidFill>
                <a:latin typeface="Times New Roman"/>
                <a:ea typeface="Times New Roman"/>
              </a:rPr>
              <a:t>threshold</a:t>
            </a:r>
            <a:r>
              <a:rPr b="0" lang="en-US" sz="2400" spc="-1" strike="noStrike">
                <a:solidFill>
                  <a:schemeClr val="dk1"/>
                </a:solidFill>
                <a:latin typeface="Times New Roman"/>
                <a:ea typeface="Times New Roman"/>
              </a:rPr>
              <a:t> (usually 0.5), it classifies into one of the two classes.</a:t>
            </a:r>
            <a:br>
              <a:rPr sz="2400"/>
            </a:b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457200">
              <a:lnSpc>
                <a:spcPct val="100000"/>
              </a:lnSpc>
              <a:spcBef>
                <a:spcPts val="1199"/>
              </a:spcBef>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pic>
        <p:nvPicPr>
          <p:cNvPr id="313" name="Google Shape;104;p 42"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4" name="Google Shape;520;p56" descr=""/>
          <p:cNvPicPr/>
          <p:nvPr/>
        </p:nvPicPr>
        <p:blipFill>
          <a:blip r:embed="rId1"/>
          <a:stretch/>
        </p:blipFill>
        <p:spPr>
          <a:xfrm>
            <a:off x="-37440" y="772200"/>
            <a:ext cx="12265920" cy="151200"/>
          </a:xfrm>
          <a:prstGeom prst="rect">
            <a:avLst/>
          </a:prstGeom>
          <a:ln w="0">
            <a:noFill/>
          </a:ln>
        </p:spPr>
      </p:pic>
      <p:pic>
        <p:nvPicPr>
          <p:cNvPr id="315" name="Google Shape;521;p56" descr=""/>
          <p:cNvPicPr/>
          <p:nvPr/>
        </p:nvPicPr>
        <p:blipFill>
          <a:blip r:embed="rId2"/>
          <a:stretch/>
        </p:blipFill>
        <p:spPr>
          <a:xfrm>
            <a:off x="-37440" y="6617160"/>
            <a:ext cx="12265920" cy="239760"/>
          </a:xfrm>
          <a:prstGeom prst="rect">
            <a:avLst/>
          </a:prstGeom>
          <a:ln w="0">
            <a:noFill/>
          </a:ln>
        </p:spPr>
      </p:pic>
      <p:sp>
        <p:nvSpPr>
          <p:cNvPr id="316" name="Google Shape;523;p56"/>
          <p:cNvSpPr/>
          <p:nvPr/>
        </p:nvSpPr>
        <p:spPr>
          <a:xfrm>
            <a:off x="333360" y="1078920"/>
            <a:ext cx="11216880" cy="5365080"/>
          </a:xfrm>
          <a:prstGeom prst="rect">
            <a:avLst/>
          </a:prstGeom>
          <a:noFill/>
          <a:ln w="0">
            <a:noFill/>
          </a:ln>
        </p:spPr>
        <p:style>
          <a:lnRef idx="0"/>
          <a:fillRef idx="0"/>
          <a:effectRef idx="0"/>
          <a:fontRef idx="minor"/>
        </p:style>
        <p:txBody>
          <a:bodyPr lIns="90000" rIns="90000" tIns="91440" bIns="91440" anchor="t">
            <a:noAutofit/>
          </a:bodyPr>
          <a:p>
            <a:pPr marL="457200">
              <a:lnSpc>
                <a:spcPct val="100000"/>
              </a:lnSpc>
              <a:tabLst>
                <a:tab algn="l" pos="0"/>
              </a:tabLst>
            </a:pPr>
            <a:endParaRPr b="0" lang="en-US" sz="1400" spc="-1" strike="noStrike">
              <a:solidFill>
                <a:srgbClr val="000000"/>
              </a:solidFill>
              <a:latin typeface="Arial"/>
            </a:endParaRPr>
          </a:p>
        </p:txBody>
      </p:sp>
      <p:sp>
        <p:nvSpPr>
          <p:cNvPr id="317" name="Google Shape;524;p56"/>
          <p:cNvSpPr/>
          <p:nvPr/>
        </p:nvSpPr>
        <p:spPr>
          <a:xfrm>
            <a:off x="123840" y="131760"/>
            <a:ext cx="8312400" cy="562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600" spc="-1" strike="noStrike">
                <a:solidFill>
                  <a:schemeClr val="dk1"/>
                </a:solidFill>
                <a:latin typeface="Times New Roman"/>
                <a:ea typeface="Times New Roman"/>
              </a:rPr>
              <a:t>RESULTS FOR LOGISTIC REGRESSION</a:t>
            </a:r>
            <a:endParaRPr b="0" lang="en-US" sz="2600" spc="-1" strike="noStrike">
              <a:solidFill>
                <a:srgbClr val="000000"/>
              </a:solidFill>
              <a:latin typeface="Arial"/>
            </a:endParaRPr>
          </a:p>
        </p:txBody>
      </p:sp>
      <p:pic>
        <p:nvPicPr>
          <p:cNvPr id="318" name="" descr=""/>
          <p:cNvPicPr/>
          <p:nvPr/>
        </p:nvPicPr>
        <p:blipFill>
          <a:blip r:embed="rId3"/>
          <a:stretch/>
        </p:blipFill>
        <p:spPr>
          <a:xfrm>
            <a:off x="3429000" y="1243080"/>
            <a:ext cx="5485680" cy="5191560"/>
          </a:xfrm>
          <a:prstGeom prst="rect">
            <a:avLst/>
          </a:prstGeom>
          <a:ln w="0">
            <a:noFill/>
          </a:ln>
        </p:spPr>
      </p:pic>
      <p:pic>
        <p:nvPicPr>
          <p:cNvPr id="319" name="Google Shape;104;p 43" descr=""/>
          <p:cNvPicPr/>
          <p:nvPr/>
        </p:nvPicPr>
        <p:blipFill>
          <a:blip r:embed="rId4"/>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0" name="Google Shape;367;p40" descr=""/>
          <p:cNvPicPr/>
          <p:nvPr/>
        </p:nvPicPr>
        <p:blipFill>
          <a:blip r:embed="rId1"/>
          <a:stretch/>
        </p:blipFill>
        <p:spPr>
          <a:xfrm>
            <a:off x="-37440" y="772200"/>
            <a:ext cx="12265920" cy="151200"/>
          </a:xfrm>
          <a:prstGeom prst="rect">
            <a:avLst/>
          </a:prstGeom>
          <a:ln w="0">
            <a:noFill/>
          </a:ln>
        </p:spPr>
      </p:pic>
      <p:pic>
        <p:nvPicPr>
          <p:cNvPr id="321" name="Google Shape;368;p 2" descr=""/>
          <p:cNvPicPr/>
          <p:nvPr/>
        </p:nvPicPr>
        <p:blipFill>
          <a:blip r:embed="rId2"/>
          <a:stretch/>
        </p:blipFill>
        <p:spPr>
          <a:xfrm>
            <a:off x="-37440" y="6617160"/>
            <a:ext cx="12265920" cy="239760"/>
          </a:xfrm>
          <a:prstGeom prst="rect">
            <a:avLst/>
          </a:prstGeom>
          <a:ln w="0">
            <a:noFill/>
          </a:ln>
        </p:spPr>
      </p:pic>
      <p:sp>
        <p:nvSpPr>
          <p:cNvPr id="322" name="Google Shape;371;p 2"/>
          <p:cNvSpPr/>
          <p:nvPr/>
        </p:nvSpPr>
        <p:spPr>
          <a:xfrm>
            <a:off x="219600" y="205560"/>
            <a:ext cx="6394320" cy="488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RESULTS FOR K-FOLD (ACCURACY)</a:t>
            </a:r>
            <a:endParaRPr b="0" lang="en-US" sz="2400" spc="-1" strike="noStrike">
              <a:solidFill>
                <a:srgbClr val="000000"/>
              </a:solidFill>
              <a:latin typeface="Arial"/>
            </a:endParaRPr>
          </a:p>
        </p:txBody>
      </p:sp>
      <p:pic>
        <p:nvPicPr>
          <p:cNvPr id="323" name="" descr=""/>
          <p:cNvPicPr/>
          <p:nvPr/>
        </p:nvPicPr>
        <p:blipFill>
          <a:blip r:embed="rId3"/>
          <a:stretch/>
        </p:blipFill>
        <p:spPr>
          <a:xfrm>
            <a:off x="1139040" y="1076040"/>
            <a:ext cx="9833040" cy="5095440"/>
          </a:xfrm>
          <a:prstGeom prst="rect">
            <a:avLst/>
          </a:prstGeom>
          <a:ln w="0">
            <a:noFill/>
          </a:ln>
        </p:spPr>
      </p:pic>
      <p:pic>
        <p:nvPicPr>
          <p:cNvPr id="324" name="Google Shape;104;p 27" descr=""/>
          <p:cNvPicPr/>
          <p:nvPr/>
        </p:nvPicPr>
        <p:blipFill>
          <a:blip r:embed="rId4"/>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5" name="Google Shape;376;p41" descr=""/>
          <p:cNvPicPr/>
          <p:nvPr/>
        </p:nvPicPr>
        <p:blipFill>
          <a:blip r:embed="rId1"/>
          <a:stretch/>
        </p:blipFill>
        <p:spPr>
          <a:xfrm>
            <a:off x="-37440" y="772200"/>
            <a:ext cx="12265920" cy="151200"/>
          </a:xfrm>
          <a:prstGeom prst="rect">
            <a:avLst/>
          </a:prstGeom>
          <a:ln w="0">
            <a:noFill/>
          </a:ln>
        </p:spPr>
      </p:pic>
      <p:pic>
        <p:nvPicPr>
          <p:cNvPr id="326" name="Google Shape;377;p 2" descr=""/>
          <p:cNvPicPr/>
          <p:nvPr/>
        </p:nvPicPr>
        <p:blipFill>
          <a:blip r:embed="rId2"/>
          <a:stretch/>
        </p:blipFill>
        <p:spPr>
          <a:xfrm>
            <a:off x="-37440" y="6617160"/>
            <a:ext cx="12265920" cy="239760"/>
          </a:xfrm>
          <a:prstGeom prst="rect">
            <a:avLst/>
          </a:prstGeom>
          <a:ln w="0">
            <a:noFill/>
          </a:ln>
        </p:spPr>
      </p:pic>
      <p:sp>
        <p:nvSpPr>
          <p:cNvPr id="327" name="Google Shape;379;p 2"/>
          <p:cNvSpPr/>
          <p:nvPr/>
        </p:nvSpPr>
        <p:spPr>
          <a:xfrm>
            <a:off x="219600" y="205560"/>
            <a:ext cx="6394320" cy="488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RESULTS FOR K-FOLD (AUC SCORE)</a:t>
            </a:r>
            <a:endParaRPr b="0" lang="en-US" sz="2400" spc="-1" strike="noStrike">
              <a:solidFill>
                <a:srgbClr val="000000"/>
              </a:solidFill>
              <a:latin typeface="Arial"/>
            </a:endParaRPr>
          </a:p>
        </p:txBody>
      </p:sp>
      <p:pic>
        <p:nvPicPr>
          <p:cNvPr id="328" name="" descr=""/>
          <p:cNvPicPr/>
          <p:nvPr/>
        </p:nvPicPr>
        <p:blipFill>
          <a:blip r:embed="rId3"/>
          <a:stretch/>
        </p:blipFill>
        <p:spPr>
          <a:xfrm>
            <a:off x="1143000" y="1076040"/>
            <a:ext cx="9324000" cy="5223600"/>
          </a:xfrm>
          <a:prstGeom prst="rect">
            <a:avLst/>
          </a:prstGeom>
          <a:ln w="0">
            <a:noFill/>
          </a:ln>
        </p:spPr>
      </p:pic>
      <p:pic>
        <p:nvPicPr>
          <p:cNvPr id="329" name="Google Shape;104;p 28" descr=""/>
          <p:cNvPicPr/>
          <p:nvPr/>
        </p:nvPicPr>
        <p:blipFill>
          <a:blip r:embed="rId4"/>
          <a:stretch/>
        </p:blipFill>
        <p:spPr>
          <a:xfrm>
            <a:off x="8559000" y="-684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Google Shape;530;p57" descr=""/>
          <p:cNvPicPr/>
          <p:nvPr/>
        </p:nvPicPr>
        <p:blipFill>
          <a:blip r:embed="rId1"/>
          <a:stretch/>
        </p:blipFill>
        <p:spPr>
          <a:xfrm>
            <a:off x="-39240" y="1063800"/>
            <a:ext cx="12265920" cy="151200"/>
          </a:xfrm>
          <a:prstGeom prst="rect">
            <a:avLst/>
          </a:prstGeom>
          <a:ln w="0">
            <a:noFill/>
          </a:ln>
        </p:spPr>
      </p:pic>
      <p:pic>
        <p:nvPicPr>
          <p:cNvPr id="331" name="Google Shape;531;p57" descr=""/>
          <p:cNvPicPr/>
          <p:nvPr/>
        </p:nvPicPr>
        <p:blipFill>
          <a:blip r:embed="rId2"/>
          <a:stretch/>
        </p:blipFill>
        <p:spPr>
          <a:xfrm>
            <a:off x="-37440" y="6908760"/>
            <a:ext cx="12265920" cy="239760"/>
          </a:xfrm>
          <a:prstGeom prst="rect">
            <a:avLst/>
          </a:prstGeom>
          <a:ln w="0">
            <a:noFill/>
          </a:ln>
        </p:spPr>
      </p:pic>
      <p:graphicFrame>
        <p:nvGraphicFramePr>
          <p:cNvPr id="332" name="Google Shape;533;p57"/>
          <p:cNvGraphicFramePr/>
          <p:nvPr/>
        </p:nvGraphicFramePr>
        <p:xfrm>
          <a:off x="1416240" y="1211400"/>
          <a:ext cx="9358200" cy="5383080"/>
        </p:xfrm>
        <a:graphic>
          <a:graphicData uri="http://schemas.openxmlformats.org/drawingml/2006/table">
            <a:tbl>
              <a:tblPr/>
              <a:tblGrid>
                <a:gridCol w="1767600"/>
                <a:gridCol w="1349280"/>
                <a:gridCol w="2320200"/>
                <a:gridCol w="2344680"/>
                <a:gridCol w="1576800"/>
              </a:tblGrid>
              <a:tr h="763920">
                <a:tc>
                  <a:txBody>
                    <a:bodyPr lIns="91080" rIns="91080" anchor="t">
                      <a:noAutofit/>
                    </a:bodyPr>
                    <a:p>
                      <a:pPr algn="ctr">
                        <a:lnSpc>
                          <a:spcPct val="100000"/>
                        </a:lnSpc>
                        <a:tabLst>
                          <a:tab algn="l" pos="0"/>
                        </a:tabLst>
                      </a:pPr>
                      <a:r>
                        <a:rPr b="1" lang="en-US" sz="1800" spc="-1" strike="noStrike">
                          <a:solidFill>
                            <a:srgbClr val="000000"/>
                          </a:solidFill>
                          <a:latin typeface="Arial"/>
                          <a:ea typeface="Arial"/>
                        </a:rPr>
                        <a:t>DATASET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1" lang="en-US" sz="1800" spc="-1" strike="noStrike">
                          <a:solidFill>
                            <a:srgbClr val="000000"/>
                          </a:solidFill>
                          <a:latin typeface="Arial"/>
                          <a:ea typeface="Arial"/>
                        </a:rPr>
                        <a:t>PREPROCESSING</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gn="ctr">
                        <a:lnSpc>
                          <a:spcPct val="100000"/>
                        </a:lnSpc>
                        <a:tabLst>
                          <a:tab algn="l" pos="0"/>
                        </a:tabLst>
                      </a:pPr>
                      <a:r>
                        <a:rPr b="1" lang="en-US" sz="1800" spc="-1" strike="noStrike">
                          <a:solidFill>
                            <a:srgbClr val="000000"/>
                          </a:solidFill>
                          <a:latin typeface="Arial"/>
                          <a:ea typeface="Arial"/>
                        </a:rPr>
                        <a:t>FEATURE SELECTION</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1" lang="en-US" sz="1800" spc="-1" strike="noStrike">
                          <a:solidFill>
                            <a:srgbClr val="000000"/>
                          </a:solidFill>
                          <a:latin typeface="Arial"/>
                          <a:ea typeface="Arial"/>
                        </a:rPr>
                        <a:t>BEST CLASSIFIER</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1" lang="en-US" sz="1800" spc="-1" strike="noStrike">
                          <a:solidFill>
                            <a:srgbClr val="000000"/>
                          </a:solidFill>
                          <a:latin typeface="Arial"/>
                          <a:ea typeface="Arial"/>
                        </a:rPr>
                        <a:t>ACCURACY</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701640">
                <a:tc>
                  <a:txBody>
                    <a:bodyPr lIns="91080" rIns="91080" anchor="t">
                      <a:noAutofit/>
                    </a:bodyPr>
                    <a:p>
                      <a:pPr>
                        <a:lnSpc>
                          <a:spcPct val="100000"/>
                        </a:lnSpc>
                        <a:tabLst>
                          <a:tab algn="l" pos="0"/>
                        </a:tabLst>
                      </a:pPr>
                      <a:r>
                        <a:rPr b="1" lang="en-US" sz="1800" spc="-1" strike="noStrike">
                          <a:solidFill>
                            <a:srgbClr val="000000"/>
                          </a:solidFill>
                          <a:latin typeface="Arial"/>
                          <a:ea typeface="Arial"/>
                        </a:rPr>
                        <a:t>DATASET 1</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C</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Correlation</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Arial"/>
                          <a:ea typeface="Arial"/>
                        </a:rPr>
                        <a:t>Random Forest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100%</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70164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2</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O</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Chi square</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Arial"/>
                          <a:ea typeface="Arial"/>
                        </a:rPr>
                        <a:t>Random Forest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100%</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76392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3</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M</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Variance Threshold</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Arial"/>
                          <a:ea typeface="Arial"/>
                        </a:rPr>
                        <a:t>Gradient Boosting</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95.71%</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64368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4</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M</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RFE </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Random Forest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100%</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70164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5</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O</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SFS</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Arial"/>
                          <a:ea typeface="Arial"/>
                        </a:rPr>
                        <a:t>Random Forest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100%</a:t>
                      </a:r>
                      <a:endParaRPr b="0" lang="en-US" sz="1800" spc="-1" strike="noStrike">
                        <a:solidFill>
                          <a:srgbClr val="000000"/>
                        </a:solidFill>
                        <a:latin typeface="Arial"/>
                      </a:endParaRPr>
                    </a:p>
                    <a:p>
                      <a:pPr>
                        <a:lnSpc>
                          <a:spcPct val="100000"/>
                        </a:lnSpc>
                        <a:tabLst>
                          <a:tab algn="l" pos="0"/>
                        </a:tabLst>
                      </a:pP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64368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6</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gn="ctr">
                        <a:lnSpc>
                          <a:spcPct val="100000"/>
                        </a:lnSpc>
                        <a:tabLst>
                          <a:tab algn="l" pos="0"/>
                        </a:tabLst>
                      </a:pPr>
                      <a:r>
                        <a:rPr b="0" lang="en-US" sz="1800" spc="-1" strike="noStrike">
                          <a:solidFill>
                            <a:srgbClr val="000000"/>
                          </a:solidFill>
                          <a:latin typeface="Arial"/>
                          <a:ea typeface="Arial"/>
                        </a:rPr>
                        <a:t>N</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Lasso Regression</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p>
                      <a:pPr>
                        <a:lnSpc>
                          <a:spcPct val="100000"/>
                        </a:lnSpc>
                        <a:tabLst>
                          <a:tab algn="l" pos="0"/>
                        </a:tabLst>
                      </a:pPr>
                      <a:r>
                        <a:rPr b="0" lang="en-US" sz="1800" spc="-1" strike="noStrike">
                          <a:solidFill>
                            <a:schemeClr val="dk1"/>
                          </a:solidFill>
                          <a:latin typeface="Arial"/>
                          <a:ea typeface="Arial"/>
                        </a:rPr>
                        <a:t>Gradient Boosting</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85.33%</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r h="462960">
                <a:tc>
                  <a:txBody>
                    <a:bodyPr lIns="91080" rIns="91080" anchor="t">
                      <a:noAutofit/>
                    </a:bodyPr>
                    <a:p>
                      <a:pPr>
                        <a:lnSpc>
                          <a:spcPct val="100000"/>
                        </a:lnSpc>
                        <a:tabLst>
                          <a:tab algn="l" pos="0"/>
                        </a:tabLst>
                      </a:pPr>
                      <a:r>
                        <a:rPr b="1" lang="en-US" sz="1800" spc="-1" strike="noStrike">
                          <a:solidFill>
                            <a:schemeClr val="dk1"/>
                          </a:solidFill>
                          <a:latin typeface="Arial"/>
                          <a:ea typeface="Arial"/>
                        </a:rPr>
                        <a:t>DATASET 7</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solidFill>
                      <a:srgbClr val="b4a7d6"/>
                    </a:solid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Ridge Regression</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chemeClr val="dk1"/>
                          </a:solidFill>
                          <a:latin typeface="Arial"/>
                          <a:ea typeface="Arial"/>
                        </a:rPr>
                        <a:t>AdaBoost</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c>
                  <a:txBody>
                    <a:bodyPr lIns="91080" rIns="91080" anchor="t">
                      <a:noAutofit/>
                    </a:bodyPr>
                    <a:p>
                      <a:pPr>
                        <a:lnSpc>
                          <a:spcPct val="100000"/>
                        </a:lnSpc>
                        <a:tabLst>
                          <a:tab algn="l" pos="0"/>
                        </a:tabLst>
                      </a:pPr>
                      <a:r>
                        <a:rPr b="0" lang="en-US" sz="1800" spc="-1" strike="noStrike">
                          <a:solidFill>
                            <a:srgbClr val="000000"/>
                          </a:solidFill>
                          <a:latin typeface="Arial"/>
                          <a:ea typeface="Arial"/>
                        </a:rPr>
                        <a:t>99.03%</a:t>
                      </a:r>
                      <a:endParaRPr b="0" lang="en-US" sz="1800" spc="-1" strike="noStrike">
                        <a:solidFill>
                          <a:srgbClr val="000000"/>
                        </a:solidFill>
                        <a:latin typeface="Arial"/>
                      </a:endParaRPr>
                    </a:p>
                  </a:txBody>
                  <a:tcPr anchor="t" marL="91080" marR="91080">
                    <a:lnL w="28080">
                      <a:solidFill>
                        <a:srgbClr val="000000"/>
                      </a:solidFill>
                      <a:prstDash val="solid"/>
                    </a:lnL>
                    <a:lnR w="28080">
                      <a:solidFill>
                        <a:srgbClr val="000000"/>
                      </a:solidFill>
                      <a:prstDash val="solid"/>
                    </a:lnR>
                    <a:lnT w="28080">
                      <a:solidFill>
                        <a:srgbClr val="000000"/>
                      </a:solidFill>
                      <a:prstDash val="solid"/>
                    </a:lnT>
                    <a:lnB w="28080">
                      <a:solidFill>
                        <a:srgbClr val="000000"/>
                      </a:solidFill>
                      <a:prstDash val="solid"/>
                    </a:lnB>
                    <a:noFill/>
                  </a:tcPr>
                </a:tc>
              </a:tr>
            </a:tbl>
          </a:graphicData>
        </a:graphic>
      </p:graphicFrame>
      <p:pic>
        <p:nvPicPr>
          <p:cNvPr id="333" name="Google Shape;104;p 44" descr=""/>
          <p:cNvPicPr/>
          <p:nvPr/>
        </p:nvPicPr>
        <p:blipFill>
          <a:blip r:embed="rId3"/>
          <a:stretch/>
        </p:blipFill>
        <p:spPr>
          <a:xfrm>
            <a:off x="855900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4" name="Google Shape;538;p58" descr=""/>
          <p:cNvPicPr/>
          <p:nvPr/>
        </p:nvPicPr>
        <p:blipFill>
          <a:blip r:embed="rId1"/>
          <a:stretch/>
        </p:blipFill>
        <p:spPr>
          <a:xfrm>
            <a:off x="-37440" y="772200"/>
            <a:ext cx="12265920" cy="151200"/>
          </a:xfrm>
          <a:prstGeom prst="rect">
            <a:avLst/>
          </a:prstGeom>
          <a:ln w="0">
            <a:noFill/>
          </a:ln>
        </p:spPr>
      </p:pic>
      <p:pic>
        <p:nvPicPr>
          <p:cNvPr id="335" name="Google Shape;539;p58" descr=""/>
          <p:cNvPicPr/>
          <p:nvPr/>
        </p:nvPicPr>
        <p:blipFill>
          <a:blip r:embed="rId2"/>
          <a:stretch/>
        </p:blipFill>
        <p:spPr>
          <a:xfrm>
            <a:off x="-37440" y="6617160"/>
            <a:ext cx="12265920" cy="239760"/>
          </a:xfrm>
          <a:prstGeom prst="rect">
            <a:avLst/>
          </a:prstGeom>
          <a:ln w="0">
            <a:noFill/>
          </a:ln>
        </p:spPr>
      </p:pic>
      <p:sp>
        <p:nvSpPr>
          <p:cNvPr id="336" name="Google Shape;541;p58"/>
          <p:cNvSpPr/>
          <p:nvPr/>
        </p:nvSpPr>
        <p:spPr>
          <a:xfrm>
            <a:off x="234720" y="55080"/>
            <a:ext cx="5122080" cy="57852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en-US" sz="1400" spc="-1" strike="noStrike">
                <a:solidFill>
                  <a:srgbClr val="000000"/>
                </a:solidFill>
                <a:latin typeface="Arial"/>
                <a:ea typeface="Arial"/>
              </a:rPr>
              <a:t> </a:t>
            </a:r>
            <a:r>
              <a:rPr b="1" lang="en-US" sz="2600" spc="-1" strike="noStrike">
                <a:solidFill>
                  <a:srgbClr val="000000"/>
                </a:solidFill>
                <a:latin typeface="Times New Roman"/>
                <a:ea typeface="Times New Roman"/>
              </a:rPr>
              <a:t>Web application development</a:t>
            </a:r>
            <a:endParaRPr b="0" lang="en-US" sz="2600" spc="-1" strike="noStrike">
              <a:solidFill>
                <a:srgbClr val="000000"/>
              </a:solidFill>
              <a:latin typeface="Arial"/>
            </a:endParaRPr>
          </a:p>
        </p:txBody>
      </p:sp>
      <p:sp>
        <p:nvSpPr>
          <p:cNvPr id="337" name="Google Shape;542;p58"/>
          <p:cNvSpPr/>
          <p:nvPr/>
        </p:nvSpPr>
        <p:spPr>
          <a:xfrm>
            <a:off x="375840" y="1233360"/>
            <a:ext cx="11541600" cy="6034680"/>
          </a:xfrm>
          <a:prstGeom prst="rect">
            <a:avLst/>
          </a:prstGeom>
          <a:noFill/>
          <a:ln w="0">
            <a:noFill/>
          </a:ln>
        </p:spPr>
        <p:style>
          <a:lnRef idx="0"/>
          <a:fillRef idx="0"/>
          <a:effectRef idx="0"/>
          <a:fontRef idx="minor"/>
        </p:style>
        <p:txBody>
          <a:bodyPr lIns="90000" rIns="90000" tIns="91440" bIns="91440" anchor="t">
            <a:spAutoFit/>
          </a:bodyPr>
          <a:p>
            <a:pPr>
              <a:lnSpc>
                <a:spcPct val="100000"/>
              </a:lnSpc>
              <a:tabLst>
                <a:tab algn="l" pos="0"/>
              </a:tabLst>
            </a:pPr>
            <a:r>
              <a:rPr b="0" lang="en-US" sz="2400" spc="-1" strike="noStrike">
                <a:solidFill>
                  <a:srgbClr val="000000"/>
                </a:solidFill>
                <a:latin typeface="Times New Roman"/>
                <a:ea typeface="Times New Roman"/>
              </a:rPr>
              <a:t>Flask is a lightweight, micro web framework for Python that allows the creation of web applications by providing tools to handle HTTP requests and route them to appropriate functions. It integrates with various databases and machine learning models to process data and generate dynamic content. Flask uses Jinja2 templating for rendering HTML.</a:t>
            </a:r>
            <a:endParaRPr b="0" lang="en-US" sz="2400" spc="-1" strike="noStrike">
              <a:solidFill>
                <a:srgbClr val="000000"/>
              </a:solidFill>
              <a:latin typeface="Arial"/>
            </a:endParaRPr>
          </a:p>
          <a:p>
            <a:pPr>
              <a:lnSpc>
                <a:spcPct val="100000"/>
              </a:lnSpc>
              <a:tabLst>
                <a:tab algn="l" pos="0"/>
              </a:tabLst>
            </a:pPr>
            <a:endParaRPr b="0" lang="en-US" sz="2400" spc="-1" strike="noStrike">
              <a:solidFill>
                <a:srgbClr val="000000"/>
              </a:solidFill>
              <a:latin typeface="Arial"/>
            </a:endParaRPr>
          </a:p>
          <a:p>
            <a:pPr>
              <a:lnSpc>
                <a:spcPct val="100000"/>
              </a:lnSpc>
              <a:tabLst>
                <a:tab algn="l" pos="0"/>
              </a:tabLst>
            </a:pPr>
            <a:r>
              <a:rPr b="0" lang="en-US" sz="2400" spc="-1" strike="noStrike">
                <a:solidFill>
                  <a:srgbClr val="000000"/>
                </a:solidFill>
                <a:latin typeface="Times New Roman"/>
                <a:ea typeface="Times New Roman"/>
              </a:rPr>
              <a:t> </a:t>
            </a:r>
            <a:r>
              <a:rPr b="0" lang="en-US" sz="2400" spc="-1" strike="noStrike">
                <a:solidFill>
                  <a:srgbClr val="000000"/>
                </a:solidFill>
                <a:latin typeface="Times New Roman"/>
                <a:ea typeface="Times New Roman"/>
              </a:rPr>
              <a:t>The development process involves four program modules:</a:t>
            </a:r>
            <a:endParaRPr b="0" lang="en-US" sz="2400" spc="-1" strike="noStrike">
              <a:solidFill>
                <a:srgbClr val="000000"/>
              </a:solidFill>
              <a:latin typeface="Arial"/>
            </a:endParaRPr>
          </a:p>
          <a:p>
            <a:pPr marL="457200">
              <a:lnSpc>
                <a:spcPct val="100000"/>
              </a:lnSpc>
              <a:tabLst>
                <a:tab algn="l" pos="0"/>
              </a:tabLst>
            </a:pPr>
            <a:r>
              <a:rPr b="0" lang="en-US" sz="2400" spc="-1" strike="noStrike">
                <a:solidFill>
                  <a:srgbClr val="000000"/>
                </a:solidFill>
                <a:latin typeface="Times New Roman"/>
                <a:ea typeface="Times New Roman"/>
              </a:rPr>
              <a:t>1.model.pkl</a:t>
            </a:r>
            <a:endParaRPr b="0" lang="en-US" sz="2400" spc="-1" strike="noStrike">
              <a:solidFill>
                <a:srgbClr val="000000"/>
              </a:solidFill>
              <a:latin typeface="Arial"/>
            </a:endParaRPr>
          </a:p>
          <a:p>
            <a:pPr marL="457200">
              <a:lnSpc>
                <a:spcPct val="100000"/>
              </a:lnSpc>
              <a:tabLst>
                <a:tab algn="l" pos="0"/>
              </a:tabLst>
            </a:pPr>
            <a:r>
              <a:rPr b="0" lang="en-US" sz="2400" spc="-1" strike="noStrike">
                <a:solidFill>
                  <a:srgbClr val="000000"/>
                </a:solidFill>
                <a:latin typeface="Times New Roman"/>
                <a:ea typeface="Times New Roman"/>
              </a:rPr>
              <a:t>                     </a:t>
            </a:r>
            <a:r>
              <a:rPr b="0" lang="en-US" sz="2400" spc="-1" strike="noStrike">
                <a:solidFill>
                  <a:schemeClr val="dk1"/>
                </a:solidFill>
                <a:latin typeface="Times New Roman"/>
                <a:ea typeface="Times New Roman"/>
              </a:rPr>
              <a:t>This file stores the </a:t>
            </a:r>
            <a:r>
              <a:rPr b="1" lang="en-US" sz="2400" spc="-1" strike="noStrike">
                <a:solidFill>
                  <a:schemeClr val="dk1"/>
                </a:solidFill>
                <a:latin typeface="Times New Roman"/>
                <a:ea typeface="Times New Roman"/>
              </a:rPr>
              <a:t>trained machine learning model</a:t>
            </a:r>
            <a:r>
              <a:rPr b="0" lang="en-US" sz="2400" spc="-1" strike="noStrike">
                <a:solidFill>
                  <a:schemeClr val="dk1"/>
                </a:solidFill>
                <a:latin typeface="Times New Roman"/>
                <a:ea typeface="Times New Roman"/>
              </a:rPr>
              <a:t> used for predicting CKD and it’s loaded during runtime to make predictions based on user input.</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2.app.py</a:t>
            </a:r>
            <a:endParaRPr b="0" lang="en-US" sz="2400" spc="-1" strike="noStrike">
              <a:solidFill>
                <a:srgbClr val="000000"/>
              </a:solidFill>
              <a:latin typeface="Arial"/>
            </a:endParaRPr>
          </a:p>
          <a:p>
            <a:pPr marL="457200">
              <a:lnSpc>
                <a:spcPct val="100000"/>
              </a:lnSpc>
              <a:tabLst>
                <a:tab algn="l" pos="0"/>
              </a:tabLst>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This file contains the </a:t>
            </a:r>
            <a:r>
              <a:rPr b="1" lang="en-US" sz="2400" spc="-1" strike="noStrike">
                <a:solidFill>
                  <a:schemeClr val="dk1"/>
                </a:solidFill>
                <a:latin typeface="Times New Roman"/>
                <a:ea typeface="Times New Roman"/>
              </a:rPr>
              <a:t>Flask application code</a:t>
            </a:r>
            <a:r>
              <a:rPr b="0" lang="en-US" sz="2400" spc="-1" strike="noStrike">
                <a:solidFill>
                  <a:schemeClr val="dk1"/>
                </a:solidFill>
                <a:latin typeface="Times New Roman"/>
                <a:ea typeface="Times New Roman"/>
              </a:rPr>
              <a:t> which handles the backend logic, manage HTTP requests, load the machine learning model, and return the prediction results to the user.</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p:txBody>
      </p:sp>
      <p:pic>
        <p:nvPicPr>
          <p:cNvPr id="338" name="Google Shape;104;p 45" descr=""/>
          <p:cNvPicPr/>
          <p:nvPr/>
        </p:nvPicPr>
        <p:blipFill>
          <a:blip r:embed="rId3"/>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9" name="Google Shape;547;p59" descr=""/>
          <p:cNvPicPr/>
          <p:nvPr/>
        </p:nvPicPr>
        <p:blipFill>
          <a:blip r:embed="rId1"/>
          <a:stretch/>
        </p:blipFill>
        <p:spPr>
          <a:xfrm>
            <a:off x="-37440" y="772200"/>
            <a:ext cx="12265920" cy="151200"/>
          </a:xfrm>
          <a:prstGeom prst="rect">
            <a:avLst/>
          </a:prstGeom>
          <a:ln w="0">
            <a:noFill/>
          </a:ln>
        </p:spPr>
      </p:pic>
      <p:pic>
        <p:nvPicPr>
          <p:cNvPr id="340" name="Google Shape;548;p59" descr=""/>
          <p:cNvPicPr/>
          <p:nvPr/>
        </p:nvPicPr>
        <p:blipFill>
          <a:blip r:embed="rId2"/>
          <a:stretch/>
        </p:blipFill>
        <p:spPr>
          <a:xfrm>
            <a:off x="-37440" y="6617160"/>
            <a:ext cx="12265920" cy="239760"/>
          </a:xfrm>
          <a:prstGeom prst="rect">
            <a:avLst/>
          </a:prstGeom>
          <a:ln w="0">
            <a:noFill/>
          </a:ln>
        </p:spPr>
      </p:pic>
      <p:sp>
        <p:nvSpPr>
          <p:cNvPr id="341" name="Google Shape;550;p59"/>
          <p:cNvSpPr/>
          <p:nvPr/>
        </p:nvSpPr>
        <p:spPr>
          <a:xfrm>
            <a:off x="191160" y="1077120"/>
            <a:ext cx="11664000" cy="516636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2400" spc="-1" strike="noStrike">
                <a:solidFill>
                  <a:schemeClr val="dk1"/>
                </a:solidFill>
                <a:latin typeface="Times New Roman"/>
                <a:ea typeface="Times New Roman"/>
              </a:rPr>
              <a:t>3. index.html:</a:t>
            </a:r>
            <a:endParaRPr b="0" lang="en-US" sz="2400" spc="-1" strike="noStrike">
              <a:solidFill>
                <a:srgbClr val="000000"/>
              </a:solidFill>
              <a:latin typeface="Arial"/>
            </a:endParaRPr>
          </a:p>
          <a:p>
            <a:pPr marL="914400">
              <a:lnSpc>
                <a:spcPct val="100000"/>
              </a:lnSpc>
              <a:tabLst>
                <a:tab algn="l" pos="0"/>
              </a:tabLst>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This is the </a:t>
            </a:r>
            <a:r>
              <a:rPr b="1" lang="en-US" sz="2400" spc="-1" strike="noStrike">
                <a:solidFill>
                  <a:schemeClr val="dk1"/>
                </a:solidFill>
                <a:latin typeface="Times New Roman"/>
                <a:ea typeface="Times New Roman"/>
              </a:rPr>
              <a:t>HTML file for the homepage</a:t>
            </a:r>
            <a:r>
              <a:rPr b="0" lang="en-US" sz="2400" spc="-1" strike="noStrike">
                <a:solidFill>
                  <a:schemeClr val="dk1"/>
                </a:solidFill>
                <a:latin typeface="Times New Roman"/>
                <a:ea typeface="Times New Roman"/>
              </a:rPr>
              <a:t> where users input their medical details.  It will likely contain:</a:t>
            </a:r>
            <a:br>
              <a:rPr sz="2400"/>
            </a:br>
            <a:r>
              <a:rPr b="0" lang="en-US" sz="2400" spc="-1" strike="noStrike">
                <a:solidFill>
                  <a:schemeClr val="dk1"/>
                </a:solidFill>
                <a:latin typeface="Times New Roman"/>
                <a:ea typeface="Times New Roman"/>
              </a:rPr>
              <a:t>                         A form with various input fields (text boxes, dropdowns).</a:t>
            </a:r>
            <a:br>
              <a:rPr sz="2400"/>
            </a:br>
            <a:r>
              <a:rPr b="0" lang="en-US" sz="2400" spc="-1" strike="noStrike">
                <a:solidFill>
                  <a:schemeClr val="dk1"/>
                </a:solidFill>
                <a:latin typeface="Times New Roman"/>
                <a:ea typeface="Times New Roman"/>
              </a:rPr>
              <a:t>                         CSS/Bootstrap styles for the page layout and design.</a:t>
            </a:r>
            <a:br>
              <a:rPr sz="2400"/>
            </a:br>
            <a:endParaRPr b="0" lang="en-US" sz="2400" spc="-1" strike="noStrike">
              <a:solidFill>
                <a:srgbClr val="000000"/>
              </a:solidFill>
              <a:latin typeface="Arial"/>
            </a:endParaRPr>
          </a:p>
          <a:p>
            <a:pPr marL="914400">
              <a:lnSpc>
                <a:spcPct val="100000"/>
              </a:lnSpc>
              <a:tabLst>
                <a:tab algn="l" pos="0"/>
              </a:tabLst>
            </a:pPr>
            <a:r>
              <a:rPr b="0" lang="en-US" sz="2400" spc="-1" strike="noStrike">
                <a:solidFill>
                  <a:schemeClr val="dk1"/>
                </a:solidFill>
                <a:latin typeface="Times New Roman"/>
                <a:ea typeface="Times New Roman"/>
              </a:rPr>
              <a:t>4. result.html:</a:t>
            </a:r>
            <a:endParaRPr b="0" lang="en-US" sz="2400" spc="-1" strike="noStrike">
              <a:solidFill>
                <a:srgbClr val="000000"/>
              </a:solidFill>
              <a:latin typeface="Arial"/>
            </a:endParaRPr>
          </a:p>
          <a:p>
            <a:pPr marL="914400">
              <a:lnSpc>
                <a:spcPct val="100000"/>
              </a:lnSpc>
              <a:tabLst>
                <a:tab algn="l" pos="0"/>
              </a:tabLst>
            </a:pPr>
            <a:r>
              <a:rPr b="0" lang="en-US" sz="2400" spc="-1" strike="noStrike">
                <a:solidFill>
                  <a:schemeClr val="dk1"/>
                </a:solidFill>
                <a:latin typeface="Times New Roman"/>
                <a:ea typeface="Times New Roman"/>
              </a:rPr>
              <a:t>                   </a:t>
            </a:r>
            <a:r>
              <a:rPr b="0" lang="en-US" sz="2400" spc="-1" strike="noStrike">
                <a:solidFill>
                  <a:schemeClr val="dk1"/>
                </a:solidFill>
                <a:latin typeface="Times New Roman"/>
                <a:ea typeface="Times New Roman"/>
              </a:rPr>
              <a:t>This file displays the </a:t>
            </a:r>
            <a:r>
              <a:rPr b="1" lang="en-US" sz="2400" spc="-1" strike="noStrike">
                <a:solidFill>
                  <a:schemeClr val="dk1"/>
                </a:solidFill>
                <a:latin typeface="Times New Roman"/>
                <a:ea typeface="Times New Roman"/>
              </a:rPr>
              <a:t>predicted results</a:t>
            </a:r>
            <a:r>
              <a:rPr b="0" lang="en-US" sz="2400" spc="-1" strike="noStrike">
                <a:solidFill>
                  <a:schemeClr val="dk1"/>
                </a:solidFill>
                <a:latin typeface="Times New Roman"/>
                <a:ea typeface="Times New Roman"/>
              </a:rPr>
              <a:t> based on the user's input. </a:t>
            </a:r>
            <a:endParaRPr b="0" lang="en-US" sz="2400" spc="-1" strike="noStrike">
              <a:solidFill>
                <a:srgbClr val="000000"/>
              </a:solidFill>
              <a:latin typeface="Arial"/>
            </a:endParaRPr>
          </a:p>
          <a:p>
            <a:pPr marL="914400">
              <a:lnSpc>
                <a:spcPct val="100000"/>
              </a:lnSpc>
              <a:tabLst>
                <a:tab algn="l" pos="0"/>
              </a:tabLst>
            </a:pPr>
            <a:r>
              <a:rPr b="0" lang="en-US" sz="2400" spc="-1" strike="noStrike">
                <a:solidFill>
                  <a:schemeClr val="dk1"/>
                </a:solidFill>
                <a:latin typeface="Times New Roman"/>
                <a:ea typeface="Times New Roman"/>
              </a:rPr>
              <a:t>It will include:</a:t>
            </a:r>
            <a:endParaRPr b="0" lang="en-US" sz="2400" spc="-1" strike="noStrike">
              <a:solidFill>
                <a:srgbClr val="000000"/>
              </a:solidFill>
              <a:latin typeface="Arial"/>
            </a:endParaRPr>
          </a:p>
          <a:p>
            <a:pPr marL="457200" indent="-380880">
              <a:lnSpc>
                <a:spcPct val="115000"/>
              </a:lnSpc>
              <a:spcBef>
                <a:spcPts val="1199"/>
              </a:spcBef>
              <a:buClr>
                <a:srgbClr val="000000"/>
              </a:buClr>
              <a:buFont typeface="Times New Roman"/>
              <a:buChar char="●"/>
              <a:tabLst>
                <a:tab algn="l" pos="0"/>
              </a:tabLst>
            </a:pPr>
            <a:r>
              <a:rPr b="0" lang="en-US" sz="2400" spc="-1" strike="noStrike">
                <a:solidFill>
                  <a:schemeClr val="dk1"/>
                </a:solidFill>
                <a:latin typeface="Times New Roman"/>
                <a:ea typeface="Times New Roman"/>
              </a:rPr>
              <a:t>A template to show the prediction result (e.g., "Positive" or "Negative").</a:t>
            </a:r>
            <a:endParaRPr b="0" lang="en-US" sz="2400" spc="-1" strike="noStrike">
              <a:solidFill>
                <a:srgbClr val="000000"/>
              </a:solidFill>
              <a:latin typeface="Arial"/>
            </a:endParaRPr>
          </a:p>
          <a:p>
            <a:pPr marL="457200" indent="-380880">
              <a:lnSpc>
                <a:spcPct val="115000"/>
              </a:lnSpc>
              <a:buClr>
                <a:srgbClr val="000000"/>
              </a:buClr>
              <a:buFont typeface="Times New Roman"/>
              <a:buChar char="●"/>
              <a:tabLst>
                <a:tab algn="l" pos="0"/>
              </a:tabLst>
            </a:pPr>
            <a:r>
              <a:rPr b="0" lang="en-US" sz="2400" spc="-1" strike="noStrike">
                <a:solidFill>
                  <a:schemeClr val="dk1"/>
                </a:solidFill>
                <a:latin typeface="Times New Roman"/>
                <a:ea typeface="Times New Roman"/>
              </a:rPr>
              <a:t>A section for displaying the patient's information.</a:t>
            </a:r>
            <a:endParaRPr b="0" lang="en-US" sz="2400" spc="-1" strike="noStrike">
              <a:solidFill>
                <a:srgbClr val="000000"/>
              </a:solidFill>
              <a:latin typeface="Arial"/>
            </a:endParaRPr>
          </a:p>
          <a:p>
            <a:pPr marL="457200">
              <a:lnSpc>
                <a:spcPct val="115000"/>
              </a:lnSpc>
              <a:spcBef>
                <a:spcPts val="1199"/>
              </a:spcBef>
              <a:tabLst>
                <a:tab algn="l" pos="0"/>
              </a:tabLst>
            </a:pPr>
            <a:endParaRPr b="0" lang="en-US" sz="2400" spc="-1" strike="noStrike">
              <a:solidFill>
                <a:srgbClr val="000000"/>
              </a:solidFill>
              <a:latin typeface="Arial"/>
            </a:endParaRPr>
          </a:p>
          <a:p>
            <a:pPr marL="457200">
              <a:lnSpc>
                <a:spcPct val="100000"/>
              </a:lnSpc>
              <a:spcBef>
                <a:spcPts val="1199"/>
              </a:spcBef>
              <a:tabLst>
                <a:tab algn="l" pos="0"/>
              </a:tabLst>
            </a:pPr>
            <a:endParaRPr b="0" lang="en-US" sz="2400" spc="-1" strike="noStrike">
              <a:solidFill>
                <a:srgbClr val="000000"/>
              </a:solidFill>
              <a:latin typeface="Arial"/>
            </a:endParaRPr>
          </a:p>
        </p:txBody>
      </p:sp>
      <p:pic>
        <p:nvPicPr>
          <p:cNvPr id="342" name="Google Shape;104;p 46" descr=""/>
          <p:cNvPicPr/>
          <p:nvPr/>
        </p:nvPicPr>
        <p:blipFill>
          <a:blip r:embed="rId3"/>
          <a:stretch/>
        </p:blipFill>
        <p:spPr>
          <a:xfrm>
            <a:off x="85590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3" name="Google Shape;555;p60" descr=""/>
          <p:cNvPicPr/>
          <p:nvPr/>
        </p:nvPicPr>
        <p:blipFill>
          <a:blip r:embed="rId1"/>
          <a:stretch/>
        </p:blipFill>
        <p:spPr>
          <a:xfrm>
            <a:off x="-37440" y="772200"/>
            <a:ext cx="12265920" cy="151200"/>
          </a:xfrm>
          <a:prstGeom prst="rect">
            <a:avLst/>
          </a:prstGeom>
          <a:ln w="0">
            <a:noFill/>
          </a:ln>
        </p:spPr>
      </p:pic>
      <p:pic>
        <p:nvPicPr>
          <p:cNvPr id="344" name="Google Shape;556;p60" descr=""/>
          <p:cNvPicPr/>
          <p:nvPr/>
        </p:nvPicPr>
        <p:blipFill>
          <a:blip r:embed="rId2"/>
          <a:stretch/>
        </p:blipFill>
        <p:spPr>
          <a:xfrm>
            <a:off x="-37440" y="6617160"/>
            <a:ext cx="12265920" cy="239760"/>
          </a:xfrm>
          <a:prstGeom prst="rect">
            <a:avLst/>
          </a:prstGeom>
          <a:ln w="0">
            <a:noFill/>
          </a:ln>
        </p:spPr>
      </p:pic>
      <p:sp>
        <p:nvSpPr>
          <p:cNvPr id="345" name="Google Shape;558;p60"/>
          <p:cNvSpPr/>
          <p:nvPr/>
        </p:nvSpPr>
        <p:spPr>
          <a:xfrm>
            <a:off x="507960" y="1001520"/>
            <a:ext cx="11487600" cy="5496120"/>
          </a:xfrm>
          <a:prstGeom prst="rect">
            <a:avLst/>
          </a:prstGeom>
          <a:noFill/>
          <a:ln w="0">
            <a:noFill/>
          </a:ln>
        </p:spPr>
        <p:style>
          <a:lnRef idx="0"/>
          <a:fillRef idx="0"/>
          <a:effectRef idx="0"/>
          <a:fontRef idx="minor"/>
        </p:style>
        <p:txBody>
          <a:bodyPr lIns="90000" rIns="90000" tIns="91440" bIns="91440" anchor="t">
            <a:noAutofit/>
          </a:bodyPr>
          <a:p>
            <a:pPr marL="457200" indent="-380880">
              <a:lnSpc>
                <a:spcPct val="100000"/>
              </a:lnSpc>
              <a:buClr>
                <a:srgbClr val="000000"/>
              </a:buClr>
              <a:buFont typeface="Times New Roman"/>
              <a:buChar char="●"/>
            </a:pPr>
            <a:r>
              <a:rPr b="1" lang="en-US" sz="2400" spc="-1" strike="noStrike">
                <a:solidFill>
                  <a:schemeClr val="dk1"/>
                </a:solidFill>
                <a:latin typeface="Times New Roman"/>
                <a:ea typeface="Times New Roman"/>
              </a:rPr>
              <a:t>HTML</a:t>
            </a:r>
            <a:r>
              <a:rPr b="0" lang="en-US" sz="2400" spc="-1" strike="noStrike">
                <a:solidFill>
                  <a:schemeClr val="dk1"/>
                </a:solidFill>
                <a:latin typeface="Times New Roman"/>
                <a:ea typeface="Times New Roman"/>
              </a:rPr>
              <a:t> defines the document structure using semantic tags and Bootstrap 5.3.2 classes to create a form-based interface for inputting CKD-relevant clinical parameters.</a:t>
            </a:r>
            <a:br>
              <a:rPr sz="2400"/>
            </a:b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1" lang="en-US" sz="2400" spc="-1" strike="noStrike">
                <a:solidFill>
                  <a:schemeClr val="dk1"/>
                </a:solidFill>
                <a:latin typeface="Times New Roman"/>
                <a:ea typeface="Times New Roman"/>
              </a:rPr>
              <a:t>CSS</a:t>
            </a:r>
            <a:r>
              <a:rPr b="0" lang="en-US" sz="2400" spc="-1" strike="noStrike">
                <a:solidFill>
                  <a:schemeClr val="dk1"/>
                </a:solidFill>
                <a:latin typeface="Times New Roman"/>
                <a:ea typeface="Times New Roman"/>
              </a:rPr>
              <a:t> applies custom styles and media queries to control visual layout, component spacing, form element appearance, and responsiveness across devices.</a:t>
            </a:r>
            <a:br>
              <a:rPr sz="2400"/>
            </a:br>
            <a:r>
              <a:rPr b="0" lang="en-US" sz="2400" spc="-1" strike="noStrike">
                <a:solidFill>
                  <a:schemeClr val="dk1"/>
                </a:solidFill>
                <a:latin typeface="Times New Roman"/>
                <a:ea typeface="Times New Roman"/>
              </a:rPr>
              <a:t> </a:t>
            </a:r>
            <a:endParaRPr b="0" lang="en-US" sz="2400" spc="-1" strike="noStrike">
              <a:solidFill>
                <a:srgbClr val="000000"/>
              </a:solidFill>
              <a:latin typeface="Arial"/>
            </a:endParaRPr>
          </a:p>
          <a:p>
            <a:pPr marL="457200" indent="-380880">
              <a:lnSpc>
                <a:spcPct val="100000"/>
              </a:lnSpc>
              <a:buClr>
                <a:srgbClr val="000000"/>
              </a:buClr>
              <a:buFont typeface="Times New Roman"/>
              <a:buChar char="●"/>
            </a:pPr>
            <a:r>
              <a:rPr b="1" lang="en-US" sz="2400" spc="-1" strike="noStrike">
                <a:solidFill>
                  <a:schemeClr val="dk1"/>
                </a:solidFill>
                <a:latin typeface="Times New Roman"/>
                <a:ea typeface="Times New Roman"/>
              </a:rPr>
              <a:t>JavaScript</a:t>
            </a:r>
            <a:r>
              <a:rPr b="0" lang="en-US" sz="2400" spc="-1" strike="noStrike">
                <a:solidFill>
                  <a:schemeClr val="dk1"/>
                </a:solidFill>
                <a:latin typeface="Times New Roman"/>
                <a:ea typeface="Times New Roman"/>
              </a:rPr>
              <a:t> (referenced via functions like </a:t>
            </a:r>
            <a:r>
              <a:rPr b="0" lang="en-US" sz="2400" spc="-1" strike="noStrike">
                <a:solidFill>
                  <a:srgbClr val="188038"/>
                </a:solidFill>
                <a:latin typeface="Times New Roman"/>
                <a:ea typeface="Times New Roman"/>
              </a:rPr>
              <a:t>main()</a:t>
            </a:r>
            <a:r>
              <a:rPr b="0" lang="en-US" sz="2400" spc="-1" strike="noStrike">
                <a:solidFill>
                  <a:schemeClr val="dk1"/>
                </a:solidFill>
                <a:latin typeface="Times New Roman"/>
                <a:ea typeface="Times New Roman"/>
              </a:rPr>
              <a:t> and </a:t>
            </a:r>
            <a:r>
              <a:rPr b="0" lang="en-US" sz="2400" spc="-1" strike="noStrike">
                <a:solidFill>
                  <a:srgbClr val="188038"/>
                </a:solidFill>
                <a:latin typeface="Times New Roman"/>
                <a:ea typeface="Times New Roman"/>
              </a:rPr>
              <a:t>myfun()</a:t>
            </a:r>
            <a:r>
              <a:rPr b="0" lang="en-US" sz="2400" spc="-1" strike="noStrike">
                <a:solidFill>
                  <a:schemeClr val="dk1"/>
                </a:solidFill>
                <a:latin typeface="Times New Roman"/>
                <a:ea typeface="Times New Roman"/>
              </a:rPr>
              <a:t>) is intended to handle form submission events and dynamic DOM manipulation, though function definitions are external.</a:t>
            </a:r>
            <a:endParaRPr b="0" lang="en-US" sz="2400" spc="-1" strike="noStrike">
              <a:solidFill>
                <a:srgbClr val="000000"/>
              </a:solidFill>
              <a:latin typeface="Arial"/>
            </a:endParaRPr>
          </a:p>
          <a:p>
            <a:pPr marL="457200">
              <a:lnSpc>
                <a:spcPct val="100000"/>
              </a:lnSpc>
              <a:tabLst>
                <a:tab algn="l" pos="0"/>
              </a:tabLst>
            </a:pPr>
            <a:endParaRPr b="0" lang="en-US" sz="2400" spc="-1" strike="noStrike">
              <a:solidFill>
                <a:srgbClr val="000000"/>
              </a:solidFill>
              <a:latin typeface="Arial"/>
            </a:endParaRPr>
          </a:p>
          <a:p>
            <a:pPr marL="457200">
              <a:lnSpc>
                <a:spcPct val="100000"/>
              </a:lnSpc>
              <a:tabLst>
                <a:tab algn="l" pos="0"/>
              </a:tabLst>
            </a:pPr>
            <a:r>
              <a:rPr b="0" lang="en-US" sz="2400" spc="-1" strike="noStrike">
                <a:solidFill>
                  <a:schemeClr val="dk2"/>
                </a:solidFill>
                <a:latin typeface="Times New Roman"/>
                <a:ea typeface="Times New Roman"/>
              </a:rPr>
              <a:t>    </a:t>
            </a:r>
            <a:r>
              <a:rPr b="1" lang="en-US" sz="2400" spc="-1" strike="noStrike">
                <a:solidFill>
                  <a:schemeClr val="dk1"/>
                </a:solidFill>
                <a:latin typeface="Times New Roman"/>
                <a:ea typeface="Times New Roman"/>
              </a:rPr>
              <a:t>Dataset_1</a:t>
            </a:r>
            <a:r>
              <a:rPr b="0" lang="en-US" sz="2400" spc="-1" strike="noStrike">
                <a:solidFill>
                  <a:schemeClr val="dk1"/>
                </a:solidFill>
                <a:latin typeface="Times New Roman"/>
                <a:ea typeface="Times New Roman"/>
              </a:rPr>
              <a:t> was selected for model training due to its well-structured and noise-free features, and the </a:t>
            </a:r>
            <a:r>
              <a:rPr b="1" lang="en-US" sz="2400" spc="-1" strike="noStrike">
                <a:solidFill>
                  <a:schemeClr val="dk1"/>
                </a:solidFill>
                <a:latin typeface="Times New Roman"/>
                <a:ea typeface="Times New Roman"/>
              </a:rPr>
              <a:t>Random Forest (RF)</a:t>
            </a:r>
            <a:r>
              <a:rPr b="0" lang="en-US" sz="2400" spc="-1" strike="noStrike">
                <a:solidFill>
                  <a:schemeClr val="dk1"/>
                </a:solidFill>
                <a:latin typeface="Times New Roman"/>
                <a:ea typeface="Times New Roman"/>
              </a:rPr>
              <a:t> classifier was chosen for deployment based on its consistently high accuracy across evaluation metrics.</a:t>
            </a:r>
            <a:r>
              <a:rPr b="0" lang="en-US" sz="2400" spc="-1" strike="noStrike">
                <a:solidFill>
                  <a:schemeClr val="dk2"/>
                </a:solidFill>
                <a:latin typeface="Times New Roman"/>
                <a:ea typeface="Times New Roman"/>
              </a:rPr>
              <a:t>       </a:t>
            </a:r>
            <a:endParaRPr b="0" lang="en-US" sz="2400" spc="-1" strike="noStrike">
              <a:solidFill>
                <a:srgbClr val="000000"/>
              </a:solidFill>
              <a:latin typeface="Arial"/>
            </a:endParaRPr>
          </a:p>
          <a:p>
            <a:pPr marL="457200">
              <a:lnSpc>
                <a:spcPct val="100000"/>
              </a:lnSpc>
              <a:tabLst>
                <a:tab algn="l" pos="0"/>
              </a:tabLst>
            </a:pPr>
            <a:r>
              <a:rPr b="0" lang="en-US" sz="2400" spc="-1" strike="noStrike">
                <a:solidFill>
                  <a:schemeClr val="dk2"/>
                </a:solidFill>
                <a:latin typeface="Times New Roman"/>
                <a:ea typeface="Times New Roman"/>
              </a:rPr>
              <a:t> </a:t>
            </a:r>
            <a:endParaRPr b="0" lang="en-US" sz="2400" spc="-1" strike="noStrike">
              <a:solidFill>
                <a:srgbClr val="000000"/>
              </a:solidFill>
              <a:latin typeface="Arial"/>
            </a:endParaRPr>
          </a:p>
        </p:txBody>
      </p:sp>
      <p:pic>
        <p:nvPicPr>
          <p:cNvPr id="346" name="Google Shape;104;p 47" descr=""/>
          <p:cNvPicPr/>
          <p:nvPr/>
        </p:nvPicPr>
        <p:blipFill>
          <a:blip r:embed="rId3"/>
          <a:stretch/>
        </p:blipFill>
        <p:spPr>
          <a:xfrm>
            <a:off x="8635320" y="8172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7" name="Google Shape;563;p61" descr=""/>
          <p:cNvPicPr/>
          <p:nvPr/>
        </p:nvPicPr>
        <p:blipFill>
          <a:blip r:embed="rId1"/>
          <a:stretch/>
        </p:blipFill>
        <p:spPr>
          <a:xfrm>
            <a:off x="-37440" y="772200"/>
            <a:ext cx="12265920" cy="151200"/>
          </a:xfrm>
          <a:prstGeom prst="rect">
            <a:avLst/>
          </a:prstGeom>
          <a:ln w="0">
            <a:noFill/>
          </a:ln>
        </p:spPr>
      </p:pic>
      <p:pic>
        <p:nvPicPr>
          <p:cNvPr id="348" name="Google Shape;564;p61" descr=""/>
          <p:cNvPicPr/>
          <p:nvPr/>
        </p:nvPicPr>
        <p:blipFill>
          <a:blip r:embed="rId2"/>
          <a:stretch/>
        </p:blipFill>
        <p:spPr>
          <a:xfrm>
            <a:off x="-37440" y="6617160"/>
            <a:ext cx="12265920" cy="239760"/>
          </a:xfrm>
          <a:prstGeom prst="rect">
            <a:avLst/>
          </a:prstGeom>
          <a:ln w="0">
            <a:noFill/>
          </a:ln>
        </p:spPr>
      </p:pic>
      <p:sp>
        <p:nvSpPr>
          <p:cNvPr id="349" name="Google Shape;567;p61"/>
          <p:cNvSpPr/>
          <p:nvPr/>
        </p:nvSpPr>
        <p:spPr>
          <a:xfrm>
            <a:off x="120960" y="164880"/>
            <a:ext cx="5123160" cy="5292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RESULTS:</a:t>
            </a:r>
            <a:endParaRPr b="0" lang="en-US" sz="2400" spc="-1" strike="noStrike">
              <a:solidFill>
                <a:srgbClr val="000000"/>
              </a:solidFill>
              <a:latin typeface="Arial"/>
            </a:endParaRPr>
          </a:p>
        </p:txBody>
      </p:sp>
      <p:pic>
        <p:nvPicPr>
          <p:cNvPr id="350" name="" descr=""/>
          <p:cNvPicPr/>
          <p:nvPr/>
        </p:nvPicPr>
        <p:blipFill>
          <a:blip r:embed="rId3"/>
          <a:stretch/>
        </p:blipFill>
        <p:spPr>
          <a:xfrm>
            <a:off x="2070000" y="492840"/>
            <a:ext cx="6845040" cy="6136200"/>
          </a:xfrm>
          <a:prstGeom prst="rect">
            <a:avLst/>
          </a:prstGeom>
          <a:ln w="0">
            <a:noFill/>
          </a:ln>
        </p:spPr>
      </p:pic>
      <p:pic>
        <p:nvPicPr>
          <p:cNvPr id="351" name="Google Shape;104;p 48" descr=""/>
          <p:cNvPicPr/>
          <p:nvPr/>
        </p:nvPicPr>
        <p:blipFill>
          <a:blip r:embed="rId4"/>
          <a:stretch/>
        </p:blipFill>
        <p:spPr>
          <a:xfrm>
            <a:off x="868680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2" name="Google Shape;573;p62" descr=""/>
          <p:cNvPicPr/>
          <p:nvPr/>
        </p:nvPicPr>
        <p:blipFill>
          <a:blip r:embed="rId1"/>
          <a:stretch/>
        </p:blipFill>
        <p:spPr>
          <a:xfrm>
            <a:off x="-37440" y="772200"/>
            <a:ext cx="12265920" cy="151200"/>
          </a:xfrm>
          <a:prstGeom prst="rect">
            <a:avLst/>
          </a:prstGeom>
          <a:ln w="0">
            <a:noFill/>
          </a:ln>
        </p:spPr>
      </p:pic>
      <p:pic>
        <p:nvPicPr>
          <p:cNvPr id="353" name="Google Shape;574;p62" descr=""/>
          <p:cNvPicPr/>
          <p:nvPr/>
        </p:nvPicPr>
        <p:blipFill>
          <a:blip r:embed="rId2"/>
          <a:stretch/>
        </p:blipFill>
        <p:spPr>
          <a:xfrm>
            <a:off x="-37440" y="6617160"/>
            <a:ext cx="12265920" cy="239760"/>
          </a:xfrm>
          <a:prstGeom prst="rect">
            <a:avLst/>
          </a:prstGeom>
          <a:ln w="0">
            <a:noFill/>
          </a:ln>
        </p:spPr>
      </p:pic>
      <p:sp>
        <p:nvSpPr>
          <p:cNvPr id="354" name="Google Shape;576;p62"/>
          <p:cNvSpPr/>
          <p:nvPr/>
        </p:nvSpPr>
        <p:spPr>
          <a:xfrm>
            <a:off x="120960" y="164880"/>
            <a:ext cx="5123160" cy="52920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1" lang="en-US" sz="2400" spc="-1" strike="noStrike">
                <a:solidFill>
                  <a:schemeClr val="dk1"/>
                </a:solidFill>
                <a:latin typeface="Times New Roman"/>
                <a:ea typeface="Times New Roman"/>
              </a:rPr>
              <a:t>RESULTS:</a:t>
            </a:r>
            <a:endParaRPr b="0" lang="en-US" sz="2400" spc="-1" strike="noStrike">
              <a:solidFill>
                <a:srgbClr val="000000"/>
              </a:solidFill>
              <a:latin typeface="Arial"/>
            </a:endParaRPr>
          </a:p>
        </p:txBody>
      </p:sp>
      <p:pic>
        <p:nvPicPr>
          <p:cNvPr id="355" name="" descr=""/>
          <p:cNvPicPr/>
          <p:nvPr/>
        </p:nvPicPr>
        <p:blipFill>
          <a:blip r:embed="rId3"/>
          <a:stretch/>
        </p:blipFill>
        <p:spPr>
          <a:xfrm>
            <a:off x="2971800" y="861480"/>
            <a:ext cx="5487480" cy="5538600"/>
          </a:xfrm>
          <a:prstGeom prst="rect">
            <a:avLst/>
          </a:prstGeom>
          <a:ln w="0">
            <a:noFill/>
          </a:ln>
        </p:spPr>
      </p:pic>
      <p:pic>
        <p:nvPicPr>
          <p:cNvPr id="356" name="Google Shape;104;p 49" descr=""/>
          <p:cNvPicPr/>
          <p:nvPr/>
        </p:nvPicPr>
        <p:blipFill>
          <a:blip r:embed="rId4"/>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7" name="Google Shape;582;p63" descr=""/>
          <p:cNvPicPr/>
          <p:nvPr/>
        </p:nvPicPr>
        <p:blipFill>
          <a:blip r:embed="rId1"/>
          <a:stretch/>
        </p:blipFill>
        <p:spPr>
          <a:xfrm>
            <a:off x="-37440" y="772200"/>
            <a:ext cx="12265920" cy="151200"/>
          </a:xfrm>
          <a:prstGeom prst="rect">
            <a:avLst/>
          </a:prstGeom>
          <a:ln w="0">
            <a:noFill/>
          </a:ln>
        </p:spPr>
      </p:pic>
      <p:pic>
        <p:nvPicPr>
          <p:cNvPr id="358" name="Google Shape;583;p63" descr=""/>
          <p:cNvPicPr/>
          <p:nvPr/>
        </p:nvPicPr>
        <p:blipFill>
          <a:blip r:embed="rId2"/>
          <a:stretch/>
        </p:blipFill>
        <p:spPr>
          <a:xfrm>
            <a:off x="-37440" y="6617160"/>
            <a:ext cx="12265920" cy="239760"/>
          </a:xfrm>
          <a:prstGeom prst="rect">
            <a:avLst/>
          </a:prstGeom>
          <a:ln w="0">
            <a:noFill/>
          </a:ln>
        </p:spPr>
      </p:pic>
      <p:sp>
        <p:nvSpPr>
          <p:cNvPr id="359" name="Google Shape;585;p63"/>
          <p:cNvSpPr/>
          <p:nvPr/>
        </p:nvSpPr>
        <p:spPr>
          <a:xfrm>
            <a:off x="977760" y="3042360"/>
            <a:ext cx="9294480" cy="208188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3600" spc="-1" strike="noStrike">
                <a:solidFill>
                  <a:schemeClr val="dk2"/>
                </a:solidFill>
                <a:latin typeface="Arial"/>
                <a:ea typeface="Arial"/>
              </a:rPr>
              <a:t>                          </a:t>
            </a:r>
            <a:r>
              <a:rPr b="0" lang="en-US" sz="3600" spc="-1" strike="noStrike">
                <a:solidFill>
                  <a:schemeClr val="dk1"/>
                </a:solidFill>
                <a:latin typeface="Arial"/>
                <a:ea typeface="Arial"/>
              </a:rPr>
              <a:t>  </a:t>
            </a:r>
            <a:r>
              <a:rPr b="1" lang="en-US" sz="3600" spc="-1" strike="noStrike">
                <a:solidFill>
                  <a:schemeClr val="dk1"/>
                </a:solidFill>
                <a:latin typeface="Times New Roman"/>
                <a:ea typeface="Times New Roman"/>
              </a:rPr>
              <a:t>THANK YOU</a:t>
            </a:r>
            <a:r>
              <a:rPr b="1" lang="en-US" sz="3600" spc="-1" strike="noStrike">
                <a:solidFill>
                  <a:schemeClr val="dk2"/>
                </a:solidFill>
                <a:latin typeface="Times New Roman"/>
                <a:ea typeface="Times New Roman"/>
              </a:rPr>
              <a:t> </a:t>
            </a:r>
            <a:endParaRPr b="0" lang="en-US" sz="3600" spc="-1" strike="noStrike">
              <a:solidFill>
                <a:srgbClr val="000000"/>
              </a:solidFill>
              <a:latin typeface="Arial"/>
            </a:endParaRPr>
          </a:p>
        </p:txBody>
      </p:sp>
      <p:pic>
        <p:nvPicPr>
          <p:cNvPr id="360" name="Google Shape;104;p 50" descr=""/>
          <p:cNvPicPr/>
          <p:nvPr/>
        </p:nvPicPr>
        <p:blipFill>
          <a:blip r:embed="rId3"/>
          <a:stretch/>
        </p:blipFill>
        <p:spPr>
          <a:xfrm>
            <a:off x="8635320" y="0"/>
            <a:ext cx="3556440" cy="77868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2025-11-10T09:21:37Z</dcterms:modified>
  <cp:revision>3</cp:revision>
  <dc:subject/>
  <dc:title/>
</cp:coreProperties>
</file>

<file path=docProps/custom.xml><?xml version="1.0" encoding="utf-8"?>
<Properties xmlns="http://schemas.openxmlformats.org/officeDocument/2006/custom-properties" xmlns:vt="http://schemas.openxmlformats.org/officeDocument/2006/docPropsVTypes"/>
</file>