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40CD11-3904-4C98-91E4-FA9760CC838B}">
  <a:tblStyle styleId="{5440CD11-3904-4C98-91E4-FA9760CC838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5"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fb7177439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97" name="Google Shape;97;g37fb7177439_2_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7fb7177439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07" name="Google Shape;107;g37fb7177439_2_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fb7177439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16" name="Google Shape;116;g37fb7177439_2_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7fb7177439_2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25" name="Google Shape;125;g37fb7177439_2_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7fb7177439_2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34" name="Google Shape;134;g37fb7177439_2_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7fb7177439_2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44" name="Google Shape;144;g37fb7177439_2_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7fb7177439_2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53" name="Google Shape;153;g37fb7177439_2_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1.</a:t>
            </a:r>
            <a:r>
              <a:rPr lang="en" sz="1400">
                <a:solidFill>
                  <a:schemeClr val="dk1"/>
                </a:solidFill>
                <a:latin typeface="Times New Roman"/>
                <a:ea typeface="Times New Roman"/>
                <a:cs typeface="Times New Roman"/>
                <a:sym typeface="Times New Roman"/>
              </a:rPr>
              <a:t>This makes it unfit  for </a:t>
            </a:r>
            <a:r>
              <a:rPr lang="en" sz="1400">
                <a:solidFill>
                  <a:srgbClr val="222222"/>
                </a:solidFill>
                <a:highlight>
                  <a:srgbClr val="FFFFFF"/>
                </a:highlight>
                <a:latin typeface="Times New Roman"/>
                <a:ea typeface="Times New Roman"/>
                <a:cs typeface="Times New Roman"/>
                <a:sym typeface="Times New Roman"/>
              </a:rPr>
              <a:t>assisting clinicians in the risk for an patient.</a:t>
            </a:r>
            <a:endParaRPr sz="1400">
              <a:solidFill>
                <a:srgbClr val="222222"/>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lang="en" sz="1400">
                <a:solidFill>
                  <a:srgbClr val="222222"/>
                </a:solidFill>
                <a:highlight>
                  <a:srgbClr val="FFFFFF"/>
                </a:highlight>
                <a:latin typeface="Times New Roman"/>
                <a:ea typeface="Times New Roman"/>
                <a:cs typeface="Times New Roman"/>
                <a:sym typeface="Times New Roman"/>
              </a:rPr>
              <a:t>2.</a:t>
            </a:r>
            <a:r>
              <a:rPr lang="en" sz="1400">
                <a:solidFill>
                  <a:schemeClr val="dk1"/>
                </a:solidFill>
                <a:latin typeface="Times New Roman"/>
                <a:ea typeface="Times New Roman"/>
                <a:cs typeface="Times New Roman"/>
                <a:sym typeface="Times New Roman"/>
              </a:rPr>
              <a:t>They used only 11 features which fails </a:t>
            </a:r>
            <a:r>
              <a:rPr lang="en" sz="1400">
                <a:solidFill>
                  <a:srgbClr val="1F1F1F"/>
                </a:solidFill>
                <a:latin typeface="Times New Roman"/>
                <a:ea typeface="Times New Roman"/>
                <a:cs typeface="Times New Roman"/>
                <a:sym typeface="Times New Roman"/>
              </a:rPr>
              <a:t>to extract the hidden pattern and improve the detection accuracy.</a:t>
            </a:r>
            <a:endParaRPr sz="140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7fb7177439_2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67" name="Google Shape;167;g37fb7177439_2_1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1.</a:t>
            </a:r>
            <a:r>
              <a:rPr lang="en" sz="1400">
                <a:solidFill>
                  <a:schemeClr val="dk1"/>
                </a:solidFill>
                <a:latin typeface="Times New Roman"/>
                <a:ea typeface="Times New Roman"/>
                <a:cs typeface="Times New Roman"/>
                <a:sym typeface="Times New Roman"/>
              </a:rPr>
              <a:t>This makes it unfit  for </a:t>
            </a:r>
            <a:r>
              <a:rPr lang="en" sz="1400">
                <a:solidFill>
                  <a:srgbClr val="222222"/>
                </a:solidFill>
                <a:highlight>
                  <a:srgbClr val="FFFFFF"/>
                </a:highlight>
                <a:latin typeface="Times New Roman"/>
                <a:ea typeface="Times New Roman"/>
                <a:cs typeface="Times New Roman"/>
                <a:sym typeface="Times New Roman"/>
              </a:rPr>
              <a:t>assisting clinicians in the risk for an patient.</a:t>
            </a:r>
            <a:endParaRPr sz="1400">
              <a:solidFill>
                <a:srgbClr val="222222"/>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lang="en" sz="1400">
                <a:solidFill>
                  <a:srgbClr val="222222"/>
                </a:solidFill>
                <a:highlight>
                  <a:srgbClr val="FFFFFF"/>
                </a:highlight>
                <a:latin typeface="Times New Roman"/>
                <a:ea typeface="Times New Roman"/>
                <a:cs typeface="Times New Roman"/>
                <a:sym typeface="Times New Roman"/>
              </a:rPr>
              <a:t>2.</a:t>
            </a:r>
            <a:r>
              <a:rPr lang="en" sz="1400">
                <a:solidFill>
                  <a:schemeClr val="dk1"/>
                </a:solidFill>
                <a:latin typeface="Times New Roman"/>
                <a:ea typeface="Times New Roman"/>
                <a:cs typeface="Times New Roman"/>
                <a:sym typeface="Times New Roman"/>
              </a:rPr>
              <a:t>They used only 11 features which fails </a:t>
            </a:r>
            <a:r>
              <a:rPr lang="en" sz="1400">
                <a:solidFill>
                  <a:srgbClr val="1F1F1F"/>
                </a:solidFill>
                <a:latin typeface="Times New Roman"/>
                <a:ea typeface="Times New Roman"/>
                <a:cs typeface="Times New Roman"/>
                <a:sym typeface="Times New Roman"/>
              </a:rPr>
              <a:t>to extract the hidden pattern and improve the detection accuracy.</a:t>
            </a:r>
            <a:endParaRPr sz="1400">
              <a:solidFill>
                <a:srgbClr val="1F1F1F"/>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lang="en" sz="1400">
                <a:solidFill>
                  <a:srgbClr val="1F1F1F"/>
                </a:solidFill>
                <a:latin typeface="Times New Roman"/>
                <a:ea typeface="Times New Roman"/>
                <a:cs typeface="Times New Roman"/>
                <a:sym typeface="Times New Roman"/>
              </a:rPr>
              <a:t>3. Mahedi - </a:t>
            </a:r>
            <a:r>
              <a:rPr b="1" lang="en" sz="1100">
                <a:solidFill>
                  <a:schemeClr val="dk1"/>
                </a:solidFill>
              </a:rPr>
              <a:t>CBFS(Cubic bipolar fussy sets) may not be ideal for non-linear relationships</a:t>
            </a:r>
            <a:r>
              <a:rPr lang="en" sz="1100">
                <a:solidFill>
                  <a:schemeClr val="dk1"/>
                </a:solidFill>
              </a:rPr>
              <a:t>, as Pearson correlation mainly captures linear dependencies.</a:t>
            </a:r>
            <a:endParaRPr sz="1400">
              <a:solidFill>
                <a:srgbClr val="1F1F1F"/>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7fb7177439_2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77" name="Google Shape;177;g37fb7177439_2_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1.</a:t>
            </a:r>
            <a:r>
              <a:rPr lang="en" sz="1400">
                <a:solidFill>
                  <a:schemeClr val="dk1"/>
                </a:solidFill>
                <a:latin typeface="Times New Roman"/>
                <a:ea typeface="Times New Roman"/>
                <a:cs typeface="Times New Roman"/>
                <a:sym typeface="Times New Roman"/>
              </a:rPr>
              <a:t>This makes it unfit  for </a:t>
            </a:r>
            <a:r>
              <a:rPr lang="en" sz="1400">
                <a:solidFill>
                  <a:srgbClr val="222222"/>
                </a:solidFill>
                <a:highlight>
                  <a:srgbClr val="FFFFFF"/>
                </a:highlight>
                <a:latin typeface="Times New Roman"/>
                <a:ea typeface="Times New Roman"/>
                <a:cs typeface="Times New Roman"/>
                <a:sym typeface="Times New Roman"/>
              </a:rPr>
              <a:t>assisting clinicians in the risk for an patient.</a:t>
            </a:r>
            <a:endParaRPr sz="1400">
              <a:solidFill>
                <a:srgbClr val="222222"/>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lang="en" sz="1400">
                <a:solidFill>
                  <a:srgbClr val="222222"/>
                </a:solidFill>
                <a:highlight>
                  <a:srgbClr val="FFFFFF"/>
                </a:highlight>
                <a:latin typeface="Times New Roman"/>
                <a:ea typeface="Times New Roman"/>
                <a:cs typeface="Times New Roman"/>
                <a:sym typeface="Times New Roman"/>
              </a:rPr>
              <a:t>2.</a:t>
            </a:r>
            <a:r>
              <a:rPr lang="en" sz="1400">
                <a:solidFill>
                  <a:schemeClr val="dk1"/>
                </a:solidFill>
                <a:latin typeface="Times New Roman"/>
                <a:ea typeface="Times New Roman"/>
                <a:cs typeface="Times New Roman"/>
                <a:sym typeface="Times New Roman"/>
              </a:rPr>
              <a:t>They used only 11 features which fails </a:t>
            </a:r>
            <a:r>
              <a:rPr lang="en" sz="1400">
                <a:solidFill>
                  <a:srgbClr val="1F1F1F"/>
                </a:solidFill>
                <a:latin typeface="Times New Roman"/>
                <a:ea typeface="Times New Roman"/>
                <a:cs typeface="Times New Roman"/>
                <a:sym typeface="Times New Roman"/>
              </a:rPr>
              <a:t>to extract the hidden pattern and improve the detection accuracy.</a:t>
            </a:r>
            <a:endParaRPr sz="140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7fb7177439_2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87" name="Google Shape;187;g37fb7177439_2_1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fb7177439_2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96" name="Google Shape;196;g37fb7177439_2_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fb7177439_2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05" name="Google Shape;205;g37fb7177439_2_1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7fb7177439_2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30" name="Google Shape;230;g37fb7177439_2_1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7fb7177439_2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39" name="Google Shape;239;g37fb7177439_2_1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7fb7177439_2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48" name="Google Shape;248;g37fb7177439_2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7fb7177439_2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57" name="Google Shape;257;g37fb7177439_2_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7fb7177439_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66" name="Google Shape;266;g37fb7177439_2_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7fb7177439_2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75" name="Google Shape;275;g37fb7177439_2_2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sp>
        <p:nvSpPr>
          <p:cNvPr id="55" name="Google Shape;55;p14"/>
          <p:cNvSpPr txBox="1"/>
          <p:nvPr>
            <p:ph type="title"/>
          </p:nvPr>
        </p:nvSpPr>
        <p:spPr>
          <a:xfrm>
            <a:off x="311700" y="445025"/>
            <a:ext cx="8520525" cy="572625"/>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6" name="Google Shape;56;p14"/>
          <p:cNvSpPr txBox="1"/>
          <p:nvPr>
            <p:ph idx="1" type="body"/>
          </p:nvPr>
        </p:nvSpPr>
        <p:spPr>
          <a:xfrm>
            <a:off x="311700" y="1152475"/>
            <a:ext cx="8520525"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7" name="Google Shape;57;p14"/>
          <p:cNvSpPr txBox="1"/>
          <p:nvPr>
            <p:ph idx="12" type="sldNum"/>
          </p:nvPr>
        </p:nvSpPr>
        <p:spPr>
          <a:xfrm>
            <a:off x="8472458" y="4663217"/>
            <a:ext cx="548775" cy="393525"/>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15"/>
          <p:cNvSpPr txBox="1"/>
          <p:nvPr>
            <p:ph type="title"/>
          </p:nvPr>
        </p:nvSpPr>
        <p:spPr>
          <a:xfrm>
            <a:off x="311700" y="445025"/>
            <a:ext cx="8520525" cy="572625"/>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15"/>
          <p:cNvSpPr txBox="1"/>
          <p:nvPr>
            <p:ph idx="12" type="sldNum"/>
          </p:nvPr>
        </p:nvSpPr>
        <p:spPr>
          <a:xfrm>
            <a:off x="8472458" y="4663217"/>
            <a:ext cx="548775" cy="393525"/>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1" name="Shape 61"/>
        <p:cNvGrpSpPr/>
        <p:nvPr/>
      </p:nvGrpSpPr>
      <p:grpSpPr>
        <a:xfrm>
          <a:off x="0" y="0"/>
          <a:ext cx="0" cy="0"/>
          <a:chOff x="0" y="0"/>
          <a:chExt cx="0" cy="0"/>
        </a:xfrm>
      </p:grpSpPr>
      <p:sp>
        <p:nvSpPr>
          <p:cNvPr id="62" name="Google Shape;62;p16"/>
          <p:cNvSpPr txBox="1"/>
          <p:nvPr>
            <p:ph type="ctrTitle"/>
          </p:nvPr>
        </p:nvSpPr>
        <p:spPr>
          <a:xfrm>
            <a:off x="311708" y="744575"/>
            <a:ext cx="8520525" cy="2052675"/>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3" name="Google Shape;63;p16"/>
          <p:cNvSpPr txBox="1"/>
          <p:nvPr>
            <p:ph idx="1" type="subTitle"/>
          </p:nvPr>
        </p:nvSpPr>
        <p:spPr>
          <a:xfrm>
            <a:off x="311700" y="2834125"/>
            <a:ext cx="8520525" cy="792675"/>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4" name="Google Shape;64;p16"/>
          <p:cNvSpPr txBox="1"/>
          <p:nvPr>
            <p:ph idx="12" type="sldNum"/>
          </p:nvPr>
        </p:nvSpPr>
        <p:spPr>
          <a:xfrm>
            <a:off x="8472458" y="4663217"/>
            <a:ext cx="548775" cy="393525"/>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p17"/>
          <p:cNvSpPr txBox="1"/>
          <p:nvPr>
            <p:ph type="title"/>
          </p:nvPr>
        </p:nvSpPr>
        <p:spPr>
          <a:xfrm>
            <a:off x="311700" y="2150850"/>
            <a:ext cx="8520525" cy="841725"/>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7" name="Google Shape;67;p17"/>
          <p:cNvSpPr txBox="1"/>
          <p:nvPr>
            <p:ph idx="12" type="sldNum"/>
          </p:nvPr>
        </p:nvSpPr>
        <p:spPr>
          <a:xfrm>
            <a:off x="8472458" y="4663217"/>
            <a:ext cx="548775" cy="393525"/>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8"/>
          <p:cNvSpPr txBox="1"/>
          <p:nvPr>
            <p:ph type="title"/>
          </p:nvPr>
        </p:nvSpPr>
        <p:spPr>
          <a:xfrm>
            <a:off x="311700" y="445025"/>
            <a:ext cx="8520525" cy="572625"/>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p18"/>
          <p:cNvSpPr txBox="1"/>
          <p:nvPr>
            <p:ph idx="1" type="body"/>
          </p:nvPr>
        </p:nvSpPr>
        <p:spPr>
          <a:xfrm>
            <a:off x="311700" y="1152475"/>
            <a:ext cx="3999825"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1" name="Google Shape;71;p18"/>
          <p:cNvSpPr txBox="1"/>
          <p:nvPr>
            <p:ph idx="2" type="body"/>
          </p:nvPr>
        </p:nvSpPr>
        <p:spPr>
          <a:xfrm>
            <a:off x="4832400" y="1152475"/>
            <a:ext cx="3999825"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2" name="Google Shape;72;p18"/>
          <p:cNvSpPr txBox="1"/>
          <p:nvPr>
            <p:ph idx="12" type="sldNum"/>
          </p:nvPr>
        </p:nvSpPr>
        <p:spPr>
          <a:xfrm>
            <a:off x="8472458" y="4663217"/>
            <a:ext cx="548775" cy="393525"/>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75"/>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75"/>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75" cy="393525"/>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725" cy="4090725"/>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75" cy="393525"/>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75"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75" cy="1235025"/>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6925" cy="3695175"/>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75" cy="393525"/>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725" cy="605025"/>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75" cy="393525"/>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525" cy="1963575"/>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525" cy="1300725"/>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75" cy="393525"/>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75" cy="393525"/>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525" cy="572625"/>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525"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75" cy="393525"/>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hyperlink" Target="https://doi.org/10.1016/j.jpi.2024.100371" TargetMode="External"/><Relationship Id="rId6" Type="http://schemas.openxmlformats.org/officeDocument/2006/relationships/hyperlink" Target="https://doi.org/10.1016/j.jpi.2024.100371" TargetMode="External"/><Relationship Id="rId7" Type="http://schemas.openxmlformats.org/officeDocument/2006/relationships/hyperlink" Target="https://doi.org/10.1016/j.jpi.2024.100371" TargetMode="External"/><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2.png"/><Relationship Id="rId5" Type="http://schemas.openxmlformats.org/officeDocument/2006/relationships/slide" Target="/ppt/slides/slide16.xml"/><Relationship Id="rId6" Type="http://schemas.openxmlformats.org/officeDocument/2006/relationships/hyperlink" Target="https://doi.org/10.1016/S0031-3203(96)00142-2" TargetMode="External"/><Relationship Id="rId7" Type="http://schemas.openxmlformats.org/officeDocument/2006/relationships/slide" Target="/ppt/slides/slide16.xml"/><Relationship Id="rId8" Type="http://schemas.openxmlformats.org/officeDocument/2006/relationships/slide" Target="/ppt/slides/slide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2.png"/><Relationship Id="rId5" Type="http://schemas.openxmlformats.org/officeDocument/2006/relationships/slide" Target="/ppt/slides/slide16.xml"/><Relationship Id="rId6" Type="http://schemas.openxmlformats.org/officeDocument/2006/relationships/slide" Target="/ppt/slides/slide16.xml"/><Relationship Id="rId7" Type="http://schemas.openxmlformats.org/officeDocument/2006/relationships/slide" Target="/ppt/slides/slide16.xml"/><Relationship Id="rId8" Type="http://schemas.openxmlformats.org/officeDocument/2006/relationships/slide" Target="/ppt/slides/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slide" Target="/ppt/slides/slide17.xml"/><Relationship Id="rId6" Type="http://schemas.openxmlformats.org/officeDocument/2006/relationships/slide" Target="/ppt/slides/slide17.xml"/><Relationship Id="rId7" Type="http://schemas.openxmlformats.org/officeDocument/2006/relationships/slide" Target="/ppt/slides/slide17.xml"/><Relationship Id="rId8"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hyperlink" Target="https://www.kaggle.com/datasets/mansoordaku/ckdisease?select=kidney_disease.csv" TargetMode="External"/><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3.png"/><Relationship Id="rId10" Type="http://schemas.openxmlformats.org/officeDocument/2006/relationships/hyperlink" Target="https://doi.org/10.3390/healthcare10020371" TargetMode="External"/><Relationship Id="rId9" Type="http://schemas.openxmlformats.org/officeDocument/2006/relationships/hyperlink" Target="https://doi.org/10.1016/j.dajour.2023.100169" TargetMode="External"/><Relationship Id="rId5" Type="http://schemas.openxmlformats.org/officeDocument/2006/relationships/image" Target="../media/image7.png"/><Relationship Id="rId6" Type="http://schemas.openxmlformats.org/officeDocument/2006/relationships/hyperlink" Target="https://doi.org/10.1016/S0031-3203(96)00142-2" TargetMode="External"/><Relationship Id="rId7" Type="http://schemas.openxmlformats.org/officeDocument/2006/relationships/hyperlink" Target="https://doi.org/10.1016/j.imu.2021.100584" TargetMode="External"/><Relationship Id="rId8" Type="http://schemas.openxmlformats.org/officeDocument/2006/relationships/hyperlink" Target="https://ieeexplore.ieee.org/document/10053797/authors#author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hyperlink" Target="https://doi.org/10.1109/ICIT52682.2021.9491739" TargetMode="External"/><Relationship Id="rId5" Type="http://schemas.openxmlformats.org/officeDocument/2006/relationships/image" Target="../media/image7.png"/><Relationship Id="rId6" Type="http://schemas.openxmlformats.org/officeDocument/2006/relationships/hyperlink" Target="https://doi.org/10.1109/ICCIT57492.2022.10055471" TargetMode="External"/><Relationship Id="rId7" Type="http://schemas.openxmlformats.org/officeDocument/2006/relationships/hyperlink" Target="https://journalofbigdata.springeropen.com/articles/10.1186/s40537-022-00657-5" TargetMode="External"/><Relationship Id="rId8" Type="http://schemas.openxmlformats.org/officeDocument/2006/relationships/hyperlink" Target="https://doi.org/10.1109/AICI.2010.28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25"/>
          <p:cNvPicPr preferRelativeResize="0"/>
          <p:nvPr/>
        </p:nvPicPr>
        <p:blipFill rotWithShape="1">
          <a:blip r:embed="rId3">
            <a:alphaModFix/>
          </a:blip>
          <a:srcRect b="0" l="0" r="0" t="0"/>
          <a:stretch/>
        </p:blipFill>
        <p:spPr>
          <a:xfrm>
            <a:off x="-124481" y="4783950"/>
            <a:ext cx="9449231" cy="359550"/>
          </a:xfrm>
          <a:prstGeom prst="rect">
            <a:avLst/>
          </a:prstGeom>
          <a:noFill/>
          <a:ln>
            <a:noFill/>
          </a:ln>
        </p:spPr>
      </p:pic>
      <p:sp>
        <p:nvSpPr>
          <p:cNvPr id="100" name="Google Shape;100;p25"/>
          <p:cNvSpPr txBox="1"/>
          <p:nvPr/>
        </p:nvSpPr>
        <p:spPr>
          <a:xfrm>
            <a:off x="1271288" y="1514241"/>
            <a:ext cx="6820650" cy="1462725"/>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chemeClr val="dk1"/>
                </a:solidFill>
                <a:latin typeface="Times New Roman"/>
                <a:ea typeface="Times New Roman"/>
                <a:cs typeface="Times New Roman"/>
                <a:sym typeface="Times New Roman"/>
              </a:rPr>
              <a:t>            MACHINE LEARNING BASED </a:t>
            </a:r>
            <a:endParaRPr b="1" i="0" sz="23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chemeClr val="dk1"/>
                </a:solidFill>
                <a:latin typeface="Times New Roman"/>
                <a:ea typeface="Times New Roman"/>
                <a:cs typeface="Times New Roman"/>
                <a:sym typeface="Times New Roman"/>
              </a:rPr>
              <a:t>CHRONIC KIDNEY DISEASE PREDICTION </a:t>
            </a:r>
            <a:endParaRPr b="1" i="0" sz="23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chemeClr val="dk1"/>
                </a:solidFill>
                <a:latin typeface="Times New Roman"/>
                <a:ea typeface="Times New Roman"/>
                <a:cs typeface="Times New Roman"/>
                <a:sym typeface="Times New Roman"/>
              </a:rPr>
              <a:t>        WITH SMART WEB APPLICATION</a:t>
            </a:r>
            <a:endParaRPr b="1" i="0" sz="2300" u="none" cap="none" strike="noStrike">
              <a:solidFill>
                <a:schemeClr val="dk1"/>
              </a:solidFill>
              <a:latin typeface="Times New Roman"/>
              <a:ea typeface="Times New Roman"/>
              <a:cs typeface="Times New Roman"/>
              <a:sym typeface="Times New Roman"/>
            </a:endParaRPr>
          </a:p>
        </p:txBody>
      </p:sp>
      <p:sp>
        <p:nvSpPr>
          <p:cNvPr id="101" name="Google Shape;101;p25"/>
          <p:cNvSpPr txBox="1"/>
          <p:nvPr/>
        </p:nvSpPr>
        <p:spPr>
          <a:xfrm>
            <a:off x="5586825" y="3763278"/>
            <a:ext cx="3616800" cy="680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1"/>
                </a:solidFill>
                <a:latin typeface="Times New Roman"/>
                <a:ea typeface="Times New Roman"/>
                <a:cs typeface="Times New Roman"/>
                <a:sym typeface="Times New Roman"/>
              </a:rPr>
              <a:t>126018042 -  Sanjai S</a:t>
            </a:r>
            <a:endParaRPr b="0" i="0" sz="1800" u="none" cap="none" strike="noStrike">
              <a:solidFill>
                <a:schemeClr val="dk2"/>
              </a:solidFill>
              <a:latin typeface="Times New Roman"/>
              <a:ea typeface="Times New Roman"/>
              <a:cs typeface="Times New Roman"/>
              <a:sym typeface="Times New Roman"/>
            </a:endParaRPr>
          </a:p>
        </p:txBody>
      </p:sp>
      <p:pic>
        <p:nvPicPr>
          <p:cNvPr id="102" name="Google Shape;102;p25"/>
          <p:cNvPicPr preferRelativeResize="0"/>
          <p:nvPr/>
        </p:nvPicPr>
        <p:blipFill rotWithShape="1">
          <a:blip r:embed="rId4">
            <a:alphaModFix/>
          </a:blip>
          <a:srcRect b="0" l="0" r="0" t="0"/>
          <a:stretch/>
        </p:blipFill>
        <p:spPr>
          <a:xfrm>
            <a:off x="-56362" y="861000"/>
            <a:ext cx="9200362" cy="114300"/>
          </a:xfrm>
          <a:prstGeom prst="rect">
            <a:avLst/>
          </a:prstGeom>
          <a:noFill/>
          <a:ln>
            <a:noFill/>
          </a:ln>
        </p:spPr>
      </p:pic>
      <p:sp>
        <p:nvSpPr>
          <p:cNvPr id="103" name="Google Shape;103;p25"/>
          <p:cNvSpPr txBox="1"/>
          <p:nvPr/>
        </p:nvSpPr>
        <p:spPr>
          <a:xfrm>
            <a:off x="200250" y="3534000"/>
            <a:ext cx="3247200" cy="113895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Times New Roman"/>
                <a:ea typeface="Times New Roman"/>
                <a:cs typeface="Times New Roman"/>
                <a:sym typeface="Times New Roman"/>
              </a:rPr>
              <a:t>Project Guide: </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Times New Roman"/>
                <a:ea typeface="Times New Roman"/>
                <a:cs typeface="Times New Roman"/>
                <a:sym typeface="Times New Roman"/>
              </a:rPr>
              <a:t>Dr. </a:t>
            </a:r>
            <a:r>
              <a:rPr lang="en" sz="1800">
                <a:solidFill>
                  <a:schemeClr val="dk1"/>
                </a:solidFill>
                <a:latin typeface="Times New Roman"/>
                <a:ea typeface="Times New Roman"/>
                <a:cs typeface="Times New Roman"/>
                <a:sym typeface="Times New Roman"/>
              </a:rPr>
              <a:t>Vidivelli 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Times New Roman"/>
                <a:ea typeface="Times New Roman"/>
                <a:cs typeface="Times New Roman"/>
                <a:sym typeface="Times New Roman"/>
              </a:rPr>
              <a:t>Asst.Professor-II-SOC</a:t>
            </a:r>
            <a:endParaRPr b="0" i="0" sz="1800" u="none" cap="none" strike="noStrike">
              <a:solidFill>
                <a:schemeClr val="dk1"/>
              </a:solidFill>
              <a:latin typeface="Times New Roman"/>
              <a:ea typeface="Times New Roman"/>
              <a:cs typeface="Times New Roman"/>
              <a:sym typeface="Times New Roman"/>
            </a:endParaRPr>
          </a:p>
        </p:txBody>
      </p:sp>
      <p:pic>
        <p:nvPicPr>
          <p:cNvPr id="104" name="Google Shape;104;p25"/>
          <p:cNvPicPr preferRelativeResize="0"/>
          <p:nvPr/>
        </p:nvPicPr>
        <p:blipFill>
          <a:blip r:embed="rId5">
            <a:alphaModFix/>
          </a:blip>
          <a:stretch>
            <a:fillRect/>
          </a:stretch>
        </p:blipFill>
        <p:spPr>
          <a:xfrm>
            <a:off x="5616638" y="81650"/>
            <a:ext cx="3557175" cy="779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26"/>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110" name="Google Shape;110;p26"/>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sp>
        <p:nvSpPr>
          <p:cNvPr id="111" name="Google Shape;111;p26"/>
          <p:cNvSpPr txBox="1"/>
          <p:nvPr>
            <p:ph type="title"/>
          </p:nvPr>
        </p:nvSpPr>
        <p:spPr>
          <a:xfrm>
            <a:off x="3099488" y="0"/>
            <a:ext cx="1976625"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OUTLINE</a:t>
            </a:r>
            <a:endParaRPr b="1">
              <a:latin typeface="Times New Roman"/>
              <a:ea typeface="Times New Roman"/>
              <a:cs typeface="Times New Roman"/>
              <a:sym typeface="Times New Roman"/>
            </a:endParaRPr>
          </a:p>
        </p:txBody>
      </p:sp>
      <p:sp>
        <p:nvSpPr>
          <p:cNvPr id="112" name="Google Shape;112;p26"/>
          <p:cNvSpPr txBox="1"/>
          <p:nvPr>
            <p:ph idx="1" type="body"/>
          </p:nvPr>
        </p:nvSpPr>
        <p:spPr>
          <a:xfrm>
            <a:off x="359569" y="1033875"/>
            <a:ext cx="8472600" cy="3416400"/>
          </a:xfrm>
          <a:prstGeom prst="rect">
            <a:avLst/>
          </a:prstGeom>
          <a:noFill/>
          <a:ln>
            <a:noFill/>
          </a:ln>
        </p:spPr>
        <p:txBody>
          <a:bodyPr anchorCtr="0" anchor="t" bIns="91425" lIns="91425" spcFirstLastPara="1" rIns="91425" wrap="square" tIns="91425">
            <a:noAutofit/>
          </a:bodyPr>
          <a:lstStyle/>
          <a:p>
            <a:pPr indent="-285750" lvl="0" marL="342900" rtl="0" algn="l">
              <a:lnSpc>
                <a:spcPct val="115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Motivation</a:t>
            </a:r>
            <a:endParaRPr sz="1900">
              <a:solidFill>
                <a:schemeClr val="dk1"/>
              </a:solidFill>
              <a:latin typeface="Times New Roman"/>
              <a:ea typeface="Times New Roman"/>
              <a:cs typeface="Times New Roman"/>
              <a:sym typeface="Times New Roman"/>
            </a:endParaRPr>
          </a:p>
          <a:p>
            <a:pPr indent="-285750" lvl="0" marL="342900" rtl="0" algn="l">
              <a:lnSpc>
                <a:spcPct val="115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Objective</a:t>
            </a:r>
            <a:endParaRPr sz="1900">
              <a:solidFill>
                <a:schemeClr val="dk1"/>
              </a:solidFill>
              <a:latin typeface="Times New Roman"/>
              <a:ea typeface="Times New Roman"/>
              <a:cs typeface="Times New Roman"/>
              <a:sym typeface="Times New Roman"/>
            </a:endParaRPr>
          </a:p>
          <a:p>
            <a:pPr indent="-285750" lvl="0" marL="342900" rtl="0" algn="l">
              <a:lnSpc>
                <a:spcPct val="115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Base Paper</a:t>
            </a:r>
            <a:endParaRPr sz="1900">
              <a:solidFill>
                <a:schemeClr val="dk1"/>
              </a:solidFill>
              <a:latin typeface="Times New Roman"/>
              <a:ea typeface="Times New Roman"/>
              <a:cs typeface="Times New Roman"/>
              <a:sym typeface="Times New Roman"/>
            </a:endParaRPr>
          </a:p>
          <a:p>
            <a:pPr indent="-285750" lvl="0" marL="342900" rtl="0" algn="l">
              <a:lnSpc>
                <a:spcPct val="115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Problem Statement</a:t>
            </a:r>
            <a:endParaRPr sz="1900">
              <a:solidFill>
                <a:schemeClr val="dk1"/>
              </a:solidFill>
              <a:latin typeface="Times New Roman"/>
              <a:ea typeface="Times New Roman"/>
              <a:cs typeface="Times New Roman"/>
              <a:sym typeface="Times New Roman"/>
            </a:endParaRPr>
          </a:p>
          <a:p>
            <a:pPr indent="-285750" lvl="0" marL="342900" rtl="0" algn="l">
              <a:lnSpc>
                <a:spcPct val="115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Literature Survey</a:t>
            </a:r>
            <a:endParaRPr sz="1900">
              <a:solidFill>
                <a:schemeClr val="dk1"/>
              </a:solidFill>
              <a:latin typeface="Times New Roman"/>
              <a:ea typeface="Times New Roman"/>
              <a:cs typeface="Times New Roman"/>
              <a:sym typeface="Times New Roman"/>
            </a:endParaRPr>
          </a:p>
          <a:p>
            <a:pPr indent="-285750" lvl="0" marL="342900" rtl="0" algn="l">
              <a:lnSpc>
                <a:spcPct val="115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Dataset</a:t>
            </a:r>
            <a:endParaRPr sz="1900">
              <a:solidFill>
                <a:schemeClr val="dk1"/>
              </a:solidFill>
              <a:latin typeface="Times New Roman"/>
              <a:ea typeface="Times New Roman"/>
              <a:cs typeface="Times New Roman"/>
              <a:sym typeface="Times New Roman"/>
            </a:endParaRPr>
          </a:p>
          <a:p>
            <a:pPr indent="-285750" lvl="0" marL="342900" rtl="0" algn="l">
              <a:lnSpc>
                <a:spcPct val="115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Work Plan</a:t>
            </a:r>
            <a:endParaRPr sz="1900">
              <a:solidFill>
                <a:schemeClr val="dk1"/>
              </a:solidFill>
              <a:latin typeface="Times New Roman"/>
              <a:ea typeface="Times New Roman"/>
              <a:cs typeface="Times New Roman"/>
              <a:sym typeface="Times New Roman"/>
            </a:endParaRPr>
          </a:p>
          <a:p>
            <a:pPr indent="-285750" lvl="0" marL="342900" rtl="0" algn="l">
              <a:lnSpc>
                <a:spcPct val="115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Modules</a:t>
            </a:r>
            <a:endParaRPr sz="1900">
              <a:solidFill>
                <a:schemeClr val="dk1"/>
              </a:solidFill>
              <a:latin typeface="Times New Roman"/>
              <a:ea typeface="Times New Roman"/>
              <a:cs typeface="Times New Roman"/>
              <a:sym typeface="Times New Roman"/>
            </a:endParaRPr>
          </a:p>
          <a:p>
            <a:pPr indent="-285750" lvl="0" marL="342900" rtl="0" algn="l">
              <a:lnSpc>
                <a:spcPct val="115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Proposed Architecture	</a:t>
            </a:r>
            <a:endParaRPr sz="1900">
              <a:solidFill>
                <a:schemeClr val="dk1"/>
              </a:solidFill>
              <a:latin typeface="Times New Roman"/>
              <a:ea typeface="Times New Roman"/>
              <a:cs typeface="Times New Roman"/>
              <a:sym typeface="Times New Roman"/>
            </a:endParaRPr>
          </a:p>
          <a:p>
            <a:pPr indent="-285750" lvl="0" marL="342900" rtl="0" algn="l">
              <a:lnSpc>
                <a:spcPct val="115000"/>
              </a:lnSpc>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References</a:t>
            </a:r>
            <a:endParaRPr sz="1900">
              <a:solidFill>
                <a:schemeClr val="dk1"/>
              </a:solidFill>
              <a:latin typeface="Times New Roman"/>
              <a:ea typeface="Times New Roman"/>
              <a:cs typeface="Times New Roman"/>
              <a:sym typeface="Times New Roman"/>
            </a:endParaRPr>
          </a:p>
        </p:txBody>
      </p:sp>
      <p:pic>
        <p:nvPicPr>
          <p:cNvPr id="113" name="Google Shape;113;p26"/>
          <p:cNvPicPr preferRelativeResize="0"/>
          <p:nvPr/>
        </p:nvPicPr>
        <p:blipFill>
          <a:blip r:embed="rId5">
            <a:alphaModFix/>
          </a:blip>
          <a:stretch>
            <a:fillRect/>
          </a:stretch>
        </p:blipFill>
        <p:spPr>
          <a:xfrm>
            <a:off x="5771950" y="81650"/>
            <a:ext cx="3322875" cy="572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7"/>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119" name="Google Shape;119;p27"/>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sp>
        <p:nvSpPr>
          <p:cNvPr id="120" name="Google Shape;120;p27"/>
          <p:cNvSpPr txBox="1"/>
          <p:nvPr>
            <p:ph type="title"/>
          </p:nvPr>
        </p:nvSpPr>
        <p:spPr>
          <a:xfrm>
            <a:off x="2942681" y="0"/>
            <a:ext cx="2612925"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MOTIVATION</a:t>
            </a:r>
            <a:endParaRPr b="1">
              <a:latin typeface="Times New Roman"/>
              <a:ea typeface="Times New Roman"/>
              <a:cs typeface="Times New Roman"/>
              <a:sym typeface="Times New Roman"/>
            </a:endParaRPr>
          </a:p>
        </p:txBody>
      </p:sp>
      <p:sp>
        <p:nvSpPr>
          <p:cNvPr id="121" name="Google Shape;121;p27"/>
          <p:cNvSpPr txBox="1"/>
          <p:nvPr/>
        </p:nvSpPr>
        <p:spPr>
          <a:xfrm>
            <a:off x="349238" y="1110694"/>
            <a:ext cx="8313975" cy="3723075"/>
          </a:xfrm>
          <a:prstGeom prst="rect">
            <a:avLst/>
          </a:prstGeom>
          <a:noFill/>
          <a:ln>
            <a:noFill/>
          </a:ln>
        </p:spPr>
        <p:txBody>
          <a:bodyPr anchorCtr="0" anchor="t" bIns="68575" lIns="68575" spcFirstLastPara="1" rIns="68575" wrap="square" tIns="68575">
            <a:noAutofit/>
          </a:bodyPr>
          <a:lstStyle/>
          <a:p>
            <a:pPr indent="-279400" lvl="0" marL="342900" marR="0" rtl="0" algn="just">
              <a:lnSpc>
                <a:spcPct val="115000"/>
              </a:lnSpc>
              <a:spcBef>
                <a:spcPts val="0"/>
              </a:spcBef>
              <a:spcAft>
                <a:spcPts val="0"/>
              </a:spcAft>
              <a:buClr>
                <a:schemeClr val="dk1"/>
              </a:buClr>
              <a:buSzPts val="1800"/>
              <a:buFont typeface="Times New Roman"/>
              <a:buChar char="●"/>
            </a:pPr>
            <a:r>
              <a:rPr b="0" i="0" lang="en" sz="1800" u="none" cap="none" strike="noStrike">
                <a:solidFill>
                  <a:schemeClr val="dk1"/>
                </a:solidFill>
                <a:highlight>
                  <a:srgbClr val="FFFFFF"/>
                </a:highlight>
                <a:latin typeface="Times New Roman"/>
                <a:ea typeface="Times New Roman"/>
                <a:cs typeface="Times New Roman"/>
                <a:sym typeface="Times New Roman"/>
              </a:rPr>
              <a:t>Chronic Kidney Disease (CKD) is an emerging global health issue with a rising number of cases.</a:t>
            </a:r>
            <a:endParaRPr b="0" i="0" sz="1800" u="none" cap="none" strike="noStrike">
              <a:solidFill>
                <a:schemeClr val="dk1"/>
              </a:solidFill>
              <a:latin typeface="Times New Roman"/>
              <a:ea typeface="Times New Roman"/>
              <a:cs typeface="Times New Roman"/>
              <a:sym typeface="Times New Roman"/>
            </a:endParaRPr>
          </a:p>
          <a:p>
            <a:pPr indent="-279400" lvl="0" marL="342900" marR="0" rtl="0" algn="just">
              <a:lnSpc>
                <a:spcPct val="115000"/>
              </a:lnSpc>
              <a:spcBef>
                <a:spcPts val="0"/>
              </a:spcBef>
              <a:spcAft>
                <a:spcPts val="0"/>
              </a:spcAft>
              <a:buClr>
                <a:schemeClr val="dk1"/>
              </a:buClr>
              <a:buSzPts val="1800"/>
              <a:buFont typeface="Times New Roman"/>
              <a:buChar char="●"/>
            </a:pPr>
            <a:r>
              <a:rPr b="0" i="0" lang="en" sz="1800" u="none" cap="none" strike="noStrike">
                <a:solidFill>
                  <a:schemeClr val="dk1"/>
                </a:solidFill>
                <a:highlight>
                  <a:srgbClr val="FFFFFF"/>
                </a:highlight>
                <a:latin typeface="Times New Roman"/>
                <a:ea typeface="Times New Roman"/>
                <a:cs typeface="Times New Roman"/>
                <a:sym typeface="Times New Roman"/>
              </a:rPr>
              <a:t>CKD can strike individuals of all ages, hence the importance of early detection.</a:t>
            </a:r>
            <a:endParaRPr b="0" i="0" sz="1800" u="none" cap="none" strike="noStrike">
              <a:solidFill>
                <a:schemeClr val="dk1"/>
              </a:solidFill>
              <a:latin typeface="Times New Roman"/>
              <a:ea typeface="Times New Roman"/>
              <a:cs typeface="Times New Roman"/>
              <a:sym typeface="Times New Roman"/>
            </a:endParaRPr>
          </a:p>
          <a:p>
            <a:pPr indent="-279400" lvl="0" marL="342900" marR="0" rtl="0" algn="just">
              <a:lnSpc>
                <a:spcPct val="115000"/>
              </a:lnSpc>
              <a:spcBef>
                <a:spcPts val="0"/>
              </a:spcBef>
              <a:spcAft>
                <a:spcPts val="0"/>
              </a:spcAft>
              <a:buClr>
                <a:schemeClr val="dk1"/>
              </a:buClr>
              <a:buSzPts val="1800"/>
              <a:buFont typeface="Times New Roman"/>
              <a:buChar char="●"/>
            </a:pPr>
            <a:r>
              <a:rPr b="0" i="0" lang="en" sz="1800" u="none" cap="none" strike="noStrike">
                <a:solidFill>
                  <a:schemeClr val="dk1"/>
                </a:solidFill>
                <a:highlight>
                  <a:srgbClr val="FFFFFF"/>
                </a:highlight>
                <a:latin typeface="Times New Roman"/>
                <a:ea typeface="Times New Roman"/>
                <a:cs typeface="Times New Roman"/>
                <a:sym typeface="Times New Roman"/>
              </a:rPr>
              <a:t>Recent breakthroughs in machine learning have enhanced healthcare diagnostics and predictive models.</a:t>
            </a:r>
            <a:endParaRPr b="0" i="0" sz="1800" u="none" cap="none" strike="noStrike">
              <a:solidFill>
                <a:schemeClr val="dk1"/>
              </a:solidFill>
              <a:latin typeface="Times New Roman"/>
              <a:ea typeface="Times New Roman"/>
              <a:cs typeface="Times New Roman"/>
              <a:sym typeface="Times New Roman"/>
            </a:endParaRPr>
          </a:p>
          <a:p>
            <a:pPr indent="-279400" lvl="0" marL="342900" marR="0" rtl="0" algn="just">
              <a:lnSpc>
                <a:spcPct val="115000"/>
              </a:lnSpc>
              <a:spcBef>
                <a:spcPts val="0"/>
              </a:spcBef>
              <a:spcAft>
                <a:spcPts val="0"/>
              </a:spcAft>
              <a:buClr>
                <a:schemeClr val="dk1"/>
              </a:buClr>
              <a:buSzPts val="1800"/>
              <a:buFont typeface="Times New Roman"/>
              <a:buChar char="●"/>
            </a:pPr>
            <a:r>
              <a:rPr b="0" i="0" lang="en" sz="1800" u="none" cap="none" strike="noStrike">
                <a:solidFill>
                  <a:schemeClr val="dk1"/>
                </a:solidFill>
                <a:highlight>
                  <a:srgbClr val="FFFFFF"/>
                </a:highlight>
                <a:latin typeface="Times New Roman"/>
                <a:ea typeface="Times New Roman"/>
                <a:cs typeface="Times New Roman"/>
                <a:sym typeface="Times New Roman"/>
              </a:rPr>
              <a:t>A web-based system provides instant access to CKD prediction for medical professionals.</a:t>
            </a:r>
            <a:endParaRPr b="0" i="0" sz="1800" u="none" cap="none" strike="noStrike">
              <a:solidFill>
                <a:schemeClr val="dk1"/>
              </a:solidFill>
              <a:latin typeface="Times New Roman"/>
              <a:ea typeface="Times New Roman"/>
              <a:cs typeface="Times New Roman"/>
              <a:sym typeface="Times New Roman"/>
            </a:endParaRPr>
          </a:p>
          <a:p>
            <a:pPr indent="-279400" lvl="0" marL="342900" marR="0" rtl="0" algn="just">
              <a:lnSpc>
                <a:spcPct val="115000"/>
              </a:lnSpc>
              <a:spcBef>
                <a:spcPts val="0"/>
              </a:spcBef>
              <a:spcAft>
                <a:spcPts val="0"/>
              </a:spcAft>
              <a:buClr>
                <a:schemeClr val="dk1"/>
              </a:buClr>
              <a:buSzPts val="1800"/>
              <a:buFont typeface="Times New Roman"/>
              <a:buChar char="●"/>
            </a:pPr>
            <a:r>
              <a:rPr b="0" i="0" lang="en" sz="1800" u="none" cap="none" strike="noStrike">
                <a:solidFill>
                  <a:schemeClr val="dk1"/>
                </a:solidFill>
                <a:highlight>
                  <a:srgbClr val="FFFFFF"/>
                </a:highlight>
                <a:latin typeface="Times New Roman"/>
                <a:ea typeface="Times New Roman"/>
                <a:cs typeface="Times New Roman"/>
                <a:sym typeface="Times New Roman"/>
              </a:rPr>
              <a:t>The primary focus here is to create an effective CKD prediction system.</a:t>
            </a:r>
            <a:endParaRPr b="0" i="0" sz="1800" u="none" cap="none" strike="noStrike">
              <a:solidFill>
                <a:schemeClr val="dk1"/>
              </a:solidFill>
              <a:latin typeface="Times New Roman"/>
              <a:ea typeface="Times New Roman"/>
              <a:cs typeface="Times New Roman"/>
              <a:sym typeface="Times New Roman"/>
            </a:endParaRPr>
          </a:p>
          <a:p>
            <a:pPr indent="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id="122" name="Google Shape;122;p27"/>
          <p:cNvPicPr preferRelativeResize="0"/>
          <p:nvPr/>
        </p:nvPicPr>
        <p:blipFill>
          <a:blip r:embed="rId5">
            <a:alphaModFix/>
          </a:blip>
          <a:stretch>
            <a:fillRect/>
          </a:stretch>
        </p:blipFill>
        <p:spPr>
          <a:xfrm>
            <a:off x="5781900" y="81650"/>
            <a:ext cx="3391925" cy="572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8"/>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128" name="Google Shape;128;p28"/>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sp>
        <p:nvSpPr>
          <p:cNvPr id="129" name="Google Shape;129;p28"/>
          <p:cNvSpPr txBox="1"/>
          <p:nvPr>
            <p:ph type="title"/>
          </p:nvPr>
        </p:nvSpPr>
        <p:spPr>
          <a:xfrm>
            <a:off x="3029813" y="-25612"/>
            <a:ext cx="2464425"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OBJECTIVE</a:t>
            </a:r>
            <a:endParaRPr b="1">
              <a:latin typeface="Times New Roman"/>
              <a:ea typeface="Times New Roman"/>
              <a:cs typeface="Times New Roman"/>
              <a:sym typeface="Times New Roman"/>
            </a:endParaRPr>
          </a:p>
        </p:txBody>
      </p:sp>
      <p:sp>
        <p:nvSpPr>
          <p:cNvPr id="130" name="Google Shape;130;p28"/>
          <p:cNvSpPr txBox="1"/>
          <p:nvPr>
            <p:ph idx="1" type="body"/>
          </p:nvPr>
        </p:nvSpPr>
        <p:spPr>
          <a:xfrm>
            <a:off x="376631" y="1509656"/>
            <a:ext cx="8304975" cy="2275650"/>
          </a:xfrm>
          <a:prstGeom prst="rect">
            <a:avLst/>
          </a:prstGeom>
          <a:noFill/>
          <a:ln>
            <a:noFill/>
          </a:ln>
        </p:spPr>
        <p:txBody>
          <a:bodyPr anchorCtr="0" anchor="t" bIns="91425" lIns="91425" spcFirstLastPara="1" rIns="91425" wrap="square" tIns="91425">
            <a:normAutofit/>
          </a:bodyPr>
          <a:lstStyle/>
          <a:p>
            <a:pPr indent="-279400" lvl="0" marL="342900" rtl="0" algn="l">
              <a:lnSpc>
                <a:spcPct val="115000"/>
              </a:lnSpc>
              <a:spcBef>
                <a:spcPts val="0"/>
              </a:spcBef>
              <a:spcAft>
                <a:spcPts val="0"/>
              </a:spcAft>
              <a:buClr>
                <a:schemeClr val="dk1"/>
              </a:buClr>
              <a:buSzPts val="1800"/>
              <a:buFont typeface="Times New Roman"/>
              <a:buChar char="●"/>
            </a:pPr>
            <a:r>
              <a:rPr lang="en">
                <a:solidFill>
                  <a:schemeClr val="dk1"/>
                </a:solidFill>
                <a:highlight>
                  <a:schemeClr val="lt1"/>
                </a:highlight>
                <a:latin typeface="Times New Roman"/>
                <a:ea typeface="Times New Roman"/>
                <a:cs typeface="Times New Roman"/>
                <a:sym typeface="Times New Roman"/>
              </a:rPr>
              <a:t>To identify the most effective feature selection techniques for better diagnosis.</a:t>
            </a:r>
            <a:endParaRPr>
              <a:solidFill>
                <a:schemeClr val="dk1"/>
              </a:solidFill>
              <a:highlight>
                <a:schemeClr val="lt1"/>
              </a:highlight>
              <a:latin typeface="Times New Roman"/>
              <a:ea typeface="Times New Roman"/>
              <a:cs typeface="Times New Roman"/>
              <a:sym typeface="Times New Roman"/>
            </a:endParaRPr>
          </a:p>
          <a:p>
            <a:pPr indent="-279400" lvl="0" marL="342900" rtl="0" algn="l">
              <a:lnSpc>
                <a:spcPct val="115000"/>
              </a:lnSpc>
              <a:spcBef>
                <a:spcPts val="0"/>
              </a:spcBef>
              <a:spcAft>
                <a:spcPts val="0"/>
              </a:spcAft>
              <a:buClr>
                <a:schemeClr val="dk1"/>
              </a:buClr>
              <a:buSzPts val="1800"/>
              <a:buFont typeface="Times New Roman"/>
              <a:buChar char="●"/>
            </a:pPr>
            <a:r>
              <a:rPr lang="en">
                <a:solidFill>
                  <a:schemeClr val="dk1"/>
                </a:solidFill>
                <a:highlight>
                  <a:schemeClr val="lt1"/>
                </a:highlight>
                <a:latin typeface="Times New Roman"/>
                <a:ea typeface="Times New Roman"/>
                <a:cs typeface="Times New Roman"/>
                <a:sym typeface="Times New Roman"/>
              </a:rPr>
              <a:t>To choose the best classification algorithms for accurate CKD prediction.</a:t>
            </a:r>
            <a:endParaRPr>
              <a:solidFill>
                <a:schemeClr val="dk1"/>
              </a:solidFill>
              <a:highlight>
                <a:schemeClr val="lt1"/>
              </a:highlight>
              <a:latin typeface="Times New Roman"/>
              <a:ea typeface="Times New Roman"/>
              <a:cs typeface="Times New Roman"/>
              <a:sym typeface="Times New Roman"/>
            </a:endParaRPr>
          </a:p>
          <a:p>
            <a:pPr indent="-279400" lvl="0" marL="342900" rtl="0" algn="l">
              <a:lnSpc>
                <a:spcPct val="115000"/>
              </a:lnSpc>
              <a:spcBef>
                <a:spcPts val="0"/>
              </a:spcBef>
              <a:spcAft>
                <a:spcPts val="0"/>
              </a:spcAft>
              <a:buClr>
                <a:schemeClr val="dk1"/>
              </a:buClr>
              <a:buSzPts val="1800"/>
              <a:buFont typeface="Times New Roman"/>
              <a:buChar char="●"/>
            </a:pPr>
            <a:r>
              <a:rPr lang="en">
                <a:solidFill>
                  <a:schemeClr val="dk1"/>
                </a:solidFill>
                <a:highlight>
                  <a:srgbClr val="FFFFFF"/>
                </a:highlight>
                <a:latin typeface="Times New Roman"/>
                <a:ea typeface="Times New Roman"/>
                <a:cs typeface="Times New Roman"/>
                <a:sym typeface="Times New Roman"/>
              </a:rPr>
              <a:t>An approach to predict Chronic Kidney Disease (CKD) with improved accuracy.</a:t>
            </a:r>
            <a:endParaRPr>
              <a:solidFill>
                <a:schemeClr val="dk1"/>
              </a:solidFill>
              <a:highlight>
                <a:srgbClr val="FFFFFF"/>
              </a:highlight>
              <a:latin typeface="Times New Roman"/>
              <a:ea typeface="Times New Roman"/>
              <a:cs typeface="Times New Roman"/>
              <a:sym typeface="Times New Roman"/>
            </a:endParaRPr>
          </a:p>
          <a:p>
            <a:pPr indent="-279400" lvl="0" marL="342900" rtl="0" algn="l">
              <a:lnSpc>
                <a:spcPct val="115000"/>
              </a:lnSpc>
              <a:spcBef>
                <a:spcPts val="0"/>
              </a:spcBef>
              <a:spcAft>
                <a:spcPts val="0"/>
              </a:spcAft>
              <a:buClr>
                <a:schemeClr val="dk1"/>
              </a:buClr>
              <a:buSzPts val="1800"/>
              <a:buFont typeface="Times New Roman"/>
              <a:buChar char="●"/>
            </a:pPr>
            <a:r>
              <a:rPr lang="en">
                <a:solidFill>
                  <a:schemeClr val="dk1"/>
                </a:solidFill>
                <a:highlight>
                  <a:srgbClr val="FFFFFF"/>
                </a:highlight>
                <a:latin typeface="Times New Roman"/>
                <a:ea typeface="Times New Roman"/>
                <a:cs typeface="Times New Roman"/>
                <a:sym typeface="Times New Roman"/>
              </a:rPr>
              <a:t>A web-based system ensures quick access to CKD prediction for healthcare providers.</a:t>
            </a:r>
            <a:endParaRPr>
              <a:solidFill>
                <a:schemeClr val="dk1"/>
              </a:solidFill>
              <a:highlight>
                <a:srgbClr val="FFFFFF"/>
              </a:highlight>
              <a:latin typeface="Times New Roman"/>
              <a:ea typeface="Times New Roman"/>
              <a:cs typeface="Times New Roman"/>
              <a:sym typeface="Times New Roman"/>
            </a:endParaRPr>
          </a:p>
          <a:p>
            <a:pPr indent="0" lvl="0" marL="342900" rtl="0" algn="l">
              <a:lnSpc>
                <a:spcPct val="115000"/>
              </a:lnSpc>
              <a:spcBef>
                <a:spcPts val="1200"/>
              </a:spcBef>
              <a:spcAft>
                <a:spcPts val="1200"/>
              </a:spcAft>
              <a:buSzPts val="1800"/>
              <a:buNone/>
            </a:pPr>
            <a:r>
              <a:t/>
            </a:r>
            <a:endParaRPr>
              <a:solidFill>
                <a:schemeClr val="dk1"/>
              </a:solidFill>
              <a:highlight>
                <a:srgbClr val="FFFFFF"/>
              </a:highlight>
              <a:latin typeface="Times New Roman"/>
              <a:ea typeface="Times New Roman"/>
              <a:cs typeface="Times New Roman"/>
              <a:sym typeface="Times New Roman"/>
            </a:endParaRPr>
          </a:p>
        </p:txBody>
      </p:sp>
      <p:pic>
        <p:nvPicPr>
          <p:cNvPr id="131" name="Google Shape;131;p28"/>
          <p:cNvPicPr preferRelativeResize="0"/>
          <p:nvPr/>
        </p:nvPicPr>
        <p:blipFill>
          <a:blip r:embed="rId5">
            <a:alphaModFix/>
          </a:blip>
          <a:stretch>
            <a:fillRect/>
          </a:stretch>
        </p:blipFill>
        <p:spPr>
          <a:xfrm>
            <a:off x="6759125" y="0"/>
            <a:ext cx="2273982" cy="572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9"/>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137" name="Google Shape;137;p29"/>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sp>
        <p:nvSpPr>
          <p:cNvPr id="138" name="Google Shape;138;p29"/>
          <p:cNvSpPr txBox="1"/>
          <p:nvPr>
            <p:ph type="title"/>
          </p:nvPr>
        </p:nvSpPr>
        <p:spPr>
          <a:xfrm>
            <a:off x="3052313" y="0"/>
            <a:ext cx="2339100"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BASE PAPER</a:t>
            </a:r>
            <a:endParaRPr b="1">
              <a:latin typeface="Times New Roman"/>
              <a:ea typeface="Times New Roman"/>
              <a:cs typeface="Times New Roman"/>
              <a:sym typeface="Times New Roman"/>
            </a:endParaRPr>
          </a:p>
        </p:txBody>
      </p:sp>
      <p:sp>
        <p:nvSpPr>
          <p:cNvPr id="139" name="Google Shape;139;p29"/>
          <p:cNvSpPr txBox="1"/>
          <p:nvPr/>
        </p:nvSpPr>
        <p:spPr>
          <a:xfrm>
            <a:off x="688425" y="1422956"/>
            <a:ext cx="7669125" cy="1689975"/>
          </a:xfrm>
          <a:prstGeom prst="rect">
            <a:avLst/>
          </a:prstGeom>
          <a:noFill/>
          <a:ln>
            <a:noFill/>
          </a:ln>
        </p:spPr>
        <p:txBody>
          <a:bodyPr anchorCtr="0" anchor="t" bIns="68575" lIns="68575" spcFirstLastPara="1" rIns="68575" wrap="square" tIns="68575">
            <a:noAutofit/>
          </a:bodyPr>
          <a:lstStyle/>
          <a:p>
            <a:pPr indent="0" lvl="0" marL="0" marR="0" rtl="0" algn="just">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Times New Roman"/>
                <a:ea typeface="Times New Roman"/>
                <a:cs typeface="Times New Roman"/>
                <a:sym typeface="Times New Roman"/>
              </a:rPr>
              <a:t>Rajib Kumar Halder, Mohammed Nasir Uddin, Md. Ashraf Uddin, Sunil Arya, Sajeeb Saha, Rakib Hossen, Sabbir Ahmed, Mohammad Abu Tareq Rony &amp; Mosammat Farida Akter, </a:t>
            </a:r>
            <a:r>
              <a:rPr b="0" i="0" lang="en" sz="1800" u="sng" cap="none" strike="noStrike">
                <a:solidFill>
                  <a:schemeClr val="hlink"/>
                </a:solidFill>
                <a:latin typeface="Times New Roman"/>
                <a:ea typeface="Times New Roman"/>
                <a:cs typeface="Times New Roman"/>
                <a:sym typeface="Times New Roman"/>
                <a:hlinkClick r:id="rId5"/>
              </a:rPr>
              <a:t>“</a:t>
            </a:r>
            <a:r>
              <a:rPr b="1" i="0" lang="en" sz="1800" u="sng" cap="none" strike="noStrike">
                <a:solidFill>
                  <a:schemeClr val="hlink"/>
                </a:solidFill>
                <a:latin typeface="Times New Roman"/>
                <a:ea typeface="Times New Roman"/>
                <a:cs typeface="Times New Roman"/>
                <a:sym typeface="Times New Roman"/>
                <a:hlinkClick r:id="rId6"/>
              </a:rPr>
              <a:t>ML-CKDP: Machine learning-based chronic kidney disease prediction with smart web application</a:t>
            </a:r>
            <a:r>
              <a:rPr b="0" i="0" lang="en" sz="1800" u="sng" cap="none" strike="noStrike">
                <a:solidFill>
                  <a:schemeClr val="hlink"/>
                </a:solidFill>
                <a:latin typeface="Times New Roman"/>
                <a:ea typeface="Times New Roman"/>
                <a:cs typeface="Times New Roman"/>
                <a:sym typeface="Times New Roman"/>
                <a:hlinkClick r:id="rId7"/>
              </a:rPr>
              <a:t>”</a:t>
            </a:r>
            <a:r>
              <a:rPr b="0" i="0" lang="en" sz="1800" u="none" cap="none" strike="noStrike">
                <a:solidFill>
                  <a:schemeClr val="dk1"/>
                </a:solidFill>
                <a:latin typeface="Times New Roman"/>
                <a:ea typeface="Times New Roman"/>
                <a:cs typeface="Times New Roman"/>
                <a:sym typeface="Times New Roman"/>
              </a:rPr>
              <a:t>, Journal of Pathology Informatics.</a:t>
            </a:r>
            <a:endParaRPr b="0" i="0" sz="1800" u="none" cap="none" strike="noStrike">
              <a:solidFill>
                <a:schemeClr val="dk1"/>
              </a:solidFill>
              <a:latin typeface="Times New Roman"/>
              <a:ea typeface="Times New Roman"/>
              <a:cs typeface="Times New Roman"/>
              <a:sym typeface="Times New Roman"/>
            </a:endParaRPr>
          </a:p>
        </p:txBody>
      </p:sp>
      <p:sp>
        <p:nvSpPr>
          <p:cNvPr id="140" name="Google Shape;140;p29"/>
          <p:cNvSpPr txBox="1"/>
          <p:nvPr/>
        </p:nvSpPr>
        <p:spPr>
          <a:xfrm>
            <a:off x="688425" y="3442163"/>
            <a:ext cx="7088175" cy="98775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Times New Roman"/>
                <a:ea typeface="Times New Roman"/>
                <a:cs typeface="Times New Roman"/>
                <a:sym typeface="Times New Roman"/>
              </a:rPr>
              <a:t>Indexed in: Scopus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Times New Roman"/>
                <a:ea typeface="Times New Roman"/>
                <a:cs typeface="Times New Roman"/>
                <a:sym typeface="Times New Roman"/>
              </a:rPr>
              <a:t>Year: 2024</a:t>
            </a:r>
            <a:endParaRPr b="0" i="0" sz="1800" u="none" cap="none" strike="noStrike">
              <a:solidFill>
                <a:schemeClr val="dk1"/>
              </a:solidFill>
              <a:latin typeface="Times New Roman"/>
              <a:ea typeface="Times New Roman"/>
              <a:cs typeface="Times New Roman"/>
              <a:sym typeface="Times New Roman"/>
            </a:endParaRPr>
          </a:p>
        </p:txBody>
      </p:sp>
      <p:pic>
        <p:nvPicPr>
          <p:cNvPr id="141" name="Google Shape;141;p29"/>
          <p:cNvPicPr preferRelativeResize="0"/>
          <p:nvPr/>
        </p:nvPicPr>
        <p:blipFill>
          <a:blip r:embed="rId8">
            <a:alphaModFix/>
          </a:blip>
          <a:stretch>
            <a:fillRect/>
          </a:stretch>
        </p:blipFill>
        <p:spPr>
          <a:xfrm>
            <a:off x="6498200" y="0"/>
            <a:ext cx="2556250" cy="572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30"/>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147" name="Google Shape;147;p30"/>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sp>
        <p:nvSpPr>
          <p:cNvPr id="148" name="Google Shape;148;p30"/>
          <p:cNvSpPr txBox="1"/>
          <p:nvPr>
            <p:ph type="title"/>
          </p:nvPr>
        </p:nvSpPr>
        <p:spPr>
          <a:xfrm>
            <a:off x="1689563" y="-25612"/>
            <a:ext cx="4205475"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 PROBLEM STATEMENT</a:t>
            </a:r>
            <a:endParaRPr b="1">
              <a:latin typeface="Times New Roman"/>
              <a:ea typeface="Times New Roman"/>
              <a:cs typeface="Times New Roman"/>
              <a:sym typeface="Times New Roman"/>
            </a:endParaRPr>
          </a:p>
        </p:txBody>
      </p:sp>
      <p:sp>
        <p:nvSpPr>
          <p:cNvPr id="149" name="Google Shape;149;p30"/>
          <p:cNvSpPr txBox="1"/>
          <p:nvPr>
            <p:ph idx="1" type="body"/>
          </p:nvPr>
        </p:nvSpPr>
        <p:spPr>
          <a:xfrm>
            <a:off x="425344" y="1600200"/>
            <a:ext cx="8129700" cy="1033875"/>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Clr>
                <a:schemeClr val="dk1"/>
              </a:buClr>
              <a:buSzPts val="800"/>
              <a:buFont typeface="Arial"/>
              <a:buNone/>
            </a:pPr>
            <a:r>
              <a:rPr lang="en" sz="1800">
                <a:solidFill>
                  <a:schemeClr val="dk1"/>
                </a:solidFill>
                <a:latin typeface="Times New Roman"/>
                <a:ea typeface="Times New Roman"/>
                <a:cs typeface="Times New Roman"/>
                <a:sym typeface="Times New Roman"/>
              </a:rPr>
              <a:t>To enhance the accuracy of the existing machine learning model for improved predictive analysis.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1200"/>
              </a:spcAft>
              <a:buSzPts val="800"/>
              <a:buNone/>
            </a:pPr>
            <a:r>
              <a:t/>
            </a:r>
            <a:endParaRPr sz="1800">
              <a:solidFill>
                <a:schemeClr val="dk1"/>
              </a:solidFill>
              <a:latin typeface="Times New Roman"/>
              <a:ea typeface="Times New Roman"/>
              <a:cs typeface="Times New Roman"/>
              <a:sym typeface="Times New Roman"/>
            </a:endParaRPr>
          </a:p>
        </p:txBody>
      </p:sp>
      <p:pic>
        <p:nvPicPr>
          <p:cNvPr id="150" name="Google Shape;150;p30"/>
          <p:cNvPicPr preferRelativeResize="0"/>
          <p:nvPr/>
        </p:nvPicPr>
        <p:blipFill>
          <a:blip r:embed="rId5">
            <a:alphaModFix/>
          </a:blip>
          <a:stretch>
            <a:fillRect/>
          </a:stretch>
        </p:blipFill>
        <p:spPr>
          <a:xfrm>
            <a:off x="6586100" y="51800"/>
            <a:ext cx="2586075" cy="572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31"/>
          <p:cNvPicPr preferRelativeResize="0"/>
          <p:nvPr/>
        </p:nvPicPr>
        <p:blipFill rotWithShape="1">
          <a:blip r:embed="rId3">
            <a:alphaModFix/>
          </a:blip>
          <a:srcRect b="0" l="0" r="0" t="0"/>
          <a:stretch/>
        </p:blipFill>
        <p:spPr>
          <a:xfrm>
            <a:off x="0" y="572625"/>
            <a:ext cx="9200362" cy="114300"/>
          </a:xfrm>
          <a:prstGeom prst="rect">
            <a:avLst/>
          </a:prstGeom>
          <a:noFill/>
          <a:ln>
            <a:noFill/>
          </a:ln>
        </p:spPr>
      </p:pic>
      <p:sp>
        <p:nvSpPr>
          <p:cNvPr id="156" name="Google Shape;156;p31"/>
          <p:cNvSpPr txBox="1"/>
          <p:nvPr>
            <p:ph type="title"/>
          </p:nvPr>
        </p:nvSpPr>
        <p:spPr>
          <a:xfrm>
            <a:off x="2054081" y="0"/>
            <a:ext cx="3858300"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LITERATURE REVIEW</a:t>
            </a:r>
            <a:endParaRPr b="1">
              <a:latin typeface="Times New Roman"/>
              <a:ea typeface="Times New Roman"/>
              <a:cs typeface="Times New Roman"/>
              <a:sym typeface="Times New Roman"/>
            </a:endParaRPr>
          </a:p>
        </p:txBody>
      </p:sp>
      <p:pic>
        <p:nvPicPr>
          <p:cNvPr id="157" name="Google Shape;157;p31"/>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graphicFrame>
        <p:nvGraphicFramePr>
          <p:cNvPr id="158" name="Google Shape;158;p31"/>
          <p:cNvGraphicFramePr/>
          <p:nvPr/>
        </p:nvGraphicFramePr>
        <p:xfrm>
          <a:off x="140881" y="884025"/>
          <a:ext cx="3000000" cy="3000000"/>
        </p:xfrm>
        <a:graphic>
          <a:graphicData uri="http://schemas.openxmlformats.org/drawingml/2006/table">
            <a:tbl>
              <a:tblPr>
                <a:noFill/>
                <a:tableStyleId>{5440CD11-3904-4C98-91E4-FA9760CC838B}</a:tableStyleId>
              </a:tblPr>
              <a:tblGrid>
                <a:gridCol w="914025"/>
                <a:gridCol w="1586050"/>
                <a:gridCol w="1759350"/>
                <a:gridCol w="1380125"/>
                <a:gridCol w="1499175"/>
                <a:gridCol w="1737300"/>
              </a:tblGrid>
              <a:tr h="6743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800"/>
                        <a:buFont typeface="Arial"/>
                        <a:buNone/>
                      </a:pPr>
                      <a:r>
                        <a:rPr b="1" lang="en" sz="1800" u="none" cap="none" strike="noStrike">
                          <a:solidFill>
                            <a:schemeClr val="dk1"/>
                          </a:solidFill>
                          <a:latin typeface="Times New Roman"/>
                          <a:ea typeface="Times New Roman"/>
                          <a:cs typeface="Times New Roman"/>
                          <a:sym typeface="Times New Roman"/>
                        </a:rPr>
                        <a:t> YEAR</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800"/>
                        <a:buFont typeface="Arial"/>
                        <a:buNone/>
                      </a:pPr>
                      <a:r>
                        <a:rPr b="1" lang="en" sz="1800" u="none" cap="none" strike="noStrike">
                          <a:solidFill>
                            <a:schemeClr val="dk1"/>
                          </a:solidFill>
                          <a:latin typeface="Times New Roman"/>
                          <a:ea typeface="Times New Roman"/>
                          <a:cs typeface="Times New Roman"/>
                          <a:sym typeface="Times New Roman"/>
                        </a:rPr>
                        <a:t> AUTHORS</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800"/>
                        <a:buFont typeface="Arial"/>
                        <a:buNone/>
                      </a:pPr>
                      <a:r>
                        <a:rPr b="1" lang="en" sz="1800" u="none" cap="none" strike="noStrike">
                          <a:solidFill>
                            <a:schemeClr val="dk1"/>
                          </a:solidFill>
                          <a:latin typeface="Times New Roman"/>
                          <a:ea typeface="Times New Roman"/>
                          <a:cs typeface="Times New Roman"/>
                          <a:sym typeface="Times New Roman"/>
                        </a:rPr>
                        <a:t>       TITLE</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800"/>
                        <a:buFont typeface="Arial"/>
                        <a:buNone/>
                      </a:pPr>
                      <a:r>
                        <a:rPr b="1" lang="en" sz="1800" u="none" cap="none" strike="noStrike">
                          <a:solidFill>
                            <a:schemeClr val="dk1"/>
                          </a:solidFill>
                          <a:latin typeface="Times New Roman"/>
                          <a:ea typeface="Times New Roman"/>
                          <a:cs typeface="Times New Roman"/>
                          <a:sym typeface="Times New Roman"/>
                        </a:rPr>
                        <a:t>  MODELS</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800"/>
                        <a:buFont typeface="Arial"/>
                        <a:buNone/>
                      </a:pPr>
                      <a:r>
                        <a:rPr b="1" lang="en" sz="1800" u="none" cap="none" strike="noStrike">
                          <a:solidFill>
                            <a:schemeClr val="dk1"/>
                          </a:solidFill>
                          <a:latin typeface="Times New Roman"/>
                          <a:ea typeface="Times New Roman"/>
                          <a:cs typeface="Times New Roman"/>
                          <a:sym typeface="Times New Roman"/>
                        </a:rPr>
                        <a:t>  ACCURACY</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lang="en" sz="1800" u="none" cap="none" strike="noStrike">
                          <a:latin typeface="Times New Roman"/>
                          <a:ea typeface="Times New Roman"/>
                          <a:cs typeface="Times New Roman"/>
                          <a:sym typeface="Times New Roman"/>
                        </a:rPr>
                        <a:t>LIMITATIONS</a:t>
                      </a:r>
                      <a:endParaRPr b="1" sz="18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92205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p>
                      <a:pPr indent="0" lvl="0" marL="0" marR="0" rtl="0" algn="l">
                        <a:lnSpc>
                          <a:spcPct val="100000"/>
                        </a:lnSpc>
                        <a:spcBef>
                          <a:spcPts val="0"/>
                        </a:spcBef>
                        <a:spcAft>
                          <a:spcPts val="0"/>
                        </a:spcAft>
                        <a:buClr>
                          <a:srgbClr val="000000"/>
                        </a:buClr>
                        <a:buSzPts val="1100"/>
                        <a:buFont typeface="Arial"/>
                        <a:buNone/>
                      </a:pPr>
                      <a:r>
                        <a:rPr lang="en" sz="1100" u="none" cap="none" strike="noStrike"/>
                        <a:t>    </a:t>
                      </a:r>
                      <a:r>
                        <a:rPr lang="en" sz="1800" u="none" cap="none" strike="noStrike">
                          <a:solidFill>
                            <a:schemeClr val="dk1"/>
                          </a:solidFill>
                          <a:latin typeface="Times New Roman"/>
                          <a:ea typeface="Times New Roman"/>
                          <a:cs typeface="Times New Roman"/>
                          <a:sym typeface="Times New Roman"/>
                        </a:rPr>
                        <a:t> </a:t>
                      </a:r>
                      <a:r>
                        <a:rPr lang="en" sz="1100" u="none" cap="none" strike="noStrike">
                          <a:solidFill>
                            <a:schemeClr val="dk1"/>
                          </a:solidFill>
                          <a:latin typeface="Times New Roman"/>
                          <a:ea typeface="Times New Roman"/>
                          <a:cs typeface="Times New Roman"/>
                          <a:sym typeface="Times New Roman"/>
                        </a:rPr>
                        <a:t>2021</a:t>
                      </a:r>
                      <a:r>
                        <a:rPr lang="en" sz="1800" u="none" cap="none" strike="noStrike">
                          <a:solidFill>
                            <a:schemeClr val="dk1"/>
                          </a:solidFill>
                          <a:latin typeface="Times New Roman"/>
                          <a:ea typeface="Times New Roman"/>
                          <a:cs typeface="Times New Roman"/>
                          <a:sym typeface="Times New Roman"/>
                        </a:rPr>
                        <a:t> </a:t>
                      </a:r>
                      <a:endParaRPr sz="18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solidFill>
                            <a:srgbClr val="1F1F1F"/>
                          </a:solidFill>
                          <a:latin typeface="Times New Roman"/>
                          <a:ea typeface="Times New Roman"/>
                          <a:cs typeface="Times New Roman"/>
                          <a:sym typeface="Times New Roman"/>
                        </a:rPr>
                        <a:t>Andrew P. Bradley </a:t>
                      </a:r>
                      <a:r>
                        <a:rPr lang="en" sz="900" u="sng" cap="none" strike="noStrike">
                          <a:solidFill>
                            <a:schemeClr val="hlink"/>
                          </a:solidFill>
                          <a:latin typeface="Times New Roman"/>
                          <a:ea typeface="Times New Roman"/>
                          <a:cs typeface="Times New Roman"/>
                          <a:sym typeface="Times New Roman"/>
                          <a:hlinkClick action="ppaction://hlinksldjump" r:id="rId5"/>
                        </a:rPr>
                        <a:t>[1]</a:t>
                      </a:r>
                      <a:r>
                        <a:rPr b="1" lang="en" sz="1500" u="sng" cap="none" strike="noStrike">
                          <a:solidFill>
                            <a:schemeClr val="hlink"/>
                          </a:solidFill>
                          <a:highlight>
                            <a:srgbClr val="FFFFFF"/>
                          </a:highlight>
                          <a:latin typeface="Times New Roman"/>
                          <a:ea typeface="Times New Roman"/>
                          <a:cs typeface="Times New Roman"/>
                          <a:sym typeface="Times New Roman"/>
                          <a:hlinkClick r:id="rId6"/>
                        </a:rPr>
                        <a:t> </a:t>
                      </a:r>
                      <a:endParaRPr sz="15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rgbClr val="1F1F1F"/>
                          </a:solidFill>
                          <a:latin typeface="Times New Roman"/>
                          <a:ea typeface="Times New Roman"/>
                          <a:cs typeface="Times New Roman"/>
                          <a:sym typeface="Times New Roman"/>
                        </a:rPr>
                        <a:t>The use of the area under the ROC curve in the evaluation of machine learning algorithms</a:t>
                      </a:r>
                      <a:endParaRPr sz="1100" u="none" cap="none" strike="noStrike">
                        <a:solidFill>
                          <a:schemeClr val="dk1"/>
                        </a:solidFill>
                        <a:highlight>
                          <a:srgbClr val="FFFFFF"/>
                        </a:highlight>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KNN</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800"/>
                        <a:buFont typeface="Arial"/>
                        <a:buNone/>
                      </a:pPr>
                      <a:r>
                        <a:t/>
                      </a:r>
                      <a:endParaRPr sz="11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74.2 %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800"/>
                        <a:buFont typeface="Arial"/>
                        <a:buNone/>
                      </a:pPr>
                      <a:r>
                        <a:t/>
                      </a:r>
                      <a:endParaRPr sz="11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Results are valid only for the tested configurations.</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13337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800"/>
                        <a:buFont typeface="Arial"/>
                        <a:buNone/>
                      </a:pPr>
                      <a:r>
                        <a:rPr lang="en" sz="1100" u="none" cap="none" strike="noStrike">
                          <a:solidFill>
                            <a:schemeClr val="dk1"/>
                          </a:solidFill>
                          <a:latin typeface="Times New Roman"/>
                          <a:ea typeface="Times New Roman"/>
                          <a:cs typeface="Times New Roman"/>
                          <a:sym typeface="Times New Roman"/>
                        </a:rPr>
                        <a:t>     2021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solidFill>
                            <a:srgbClr val="1F1F1F"/>
                          </a:solidFill>
                          <a:latin typeface="Times New Roman"/>
                          <a:ea typeface="Times New Roman"/>
                          <a:cs typeface="Times New Roman"/>
                          <a:sym typeface="Times New Roman"/>
                        </a:rPr>
                        <a:t>Mohammed Nasir</a:t>
                      </a:r>
                      <a:endParaRPr sz="1100" u="none" cap="none" strike="noStrike">
                        <a:solidFill>
                          <a:srgbClr val="1F1F1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rPr lang="en" sz="1100" u="none" cap="none" strike="noStrike">
                          <a:solidFill>
                            <a:srgbClr val="1F1F1F"/>
                          </a:solidFill>
                          <a:latin typeface="Times New Roman"/>
                          <a:ea typeface="Times New Roman"/>
                          <a:cs typeface="Times New Roman"/>
                          <a:sym typeface="Times New Roman"/>
                        </a:rPr>
                        <a:t>Uddin et al.</a:t>
                      </a:r>
                      <a:r>
                        <a:rPr lang="en" sz="1100" u="sng" cap="none" strike="noStrike">
                          <a:solidFill>
                            <a:schemeClr val="hlink"/>
                          </a:solidFill>
                          <a:latin typeface="Times New Roman"/>
                          <a:ea typeface="Times New Roman"/>
                          <a:cs typeface="Times New Roman"/>
                          <a:sym typeface="Times New Roman"/>
                          <a:hlinkClick action="ppaction://hlinksldjump" r:id="rId7"/>
                        </a:rPr>
                        <a:t>[2]</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rgbClr val="1F1F1F"/>
                          </a:solidFill>
                          <a:latin typeface="Times New Roman"/>
                          <a:ea typeface="Times New Roman"/>
                          <a:cs typeface="Times New Roman"/>
                          <a:sym typeface="Times New Roman"/>
                        </a:rPr>
                        <a:t>An ensemble method based multilayer dynamic system to predict cardiovascular disease using machine learning approach.</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XGB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LR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800"/>
                        <a:buFont typeface="Arial"/>
                        <a:buNone/>
                      </a:pPr>
                      <a:r>
                        <a:rPr lang="en" sz="1100" u="none" cap="none" strike="noStrike">
                          <a:solidFill>
                            <a:schemeClr val="dk1"/>
                          </a:solidFill>
                          <a:latin typeface="Times New Roman"/>
                          <a:ea typeface="Times New Roman"/>
                          <a:cs typeface="Times New Roman"/>
                          <a:sym typeface="Times New Roman"/>
                        </a:rPr>
                        <a:t>SVM</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KNN</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DT </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800"/>
                        <a:buFont typeface="Arial"/>
                        <a:buNone/>
                      </a:pPr>
                      <a:r>
                        <a:rPr lang="en" sz="1100" u="none" cap="none" strike="noStrike">
                          <a:solidFill>
                            <a:schemeClr val="dk1"/>
                          </a:solidFill>
                          <a:latin typeface="Times New Roman"/>
                          <a:ea typeface="Times New Roman"/>
                          <a:cs typeface="Times New Roman"/>
                          <a:sym typeface="Times New Roman"/>
                        </a:rPr>
                        <a:t>73.66 %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800"/>
                        <a:buFont typeface="Arial"/>
                        <a:buNone/>
                      </a:pPr>
                      <a:r>
                        <a:rPr lang="en" sz="1100" u="none" cap="none" strike="noStrike">
                          <a:solidFill>
                            <a:schemeClr val="dk1"/>
                          </a:solidFill>
                          <a:latin typeface="Times New Roman"/>
                          <a:ea typeface="Times New Roman"/>
                          <a:cs typeface="Times New Roman"/>
                          <a:sym typeface="Times New Roman"/>
                        </a:rPr>
                        <a:t>70.56 %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71.97 %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68.92 %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800"/>
                        <a:buFont typeface="Arial"/>
                        <a:buNone/>
                      </a:pPr>
                      <a:r>
                        <a:rPr lang="en" sz="1100" u="none" cap="none" strike="noStrike">
                          <a:solidFill>
                            <a:schemeClr val="dk1"/>
                          </a:solidFill>
                          <a:latin typeface="Times New Roman"/>
                          <a:ea typeface="Times New Roman"/>
                          <a:cs typeface="Times New Roman"/>
                          <a:sym typeface="Times New Roman"/>
                        </a:rPr>
                        <a:t>62.84 %</a:t>
                      </a:r>
                      <a:endParaRPr sz="11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Very limited number of features were used for the prediction.</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0274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p>
                      <a:pPr indent="0" lvl="0" marL="0" marR="0" rtl="0" algn="l">
                        <a:lnSpc>
                          <a:spcPct val="100000"/>
                        </a:lnSpc>
                        <a:spcBef>
                          <a:spcPts val="0"/>
                        </a:spcBef>
                        <a:spcAft>
                          <a:spcPts val="0"/>
                        </a:spcAft>
                        <a:buClr>
                          <a:srgbClr val="000000"/>
                        </a:buClr>
                        <a:buSzPts val="1100"/>
                        <a:buFont typeface="Arial"/>
                        <a:buNone/>
                      </a:pPr>
                      <a:r>
                        <a:rPr lang="en" sz="1100" u="none" cap="none" strike="noStrike"/>
                        <a:t> </a:t>
                      </a:r>
                      <a:r>
                        <a:rPr lang="en" sz="1100" u="none" cap="none" strike="noStrike">
                          <a:solidFill>
                            <a:schemeClr val="dk1"/>
                          </a:solidFill>
                          <a:latin typeface="Times New Roman"/>
                          <a:ea typeface="Times New Roman"/>
                          <a:cs typeface="Times New Roman"/>
                          <a:sym typeface="Times New Roman"/>
                        </a:rPr>
                        <a:t>   2022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highlight>
                            <a:srgbClr val="FFFFFF"/>
                          </a:highlight>
                          <a:latin typeface="Times New Roman"/>
                          <a:ea typeface="Times New Roman"/>
                          <a:cs typeface="Times New Roman"/>
                          <a:sym typeface="Times New Roman"/>
                        </a:rPr>
                        <a:t>Sibo Prasad Patro et al.</a:t>
                      </a:r>
                      <a:endParaRPr sz="1100" u="none" cap="none" strike="noStrike">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rPr lang="en" sz="1100" u="sng" cap="none" strike="noStrike">
                          <a:solidFill>
                            <a:schemeClr val="hlink"/>
                          </a:solidFill>
                          <a:highlight>
                            <a:srgbClr val="FFFFFF"/>
                          </a:highlight>
                          <a:latin typeface="Times New Roman"/>
                          <a:ea typeface="Times New Roman"/>
                          <a:cs typeface="Times New Roman"/>
                          <a:sym typeface="Times New Roman"/>
                          <a:hlinkClick action="ppaction://hlinksldjump" r:id="rId8"/>
                        </a:rPr>
                        <a:t>[3]</a:t>
                      </a:r>
                      <a:endParaRPr sz="1100" u="none" cap="none" strike="noStrike">
                        <a:highlight>
                          <a:srgbClr val="FFFFFF"/>
                        </a:highlight>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23913"/>
                        </a:lnSpc>
                        <a:spcBef>
                          <a:spcPts val="0"/>
                        </a:spcBef>
                        <a:spcAft>
                          <a:spcPts val="0"/>
                        </a:spcAft>
                        <a:buClr>
                          <a:schemeClr val="dk1"/>
                        </a:buClr>
                        <a:buSzPts val="800"/>
                        <a:buFont typeface="Arial"/>
                        <a:buNone/>
                      </a:pPr>
                      <a:r>
                        <a:rPr lang="en" sz="1100" u="none" cap="none" strike="noStrike">
                          <a:solidFill>
                            <a:srgbClr val="333333"/>
                          </a:solidFill>
                          <a:highlight>
                            <a:srgbClr val="FFFFFF"/>
                          </a:highlight>
                          <a:latin typeface="Times New Roman"/>
                          <a:ea typeface="Times New Roman"/>
                          <a:cs typeface="Times New Roman"/>
                          <a:sym typeface="Times New Roman"/>
                        </a:rPr>
                        <a:t>Classification model for heart disease prediction using correlation and feature selection techniques</a:t>
                      </a:r>
                      <a:endParaRPr sz="1100" u="none" cap="none" strike="noStrike">
                        <a:solidFill>
                          <a:srgbClr val="333333"/>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      SVM</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67%      </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800"/>
                        <a:buFont typeface="Arial"/>
                        <a:buNone/>
                      </a:pPr>
                      <a:r>
                        <a:rPr lang="en" sz="1100" u="none" cap="none" strike="noStrike">
                          <a:solidFill>
                            <a:schemeClr val="dk1"/>
                          </a:solidFill>
                          <a:latin typeface="Times New Roman"/>
                          <a:ea typeface="Times New Roman"/>
                          <a:cs typeface="Times New Roman"/>
                          <a:sym typeface="Times New Roman"/>
                        </a:rPr>
                        <a:t>Applying oversampling techniques led to a drop in accuracy</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cxnSp>
        <p:nvCxnSpPr>
          <p:cNvPr id="159" name="Google Shape;159;p31"/>
          <p:cNvCxnSpPr/>
          <p:nvPr/>
        </p:nvCxnSpPr>
        <p:spPr>
          <a:xfrm rot="10800000">
            <a:off x="4398056" y="2192569"/>
            <a:ext cx="0" cy="13050"/>
          </a:xfrm>
          <a:prstGeom prst="straightConnector1">
            <a:avLst/>
          </a:prstGeom>
          <a:noFill/>
          <a:ln cap="flat" cmpd="sng" w="9525">
            <a:solidFill>
              <a:schemeClr val="dk2"/>
            </a:solidFill>
            <a:prstDash val="solid"/>
            <a:round/>
            <a:headEnd len="sm" w="sm" type="none"/>
            <a:tailEnd len="sm" w="sm" type="none"/>
          </a:ln>
        </p:spPr>
      </p:cxnSp>
      <p:cxnSp>
        <p:nvCxnSpPr>
          <p:cNvPr id="160" name="Google Shape;160;p31"/>
          <p:cNvCxnSpPr/>
          <p:nvPr/>
        </p:nvCxnSpPr>
        <p:spPr>
          <a:xfrm flipH="1" rot="10800000">
            <a:off x="4400344" y="3101231"/>
            <a:ext cx="2887425" cy="6525"/>
          </a:xfrm>
          <a:prstGeom prst="straightConnector1">
            <a:avLst/>
          </a:prstGeom>
          <a:noFill/>
          <a:ln cap="flat" cmpd="sng" w="19050">
            <a:solidFill>
              <a:schemeClr val="dk1"/>
            </a:solidFill>
            <a:prstDash val="solid"/>
            <a:round/>
            <a:headEnd len="sm" w="sm" type="none"/>
            <a:tailEnd len="sm" w="sm" type="none"/>
          </a:ln>
        </p:spPr>
      </p:cxnSp>
      <p:cxnSp>
        <p:nvCxnSpPr>
          <p:cNvPr id="161" name="Google Shape;161;p31"/>
          <p:cNvCxnSpPr/>
          <p:nvPr/>
        </p:nvCxnSpPr>
        <p:spPr>
          <a:xfrm flipH="1" rot="10800000">
            <a:off x="4400344" y="2876522"/>
            <a:ext cx="2887425" cy="6525"/>
          </a:xfrm>
          <a:prstGeom prst="straightConnector1">
            <a:avLst/>
          </a:prstGeom>
          <a:noFill/>
          <a:ln cap="flat" cmpd="sng" w="19050">
            <a:solidFill>
              <a:schemeClr val="dk1"/>
            </a:solidFill>
            <a:prstDash val="solid"/>
            <a:round/>
            <a:headEnd len="sm" w="sm" type="none"/>
            <a:tailEnd len="sm" w="sm" type="none"/>
          </a:ln>
        </p:spPr>
      </p:cxnSp>
      <p:cxnSp>
        <p:nvCxnSpPr>
          <p:cNvPr id="162" name="Google Shape;162;p31"/>
          <p:cNvCxnSpPr/>
          <p:nvPr/>
        </p:nvCxnSpPr>
        <p:spPr>
          <a:xfrm flipH="1" rot="10800000">
            <a:off x="4400344" y="3236850"/>
            <a:ext cx="2887425" cy="6525"/>
          </a:xfrm>
          <a:prstGeom prst="straightConnector1">
            <a:avLst/>
          </a:prstGeom>
          <a:noFill/>
          <a:ln cap="flat" cmpd="sng" w="19050">
            <a:solidFill>
              <a:schemeClr val="dk1"/>
            </a:solidFill>
            <a:prstDash val="solid"/>
            <a:round/>
            <a:headEnd len="sm" w="sm" type="none"/>
            <a:tailEnd len="sm" w="sm" type="none"/>
          </a:ln>
        </p:spPr>
      </p:cxnSp>
      <p:cxnSp>
        <p:nvCxnSpPr>
          <p:cNvPr id="163" name="Google Shape;163;p31"/>
          <p:cNvCxnSpPr/>
          <p:nvPr/>
        </p:nvCxnSpPr>
        <p:spPr>
          <a:xfrm flipH="1" rot="10800000">
            <a:off x="4400344" y="3432413"/>
            <a:ext cx="2887425" cy="6525"/>
          </a:xfrm>
          <a:prstGeom prst="straightConnector1">
            <a:avLst/>
          </a:prstGeom>
          <a:noFill/>
          <a:ln cap="flat" cmpd="sng" w="19050">
            <a:solidFill>
              <a:schemeClr val="dk1"/>
            </a:solidFill>
            <a:prstDash val="solid"/>
            <a:round/>
            <a:headEnd len="sm" w="sm" type="none"/>
            <a:tailEnd len="sm" w="sm" type="none"/>
          </a:ln>
        </p:spPr>
      </p:cxnSp>
      <p:pic>
        <p:nvPicPr>
          <p:cNvPr id="164" name="Google Shape;164;p31"/>
          <p:cNvPicPr preferRelativeResize="0"/>
          <p:nvPr/>
        </p:nvPicPr>
        <p:blipFill>
          <a:blip r:embed="rId9">
            <a:alphaModFix/>
          </a:blip>
          <a:stretch>
            <a:fillRect/>
          </a:stretch>
        </p:blipFill>
        <p:spPr>
          <a:xfrm>
            <a:off x="6488250" y="81650"/>
            <a:ext cx="2685575" cy="490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32"/>
          <p:cNvPicPr preferRelativeResize="0"/>
          <p:nvPr/>
        </p:nvPicPr>
        <p:blipFill rotWithShape="1">
          <a:blip r:embed="rId3">
            <a:alphaModFix/>
          </a:blip>
          <a:srcRect b="0" l="0" r="0" t="0"/>
          <a:stretch/>
        </p:blipFill>
        <p:spPr>
          <a:xfrm>
            <a:off x="0" y="572625"/>
            <a:ext cx="9200362" cy="114300"/>
          </a:xfrm>
          <a:prstGeom prst="rect">
            <a:avLst/>
          </a:prstGeom>
          <a:noFill/>
          <a:ln>
            <a:noFill/>
          </a:ln>
        </p:spPr>
      </p:pic>
      <p:sp>
        <p:nvSpPr>
          <p:cNvPr id="170" name="Google Shape;170;p32"/>
          <p:cNvSpPr txBox="1"/>
          <p:nvPr>
            <p:ph type="title"/>
          </p:nvPr>
        </p:nvSpPr>
        <p:spPr>
          <a:xfrm>
            <a:off x="2054081" y="0"/>
            <a:ext cx="3858300"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LITERATURE REVIEW</a:t>
            </a:r>
            <a:endParaRPr b="1">
              <a:latin typeface="Times New Roman"/>
              <a:ea typeface="Times New Roman"/>
              <a:cs typeface="Times New Roman"/>
              <a:sym typeface="Times New Roman"/>
            </a:endParaRPr>
          </a:p>
        </p:txBody>
      </p:sp>
      <p:pic>
        <p:nvPicPr>
          <p:cNvPr id="171" name="Google Shape;171;p32"/>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graphicFrame>
        <p:nvGraphicFramePr>
          <p:cNvPr id="172" name="Google Shape;172;p32"/>
          <p:cNvGraphicFramePr/>
          <p:nvPr/>
        </p:nvGraphicFramePr>
        <p:xfrm>
          <a:off x="140881" y="884025"/>
          <a:ext cx="3000000" cy="3000000"/>
        </p:xfrm>
        <a:graphic>
          <a:graphicData uri="http://schemas.openxmlformats.org/drawingml/2006/table">
            <a:tbl>
              <a:tblPr>
                <a:noFill/>
                <a:tableStyleId>{5440CD11-3904-4C98-91E4-FA9760CC838B}</a:tableStyleId>
              </a:tblPr>
              <a:tblGrid>
                <a:gridCol w="914025"/>
                <a:gridCol w="1586050"/>
                <a:gridCol w="1759350"/>
                <a:gridCol w="1380125"/>
                <a:gridCol w="1499175"/>
                <a:gridCol w="1737300"/>
              </a:tblGrid>
              <a:tr h="747250">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YEAR</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AUTHORS</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TITLE</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MODELS</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ACCURACY</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lang="en" sz="1800" u="none" cap="none" strike="noStrike">
                          <a:latin typeface="Times New Roman"/>
                          <a:ea typeface="Times New Roman"/>
                          <a:cs typeface="Times New Roman"/>
                          <a:sym typeface="Times New Roman"/>
                        </a:rPr>
                        <a:t>LIMITATIONS</a:t>
                      </a:r>
                      <a:endParaRPr b="1" sz="18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92205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p>
                      <a:pPr indent="0" lvl="0" marL="0" marR="0" rtl="0" algn="l">
                        <a:lnSpc>
                          <a:spcPct val="100000"/>
                        </a:lnSpc>
                        <a:spcBef>
                          <a:spcPts val="0"/>
                        </a:spcBef>
                        <a:spcAft>
                          <a:spcPts val="0"/>
                        </a:spcAft>
                        <a:buClr>
                          <a:srgbClr val="000000"/>
                        </a:buClr>
                        <a:buSzPts val="1100"/>
                        <a:buFont typeface="Arial"/>
                        <a:buNone/>
                      </a:pPr>
                      <a:r>
                        <a:rPr lang="en" sz="1100" u="none" cap="none" strike="noStrike"/>
                        <a:t>    </a:t>
                      </a:r>
                      <a:r>
                        <a:rPr lang="en" sz="1800" u="none" cap="none" strike="noStrike">
                          <a:solidFill>
                            <a:schemeClr val="dk1"/>
                          </a:solidFill>
                          <a:latin typeface="Times New Roman"/>
                          <a:ea typeface="Times New Roman"/>
                          <a:cs typeface="Times New Roman"/>
                          <a:sym typeface="Times New Roman"/>
                        </a:rPr>
                        <a:t> </a:t>
                      </a:r>
                      <a:r>
                        <a:rPr lang="en" sz="1100" u="none" cap="none" strike="noStrike">
                          <a:solidFill>
                            <a:schemeClr val="dk1"/>
                          </a:solidFill>
                          <a:latin typeface="Times New Roman"/>
                          <a:ea typeface="Times New Roman"/>
                          <a:cs typeface="Times New Roman"/>
                          <a:sym typeface="Times New Roman"/>
                        </a:rPr>
                        <a:t>2023</a:t>
                      </a:r>
                      <a:endParaRPr sz="18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solidFill>
                            <a:srgbClr val="1F1F1F"/>
                          </a:solidFill>
                          <a:latin typeface="Times New Roman"/>
                          <a:ea typeface="Times New Roman"/>
                          <a:cs typeface="Times New Roman"/>
                          <a:sym typeface="Times New Roman"/>
                        </a:rPr>
                        <a:t>Rahul Sawhney </a:t>
                      </a:r>
                      <a:r>
                        <a:rPr lang="en" sz="1100" u="sng" cap="none" strike="noStrike">
                          <a:solidFill>
                            <a:schemeClr val="hlink"/>
                          </a:solidFill>
                          <a:latin typeface="Times New Roman"/>
                          <a:ea typeface="Times New Roman"/>
                          <a:cs typeface="Times New Roman"/>
                          <a:sym typeface="Times New Roman"/>
                          <a:hlinkClick action="ppaction://hlinksldjump" r:id="rId5"/>
                        </a:rPr>
                        <a:t>[4]</a:t>
                      </a:r>
                      <a:r>
                        <a:rPr b="1" lang="en" sz="1100" u="sng" cap="none" strike="noStrike">
                          <a:solidFill>
                            <a:schemeClr val="hlink"/>
                          </a:solidFill>
                          <a:highlight>
                            <a:srgbClr val="FFFFFF"/>
                          </a:highlight>
                          <a:latin typeface="Times New Roman"/>
                          <a:ea typeface="Times New Roman"/>
                          <a:cs typeface="Times New Roman"/>
                          <a:sym typeface="Times New Roman"/>
                          <a:hlinkClick action="ppaction://hlinksldjump" r:id="rId6"/>
                        </a:rPr>
                        <a:t> </a:t>
                      </a:r>
                      <a:endParaRPr sz="11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rgbClr val="1F1F1F"/>
                          </a:solidFill>
                          <a:latin typeface="Times New Roman"/>
                          <a:ea typeface="Times New Roman"/>
                          <a:cs typeface="Times New Roman"/>
                          <a:sym typeface="Times New Roman"/>
                        </a:rPr>
                        <a:t>A comparative assessment of artificial intelligence models used for early prediction and evaluation of chronic kidney disease</a:t>
                      </a:r>
                      <a:endParaRPr sz="1100" u="none" cap="none" strike="noStrike">
                        <a:solidFill>
                          <a:srgbClr val="1F1F1F"/>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SVM</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81 %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Small and highly specific dataset is used </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921300">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     2022</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solidFill>
                            <a:srgbClr val="4F5671"/>
                          </a:solidFill>
                          <a:highlight>
                            <a:srgbClr val="FFFFFF"/>
                          </a:highlight>
                          <a:latin typeface="Times New Roman"/>
                          <a:ea typeface="Times New Roman"/>
                          <a:cs typeface="Times New Roman"/>
                          <a:sym typeface="Times New Roman"/>
                        </a:rPr>
                        <a:t>Ramesh Chandra Poonia </a:t>
                      </a:r>
                      <a:r>
                        <a:rPr lang="en" sz="1100" u="none" cap="none" strike="noStrike">
                          <a:solidFill>
                            <a:srgbClr val="1F1F1F"/>
                          </a:solidFill>
                          <a:latin typeface="Times New Roman"/>
                          <a:ea typeface="Times New Roman"/>
                          <a:cs typeface="Times New Roman"/>
                          <a:sym typeface="Times New Roman"/>
                        </a:rPr>
                        <a:t>et al. </a:t>
                      </a:r>
                      <a:r>
                        <a:rPr lang="en" sz="1100" u="sng" cap="none" strike="noStrike">
                          <a:solidFill>
                            <a:schemeClr val="hlink"/>
                          </a:solidFill>
                          <a:latin typeface="Times New Roman"/>
                          <a:ea typeface="Times New Roman"/>
                          <a:cs typeface="Times New Roman"/>
                          <a:sym typeface="Times New Roman"/>
                          <a:hlinkClick action="ppaction://hlinksldjump" r:id="rId7"/>
                        </a:rPr>
                        <a:t>[5]</a:t>
                      </a:r>
                      <a:endParaRPr sz="1100" u="none" cap="none" strike="noStrike">
                        <a:solidFill>
                          <a:srgbClr val="1F1F1F"/>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23000"/>
                        </a:lnSpc>
                        <a:spcBef>
                          <a:spcPts val="0"/>
                        </a:spcBef>
                        <a:spcAft>
                          <a:spcPts val="0"/>
                        </a:spcAft>
                        <a:buClr>
                          <a:srgbClr val="000000"/>
                        </a:buClr>
                        <a:buSzPts val="1100"/>
                        <a:buFont typeface="Arial"/>
                        <a:buNone/>
                      </a:pPr>
                      <a:r>
                        <a:rPr lang="en" sz="1100" u="none" cap="none" strike="noStrike">
                          <a:solidFill>
                            <a:schemeClr val="dk1"/>
                          </a:solidFill>
                          <a:highlight>
                            <a:srgbClr val="FFFFFF"/>
                          </a:highlight>
                          <a:latin typeface="Times New Roman"/>
                          <a:ea typeface="Times New Roman"/>
                          <a:cs typeface="Times New Roman"/>
                          <a:sym typeface="Times New Roman"/>
                        </a:rPr>
                        <a:t>Intelligent Diagnostic Prediction and Classification Models for Detection of Kidney Disease</a:t>
                      </a:r>
                      <a:endParaRPr sz="1100" u="none" cap="none" strike="noStrike">
                        <a:solidFill>
                          <a:srgbClr val="1F1F1F"/>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KNN</a:t>
                      </a:r>
                      <a:endParaRPr sz="1100" u="none" cap="none" strike="noStrike">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ANN</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66.25%</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65%</a:t>
                      </a:r>
                      <a:endParaRPr sz="11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Dataset used for training and evaluation contains data from a specific demographic</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0274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p>
                      <a:pPr indent="0" lvl="0" marL="0" marR="0" rtl="0" algn="l">
                        <a:lnSpc>
                          <a:spcPct val="100000"/>
                        </a:lnSpc>
                        <a:spcBef>
                          <a:spcPts val="0"/>
                        </a:spcBef>
                        <a:spcAft>
                          <a:spcPts val="0"/>
                        </a:spcAft>
                        <a:buClr>
                          <a:srgbClr val="000000"/>
                        </a:buClr>
                        <a:buSzPts val="1100"/>
                        <a:buFont typeface="Arial"/>
                        <a:buNone/>
                      </a:pPr>
                      <a:r>
                        <a:rPr lang="en" sz="1100" u="none" cap="none" strike="noStrike"/>
                        <a:t> </a:t>
                      </a:r>
                      <a:r>
                        <a:rPr lang="en" sz="1100" u="none" cap="none" strike="noStrike">
                          <a:solidFill>
                            <a:schemeClr val="dk1"/>
                          </a:solidFill>
                          <a:latin typeface="Times New Roman"/>
                          <a:ea typeface="Times New Roman"/>
                          <a:cs typeface="Times New Roman"/>
                          <a:sym typeface="Times New Roman"/>
                        </a:rPr>
                        <a:t>    2022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highlight>
                            <a:srgbClr val="FFFFFF"/>
                          </a:highlight>
                          <a:latin typeface="Times New Roman"/>
                          <a:ea typeface="Times New Roman"/>
                          <a:cs typeface="Times New Roman"/>
                          <a:sym typeface="Times New Roman"/>
                        </a:rPr>
                        <a:t>Md Mahedi Hassan et al.</a:t>
                      </a:r>
                      <a:endParaRPr sz="1100" u="none" cap="none" strike="noStrike">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lang="en" sz="1000" u="sng" cap="none" strike="noStrike">
                          <a:solidFill>
                            <a:schemeClr val="hlink"/>
                          </a:solidFill>
                          <a:highlight>
                            <a:srgbClr val="FFFFFF"/>
                          </a:highlight>
                          <a:hlinkClick action="ppaction://hlinksldjump" r:id="rId8"/>
                        </a:rPr>
                        <a:t>[6]</a:t>
                      </a:r>
                      <a:endParaRPr sz="1000" u="none" cap="none" strike="noStrike">
                        <a:highlight>
                          <a:srgbClr val="FFFFFF"/>
                        </a:highlight>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23913"/>
                        </a:lnSpc>
                        <a:spcBef>
                          <a:spcPts val="0"/>
                        </a:spcBef>
                        <a:spcAft>
                          <a:spcPts val="0"/>
                        </a:spcAft>
                        <a:buClr>
                          <a:srgbClr val="000000"/>
                        </a:buClr>
                        <a:buSzPts val="1100"/>
                        <a:buFont typeface="Arial"/>
                        <a:buNone/>
                      </a:pPr>
                      <a:r>
                        <a:rPr lang="en" sz="1100" u="none" cap="none" strike="noStrike">
                          <a:solidFill>
                            <a:srgbClr val="333333"/>
                          </a:solidFill>
                          <a:highlight>
                            <a:srgbClr val="FFFFFF"/>
                          </a:highlight>
                          <a:latin typeface="Times New Roman"/>
                          <a:ea typeface="Times New Roman"/>
                          <a:cs typeface="Times New Roman"/>
                          <a:sym typeface="Times New Roman"/>
                        </a:rPr>
                        <a:t>An Ensemble Learning Approach for Chronic Kidney Disease Prediction Using Different Machine Learning Algorithms with Correlation Based Feature Selection</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KNN</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800"/>
                        <a:buFont typeface="Arial"/>
                        <a:buNone/>
                      </a:pPr>
                      <a:r>
                        <a:rPr lang="en" sz="1100" u="none" cap="none" strike="noStrike">
                          <a:solidFill>
                            <a:schemeClr val="dk1"/>
                          </a:solidFill>
                          <a:latin typeface="Times New Roman"/>
                          <a:ea typeface="Times New Roman"/>
                          <a:cs typeface="Times New Roman"/>
                          <a:sym typeface="Times New Roman"/>
                        </a:rPr>
                        <a:t>SVM </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800"/>
                        <a:buFont typeface="Arial"/>
                        <a:buNone/>
                      </a:pPr>
                      <a:r>
                        <a:rPr lang="en" sz="1100" u="none" cap="none" strike="noStrike">
                          <a:solidFill>
                            <a:schemeClr val="dk1"/>
                          </a:solidFill>
                          <a:latin typeface="Times New Roman"/>
                          <a:ea typeface="Times New Roman"/>
                          <a:cs typeface="Times New Roman"/>
                          <a:sym typeface="Times New Roman"/>
                        </a:rPr>
                        <a:t>87.29 %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800"/>
                        <a:buFont typeface="Arial"/>
                        <a:buNone/>
                      </a:pPr>
                      <a:r>
                        <a:rPr lang="en" sz="1100" u="none" cap="none" strike="noStrike">
                          <a:solidFill>
                            <a:schemeClr val="dk1"/>
                          </a:solidFill>
                          <a:latin typeface="Times New Roman"/>
                          <a:ea typeface="Times New Roman"/>
                          <a:cs typeface="Times New Roman"/>
                          <a:sym typeface="Times New Roman"/>
                        </a:rPr>
                        <a:t>89.17 %</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Correlation method used may not be ideal for non-linear relationships.</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cxnSp>
        <p:nvCxnSpPr>
          <p:cNvPr id="173" name="Google Shape;173;p32"/>
          <p:cNvCxnSpPr/>
          <p:nvPr/>
        </p:nvCxnSpPr>
        <p:spPr>
          <a:xfrm rot="10800000">
            <a:off x="4398056" y="2192569"/>
            <a:ext cx="0" cy="13050"/>
          </a:xfrm>
          <a:prstGeom prst="straightConnector1">
            <a:avLst/>
          </a:prstGeom>
          <a:noFill/>
          <a:ln cap="flat" cmpd="sng" w="9525">
            <a:solidFill>
              <a:schemeClr val="dk2"/>
            </a:solidFill>
            <a:prstDash val="solid"/>
            <a:round/>
            <a:headEnd len="sm" w="sm" type="none"/>
            <a:tailEnd len="sm" w="sm" type="none"/>
          </a:ln>
        </p:spPr>
      </p:cxnSp>
      <p:pic>
        <p:nvPicPr>
          <p:cNvPr id="174" name="Google Shape;174;p32"/>
          <p:cNvPicPr preferRelativeResize="0"/>
          <p:nvPr/>
        </p:nvPicPr>
        <p:blipFill>
          <a:blip r:embed="rId9">
            <a:alphaModFix/>
          </a:blip>
          <a:stretch>
            <a:fillRect/>
          </a:stretch>
        </p:blipFill>
        <p:spPr>
          <a:xfrm>
            <a:off x="6796675" y="81650"/>
            <a:ext cx="2347325" cy="490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33"/>
          <p:cNvPicPr preferRelativeResize="0"/>
          <p:nvPr/>
        </p:nvPicPr>
        <p:blipFill rotWithShape="1">
          <a:blip r:embed="rId3">
            <a:alphaModFix/>
          </a:blip>
          <a:srcRect b="0" l="0" r="0" t="0"/>
          <a:stretch/>
        </p:blipFill>
        <p:spPr>
          <a:xfrm>
            <a:off x="0" y="572625"/>
            <a:ext cx="9200362" cy="114300"/>
          </a:xfrm>
          <a:prstGeom prst="rect">
            <a:avLst/>
          </a:prstGeom>
          <a:noFill/>
          <a:ln>
            <a:noFill/>
          </a:ln>
        </p:spPr>
      </p:pic>
      <p:sp>
        <p:nvSpPr>
          <p:cNvPr id="180" name="Google Shape;180;p33"/>
          <p:cNvSpPr txBox="1"/>
          <p:nvPr>
            <p:ph type="title"/>
          </p:nvPr>
        </p:nvSpPr>
        <p:spPr>
          <a:xfrm>
            <a:off x="2054081" y="0"/>
            <a:ext cx="3858300"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LITERATURE REVIEW</a:t>
            </a:r>
            <a:endParaRPr b="1">
              <a:latin typeface="Times New Roman"/>
              <a:ea typeface="Times New Roman"/>
              <a:cs typeface="Times New Roman"/>
              <a:sym typeface="Times New Roman"/>
            </a:endParaRPr>
          </a:p>
        </p:txBody>
      </p:sp>
      <p:pic>
        <p:nvPicPr>
          <p:cNvPr id="181" name="Google Shape;181;p33"/>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graphicFrame>
        <p:nvGraphicFramePr>
          <p:cNvPr id="182" name="Google Shape;182;p33"/>
          <p:cNvGraphicFramePr/>
          <p:nvPr/>
        </p:nvGraphicFramePr>
        <p:xfrm>
          <a:off x="140881" y="884025"/>
          <a:ext cx="3000000" cy="3000000"/>
        </p:xfrm>
        <a:graphic>
          <a:graphicData uri="http://schemas.openxmlformats.org/drawingml/2006/table">
            <a:tbl>
              <a:tblPr>
                <a:noFill/>
                <a:tableStyleId>{5440CD11-3904-4C98-91E4-FA9760CC838B}</a:tableStyleId>
              </a:tblPr>
              <a:tblGrid>
                <a:gridCol w="914025"/>
                <a:gridCol w="1586050"/>
                <a:gridCol w="1759350"/>
                <a:gridCol w="1380125"/>
                <a:gridCol w="1499175"/>
                <a:gridCol w="1737300"/>
              </a:tblGrid>
              <a:tr h="747250">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YEAR</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AUTHORS</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TITLE</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MODELS</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Times New Roman"/>
                          <a:ea typeface="Times New Roman"/>
                          <a:cs typeface="Times New Roman"/>
                          <a:sym typeface="Times New Roman"/>
                        </a:rPr>
                        <a:t>  ACCURACY</a:t>
                      </a:r>
                      <a:endParaRPr b="1"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lang="en" sz="1800" u="none" cap="none" strike="noStrike">
                          <a:latin typeface="Times New Roman"/>
                          <a:ea typeface="Times New Roman"/>
                          <a:cs typeface="Times New Roman"/>
                          <a:sym typeface="Times New Roman"/>
                        </a:rPr>
                        <a:t>LIMITATIONS</a:t>
                      </a:r>
                      <a:endParaRPr b="1" sz="18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92205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p>
                      <a:pPr indent="0" lvl="0" marL="0" marR="0" rtl="0" algn="l">
                        <a:lnSpc>
                          <a:spcPct val="100000"/>
                        </a:lnSpc>
                        <a:spcBef>
                          <a:spcPts val="0"/>
                        </a:spcBef>
                        <a:spcAft>
                          <a:spcPts val="0"/>
                        </a:spcAft>
                        <a:buClr>
                          <a:srgbClr val="000000"/>
                        </a:buClr>
                        <a:buSzPts val="1100"/>
                        <a:buFont typeface="Arial"/>
                        <a:buNone/>
                      </a:pPr>
                      <a:r>
                        <a:rPr lang="en" sz="1100" u="none" cap="none" strike="noStrike"/>
                        <a:t>    </a:t>
                      </a:r>
                      <a:r>
                        <a:rPr lang="en" sz="1800" u="none" cap="none" strike="noStrike">
                          <a:solidFill>
                            <a:schemeClr val="dk1"/>
                          </a:solidFill>
                          <a:latin typeface="Times New Roman"/>
                          <a:ea typeface="Times New Roman"/>
                          <a:cs typeface="Times New Roman"/>
                          <a:sym typeface="Times New Roman"/>
                        </a:rPr>
                        <a:t> </a:t>
                      </a:r>
                      <a:r>
                        <a:rPr lang="en" sz="1100" u="none" cap="none" strike="noStrike">
                          <a:solidFill>
                            <a:schemeClr val="dk1"/>
                          </a:solidFill>
                          <a:latin typeface="Times New Roman"/>
                          <a:ea typeface="Times New Roman"/>
                          <a:cs typeface="Times New Roman"/>
                          <a:sym typeface="Times New Roman"/>
                        </a:rPr>
                        <a:t>2022</a:t>
                      </a:r>
                      <a:endParaRPr sz="18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highlight>
                            <a:srgbClr val="FCFCFC"/>
                          </a:highlight>
                          <a:latin typeface="Times New Roman"/>
                          <a:ea typeface="Times New Roman"/>
                          <a:cs typeface="Times New Roman"/>
                          <a:sym typeface="Times New Roman"/>
                        </a:rPr>
                        <a:t>Dibaba Adeba Debal</a:t>
                      </a:r>
                      <a:r>
                        <a:rPr lang="en" sz="1100" u="none" cap="none" strike="noStrike">
                          <a:solidFill>
                            <a:srgbClr val="333333"/>
                          </a:solidFill>
                          <a:highlight>
                            <a:srgbClr val="FCFCFC"/>
                          </a:highlight>
                          <a:latin typeface="Times New Roman"/>
                          <a:ea typeface="Times New Roman"/>
                          <a:cs typeface="Times New Roman"/>
                          <a:sym typeface="Times New Roman"/>
                        </a:rPr>
                        <a:t> et al.</a:t>
                      </a:r>
                      <a:r>
                        <a:rPr lang="en" sz="1100" u="sng" cap="none" strike="noStrike">
                          <a:solidFill>
                            <a:schemeClr val="hlink"/>
                          </a:solidFill>
                          <a:highlight>
                            <a:srgbClr val="FCFCFC"/>
                          </a:highlight>
                          <a:latin typeface="Times New Roman"/>
                          <a:ea typeface="Times New Roman"/>
                          <a:cs typeface="Times New Roman"/>
                          <a:sym typeface="Times New Roman"/>
                          <a:hlinkClick action="ppaction://hlinksldjump" r:id="rId5"/>
                        </a:rPr>
                        <a:t>[7]</a:t>
                      </a:r>
                      <a:endParaRPr sz="11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100"/>
                        <a:buFont typeface="Arial"/>
                        <a:buNone/>
                      </a:pPr>
                      <a:r>
                        <a:rPr lang="en" sz="1100" u="none" cap="none" strike="noStrike">
                          <a:solidFill>
                            <a:srgbClr val="333333"/>
                          </a:solidFill>
                          <a:highlight>
                            <a:srgbClr val="FCFCFC"/>
                          </a:highlight>
                          <a:latin typeface="Times New Roman"/>
                          <a:ea typeface="Times New Roman"/>
                          <a:cs typeface="Times New Roman"/>
                          <a:sym typeface="Times New Roman"/>
                        </a:rPr>
                        <a:t>Chronic kidney disease prediction using machine learning techniques</a:t>
                      </a:r>
                      <a:endParaRPr sz="1100" u="none" cap="none" strike="noStrike">
                        <a:solidFill>
                          <a:srgbClr val="333333"/>
                        </a:solidFill>
                        <a:highlight>
                          <a:srgbClr val="FFFFFF"/>
                        </a:highlight>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XGB</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82.56%</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Traditional machine learning models</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921300">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     2010</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highlight>
                            <a:srgbClr val="FFFFFF"/>
                          </a:highlight>
                          <a:latin typeface="Times New Roman"/>
                          <a:ea typeface="Times New Roman"/>
                          <a:cs typeface="Times New Roman"/>
                          <a:sym typeface="Times New Roman"/>
                        </a:rPr>
                        <a:t>Li-min Wang</a:t>
                      </a:r>
                      <a:r>
                        <a:rPr lang="en" sz="1100" u="none" cap="none" strike="noStrike">
                          <a:solidFill>
                            <a:srgbClr val="4F5671"/>
                          </a:solidFill>
                          <a:highlight>
                            <a:srgbClr val="FFFFFF"/>
                          </a:highlight>
                          <a:latin typeface="Times New Roman"/>
                          <a:ea typeface="Times New Roman"/>
                          <a:cs typeface="Times New Roman"/>
                          <a:sym typeface="Times New Roman"/>
                        </a:rPr>
                        <a:t> </a:t>
                      </a:r>
                      <a:r>
                        <a:rPr lang="en" sz="1100" u="none" cap="none" strike="noStrike">
                          <a:solidFill>
                            <a:srgbClr val="1F1F1F"/>
                          </a:solidFill>
                          <a:latin typeface="Times New Roman"/>
                          <a:ea typeface="Times New Roman"/>
                          <a:cs typeface="Times New Roman"/>
                          <a:sym typeface="Times New Roman"/>
                        </a:rPr>
                        <a:t>et al. </a:t>
                      </a:r>
                      <a:r>
                        <a:rPr lang="en" sz="1100" u="sng" cap="none" strike="noStrike">
                          <a:solidFill>
                            <a:schemeClr val="hlink"/>
                          </a:solidFill>
                          <a:latin typeface="Times New Roman"/>
                          <a:ea typeface="Times New Roman"/>
                          <a:cs typeface="Times New Roman"/>
                          <a:sym typeface="Times New Roman"/>
                          <a:hlinkClick action="ppaction://hlinksldjump" r:id="rId6"/>
                        </a:rPr>
                        <a:t>[8]</a:t>
                      </a:r>
                      <a:endParaRPr sz="1100" u="none" cap="none" strike="noStrike">
                        <a:solidFill>
                          <a:srgbClr val="1F1F1F"/>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23913"/>
                        </a:lnSpc>
                        <a:spcBef>
                          <a:spcPts val="0"/>
                        </a:spcBef>
                        <a:spcAft>
                          <a:spcPts val="0"/>
                        </a:spcAft>
                        <a:buClr>
                          <a:srgbClr val="000000"/>
                        </a:buClr>
                        <a:buSzPts val="1100"/>
                        <a:buFont typeface="Arial"/>
                        <a:buNone/>
                      </a:pPr>
                      <a:r>
                        <a:rPr lang="en" sz="1100" u="none" cap="none" strike="noStrike">
                          <a:solidFill>
                            <a:srgbClr val="333333"/>
                          </a:solidFill>
                          <a:highlight>
                            <a:srgbClr val="FFFFFF"/>
                          </a:highlight>
                          <a:latin typeface="Times New Roman"/>
                          <a:ea typeface="Times New Roman"/>
                          <a:cs typeface="Times New Roman"/>
                          <a:sym typeface="Times New Roman"/>
                        </a:rPr>
                        <a:t>Feature Selection and Prediction of Sub-health State Using SVM-RFE</a:t>
                      </a:r>
                      <a:endParaRPr sz="1100" u="none" cap="none" strike="noStrike">
                        <a:solidFill>
                          <a:schemeClr val="dk1"/>
                        </a:solidFill>
                        <a:highlight>
                          <a:srgbClr val="FFFFFF"/>
                        </a:highlight>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SVM</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Times New Roman"/>
                          <a:ea typeface="Times New Roman"/>
                          <a:cs typeface="Times New Roman"/>
                          <a:sym typeface="Times New Roman"/>
                        </a:rPr>
                        <a:t>80.35%</a:t>
                      </a:r>
                      <a:endParaRPr sz="1100" u="none" cap="none" strike="noStrike">
                        <a:solidFill>
                          <a:schemeClr val="dk1"/>
                        </a:solidFill>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800"/>
                        <a:buFont typeface="Arial"/>
                        <a:buNone/>
                      </a:pPr>
                      <a:r>
                        <a:rPr lang="en" sz="1100" u="none" cap="none" strike="noStrike">
                          <a:solidFill>
                            <a:schemeClr val="dk1"/>
                          </a:solidFill>
                          <a:latin typeface="Times New Roman"/>
                          <a:ea typeface="Times New Roman"/>
                          <a:cs typeface="Times New Roman"/>
                          <a:sym typeface="Times New Roman"/>
                        </a:rPr>
                        <a:t>Uses only one feature selection method</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0274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p>
                      <a:pPr indent="0" lvl="0" marL="0" marR="0" rtl="0" algn="l">
                        <a:lnSpc>
                          <a:spcPct val="100000"/>
                        </a:lnSpc>
                        <a:spcBef>
                          <a:spcPts val="0"/>
                        </a:spcBef>
                        <a:spcAft>
                          <a:spcPts val="0"/>
                        </a:spcAft>
                        <a:buClr>
                          <a:srgbClr val="000000"/>
                        </a:buClr>
                        <a:buSzPts val="1100"/>
                        <a:buFont typeface="Arial"/>
                        <a:buNone/>
                      </a:pPr>
                      <a:r>
                        <a:rPr lang="en" sz="1100" u="none" cap="none" strike="noStrike"/>
                        <a:t> </a:t>
                      </a:r>
                      <a:r>
                        <a:rPr lang="en" sz="1100" u="none" cap="none" strike="noStrike">
                          <a:solidFill>
                            <a:schemeClr val="dk1"/>
                          </a:solidFill>
                          <a:latin typeface="Times New Roman"/>
                          <a:ea typeface="Times New Roman"/>
                          <a:cs typeface="Times New Roman"/>
                          <a:sym typeface="Times New Roman"/>
                        </a:rPr>
                        <a:t>   2022 </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highlight>
                            <a:srgbClr val="FFFFFF"/>
                          </a:highlight>
                          <a:latin typeface="Times New Roman"/>
                          <a:ea typeface="Times New Roman"/>
                          <a:cs typeface="Times New Roman"/>
                          <a:sym typeface="Times New Roman"/>
                        </a:rPr>
                        <a:t>Pronab Ghosh et al.</a:t>
                      </a:r>
                      <a:r>
                        <a:rPr lang="en" sz="1000" u="none" cap="none" strike="noStrike">
                          <a:highlight>
                            <a:srgbClr val="FFFFFF"/>
                          </a:highlight>
                        </a:rPr>
                        <a:t> </a:t>
                      </a:r>
                      <a:r>
                        <a:rPr lang="en" sz="1000" u="sng" cap="none" strike="noStrike">
                          <a:solidFill>
                            <a:schemeClr val="hlink"/>
                          </a:solidFill>
                          <a:highlight>
                            <a:srgbClr val="FFFFFF"/>
                          </a:highlight>
                          <a:hlinkClick action="ppaction://hlinksldjump" r:id="rId7"/>
                        </a:rPr>
                        <a:t>[9]</a:t>
                      </a:r>
                      <a:endParaRPr sz="1000" u="none" cap="none" strike="noStrike">
                        <a:highlight>
                          <a:srgbClr val="FFFFFF"/>
                        </a:highlight>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800"/>
                        <a:buFont typeface="Arial"/>
                        <a:buNone/>
                      </a:pPr>
                      <a:r>
                        <a:rPr lang="en" sz="1100" u="none" cap="none" strike="noStrike">
                          <a:latin typeface="Times New Roman"/>
                          <a:ea typeface="Times New Roman"/>
                          <a:cs typeface="Times New Roman"/>
                          <a:sym typeface="Times New Roman"/>
                        </a:rPr>
                        <a:t>Efficient Prediction of Cardiovascular Disease Using Machine Learning Algorithms With Relief and LASSO Feature Selection Techniques</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KNN</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Times New Roman"/>
                          <a:ea typeface="Times New Roman"/>
                          <a:cs typeface="Times New Roman"/>
                          <a:sym typeface="Times New Roman"/>
                        </a:rPr>
                        <a:t>83.61</a:t>
                      </a:r>
                      <a:endParaRPr sz="1100" u="none" cap="none" strike="noStrike">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800"/>
                        <a:buFont typeface="Arial"/>
                        <a:buNone/>
                      </a:pPr>
                      <a:r>
                        <a:rPr lang="en" sz="1100" u="none" cap="none" strike="noStrike">
                          <a:solidFill>
                            <a:srgbClr val="333333"/>
                          </a:solidFill>
                          <a:highlight>
                            <a:schemeClr val="lt1"/>
                          </a:highlight>
                          <a:latin typeface="Times New Roman"/>
                          <a:ea typeface="Times New Roman"/>
                          <a:cs typeface="Times New Roman"/>
                          <a:sym typeface="Times New Roman"/>
                        </a:rPr>
                        <a:t>High level of missing values in the dataset</a:t>
                      </a:r>
                      <a:endParaRPr sz="1100" u="none" cap="none" strike="noStrike"/>
                    </a:p>
                  </a:txBody>
                  <a:tcPr marT="68575" marB="68575" marR="68575" marL="6857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cxnSp>
        <p:nvCxnSpPr>
          <p:cNvPr id="183" name="Google Shape;183;p33"/>
          <p:cNvCxnSpPr/>
          <p:nvPr/>
        </p:nvCxnSpPr>
        <p:spPr>
          <a:xfrm rot="10800000">
            <a:off x="4398056" y="2192569"/>
            <a:ext cx="0" cy="13050"/>
          </a:xfrm>
          <a:prstGeom prst="straightConnector1">
            <a:avLst/>
          </a:prstGeom>
          <a:noFill/>
          <a:ln cap="flat" cmpd="sng" w="9525">
            <a:solidFill>
              <a:schemeClr val="dk2"/>
            </a:solidFill>
            <a:prstDash val="solid"/>
            <a:round/>
            <a:headEnd len="sm" w="sm" type="none"/>
            <a:tailEnd len="sm" w="sm" type="none"/>
          </a:ln>
        </p:spPr>
      </p:cxnSp>
      <p:pic>
        <p:nvPicPr>
          <p:cNvPr id="184" name="Google Shape;184;p33"/>
          <p:cNvPicPr preferRelativeResize="0"/>
          <p:nvPr/>
        </p:nvPicPr>
        <p:blipFill>
          <a:blip r:embed="rId8">
            <a:alphaModFix/>
          </a:blip>
          <a:stretch>
            <a:fillRect/>
          </a:stretch>
        </p:blipFill>
        <p:spPr>
          <a:xfrm>
            <a:off x="6400375" y="0"/>
            <a:ext cx="2616525" cy="572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34"/>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190" name="Google Shape;190;p34"/>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sp>
        <p:nvSpPr>
          <p:cNvPr id="191" name="Google Shape;191;p34"/>
          <p:cNvSpPr txBox="1"/>
          <p:nvPr>
            <p:ph type="title"/>
          </p:nvPr>
        </p:nvSpPr>
        <p:spPr>
          <a:xfrm>
            <a:off x="-28181" y="-25618"/>
            <a:ext cx="8520525" cy="572625"/>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0714"/>
              <a:buNone/>
            </a:pPr>
            <a:r>
              <a:rPr b="1" lang="en">
                <a:latin typeface="Times New Roman"/>
                <a:ea typeface="Times New Roman"/>
                <a:cs typeface="Times New Roman"/>
                <a:sym typeface="Times New Roman"/>
              </a:rPr>
              <a:t>DATASET</a:t>
            </a:r>
            <a:endParaRPr b="1">
              <a:latin typeface="Times New Roman"/>
              <a:ea typeface="Times New Roman"/>
              <a:cs typeface="Times New Roman"/>
              <a:sym typeface="Times New Roman"/>
            </a:endParaRPr>
          </a:p>
        </p:txBody>
      </p:sp>
      <p:sp>
        <p:nvSpPr>
          <p:cNvPr id="192" name="Google Shape;192;p34"/>
          <p:cNvSpPr txBox="1"/>
          <p:nvPr>
            <p:ph idx="1" type="body"/>
          </p:nvPr>
        </p:nvSpPr>
        <p:spPr>
          <a:xfrm>
            <a:off x="277725" y="725438"/>
            <a:ext cx="8401500" cy="4418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100"/>
              </a:spcBef>
              <a:spcAft>
                <a:spcPts val="0"/>
              </a:spcAft>
              <a:buClr>
                <a:schemeClr val="dk1"/>
              </a:buClr>
              <a:buSzPts val="800"/>
              <a:buFont typeface="Arial"/>
              <a:buNone/>
            </a:pPr>
            <a:r>
              <a:rPr b="1" lang="en" sz="1500">
                <a:solidFill>
                  <a:schemeClr val="dk1"/>
                </a:solidFill>
                <a:latin typeface="Times New Roman"/>
                <a:ea typeface="Times New Roman"/>
                <a:cs typeface="Times New Roman"/>
                <a:sym typeface="Times New Roman"/>
              </a:rPr>
              <a:t>Dataset Overview</a:t>
            </a:r>
            <a:endParaRPr b="1" sz="1500">
              <a:solidFill>
                <a:schemeClr val="dk1"/>
              </a:solidFill>
              <a:latin typeface="Times New Roman"/>
              <a:ea typeface="Times New Roman"/>
              <a:cs typeface="Times New Roman"/>
              <a:sym typeface="Times New Roman"/>
            </a:endParaRPr>
          </a:p>
          <a:p>
            <a:pPr indent="-260350" lvl="0" marL="342900" rtl="0" algn="just">
              <a:lnSpc>
                <a:spcPct val="115000"/>
              </a:lnSpc>
              <a:spcBef>
                <a:spcPts val="90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Name:</a:t>
            </a:r>
            <a:r>
              <a:rPr lang="en" sz="1500">
                <a:solidFill>
                  <a:schemeClr val="dk1"/>
                </a:solidFill>
                <a:latin typeface="Times New Roman"/>
                <a:ea typeface="Times New Roman"/>
                <a:cs typeface="Times New Roman"/>
                <a:sym typeface="Times New Roman"/>
              </a:rPr>
              <a:t> </a:t>
            </a:r>
            <a:r>
              <a:rPr lang="en" sz="1500" u="sng">
                <a:solidFill>
                  <a:schemeClr val="hlink"/>
                </a:solidFill>
                <a:latin typeface="Times New Roman"/>
                <a:ea typeface="Times New Roman"/>
                <a:cs typeface="Times New Roman"/>
                <a:sym typeface="Times New Roman"/>
                <a:hlinkClick r:id="rId5"/>
              </a:rPr>
              <a:t>Chronic Kidney Disease (CKD) Dataset</a:t>
            </a:r>
            <a:endParaRPr sz="1500">
              <a:solidFill>
                <a:schemeClr val="dk1"/>
              </a:solidFill>
              <a:latin typeface="Times New Roman"/>
              <a:ea typeface="Times New Roman"/>
              <a:cs typeface="Times New Roman"/>
              <a:sym typeface="Times New Roman"/>
            </a:endParaRPr>
          </a:p>
          <a:p>
            <a:pPr indent="-260350" lvl="0" marL="342900" rtl="0" algn="just">
              <a:lnSpc>
                <a:spcPct val="115000"/>
              </a:lnSpc>
              <a:spcBef>
                <a:spcPts val="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Source:</a:t>
            </a:r>
            <a:r>
              <a:rPr lang="en" sz="1500">
                <a:solidFill>
                  <a:schemeClr val="dk1"/>
                </a:solidFill>
                <a:latin typeface="Times New Roman"/>
                <a:ea typeface="Times New Roman"/>
                <a:cs typeface="Times New Roman"/>
                <a:sym typeface="Times New Roman"/>
              </a:rPr>
              <a:t> UCI Machine Learning Repository</a:t>
            </a:r>
            <a:endParaRPr sz="1500">
              <a:solidFill>
                <a:schemeClr val="dk1"/>
              </a:solidFill>
              <a:latin typeface="Times New Roman"/>
              <a:ea typeface="Times New Roman"/>
              <a:cs typeface="Times New Roman"/>
              <a:sym typeface="Times New Roman"/>
            </a:endParaRPr>
          </a:p>
          <a:p>
            <a:pPr indent="-260350" lvl="0" marL="342900" rtl="0" algn="just">
              <a:lnSpc>
                <a:spcPct val="115000"/>
              </a:lnSpc>
              <a:spcBef>
                <a:spcPts val="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Number of Records:</a:t>
            </a:r>
            <a:r>
              <a:rPr lang="en" sz="1500">
                <a:solidFill>
                  <a:schemeClr val="dk1"/>
                </a:solidFill>
                <a:latin typeface="Times New Roman"/>
                <a:ea typeface="Times New Roman"/>
                <a:cs typeface="Times New Roman"/>
                <a:sym typeface="Times New Roman"/>
              </a:rPr>
              <a:t> 400</a:t>
            </a:r>
            <a:endParaRPr sz="1500">
              <a:solidFill>
                <a:schemeClr val="dk1"/>
              </a:solidFill>
              <a:latin typeface="Times New Roman"/>
              <a:ea typeface="Times New Roman"/>
              <a:cs typeface="Times New Roman"/>
              <a:sym typeface="Times New Roman"/>
            </a:endParaRPr>
          </a:p>
          <a:p>
            <a:pPr indent="-260350" lvl="0" marL="342900" rtl="0" algn="just">
              <a:lnSpc>
                <a:spcPct val="115000"/>
              </a:lnSpc>
              <a:spcBef>
                <a:spcPts val="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Number of Features:</a:t>
            </a:r>
            <a:r>
              <a:rPr lang="en" sz="1500">
                <a:solidFill>
                  <a:schemeClr val="dk1"/>
                </a:solidFill>
                <a:latin typeface="Times New Roman"/>
                <a:ea typeface="Times New Roman"/>
                <a:cs typeface="Times New Roman"/>
                <a:sym typeface="Times New Roman"/>
              </a:rPr>
              <a:t> 25 (both numerical and categorical)</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900"/>
              </a:spcBef>
              <a:spcAft>
                <a:spcPts val="0"/>
              </a:spcAft>
              <a:buSzPts val="1800"/>
              <a:buNone/>
            </a:pPr>
            <a:r>
              <a:rPr b="1" lang="en" sz="1500">
                <a:solidFill>
                  <a:schemeClr val="dk1"/>
                </a:solidFill>
                <a:latin typeface="Times New Roman"/>
                <a:ea typeface="Times New Roman"/>
                <a:cs typeface="Times New Roman"/>
                <a:sym typeface="Times New Roman"/>
              </a:rPr>
              <a:t>Data Types:</a:t>
            </a:r>
            <a:endParaRPr b="1" sz="1500">
              <a:solidFill>
                <a:schemeClr val="dk1"/>
              </a:solidFill>
              <a:latin typeface="Times New Roman"/>
              <a:ea typeface="Times New Roman"/>
              <a:cs typeface="Times New Roman"/>
              <a:sym typeface="Times New Roman"/>
            </a:endParaRPr>
          </a:p>
          <a:p>
            <a:pPr indent="-260350" lvl="0" marL="342900" rtl="0" algn="just">
              <a:lnSpc>
                <a:spcPct val="115000"/>
              </a:lnSpc>
              <a:spcBef>
                <a:spcPts val="90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Numerical:</a:t>
            </a:r>
            <a:r>
              <a:rPr lang="en" sz="1500">
                <a:solidFill>
                  <a:schemeClr val="dk1"/>
                </a:solidFill>
                <a:latin typeface="Times New Roman"/>
                <a:ea typeface="Times New Roman"/>
                <a:cs typeface="Times New Roman"/>
                <a:sym typeface="Times New Roman"/>
              </a:rPr>
              <a:t> Age, blood pressure, serum creatinine, sodium, potassium, hemoglobin, etc.</a:t>
            </a:r>
            <a:endParaRPr sz="1500">
              <a:solidFill>
                <a:schemeClr val="dk1"/>
              </a:solidFill>
              <a:latin typeface="Times New Roman"/>
              <a:ea typeface="Times New Roman"/>
              <a:cs typeface="Times New Roman"/>
              <a:sym typeface="Times New Roman"/>
            </a:endParaRPr>
          </a:p>
          <a:p>
            <a:pPr indent="-260350" lvl="0" marL="342900" rtl="0" algn="just">
              <a:lnSpc>
                <a:spcPct val="115000"/>
              </a:lnSpc>
              <a:spcBef>
                <a:spcPts val="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Categorical:</a:t>
            </a:r>
            <a:r>
              <a:rPr lang="en" sz="1500">
                <a:solidFill>
                  <a:schemeClr val="dk1"/>
                </a:solidFill>
                <a:latin typeface="Times New Roman"/>
                <a:ea typeface="Times New Roman"/>
                <a:cs typeface="Times New Roman"/>
                <a:sym typeface="Times New Roman"/>
              </a:rPr>
              <a:t> Presence of diabetes, hypertension, anemia, etc.</a:t>
            </a:r>
            <a:endParaRPr sz="1500">
              <a:solidFill>
                <a:schemeClr val="dk1"/>
              </a:solidFill>
              <a:latin typeface="Times New Roman"/>
              <a:ea typeface="Times New Roman"/>
              <a:cs typeface="Times New Roman"/>
              <a:sym typeface="Times New Roman"/>
            </a:endParaRPr>
          </a:p>
          <a:p>
            <a:pPr indent="-260350" lvl="0" marL="342900" rtl="0" algn="just">
              <a:lnSpc>
                <a:spcPct val="115000"/>
              </a:lnSpc>
              <a:spcBef>
                <a:spcPts val="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Binary Labels:</a:t>
            </a:r>
            <a:r>
              <a:rPr lang="en" sz="1500">
                <a:solidFill>
                  <a:schemeClr val="dk1"/>
                </a:solidFill>
                <a:latin typeface="Times New Roman"/>
                <a:ea typeface="Times New Roman"/>
                <a:cs typeface="Times New Roman"/>
                <a:sym typeface="Times New Roman"/>
              </a:rPr>
              <a:t> </a:t>
            </a:r>
            <a:r>
              <a:rPr lang="en" sz="1500">
                <a:solidFill>
                  <a:srgbClr val="CC0000"/>
                </a:solidFill>
                <a:latin typeface="Times New Roman"/>
                <a:ea typeface="Times New Roman"/>
                <a:cs typeface="Times New Roman"/>
                <a:sym typeface="Times New Roman"/>
              </a:rPr>
              <a:t>ckd</a:t>
            </a:r>
            <a:r>
              <a:rPr lang="en" sz="1500">
                <a:solidFill>
                  <a:schemeClr val="dk1"/>
                </a:solidFill>
                <a:latin typeface="Times New Roman"/>
                <a:ea typeface="Times New Roman"/>
                <a:cs typeface="Times New Roman"/>
                <a:sym typeface="Times New Roman"/>
              </a:rPr>
              <a:t> (chronic kidney disease) or </a:t>
            </a:r>
            <a:r>
              <a:rPr lang="en" sz="1500">
                <a:solidFill>
                  <a:srgbClr val="188038"/>
                </a:solidFill>
                <a:latin typeface="Times New Roman"/>
                <a:ea typeface="Times New Roman"/>
                <a:cs typeface="Times New Roman"/>
                <a:sym typeface="Times New Roman"/>
              </a:rPr>
              <a:t>not ckd</a:t>
            </a:r>
            <a:r>
              <a:rPr lang="en" sz="1500">
                <a:solidFill>
                  <a:schemeClr val="dk1"/>
                </a:solidFill>
                <a:latin typeface="Times New Roman"/>
                <a:ea typeface="Times New Roman"/>
                <a:cs typeface="Times New Roman"/>
                <a:sym typeface="Times New Roman"/>
              </a:rPr>
              <a:t> (no kidney disease).</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1100"/>
              </a:spcBef>
              <a:spcAft>
                <a:spcPts val="0"/>
              </a:spcAft>
              <a:buSzPts val="1800"/>
              <a:buNone/>
            </a:pPr>
            <a:r>
              <a:rPr b="1" lang="en" sz="1500">
                <a:solidFill>
                  <a:schemeClr val="dk1"/>
                </a:solidFill>
                <a:latin typeface="Times New Roman"/>
                <a:ea typeface="Times New Roman"/>
                <a:cs typeface="Times New Roman"/>
                <a:sym typeface="Times New Roman"/>
              </a:rPr>
              <a:t>Data Quality &amp; Integrity</a:t>
            </a:r>
            <a:endParaRPr b="1" sz="1500">
              <a:solidFill>
                <a:schemeClr val="dk1"/>
              </a:solidFill>
              <a:latin typeface="Times New Roman"/>
              <a:ea typeface="Times New Roman"/>
              <a:cs typeface="Times New Roman"/>
              <a:sym typeface="Times New Roman"/>
            </a:endParaRPr>
          </a:p>
          <a:p>
            <a:pPr indent="-260350" lvl="0" marL="342900" rtl="0" algn="just">
              <a:lnSpc>
                <a:spcPct val="115000"/>
              </a:lnSpc>
              <a:spcBef>
                <a:spcPts val="90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Missing Values:</a:t>
            </a:r>
            <a:r>
              <a:rPr lang="en" sz="1500">
                <a:solidFill>
                  <a:schemeClr val="dk1"/>
                </a:solidFill>
                <a:latin typeface="Times New Roman"/>
                <a:ea typeface="Times New Roman"/>
                <a:cs typeface="Times New Roman"/>
                <a:sym typeface="Times New Roman"/>
              </a:rPr>
              <a:t> Some features have missing values, especially </a:t>
            </a:r>
            <a:r>
              <a:rPr lang="en" sz="1500">
                <a:solidFill>
                  <a:srgbClr val="1C4587"/>
                </a:solidFill>
                <a:latin typeface="Times New Roman"/>
                <a:ea typeface="Times New Roman"/>
                <a:cs typeface="Times New Roman"/>
                <a:sym typeface="Times New Roman"/>
              </a:rPr>
              <a:t>rbcc</a:t>
            </a:r>
            <a:r>
              <a:rPr lang="en" sz="1500">
                <a:solidFill>
                  <a:srgbClr val="3D85C6"/>
                </a:solidFill>
                <a:latin typeface="Times New Roman"/>
                <a:ea typeface="Times New Roman"/>
                <a:cs typeface="Times New Roman"/>
                <a:sym typeface="Times New Roman"/>
              </a:rPr>
              <a:t> </a:t>
            </a:r>
            <a:r>
              <a:rPr lang="en" sz="1500">
                <a:solidFill>
                  <a:schemeClr val="dk1"/>
                </a:solidFill>
                <a:latin typeface="Times New Roman"/>
                <a:ea typeface="Times New Roman"/>
                <a:cs typeface="Times New Roman"/>
                <a:sym typeface="Times New Roman"/>
              </a:rPr>
              <a:t>and </a:t>
            </a:r>
            <a:r>
              <a:rPr lang="en" sz="1500">
                <a:solidFill>
                  <a:srgbClr val="1C4587"/>
                </a:solidFill>
                <a:latin typeface="Times New Roman"/>
                <a:ea typeface="Times New Roman"/>
                <a:cs typeface="Times New Roman"/>
                <a:sym typeface="Times New Roman"/>
              </a:rPr>
              <a:t>wbcc.</a:t>
            </a:r>
            <a:endParaRPr sz="1500">
              <a:solidFill>
                <a:srgbClr val="1C4587"/>
              </a:solidFill>
              <a:latin typeface="Times New Roman"/>
              <a:ea typeface="Times New Roman"/>
              <a:cs typeface="Times New Roman"/>
              <a:sym typeface="Times New Roman"/>
            </a:endParaRPr>
          </a:p>
          <a:p>
            <a:pPr indent="-260350" lvl="0" marL="342900" rtl="0" algn="just">
              <a:lnSpc>
                <a:spcPct val="115000"/>
              </a:lnSpc>
              <a:spcBef>
                <a:spcPts val="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Duplicates:</a:t>
            </a:r>
            <a:r>
              <a:rPr lang="en" sz="1500">
                <a:solidFill>
                  <a:schemeClr val="dk1"/>
                </a:solidFill>
                <a:latin typeface="Times New Roman"/>
                <a:ea typeface="Times New Roman"/>
                <a:cs typeface="Times New Roman"/>
                <a:sym typeface="Times New Roman"/>
              </a:rPr>
              <a:t> No duplicates in the dataset.</a:t>
            </a:r>
            <a:endParaRPr sz="1500">
              <a:solidFill>
                <a:schemeClr val="dk1"/>
              </a:solidFill>
              <a:latin typeface="Times New Roman"/>
              <a:ea typeface="Times New Roman"/>
              <a:cs typeface="Times New Roman"/>
              <a:sym typeface="Times New Roman"/>
            </a:endParaRPr>
          </a:p>
          <a:p>
            <a:pPr indent="-260350" lvl="0" marL="342900" rtl="0" algn="just">
              <a:lnSpc>
                <a:spcPct val="115000"/>
              </a:lnSpc>
              <a:spcBef>
                <a:spcPts val="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Outliers &amp; Anomalies:</a:t>
            </a:r>
            <a:r>
              <a:rPr lang="en" sz="1500">
                <a:solidFill>
                  <a:schemeClr val="dk1"/>
                </a:solidFill>
                <a:latin typeface="Times New Roman"/>
                <a:ea typeface="Times New Roman"/>
                <a:cs typeface="Times New Roman"/>
                <a:sym typeface="Times New Roman"/>
              </a:rPr>
              <a:t> Some extreme values in </a:t>
            </a:r>
            <a:r>
              <a:rPr lang="en" sz="1500">
                <a:solidFill>
                  <a:srgbClr val="1C4587"/>
                </a:solidFill>
                <a:latin typeface="Times New Roman"/>
                <a:ea typeface="Times New Roman"/>
                <a:cs typeface="Times New Roman"/>
                <a:sym typeface="Times New Roman"/>
              </a:rPr>
              <a:t>sc </a:t>
            </a:r>
            <a:r>
              <a:rPr lang="en" sz="1500">
                <a:solidFill>
                  <a:schemeClr val="dk1"/>
                </a:solidFill>
                <a:latin typeface="Times New Roman"/>
                <a:ea typeface="Times New Roman"/>
                <a:cs typeface="Times New Roman"/>
                <a:sym typeface="Times New Roman"/>
              </a:rPr>
              <a:t>(serum creatinine) and </a:t>
            </a:r>
            <a:r>
              <a:rPr lang="en" sz="1500">
                <a:solidFill>
                  <a:srgbClr val="1C4587"/>
                </a:solidFill>
                <a:latin typeface="Times New Roman"/>
                <a:ea typeface="Times New Roman"/>
                <a:cs typeface="Times New Roman"/>
                <a:sym typeface="Times New Roman"/>
              </a:rPr>
              <a:t>bu</a:t>
            </a:r>
            <a:r>
              <a:rPr lang="en" sz="1500">
                <a:solidFill>
                  <a:schemeClr val="dk1"/>
                </a:solidFill>
                <a:latin typeface="Times New Roman"/>
                <a:ea typeface="Times New Roman"/>
                <a:cs typeface="Times New Roman"/>
                <a:sym typeface="Times New Roman"/>
              </a:rPr>
              <a:t> (blood urea).</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1100"/>
              </a:spcBef>
              <a:spcAft>
                <a:spcPts val="0"/>
              </a:spcAft>
              <a:buSzPts val="1800"/>
              <a:buNone/>
            </a:pPr>
            <a:r>
              <a:t/>
            </a:r>
            <a:endParaRPr b="1" sz="1500">
              <a:solidFill>
                <a:schemeClr val="dk1"/>
              </a:solidFill>
              <a:latin typeface="Times New Roman"/>
              <a:ea typeface="Times New Roman"/>
              <a:cs typeface="Times New Roman"/>
              <a:sym typeface="Times New Roman"/>
            </a:endParaRPr>
          </a:p>
          <a:p>
            <a:pPr indent="0" lvl="0" marL="0" rtl="0" algn="just">
              <a:lnSpc>
                <a:spcPct val="115000"/>
              </a:lnSpc>
              <a:spcBef>
                <a:spcPts val="300"/>
              </a:spcBef>
              <a:spcAft>
                <a:spcPts val="1200"/>
              </a:spcAft>
              <a:buSzPts val="1800"/>
              <a:buNone/>
            </a:pPr>
            <a:r>
              <a:t/>
            </a:r>
            <a:endParaRPr sz="1500">
              <a:latin typeface="Times New Roman"/>
              <a:ea typeface="Times New Roman"/>
              <a:cs typeface="Times New Roman"/>
              <a:sym typeface="Times New Roman"/>
            </a:endParaRPr>
          </a:p>
        </p:txBody>
      </p:sp>
      <p:pic>
        <p:nvPicPr>
          <p:cNvPr id="193" name="Google Shape;193;p34"/>
          <p:cNvPicPr preferRelativeResize="0"/>
          <p:nvPr/>
        </p:nvPicPr>
        <p:blipFill>
          <a:blip r:embed="rId6">
            <a:alphaModFix/>
          </a:blip>
          <a:stretch>
            <a:fillRect/>
          </a:stretch>
        </p:blipFill>
        <p:spPr>
          <a:xfrm>
            <a:off x="6468350" y="81650"/>
            <a:ext cx="2566800" cy="497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35"/>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199" name="Google Shape;199;p35"/>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sp>
        <p:nvSpPr>
          <p:cNvPr id="200" name="Google Shape;200;p35"/>
          <p:cNvSpPr txBox="1"/>
          <p:nvPr>
            <p:ph type="title"/>
          </p:nvPr>
        </p:nvSpPr>
        <p:spPr>
          <a:xfrm>
            <a:off x="3326044" y="-25612"/>
            <a:ext cx="1784925"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DATASET</a:t>
            </a:r>
            <a:endParaRPr b="1">
              <a:latin typeface="Times New Roman"/>
              <a:ea typeface="Times New Roman"/>
              <a:cs typeface="Times New Roman"/>
              <a:sym typeface="Times New Roman"/>
            </a:endParaRPr>
          </a:p>
        </p:txBody>
      </p:sp>
      <p:pic>
        <p:nvPicPr>
          <p:cNvPr id="201" name="Google Shape;201;p35"/>
          <p:cNvPicPr preferRelativeResize="0"/>
          <p:nvPr/>
        </p:nvPicPr>
        <p:blipFill rotWithShape="1">
          <a:blip r:embed="rId5">
            <a:alphaModFix/>
          </a:blip>
          <a:srcRect b="0" l="0" r="0" t="0"/>
          <a:stretch/>
        </p:blipFill>
        <p:spPr>
          <a:xfrm>
            <a:off x="-641034" y="983250"/>
            <a:ext cx="10216969" cy="3689625"/>
          </a:xfrm>
          <a:prstGeom prst="rect">
            <a:avLst/>
          </a:prstGeom>
          <a:noFill/>
          <a:ln>
            <a:noFill/>
          </a:ln>
        </p:spPr>
      </p:pic>
      <p:pic>
        <p:nvPicPr>
          <p:cNvPr id="202" name="Google Shape;202;p35"/>
          <p:cNvPicPr preferRelativeResize="0"/>
          <p:nvPr/>
        </p:nvPicPr>
        <p:blipFill>
          <a:blip r:embed="rId6">
            <a:alphaModFix/>
          </a:blip>
          <a:stretch>
            <a:fillRect/>
          </a:stretch>
        </p:blipFill>
        <p:spPr>
          <a:xfrm>
            <a:off x="6377275" y="81650"/>
            <a:ext cx="2686150" cy="572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36"/>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208" name="Google Shape;208;p36"/>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sp>
        <p:nvSpPr>
          <p:cNvPr id="209" name="Google Shape;209;p36"/>
          <p:cNvSpPr txBox="1"/>
          <p:nvPr>
            <p:ph type="title"/>
          </p:nvPr>
        </p:nvSpPr>
        <p:spPr>
          <a:xfrm>
            <a:off x="3326044" y="-25612"/>
            <a:ext cx="2111175"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WORKPLAN</a:t>
            </a:r>
            <a:endParaRPr b="1">
              <a:latin typeface="Times New Roman"/>
              <a:ea typeface="Times New Roman"/>
              <a:cs typeface="Times New Roman"/>
              <a:sym typeface="Times New Roman"/>
            </a:endParaRPr>
          </a:p>
        </p:txBody>
      </p:sp>
      <p:cxnSp>
        <p:nvCxnSpPr>
          <p:cNvPr id="210" name="Google Shape;210;p36"/>
          <p:cNvCxnSpPr/>
          <p:nvPr/>
        </p:nvCxnSpPr>
        <p:spPr>
          <a:xfrm>
            <a:off x="637913" y="1950506"/>
            <a:ext cx="7300125" cy="0"/>
          </a:xfrm>
          <a:prstGeom prst="straightConnector1">
            <a:avLst/>
          </a:prstGeom>
          <a:noFill/>
          <a:ln cap="flat" cmpd="sng" w="28575">
            <a:solidFill>
              <a:schemeClr val="dk1"/>
            </a:solidFill>
            <a:prstDash val="solid"/>
            <a:round/>
            <a:headEnd len="sm" w="sm" type="none"/>
            <a:tailEnd len="sm" w="sm" type="none"/>
          </a:ln>
          <a:effectLst>
            <a:outerShdw blurRad="57150" rotWithShape="0" algn="bl" dir="5400000" dist="19050">
              <a:schemeClr val="dk1">
                <a:alpha val="41960"/>
              </a:schemeClr>
            </a:outerShdw>
          </a:effectLst>
        </p:spPr>
      </p:cxnSp>
      <p:sp>
        <p:nvSpPr>
          <p:cNvPr id="211" name="Google Shape;211;p36"/>
          <p:cNvSpPr/>
          <p:nvPr/>
        </p:nvSpPr>
        <p:spPr>
          <a:xfrm>
            <a:off x="2440163" y="1893356"/>
            <a:ext cx="151875" cy="114300"/>
          </a:xfrm>
          <a:prstGeom prst="flowChartConnector">
            <a:avLst/>
          </a:prstGeom>
          <a:solidFill>
            <a:schemeClr val="lt2"/>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2" name="Google Shape;212;p36"/>
          <p:cNvSpPr/>
          <p:nvPr/>
        </p:nvSpPr>
        <p:spPr>
          <a:xfrm>
            <a:off x="637913" y="1893356"/>
            <a:ext cx="151875" cy="114300"/>
          </a:xfrm>
          <a:prstGeom prst="flowChartConnector">
            <a:avLst/>
          </a:prstGeom>
          <a:solidFill>
            <a:schemeClr val="lt2"/>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3" name="Google Shape;213;p36"/>
          <p:cNvSpPr/>
          <p:nvPr/>
        </p:nvSpPr>
        <p:spPr>
          <a:xfrm>
            <a:off x="6163463" y="1893356"/>
            <a:ext cx="151875" cy="114300"/>
          </a:xfrm>
          <a:prstGeom prst="flowChartConnector">
            <a:avLst/>
          </a:prstGeom>
          <a:solidFill>
            <a:schemeClr val="lt2"/>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4" name="Google Shape;214;p36"/>
          <p:cNvSpPr/>
          <p:nvPr/>
        </p:nvSpPr>
        <p:spPr>
          <a:xfrm>
            <a:off x="4301813" y="1893356"/>
            <a:ext cx="151875" cy="114300"/>
          </a:xfrm>
          <a:prstGeom prst="flowChartConnector">
            <a:avLst/>
          </a:prstGeom>
          <a:solidFill>
            <a:schemeClr val="lt2"/>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5" name="Google Shape;215;p36"/>
          <p:cNvSpPr/>
          <p:nvPr/>
        </p:nvSpPr>
        <p:spPr>
          <a:xfrm>
            <a:off x="7828238" y="1893356"/>
            <a:ext cx="151875" cy="114300"/>
          </a:xfrm>
          <a:prstGeom prst="flowChartConnector">
            <a:avLst/>
          </a:prstGeom>
          <a:solidFill>
            <a:schemeClr val="lt2"/>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6" name="Google Shape;216;p36"/>
          <p:cNvSpPr txBox="1"/>
          <p:nvPr/>
        </p:nvSpPr>
        <p:spPr>
          <a:xfrm>
            <a:off x="253069" y="1565756"/>
            <a:ext cx="1184625" cy="180675"/>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Times New Roman"/>
                <a:ea typeface="Times New Roman"/>
                <a:cs typeface="Times New Roman"/>
                <a:sym typeface="Times New Roman"/>
              </a:rPr>
              <a:t>IDEATION</a:t>
            </a:r>
            <a:endParaRPr b="0" i="0" sz="1300" u="none" cap="none" strike="noStrike">
              <a:solidFill>
                <a:schemeClr val="dk1"/>
              </a:solidFill>
              <a:latin typeface="Times New Roman"/>
              <a:ea typeface="Times New Roman"/>
              <a:cs typeface="Times New Roman"/>
              <a:sym typeface="Times New Roman"/>
            </a:endParaRPr>
          </a:p>
        </p:txBody>
      </p:sp>
      <p:cxnSp>
        <p:nvCxnSpPr>
          <p:cNvPr id="217" name="Google Shape;217;p36"/>
          <p:cNvCxnSpPr>
            <a:stCxn id="211" idx="4"/>
          </p:cNvCxnSpPr>
          <p:nvPr/>
        </p:nvCxnSpPr>
        <p:spPr>
          <a:xfrm>
            <a:off x="2516100" y="2007656"/>
            <a:ext cx="0" cy="550500"/>
          </a:xfrm>
          <a:prstGeom prst="straightConnector1">
            <a:avLst/>
          </a:prstGeom>
          <a:noFill/>
          <a:ln cap="flat" cmpd="sng" w="19050">
            <a:solidFill>
              <a:schemeClr val="dk2"/>
            </a:solidFill>
            <a:prstDash val="solid"/>
            <a:round/>
            <a:headEnd len="sm" w="sm" type="none"/>
            <a:tailEnd len="sm" w="sm" type="none"/>
          </a:ln>
        </p:spPr>
      </p:cxnSp>
      <p:cxnSp>
        <p:nvCxnSpPr>
          <p:cNvPr id="218" name="Google Shape;218;p36"/>
          <p:cNvCxnSpPr>
            <a:stCxn id="214" idx="4"/>
          </p:cNvCxnSpPr>
          <p:nvPr/>
        </p:nvCxnSpPr>
        <p:spPr>
          <a:xfrm>
            <a:off x="4377750" y="2007656"/>
            <a:ext cx="0" cy="550500"/>
          </a:xfrm>
          <a:prstGeom prst="straightConnector1">
            <a:avLst/>
          </a:prstGeom>
          <a:noFill/>
          <a:ln cap="flat" cmpd="sng" w="19050">
            <a:solidFill>
              <a:schemeClr val="dk2"/>
            </a:solidFill>
            <a:prstDash val="solid"/>
            <a:round/>
            <a:headEnd len="sm" w="sm" type="none"/>
            <a:tailEnd len="sm" w="sm" type="none"/>
          </a:ln>
        </p:spPr>
      </p:cxnSp>
      <p:cxnSp>
        <p:nvCxnSpPr>
          <p:cNvPr id="219" name="Google Shape;219;p36"/>
          <p:cNvCxnSpPr>
            <a:stCxn id="213" idx="4"/>
          </p:cNvCxnSpPr>
          <p:nvPr/>
        </p:nvCxnSpPr>
        <p:spPr>
          <a:xfrm>
            <a:off x="6239400" y="2007656"/>
            <a:ext cx="0" cy="550500"/>
          </a:xfrm>
          <a:prstGeom prst="straightConnector1">
            <a:avLst/>
          </a:prstGeom>
          <a:noFill/>
          <a:ln cap="flat" cmpd="sng" w="19050">
            <a:solidFill>
              <a:schemeClr val="dk2"/>
            </a:solidFill>
            <a:prstDash val="solid"/>
            <a:round/>
            <a:headEnd len="sm" w="sm" type="none"/>
            <a:tailEnd len="sm" w="sm" type="none"/>
          </a:ln>
        </p:spPr>
      </p:cxnSp>
      <p:sp>
        <p:nvSpPr>
          <p:cNvPr id="220" name="Google Shape;220;p36"/>
          <p:cNvSpPr txBox="1"/>
          <p:nvPr/>
        </p:nvSpPr>
        <p:spPr>
          <a:xfrm>
            <a:off x="7270913" y="1534594"/>
            <a:ext cx="1620000" cy="243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Times New Roman"/>
                <a:ea typeface="Times New Roman"/>
                <a:cs typeface="Times New Roman"/>
                <a:sym typeface="Times New Roman"/>
              </a:rPr>
              <a:t>FINAL REVIEW</a:t>
            </a:r>
            <a:endParaRPr b="0" i="0" sz="1300" u="none" cap="none" strike="noStrike">
              <a:solidFill>
                <a:schemeClr val="dk1"/>
              </a:solidFill>
              <a:latin typeface="Times New Roman"/>
              <a:ea typeface="Times New Roman"/>
              <a:cs typeface="Times New Roman"/>
              <a:sym typeface="Times New Roman"/>
            </a:endParaRPr>
          </a:p>
        </p:txBody>
      </p:sp>
      <p:sp>
        <p:nvSpPr>
          <p:cNvPr id="221" name="Google Shape;221;p36"/>
          <p:cNvSpPr txBox="1"/>
          <p:nvPr/>
        </p:nvSpPr>
        <p:spPr>
          <a:xfrm>
            <a:off x="1964288" y="1534594"/>
            <a:ext cx="1336500" cy="243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Times New Roman"/>
                <a:ea typeface="Times New Roman"/>
                <a:cs typeface="Times New Roman"/>
                <a:sym typeface="Times New Roman"/>
              </a:rPr>
              <a:t>ZERO REVIEW</a:t>
            </a:r>
            <a:endParaRPr b="0" i="0" sz="1300" u="none" cap="none" strike="noStrike">
              <a:solidFill>
                <a:schemeClr val="dk1"/>
              </a:solidFill>
              <a:latin typeface="Times New Roman"/>
              <a:ea typeface="Times New Roman"/>
              <a:cs typeface="Times New Roman"/>
              <a:sym typeface="Times New Roman"/>
            </a:endParaRPr>
          </a:p>
        </p:txBody>
      </p:sp>
      <p:sp>
        <p:nvSpPr>
          <p:cNvPr id="222" name="Google Shape;222;p36"/>
          <p:cNvSpPr txBox="1"/>
          <p:nvPr/>
        </p:nvSpPr>
        <p:spPr>
          <a:xfrm>
            <a:off x="3827381" y="1534594"/>
            <a:ext cx="1498500" cy="2430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Times New Roman"/>
                <a:ea typeface="Times New Roman"/>
                <a:cs typeface="Times New Roman"/>
                <a:sym typeface="Times New Roman"/>
              </a:rPr>
              <a:t>1ST REVIEW</a:t>
            </a:r>
            <a:endParaRPr b="0" i="0" sz="1300" u="none" cap="none" strike="noStrike">
              <a:solidFill>
                <a:schemeClr val="dk1"/>
              </a:solidFill>
              <a:latin typeface="Times New Roman"/>
              <a:ea typeface="Times New Roman"/>
              <a:cs typeface="Times New Roman"/>
              <a:sym typeface="Times New Roman"/>
            </a:endParaRPr>
          </a:p>
        </p:txBody>
      </p:sp>
      <p:sp>
        <p:nvSpPr>
          <p:cNvPr id="223" name="Google Shape;223;p36"/>
          <p:cNvSpPr txBox="1"/>
          <p:nvPr/>
        </p:nvSpPr>
        <p:spPr>
          <a:xfrm>
            <a:off x="5700413" y="1534594"/>
            <a:ext cx="1336500" cy="180675"/>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Times New Roman"/>
                <a:ea typeface="Times New Roman"/>
                <a:cs typeface="Times New Roman"/>
                <a:sym typeface="Times New Roman"/>
              </a:rPr>
              <a:t>2ND REVIEW</a:t>
            </a:r>
            <a:endParaRPr b="0" i="0" sz="1300" u="none" cap="none" strike="noStrike">
              <a:solidFill>
                <a:schemeClr val="dk1"/>
              </a:solidFill>
              <a:latin typeface="Times New Roman"/>
              <a:ea typeface="Times New Roman"/>
              <a:cs typeface="Times New Roman"/>
              <a:sym typeface="Times New Roman"/>
            </a:endParaRPr>
          </a:p>
        </p:txBody>
      </p:sp>
      <p:sp>
        <p:nvSpPr>
          <p:cNvPr id="224" name="Google Shape;224;p36"/>
          <p:cNvSpPr txBox="1"/>
          <p:nvPr/>
        </p:nvSpPr>
        <p:spPr>
          <a:xfrm>
            <a:off x="968438" y="2552456"/>
            <a:ext cx="2332350" cy="1345500"/>
          </a:xfrm>
          <a:prstGeom prst="rect">
            <a:avLst/>
          </a:prstGeom>
          <a:noFill/>
          <a:ln>
            <a:noFill/>
          </a:ln>
        </p:spPr>
        <p:txBody>
          <a:bodyPr anchorCtr="0" anchor="t" bIns="68575" lIns="68575" spcFirstLastPara="1" rIns="68575" wrap="square" tIns="68575">
            <a:noAutofit/>
          </a:bodyPr>
          <a:lstStyle/>
          <a:p>
            <a:pPr indent="-254000" lvl="0" marL="342900" marR="0" rtl="0" algn="l">
              <a:lnSpc>
                <a:spcPct val="100000"/>
              </a:lnSpc>
              <a:spcBef>
                <a:spcPts val="0"/>
              </a:spcBef>
              <a:spcAft>
                <a:spcPts val="0"/>
              </a:spcAft>
              <a:buClr>
                <a:schemeClr val="dk1"/>
              </a:buClr>
              <a:buSzPts val="1400"/>
              <a:buFont typeface="Times New Roman"/>
              <a:buAutoNum type="arabicPeriod"/>
            </a:pPr>
            <a:r>
              <a:rPr b="0" i="0" lang="en" sz="1400" u="none" cap="none" strike="noStrike">
                <a:solidFill>
                  <a:schemeClr val="dk1"/>
                </a:solidFill>
                <a:latin typeface="Times New Roman"/>
                <a:ea typeface="Times New Roman"/>
                <a:cs typeface="Times New Roman"/>
                <a:sym typeface="Times New Roman"/>
              </a:rPr>
              <a:t>Understanding the approach towards the problem  </a:t>
            </a:r>
            <a:endParaRPr b="0" i="0" sz="1400" u="none" cap="none" strike="noStrike">
              <a:solidFill>
                <a:schemeClr val="dk1"/>
              </a:solidFill>
              <a:latin typeface="Times New Roman"/>
              <a:ea typeface="Times New Roman"/>
              <a:cs typeface="Times New Roman"/>
              <a:sym typeface="Times New Roman"/>
            </a:endParaRPr>
          </a:p>
          <a:p>
            <a:pPr indent="-254000" lvl="0" marL="342900" marR="0" rtl="0" algn="l">
              <a:lnSpc>
                <a:spcPct val="100000"/>
              </a:lnSpc>
              <a:spcBef>
                <a:spcPts val="0"/>
              </a:spcBef>
              <a:spcAft>
                <a:spcPts val="0"/>
              </a:spcAft>
              <a:buClr>
                <a:schemeClr val="dk1"/>
              </a:buClr>
              <a:buSzPts val="1400"/>
              <a:buFont typeface="Times New Roman"/>
              <a:buAutoNum type="arabicPeriod"/>
            </a:pPr>
            <a:r>
              <a:rPr b="0" i="0" lang="en" sz="1400" u="none" cap="none" strike="noStrike">
                <a:solidFill>
                  <a:schemeClr val="dk1"/>
                </a:solidFill>
                <a:latin typeface="Times New Roman"/>
                <a:ea typeface="Times New Roman"/>
                <a:cs typeface="Times New Roman"/>
                <a:sym typeface="Times New Roman"/>
              </a:rPr>
              <a:t>Literature review and a implementable roadmap</a:t>
            </a:r>
            <a:endParaRPr b="0" i="0" sz="1400" u="none" cap="none" strike="noStrike">
              <a:solidFill>
                <a:schemeClr val="dk1"/>
              </a:solidFill>
              <a:latin typeface="Times New Roman"/>
              <a:ea typeface="Times New Roman"/>
              <a:cs typeface="Times New Roman"/>
              <a:sym typeface="Times New Roman"/>
            </a:endParaRPr>
          </a:p>
        </p:txBody>
      </p:sp>
      <p:sp>
        <p:nvSpPr>
          <p:cNvPr id="225" name="Google Shape;225;p36"/>
          <p:cNvSpPr txBox="1"/>
          <p:nvPr/>
        </p:nvSpPr>
        <p:spPr>
          <a:xfrm>
            <a:off x="3299719" y="2570269"/>
            <a:ext cx="2332350" cy="1228275"/>
          </a:xfrm>
          <a:prstGeom prst="rect">
            <a:avLst/>
          </a:prstGeom>
          <a:noFill/>
          <a:ln>
            <a:noFill/>
          </a:ln>
        </p:spPr>
        <p:txBody>
          <a:bodyPr anchorCtr="0" anchor="t" bIns="68575" lIns="68575" spcFirstLastPara="1" rIns="68575" wrap="square" tIns="68575">
            <a:noAutofit/>
          </a:bodyPr>
          <a:lstStyle/>
          <a:p>
            <a:pPr indent="-254000" lvl="0" marL="342900" marR="0" rtl="0" algn="l">
              <a:lnSpc>
                <a:spcPct val="100000"/>
              </a:lnSpc>
              <a:spcBef>
                <a:spcPts val="0"/>
              </a:spcBef>
              <a:spcAft>
                <a:spcPts val="0"/>
              </a:spcAft>
              <a:buClr>
                <a:schemeClr val="dk1"/>
              </a:buClr>
              <a:buSzPts val="1400"/>
              <a:buFont typeface="Times New Roman"/>
              <a:buAutoNum type="arabicPeriod"/>
            </a:pPr>
            <a:r>
              <a:rPr b="0" i="0" lang="en" sz="1400" u="none" cap="none" strike="noStrike">
                <a:solidFill>
                  <a:schemeClr val="dk1"/>
                </a:solidFill>
                <a:latin typeface="Times New Roman"/>
                <a:ea typeface="Times New Roman"/>
                <a:cs typeface="Times New Roman"/>
                <a:sym typeface="Times New Roman"/>
              </a:rPr>
              <a:t>Implementation of modules sequentially as described in the proposed model</a:t>
            </a:r>
            <a:endParaRPr b="0" i="0" sz="1400" u="none" cap="none" strike="noStrike">
              <a:solidFill>
                <a:schemeClr val="dk1"/>
              </a:solidFill>
              <a:latin typeface="Times New Roman"/>
              <a:ea typeface="Times New Roman"/>
              <a:cs typeface="Times New Roman"/>
              <a:sym typeface="Times New Roman"/>
            </a:endParaRPr>
          </a:p>
        </p:txBody>
      </p:sp>
      <p:sp>
        <p:nvSpPr>
          <p:cNvPr id="226" name="Google Shape;226;p36"/>
          <p:cNvSpPr txBox="1"/>
          <p:nvPr/>
        </p:nvSpPr>
        <p:spPr>
          <a:xfrm>
            <a:off x="5632069" y="2605500"/>
            <a:ext cx="1969875" cy="1009350"/>
          </a:xfrm>
          <a:prstGeom prst="rect">
            <a:avLst/>
          </a:prstGeom>
          <a:noFill/>
          <a:ln>
            <a:noFill/>
          </a:ln>
        </p:spPr>
        <p:txBody>
          <a:bodyPr anchorCtr="0" anchor="t" bIns="68575" lIns="68575" spcFirstLastPara="1" rIns="68575" wrap="square" tIns="68575">
            <a:noAutofit/>
          </a:bodyPr>
          <a:lstStyle/>
          <a:p>
            <a:pPr indent="-254000" lvl="0" marL="342900" marR="0" rtl="0" algn="l">
              <a:lnSpc>
                <a:spcPct val="100000"/>
              </a:lnSpc>
              <a:spcBef>
                <a:spcPts val="0"/>
              </a:spcBef>
              <a:spcAft>
                <a:spcPts val="0"/>
              </a:spcAft>
              <a:buClr>
                <a:schemeClr val="dk1"/>
              </a:buClr>
              <a:buSzPts val="1400"/>
              <a:buFont typeface="Times New Roman"/>
              <a:buAutoNum type="arabicPeriod"/>
            </a:pPr>
            <a:r>
              <a:rPr b="0" i="0" lang="en" sz="1400" u="none" cap="none" strike="noStrike">
                <a:solidFill>
                  <a:schemeClr val="dk1"/>
                </a:solidFill>
                <a:latin typeface="Times New Roman"/>
                <a:ea typeface="Times New Roman"/>
                <a:cs typeface="Times New Roman"/>
                <a:sym typeface="Times New Roman"/>
              </a:rPr>
              <a:t>Learning flask and integrating prepared models with web frontend </a:t>
            </a:r>
            <a:endParaRPr b="0" i="0" sz="1400" u="none" cap="none" strike="noStrike">
              <a:solidFill>
                <a:schemeClr val="dk1"/>
              </a:solidFill>
              <a:latin typeface="Times New Roman"/>
              <a:ea typeface="Times New Roman"/>
              <a:cs typeface="Times New Roman"/>
              <a:sym typeface="Times New Roman"/>
            </a:endParaRPr>
          </a:p>
        </p:txBody>
      </p:sp>
      <p:pic>
        <p:nvPicPr>
          <p:cNvPr id="227" name="Google Shape;227;p36"/>
          <p:cNvPicPr preferRelativeResize="0"/>
          <p:nvPr/>
        </p:nvPicPr>
        <p:blipFill>
          <a:blip r:embed="rId5">
            <a:alphaModFix/>
          </a:blip>
          <a:stretch>
            <a:fillRect/>
          </a:stretch>
        </p:blipFill>
        <p:spPr>
          <a:xfrm>
            <a:off x="6717075" y="81650"/>
            <a:ext cx="2258375" cy="497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37"/>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233" name="Google Shape;233;p37"/>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sp>
        <p:nvSpPr>
          <p:cNvPr id="234" name="Google Shape;234;p37"/>
          <p:cNvSpPr txBox="1"/>
          <p:nvPr>
            <p:ph type="title"/>
          </p:nvPr>
        </p:nvSpPr>
        <p:spPr>
          <a:xfrm>
            <a:off x="3116925" y="0"/>
            <a:ext cx="1924425"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MODULES</a:t>
            </a:r>
            <a:endParaRPr b="1">
              <a:latin typeface="Times New Roman"/>
              <a:ea typeface="Times New Roman"/>
              <a:cs typeface="Times New Roman"/>
              <a:sym typeface="Times New Roman"/>
            </a:endParaRPr>
          </a:p>
        </p:txBody>
      </p:sp>
      <p:sp>
        <p:nvSpPr>
          <p:cNvPr id="235" name="Google Shape;235;p37"/>
          <p:cNvSpPr txBox="1"/>
          <p:nvPr>
            <p:ph idx="1" type="body"/>
          </p:nvPr>
        </p:nvSpPr>
        <p:spPr>
          <a:xfrm>
            <a:off x="161550" y="890362"/>
            <a:ext cx="8655075" cy="3875400"/>
          </a:xfrm>
          <a:prstGeom prst="rect">
            <a:avLst/>
          </a:prstGeom>
          <a:noFill/>
          <a:ln>
            <a:noFill/>
          </a:ln>
        </p:spPr>
        <p:txBody>
          <a:bodyPr anchorCtr="0" anchor="t" bIns="91425" lIns="91425" spcFirstLastPara="1" rIns="91425" wrap="square" tIns="91425">
            <a:noAutofit/>
          </a:bodyPr>
          <a:lstStyle/>
          <a:p>
            <a:pPr indent="-273050" lvl="0" marL="342900" rtl="0" algn="l">
              <a:lnSpc>
                <a:spcPct val="115000"/>
              </a:lnSpc>
              <a:spcBef>
                <a:spcPts val="0"/>
              </a:spcBef>
              <a:spcAft>
                <a:spcPts val="0"/>
              </a:spcAft>
              <a:buClr>
                <a:schemeClr val="dk1"/>
              </a:buClr>
              <a:buSzPts val="1700"/>
              <a:buFont typeface="Times New Roman"/>
              <a:buAutoNum type="arabicParenR"/>
            </a:pPr>
            <a:r>
              <a:rPr b="1" lang="en" sz="1700">
                <a:solidFill>
                  <a:schemeClr val="dk1"/>
                </a:solidFill>
                <a:latin typeface="Times New Roman"/>
                <a:ea typeface="Times New Roman"/>
                <a:cs typeface="Times New Roman"/>
                <a:sym typeface="Times New Roman"/>
              </a:rPr>
              <a:t>MODULE 1: DATA PREPROCESSING</a:t>
            </a:r>
            <a:endParaRPr b="1" sz="1700">
              <a:solidFill>
                <a:schemeClr val="dk1"/>
              </a:solidFill>
              <a:latin typeface="Times New Roman"/>
              <a:ea typeface="Times New Roman"/>
              <a:cs typeface="Times New Roman"/>
              <a:sym typeface="Times New Roman"/>
            </a:endParaRPr>
          </a:p>
          <a:p>
            <a:pPr indent="-273050" lvl="1" marL="685800" rtl="0" algn="l">
              <a:lnSpc>
                <a:spcPct val="115000"/>
              </a:lnSpc>
              <a:spcBef>
                <a:spcPts val="0"/>
              </a:spcBef>
              <a:spcAft>
                <a:spcPts val="0"/>
              </a:spcAft>
              <a:buClr>
                <a:schemeClr val="dk1"/>
              </a:buClr>
              <a:buSzPts val="1700"/>
              <a:buFont typeface="Times New Roman"/>
              <a:buAutoNum type="alphaLcParenR"/>
            </a:pPr>
            <a:r>
              <a:rPr lang="en" sz="1700">
                <a:solidFill>
                  <a:schemeClr val="dk1"/>
                </a:solidFill>
                <a:latin typeface="Times New Roman"/>
                <a:ea typeface="Times New Roman"/>
                <a:cs typeface="Times New Roman"/>
                <a:sym typeface="Times New Roman"/>
              </a:rPr>
              <a:t>Label Encoding</a:t>
            </a:r>
            <a:endParaRPr sz="1700">
              <a:solidFill>
                <a:schemeClr val="dk1"/>
              </a:solidFill>
              <a:latin typeface="Times New Roman"/>
              <a:ea typeface="Times New Roman"/>
              <a:cs typeface="Times New Roman"/>
              <a:sym typeface="Times New Roman"/>
            </a:endParaRPr>
          </a:p>
          <a:p>
            <a:pPr indent="-273050" lvl="1" marL="685800" rtl="0" algn="l">
              <a:lnSpc>
                <a:spcPct val="115000"/>
              </a:lnSpc>
              <a:spcBef>
                <a:spcPts val="0"/>
              </a:spcBef>
              <a:spcAft>
                <a:spcPts val="0"/>
              </a:spcAft>
              <a:buClr>
                <a:schemeClr val="dk1"/>
              </a:buClr>
              <a:buSzPts val="1700"/>
              <a:buFont typeface="Times New Roman"/>
              <a:buAutoNum type="alphaLcParenR"/>
            </a:pPr>
            <a:r>
              <a:rPr lang="en" sz="1700">
                <a:solidFill>
                  <a:schemeClr val="dk1"/>
                </a:solidFill>
                <a:latin typeface="Times New Roman"/>
                <a:ea typeface="Times New Roman"/>
                <a:cs typeface="Times New Roman"/>
                <a:sym typeface="Times New Roman"/>
              </a:rPr>
              <a:t>Handling Missing Values</a:t>
            </a:r>
            <a:endParaRPr sz="1700">
              <a:solidFill>
                <a:schemeClr val="dk1"/>
              </a:solidFill>
              <a:latin typeface="Times New Roman"/>
              <a:ea typeface="Times New Roman"/>
              <a:cs typeface="Times New Roman"/>
              <a:sym typeface="Times New Roman"/>
            </a:endParaRPr>
          </a:p>
          <a:p>
            <a:pPr indent="-273050" lvl="1" marL="685800" rtl="0" algn="l">
              <a:lnSpc>
                <a:spcPct val="115000"/>
              </a:lnSpc>
              <a:spcBef>
                <a:spcPts val="0"/>
              </a:spcBef>
              <a:spcAft>
                <a:spcPts val="0"/>
              </a:spcAft>
              <a:buClr>
                <a:schemeClr val="dk1"/>
              </a:buClr>
              <a:buSzPts val="1700"/>
              <a:buFont typeface="Times New Roman"/>
              <a:buAutoNum type="alphaLcParenR"/>
            </a:pPr>
            <a:r>
              <a:rPr lang="en" sz="1700">
                <a:solidFill>
                  <a:schemeClr val="dk1"/>
                </a:solidFill>
                <a:latin typeface="Times New Roman"/>
                <a:ea typeface="Times New Roman"/>
                <a:cs typeface="Times New Roman"/>
                <a:sym typeface="Times New Roman"/>
              </a:rPr>
              <a:t>Data Scaling</a:t>
            </a:r>
            <a:endParaRPr sz="1700">
              <a:solidFill>
                <a:schemeClr val="dk1"/>
              </a:solidFill>
              <a:latin typeface="Times New Roman"/>
              <a:ea typeface="Times New Roman"/>
              <a:cs typeface="Times New Roman"/>
              <a:sym typeface="Times New Roman"/>
            </a:endParaRPr>
          </a:p>
          <a:p>
            <a:pPr indent="-273050" lvl="0" marL="342900" rtl="0" algn="l">
              <a:lnSpc>
                <a:spcPct val="115000"/>
              </a:lnSpc>
              <a:spcBef>
                <a:spcPts val="0"/>
              </a:spcBef>
              <a:spcAft>
                <a:spcPts val="0"/>
              </a:spcAft>
              <a:buClr>
                <a:schemeClr val="dk1"/>
              </a:buClr>
              <a:buSzPts val="1700"/>
              <a:buFont typeface="Times New Roman"/>
              <a:buAutoNum type="arabicParenR"/>
            </a:pPr>
            <a:r>
              <a:rPr b="1" lang="en" sz="1700">
                <a:solidFill>
                  <a:schemeClr val="dk1"/>
                </a:solidFill>
                <a:latin typeface="Times New Roman"/>
                <a:ea typeface="Times New Roman"/>
                <a:cs typeface="Times New Roman"/>
                <a:sym typeface="Times New Roman"/>
              </a:rPr>
              <a:t>MODULE 2: FEATURE SELECTION</a:t>
            </a:r>
            <a:endParaRPr b="1" sz="1700">
              <a:solidFill>
                <a:schemeClr val="dk1"/>
              </a:solidFill>
              <a:latin typeface="Times New Roman"/>
              <a:ea typeface="Times New Roman"/>
              <a:cs typeface="Times New Roman"/>
              <a:sym typeface="Times New Roman"/>
            </a:endParaRPr>
          </a:p>
          <a:p>
            <a:pPr indent="-273050" lvl="1" marL="685800" rtl="0" algn="l">
              <a:lnSpc>
                <a:spcPct val="115000"/>
              </a:lnSpc>
              <a:spcBef>
                <a:spcPts val="0"/>
              </a:spcBef>
              <a:spcAft>
                <a:spcPts val="0"/>
              </a:spcAft>
              <a:buClr>
                <a:schemeClr val="dk1"/>
              </a:buClr>
              <a:buSzPts val="1700"/>
              <a:buFont typeface="Times New Roman"/>
              <a:buAutoNum type="alphaLcParenR"/>
            </a:pPr>
            <a:r>
              <a:rPr lang="en" sz="1700">
                <a:solidFill>
                  <a:schemeClr val="dk1"/>
                </a:solidFill>
                <a:latin typeface="Times New Roman"/>
                <a:ea typeface="Times New Roman"/>
                <a:cs typeface="Times New Roman"/>
                <a:sym typeface="Times New Roman"/>
              </a:rPr>
              <a:t>FILTER METHOD</a:t>
            </a:r>
            <a:endParaRPr sz="1700">
              <a:solidFill>
                <a:schemeClr val="dk1"/>
              </a:solidFill>
              <a:latin typeface="Times New Roman"/>
              <a:ea typeface="Times New Roman"/>
              <a:cs typeface="Times New Roman"/>
              <a:sym typeface="Times New Roman"/>
            </a:endParaRPr>
          </a:p>
          <a:p>
            <a:pPr indent="-273050" lvl="2" marL="1028700" rtl="0" algn="l">
              <a:lnSpc>
                <a:spcPct val="115000"/>
              </a:lnSpc>
              <a:spcBef>
                <a:spcPts val="0"/>
              </a:spcBef>
              <a:spcAft>
                <a:spcPts val="0"/>
              </a:spcAft>
              <a:buClr>
                <a:schemeClr val="dk1"/>
              </a:buClr>
              <a:buSzPts val="1700"/>
              <a:buFont typeface="Times New Roman"/>
              <a:buAutoNum type="romanLcParenR"/>
            </a:pPr>
            <a:r>
              <a:rPr lang="en" sz="1700">
                <a:solidFill>
                  <a:schemeClr val="dk1"/>
                </a:solidFill>
                <a:latin typeface="Times New Roman"/>
                <a:ea typeface="Times New Roman"/>
                <a:cs typeface="Times New Roman"/>
                <a:sym typeface="Times New Roman"/>
              </a:rPr>
              <a:t>Correlation </a:t>
            </a:r>
            <a:endParaRPr sz="1700">
              <a:solidFill>
                <a:schemeClr val="dk1"/>
              </a:solidFill>
              <a:latin typeface="Times New Roman"/>
              <a:ea typeface="Times New Roman"/>
              <a:cs typeface="Times New Roman"/>
              <a:sym typeface="Times New Roman"/>
            </a:endParaRPr>
          </a:p>
          <a:p>
            <a:pPr indent="-273050" lvl="2" marL="1028700" rtl="0" algn="l">
              <a:lnSpc>
                <a:spcPct val="115000"/>
              </a:lnSpc>
              <a:spcBef>
                <a:spcPts val="0"/>
              </a:spcBef>
              <a:spcAft>
                <a:spcPts val="0"/>
              </a:spcAft>
              <a:buClr>
                <a:schemeClr val="dk1"/>
              </a:buClr>
              <a:buSzPts val="1700"/>
              <a:buFont typeface="Times New Roman"/>
              <a:buAutoNum type="romanLcParenR"/>
            </a:pPr>
            <a:r>
              <a:rPr lang="en" sz="1700">
                <a:solidFill>
                  <a:schemeClr val="dk1"/>
                </a:solidFill>
                <a:latin typeface="Times New Roman"/>
                <a:ea typeface="Times New Roman"/>
                <a:cs typeface="Times New Roman"/>
                <a:sym typeface="Times New Roman"/>
              </a:rPr>
              <a:t>Chi square</a:t>
            </a:r>
            <a:endParaRPr sz="1700">
              <a:solidFill>
                <a:schemeClr val="dk1"/>
              </a:solidFill>
              <a:latin typeface="Times New Roman"/>
              <a:ea typeface="Times New Roman"/>
              <a:cs typeface="Times New Roman"/>
              <a:sym typeface="Times New Roman"/>
            </a:endParaRPr>
          </a:p>
          <a:p>
            <a:pPr indent="-273050" lvl="2" marL="1028700" rtl="0" algn="l">
              <a:lnSpc>
                <a:spcPct val="115000"/>
              </a:lnSpc>
              <a:spcBef>
                <a:spcPts val="0"/>
              </a:spcBef>
              <a:spcAft>
                <a:spcPts val="0"/>
              </a:spcAft>
              <a:buClr>
                <a:schemeClr val="dk1"/>
              </a:buClr>
              <a:buSzPts val="1700"/>
              <a:buFont typeface="Times New Roman"/>
              <a:buAutoNum type="romanLcParenR"/>
            </a:pPr>
            <a:r>
              <a:rPr lang="en" sz="1700">
                <a:solidFill>
                  <a:schemeClr val="dk1"/>
                </a:solidFill>
                <a:latin typeface="Times New Roman"/>
                <a:ea typeface="Times New Roman"/>
                <a:cs typeface="Times New Roman"/>
                <a:sym typeface="Times New Roman"/>
              </a:rPr>
              <a:t>Variance Threshold </a:t>
            </a:r>
            <a:endParaRPr sz="1700">
              <a:solidFill>
                <a:schemeClr val="dk1"/>
              </a:solidFill>
              <a:latin typeface="Times New Roman"/>
              <a:ea typeface="Times New Roman"/>
              <a:cs typeface="Times New Roman"/>
              <a:sym typeface="Times New Roman"/>
            </a:endParaRPr>
          </a:p>
          <a:p>
            <a:pPr indent="-273050" lvl="1" marL="685800" rtl="0" algn="l">
              <a:lnSpc>
                <a:spcPct val="115000"/>
              </a:lnSpc>
              <a:spcBef>
                <a:spcPts val="0"/>
              </a:spcBef>
              <a:spcAft>
                <a:spcPts val="0"/>
              </a:spcAft>
              <a:buClr>
                <a:schemeClr val="dk1"/>
              </a:buClr>
              <a:buSzPts val="1700"/>
              <a:buFont typeface="Times New Roman"/>
              <a:buAutoNum type="alphaLcParenR"/>
            </a:pPr>
            <a:r>
              <a:rPr lang="en" sz="1700">
                <a:solidFill>
                  <a:schemeClr val="dk1"/>
                </a:solidFill>
                <a:latin typeface="Times New Roman"/>
                <a:ea typeface="Times New Roman"/>
                <a:cs typeface="Times New Roman"/>
                <a:sym typeface="Times New Roman"/>
              </a:rPr>
              <a:t>WRAPPER METHOD</a:t>
            </a:r>
            <a:endParaRPr sz="1700">
              <a:solidFill>
                <a:schemeClr val="dk1"/>
              </a:solidFill>
              <a:latin typeface="Times New Roman"/>
              <a:ea typeface="Times New Roman"/>
              <a:cs typeface="Times New Roman"/>
              <a:sym typeface="Times New Roman"/>
            </a:endParaRPr>
          </a:p>
          <a:p>
            <a:pPr indent="-273050" lvl="2" marL="1028700" rtl="0" algn="l">
              <a:lnSpc>
                <a:spcPct val="115000"/>
              </a:lnSpc>
              <a:spcBef>
                <a:spcPts val="0"/>
              </a:spcBef>
              <a:spcAft>
                <a:spcPts val="0"/>
              </a:spcAft>
              <a:buClr>
                <a:schemeClr val="dk1"/>
              </a:buClr>
              <a:buSzPts val="1700"/>
              <a:buFont typeface="Times New Roman"/>
              <a:buAutoNum type="romanLcParenR"/>
            </a:pPr>
            <a:r>
              <a:rPr lang="en" sz="1700">
                <a:solidFill>
                  <a:schemeClr val="dk1"/>
                </a:solidFill>
                <a:latin typeface="Times New Roman"/>
                <a:ea typeface="Times New Roman"/>
                <a:cs typeface="Times New Roman"/>
                <a:sym typeface="Times New Roman"/>
              </a:rPr>
              <a:t>Recursive Feature Elimination</a:t>
            </a:r>
            <a:endParaRPr sz="1700">
              <a:solidFill>
                <a:schemeClr val="dk1"/>
              </a:solidFill>
              <a:latin typeface="Times New Roman"/>
              <a:ea typeface="Times New Roman"/>
              <a:cs typeface="Times New Roman"/>
              <a:sym typeface="Times New Roman"/>
            </a:endParaRPr>
          </a:p>
          <a:p>
            <a:pPr indent="-273050" lvl="2" marL="1028700" rtl="0" algn="l">
              <a:lnSpc>
                <a:spcPct val="115000"/>
              </a:lnSpc>
              <a:spcBef>
                <a:spcPts val="0"/>
              </a:spcBef>
              <a:spcAft>
                <a:spcPts val="0"/>
              </a:spcAft>
              <a:buClr>
                <a:schemeClr val="dk1"/>
              </a:buClr>
              <a:buSzPts val="1700"/>
              <a:buFont typeface="Times New Roman"/>
              <a:buAutoNum type="romanLcParenR"/>
            </a:pPr>
            <a:r>
              <a:rPr lang="en" sz="1700">
                <a:solidFill>
                  <a:srgbClr val="1F1F1F"/>
                </a:solidFill>
                <a:highlight>
                  <a:srgbClr val="FFFFFF"/>
                </a:highlight>
                <a:latin typeface="Times New Roman"/>
                <a:ea typeface="Times New Roman"/>
                <a:cs typeface="Times New Roman"/>
                <a:sym typeface="Times New Roman"/>
              </a:rPr>
              <a:t>Sequential Forward Selection </a:t>
            </a:r>
            <a:endParaRPr sz="1700">
              <a:solidFill>
                <a:schemeClr val="dk1"/>
              </a:solidFill>
              <a:latin typeface="Times New Roman"/>
              <a:ea typeface="Times New Roman"/>
              <a:cs typeface="Times New Roman"/>
              <a:sym typeface="Times New Roman"/>
            </a:endParaRPr>
          </a:p>
          <a:p>
            <a:pPr indent="0" lvl="0" marL="1028700" rtl="0" algn="l">
              <a:lnSpc>
                <a:spcPct val="115000"/>
              </a:lnSpc>
              <a:spcBef>
                <a:spcPts val="1200"/>
              </a:spcBef>
              <a:spcAft>
                <a:spcPts val="1200"/>
              </a:spcAft>
              <a:buSzPts val="1800"/>
              <a:buNone/>
            </a:pPr>
            <a:r>
              <a:t/>
            </a:r>
            <a:endParaRPr sz="1700">
              <a:solidFill>
                <a:schemeClr val="dk1"/>
              </a:solidFill>
            </a:endParaRPr>
          </a:p>
        </p:txBody>
      </p:sp>
      <p:pic>
        <p:nvPicPr>
          <p:cNvPr id="236" name="Google Shape;236;p37"/>
          <p:cNvPicPr preferRelativeResize="0"/>
          <p:nvPr/>
        </p:nvPicPr>
        <p:blipFill>
          <a:blip r:embed="rId5">
            <a:alphaModFix/>
          </a:blip>
          <a:stretch>
            <a:fillRect/>
          </a:stretch>
        </p:blipFill>
        <p:spPr>
          <a:xfrm>
            <a:off x="6259450" y="81650"/>
            <a:ext cx="2775700" cy="5726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38"/>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242" name="Google Shape;242;p38"/>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sp>
        <p:nvSpPr>
          <p:cNvPr id="243" name="Google Shape;243;p38"/>
          <p:cNvSpPr txBox="1"/>
          <p:nvPr>
            <p:ph type="title"/>
          </p:nvPr>
        </p:nvSpPr>
        <p:spPr>
          <a:xfrm>
            <a:off x="3116925" y="0"/>
            <a:ext cx="1924425"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MODULES</a:t>
            </a:r>
            <a:endParaRPr b="1">
              <a:latin typeface="Times New Roman"/>
              <a:ea typeface="Times New Roman"/>
              <a:cs typeface="Times New Roman"/>
              <a:sym typeface="Times New Roman"/>
            </a:endParaRPr>
          </a:p>
        </p:txBody>
      </p:sp>
      <p:sp>
        <p:nvSpPr>
          <p:cNvPr id="244" name="Google Shape;244;p38"/>
          <p:cNvSpPr txBox="1"/>
          <p:nvPr>
            <p:ph idx="1" type="body"/>
          </p:nvPr>
        </p:nvSpPr>
        <p:spPr>
          <a:xfrm>
            <a:off x="280444" y="978769"/>
            <a:ext cx="8745525" cy="4274100"/>
          </a:xfrm>
          <a:prstGeom prst="rect">
            <a:avLst/>
          </a:prstGeom>
          <a:noFill/>
          <a:ln>
            <a:noFill/>
          </a:ln>
        </p:spPr>
        <p:txBody>
          <a:bodyPr anchorCtr="0" anchor="t" bIns="91425" lIns="91425" spcFirstLastPara="1" rIns="91425" wrap="square" tIns="91425">
            <a:noAutofit/>
          </a:bodyPr>
          <a:lstStyle/>
          <a:p>
            <a:pPr indent="0" lvl="0" marL="0" rtl="0" algn="l">
              <a:lnSpc>
                <a:spcPct val="50000"/>
              </a:lnSpc>
              <a:spcBef>
                <a:spcPts val="0"/>
              </a:spcBef>
              <a:spcAft>
                <a:spcPts val="0"/>
              </a:spcAft>
              <a:buSzPts val="1800"/>
              <a:buNone/>
            </a:pPr>
            <a:r>
              <a:rPr lang="en" sz="1600">
                <a:solidFill>
                  <a:schemeClr val="dk1"/>
                </a:solidFill>
                <a:latin typeface="Times New Roman"/>
                <a:ea typeface="Times New Roman"/>
                <a:cs typeface="Times New Roman"/>
                <a:sym typeface="Times New Roman"/>
              </a:rPr>
              <a:t>	c)EMBEDDED METHOD</a:t>
            </a:r>
            <a:endParaRPr sz="1600">
              <a:solidFill>
                <a:schemeClr val="dk1"/>
              </a:solidFill>
              <a:latin typeface="Times New Roman"/>
              <a:ea typeface="Times New Roman"/>
              <a:cs typeface="Times New Roman"/>
              <a:sym typeface="Times New Roman"/>
            </a:endParaRPr>
          </a:p>
          <a:p>
            <a:pPr indent="0" lvl="0" marL="0" rtl="0" algn="l">
              <a:lnSpc>
                <a:spcPct val="50000"/>
              </a:lnSpc>
              <a:spcBef>
                <a:spcPts val="1200"/>
              </a:spcBef>
              <a:spcAft>
                <a:spcPts val="0"/>
              </a:spcAft>
              <a:buSzPts val="1800"/>
              <a:buNone/>
            </a:pPr>
            <a:r>
              <a:rPr lang="en" sz="1600">
                <a:solidFill>
                  <a:schemeClr val="dk1"/>
                </a:solidFill>
                <a:latin typeface="Times New Roman"/>
                <a:ea typeface="Times New Roman"/>
                <a:cs typeface="Times New Roman"/>
                <a:sym typeface="Times New Roman"/>
              </a:rPr>
              <a:t>		(i) Lasso</a:t>
            </a:r>
            <a:endParaRPr sz="1600">
              <a:solidFill>
                <a:schemeClr val="dk1"/>
              </a:solidFill>
              <a:latin typeface="Times New Roman"/>
              <a:ea typeface="Times New Roman"/>
              <a:cs typeface="Times New Roman"/>
              <a:sym typeface="Times New Roman"/>
            </a:endParaRPr>
          </a:p>
          <a:p>
            <a:pPr indent="0" lvl="0" marL="0" rtl="0" algn="l">
              <a:lnSpc>
                <a:spcPct val="50000"/>
              </a:lnSpc>
              <a:spcBef>
                <a:spcPts val="1200"/>
              </a:spcBef>
              <a:spcAft>
                <a:spcPts val="0"/>
              </a:spcAft>
              <a:buSzPts val="1800"/>
              <a:buNone/>
            </a:pPr>
            <a:r>
              <a:rPr lang="en" sz="1600">
                <a:solidFill>
                  <a:schemeClr val="dk1"/>
                </a:solidFill>
                <a:latin typeface="Times New Roman"/>
                <a:ea typeface="Times New Roman"/>
                <a:cs typeface="Times New Roman"/>
                <a:sym typeface="Times New Roman"/>
              </a:rPr>
              <a:t>		(ii) Ridge Regression</a:t>
            </a:r>
            <a:endParaRPr sz="16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1800"/>
              <a:buNone/>
            </a:pPr>
            <a:r>
              <a:rPr lang="en" sz="1600">
                <a:solidFill>
                  <a:schemeClr val="dk1"/>
                </a:solidFill>
                <a:latin typeface="Times New Roman"/>
                <a:ea typeface="Times New Roman"/>
                <a:cs typeface="Times New Roman"/>
                <a:sym typeface="Times New Roman"/>
              </a:rPr>
              <a:t>3) </a:t>
            </a:r>
            <a:r>
              <a:rPr b="1" lang="en" sz="1600">
                <a:solidFill>
                  <a:schemeClr val="dk1"/>
                </a:solidFill>
                <a:latin typeface="Times New Roman"/>
                <a:ea typeface="Times New Roman"/>
                <a:cs typeface="Times New Roman"/>
                <a:sym typeface="Times New Roman"/>
              </a:rPr>
              <a:t>MODULE 3: CROSS VALIDATION AND TRAIN TEST SPLIT</a:t>
            </a:r>
            <a:endParaRPr b="1" sz="1600">
              <a:solidFill>
                <a:schemeClr val="dk1"/>
              </a:solidFill>
              <a:latin typeface="Times New Roman"/>
              <a:ea typeface="Times New Roman"/>
              <a:cs typeface="Times New Roman"/>
              <a:sym typeface="Times New Roman"/>
            </a:endParaRPr>
          </a:p>
          <a:p>
            <a:pPr indent="-266700" lvl="0" marL="685800" rtl="0" algn="l">
              <a:lnSpc>
                <a:spcPct val="50000"/>
              </a:lnSpc>
              <a:spcBef>
                <a:spcPts val="1200"/>
              </a:spcBef>
              <a:spcAft>
                <a:spcPts val="0"/>
              </a:spcAft>
              <a:buClr>
                <a:schemeClr val="dk1"/>
              </a:buClr>
              <a:buSzPts val="1600"/>
              <a:buFont typeface="Times New Roman"/>
              <a:buAutoNum type="alphaLcParenR"/>
            </a:pPr>
            <a:r>
              <a:rPr lang="en" sz="1600">
                <a:solidFill>
                  <a:schemeClr val="dk1"/>
                </a:solidFill>
                <a:latin typeface="Times New Roman"/>
                <a:ea typeface="Times New Roman"/>
                <a:cs typeface="Times New Roman"/>
                <a:sym typeface="Times New Roman"/>
              </a:rPr>
              <a:t>k-fold cross validation</a:t>
            </a:r>
            <a:endParaRPr sz="1600">
              <a:solidFill>
                <a:schemeClr val="dk1"/>
              </a:solidFill>
              <a:latin typeface="Times New Roman"/>
              <a:ea typeface="Times New Roman"/>
              <a:cs typeface="Times New Roman"/>
              <a:sym typeface="Times New Roman"/>
            </a:endParaRPr>
          </a:p>
          <a:p>
            <a:pPr indent="-266700" lvl="0" marL="685800" rtl="0" algn="l">
              <a:lnSpc>
                <a:spcPct val="50000"/>
              </a:lnSpc>
              <a:spcBef>
                <a:spcPts val="1200"/>
              </a:spcBef>
              <a:spcAft>
                <a:spcPts val="0"/>
              </a:spcAft>
              <a:buClr>
                <a:schemeClr val="dk1"/>
              </a:buClr>
              <a:buSzPts val="1600"/>
              <a:buFont typeface="Times New Roman"/>
              <a:buAutoNum type="alphaLcParenR"/>
            </a:pPr>
            <a:r>
              <a:rPr lang="en" sz="1600">
                <a:solidFill>
                  <a:schemeClr val="dk1"/>
                </a:solidFill>
                <a:latin typeface="Times New Roman"/>
                <a:ea typeface="Times New Roman"/>
                <a:cs typeface="Times New Roman"/>
                <a:sym typeface="Times New Roman"/>
              </a:rPr>
              <a:t>Train test split method</a:t>
            </a:r>
            <a:endParaRPr sz="1600">
              <a:solidFill>
                <a:schemeClr val="dk1"/>
              </a:solidFill>
              <a:latin typeface="Times New Roman"/>
              <a:ea typeface="Times New Roman"/>
              <a:cs typeface="Times New Roman"/>
              <a:sym typeface="Times New Roman"/>
            </a:endParaRPr>
          </a:p>
          <a:p>
            <a:pPr indent="0" lvl="0" marL="0" rtl="0" algn="l">
              <a:lnSpc>
                <a:spcPct val="80000"/>
              </a:lnSpc>
              <a:spcBef>
                <a:spcPts val="1200"/>
              </a:spcBef>
              <a:spcAft>
                <a:spcPts val="0"/>
              </a:spcAft>
              <a:buSzPts val="1800"/>
              <a:buNone/>
            </a:pPr>
            <a:r>
              <a:rPr lang="en" sz="1600">
                <a:solidFill>
                  <a:schemeClr val="dk1"/>
                </a:solidFill>
                <a:latin typeface="Times New Roman"/>
                <a:ea typeface="Times New Roman"/>
                <a:cs typeface="Times New Roman"/>
                <a:sym typeface="Times New Roman"/>
              </a:rPr>
              <a:t>4)</a:t>
            </a:r>
            <a:r>
              <a:rPr b="1" lang="en" sz="1600">
                <a:solidFill>
                  <a:schemeClr val="dk1"/>
                </a:solidFill>
                <a:latin typeface="Times New Roman"/>
                <a:ea typeface="Times New Roman"/>
                <a:cs typeface="Times New Roman"/>
                <a:sym typeface="Times New Roman"/>
              </a:rPr>
              <a:t> MODULE 4: MODEL BLADING</a:t>
            </a:r>
            <a:endParaRPr b="1" sz="1600">
              <a:solidFill>
                <a:schemeClr val="dk1"/>
              </a:solidFill>
              <a:latin typeface="Times New Roman"/>
              <a:ea typeface="Times New Roman"/>
              <a:cs typeface="Times New Roman"/>
              <a:sym typeface="Times New Roman"/>
            </a:endParaRPr>
          </a:p>
          <a:p>
            <a:pPr indent="-266700" lvl="0" marL="685800" rtl="0" algn="l">
              <a:lnSpc>
                <a:spcPct val="80000"/>
              </a:lnSpc>
              <a:spcBef>
                <a:spcPts val="1200"/>
              </a:spcBef>
              <a:spcAft>
                <a:spcPts val="0"/>
              </a:spcAft>
              <a:buClr>
                <a:schemeClr val="dk1"/>
              </a:buClr>
              <a:buSzPts val="1600"/>
              <a:buFont typeface="Times New Roman"/>
              <a:buAutoNum type="alphaLcParenR"/>
            </a:pPr>
            <a:r>
              <a:rPr lang="en" sz="1600">
                <a:solidFill>
                  <a:schemeClr val="dk1"/>
                </a:solidFill>
                <a:latin typeface="Times New Roman"/>
                <a:ea typeface="Times New Roman"/>
                <a:cs typeface="Times New Roman"/>
                <a:sym typeface="Times New Roman"/>
              </a:rPr>
              <a:t>RF</a:t>
            </a:r>
            <a:endParaRPr sz="1600">
              <a:solidFill>
                <a:schemeClr val="dk1"/>
              </a:solidFill>
              <a:latin typeface="Times New Roman"/>
              <a:ea typeface="Times New Roman"/>
              <a:cs typeface="Times New Roman"/>
              <a:sym typeface="Times New Roman"/>
            </a:endParaRPr>
          </a:p>
          <a:p>
            <a:pPr indent="-266700" lvl="0" marL="685800" rtl="0" algn="l">
              <a:lnSpc>
                <a:spcPct val="80000"/>
              </a:lnSpc>
              <a:spcBef>
                <a:spcPts val="0"/>
              </a:spcBef>
              <a:spcAft>
                <a:spcPts val="0"/>
              </a:spcAft>
              <a:buClr>
                <a:schemeClr val="dk1"/>
              </a:buClr>
              <a:buSzPts val="1600"/>
              <a:buFont typeface="Times New Roman"/>
              <a:buAutoNum type="alphaLcParenR"/>
            </a:pPr>
            <a:r>
              <a:rPr lang="en" sz="1600">
                <a:solidFill>
                  <a:schemeClr val="dk1"/>
                </a:solidFill>
                <a:latin typeface="Times New Roman"/>
                <a:ea typeface="Times New Roman"/>
                <a:cs typeface="Times New Roman"/>
                <a:sym typeface="Times New Roman"/>
              </a:rPr>
              <a:t>Gradient Boosting</a:t>
            </a:r>
            <a:endParaRPr sz="1600">
              <a:solidFill>
                <a:schemeClr val="dk1"/>
              </a:solidFill>
              <a:latin typeface="Times New Roman"/>
              <a:ea typeface="Times New Roman"/>
              <a:cs typeface="Times New Roman"/>
              <a:sym typeface="Times New Roman"/>
            </a:endParaRPr>
          </a:p>
          <a:p>
            <a:pPr indent="-266700" lvl="0" marL="685800" rtl="0" algn="l">
              <a:lnSpc>
                <a:spcPct val="80000"/>
              </a:lnSpc>
              <a:spcBef>
                <a:spcPts val="0"/>
              </a:spcBef>
              <a:spcAft>
                <a:spcPts val="0"/>
              </a:spcAft>
              <a:buClr>
                <a:schemeClr val="dk1"/>
              </a:buClr>
              <a:buSzPts val="1600"/>
              <a:buFont typeface="Times New Roman"/>
              <a:buAutoNum type="alphaLcParenR"/>
            </a:pPr>
            <a:r>
              <a:rPr lang="en" sz="1600">
                <a:solidFill>
                  <a:schemeClr val="dk1"/>
                </a:solidFill>
                <a:latin typeface="Times New Roman"/>
                <a:ea typeface="Times New Roman"/>
                <a:cs typeface="Times New Roman"/>
                <a:sym typeface="Times New Roman"/>
              </a:rPr>
              <a:t>AdaBoost</a:t>
            </a:r>
            <a:endParaRPr sz="1600">
              <a:solidFill>
                <a:schemeClr val="dk1"/>
              </a:solidFill>
              <a:latin typeface="Times New Roman"/>
              <a:ea typeface="Times New Roman"/>
              <a:cs typeface="Times New Roman"/>
              <a:sym typeface="Times New Roman"/>
            </a:endParaRPr>
          </a:p>
          <a:p>
            <a:pPr indent="-266700" lvl="0" marL="685800" rtl="0" algn="l">
              <a:lnSpc>
                <a:spcPct val="80000"/>
              </a:lnSpc>
              <a:spcBef>
                <a:spcPts val="0"/>
              </a:spcBef>
              <a:spcAft>
                <a:spcPts val="0"/>
              </a:spcAft>
              <a:buClr>
                <a:schemeClr val="dk1"/>
              </a:buClr>
              <a:buSzPts val="1600"/>
              <a:buFont typeface="Times New Roman"/>
              <a:buAutoNum type="alphaLcParenR"/>
            </a:pPr>
            <a:r>
              <a:rPr lang="en" sz="1600">
                <a:solidFill>
                  <a:schemeClr val="dk1"/>
                </a:solidFill>
                <a:latin typeface="Times New Roman"/>
                <a:ea typeface="Times New Roman"/>
                <a:cs typeface="Times New Roman"/>
                <a:sym typeface="Times New Roman"/>
              </a:rPr>
              <a:t>XgBoost</a:t>
            </a:r>
            <a:endParaRPr sz="1600">
              <a:solidFill>
                <a:schemeClr val="dk1"/>
              </a:solidFill>
              <a:latin typeface="Times New Roman"/>
              <a:ea typeface="Times New Roman"/>
              <a:cs typeface="Times New Roman"/>
              <a:sym typeface="Times New Roman"/>
            </a:endParaRPr>
          </a:p>
          <a:p>
            <a:pPr indent="-266700" lvl="0" marL="685800" rtl="0" algn="l">
              <a:lnSpc>
                <a:spcPct val="80000"/>
              </a:lnSpc>
              <a:spcBef>
                <a:spcPts val="0"/>
              </a:spcBef>
              <a:spcAft>
                <a:spcPts val="0"/>
              </a:spcAft>
              <a:buClr>
                <a:schemeClr val="dk1"/>
              </a:buClr>
              <a:buSzPts val="1600"/>
              <a:buFont typeface="Times New Roman"/>
              <a:buAutoNum type="alphaLcParenR"/>
            </a:pPr>
            <a:r>
              <a:rPr lang="en" sz="1600">
                <a:solidFill>
                  <a:schemeClr val="dk1"/>
                </a:solidFill>
                <a:latin typeface="Times New Roman"/>
                <a:ea typeface="Times New Roman"/>
                <a:cs typeface="Times New Roman"/>
                <a:sym typeface="Times New Roman"/>
              </a:rPr>
              <a:t>Naive Bayes</a:t>
            </a:r>
            <a:endParaRPr sz="1600">
              <a:solidFill>
                <a:schemeClr val="dk1"/>
              </a:solidFill>
              <a:latin typeface="Times New Roman"/>
              <a:ea typeface="Times New Roman"/>
              <a:cs typeface="Times New Roman"/>
              <a:sym typeface="Times New Roman"/>
            </a:endParaRPr>
          </a:p>
          <a:p>
            <a:pPr indent="-266700" lvl="0" marL="685800" rtl="0" algn="l">
              <a:lnSpc>
                <a:spcPct val="80000"/>
              </a:lnSpc>
              <a:spcBef>
                <a:spcPts val="0"/>
              </a:spcBef>
              <a:spcAft>
                <a:spcPts val="0"/>
              </a:spcAft>
              <a:buClr>
                <a:schemeClr val="dk1"/>
              </a:buClr>
              <a:buSzPts val="1600"/>
              <a:buFont typeface="Times New Roman"/>
              <a:buAutoNum type="alphaLcParenR"/>
            </a:pPr>
            <a:r>
              <a:rPr lang="en" sz="1600">
                <a:solidFill>
                  <a:schemeClr val="dk1"/>
                </a:solidFill>
                <a:latin typeface="Times New Roman"/>
                <a:ea typeface="Times New Roman"/>
                <a:cs typeface="Times New Roman"/>
                <a:sym typeface="Times New Roman"/>
              </a:rPr>
              <a:t>Support Vector Machine</a:t>
            </a:r>
            <a:endParaRPr sz="1600">
              <a:solidFill>
                <a:schemeClr val="dk1"/>
              </a:solidFill>
              <a:latin typeface="Times New Roman"/>
              <a:ea typeface="Times New Roman"/>
              <a:cs typeface="Times New Roman"/>
              <a:sym typeface="Times New Roman"/>
            </a:endParaRPr>
          </a:p>
          <a:p>
            <a:pPr indent="-266700" lvl="0" marL="685800" rtl="0" algn="l">
              <a:lnSpc>
                <a:spcPct val="80000"/>
              </a:lnSpc>
              <a:spcBef>
                <a:spcPts val="0"/>
              </a:spcBef>
              <a:spcAft>
                <a:spcPts val="0"/>
              </a:spcAft>
              <a:buClr>
                <a:schemeClr val="dk1"/>
              </a:buClr>
              <a:buSzPts val="1600"/>
              <a:buFont typeface="Times New Roman"/>
              <a:buAutoNum type="alphaLcParenR"/>
            </a:pPr>
            <a:r>
              <a:rPr lang="en" sz="1600">
                <a:solidFill>
                  <a:schemeClr val="dk1"/>
                </a:solidFill>
                <a:latin typeface="Times New Roman"/>
                <a:ea typeface="Times New Roman"/>
                <a:cs typeface="Times New Roman"/>
                <a:sym typeface="Times New Roman"/>
              </a:rPr>
              <a:t>Decision Tree</a:t>
            </a:r>
            <a:endParaRPr sz="1600">
              <a:solidFill>
                <a:schemeClr val="dk1"/>
              </a:solidFill>
              <a:latin typeface="Times New Roman"/>
              <a:ea typeface="Times New Roman"/>
              <a:cs typeface="Times New Roman"/>
              <a:sym typeface="Times New Roman"/>
            </a:endParaRPr>
          </a:p>
          <a:p>
            <a:pPr indent="0" lvl="0" marL="0" rtl="0" algn="l">
              <a:lnSpc>
                <a:spcPct val="50000"/>
              </a:lnSpc>
              <a:spcBef>
                <a:spcPts val="1200"/>
              </a:spcBef>
              <a:spcAft>
                <a:spcPts val="0"/>
              </a:spcAft>
              <a:buSzPts val="1800"/>
              <a:buNone/>
            </a:pP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0" lvl="0" marL="0" rtl="0" algn="l">
              <a:lnSpc>
                <a:spcPct val="50000"/>
              </a:lnSpc>
              <a:spcBef>
                <a:spcPts val="1200"/>
              </a:spcBef>
              <a:spcAft>
                <a:spcPts val="0"/>
              </a:spcAft>
              <a:buSzPts val="1800"/>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0" lvl="0" marL="1028700" rtl="0" algn="l">
              <a:lnSpc>
                <a:spcPct val="115000"/>
              </a:lnSpc>
              <a:spcBef>
                <a:spcPts val="1200"/>
              </a:spcBef>
              <a:spcAft>
                <a:spcPts val="1200"/>
              </a:spcAft>
              <a:buSzPts val="1800"/>
              <a:buNone/>
            </a:pPr>
            <a:r>
              <a:t/>
            </a:r>
            <a:endParaRPr sz="1600">
              <a:solidFill>
                <a:schemeClr val="dk1"/>
              </a:solidFill>
            </a:endParaRPr>
          </a:p>
        </p:txBody>
      </p:sp>
      <p:pic>
        <p:nvPicPr>
          <p:cNvPr id="245" name="Google Shape;245;p38"/>
          <p:cNvPicPr preferRelativeResize="0"/>
          <p:nvPr/>
        </p:nvPicPr>
        <p:blipFill>
          <a:blip r:embed="rId5">
            <a:alphaModFix/>
          </a:blip>
          <a:stretch>
            <a:fillRect/>
          </a:stretch>
        </p:blipFill>
        <p:spPr>
          <a:xfrm>
            <a:off x="6030050" y="0"/>
            <a:ext cx="3113950" cy="572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39"/>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251" name="Google Shape;251;p39"/>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sp>
        <p:nvSpPr>
          <p:cNvPr id="252" name="Google Shape;252;p39"/>
          <p:cNvSpPr txBox="1"/>
          <p:nvPr>
            <p:ph type="title"/>
          </p:nvPr>
        </p:nvSpPr>
        <p:spPr>
          <a:xfrm>
            <a:off x="1847100" y="-37875"/>
            <a:ext cx="4712175"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PROPOSED ARCHITECTURE</a:t>
            </a:r>
            <a:endParaRPr b="1">
              <a:latin typeface="Times New Roman"/>
              <a:ea typeface="Times New Roman"/>
              <a:cs typeface="Times New Roman"/>
              <a:sym typeface="Times New Roman"/>
            </a:endParaRPr>
          </a:p>
        </p:txBody>
      </p:sp>
      <p:pic>
        <p:nvPicPr>
          <p:cNvPr id="253" name="Google Shape;253;p39"/>
          <p:cNvPicPr preferRelativeResize="0"/>
          <p:nvPr/>
        </p:nvPicPr>
        <p:blipFill rotWithShape="1">
          <a:blip r:embed="rId5">
            <a:alphaModFix/>
          </a:blip>
          <a:srcRect b="0" l="0" r="0" t="0"/>
          <a:stretch/>
        </p:blipFill>
        <p:spPr>
          <a:xfrm>
            <a:off x="403425" y="737709"/>
            <a:ext cx="8337150" cy="4008740"/>
          </a:xfrm>
          <a:prstGeom prst="rect">
            <a:avLst/>
          </a:prstGeom>
          <a:noFill/>
          <a:ln>
            <a:noFill/>
          </a:ln>
        </p:spPr>
      </p:pic>
      <p:pic>
        <p:nvPicPr>
          <p:cNvPr id="254" name="Google Shape;254;p39"/>
          <p:cNvPicPr preferRelativeResize="0"/>
          <p:nvPr/>
        </p:nvPicPr>
        <p:blipFill>
          <a:blip r:embed="rId6">
            <a:alphaModFix/>
          </a:blip>
          <a:stretch>
            <a:fillRect/>
          </a:stretch>
        </p:blipFill>
        <p:spPr>
          <a:xfrm>
            <a:off x="6647425" y="61750"/>
            <a:ext cx="2408500" cy="572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40"/>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260" name="Google Shape;260;p40"/>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pic>
        <p:nvPicPr>
          <p:cNvPr id="261" name="Google Shape;261;p40"/>
          <p:cNvPicPr preferRelativeResize="0"/>
          <p:nvPr/>
        </p:nvPicPr>
        <p:blipFill rotWithShape="1">
          <a:blip r:embed="rId5">
            <a:alphaModFix/>
          </a:blip>
          <a:srcRect b="24800" l="0" r="0" t="0"/>
          <a:stretch/>
        </p:blipFill>
        <p:spPr>
          <a:xfrm>
            <a:off x="6559275" y="0"/>
            <a:ext cx="2612906" cy="521400"/>
          </a:xfrm>
          <a:prstGeom prst="rect">
            <a:avLst/>
          </a:prstGeom>
          <a:noFill/>
          <a:ln>
            <a:noFill/>
          </a:ln>
        </p:spPr>
      </p:pic>
      <p:sp>
        <p:nvSpPr>
          <p:cNvPr id="262" name="Google Shape;262;p40"/>
          <p:cNvSpPr txBox="1"/>
          <p:nvPr>
            <p:ph type="title"/>
          </p:nvPr>
        </p:nvSpPr>
        <p:spPr>
          <a:xfrm>
            <a:off x="3047231" y="-25612"/>
            <a:ext cx="2464425" cy="572625"/>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0714"/>
              <a:buNone/>
            </a:pPr>
            <a:r>
              <a:rPr b="1" lang="en">
                <a:latin typeface="Times New Roman"/>
                <a:ea typeface="Times New Roman"/>
                <a:cs typeface="Times New Roman"/>
                <a:sym typeface="Times New Roman"/>
              </a:rPr>
              <a:t>REFERENCES</a:t>
            </a:r>
            <a:endParaRPr b="1">
              <a:latin typeface="Times New Roman"/>
              <a:ea typeface="Times New Roman"/>
              <a:cs typeface="Times New Roman"/>
              <a:sym typeface="Times New Roman"/>
            </a:endParaRPr>
          </a:p>
        </p:txBody>
      </p:sp>
      <p:sp>
        <p:nvSpPr>
          <p:cNvPr id="263" name="Google Shape;263;p40"/>
          <p:cNvSpPr txBox="1"/>
          <p:nvPr>
            <p:ph idx="1" type="body"/>
          </p:nvPr>
        </p:nvSpPr>
        <p:spPr>
          <a:xfrm>
            <a:off x="238838" y="874217"/>
            <a:ext cx="8666325" cy="2996775"/>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400">
                <a:solidFill>
                  <a:schemeClr val="dk1"/>
                </a:solidFill>
                <a:latin typeface="Times New Roman"/>
                <a:ea typeface="Times New Roman"/>
                <a:cs typeface="Times New Roman"/>
                <a:sym typeface="Times New Roman"/>
              </a:rPr>
              <a:t>[1]  Bradley AP. The use of the area under the ROC curve in the evaluation of machine learning algorithms. Pattern Recognit 1997;30(7):1145–1159 -     </a:t>
            </a:r>
            <a:r>
              <a:rPr lang="en" sz="1400" u="sng">
                <a:solidFill>
                  <a:schemeClr val="hlink"/>
                </a:solidFill>
                <a:latin typeface="Times New Roman"/>
                <a:ea typeface="Times New Roman"/>
                <a:cs typeface="Times New Roman"/>
                <a:sym typeface="Times New Roman"/>
                <a:hlinkClick r:id="rId6"/>
              </a:rPr>
              <a:t>https://doi.org/10.1016/S0031-3203(96)00142-2</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sz="1400">
                <a:solidFill>
                  <a:schemeClr val="dk1"/>
                </a:solidFill>
                <a:latin typeface="Times New Roman"/>
                <a:ea typeface="Times New Roman"/>
                <a:cs typeface="Times New Roman"/>
                <a:sym typeface="Times New Roman"/>
              </a:rPr>
              <a:t>[2] Uddin MN, Halder RK. An ensemble method based multilayer dynamic system to predict cardiovascular disease using machine learning approach. Informatics in Medicine Unlocked 2021;24:100584 - </a:t>
            </a:r>
            <a:r>
              <a:rPr lang="en" sz="1400" u="sng">
                <a:solidFill>
                  <a:schemeClr val="hlink"/>
                </a:solidFill>
                <a:latin typeface="Times New Roman"/>
                <a:ea typeface="Times New Roman"/>
                <a:cs typeface="Times New Roman"/>
                <a:sym typeface="Times New Roman"/>
                <a:hlinkClick r:id="rId7"/>
              </a:rPr>
              <a:t>https://doi.org/10.1016/j.imu.2021.100584</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sz="1400">
                <a:solidFill>
                  <a:schemeClr val="dk1"/>
                </a:solidFill>
                <a:latin typeface="Times New Roman"/>
                <a:ea typeface="Times New Roman"/>
                <a:cs typeface="Times New Roman"/>
                <a:sym typeface="Times New Roman"/>
              </a:rPr>
              <a:t>[3] Patro S. P., Padhy N., and Sah R. D., "Classification model for heart disease prediction using correlation and feature selection techniques," in 2022 OITS International Conference on Information Technology (OCIT), Bhubaneswar, India, 14-16 Dec. 2022. IEEE, 2023 - </a:t>
            </a:r>
            <a:r>
              <a:rPr lang="en" sz="1400" u="sng">
                <a:solidFill>
                  <a:schemeClr val="hlink"/>
                </a:solidFill>
                <a:latin typeface="Times New Roman"/>
                <a:ea typeface="Times New Roman"/>
                <a:cs typeface="Times New Roman"/>
                <a:sym typeface="Times New Roman"/>
                <a:hlinkClick r:id="rId8"/>
              </a:rPr>
              <a:t>https://ieeexplore.ieee.org/document/10053797/authors#authors</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sz="1400">
                <a:solidFill>
                  <a:schemeClr val="dk1"/>
                </a:solidFill>
                <a:latin typeface="Times New Roman"/>
                <a:ea typeface="Times New Roman"/>
                <a:cs typeface="Times New Roman"/>
                <a:sym typeface="Times New Roman"/>
              </a:rPr>
              <a:t>[4] Sawhney R, et al. A comparative assessment of artificial intelligence models used for early prediction and evaluation of chronic kidney disease. Decision Analyst J 2023;6,100169 -  </a:t>
            </a:r>
            <a:r>
              <a:rPr lang="en" sz="1400" u="sng">
                <a:solidFill>
                  <a:schemeClr val="hlink"/>
                </a:solidFill>
                <a:latin typeface="Times New Roman"/>
                <a:ea typeface="Times New Roman"/>
                <a:cs typeface="Times New Roman"/>
                <a:sym typeface="Times New Roman"/>
                <a:hlinkClick r:id="rId9"/>
              </a:rPr>
              <a:t>https://doi.org/10.1016/j.dajour.2023.100169</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sz="1400">
                <a:solidFill>
                  <a:schemeClr val="dk1"/>
                </a:solidFill>
                <a:latin typeface="Times New Roman"/>
                <a:ea typeface="Times New Roman"/>
                <a:cs typeface="Times New Roman"/>
                <a:sym typeface="Times New Roman"/>
              </a:rPr>
              <a:t>[5]  Poonia RC, Gupta MK, Abunadi I, et al. Intelligent diagnostic prediction and classification models for detection of kidney disease. Healthcare 2022;10:371.- </a:t>
            </a:r>
            <a:r>
              <a:rPr lang="en" sz="1400" u="sng">
                <a:solidFill>
                  <a:schemeClr val="hlink"/>
                </a:solidFill>
                <a:latin typeface="Times New Roman"/>
                <a:ea typeface="Times New Roman"/>
                <a:cs typeface="Times New Roman"/>
                <a:sym typeface="Times New Roman"/>
                <a:hlinkClick r:id="rId10"/>
              </a:rPr>
              <a:t>https://doi.org/10.3390/healthcare10020371</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p41"/>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269" name="Google Shape;269;p41"/>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pic>
        <p:nvPicPr>
          <p:cNvPr id="270" name="Google Shape;270;p41"/>
          <p:cNvPicPr preferRelativeResize="0"/>
          <p:nvPr/>
        </p:nvPicPr>
        <p:blipFill rotWithShape="1">
          <a:blip r:embed="rId5">
            <a:alphaModFix/>
          </a:blip>
          <a:srcRect b="24800" l="0" r="0" t="0"/>
          <a:stretch/>
        </p:blipFill>
        <p:spPr>
          <a:xfrm>
            <a:off x="6559275" y="0"/>
            <a:ext cx="2612906" cy="521400"/>
          </a:xfrm>
          <a:prstGeom prst="rect">
            <a:avLst/>
          </a:prstGeom>
          <a:noFill/>
          <a:ln>
            <a:noFill/>
          </a:ln>
        </p:spPr>
      </p:pic>
      <p:sp>
        <p:nvSpPr>
          <p:cNvPr id="271" name="Google Shape;271;p41"/>
          <p:cNvSpPr txBox="1"/>
          <p:nvPr/>
        </p:nvSpPr>
        <p:spPr>
          <a:xfrm>
            <a:off x="318263" y="921956"/>
            <a:ext cx="8507475" cy="2738475"/>
          </a:xfrm>
          <a:prstGeom prst="rect">
            <a:avLst/>
          </a:prstGeom>
          <a:noFill/>
          <a:ln>
            <a:noFill/>
          </a:ln>
        </p:spPr>
        <p:txBody>
          <a:bodyPr anchorCtr="0" anchor="t" bIns="68575" lIns="68575" spcFirstLastPara="1" rIns="68575" wrap="square" tIns="6857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Times New Roman"/>
                <a:ea typeface="Times New Roman"/>
                <a:cs typeface="Times New Roman"/>
                <a:sym typeface="Times New Roman"/>
              </a:rPr>
              <a:t>[6] Hassan MM, Ahamad T, Das S. An ensemble learning approach for chronic kidney disease prediction using different machine learning algorithms with correlation based feature selection. 2022 25th International Conference on Computer and Information Technology (ICCIT), Cox’s Bazar, Bangladesh; 2022. p. 242–247 - </a:t>
            </a:r>
            <a:r>
              <a:rPr b="0" i="0" lang="en" sz="1400" u="sng" cap="none" strike="noStrike">
                <a:solidFill>
                  <a:schemeClr val="hlink"/>
                </a:solidFill>
                <a:latin typeface="Times New Roman"/>
                <a:ea typeface="Times New Roman"/>
                <a:cs typeface="Times New Roman"/>
                <a:sym typeface="Times New Roman"/>
                <a:hlinkClick r:id="rId6"/>
              </a:rPr>
              <a:t>https://doi.org/10.1109/ICCIT57492.2022.10055471</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rgbClr val="000000"/>
                </a:solidFill>
                <a:latin typeface="Times New Roman"/>
                <a:ea typeface="Times New Roman"/>
                <a:cs typeface="Times New Roman"/>
                <a:sym typeface="Times New Roman"/>
              </a:rPr>
              <a:t>[7] Debal D. A. and Sitote T. M., "Chronic kidney disease prediction using machine learning techniques," Journal of Big Data, vol. 9, article 109, 20 Nov. 2022 - </a:t>
            </a:r>
            <a:r>
              <a:rPr b="0" i="0" lang="en" sz="1400" u="sng" cap="none" strike="noStrike">
                <a:solidFill>
                  <a:schemeClr val="hlink"/>
                </a:solidFill>
                <a:latin typeface="Times New Roman"/>
                <a:ea typeface="Times New Roman"/>
                <a:cs typeface="Times New Roman"/>
                <a:sym typeface="Times New Roman"/>
                <a:hlinkClick r:id="rId7"/>
              </a:rPr>
              <a:t>https://journalofbigdata.springeropen.com/articles/10.1186/s40537-022-00657-5</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rgbClr val="000000"/>
                </a:solidFill>
                <a:latin typeface="Times New Roman"/>
                <a:ea typeface="Times New Roman"/>
                <a:cs typeface="Times New Roman"/>
                <a:sym typeface="Times New Roman"/>
              </a:rPr>
              <a:t>[8] Wang L-m, Chen J-x, Pei Y, Zhao X, Cui H-t, Cui H-z. Feature selection and prediction of sub-health state using SVM-RFE. 2010 International Conference on Artificial Intelligence and Computational Intelligence, Sanya, China; 2010. p. 199–202 - </a:t>
            </a:r>
            <a:r>
              <a:rPr b="0" i="0" lang="en" sz="1400" u="sng" cap="none" strike="noStrike">
                <a:solidFill>
                  <a:schemeClr val="hlink"/>
                </a:solidFill>
                <a:latin typeface="Times New Roman"/>
                <a:ea typeface="Times New Roman"/>
                <a:cs typeface="Times New Roman"/>
                <a:sym typeface="Times New Roman"/>
                <a:hlinkClick r:id="rId8"/>
              </a:rPr>
              <a:t>https://doi.org/10.1109/AICI.2010.280</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rgbClr val="000000"/>
                </a:solidFill>
                <a:latin typeface="Times New Roman"/>
                <a:ea typeface="Times New Roman"/>
                <a:cs typeface="Times New Roman"/>
                <a:sym typeface="Times New Roman"/>
              </a:rPr>
              <a:t>[9] Newaz A, Muhtadi S. Performance improvement of heart disease prediction by identifying optimal feature sets using feature selection technique. 2021 International Conference on Information Technology (ICIT), Amman, Jordan; 2021. p. 446–450 - </a:t>
            </a:r>
            <a:r>
              <a:rPr b="0" i="0" lang="en" sz="1400" u="sng" cap="none" strike="noStrike">
                <a:solidFill>
                  <a:schemeClr val="hlink"/>
                </a:solidFill>
                <a:latin typeface="Times New Roman"/>
                <a:ea typeface="Times New Roman"/>
                <a:cs typeface="Times New Roman"/>
                <a:sym typeface="Times New Roman"/>
                <a:hlinkClick r:id="rId9"/>
              </a:rPr>
              <a:t>https://doi.org/10.1109/ICIT52682.2021.9491739</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chemeClr val="dk2"/>
              </a:solidFill>
              <a:latin typeface="Times New Roman"/>
              <a:ea typeface="Times New Roman"/>
              <a:cs typeface="Times New Roman"/>
              <a:sym typeface="Times New Roman"/>
            </a:endParaRPr>
          </a:p>
        </p:txBody>
      </p:sp>
      <p:sp>
        <p:nvSpPr>
          <p:cNvPr id="272" name="Google Shape;272;p41"/>
          <p:cNvSpPr txBox="1"/>
          <p:nvPr/>
        </p:nvSpPr>
        <p:spPr>
          <a:xfrm>
            <a:off x="2764425" y="44250"/>
            <a:ext cx="2684250" cy="4329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chemeClr val="dk1"/>
              </a:buClr>
              <a:buSzPts val="800"/>
              <a:buFont typeface="Arial"/>
              <a:buNone/>
            </a:pPr>
            <a:r>
              <a:rPr b="1" i="0" lang="en" sz="2800" u="none" cap="none" strike="noStrike">
                <a:solidFill>
                  <a:schemeClr val="dk1"/>
                </a:solidFill>
                <a:latin typeface="Times New Roman"/>
                <a:ea typeface="Times New Roman"/>
                <a:cs typeface="Times New Roman"/>
                <a:sym typeface="Times New Roman"/>
              </a:rPr>
              <a:t>  REFERENCES</a:t>
            </a:r>
            <a:endParaRPr b="1"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42"/>
          <p:cNvPicPr preferRelativeResize="0"/>
          <p:nvPr/>
        </p:nvPicPr>
        <p:blipFill rotWithShape="1">
          <a:blip r:embed="rId3">
            <a:alphaModFix/>
          </a:blip>
          <a:srcRect b="0" l="0" r="0" t="0"/>
          <a:stretch/>
        </p:blipFill>
        <p:spPr>
          <a:xfrm>
            <a:off x="-28181" y="579075"/>
            <a:ext cx="9200362" cy="114300"/>
          </a:xfrm>
          <a:prstGeom prst="rect">
            <a:avLst/>
          </a:prstGeom>
          <a:noFill/>
          <a:ln>
            <a:noFill/>
          </a:ln>
        </p:spPr>
      </p:pic>
      <p:pic>
        <p:nvPicPr>
          <p:cNvPr id="278" name="Google Shape;278;p42"/>
          <p:cNvPicPr preferRelativeResize="0"/>
          <p:nvPr/>
        </p:nvPicPr>
        <p:blipFill rotWithShape="1">
          <a:blip r:embed="rId4">
            <a:alphaModFix/>
          </a:blip>
          <a:srcRect b="0" l="0" r="0" t="0"/>
          <a:stretch/>
        </p:blipFill>
        <p:spPr>
          <a:xfrm>
            <a:off x="-28181" y="4962750"/>
            <a:ext cx="9200363" cy="180750"/>
          </a:xfrm>
          <a:prstGeom prst="rect">
            <a:avLst/>
          </a:prstGeom>
          <a:noFill/>
          <a:ln>
            <a:noFill/>
          </a:ln>
        </p:spPr>
      </p:pic>
      <p:pic>
        <p:nvPicPr>
          <p:cNvPr id="279" name="Google Shape;279;p42"/>
          <p:cNvPicPr preferRelativeResize="0"/>
          <p:nvPr/>
        </p:nvPicPr>
        <p:blipFill rotWithShape="1">
          <a:blip r:embed="rId5">
            <a:alphaModFix/>
          </a:blip>
          <a:srcRect b="24800" l="0" r="0" t="0"/>
          <a:stretch/>
        </p:blipFill>
        <p:spPr>
          <a:xfrm>
            <a:off x="6559275" y="0"/>
            <a:ext cx="2612906" cy="521400"/>
          </a:xfrm>
          <a:prstGeom prst="rect">
            <a:avLst/>
          </a:prstGeom>
          <a:noFill/>
          <a:ln>
            <a:noFill/>
          </a:ln>
        </p:spPr>
      </p:pic>
      <p:sp>
        <p:nvSpPr>
          <p:cNvPr id="280" name="Google Shape;280;p42"/>
          <p:cNvSpPr txBox="1"/>
          <p:nvPr/>
        </p:nvSpPr>
        <p:spPr>
          <a:xfrm>
            <a:off x="733294" y="2281688"/>
            <a:ext cx="6971625" cy="1562175"/>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chemeClr val="dk2"/>
                </a:solidFill>
                <a:latin typeface="Arial"/>
                <a:ea typeface="Arial"/>
                <a:cs typeface="Arial"/>
                <a:sym typeface="Arial"/>
              </a:rPr>
              <a:t>                          </a:t>
            </a:r>
            <a:r>
              <a:rPr b="0" i="0" lang="en" sz="2700" u="none" cap="none" strike="noStrike">
                <a:solidFill>
                  <a:schemeClr val="dk1"/>
                </a:solidFill>
                <a:latin typeface="Arial"/>
                <a:ea typeface="Arial"/>
                <a:cs typeface="Arial"/>
                <a:sym typeface="Arial"/>
              </a:rPr>
              <a:t>  </a:t>
            </a:r>
            <a:r>
              <a:rPr b="1" i="0" lang="en" sz="2700" u="none" cap="none" strike="noStrike">
                <a:solidFill>
                  <a:schemeClr val="dk1"/>
                </a:solidFill>
                <a:latin typeface="Times New Roman"/>
                <a:ea typeface="Times New Roman"/>
                <a:cs typeface="Times New Roman"/>
                <a:sym typeface="Times New Roman"/>
              </a:rPr>
              <a:t>THANK YOU</a:t>
            </a:r>
            <a:r>
              <a:rPr b="1" i="0" lang="en" sz="2700" u="none" cap="none" strike="noStrike">
                <a:solidFill>
                  <a:schemeClr val="dk2"/>
                </a:solidFill>
                <a:latin typeface="Times New Roman"/>
                <a:ea typeface="Times New Roman"/>
                <a:cs typeface="Times New Roman"/>
                <a:sym typeface="Times New Roman"/>
              </a:rPr>
              <a:t> </a:t>
            </a:r>
            <a:endParaRPr b="1" i="0" sz="27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