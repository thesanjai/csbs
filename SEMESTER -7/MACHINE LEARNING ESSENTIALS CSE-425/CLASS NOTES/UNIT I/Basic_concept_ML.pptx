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70" r:id="rId8"/>
    <p:sldId id="258" r:id="rId9"/>
    <p:sldId id="263" r:id="rId10"/>
    <p:sldId id="265" r:id="rId11"/>
    <p:sldId id="264" r:id="rId12"/>
    <p:sldId id="266" r:id="rId13"/>
    <p:sldId id="267" r:id="rId14"/>
    <p:sldId id="268" r:id="rId15"/>
    <p:sldId id="269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3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120" y="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24D519-666E-4AEB-9D06-6B9B96147E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2A89C1-DB03-4A11-9DE9-37A5F86ED1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42C6DE-FC28-4570-A9D5-280E2ABA50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FECF2-5C66-4F1F-91CD-2C884FDF98DD}" type="datetimeFigureOut">
              <a:rPr lang="en-US" smtClean="0"/>
              <a:t>1/31/2024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8A8CD4-8B67-4D62-8E80-B99EC7E42B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9B5E72-00DD-4A8C-AD3A-C4807ACB3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B3DA4-AD8F-4E4D-B185-6BEFBD83AE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40522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8C364-DCEF-4489-B698-3EDB091BB0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9E9042-4CF4-4913-A55B-0556E57340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24E374-3BA1-426F-8447-FB4CB71C69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FECF2-5C66-4F1F-91CD-2C884FDF98DD}" type="datetimeFigureOut">
              <a:rPr lang="en-US" smtClean="0"/>
              <a:t>1/31/2024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1F5250-6CD2-4E9E-94CC-7D73BB9A99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BB695B-A596-4646-B6CB-023A2336A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B3DA4-AD8F-4E4D-B185-6BEFBD83AE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19381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DFA0EC-D461-41FE-A2BD-819AC050F7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3329B7-1FE0-4AB2-8378-2DFB47C71E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41C947-4B2C-4BBE-A9A8-845FC10CB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FECF2-5C66-4F1F-91CD-2C884FDF98DD}" type="datetimeFigureOut">
              <a:rPr lang="en-US" smtClean="0"/>
              <a:t>1/31/2024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EF81E5-ECE6-43C2-9BA0-C21AD2658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2EC119-1EB6-4A6C-9942-DE16681FDA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B3DA4-AD8F-4E4D-B185-6BEFBD83AE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7931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A7773E-3175-4627-9184-356045A8AE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936A3A-8CE3-4CF9-BF23-0FEF35E9FE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1FE0D4-2CB6-45E2-B651-88ACADA0C9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A56183-01CA-4744-B5F4-0E048A3EEF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FECF2-5C66-4F1F-91CD-2C884FDF98DD}" type="datetimeFigureOut">
              <a:rPr lang="en-US" smtClean="0"/>
              <a:t>1/31/2024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C4C47B-89D7-438C-9EA9-54805B5A6C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80A26C-0F42-4FFA-B9D0-94F40A23D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B3DA4-AD8F-4E4D-B185-6BEFBD83AE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38528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C341D0-7DE3-4CD9-941D-7CCC37919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05F8B2-D009-4D04-B3CF-92467277A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98D7E8-B76B-411B-8FD2-D6A3D2E554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16DFE00-82C8-413C-A846-64C970822A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B53FB00-7270-4C29-894C-D6FD749FEB7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2F3BA2D-7B5B-42EA-8BEA-7F89234F56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FECF2-5C66-4F1F-91CD-2C884FDF98DD}" type="datetimeFigureOut">
              <a:rPr lang="en-US" smtClean="0"/>
              <a:t>1/31/2024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1E6363-14DB-4E45-B14C-F4C108F72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F78AA45-665B-4D33-AE1E-8CD6AA0AF5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B3DA4-AD8F-4E4D-B185-6BEFBD83AE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70585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7ADAD8-5738-4690-A010-EEE2639363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9A269B9-495A-4275-B8B1-6522C9C851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FECF2-5C66-4F1F-91CD-2C884FDF98DD}" type="datetimeFigureOut">
              <a:rPr lang="en-US" smtClean="0"/>
              <a:t>1/31/2024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01DF7EB-F7C8-4C53-8583-0A63CA1B8D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EF259A-4D46-4284-834C-D5F441B760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B3DA4-AD8F-4E4D-B185-6BEFBD83AE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10075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AE68F25-2D51-4F25-A819-3E6862B864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FECF2-5C66-4F1F-91CD-2C884FDF98DD}" type="datetimeFigureOut">
              <a:rPr lang="en-US" smtClean="0"/>
              <a:t>1/31/2024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D4D8D05-015B-4E50-A005-29D81F3D6C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4E828C-85DF-40E9-B886-B8F8B93466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B3DA4-AD8F-4E4D-B185-6BEFBD83AE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34786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D47E68-EB00-432E-BFF2-5993491CD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3BC9DF-FAE2-4FDE-8FA8-E61301E5FD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2587ED-BC6F-45DA-93E6-6DCA1D7205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E516A1-3D6D-4C54-92FF-3C419FC1F3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FECF2-5C66-4F1F-91CD-2C884FDF98DD}" type="datetimeFigureOut">
              <a:rPr lang="en-US" smtClean="0"/>
              <a:t>1/31/2024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4DFD2D-16F5-4C23-B573-6B40CBC28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2E34A4-2E98-4ADB-A0C8-478109AC8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B3DA4-AD8F-4E4D-B185-6BEFBD83AE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64843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19BF9A-E4E2-45A9-A78F-23ADC0C7F0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B92A042-2849-46A1-B6F6-AF81A0C9CF9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387B1A-1B3D-4F27-8AE8-BEB4AD21D8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A93991-F45C-4895-A644-86028C7EAF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FECF2-5C66-4F1F-91CD-2C884FDF98DD}" type="datetimeFigureOut">
              <a:rPr lang="en-US" smtClean="0"/>
              <a:t>1/31/2024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8EFC0D-5A7A-4A38-B13D-527EB06626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458F9D-0D25-42DF-8DEF-3BC54E010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B3DA4-AD8F-4E4D-B185-6BEFBD83AE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53055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02C331-ABE6-47F3-BE21-B12162B424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CC341A-15DA-4856-90C7-25BD409868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D4C7D6-863C-4121-ACFD-0D9D2EEE38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FECF2-5C66-4F1F-91CD-2C884FDF98DD}" type="datetimeFigureOut">
              <a:rPr lang="en-US" smtClean="0"/>
              <a:t>1/31/2024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F3E8D7-C4D6-4A85-9E61-768E905B58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471299-38A8-4214-B95A-7D0BB44148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B3DA4-AD8F-4E4D-B185-6BEFBD83AE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82948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6347C5D-559E-411A-8D3B-C9B00DF716C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A2EA16-814E-4B50-BC70-4D989E014A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D6161C-88C5-4BC0-9CC3-8B2D05F497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FECF2-5C66-4F1F-91CD-2C884FDF98DD}" type="datetimeFigureOut">
              <a:rPr lang="en-US" smtClean="0"/>
              <a:t>1/31/2024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CC3461-57B7-429E-957F-5B3EE108EB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D04192-3680-4E3B-8396-B1DFFBD57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B3DA4-AD8F-4E4D-B185-6BEFBD83AE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152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BBE22F3-A7AC-45CB-BBA0-74C46CEF1A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69BA92-F253-4856-8C59-75A5E5F2AB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54A561-7297-4219-812D-8D1700D735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AFECF2-5C66-4F1F-91CD-2C884FDF98DD}" type="datetimeFigureOut">
              <a:rPr lang="en-US" smtClean="0"/>
              <a:t>1/31/2024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F561F0-C72A-499B-8F09-C315F9717D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E06E09-F0E9-4F9E-A255-DD244DF5A7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6B3DA4-AD8F-4E4D-B185-6BEFBD83AE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91937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chemicalstatistician.wordpress.com/2014/01/04/machine-learning-lesson-of-the-day-supervised-and-unsupervised-learning/" TargetMode="External"/><Relationship Id="rId2" Type="http://schemas.openxmlformats.org/officeDocument/2006/relationships/hyperlink" Target="https://chemicalstatistician.wordpress.com/2014/01/05/machine-learning-lesson-of-the-day-classification-and-regression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chemicalstatistician.wordpress.com/2014/01/17/machine-learning-lesson-of-the-day-cross-validation/" TargetMode="External"/><Relationship Id="rId4" Type="http://schemas.openxmlformats.org/officeDocument/2006/relationships/hyperlink" Target="https://chemicalstatistician.wordpress.com/2014/01/07/machine-learning-lesson-of-the-day-using-validation-to-assess-predictive-accuracy-in-supervised-learning/" TargetMode="Externa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0E93A9-D04C-4B77-A204-9228BF9F69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35200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Overfitting, underfitting, Best Fitting, Bias, Variance, Regularization</a:t>
            </a:r>
          </a:p>
        </p:txBody>
      </p:sp>
    </p:spTree>
    <p:extLst>
      <p:ext uri="{BB962C8B-B14F-4D97-AF65-F5344CB8AC3E}">
        <p14:creationId xmlns:p14="http://schemas.microsoft.com/office/powerpoint/2010/main" val="3395446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BB2C7-1D71-4999-834B-4E7125CDCB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Overfitting, Underfitting and Best fitting</a:t>
            </a:r>
          </a:p>
        </p:txBody>
      </p:sp>
      <p:pic>
        <p:nvPicPr>
          <p:cNvPr id="1026" name="Picture 2" descr="https://miro.medium.com/v2/resize:fit:700/1*gltEOsHRO4IjbyD7pcsrmA.jpeg">
            <a:extLst>
              <a:ext uri="{FF2B5EF4-FFF2-40B4-BE49-F238E27FC236}">
                <a16:creationId xmlns:a16="http://schemas.microsoft.com/office/drawing/2014/main" id="{B77406AF-A382-471D-B486-722E215C971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2021" y="1825625"/>
            <a:ext cx="8367957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228081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D3ADC-D3B8-4B03-8500-6A9D714415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Overfitting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279983-8686-4D70-8C5A-3EAB099793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b="1" dirty="0"/>
              <a:t>Overfitting</a:t>
            </a:r>
            <a:r>
              <a:rPr lang="en-US" dirty="0"/>
              <a:t> occurs when a </a:t>
            </a:r>
            <a:r>
              <a:rPr lang="en-US" u="sng" dirty="0">
                <a:hlinkClick r:id="rId2"/>
              </a:rPr>
              <a:t>statistical model</a:t>
            </a:r>
            <a:r>
              <a:rPr lang="en-US" dirty="0"/>
              <a:t> or </a:t>
            </a:r>
            <a:r>
              <a:rPr lang="en-US" u="sng" dirty="0">
                <a:hlinkClick r:id="rId3"/>
              </a:rPr>
              <a:t>machine learning</a:t>
            </a:r>
            <a:r>
              <a:rPr lang="en-US" dirty="0"/>
              <a:t> algorithm </a:t>
            </a:r>
            <a:r>
              <a:rPr lang="en-US" b="1" dirty="0"/>
              <a:t>captures the noise</a:t>
            </a:r>
            <a:r>
              <a:rPr lang="en-US" dirty="0"/>
              <a:t> of the data. Intuitively, overfitting occurs when the model or the algorithm fits the data too well. Specifically, overfitting occurs if the model or algorithm shows </a:t>
            </a:r>
            <a:r>
              <a:rPr lang="en-US" b="1" dirty="0"/>
              <a:t>low bias</a:t>
            </a:r>
            <a:r>
              <a:rPr lang="en-US" dirty="0"/>
              <a:t> but </a:t>
            </a:r>
            <a:r>
              <a:rPr lang="en-US" b="1" dirty="0"/>
              <a:t>high variance</a:t>
            </a:r>
            <a:r>
              <a:rPr lang="en-US" dirty="0"/>
              <a:t>. Overfitting is often a result of an excessively complicated model, and it can be prevented by fitting multiple models and using </a:t>
            </a:r>
            <a:r>
              <a:rPr lang="en-US" u="sng" dirty="0">
                <a:hlinkClick r:id="rId4"/>
              </a:rPr>
              <a:t>validation</a:t>
            </a:r>
            <a:r>
              <a:rPr lang="en-US" dirty="0"/>
              <a:t> or </a:t>
            </a:r>
            <a:r>
              <a:rPr lang="en-US" u="sng" dirty="0">
                <a:hlinkClick r:id="rId5"/>
              </a:rPr>
              <a:t>cross-validation</a:t>
            </a:r>
            <a:r>
              <a:rPr lang="en-US" dirty="0"/>
              <a:t> to compare their predictive accuracies on test data.</a:t>
            </a:r>
          </a:p>
        </p:txBody>
      </p:sp>
    </p:spTree>
    <p:extLst>
      <p:ext uri="{BB962C8B-B14F-4D97-AF65-F5344CB8AC3E}">
        <p14:creationId xmlns:p14="http://schemas.microsoft.com/office/powerpoint/2010/main" val="36741583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953BF-5544-4BBE-A937-C9412804D1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Underfitting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7CF82E-2273-428D-B671-0013A0D20E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b="1" dirty="0"/>
              <a:t>Underfitting</a:t>
            </a:r>
            <a:r>
              <a:rPr lang="en-US" dirty="0"/>
              <a:t> occurs when a statistical model or machine learning algorithm </a:t>
            </a:r>
            <a:r>
              <a:rPr lang="en-US" b="1" dirty="0"/>
              <a:t>cannot capture the underlying trend</a:t>
            </a:r>
            <a:r>
              <a:rPr lang="en-US" dirty="0"/>
              <a:t> of the data. Intuitively, underfitting occurs when the model or the algorithm does not fit the data well enough. Specifically, underfitting occurs if the model or algorithm shows </a:t>
            </a:r>
            <a:r>
              <a:rPr lang="en-US" b="1" dirty="0"/>
              <a:t>low variance</a:t>
            </a:r>
            <a:r>
              <a:rPr lang="en-US" dirty="0"/>
              <a:t> but </a:t>
            </a:r>
            <a:r>
              <a:rPr lang="en-US" b="1" dirty="0"/>
              <a:t>high bias</a:t>
            </a:r>
            <a:r>
              <a:rPr lang="en-US" dirty="0"/>
              <a:t>. Underfitting is often a result of an excessively simple model.</a:t>
            </a:r>
          </a:p>
          <a:p>
            <a:pPr algn="just"/>
            <a:r>
              <a:rPr lang="en-US" dirty="0"/>
              <a:t>Both overfitting and underfitting lead to </a:t>
            </a:r>
            <a:r>
              <a:rPr lang="en-US" b="1" dirty="0"/>
              <a:t>poor predictions</a:t>
            </a:r>
            <a:r>
              <a:rPr lang="en-US" dirty="0"/>
              <a:t> on new data sets.</a:t>
            </a:r>
          </a:p>
        </p:txBody>
      </p:sp>
    </p:spTree>
    <p:extLst>
      <p:ext uri="{BB962C8B-B14F-4D97-AF65-F5344CB8AC3E}">
        <p14:creationId xmlns:p14="http://schemas.microsoft.com/office/powerpoint/2010/main" val="24767064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2B6EA1-BB9B-4432-851C-B1C7DB5EFF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Bias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2179F5-D5D3-4DF9-B53C-73103BD8EA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b="1" dirty="0"/>
              <a:t>What is Bias?</a:t>
            </a:r>
            <a:endParaRPr lang="en-US" dirty="0"/>
          </a:p>
          <a:p>
            <a:pPr algn="just"/>
            <a:r>
              <a:rPr lang="en-US" dirty="0"/>
              <a:t>Bias is the difference between the average prediction of our model and the correct value which we are trying to predict. A model with high bias pays very little attention to the training data and oversimplifies the model.</a:t>
            </a:r>
          </a:p>
          <a:p>
            <a:pPr algn="just"/>
            <a:r>
              <a:rPr lang="en-US" b="1" dirty="0"/>
              <a:t>Simple definition:</a:t>
            </a:r>
            <a:r>
              <a:rPr lang="en-US" dirty="0"/>
              <a:t> “Resulted Error from Training Data!”</a:t>
            </a:r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56109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8BA16-8040-4F9E-BC71-5015E3BA14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Variance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AE210A-6F0B-48A5-B6B4-8B2D694D22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b="1" dirty="0"/>
              <a:t>What is a Variance?</a:t>
            </a:r>
            <a:endParaRPr lang="en-US" dirty="0"/>
          </a:p>
          <a:p>
            <a:pPr algn="just"/>
            <a:r>
              <a:rPr lang="en-US" dirty="0"/>
              <a:t>Variance is the variability of model prediction for a given data point or a value that tells us the spread of our data. A model with high variance pays a lot of attention to training data and does not generalize on the data which it hasn’t seen before.</a:t>
            </a:r>
          </a:p>
          <a:p>
            <a:pPr algn="just"/>
            <a:r>
              <a:rPr lang="en-US" b="1" dirty="0"/>
              <a:t>Simple definition:</a:t>
            </a:r>
            <a:r>
              <a:rPr lang="en-US" dirty="0"/>
              <a:t> “Resulted Error from Test Data!”</a:t>
            </a:r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49341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BE629C-558F-4D0A-B8CA-69130D963B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 b="1" dirty="0">
                <a:solidFill>
                  <a:srgbClr val="FF0000"/>
                </a:solidFill>
              </a:rPr>
              <a:t>Bias, Variance, Overfitting, Underfitting, Capacity </a:t>
            </a:r>
          </a:p>
        </p:txBody>
      </p:sp>
      <p:pic>
        <p:nvPicPr>
          <p:cNvPr id="4" name="Content Placeholder 3" descr="Bias VS. Variance in Machine Learning - CodeSpeedy">
            <a:extLst>
              <a:ext uri="{FF2B5EF4-FFF2-40B4-BE49-F238E27FC236}">
                <a16:creationId xmlns:a16="http://schemas.microsoft.com/office/drawing/2014/main" id="{87F4F7BE-357F-49BE-AC75-B203BC521989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4784" y="1861234"/>
            <a:ext cx="8382431" cy="428012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024185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CE8D763-F899-489F-AE85-0A2DF04D3A5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76109" y="500588"/>
            <a:ext cx="6839782" cy="6099846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E78B56D-6130-45C1-8CDD-598122E3E6F2}"/>
              </a:ext>
            </a:extLst>
          </p:cNvPr>
          <p:cNvSpPr/>
          <p:nvPr/>
        </p:nvSpPr>
        <p:spPr>
          <a:xfrm>
            <a:off x="3842472" y="147568"/>
            <a:ext cx="518466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b="0" i="0" dirty="0">
                <a:solidFill>
                  <a:srgbClr val="FF0000"/>
                </a:solidFill>
                <a:effectLst/>
                <a:latin typeface="source-serif-pro"/>
              </a:rPr>
              <a:t>Considering </a:t>
            </a:r>
            <a:r>
              <a:rPr lang="en-US" sz="2800" b="1" i="0" dirty="0">
                <a:solidFill>
                  <a:srgbClr val="FF0000"/>
                </a:solidFill>
                <a:effectLst/>
                <a:latin typeface="source-serif-pro"/>
              </a:rPr>
              <a:t>Regression</a:t>
            </a:r>
            <a:r>
              <a:rPr lang="en-US" sz="2800" b="0" i="0" dirty="0">
                <a:solidFill>
                  <a:srgbClr val="FF0000"/>
                </a:solidFill>
                <a:effectLst/>
                <a:latin typeface="source-serif-pro"/>
              </a:rPr>
              <a:t> models: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0583779-2F22-41D7-8D02-4B9724718F0B}"/>
              </a:ext>
            </a:extLst>
          </p:cNvPr>
          <p:cNvSpPr/>
          <p:nvPr/>
        </p:nvSpPr>
        <p:spPr>
          <a:xfrm>
            <a:off x="0" y="4403404"/>
            <a:ext cx="475655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i="0" dirty="0">
                <a:solidFill>
                  <a:srgbClr val="FF0000"/>
                </a:solidFill>
                <a:effectLst/>
                <a:latin typeface="source-serif-pro"/>
              </a:rPr>
              <a:t>“Bias is Error resulted from Training set, while Variance is error resulted from Test set!”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3CE8DE7-5FC1-4474-A7F2-96E7FD143EE2}"/>
              </a:ext>
            </a:extLst>
          </p:cNvPr>
          <p:cNvSpPr/>
          <p:nvPr/>
        </p:nvSpPr>
        <p:spPr>
          <a:xfrm>
            <a:off x="8940082" y="1784650"/>
            <a:ext cx="276793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i="0" dirty="0">
                <a:solidFill>
                  <a:srgbClr val="FF0000"/>
                </a:solidFill>
                <a:effectLst/>
                <a:latin typeface="source-serif-pro"/>
              </a:rPr>
              <a:t>Low Bias-low training error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BB4811B-0487-4F24-B48F-E37944A498E9}"/>
              </a:ext>
            </a:extLst>
          </p:cNvPr>
          <p:cNvSpPr/>
          <p:nvPr/>
        </p:nvSpPr>
        <p:spPr>
          <a:xfrm>
            <a:off x="8767886" y="2415592"/>
            <a:ext cx="311232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i="0" dirty="0">
                <a:solidFill>
                  <a:srgbClr val="FF0000"/>
                </a:solidFill>
                <a:effectLst/>
                <a:latin typeface="source-serif-pro"/>
              </a:rPr>
              <a:t>Low Variance-low testing error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52311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09FA0-CA5B-4F71-A06F-A2B15DF256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737" y="-79570"/>
            <a:ext cx="11329443" cy="1325563"/>
          </a:xfrm>
        </p:spPr>
        <p:txBody>
          <a:bodyPr>
            <a:normAutofit/>
          </a:bodyPr>
          <a:lstStyle/>
          <a:p>
            <a:pPr algn="ctr"/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Overfitting, Underfitting and Best fit in classification problem Like </a:t>
            </a:r>
            <a:b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(SVM, KNN, Naïve Bayes, Random Forest, Decision Tree)</a:t>
            </a:r>
          </a:p>
        </p:txBody>
      </p:sp>
      <p:pic>
        <p:nvPicPr>
          <p:cNvPr id="2050" name="Picture 2" descr="https://miro.medium.com/v2/resize:fit:700/1*jIDm8baVGdGM_6pixvgIig.jpeg">
            <a:extLst>
              <a:ext uri="{FF2B5EF4-FFF2-40B4-BE49-F238E27FC236}">
                <a16:creationId xmlns:a16="http://schemas.microsoft.com/office/drawing/2014/main" id="{CF1A2C26-0AF8-4DBC-93BD-41825F2615D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4844" y="1004347"/>
            <a:ext cx="4402344" cy="59431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754361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5A9CDE-2F88-4584-B4E3-4FFFAF7F51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Visualization of Bias and Variance</a:t>
            </a:r>
          </a:p>
        </p:txBody>
      </p:sp>
      <p:pic>
        <p:nvPicPr>
          <p:cNvPr id="3074" name="Picture 2" descr="Variance-Bias-Visualization">
            <a:extLst>
              <a:ext uri="{FF2B5EF4-FFF2-40B4-BE49-F238E27FC236}">
                <a16:creationId xmlns:a16="http://schemas.microsoft.com/office/drawing/2014/main" id="{A5DB28DB-CD8F-4CBF-8C6D-5385525D48D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6761" y="1825625"/>
            <a:ext cx="9998478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782719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56BF65-C123-4B6C-8421-1EB480CC1B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820" y="43934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7030A0"/>
                </a:solidFill>
              </a:rPr>
              <a:t>Regularization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35285D-F9F7-484D-8AFE-347B614F1C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453" y="1166326"/>
            <a:ext cx="11158473" cy="5421086"/>
          </a:xfrm>
        </p:spPr>
        <p:txBody>
          <a:bodyPr>
            <a:normAutofit fontScale="77500" lnSpcReduction="20000"/>
          </a:bodyPr>
          <a:lstStyle/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3600" dirty="0">
                <a:solidFill>
                  <a:srgbClr val="610B4B"/>
                </a:solidFill>
                <a:latin typeface="erdana"/>
              </a:rPr>
              <a:t>How does Regularization Work?</a:t>
            </a: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dirty="0">
                <a:solidFill>
                  <a:srgbClr val="333333"/>
                </a:solidFill>
                <a:latin typeface="inter-regular"/>
              </a:rPr>
              <a:t>Regularization works by </a:t>
            </a:r>
            <a:r>
              <a:rPr lang="en-US" altLang="en-US" dirty="0">
                <a:solidFill>
                  <a:srgbClr val="FF0000"/>
                </a:solidFill>
                <a:latin typeface="inter-regular"/>
              </a:rPr>
              <a:t>adding a penalty </a:t>
            </a:r>
            <a:r>
              <a:rPr lang="en-US" altLang="en-US" dirty="0">
                <a:solidFill>
                  <a:srgbClr val="333333"/>
                </a:solidFill>
                <a:latin typeface="inter-regular"/>
              </a:rPr>
              <a:t>or complexity term to the complex model. Let's consider the simple linear regression equation:</a:t>
            </a: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1400" dirty="0"/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dirty="0">
                <a:solidFill>
                  <a:srgbClr val="FF0000"/>
                </a:solidFill>
                <a:latin typeface="Cambria" panose="02040503050406030204" pitchFamily="18" charset="0"/>
              </a:rPr>
              <a:t>y= β0+β1x1+β2x2+β3x3+⋯+β</a:t>
            </a:r>
            <a:r>
              <a:rPr lang="en-US" altLang="en-US" dirty="0" err="1">
                <a:solidFill>
                  <a:srgbClr val="FF0000"/>
                </a:solidFill>
                <a:latin typeface="Cambria" panose="02040503050406030204" pitchFamily="18" charset="0"/>
              </a:rPr>
              <a:t>nxn</a:t>
            </a:r>
            <a:r>
              <a:rPr lang="en-US" altLang="en-US" dirty="0">
                <a:solidFill>
                  <a:srgbClr val="FF0000"/>
                </a:solidFill>
                <a:latin typeface="Cambria" panose="02040503050406030204" pitchFamily="18" charset="0"/>
              </a:rPr>
              <a:t> +b</a:t>
            </a:r>
            <a:endParaRPr lang="en-US" altLang="en-US" sz="1400" dirty="0">
              <a:solidFill>
                <a:srgbClr val="FF0000"/>
              </a:solidFill>
            </a:endParaRP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dirty="0">
                <a:solidFill>
                  <a:srgbClr val="333333"/>
                </a:solidFill>
                <a:latin typeface="inter-regular"/>
              </a:rPr>
              <a:t>In the above equation, Y represents the value to be predicted</a:t>
            </a: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1400" dirty="0"/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dirty="0">
                <a:solidFill>
                  <a:srgbClr val="333333"/>
                </a:solidFill>
                <a:latin typeface="inter-regular"/>
              </a:rPr>
              <a:t>X1, X2, …</a:t>
            </a:r>
            <a:r>
              <a:rPr lang="en-US" altLang="en-US" dirty="0" err="1">
                <a:solidFill>
                  <a:srgbClr val="333333"/>
                </a:solidFill>
                <a:latin typeface="inter-regular"/>
              </a:rPr>
              <a:t>Xn</a:t>
            </a:r>
            <a:r>
              <a:rPr lang="en-US" altLang="en-US" dirty="0">
                <a:solidFill>
                  <a:srgbClr val="333333"/>
                </a:solidFill>
                <a:latin typeface="inter-regular"/>
              </a:rPr>
              <a:t> are the features for Y.</a:t>
            </a: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1400" dirty="0"/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b="1" dirty="0">
                <a:solidFill>
                  <a:srgbClr val="FF0000"/>
                </a:solidFill>
                <a:latin typeface="inter-regular"/>
              </a:rPr>
              <a:t>β0,β1,…..βn are the weights</a:t>
            </a:r>
            <a:r>
              <a:rPr lang="en-US" altLang="en-US" dirty="0">
                <a:solidFill>
                  <a:srgbClr val="333333"/>
                </a:solidFill>
                <a:latin typeface="inter-regular"/>
              </a:rPr>
              <a:t> or magnitude attached to the features, respectively. Here represents the </a:t>
            </a:r>
            <a:r>
              <a:rPr lang="en-US" altLang="en-US" b="1" dirty="0">
                <a:solidFill>
                  <a:srgbClr val="FF0000"/>
                </a:solidFill>
                <a:latin typeface="inter-regular"/>
              </a:rPr>
              <a:t>bias of the model</a:t>
            </a:r>
            <a:r>
              <a:rPr lang="en-US" altLang="en-US" dirty="0">
                <a:solidFill>
                  <a:srgbClr val="333333"/>
                </a:solidFill>
                <a:latin typeface="inter-regular"/>
              </a:rPr>
              <a:t>, and b represents the intercept.</a:t>
            </a:r>
            <a:endParaRPr lang="en-US" altLang="en-US" sz="1400" dirty="0"/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dirty="0">
                <a:solidFill>
                  <a:srgbClr val="333333"/>
                </a:solidFill>
                <a:latin typeface="inter-regular"/>
              </a:rPr>
              <a:t>Linear regression models try to optimize the β0 and b to minimize the cost function. The equation for the cost function for the linear model is given below:</a:t>
            </a: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1400" dirty="0"/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4000" dirty="0">
                <a:latin typeface="Arial" panose="020B0604020202020204" pitchFamily="34" charset="0"/>
              </a:rPr>
              <a:t>  </a:t>
            </a: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6000" dirty="0">
              <a:latin typeface="Arial" panose="020B0604020202020204" pitchFamily="34" charset="0"/>
            </a:endParaRP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dirty="0">
                <a:solidFill>
                  <a:srgbClr val="333333"/>
                </a:solidFill>
                <a:latin typeface="inter-regular"/>
              </a:rPr>
              <a:t>Now, we will add a loss function and optimize parameter to make the model that can predict the accurate value of Y. The loss function for the linear regression is called as </a:t>
            </a:r>
            <a:r>
              <a:rPr lang="en-US" altLang="en-US" b="1" dirty="0">
                <a:solidFill>
                  <a:srgbClr val="333333"/>
                </a:solidFill>
                <a:latin typeface="inter-bold"/>
              </a:rPr>
              <a:t>RSS or Residual sum of squares.</a:t>
            </a:r>
            <a:endParaRPr lang="en-US" altLang="en-US" sz="4000" dirty="0">
              <a:latin typeface="Arial" panose="020B0604020202020204" pitchFamily="34" charset="0"/>
            </a:endParaRPr>
          </a:p>
          <a:p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09725F8-A4E8-45D8-A2B5-8A05505AC9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03634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052" name="Picture 4" descr="Regularization in Machine Learning">
            <a:extLst>
              <a:ext uri="{FF2B5EF4-FFF2-40B4-BE49-F238E27FC236}">
                <a16:creationId xmlns:a16="http://schemas.microsoft.com/office/drawing/2014/main" id="{BEA3E4F1-293F-4AFA-BA86-E0E67352AC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8287" y="4679010"/>
            <a:ext cx="7344228" cy="6021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160498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852CFE-47D7-466B-A3D2-3FE77574E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rgbClr val="FF0000"/>
                </a:solidFill>
              </a:rPr>
              <a:t>Types of Regularization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2002C3-A174-4301-87C6-A183C07694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63760"/>
            <a:ext cx="10974355" cy="5442922"/>
          </a:xfrm>
        </p:spPr>
        <p:txBody>
          <a:bodyPr>
            <a:normAutofit/>
          </a:bodyPr>
          <a:lstStyle/>
          <a:p>
            <a:pPr algn="ctr"/>
            <a:r>
              <a:rPr lang="en-US" sz="2000" b="1" dirty="0">
                <a:solidFill>
                  <a:srgbClr val="7030A0"/>
                </a:solidFill>
              </a:rPr>
              <a:t>Ridge</a:t>
            </a:r>
          </a:p>
          <a:p>
            <a:pPr algn="ctr"/>
            <a:r>
              <a:rPr lang="en-US" sz="2000" b="1" dirty="0">
                <a:solidFill>
                  <a:srgbClr val="7030A0"/>
                </a:solidFill>
              </a:rPr>
              <a:t>Lasso</a:t>
            </a:r>
          </a:p>
          <a:p>
            <a:pPr algn="just"/>
            <a:r>
              <a:rPr lang="en-US" sz="2000" b="1" dirty="0">
                <a:solidFill>
                  <a:srgbClr val="FF0000"/>
                </a:solidFill>
              </a:rPr>
              <a:t>Ridge Regression</a:t>
            </a:r>
          </a:p>
          <a:p>
            <a:pPr algn="just"/>
            <a:r>
              <a:rPr lang="en-US" sz="2000" dirty="0"/>
              <a:t>Ridge regression is one of the types of linear regression in which a small amount of bias is introduced so that we can get better long-term predictions.</a:t>
            </a:r>
          </a:p>
          <a:p>
            <a:pPr algn="just"/>
            <a:r>
              <a:rPr lang="en-US" sz="2000" dirty="0"/>
              <a:t>Ridge regression is a regularization technique, which is used to reduce the complexity of the model. It is also called as </a:t>
            </a:r>
            <a:r>
              <a:rPr lang="en-US" sz="2000" b="1" dirty="0"/>
              <a:t>L2 regularization</a:t>
            </a:r>
            <a:r>
              <a:rPr lang="en-US" sz="2000" dirty="0"/>
              <a:t>.</a:t>
            </a:r>
          </a:p>
          <a:p>
            <a:pPr algn="just"/>
            <a:r>
              <a:rPr lang="en-US" sz="2000" dirty="0"/>
              <a:t>In this technique, the cost function is altered by adding the penalty term to it. The amount of bias added to the model is called </a:t>
            </a:r>
            <a:r>
              <a:rPr lang="en-US" sz="2000" b="1" dirty="0"/>
              <a:t>Ridge Regression penalty</a:t>
            </a:r>
            <a:r>
              <a:rPr lang="en-US" sz="2000" dirty="0"/>
              <a:t>. We can calculate it by multiplying with the lambda to the squared weight of each individual feature.</a:t>
            </a:r>
          </a:p>
          <a:p>
            <a:pPr algn="just"/>
            <a:r>
              <a:rPr lang="en-US" sz="2000" dirty="0"/>
              <a:t>The equation for the cost function in ridge regression will be:</a:t>
            </a:r>
          </a:p>
          <a:p>
            <a:pPr algn="just"/>
            <a:endParaRPr lang="en-US" sz="2000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4100" name="Picture 4" descr="Regularization in Machine Learning">
            <a:extLst>
              <a:ext uri="{FF2B5EF4-FFF2-40B4-BE49-F238E27FC236}">
                <a16:creationId xmlns:a16="http://schemas.microsoft.com/office/drawing/2014/main" id="{BBA728A2-7287-42EE-868E-5B4A720EE2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3250" y="5494240"/>
            <a:ext cx="5905500" cy="876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804232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938CEC-01EA-4422-A844-D76E76C6C5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1AC8C2-312C-4AF0-AA63-8DE69AAEE4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/>
            <a:r>
              <a:rPr lang="en-US" dirty="0"/>
              <a:t>In the above equation, the penalty term regularizes the coefficients of the model, and hence ridge regression reduces the amplitudes of the coefficients that decreases the complexity of the model.</a:t>
            </a:r>
          </a:p>
          <a:p>
            <a:pPr algn="just"/>
            <a:r>
              <a:rPr lang="en-US" dirty="0"/>
              <a:t>As we can see from the above equation, if the values of </a:t>
            </a:r>
            <a:r>
              <a:rPr lang="en-US" b="1" dirty="0"/>
              <a:t>λ tend to zero, the equation becomes the cost function of the linear regression model.</a:t>
            </a:r>
            <a:r>
              <a:rPr lang="en-US" dirty="0"/>
              <a:t> Hence, for the minimum value of λ, the model will resemble the linear regression model.</a:t>
            </a:r>
          </a:p>
          <a:p>
            <a:pPr algn="just"/>
            <a:r>
              <a:rPr lang="en-US" dirty="0"/>
              <a:t>A general linear or polynomial regression will fail if there is high collinearity between the independent variables, so to solve such problems, Ridge regression can be used.</a:t>
            </a:r>
          </a:p>
          <a:p>
            <a:pPr algn="just"/>
            <a:r>
              <a:rPr lang="en-US" dirty="0"/>
              <a:t>It helps to solve the problems if we have more parameters than samples.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78396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8E989-3E50-480B-A2E9-2800031190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7030A0"/>
                </a:solidFill>
              </a:rPr>
              <a:t>Lasso Regression: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0F586E-9B02-4E4A-A2C4-69BCC0CCA2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32523"/>
            <a:ext cx="10515600" cy="4351338"/>
          </a:xfrm>
        </p:spPr>
        <p:txBody>
          <a:bodyPr>
            <a:normAutofit fontScale="77500" lnSpcReduction="20000"/>
          </a:bodyPr>
          <a:lstStyle/>
          <a:p>
            <a:pPr algn="just"/>
            <a:r>
              <a:rPr lang="en-US" dirty="0"/>
              <a:t>Lasso regression is another regularization technique to reduce the complexity of the model. It stands for </a:t>
            </a:r>
            <a:r>
              <a:rPr lang="en-US" b="1" dirty="0"/>
              <a:t>Least Absolute and Selection Operator.</a:t>
            </a:r>
            <a:endParaRPr lang="en-US" dirty="0"/>
          </a:p>
          <a:p>
            <a:pPr algn="just"/>
            <a:r>
              <a:rPr lang="en-US" dirty="0"/>
              <a:t>It is similar to the Ridge Regression except that the penalty term contains only the absolute weights instead of a square of weights.</a:t>
            </a:r>
          </a:p>
          <a:p>
            <a:pPr algn="just"/>
            <a:r>
              <a:rPr lang="en-US" dirty="0"/>
              <a:t>Since it takes absolute values, hence, it can shrink the slope to 0, whereas Ridge Regression can only shrink it near to 0.</a:t>
            </a:r>
          </a:p>
          <a:p>
            <a:pPr algn="just"/>
            <a:r>
              <a:rPr lang="en-US" dirty="0"/>
              <a:t>It is also called as </a:t>
            </a:r>
            <a:r>
              <a:rPr lang="en-US" b="1" dirty="0"/>
              <a:t>L1 regularization.</a:t>
            </a:r>
            <a:r>
              <a:rPr lang="en-US" dirty="0"/>
              <a:t> The equation for the cost function of Lasso regression will be:</a:t>
            </a:r>
          </a:p>
          <a:p>
            <a:pPr marL="0" indent="0" algn="just">
              <a:buNone/>
            </a:pPr>
            <a:br>
              <a:rPr lang="en-US" dirty="0"/>
            </a:br>
            <a:endParaRPr lang="en-US" dirty="0"/>
          </a:p>
          <a:p>
            <a:pPr marL="0" indent="0" algn="just">
              <a:buNone/>
            </a:pPr>
            <a:endParaRPr lang="en-US" dirty="0"/>
          </a:p>
          <a:p>
            <a:r>
              <a:rPr lang="en-US" dirty="0"/>
              <a:t>Some of the features in this technique are completely neglected for model evaluation.</a:t>
            </a:r>
          </a:p>
          <a:p>
            <a:r>
              <a:rPr lang="en-US" dirty="0"/>
              <a:t>Hence, the Lasso regression can help us to reduce the overfitting in the model as well as the feature selection.</a:t>
            </a:r>
          </a:p>
          <a:p>
            <a:pPr marL="0" indent="0" algn="just">
              <a:buNone/>
            </a:pPr>
            <a:endParaRPr lang="en-US" dirty="0"/>
          </a:p>
        </p:txBody>
      </p:sp>
      <p:pic>
        <p:nvPicPr>
          <p:cNvPr id="5122" name="Picture 2" descr="Regularization in Machine Learning">
            <a:extLst>
              <a:ext uri="{FF2B5EF4-FFF2-40B4-BE49-F238E27FC236}">
                <a16:creationId xmlns:a16="http://schemas.microsoft.com/office/drawing/2014/main" id="{A00AE863-68E6-42D9-8EF3-5D5A817142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83670" y="3341429"/>
            <a:ext cx="5800725" cy="866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077283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73D99B-3C5E-47EE-9FF8-2F971BFB81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798039-24A4-41EF-A1C5-AB6F9982F8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Key Difference between Ridge Regression and Lasso Regression</a:t>
            </a:r>
          </a:p>
          <a:p>
            <a:pPr algn="just"/>
            <a:r>
              <a:rPr lang="en-US" b="1" dirty="0"/>
              <a:t>Ridge regression</a:t>
            </a:r>
            <a:r>
              <a:rPr lang="en-US" dirty="0"/>
              <a:t> is mostly used to reduce the overfitting in the model, and it includes all the features present in the model. It reduces the complexity of the model by shrinking the coefficients.</a:t>
            </a:r>
          </a:p>
          <a:p>
            <a:pPr algn="just"/>
            <a:r>
              <a:rPr lang="en-US" b="1" dirty="0"/>
              <a:t>Lasso regression</a:t>
            </a:r>
            <a:r>
              <a:rPr lang="en-US" dirty="0"/>
              <a:t> helps to reduce the overfitting in the model as well as feature selection.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33606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</TotalTime>
  <Words>477</Words>
  <Application>Microsoft Office PowerPoint</Application>
  <PresentationFormat>Widescreen</PresentationFormat>
  <Paragraphs>62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5" baseType="lpstr">
      <vt:lpstr>Arial</vt:lpstr>
      <vt:lpstr>Calibri</vt:lpstr>
      <vt:lpstr>Calibri Light</vt:lpstr>
      <vt:lpstr>Cambria</vt:lpstr>
      <vt:lpstr>erdana</vt:lpstr>
      <vt:lpstr>inter-bold</vt:lpstr>
      <vt:lpstr>inter-regular</vt:lpstr>
      <vt:lpstr>source-serif-pro</vt:lpstr>
      <vt:lpstr>Times New Roman</vt:lpstr>
      <vt:lpstr>Office Theme</vt:lpstr>
      <vt:lpstr>Overfitting, underfitting, Best Fitting, Bias, Variance, Regularization</vt:lpstr>
      <vt:lpstr>Overfitting, Underfitting and Best fitting</vt:lpstr>
      <vt:lpstr>Overfitting</vt:lpstr>
      <vt:lpstr>Underfitting</vt:lpstr>
      <vt:lpstr>Bias</vt:lpstr>
      <vt:lpstr>Variance</vt:lpstr>
      <vt:lpstr>Bias, Variance, Overfitting, Underfitting, Capacity </vt:lpstr>
      <vt:lpstr>PowerPoint Presentation</vt:lpstr>
      <vt:lpstr>Overfitting, Underfitting and Best fit in classification problem Like  (SVM, KNN, Naïve Bayes, Random Forest, Decision Tree)</vt:lpstr>
      <vt:lpstr>Visualization of Bias and Variance</vt:lpstr>
      <vt:lpstr>Regularization</vt:lpstr>
      <vt:lpstr>Types of Regularization</vt:lpstr>
      <vt:lpstr>PowerPoint Presentation</vt:lpstr>
      <vt:lpstr>Lasso Regression: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gunalan</dc:creator>
  <cp:lastModifiedBy>gunalan</cp:lastModifiedBy>
  <cp:revision>13</cp:revision>
  <cp:lastPrinted>2024-01-29T18:13:06Z</cp:lastPrinted>
  <dcterms:created xsi:type="dcterms:W3CDTF">2024-01-29T16:33:06Z</dcterms:created>
  <dcterms:modified xsi:type="dcterms:W3CDTF">2024-01-31T17:32:07Z</dcterms:modified>
</cp:coreProperties>
</file>